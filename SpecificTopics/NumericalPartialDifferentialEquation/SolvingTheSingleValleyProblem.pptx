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0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1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3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4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8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9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0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2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3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4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25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6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27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28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29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40"/>
  </p:notesMasterIdLst>
  <p:handoutMasterIdLst>
    <p:handoutMasterId r:id="rId41"/>
  </p:handoutMasterIdLst>
  <p:sldIdLst>
    <p:sldId id="860" r:id="rId2"/>
    <p:sldId id="861" r:id="rId3"/>
    <p:sldId id="613" r:id="rId4"/>
    <p:sldId id="830" r:id="rId5"/>
    <p:sldId id="549" r:id="rId6"/>
    <p:sldId id="859" r:id="rId7"/>
    <p:sldId id="452" r:id="rId8"/>
    <p:sldId id="824" r:id="rId9"/>
    <p:sldId id="844" r:id="rId10"/>
    <p:sldId id="629" r:id="rId11"/>
    <p:sldId id="819" r:id="rId12"/>
    <p:sldId id="832" r:id="rId13"/>
    <p:sldId id="857" r:id="rId14"/>
    <p:sldId id="856" r:id="rId15"/>
    <p:sldId id="839" r:id="rId16"/>
    <p:sldId id="845" r:id="rId17"/>
    <p:sldId id="841" r:id="rId18"/>
    <p:sldId id="848" r:id="rId19"/>
    <p:sldId id="834" r:id="rId20"/>
    <p:sldId id="858" r:id="rId21"/>
    <p:sldId id="837" r:id="rId22"/>
    <p:sldId id="835" r:id="rId23"/>
    <p:sldId id="789" r:id="rId24"/>
    <p:sldId id="836" r:id="rId25"/>
    <p:sldId id="791" r:id="rId26"/>
    <p:sldId id="809" r:id="rId27"/>
    <p:sldId id="810" r:id="rId28"/>
    <p:sldId id="807" r:id="rId29"/>
    <p:sldId id="842" r:id="rId30"/>
    <p:sldId id="796" r:id="rId31"/>
    <p:sldId id="797" r:id="rId32"/>
    <p:sldId id="798" r:id="rId33"/>
    <p:sldId id="498" r:id="rId34"/>
    <p:sldId id="843" r:id="rId35"/>
    <p:sldId id="646" r:id="rId36"/>
    <p:sldId id="639" r:id="rId37"/>
    <p:sldId id="619" r:id="rId38"/>
    <p:sldId id="802" r:id="rId39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76" autoAdjust="0"/>
    <p:restoredTop sz="94847" autoAdjust="0"/>
  </p:normalViewPr>
  <p:slideViewPr>
    <p:cSldViewPr snapToGrid="0" snapToObjects="1">
      <p:cViewPr varScale="1">
        <p:scale>
          <a:sx n="159" d="100"/>
          <a:sy n="159" d="100"/>
        </p:scale>
        <p:origin x="270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4/11/2023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4/11/2023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201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163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30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481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174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057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753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268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920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406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655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73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20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944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389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8048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673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4019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4479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0284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6642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609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717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5383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9395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3462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8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273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2883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73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8622792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79952"/>
            <a:ext cx="8622792" cy="159710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8485632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79952"/>
            <a:ext cx="8485632" cy="159710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24952"/>
            <a:ext cx="8378952" cy="853311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8378952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24952"/>
            <a:ext cx="8866632" cy="853311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8866632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20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7.xml"/><Relationship Id="rId7" Type="http://schemas.openxmlformats.org/officeDocument/2006/relationships/image" Target="../media/image12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3.xml"/><Relationship Id="rId11" Type="http://schemas.openxmlformats.org/officeDocument/2006/relationships/image" Target="../media/image120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15.png"/><Relationship Id="rId4" Type="http://schemas.openxmlformats.org/officeDocument/2006/relationships/tags" Target="../tags/tag8.xml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11.xml"/><Relationship Id="rId7" Type="http://schemas.openxmlformats.org/officeDocument/2006/relationships/notesSlide" Target="../notesSlides/notesSlide4.xml"/><Relationship Id="rId12" Type="http://schemas.openxmlformats.org/officeDocument/2006/relationships/image" Target="../media/image20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9.png"/><Relationship Id="rId5" Type="http://schemas.openxmlformats.org/officeDocument/2006/relationships/tags" Target="../tags/tag13.xml"/><Relationship Id="rId10" Type="http://schemas.openxmlformats.org/officeDocument/2006/relationships/image" Target="../media/image18.png"/><Relationship Id="rId4" Type="http://schemas.openxmlformats.org/officeDocument/2006/relationships/tags" Target="../tags/tag12.xml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17.xml"/><Relationship Id="rId7" Type="http://schemas.openxmlformats.org/officeDocument/2006/relationships/image" Target="../media/image23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22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21.xml"/><Relationship Id="rId7" Type="http://schemas.openxmlformats.org/officeDocument/2006/relationships/image" Target="../media/image27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6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tags" Target="../tags/tag25.xml"/><Relationship Id="rId7" Type="http://schemas.openxmlformats.org/officeDocument/2006/relationships/image" Target="../media/image31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0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28.xml"/><Relationship Id="rId7" Type="http://schemas.openxmlformats.org/officeDocument/2006/relationships/image" Target="../media/image33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36.png"/><Relationship Id="rId4" Type="http://schemas.openxmlformats.org/officeDocument/2006/relationships/tags" Target="../tags/tag29.xml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32.xml"/><Relationship Id="rId7" Type="http://schemas.openxmlformats.org/officeDocument/2006/relationships/image" Target="../media/image37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0.png"/><Relationship Id="rId4" Type="http://schemas.openxmlformats.org/officeDocument/2006/relationships/tags" Target="../tags/tag33.xml"/><Relationship Id="rId9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36.xml"/><Relationship Id="rId7" Type="http://schemas.openxmlformats.org/officeDocument/2006/relationships/image" Target="../media/image42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41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39.xml"/><Relationship Id="rId7" Type="http://schemas.openxmlformats.org/officeDocument/2006/relationships/image" Target="../media/image43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400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tags" Target="../tags/tag42.xml"/><Relationship Id="rId7" Type="http://schemas.openxmlformats.org/officeDocument/2006/relationships/notesSlide" Target="../notesSlides/notesSlide15.xml"/><Relationship Id="rId12" Type="http://schemas.openxmlformats.org/officeDocument/2006/relationships/image" Target="../media/image50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49.png"/><Relationship Id="rId5" Type="http://schemas.openxmlformats.org/officeDocument/2006/relationships/tags" Target="../tags/tag44.xml"/><Relationship Id="rId10" Type="http://schemas.openxmlformats.org/officeDocument/2006/relationships/image" Target="../media/image48.png"/><Relationship Id="rId4" Type="http://schemas.openxmlformats.org/officeDocument/2006/relationships/tags" Target="../tags/tag43.xml"/><Relationship Id="rId9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47.xml"/><Relationship Id="rId7" Type="http://schemas.openxmlformats.org/officeDocument/2006/relationships/image" Target="../media/image52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51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notesSlide" Target="../notesSlides/notesSlide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3" Type="http://schemas.openxmlformats.org/officeDocument/2006/relationships/tags" Target="../tags/tag52.xml"/><Relationship Id="rId7" Type="http://schemas.openxmlformats.org/officeDocument/2006/relationships/image" Target="../media/image57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56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tags" Target="../tags/tag55.xml"/><Relationship Id="rId7" Type="http://schemas.openxmlformats.org/officeDocument/2006/relationships/image" Target="../media/image58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460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tags" Target="../tags/tag58.xml"/><Relationship Id="rId7" Type="http://schemas.openxmlformats.org/officeDocument/2006/relationships/image" Target="../media/image60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490.png"/><Relationship Id="rId5" Type="http://schemas.openxmlformats.org/officeDocument/2006/relationships/notesSlide" Target="../notesSlides/notesSlide20.xml"/><Relationship Id="rId10" Type="http://schemas.openxmlformats.org/officeDocument/2006/relationships/image" Target="../media/image62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6.png"/><Relationship Id="rId3" Type="http://schemas.openxmlformats.org/officeDocument/2006/relationships/tags" Target="../tags/tag61.xml"/><Relationship Id="rId7" Type="http://schemas.openxmlformats.org/officeDocument/2006/relationships/image" Target="../media/image520.png"/><Relationship Id="rId12" Type="http://schemas.openxmlformats.org/officeDocument/2006/relationships/image" Target="../media/image640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notesSlide" Target="../notesSlides/notesSlide21.xml"/><Relationship Id="rId11" Type="http://schemas.openxmlformats.org/officeDocument/2006/relationships/image" Target="../media/image65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20.png"/><Relationship Id="rId4" Type="http://schemas.openxmlformats.org/officeDocument/2006/relationships/tags" Target="../tags/tag62.xml"/><Relationship Id="rId9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1.png"/><Relationship Id="rId3" Type="http://schemas.openxmlformats.org/officeDocument/2006/relationships/tags" Target="../tags/tag65.xml"/><Relationship Id="rId7" Type="http://schemas.openxmlformats.org/officeDocument/2006/relationships/image" Target="../media/image570.png"/><Relationship Id="rId12" Type="http://schemas.openxmlformats.org/officeDocument/2006/relationships/image" Target="../media/image70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22.xml"/><Relationship Id="rId11" Type="http://schemas.openxmlformats.org/officeDocument/2006/relationships/image" Target="../media/image69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8.png"/><Relationship Id="rId4" Type="http://schemas.openxmlformats.org/officeDocument/2006/relationships/tags" Target="../tags/tag66.xml"/><Relationship Id="rId9" Type="http://schemas.openxmlformats.org/officeDocument/2006/relationships/image" Target="../media/image67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3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72.png"/><Relationship Id="rId5" Type="http://schemas.openxmlformats.org/officeDocument/2006/relationships/image" Target="../media/image610.png"/><Relationship Id="rId4" Type="http://schemas.openxmlformats.org/officeDocument/2006/relationships/notesSlide" Target="../notesSlides/notesSlide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tags" Target="../tags/tag71.xml"/><Relationship Id="rId7" Type="http://schemas.openxmlformats.org/officeDocument/2006/relationships/image" Target="../media/image75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74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80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notesSlide" Target="../notesSlides/notesSlide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83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notesSlide" Target="../notesSlides/notesSlide2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tags" Target="../tags/tag78.xml"/><Relationship Id="rId7" Type="http://schemas.openxmlformats.org/officeDocument/2006/relationships/notesSlide" Target="../notesSlides/notesSlide27.xml"/><Relationship Id="rId12" Type="http://schemas.openxmlformats.org/officeDocument/2006/relationships/image" Target="../media/image87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35.png"/><Relationship Id="rId5" Type="http://schemas.openxmlformats.org/officeDocument/2006/relationships/tags" Target="../tags/tag80.xml"/><Relationship Id="rId10" Type="http://schemas.openxmlformats.org/officeDocument/2006/relationships/image" Target="../media/image86.png"/><Relationship Id="rId4" Type="http://schemas.openxmlformats.org/officeDocument/2006/relationships/tags" Target="../tags/tag79.xml"/><Relationship Id="rId9" Type="http://schemas.openxmlformats.org/officeDocument/2006/relationships/image" Target="../media/image8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13" Type="http://schemas.openxmlformats.org/officeDocument/2006/relationships/image" Target="../media/image88.png"/><Relationship Id="rId3" Type="http://schemas.openxmlformats.org/officeDocument/2006/relationships/tags" Target="../tags/tag8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38.png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76.png"/><Relationship Id="rId5" Type="http://schemas.openxmlformats.org/officeDocument/2006/relationships/tags" Target="../tags/tag85.xml"/><Relationship Id="rId10" Type="http://schemas.openxmlformats.org/officeDocument/2006/relationships/image" Target="../media/image80.png"/><Relationship Id="rId4" Type="http://schemas.openxmlformats.org/officeDocument/2006/relationships/tags" Target="../tags/tag84.xml"/><Relationship Id="rId9" Type="http://schemas.openxmlformats.org/officeDocument/2006/relationships/image" Target="../media/image83.png"/><Relationship Id="rId14" Type="http://schemas.openxmlformats.org/officeDocument/2006/relationships/image" Target="../media/image8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13" Type="http://schemas.openxmlformats.org/officeDocument/2006/relationships/image" Target="../media/image94.png"/><Relationship Id="rId3" Type="http://schemas.openxmlformats.org/officeDocument/2006/relationships/tags" Target="../tags/tag89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93.pn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image" Target="../media/image92.png"/><Relationship Id="rId5" Type="http://schemas.openxmlformats.org/officeDocument/2006/relationships/tags" Target="../tags/tag91.xml"/><Relationship Id="rId10" Type="http://schemas.openxmlformats.org/officeDocument/2006/relationships/image" Target="../media/image91.png"/><Relationship Id="rId4" Type="http://schemas.openxmlformats.org/officeDocument/2006/relationships/tags" Target="../tags/tag90.xml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13" Type="http://schemas.openxmlformats.org/officeDocument/2006/relationships/image" Target="../media/image100.png"/><Relationship Id="rId3" Type="http://schemas.openxmlformats.org/officeDocument/2006/relationships/tags" Target="../tags/tag95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99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image" Target="../media/image98.png"/><Relationship Id="rId5" Type="http://schemas.openxmlformats.org/officeDocument/2006/relationships/tags" Target="../tags/tag97.xml"/><Relationship Id="rId10" Type="http://schemas.openxmlformats.org/officeDocument/2006/relationships/image" Target="../media/image97.png"/><Relationship Id="rId4" Type="http://schemas.openxmlformats.org/officeDocument/2006/relationships/tags" Target="../tags/tag96.xml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differential operators acting on general functions</a:t>
            </a:r>
          </a:p>
        </p:txBody>
      </p:sp>
      <p:pic>
        <p:nvPicPr>
          <p:cNvPr id="11" name="Picture 10" descr="\documentclass{article}&#10;\usepackage{amsmath,amssymb,physics,bm}&#10;\pagestyle{empty}&#10;\begin{document}&#10;&#10;\begin{equation*}&#10;\hat{H} = -\nabla^{2} + \left(1-\gamma\right)\pdv[2]{}{z} - \frac{2}{r}&#10;\end{equation*}&#10;&#10;\end{document}" title="IguanaTex Bitmap Display">
            <a:extLst>
              <a:ext uri="{FF2B5EF4-FFF2-40B4-BE49-F238E27FC236}">
                <a16:creationId xmlns:a16="http://schemas.microsoft.com/office/drawing/2014/main" id="{AA735B75-2F88-4D8E-AD74-5EEB2E98DFC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56077" y="2170936"/>
            <a:ext cx="3125332" cy="560762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\documentclass{article}&#10;\usepackage{amsmath,amssymb,physics,bm}&#10;\pagestyle{empty}&#10;\begin{document}&#10;&#10;\begin{equation*}&#10;\Psi\left(\vb*{r}\right) = F\left(r,\chi\right)&#10;\left[\frac{\mathrm{e}^{\mathrm{i}m\phi}+\zeta\mathrm{e}^{-\mathrm{i}m\phi}}{2\delta_{m0} + \sqrt{2}\left(1-\delta_{m0}\right)}\right]&#10;\end{equation*}&#10;&#10;\end{document}" title="IguanaTex Bitmap Display">
            <a:extLst>
              <a:ext uri="{FF2B5EF4-FFF2-40B4-BE49-F238E27FC236}">
                <a16:creationId xmlns:a16="http://schemas.microsoft.com/office/drawing/2014/main" id="{70371FE7-4345-4045-95A6-DFB6CFA3EDA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056076" y="3228480"/>
            <a:ext cx="4280378" cy="652191"/>
          </a:xfrm>
          <a:prstGeom prst="rect">
            <a:avLst/>
          </a:prstGeom>
          <a:ln>
            <a:noFill/>
          </a:ln>
        </p:spPr>
      </p:pic>
      <p:pic>
        <p:nvPicPr>
          <p:cNvPr id="16" name="Picture 15" descr="\documentclass{article}&#10;\usepackage{amsmath,amssymb,physics,bm}&#10;\pagestyle{empty}&#10;\begin{document}&#10;&#10;\begin{align*}&#10;\pdv[2]{f}{z}&#10;&amp; =&#10;\chi^{2}\pdv[2]{f}{r}&#10;+ \frac{\chi\left(1-\chi^{2}\right)}{r}\left[\pdv{f}{r}{\chi}+\pdv{f}{\chi}{r}\right]&#10;+ \frac{1-\chi^{2}}{r}\pdv{f}{r}&#10;- \frac{3\chi\left(1-\chi^{2}\right)}{r^{2}}\pdv{f}{\chi}&#10;+ \left(\frac{1-\chi^{2}}{r}\right)^{2}\pdv[2]{f}{\chi}&#10;\end{align*}&#10;&#10;\end{document}" title="IguanaTex Bitmap Display">
            <a:extLst>
              <a:ext uri="{FF2B5EF4-FFF2-40B4-BE49-F238E27FC236}">
                <a16:creationId xmlns:a16="http://schemas.microsoft.com/office/drawing/2014/main" id="{05443F70-2C06-4828-953F-474CC7DE85C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19743" y="4733248"/>
            <a:ext cx="10424380" cy="6735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4468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differential operators acting on general functions</a:t>
            </a:r>
          </a:p>
        </p:txBody>
      </p:sp>
      <p:pic>
        <p:nvPicPr>
          <p:cNvPr id="6" name="Picture 5" descr="\documentclass{article}&#10;\usepackage{amsmath,amssymb,physics,bm}&#10;\pagestyle{empty}&#10;\begin{document}&#10;&#10;\begin{equation*}&#10;-\left[&#10;   \pdv[2]{F}{r} + \frac{2}{r}\pdv{F}{r} + \frac{\left(1-\chi^{2}\right)}{r^{2}}\pdv[2]{F}{\chi} - \frac{2\chi}{r^{2}}\pdv{F}{\chi}&#10;-  \frac{m^{2}}{r^2\left(1-\chi^{2}\right)}F &#10;\right]&#10;+\left(1-\gamma\right)\left[&#10;   \chi^{2}\pdv[2]{F}{r} + \frac{1-\chi^{2}}{r}\pdv{F}{r} + \frac{\chi\left(1-\chi^{2}\right)}{r}\left[\pdv{F}{r}{\chi} + \pdv{F}{\chi}{r}\right]&#10;+  \left(\frac{1-\chi^{2}}{r}\right)^{2}\pdv[2]{F}{\chi} - \frac{3\chi\left(1-\chi^{2}\right)}{r^{2}}\pdv{F}{\chi}&#10;\right]&#10;-\frac{2}{r}F&#10;=&#10;EF&#10;\end{equation*}&#10;&#10;\end{document}" title="IguanaTex Bitmap Display">
            <a:extLst>
              <a:ext uri="{FF2B5EF4-FFF2-40B4-BE49-F238E27FC236}">
                <a16:creationId xmlns:a16="http://schemas.microsoft.com/office/drawing/2014/main" id="{F290D7E4-C7E6-403A-A3DE-D97D3249967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2172" y="2013489"/>
            <a:ext cx="11427657" cy="4553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87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Single-Valley BASIS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Picking a basis to describe the donor electron state of a particular valley.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3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naïve basis functions defined</a:t>
            </a:r>
          </a:p>
        </p:txBody>
      </p:sp>
      <p:pic>
        <p:nvPicPr>
          <p:cNvPr id="7" name="Picture 6" descr="\documentclass{article}&#10;\usepackage{amsmath,bm,eufrak}&#10;\pagestyle{empty}&#10;\begin{document}&#10;&#10;\begin{equation*}&#10;\Phi_{m\zeta lk}^{(W\alpha)}&#10;= &#10;\hat{Y}_{lm\left\{\chi,\phi\right\}}^{(\zeta)}&#10;f_{k\alpha\left\{r\right\}}^{(W\alpha)}&#10;\end{equation*}&#10;&#10;\end{document} " title="IguanaTex Bitmap Display">
            <a:extLst>
              <a:ext uri="{FF2B5EF4-FFF2-40B4-BE49-F238E27FC236}">
                <a16:creationId xmlns:a16="http://schemas.microsoft.com/office/drawing/2014/main" id="{695D3208-1D1F-438E-9D4A-02349E5662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600342" y="2075026"/>
            <a:ext cx="2991317" cy="453868"/>
          </a:xfrm>
          <a:prstGeom prst="rect">
            <a:avLst/>
          </a:prstGeom>
        </p:spPr>
      </p:pic>
      <p:pic>
        <p:nvPicPr>
          <p:cNvPr id="21" name="Picture 20" descr="\documentclass{article}&#10;\usepackage{amsmath,bm,eufrak}&#10;\pagestyle{empty}&#10;\begin{document}&#10;&#10;\begin{equation*}&#10;\hat{Y}_{lm\left\{\chi,\phi\right\}}^{(\zeta)}&#10;= &#10;\hat{P}_{lm}\left(\chi\right)&#10;\frac{1}{\sqrt{2\pi}}&#10;\left(\frac{\mathrm{e}^{\mathrm{i}m \phi}+ \zeta\mathrm{e}^{-\mathrm{i}m \phi}}&#10;{2\delta_{m0} + \sqrt{2}\left(1-\delta_{m0}\right)}\right)&#10;\quad&#10;\zeta = \left\{+1,-1\right\}&#10;\end{equation*}&#10;&#10;\end{document} " title="IguanaTex Bitmap Display">
            <a:extLst>
              <a:ext uri="{FF2B5EF4-FFF2-40B4-BE49-F238E27FC236}">
                <a16:creationId xmlns:a16="http://schemas.microsoft.com/office/drawing/2014/main" id="{F6A2029F-A6CD-4C04-BD1C-E194CAE4DF3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986665" y="4199128"/>
            <a:ext cx="8218671" cy="75001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AD9FB8C-B0D6-48BC-82B5-2D19E14F289D}"/>
              </a:ext>
            </a:extLst>
          </p:cNvPr>
          <p:cNvSpPr txBox="1"/>
          <p:nvPr/>
        </p:nvSpPr>
        <p:spPr>
          <a:xfrm>
            <a:off x="1638455" y="6098992"/>
            <a:ext cx="3459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a parameter to guarantee orthonormality and integrability.</a:t>
            </a:r>
            <a:endParaRPr lang="en-US" dirty="0"/>
          </a:p>
        </p:txBody>
      </p:sp>
      <p:pic>
        <p:nvPicPr>
          <p:cNvPr id="4" name="Picture 3" descr="\documentclass{article}&#10;\usepackage{amsmath,bm,eufrak}&#10;\pagestyle{empty}&#10;\begin{document}&#10;&#10;\begin{equation*}&#10;f_{k\left\{r\right\}}^{(W\alpha)}&#10;=&#10;\sqrt{W}&#10;r^{\frac{W\left(\alpha+1\right)-3}{2}}&#10;\exp\left(-\frac{r^{W}}{2}\right)&#10;L_{k\left\{r^{W}\right\}}^{(\alpha)}&#10;\end{equation*}&#10;&#10;\end{document} " title="IguanaTex Bitmap Display">
            <a:extLst>
              <a:ext uri="{FF2B5EF4-FFF2-40B4-BE49-F238E27FC236}">
                <a16:creationId xmlns:a16="http://schemas.microsoft.com/office/drawing/2014/main" id="{0361817C-415D-473E-B276-9F8A280CFE4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688381" y="5208922"/>
            <a:ext cx="4815239" cy="623238"/>
          </a:xfrm>
          <a:prstGeom prst="rect">
            <a:avLst/>
          </a:prstGeom>
        </p:spPr>
      </p:pic>
      <p:pic>
        <p:nvPicPr>
          <p:cNvPr id="11" name="Picture 10" descr="\documentclass{article}&#10;\usepackage{amsmath,bm}&#10;\pagestyle{empty}&#10;\begin{document}&#10;&#10;\begin{equation*}&#10;\Phi_{\lambda\eta;m\zeta lk\alpha}^{(Wq)}&#10;=&#10;\sqrt{\lambda\left(\frac{2}{Wa_{\perp}\eta}\right)^{3}}&#10;\left(&#10;\Phi_{m\zeta lk}^{(W\alpha)}&#10;\right|_{\substack{r \rightarrow 2r/Wa_\perp\eta \\ z \rightarrow \lambda z \\ z \rightarrow q:\left\{x,y,z\right\}}}&#10;\end{equation*}&#10;&#10;\end{document}" title="IguanaTex Bitmap Display">
            <a:extLst>
              <a:ext uri="{FF2B5EF4-FFF2-40B4-BE49-F238E27FC236}">
                <a16:creationId xmlns:a16="http://schemas.microsoft.com/office/drawing/2014/main" id="{43050123-25D5-496F-914F-1BC34149534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069640" y="2965496"/>
            <a:ext cx="6052720" cy="107421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69C28A-4837-4191-9DE6-F7DD6C2CAE36}"/>
                  </a:ext>
                </a:extLst>
              </p:cNvPr>
              <p:cNvSpPr txBox="1"/>
              <p:nvPr/>
            </p:nvSpPr>
            <p:spPr>
              <a:xfrm>
                <a:off x="6736348" y="6062219"/>
                <a:ext cx="3817197" cy="719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completeness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we choose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 a Laguerre polynomial.</a:t>
                </a:r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69C28A-4837-4191-9DE6-F7DD6C2CA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348" y="6062219"/>
                <a:ext cx="3817197" cy="719877"/>
              </a:xfrm>
              <a:prstGeom prst="rect">
                <a:avLst/>
              </a:prstGeom>
              <a:blipFill>
                <a:blip r:embed="rId11"/>
                <a:stretch>
                  <a:fillRect l="-1278" t="-4202" r="-1757" b="-10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952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Kinetic OperATOR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Defining the effective kinetic matrix elements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64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used for kinetic matrix elements defined</a:t>
            </a:r>
          </a:p>
        </p:txBody>
      </p:sp>
      <p:pic>
        <p:nvPicPr>
          <p:cNvPr id="16" name="Picture 15" descr="\documentclass{article}&#10;\usepackage{amsmath,bm}&#10;\pagestyle{empty}&#10;\begin{document}&#10;&#10;\begin{align*}&#10;\hat{T}^{(q)}\Phi_{\lambda\eta;m\zeta lk}^{(W\alpha q)}&#10;\equiv &amp;&#10;\left(&#10;\left[&#10;-\frac{\hbar^2}{2m_\perp}\left(\frac{\partial^2}{\partial x^2}+\frac{\partial^2}{\partial y^2}\right)&#10;-\frac{\hbar^2}{2m_\parallel}\frac{\partial^2}{\partial z^2}&#10;\right]&#10;\Phi_{m\zeta lk;\lambda\eta}^{(W\alpha z)}&#10;\right|_{(zxy)\rightarrow (qrs)}&#10;\\&#10;= &amp;&#10;\left(&#10;\hat{T}^{(z)}&#10;\Phi_{\lambda\eta;m\zeta lk}^{(W\alpha z)}&#10;\right|_{(zxy)\rightarrow (qrs)}&#10;\\&#10;\end{align*}&#10;&#10;\end{document}" title="IguanaTex Bitmap Display">
            <a:extLst>
              <a:ext uri="{FF2B5EF4-FFF2-40B4-BE49-F238E27FC236}">
                <a16:creationId xmlns:a16="http://schemas.microsoft.com/office/drawing/2014/main" id="{D16FFA89-7A59-4A6B-97FB-A10831217B8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68803" y="2002897"/>
            <a:ext cx="8454395" cy="14032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\documentclass{article}&#10;\usepackage{amsmath,bm}&#10;\pagestyle{empty}&#10;\begin{document}&#10;&#10;\begin{equation*}&#10;\hat{T}^{(z)}&#10;\Phi_{\lambda\eta;m\zeta lk}^{(W\alpha z)}&#10;\equiv&#10;\frac{\hbar^{2}}{2m_{\perp}a_{\perp}^{2}}&#10;\sqrt{\lambda\left(\frac{2}{Wa_{\perp}\eta}\right)^{3}}&#10;\left(\frac{2}{W\eta}\right)^{2}&#10;\left[&#10;\left(\hat{T}^{0}+\hat{T}^{(\gamma)}\right)&#10;\Phi_{m\zeta lk}^{(W\alpha)}&#10;\right|_{\substack{r \rightarrow 2r/Wa_\perp\eta \\ z \rightarrow \lambda z}}&#10;\end{equation*}&#10;&#10;\end{document}" title="IguanaTex Bitmap Display">
            <a:extLst>
              <a:ext uri="{FF2B5EF4-FFF2-40B4-BE49-F238E27FC236}">
                <a16:creationId xmlns:a16="http://schemas.microsoft.com/office/drawing/2014/main" id="{D783EE47-304C-43E5-87AC-D2AF6F21677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96570" y="4030482"/>
            <a:ext cx="10198860" cy="9094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0" name="Picture 9" descr="\documentclass{article}&#10;\usepackage{amsmath,bm}&#10;\pagestyle{empty}&#10;\begin{document}&#10;&#10;\begin{align*}&#10;\hat{T}^{(0)}&#10;\Phi_{m\zeta lk}^{(W\alpha)}&#10;&amp; \equiv&#10;-\nabla^2&#10;\Phi_{m\zeta lk}^{(W\alpha)}&#10;\\&#10;&amp; =&#10;\hat{Y}_{lm}^{(\zeta)}&#10;\frac{1}{r^2}&#10;\left(l(l+1)-\frac{\partial}{\partial r}r^2\frac{\partial}{\partial r}\right)&#10;f_{k\left\{r\right\}}^{(W\alpha)}&#10;\\&#10;\end{align*}&#10;&#10;\end{document}" title="IguanaTex Bitmap Display">
            <a:extLst>
              <a:ext uri="{FF2B5EF4-FFF2-40B4-BE49-F238E27FC236}">
                <a16:creationId xmlns:a16="http://schemas.microsoft.com/office/drawing/2014/main" id="{0829AA33-C8D8-4D81-9985-D2846BBF7B3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76763" y="5515441"/>
            <a:ext cx="6157871" cy="124594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E4628D1-0A20-4CFA-B0AA-1D6BB6A136D2}"/>
              </a:ext>
            </a:extLst>
          </p:cNvPr>
          <p:cNvGrpSpPr/>
          <p:nvPr/>
        </p:nvGrpSpPr>
        <p:grpSpPr>
          <a:xfrm>
            <a:off x="7311397" y="5655631"/>
            <a:ext cx="4303841" cy="965565"/>
            <a:chOff x="7213847" y="5644237"/>
            <a:chExt cx="4303841" cy="965565"/>
          </a:xfrm>
        </p:grpSpPr>
        <p:pic>
          <p:nvPicPr>
            <p:cNvPr id="17" name="Picture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2643" y="6289116"/>
              <a:ext cx="1491276" cy="32068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Picture 12" descr="\documentclass{article}&#10;\usepackage{amsmath,bm}&#10;\pagestyle{empty}&#10;\begin{document}&#10;&#10;\begin{equation*}&#10;\hat{T}^{(\gamma)}&#10;\Phi_{m\zeta lk}^{(W\alpha)}&#10;\equiv&#10;\left(1-\gamma \lambda^2\right)\frac{\partial^2}{\partial z^2}&#10;\Phi_{m\zeta lk}^{(W\alpha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A54A014A-8E3C-490F-8EBF-F0A142A95EC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7213847" y="5644237"/>
              <a:ext cx="4303841" cy="6448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77121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differential operators acting on general functions</a:t>
            </a:r>
          </a:p>
        </p:txBody>
      </p:sp>
      <p:pic>
        <p:nvPicPr>
          <p:cNvPr id="12" name="Picture 11" descr="\documentclass{article}&#10;\usepackage{amsmath,amssymb,physics,bm}&#10;\pagestyle{empty}&#10;\begin{document}&#10;&#10;\begin{align*}&#10;\pdv{f}{z}&#10;&amp; =&#10;\chi\pdv{f}{r} + \frac{1-\chi^{2}}{r}\pdv{f}{\chi}&#10;\\&#10;\pdv[2]{f}{z}&#10;&amp; =&#10;\chi^{2}\pdv[2]{f}{r}&#10;+ \frac{\chi\left(1-\chi^{2}\right)}{r}\left[\pdv{f}{r}{\chi}+\pdv{f}{\chi}{r}\right]&#10;+ \frac{1-\chi^{2}}{r}\pdv{f}{r}&#10;- \frac{3\chi\left(1-\chi^{2}\right)}{r^{2}}\pdv{f}{\chi}&#10;+ \left(\frac{1-\chi^{2}}{r}\right)^{2}\pdv[2]{f}{\chi}&#10;\end{align*}&#10;&#10;\end{document}" title="IguanaTex Bitmap Display">
            <a:extLst>
              <a:ext uri="{FF2B5EF4-FFF2-40B4-BE49-F238E27FC236}">
                <a16:creationId xmlns:a16="http://schemas.microsoft.com/office/drawing/2014/main" id="{9C611598-7DC4-4D86-9EAD-7AA9AFC1391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83810" y="2001604"/>
            <a:ext cx="10424380" cy="13744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8543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Elaborating the anisotropic kinetic operator</a:t>
            </a:r>
          </a:p>
        </p:txBody>
      </p:sp>
      <p:pic>
        <p:nvPicPr>
          <p:cNvPr id="6" name="Picture 5" descr="\documentclass{article}&#10;\usepackage{amsmath,amssymb,bm}&#10;\pagestyle{empty}&#10;\begin{document}&#10;&#10;\begin{align*}&#10;\hat{T}^{(\gamma)}&#10;\Phi_{m\zeta lk}^{(W\alpha)}&#10;&amp; =&#10;\left(1-\gamma\lambda^2\right)&#10;\frac{\partial^2}{\partial z^2}&#10;\Phi_{mlk}^{(W\xi\alpha)}&#10;\\&#10;&amp; =&#10;-\left(1-\gamma\lambda^2\right)&#10;\sum_{s=-1}^{+1}&#10;\mathfrak{Y}_{lm,s}&#10;\hat{Y}_{(l+2s)m\left\{\chi,\phi\right\}}^{(\zeta)}&#10;\hat{F}_{l,s}&#10;f_{k\left\{r\right\}}^{(W\alpha)}&#10;\end{align*}&#10;&#10;\end{document}" title="IguanaTex Bitmap Display">
            <a:extLst>
              <a:ext uri="{FF2B5EF4-FFF2-40B4-BE49-F238E27FC236}">
                <a16:creationId xmlns:a16="http://schemas.microsoft.com/office/drawing/2014/main" id="{8289F2A6-1FC1-4855-849F-27DC58A4F40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359043" y="2001604"/>
            <a:ext cx="7473915" cy="1619200"/>
          </a:xfrm>
          <a:prstGeom prst="rect">
            <a:avLst/>
          </a:prstGeom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0D131D3-9367-489C-89CA-A3E82D2394A0}"/>
              </a:ext>
            </a:extLst>
          </p:cNvPr>
          <p:cNvGrpSpPr/>
          <p:nvPr/>
        </p:nvGrpSpPr>
        <p:grpSpPr>
          <a:xfrm>
            <a:off x="1155974" y="4129436"/>
            <a:ext cx="9880053" cy="2270481"/>
            <a:chOff x="1155973" y="4129436"/>
            <a:chExt cx="9880053" cy="2270481"/>
          </a:xfrm>
        </p:grpSpPr>
        <p:pic>
          <p:nvPicPr>
            <p:cNvPr id="26" name="Picture 25" descr="\documentclass{article}&#10;\usepackage{amsmath,amssymb,bm}&#10;\pagestyle{empty}&#10;\begin{document}&#10;&#10;\begin{align*}&#10;\mathfrak{Y}_{lm,0}&#10;&amp; \equiv&#10;\frac{&#10;2l^2-2m^2+2l-1&#10;}{&#10;(2l-1)(2l+3)&#10;}  \\&#10;\mathfrak{Y}_{lm,-1}&#10;&amp; \equiv&#10;\mathfrak{B}_{lm}\mathcal{B}_{\left(l-1\right)m} \\&#10;\mathfrak{Y}_{lm,+1}&#10;&amp; \equiv&#10;\mathfrak{B}_{(l+2)m}\mathcal{B}_{\left(l+1\right)m} \\&#10;\mathfrak{B}_{lm}&#10;&amp; \equiv&#10;\sqrt{\frac{&#10;l^2-m^2&#10;}{&#10;(2l-1)(2l+1)&#10;}}&#10;\end{align*}&#10;&#10;\end{document}" title="IguanaTex Bitmap Display">
              <a:extLst>
                <a:ext uri="{FF2B5EF4-FFF2-40B4-BE49-F238E27FC236}">
                  <a16:creationId xmlns:a16="http://schemas.microsoft.com/office/drawing/2014/main" id="{A2D50659-E18C-481D-845C-43B020C1A213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7843646" y="4129436"/>
              <a:ext cx="3192380" cy="22704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20" name="Picture 19" descr="\documentclass{article}&#10;\usepackage{amsmath,bm}&#10;\pagestyle{empty}&#10;\begin{document}&#10;&#10;\begin{align*}&#10;\hat{F}_{l,0}&#10;&amp; \equiv&#10;\frac{1}{r^2}&#10;\left(l(l+1)-\frac{\partial}{\partial r}r^2\frac{\partial}{\partial r}\right) \\&#10;\hat{F}_{l,-1}&#10;&amp; \equiv&#10;\frac{1}{r^2}&#10;\left(-(l-1)(l+1)-(2l-1)r\frac{\partial}{\partial r}-\frac{\partial}{\partial r}r^2\frac{\partial}{\partial r}\right) \\&#10;\hat{F}_{l,+1}&#10;&amp; \equiv&#10;\frac{1}{r^2}&#10;\left(-l(l+2)+(2l+3)r\frac{\partial}{\partial r}-\frac{\partial}{\partial r}r^2\frac{\partial}{\partial r}\right) \\&#10;\end{align*}&#10;&#10;\end{document}" title="IguanaTex Bitmap Display">
              <a:extLst>
                <a:ext uri="{FF2B5EF4-FFF2-40B4-BE49-F238E27FC236}">
                  <a16:creationId xmlns:a16="http://schemas.microsoft.com/office/drawing/2014/main" id="{58D52EEE-995F-4388-8DEA-C8CF7F7ABA6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155973" y="4252105"/>
              <a:ext cx="5971814" cy="20251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521116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Restating effects of the iso- and anisotropic kinetic operators</a:t>
            </a:r>
          </a:p>
        </p:txBody>
      </p:sp>
      <p:pic>
        <p:nvPicPr>
          <p:cNvPr id="6" name="Picture 5" descr="\documentclass{article}&#10;\usepackage{amsmath,amssymb,bm}&#10;\pagestyle{empty}&#10;\begin{document}&#10;&#10;\begin{align*}&#10;\hat{T}^{(0)}&#10;\Phi_{m\zeta lk}^{(W\alpha)}&#10;&amp; =&#10;\hat{Y}_{lm\left\{\chi,\phi\right\}}^{(\zeta)}&#10;\hat{F}_{l,0}&#10;f_{k\left\{r\right\}}^{(W\alpha)}&#10;\\&#10;\hat{T}^{(\gamma)}&#10;\Phi_{m\zeta lk}^{(W\alpha)}&#10;&amp; =&#10;-\left(1-\gamma\lambda^2\right)&#10;\sum_{s=-1}^{+1}&#10;\mathfrak{Y}_{lm,s}&#10;\hat{Y}_{(l+2s)m\left\{\chi,\phi\right\}}^{(\zeta)}&#10;\hat{F}_{l,s}&#10;f_{k\left\{r\right\}}^{(W\alpha)}&#10;\end{align*}&#10;&#10;\end{document}" title="IguanaTex Bitmap Display">
            <a:extLst>
              <a:ext uri="{FF2B5EF4-FFF2-40B4-BE49-F238E27FC236}">
                <a16:creationId xmlns:a16="http://schemas.microsoft.com/office/drawing/2014/main" id="{23793823-93DE-4EC8-AD19-95224736EF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59043" y="3216798"/>
            <a:ext cx="7473914" cy="14352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0962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examination of the effect of the kinetic operators</a:t>
            </a:r>
          </a:p>
        </p:txBody>
      </p:sp>
      <p:pic>
        <p:nvPicPr>
          <p:cNvPr id="4" name="Picture 3" descr="\documentclass{article}&#10;\usepackage{amsmath,bm}&#10;\pagestyle{empty}&#10;\begin{document}&#10;&#10;\begin{align*}&#10;\hat{F}_{l,s}&#10;f_{k\left\{r\right\}}^{(W\alpha)}&#10;&amp; =&#10;\hat{F}_{l,s}&#10;\sqrt{W}&#10;r^{\frac{W\left(\alpha+1\right)-3}{2}}&#10;\exp\left(-\frac{r^{W}}{2}\right)&#10;L_{k\left\{r^{W}\right\}}^{(\alpha)}&#10;\\&#10;&amp; =&#10;\frac{1}{\eta^{2}}\left(\frac{W\eta}{2}\right)^{2}&#10;\sqrt{W}&#10;r^{\frac{W\left(\alpha+1\right)-3}{2}-2}&#10;\mathrm{e}^{-r^{W}/2}&#10;\left(&#10;\hat{H}_{l,s}&#10;L_{k\left\{\rho\right\}}^{(\alpha)}&#10;\right|_{\rho\rightarrow r^{W}}&#10;\\&#10;&amp; =&#10;\frac{1}{\eta^{2}}\left(\frac{W\eta}{2}\right)^{2}&#10;\left(&#10;\sqrt{W}&#10;\rho^{\frac{\alpha+1}{2}-\frac{3}{2W}-\frac{2}{W}}\mathrm{e}^{-\rho/2}&#10;\hat{H}_{l,s}&#10;L_{k\left\{\rho\right\}}^{(\alpha)}&#10;\right|_{\rho\rightarrow r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56D98B5C-7479-47DD-86AB-7ED3C5F098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10024" y="1803089"/>
            <a:ext cx="7971952" cy="2358398"/>
          </a:xfrm>
          <a:prstGeom prst="rect">
            <a:avLst/>
          </a:prstGeom>
          <a:ln>
            <a:noFill/>
          </a:ln>
        </p:spPr>
      </p:pic>
      <p:pic>
        <p:nvPicPr>
          <p:cNvPr id="38" name="Picture 37" descr="\documentclass{article}&#10;\usepackage{amsmath,bm}&#10;\pagestyle{empty}&#10;\begin{document}&#10;&#10;\begin{align*}&#10;\hat{H}_{l,-1}&#10;\equiv&#10;\hat{\mathcal{H}}_{\alpha+1+\frac{2l-3}{W},\frac{2}{W}}&#10;\quad\quad&#10;\hat{H}_{l,0}&#10;\equiv&#10;\hat{\mathcal{H}}_{\alpha+1-\frac{2}{W},\frac{2l+1}{W}}&#10;\quad\quad&#10;\hat{H}_{l,+1}&#10;\equiv&#10;\hat{\mathcal{H}}_{\alpha+1-\frac{2l+5}{W},\frac{2}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8B07DB1A-F102-462A-9B46-1AA1206B931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620576" y="4869527"/>
            <a:ext cx="8950848" cy="42072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1" name="Picture 20" descr="\documentclass{article}&#10;\usepackage{amsmath,bm}&#10;\pagestyle{empty}&#10;\begin{document}&#10;&#10;\begin{align*}&#10;\hat{\mathcal{H}}_{\phi,\varphi}&#10;\equiv&#10;\varphi^{2}-\phi^{2}&#10;-4\left(\phi+1\right)\rho\frac{\partial}{\partial \rho}&#10;-4\rho^{2}\frac{\partial^{2}}{\partial \rho^{2}}&#10;+2\left(\phi+1\right)\rho&#10;+4\rho^{2}\frac{\partial}{\partial \rho}&#10;-\rho^{2}&#10;\end{align*}&#10;&#10;\end{document}" title="IguanaTex Bitmap Display">
            <a:extLst>
              <a:ext uri="{FF2B5EF4-FFF2-40B4-BE49-F238E27FC236}">
                <a16:creationId xmlns:a16="http://schemas.microsoft.com/office/drawing/2014/main" id="{F32C41D2-5B85-4935-A2DF-0A2913C0AEE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87239" y="5998290"/>
            <a:ext cx="7617523" cy="6095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8256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effect of kinetic operators</a:t>
            </a:r>
          </a:p>
        </p:txBody>
      </p:sp>
      <p:pic>
        <p:nvPicPr>
          <p:cNvPr id="14" name="Picture 13" descr="\documentclass{article}&#10;\usepackage{amsmath,amssymb,bm}&#10;\pagestyle{empty}&#10;\begin{document}&#10;&#10;\begin{align*}&#10;\left(\hat{T}^{0}+\hat{T}^{(\gamma)}\right)&#10;\Phi_{m\zeta lk}^{(W\alpha)}&#10;&amp;=&#10;\frac{1}{\eta^{2}}\left(\frac{W\eta}{2}\right)^{2}&#10;\sum_{s=-1}^{+1}&#10;\mathfrak{G}_{\lambda;lm,s}&#10;\hat{Y}_{(l+2s)m}^{(\zeta)}&#10;\mathcal{R}_{kl,s\left\{r^{W}\right\}}^{(W\alpha)}&#10;\\&#10;\mathfrak{G}_{\lambda;lm,s}&#10;&amp;=&#10;\delta_{s,0}-\left(1-\gamma\lambda^{2}\right)\mathfrak{Y}_{lm}^{(s)}&#10;\\&#10;\mathcal{R}_{kl,s\left\{\rho\right\}}^{(W\alpha)}&#10;&amp; =&#10;\sqrt{W}&#10;\rho^{\frac{\alpha+1}{2}-\frac{3}{2W}-\frac{2}{W}}\mathrm{e}^{-\rho/2}&#10;\hat{H}_{l,s}&#10;L_{k\left\{\rho\right\}}^{(\alpha)}&#10;\\&#10;\end{align*}&#10;&#10;\end{document}" title="IguanaTex Bitmap Display">
            <a:extLst>
              <a:ext uri="{FF2B5EF4-FFF2-40B4-BE49-F238E27FC236}">
                <a16:creationId xmlns:a16="http://schemas.microsoft.com/office/drawing/2014/main" id="{860615DF-5914-46DF-83F1-242C7B6F57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41873" y="2434521"/>
            <a:ext cx="8108255" cy="1988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851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Restatement of effect of full kinetic operator</a:t>
            </a:r>
          </a:p>
        </p:txBody>
      </p:sp>
      <p:pic>
        <p:nvPicPr>
          <p:cNvPr id="29" name="Picture 28" descr="\documentclass{article}&#10;\usepackage{amsmath,amssymb,bm}&#10;\pagestyle{empty}&#10;\begin{document}&#10;&#10;\begin{align*}&#10;\hat{T}^{(q)}\Phi_{\lambda\eta;m\zeta lk}^{(W\alpha q)}&#10;= &amp;&#10;\frac{\hbar^{2}}{2m_{\perp}a_{\perp}^{2}}&#10;\sqrt{\lambda\left(\frac{2}{Wa_{\perp}\eta}\right)^{3}}&#10;\frac{1}{\eta^{2}}&#10;\sum_{s=-1}^{+1}&#10;\mathfrak{G}_{\lambda;lm,s}&#10;\left[&#10;\hat{Y}_{(l+2s)m}^{(\zeta)}&#10;\mathcal{R}_{kl,s\left\{r^{W}\right\}}^{(W\alpha)}&#10;\right|_{\substack{r \rightarrow 2r/Wa_\perp\eta \\ z \rightarrow \lambda z \\ (zxy)\rightarrow (qrs)}}&#10;\\&#10;\end{align*}&#10;&#10;\end{document}" title="IguanaTex Bitmap Display">
            <a:extLst>
              <a:ext uri="{FF2B5EF4-FFF2-40B4-BE49-F238E27FC236}">
                <a16:creationId xmlns:a16="http://schemas.microsoft.com/office/drawing/2014/main" id="{70682C18-811B-456B-AE67-11C22B7C245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92006" y="4712966"/>
            <a:ext cx="9807989" cy="980800"/>
          </a:xfrm>
          <a:prstGeom prst="rect">
            <a:avLst/>
          </a:prstGeom>
          <a:ln>
            <a:noFill/>
          </a:ln>
        </p:spPr>
      </p:pic>
      <p:pic>
        <p:nvPicPr>
          <p:cNvPr id="22" name="Picture 21" descr="\documentclass{article}&#10;\usepackage{amsmath,amssymb,bm}&#10;\pagestyle{empty}&#10;\begin{document}&#10;&#10;\begin{align*}&#10;\left(\hat{T}^{0}+\hat{T}^{(\gamma)}\right)&#10;\Phi_{m\zeta lk}^{(W\alpha)}&#10;&amp;=&#10;\frac{1}{\eta^{2}}\left(\frac{W\eta}{2}\right)^{2}&#10;\sum_{s=-1}^{+1}&#10;\mathfrak{G}_{\lambda;lm,s}&#10;\hat{Y}_{(l+2s)m}^{(\zeta)}&#10;\mathcal{R}_{kl,s\left\{r^{W}\right\}}^{(W\alpha)}&#10;\\&#10;\end{align*}&#10;&#10;\end{document}" title="IguanaTex Bitmap Display">
            <a:extLst>
              <a:ext uri="{FF2B5EF4-FFF2-40B4-BE49-F238E27FC236}">
                <a16:creationId xmlns:a16="http://schemas.microsoft.com/office/drawing/2014/main" id="{1B8A1F9A-66AA-402D-B009-23604F1A5F9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041873" y="3136789"/>
            <a:ext cx="8108254" cy="839390"/>
          </a:xfrm>
          <a:prstGeom prst="rect">
            <a:avLst/>
          </a:prstGeom>
          <a:ln>
            <a:noFill/>
          </a:ln>
        </p:spPr>
      </p:pic>
      <p:pic>
        <p:nvPicPr>
          <p:cNvPr id="27" name="Picture 26" descr="\documentclass{article}&#10;\usepackage{amsmath,amssymb,bm}&#10;\pagestyle{empty}&#10;\begin{document}&#10;&#10;\begin{equation*}&#10;\hat{T}^{(q)}\Phi_{\lambda\eta;m\zeta lk}^{(W\alpha q)}&#10;=&#10;\frac{\hbar^{2}}{2m_{\perp}a_{\perp}^{2}}&#10;\sqrt{\lambda\left(\frac{2}{Wa_{\perp}\eta}\right)^{3}}&#10;\left(\frac{2}{W\eta}\right)^{2}&#10;\left[&#10;\left(\hat{T}^{0}+\hat{T}^{(\gamma)}\right)&#10;\Phi_{m\zeta lk}^{(W\alpha)}&#10;\right|_{\substack{r \rightarrow 2r/Wa_\perp\eta \\ z \rightarrow \lambda z \\ (zxy)\rightarrow (qrs)}}&#10;\end{equation*}&#10;&#10;\end{document}" title="IguanaTex Bitmap Display">
            <a:extLst>
              <a:ext uri="{FF2B5EF4-FFF2-40B4-BE49-F238E27FC236}">
                <a16:creationId xmlns:a16="http://schemas.microsoft.com/office/drawing/2014/main" id="{6F8AE65D-B9D2-4C0E-92EB-770DE0776C0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99198" y="2023618"/>
            <a:ext cx="10193604" cy="107421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794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Restatement of effect of full kinetic operator</a:t>
            </a:r>
          </a:p>
        </p:txBody>
      </p:sp>
      <p:pic>
        <p:nvPicPr>
          <p:cNvPr id="15" name="Picture 14" descr="\documentclass{article}&#10;\usepackage{amsmath,amssymb,bm}&#10;\pagestyle{empty}&#10;\begin{document}&#10;&#10;\begin{align*}&#10;\hat{T}^{(q)}\Phi_{\lambda\eta;m\zeta lk}^{(W\alpha q)}&#10;= &amp;&#10;\frac{\hbar^{2}}{2m_{\perp}a_{\perp}^{2}}&#10;\sqrt{\lambda\left(\frac{2}{Wa_{\perp}\eta}\right)^{3}}&#10;\frac{1}{\eta^{2}}&#10;\sum_{s=-1}^{+1}&#10;\mathfrak{G}_{\lambda;lm,s}&#10;\left[&#10;\hat{Y}_{(l+2s)m}^{(\zeta)}&#10;\mathcal{R}_{kl,s\left\{r^{W}\right\}}^{(W\alpha)}&#10;\right|_{\substack{r \rightarrow 2r/Wa_\perp\eta \\ z \rightarrow \lambda z \\ (zxy)\rightarrow (qrs)}}&#10;\\&#10;= &amp;&#10;\left(\frac{\hbar^{2}}{2m_{0}a_{0}^{2}\eta^{2}}\right)&#10;\hat{Q}_{m\xi}^{(q)}&#10;\sum_{s=-1}^{+1}&#10;\mathfrak{G}_{\lambda;lm,s}&#10;\hat{\mathcal{P}}_{\lambda;(l+2s)m}^{(q)}&#10;\mathcal{R}&#10;_{\left(\eta/\vartheta_{\lambda\left\{\chi_{q}\right\}}\right);kl,s\left\{r\right\}}&#10;^{\left(W\alpha\right)}&#10;\end{align*}&#10;&#10;\end{document}" title="IguanaTex Bitmap Display">
            <a:extLst>
              <a:ext uri="{FF2B5EF4-FFF2-40B4-BE49-F238E27FC236}">
                <a16:creationId xmlns:a16="http://schemas.microsoft.com/office/drawing/2014/main" id="{2A87ED1E-313D-4EE7-94A0-3624734FCC1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425524" y="1813341"/>
            <a:ext cx="9340952" cy="1787428"/>
          </a:xfrm>
          <a:prstGeom prst="rect">
            <a:avLst/>
          </a:prstGeom>
          <a:ln>
            <a:noFill/>
          </a:ln>
        </p:spPr>
      </p:pic>
      <p:pic>
        <p:nvPicPr>
          <p:cNvPr id="12" name="Picture 11" descr="\documentclass{article}&#10;\usepackage{amsmath,bm,eufrak}&#10;\pagestyle{empty}&#10;\begin{document}&#10;&#10;\begin{align*}&#10;\vartheta_{\lambda\left\{\chi\right\}}&#10;&amp; =&#10;\sqrt{1 + \left(\lambda^2-1\right)\chi^2}&#10;\\&#10;\hat{\mathcal{P}}_{\lambda;lm}^{(p)}&#10;&amp; = &#10;\sqrt{\frac{\lambda}{\vartheta_{\lambda\left\{\chi_{p}\right\}}^{3}}}&#10;\sqrt{\frac{(2l+1)\left(l-m\right)!}{2\left(l+m\right)!}}&#10;P_{lm}\left(\frac{\lambda \chi_{q}}{\vartheta_{\lambda\left\{\chi_{q}\right\}}}\right)&#10;\\&#10;\hat{Q}_{m\xi}^{(p)}&#10;&amp; = &#10;\frac{1}{\sqrt{2\pi}}&#10;\left(\frac{\mathrm{e}^{\mathrm{i}m \phi_{p}}+ \xi\mathrm{e}^{-\mathrm{i}m \phi_{p}}}&#10;{2\delta_{m0} + \sqrt{2}\left(1-\delta_{m0}\right)}\right)&#10;\\&#10;\mathcal{R} _{\eta;kl,s\left\{r\right\}} ^{\left(W\alpha\right)}&#10;&amp; =&#10;\left(\frac{2}{Wa_{\perp}\eta}\right)^{\frac{3}{2}}&#10;\mathcal{R}_{ kl,s \left\{\left( 2r / Wa_{\perp}\eta \right)^{W}\right\} }^{(W\alpha)}&#10;\end{align*}&#10;&#10;\end{document} " title="IguanaTex Bitmap Display">
            <a:extLst>
              <a:ext uri="{FF2B5EF4-FFF2-40B4-BE49-F238E27FC236}">
                <a16:creationId xmlns:a16="http://schemas.microsoft.com/office/drawing/2014/main" id="{404AA307-FAD1-4208-97A6-0E4C7674916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02096" y="3847865"/>
            <a:ext cx="6034285" cy="27916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1B3EE6-FFD7-4E48-B99C-B4AC8FC9F2E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038476" y="4267672"/>
            <a:ext cx="2558476" cy="1952000"/>
          </a:xfrm>
          <a:prstGeom prst="rect">
            <a:avLst/>
          </a:prstGeom>
        </p:spPr>
      </p:pic>
      <p:pic>
        <p:nvPicPr>
          <p:cNvPr id="33" name="Picture 32" descr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 title="IguanaTex Bitmap Display">
            <a:extLst>
              <a:ext uri="{FF2B5EF4-FFF2-40B4-BE49-F238E27FC236}">
                <a16:creationId xmlns:a16="http://schemas.microsoft.com/office/drawing/2014/main" id="{8ED9F470-7662-4E45-BE90-87F69A810CA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099048" y="4631101"/>
            <a:ext cx="1590857" cy="122514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546195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the generalized single-valley basis states</a:t>
            </a:r>
          </a:p>
        </p:txBody>
      </p:sp>
      <p:pic>
        <p:nvPicPr>
          <p:cNvPr id="67" name="Picture 66" descr="\documentclass{article}&#10;\usepackage{amsmath,amssymb,bm}&#10;\pagestyle{empty}&#10;\begin{document}&#10;&#10;\begin{align*}&#10;\Phi_{m\zeta lk;\lambda\eta}^{(W\alpha\kappa q)}&#10;&amp; \equiv&#10;\left[1-\kappa+\kappa\hat{T}^{(q)}\right]\Phi_{m\zeta lk;\lambda\eta}^{(W\alpha q)}&#10;\quad\quad&#10;\kappa = 0,1&#10;\\&#10;&amp; 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alpha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A80D6944-3355-4D68-B160-F38169FCC41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936839" y="1786062"/>
            <a:ext cx="6318323" cy="1039847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26383142-0D6F-4342-9E96-7C26B5A921A6}"/>
              </a:ext>
            </a:extLst>
          </p:cNvPr>
          <p:cNvGrpSpPr/>
          <p:nvPr/>
        </p:nvGrpSpPr>
        <p:grpSpPr>
          <a:xfrm>
            <a:off x="1854987" y="4807048"/>
            <a:ext cx="8482026" cy="1885866"/>
            <a:chOff x="1854988" y="4656649"/>
            <a:chExt cx="8482026" cy="1885866"/>
          </a:xfrm>
        </p:grpSpPr>
        <p:pic>
          <p:nvPicPr>
            <p:cNvPr id="48" name="Picture 47" descr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48ED8238-A186-4F53-A970-E5C71D5A76E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6606729" y="4656649"/>
              <a:ext cx="3730285" cy="188586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2" name="Picture 51" descr="\documentclass{article}&#10;\usepackage{amsmath,bm,eufrak}&#10;\pagestyle{empty}&#10;\begin{document}&#10;&#10;\begin{equation*}&#10;\mathfrak{H}^{(\kappa)}_{\lambda;lm,s}&#10;= &#10;\delta_{s,0}-\kappa\left(1-\gamma\lambda^{2}\right)\mathfrak{Y}_{lm}^{(s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F58AF520-EDAE-4745-8A74-48F901BEC30B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854988" y="5659316"/>
              <a:ext cx="2842819" cy="299886"/>
            </a:xfrm>
            <a:prstGeom prst="rect">
              <a:avLst/>
            </a:prstGeom>
          </p:spPr>
        </p:pic>
      </p:grpSp>
      <p:pic>
        <p:nvPicPr>
          <p:cNvPr id="69" name="Picture 68" descr="\documentclass{article}&#10;\usepackage{amsmath,bm,eufrak}&#10;\pagestyle{empty}&#10;\begin{document}&#10;&#10;\begin{align*}&#10;\mathcal{R}&#10;_{\eta;kl,s\left\{r\right\}}&#10;^{\left(W\kappa\alpha\right)}&#10;&amp; \equiv&#10;\left(\frac{2}{Wa_{\perp}\eta}\right)^{\frac{3}{2}}&#10;\left(&#10;\left(1-\kappa\right)&#10;f_{k\left\{r\right\}}^{\left(W\alpha\right)}&#10;+&#10;\kappa&#10;\mathcal{R}_{ kl,s \left\{r^{W}\right\} }^{(W\alpha)}&#10;\right|_{\rho \rightarrow 2r / Wa_{\perp}\eta}&#10;\\&#10;&amp; =&#10;\left(\frac{2}{Wa_{\perp}\eta}\right)^{\frac{3}{2}}&#10;\left(&#10;\sqrt{W}&#10;\rho^{\frac{\alpha+1}{2}-\frac{3}{2W}-\frac{2}{W}\kappa}&#10;\mathrm{e}^{-\rho/2}&#10;\left(\hat{H}_{l,s}\right)^{\kappa}&#10;L_{k\left\{\rho\right\}}^{(\alpha)}&#10;\right|_{\rho \rightarrow \left( 2r / Wa_{\perp}\eta \right)^{W}}&#10;\end{align*}&#10;&#10;\end{document} " title="IguanaTex Bitmap Display">
            <a:extLst>
              <a:ext uri="{FF2B5EF4-FFF2-40B4-BE49-F238E27FC236}">
                <a16:creationId xmlns:a16="http://schemas.microsoft.com/office/drawing/2014/main" id="{DE35BE41-D5A2-4E21-ACAD-0963BB2F8FA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628420" y="3219755"/>
            <a:ext cx="6935161" cy="119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77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Operator Effects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formulae for the new polynomials</a:t>
            </a:r>
          </a:p>
        </p:txBody>
      </p:sp>
    </p:spTree>
    <p:extLst>
      <p:ext uri="{BB962C8B-B14F-4D97-AF65-F5344CB8AC3E}">
        <p14:creationId xmlns:p14="http://schemas.microsoft.com/office/powerpoint/2010/main" val="3386094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Generic kinetic operator acting on Laguerre polynomials</a:t>
            </a:r>
          </a:p>
        </p:txBody>
      </p:sp>
      <p:pic>
        <p:nvPicPr>
          <p:cNvPr id="10" name="Picture 9" descr="\documentclass{article}&#10;\usepackage{amsmath,amssymb,bm}&#10;\pagestyle{empty}&#10;\begin{document}&#10;&#10;\begin{equation*}&#10;\hat{\mathcal{H}}_{\phi,\varphi}&#10;\hat{L}_{k\left\{\rho\right\}}^{(\alpha)}&#10;=&#10;\sum_{v=-2}^{+2}&#10;\mathfrak{g}_{\phi\varphi k,v}^{(\alpha)}&#10;\hat{L}_{\left(k+v\right)\left\{\rho\right\}}^{(\alpha)}&#10;\end{equation*}&#10;&#10;\end{document}" title="IguanaTex Bitmap Display">
            <a:extLst>
              <a:ext uri="{FF2B5EF4-FFF2-40B4-BE49-F238E27FC236}">
                <a16:creationId xmlns:a16="http://schemas.microsoft.com/office/drawing/2014/main" id="{F9CFB540-96A9-4092-A276-BDDAC9C0910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42406" y="3091673"/>
            <a:ext cx="3907188" cy="766402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\documentclass{article}&#10;\usepackage{amsmath,bm,eufrak}&#10;\pagestyle{empty}&#10;\begin{document}&#10;&#10;\begin{gather*}&#10;\mathfrak{g}_{k,-2}^{(\alpha)}&#10;=&#10;-\sqrt{(k-1)k(k+\alpha-1)(k+\alpha)}&#10;\\&#10;\mathfrak{g}_{\phi k,-1}^{(\alpha)}&#10;=&#10;2\sqrt{k(k+\alpha)}\left(\phi-\alpha-1\right)&#10;\\&#10;\mathfrak{g}_{\phi\varphi k,0}^{(\alpha)}&#10;=&#10;2k^{2}+\varphi^{2}-\phi^{2}+(\alpha+1)(2k+2\phi-\alpha)&#10;\\&#10;\mathfrak{g}_{\phi k,+1}^{(\alpha)}&#10;=&#10;-2\sqrt{(k+1)(k+\alpha+1)}\left(\phi-\alpha-1\right)&#10;\\&#10;\mathfrak{g}_{k,+2}^{(\alpha)}&#10;=&#10;-\sqrt{(k+1)(k+2)(k+\alpha+1)(k+\alpha+2)}&#10;\end{gather*}&#10;&#10;\end{document}" title="IguanaTex Bitmap Display">
            <a:extLst>
              <a:ext uri="{FF2B5EF4-FFF2-40B4-BE49-F238E27FC236}">
                <a16:creationId xmlns:a16="http://schemas.microsoft.com/office/drawing/2014/main" id="{BB0F5CE2-91AE-4232-9F66-47CA0687AD4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404188" y="4330316"/>
            <a:ext cx="5383625" cy="2279626"/>
          </a:xfrm>
          <a:prstGeom prst="rect">
            <a:avLst/>
          </a:prstGeom>
        </p:spPr>
      </p:pic>
      <p:pic>
        <p:nvPicPr>
          <p:cNvPr id="11" name="Picture 10" descr="\documentclass{article}&#10;\usepackage{amsmath,bm}&#10;\pagestyle{empty}&#10;\begin{document}&#10;&#10;\begin{align*}&#10;\hat{\mathcal{H}}_{\phi,\varphi}&#10;\equiv&#10;\varphi^{2}-\phi^{2}&#10;-4\left(\phi+1\right)\rho\frac{\partial}{\partial \rho}&#10;-4\rho^{2}\frac{\partial^{2}}{\partial \rho^{2}}&#10;+2\left(\phi+1\right)\rho&#10;+4\rho^{2}\frac{\partial}{\partial \rho}&#10;-\rho^{2}&#10;\end{align*}&#10;&#10;\end{document}" title="IguanaTex Bitmap Display">
            <a:extLst>
              <a:ext uri="{FF2B5EF4-FFF2-40B4-BE49-F238E27FC236}">
                <a16:creationId xmlns:a16="http://schemas.microsoft.com/office/drawing/2014/main" id="{010512B7-75D3-4852-86C0-64C5CBE1E46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87239" y="1920240"/>
            <a:ext cx="7617522" cy="6095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8778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</p:spPr>
            <p:txBody>
              <a:bodyPr/>
              <a:lstStyle/>
              <a:p>
                <a:r>
                  <a:rPr lang="en-US" dirty="0"/>
                  <a:t>Generic kinetic operator acting on Laguerre poly.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  <a:blipFill>
                <a:blip r:embed="rId6"/>
                <a:stretch>
                  <a:fillRect l="-1391" t="-21687" b="-39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\documentclass{article}&#10;\usepackage{amsmath,amssymb,bm}&#10;\pagestyle{empty}&#10;\begin{document}&#10;&#10;\begin{equation*}&#10;\hat{\mathcal{H}}_{\phi,\pm\phi}&#10;\hat{L}_{k\left\{\rho\right\}}^{(\alpha)}&#10;=&#10;\rho&#10;\sum_{v=-2}^{+1}&#10;\mathfrak{g}_{\phi k,v}^{(\alpha)}&#10;\hat{L}_{\left(k+v\right)\left\{\rho\right\}}^{(\alpha+1)}&#10;\end{equation*}&#10;&#10;\end{document}" title="IguanaTex Bitmap Display">
            <a:extLst>
              <a:ext uri="{FF2B5EF4-FFF2-40B4-BE49-F238E27FC236}">
                <a16:creationId xmlns:a16="http://schemas.microsoft.com/office/drawing/2014/main" id="{1942D40E-649F-4C04-A4F6-A9F5565B33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044006" y="3091673"/>
            <a:ext cx="4103989" cy="766402"/>
          </a:xfrm>
          <a:prstGeom prst="rect">
            <a:avLst/>
          </a:prstGeom>
          <a:ln>
            <a:noFill/>
          </a:ln>
        </p:spPr>
      </p:pic>
      <p:pic>
        <p:nvPicPr>
          <p:cNvPr id="10" name="Picture 9" descr="\documentclass{article}&#10;\usepackage{amsmath,bm,eufrak}&#10;\pagestyle{empty}&#10;\begin{document}&#10;&#10;\begin{gather*}&#10;\mathfrak{g}_{k,-2}^{(\alpha)}&#10;=&#10;-\sqrt{(k-1)k(k+\alpha)}&#10;\\&#10;\mathfrak{g}_{\phi k,-1}^{(\alpha)}&#10;=&#10;-\sqrt{k}\left(k-2\phi+2\alpha+1\right)&#10;\\&#10;\mathfrak{g}_{\phi k,0}^{(\alpha)}&#10;=&#10;\sqrt{k+\alpha+1}&#10;\left(k+2\phi-\alpha\right)&#10;\\&#10;\mathfrak{g}_{k,+1}^{(\alpha)}&#10;=&#10;\sqrt{(k+1)(k+\alpha+1)(k+\alpha+2)}&#10;\\&#10;\end{gather*}&#10;&#10;\end{document}" title="IguanaTex Bitmap Display">
            <a:extLst>
              <a:ext uri="{FF2B5EF4-FFF2-40B4-BE49-F238E27FC236}">
                <a16:creationId xmlns:a16="http://schemas.microsoft.com/office/drawing/2014/main" id="{72FE61AD-5FE2-44E9-9C12-9B2444537A1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887999" y="4330316"/>
            <a:ext cx="4416003" cy="1802672"/>
          </a:xfrm>
          <a:prstGeom prst="rect">
            <a:avLst/>
          </a:prstGeom>
        </p:spPr>
      </p:pic>
      <p:pic>
        <p:nvPicPr>
          <p:cNvPr id="4" name="Picture 3" descr="\documentclass{article}&#10;\usepackage{amsmath,bm}&#10;\pagestyle{empty}&#10;\begin{document}&#10;&#10;\begin{align*}&#10;\hat{\mathcal{H}}_{\phi,\pm\phi}&#10;\equiv&#10;\rho&#10;\left(&#10;-4\left(\phi+1\right)\frac{\partial}{\partial \rho}&#10;-4\rho\frac{\partial^{2}}{\partial \rho^{2}}&#10;+2\left(\phi+1\right)&#10;+4\rho\frac{\partial}{\partial \rho}&#10;-\rho&#10;\right)&#10;\end{align*}&#10;&#10;\end{document}" title="IguanaTex Bitmap Display">
            <a:extLst>
              <a:ext uri="{FF2B5EF4-FFF2-40B4-BE49-F238E27FC236}">
                <a16:creationId xmlns:a16="http://schemas.microsoft.com/office/drawing/2014/main" id="{CE30A39D-0FD5-4130-9207-48DAC0E98EE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760382" y="1920241"/>
            <a:ext cx="6671236" cy="6217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1768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Expectation Values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integrability</a:t>
            </a:r>
          </a:p>
        </p:txBody>
      </p:sp>
    </p:spTree>
    <p:extLst>
      <p:ext uri="{BB962C8B-B14F-4D97-AF65-F5344CB8AC3E}">
        <p14:creationId xmlns:p14="http://schemas.microsoft.com/office/powerpoint/2010/main" val="2651759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the expectation values (Overlap, Kinetic, </a:t>
            </a:r>
            <a:r>
              <a:rPr lang="en-US" dirty="0" err="1"/>
              <a:t>KinKin</a:t>
            </a:r>
            <a:r>
              <a:rPr lang="en-US" dirty="0"/>
              <a:t>)</a:t>
            </a:r>
          </a:p>
        </p:txBody>
      </p:sp>
      <p:pic>
        <p:nvPicPr>
          <p:cNvPr id="24" name="Picture 23" descr="\documentclass{article}&#10;\usepackage{amsmath,amssymb,bm}&#10;\usepackage{braket}&#10;\pagestyle{empty}&#10;\begin{document}&#10;&#10;\begin{align*}&#10;\Braket{T^{\kappa_{0}}T^{\kappa_{1}}}_{\left(m\zeta lk\alpha;\lambda\eta\right)_{01}}^{(q)_{01}}&#10;&amp; =&#10;\int&#10;\Phi_{\left(m\zeta lk;\lambda\eta\right)_{0}}^{\left(W\left(\alpha\kappa q\right)_{0}\right)*}&#10;\Phi_{\left(m\zeta lk;\lambda\eta\right)_{1}}^{\left(W\left(\alpha\kappa q\right)_{1}\right)}&#10;\,r^{2}&#10;\mathrm{d}r&#10;\mathrm{d}\Omega&#10;\\&#10;\end{align*}&#10;&#10;\end{document} " title="IguanaTex Bitmap Display">
            <a:extLst>
              <a:ext uri="{FF2B5EF4-FFF2-40B4-BE49-F238E27FC236}">
                <a16:creationId xmlns:a16="http://schemas.microsoft.com/office/drawing/2014/main" id="{136E1E7B-FC51-40BE-A20B-D03899D9808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972191" y="1896280"/>
            <a:ext cx="6247619" cy="562286"/>
          </a:xfrm>
          <a:prstGeom prst="rect">
            <a:avLst/>
          </a:prstGeom>
        </p:spPr>
      </p:pic>
      <p:pic>
        <p:nvPicPr>
          <p:cNvPr id="32" name="Picture 31" descr="\documentclass{article}&#10;\usepackage{amsmath,amssymb,bm}&#10;\usepackage{braket}&#10;\pagestyle{empty}&#10;\begin{document}&#10;&#10;\begin{align*}&#10;\Braket{T^{\kappa_{0}}T^{\kappa_{1}}}_{\left(m\zeta lk\alpha;\lambda\eta\right)_{01}}^{(q)_{01}}&#10;&amp; =&#10;\frac{\mathfrak{U}^{\kappa_{0}+\kappa_{1}}}{\eta_{0}^{2\kappa_{0}}\eta_{1}^{2\kappa_{1}}}&#10;\int&#10;\mathrm{d}\Omega\,&#10;\left(\hat{Q}_{\left(m\zeta\right)_{0}}^{(q_{0})}\right)^{*}&#10;\hat{Q}_{\left(m\zeta\right)_{1}}^{(q_{1})}&#10;\sum_{s_{0}=-\kappa_{0}}^{+\kappa_{1}}&#10;\sum_{s_{1}=-\kappa_{0}}^{+\kappa_{1}}&#10;\mathfrak{H}^{(\kappa_{0})}_{\left(\lambda;lm,s\right)_{0}}&#10;\mathfrak{H}^{(\kappa_{1})}_{\left(\lambda;lm,s\right)_{1}}&#10;\hat{\mathcal{P}}_{\left(\lambda;(l+2s)m\right)_{0}}^{(q_{0})}&#10;\hat{\mathcal{P}}_{\left(\lambda;(l+2s)m\right)_{1}}^{(q_{1})}&#10;\mathcal{I}^{(\kappa\alpha q)_{01}}_{\left(\lambda\eta;lk,s\right)_{01}}&#10;\end{align*}&#10;&#10;\end{document}" title="IguanaTex Bitmap Display">
            <a:extLst>
              <a:ext uri="{FF2B5EF4-FFF2-40B4-BE49-F238E27FC236}">
                <a16:creationId xmlns:a16="http://schemas.microsoft.com/office/drawing/2014/main" id="{661DA404-2143-4FD6-9186-5538E42579B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98059" y="3016101"/>
            <a:ext cx="10982399" cy="598553"/>
          </a:xfrm>
          <a:prstGeom prst="rect">
            <a:avLst/>
          </a:prstGeom>
          <a:ln>
            <a:noFill/>
          </a:ln>
        </p:spPr>
      </p:pic>
      <p:pic>
        <p:nvPicPr>
          <p:cNvPr id="44" name="Picture 43" descr="\documentclass{article}&#10;\usepackage{amsmath,bm}&#10;\usepackage{braket}&#10;\pagestyle{empty}&#10;\begin{document}&#10;&#10;\begin{align*}&#10;\mathcal{I}^{(\kappa\alpha q)_{01}}_{\left(\lambda\eta;lk,s\right)_{01}}&#10;&amp; =&#10;\int_{0}^{\infty}r^{2}\mathrm{d}r\,&#10;\mathcal{R}&#10;_{\left(\left(\eta/\vartheta_{\lambda\left\{\chi_{q}\right\}}\right);kl,s\right)_{0}\left\{r\right\}}&#10;^{\left(W\left(\alpha q\right)_{0}\right)}&#10;\mathcal{R}&#10;_{\left(\left(\eta/\vartheta_{\lambda\left\{\chi_{q}\right\}}\right);kl,s\right)_{1}\left\{r\right\}}&#10;^{\left(W\left(\alpha q\right)_{1}\right)}&#10;\\&#10;&amp; =&#10;W&#10;\left(\frac{2}{Wa_{\perp}\sqrt{\hat{\eta}_{0}\hat{\eta}_{1}}}\right)^{3}&#10;\int_{0}^{\infty}r^{2}\mathrm{d}r\,&#10;\rho_{0}^{\frac{\alpha_{0}+1}{2}-\frac{3}{2W}-\frac{2}{W}\kappa_{0}}&#10;\rho_{1}^{\frac{\alpha_{1}+1}{2}-\frac{3}{2W}-\frac{2}{W}\kappa_{1}}&#10;\mathrm{e}^{-\frac{\rho_{0}+\rho_{1}}{2}}&#10;\hat{H}_{l_{0},s_{0}}^{\kappa_{0}}&#10;L_{k_{0}\left\{\rho_{0}\right\}}^{(\alpha_{0})}&#10;\hat{H}_{l_{1},s_{1}}^{\kappa_{1}}&#10;L_{k_{1}\left\{\rho_{1}\right\}}^{(\alpha_{1})}&#10;\end{align*}&#10;&#10;\end{document}" title="IguanaTex Bitmap Display">
            <a:extLst>
              <a:ext uri="{FF2B5EF4-FFF2-40B4-BE49-F238E27FC236}">
                <a16:creationId xmlns:a16="http://schemas.microsoft.com/office/drawing/2014/main" id="{49B5B60A-428B-4366-8640-4BAE7BB14EA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347202" y="4095157"/>
            <a:ext cx="9497597" cy="112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52" name="Picture 51" descr="\documentclass{article}&#10;\usepackage{amsmath,amssymb,bm}&#10;\pagestyle{empty}&#10;\begin{document}&#10;&#10;\begin{align*}&#10;\mathfrak{U}&#10;&amp; = &#10;\frac{\hbar^{2}}{2m_{0}a_{0}^{2}}&#10;\\&#10;\end{align*}&#10;&#10;\end{document}" title="IguanaTex Bitmap Display">
            <a:extLst>
              <a:ext uri="{FF2B5EF4-FFF2-40B4-BE49-F238E27FC236}">
                <a16:creationId xmlns:a16="http://schemas.microsoft.com/office/drawing/2014/main" id="{64C50BD4-0747-40C3-9F8D-CBB41B14DB3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533878" y="1280160"/>
            <a:ext cx="998400" cy="499809"/>
          </a:xfrm>
          <a:prstGeom prst="rect">
            <a:avLst/>
          </a:prstGeom>
        </p:spPr>
      </p:pic>
      <p:pic>
        <p:nvPicPr>
          <p:cNvPr id="26" name="Picture 25" descr="\documentclass{article}&#10;\usepackage{amsmath,amssymb,bm}&#10;\pagestyle{empty}&#10;\begin{document}&#10;&#10;\begin{equation*}&#10;\rho_{i} \equiv \left(\frac{2r}{Wa_{\perp}\hat{\eta_{i}}}\right)^{W}&#10;\quad\quad&#10;\hat{\eta}_{i} \equiv \frac{ \eta_{i} }{ \vartheta_{ \lambda_{i}\left\{\chi_{q_{i}}\right\} } }&#10;\end{equation*}&#10;&#10;\end{document}" title="IguanaTex Bitmap Display">
            <a:extLst>
              <a:ext uri="{FF2B5EF4-FFF2-40B4-BE49-F238E27FC236}">
                <a16:creationId xmlns:a16="http://schemas.microsoft.com/office/drawing/2014/main" id="{104F31E4-D82F-4DC5-9607-E2152BEAD0E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479543" y="5843471"/>
            <a:ext cx="3232914" cy="61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73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the expectation values</a:t>
            </a:r>
          </a:p>
        </p:txBody>
      </p:sp>
      <p:pic>
        <p:nvPicPr>
          <p:cNvPr id="76" name="Picture 75" descr="\documentclass{article}&#10;\usepackage{amsmath,bm}&#10;\usepackage{braket}&#10;\pagestyle{empty}&#10;\begin{document}&#10;&#10;\begin{align*}&#10;\mathcal{I}^{(\alpha q)_{01}}_{\left(\lambda\eta;lk,s\right)_{01}}&#10;&amp; =&#10;W&#10;\left(\frac{2}{Wa_{\perp}\sqrt{\hat{\eta}_{0}\hat{\eta}_{1}}}\right)^{3}&#10;\int_{0}^{\infty}r^{2}\mathrm{d}r\,&#10;\rho_{0}^{\frac{\alpha_{0}+1}{2}-\frac{3}{2W}-\frac{2}{W}\kappa_{0}}&#10;\rho_{1}^{\frac{\alpha_{1}+1}{2}-\frac{3}{2W}-\frac{2}{W}\kappa_{1}}&#10;\mathrm{e}^{-\frac{\rho_{0}+\rho_{1}}{2}}&#10;\hat{H}_{l_{0},s_{0}}^{\kappa_{0}}&#10;L_{k_{0}\left\{\rho_{0}\right\}}^{(\alpha_{0})}&#10;\hat{H}_{l_{1},s_{1}}^{\kappa_{1}}&#10;L_{k_{1}\left\{\rho_{1}\right\}}^{(\alpha_{1})}&#10;\\&#10;&amp; =&#10;\psi_{0}^{W\left(\alpha_{0}+1\right)-4\kappa_{0}}&#10;\psi_{1}^{W\left(\alpha_{1}+1\right)-4\kappa_{1}}&#10;\int_{0}^{\infty}&#10;\left\{&#10;W&#10;\left(\frac{2}{Wa_{\perp}\hat{\eta}}\right)^{3}&#10;\rho^{1-\frac{3}{W}}&#10;r^{2}\mathrm{d}r&#10;\right\}&#10;\rho^{\frac{\alpha_{0}+\alpha_{1}}{2}-\frac{2}{W}\left(\kappa_{0}+\kappa_{1}\right)}&#10;\mathrm{e}^{-\rho}&#10;\hat{H}_{l_{0},s_{0}}^{\kappa_{0}}&#10;L_{k_{0}\left\{\rho\left(\hat{\eta}/\hat{\eta}_{0}\right)^{W}\right\}}^{(\alpha_{0})}&#10;\hat{H}_{l_{1},s_{1}}^{\kappa_{1}}&#10;L_{k_{1}\left\{\rho\left(\hat{\eta}/\hat{\eta}_{1}\right)^{W}\right\}}^{(\alpha_{1})}&#10;\\&#10;&amp; =&#10;\psi_{0}^{W\left(\alpha_{0}+1\right)-4\kappa_{0}}&#10;\psi_{1}^{W\left(\alpha_{1}+1\right)-4\kappa_{1}}&#10;\int_{0}^{\infty}\mathrm{d}\rho\,&#10;\rho^{\frac{\alpha_{0}+\alpha_{1}}{2}-\frac{2}{W}\left(\kappa_{0}+\kappa_{1}\right)}&#10;\mathrm{e}^{-\rho}&#10;\hat{H}_{l_{0},s_{0}}^{\kappa_{0}}&#10;L_{k_{0}\left\{\rho\left(\hat{\eta}/\hat{\eta}_{0}\right)^{W}\right\}}^{(\alpha_{0})}&#10;\hat{H}_{l_{1},s_{1}}^{\kappa_{1}}&#10;L_{k_{1}\left\{\rho\left(\hat{\eta}/\hat{\eta}_{1}\right)^{W}\right\}}^{(\alpha_{1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DDC68EA1-9494-4F08-A440-D718804B368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2535" y="2103936"/>
            <a:ext cx="11886930" cy="177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Picture 65" descr="\documentclass{article}&#10;\usepackage{amsmath,amssymb,bm}&#10;\pagestyle{empty}&#10;\begin{document}&#10;&#10;\begin{equation*}&#10;\rho \equiv \frac{\rho_{0}+\rho_{1}}{2} = \left(\frac{2r}{Wa_{\perp}\hat{\eta}}\right)^{W}&#10;\quad\quad&#10;\frac{1}{\hat{\eta}^{W}} \equiv \frac{ \hat{\eta}_{0}^{W} + \hat{\eta}_{1}^{W} }{ 2\hat{\eta}_{0}^{W}\hat{\eta}_{1}^{W}  }&#10;\quad\quad&#10;\rho_{i} = \rho \psi_{i}^{2W}&#10;\quad\quad&#10;\psi_{i} = \sqrt{\frac{\hat{\eta}}{\hat{\eta}_{i}}}&#10;\end{equation*}&#10;&#10;\end{document}" title="IguanaTex Bitmap Display">
            <a:extLst>
              <a:ext uri="{FF2B5EF4-FFF2-40B4-BE49-F238E27FC236}">
                <a16:creationId xmlns:a16="http://schemas.microsoft.com/office/drawing/2014/main" id="{0BE737AB-8478-4CCE-B382-18DD8924670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94288" y="4359076"/>
            <a:ext cx="7003425" cy="607086"/>
          </a:xfrm>
          <a:prstGeom prst="rect">
            <a:avLst/>
          </a:prstGeom>
        </p:spPr>
      </p:pic>
      <p:pic>
        <p:nvPicPr>
          <p:cNvPr id="48" name="Picture 47" descr="\documentclass{article}&#10;\usepackage{amsmath,amssymb,bm}&#10;\pagestyle{empty}&#10;\begin{document}&#10;&#10;\begin{equation*}&#10;r^{2}\mathrm{d}r = \frac{1}{W}\left(\frac{Wa_{\perp}\hat{\eta}}{2}\right)^{3}\rho^{\frac{3}{W}-1}\mathrm{d}\rho&#10;\end{equation*}&#10;&#10;\end{document}" title="IguanaTex Bitmap Display">
            <a:extLst>
              <a:ext uri="{FF2B5EF4-FFF2-40B4-BE49-F238E27FC236}">
                <a16:creationId xmlns:a16="http://schemas.microsoft.com/office/drawing/2014/main" id="{D2045BC9-B41F-4E0A-BC75-D7B2FEB3D11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27620" y="5492629"/>
            <a:ext cx="2736761" cy="53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5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Integrability condition</a:t>
            </a:r>
          </a:p>
        </p:txBody>
      </p:sp>
      <p:pic>
        <p:nvPicPr>
          <p:cNvPr id="9" name="Picture 8" descr="\documentclass{article}&#10;\usepackage{amsmath,bm}&#10;\usepackage{braket}&#10;\pagestyle{empty}&#10;\begin{document}&#10;&#10;\begin{align*}&#10;\mathcal{I}^{(\alpha q)_{01}}_{\left(\lambda\eta;lk,s\right)_{01}}&#10;\propto&#10;\int_{0}^{\infty}\mathrm{d}\rho\,&#10;\rho^{\frac{\alpha_{0}+\alpha_{1}}{2}-\frac{2}{W}\left(\kappa_{0}+\kappa_{1}\right)}&#10;\mathrm{e}^{-\rho}&#10;\hat{H}_{l_{0},s_{0}}^{\kappa_{0}}&#10;L_{k_{0}\left\{\rho\left(\hat{\eta}/\hat{\eta}_{0}\right)^{W}\right\}}^{(\alpha_{0})}&#10;\hat{H}_{l_{1},s_{1}}^{\kappa_{1}}&#10;L_{k_{1}\left\{\rho\left(\hat{\eta}/\hat{\eta}_{1}\right)^{W}\right\}}^{(\alpha_{1})}&#10;\end{align*}&#10;&#10;\end{document}" title="IguanaTex Bitmap Display">
            <a:extLst>
              <a:ext uri="{FF2B5EF4-FFF2-40B4-BE49-F238E27FC236}">
                <a16:creationId xmlns:a16="http://schemas.microsoft.com/office/drawing/2014/main" id="{C5E525BC-F6F8-496A-8203-AC0E41CD686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95696" y="1999226"/>
            <a:ext cx="10200609" cy="68518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5" name="Picture 14" descr="\documentclass{article}&#10;\usepackage{amsmath,bm}&#10;\pagestyle{empty}&#10;\begin{document}&#10;We expect that the effect of the differential operators upon polynomials will result in other polynomials. To whit we require that, near the origin,&#10;\begin{equation*}&#10;\hat{H}_{l_{0},s_{0}}^{\kappa_{0}}&#10;L_{k_{0}\left\{\rho\left(\hat{\eta}/\hat{\eta}_{0}\right)^{W}\right\}}^{(\alpha_{0})}&#10;\hat{H}_{l_{1},s_{1}}^{\kappa_{1}}&#10;L_{k_{1}\left\{\rho\left(\hat{\eta}/\hat{\eta}_{1}\right)^{W}\right\}}^{(\alpha_{1})}&#10;\propto&#10;\rho^{\gamma\left(\kappa_{0}+\kappa_{1}\right)}.&#10;\end{equation*}&#10;As such, for the basis function to be integrable, it must be the case that $\alpha_{01} &gt; -1$ where&#10;\begin{equation*}&#10;\alpha_{01} = \frac{\alpha_{0}+\alpha_{1}}{2} -\frac{2}{W}\left(\kappa_{0}+\kappa_{1}\right) -\gamma\left(\kappa_{0}+\kappa_{1}\right).&#10;\end{equation*}&#10;\end{document}" title="IguanaTex Bitmap Display">
            <a:extLst>
              <a:ext uri="{FF2B5EF4-FFF2-40B4-BE49-F238E27FC236}">
                <a16:creationId xmlns:a16="http://schemas.microsoft.com/office/drawing/2014/main" id="{69D957FE-652E-4896-AAB6-5C2AE36DF5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00425" y="3182995"/>
            <a:ext cx="9591150" cy="283275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6066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Determining Alpha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integrability</a:t>
            </a:r>
          </a:p>
        </p:txBody>
      </p:sp>
    </p:spTree>
    <p:extLst>
      <p:ext uri="{BB962C8B-B14F-4D97-AF65-F5344CB8AC3E}">
        <p14:creationId xmlns:p14="http://schemas.microsoft.com/office/powerpoint/2010/main" val="138884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\documentclass{article}&#10;\usepackage{amsmath,bm}&#10;\pagestyle{empty}&#10;\begin{document}&#10;We expect that when $\varphi^{2}\ne\phi^{2}$ the result of applying the differential operators will have constant terms. The integrand will contain terms that go as $\rho^{\alpha_{01}}\mathrm{e}^{-\rho}$ near the origin where &#10;\begin{align*}&#10;\alpha_{01} = \frac{\alpha_{0}+\alpha_{1}}{2} -\frac{2}{W}\left(\kappa_{0}+\kappa_{1}\right).&#10;\end{align*}&#10;To be integrable, it must be the case that $\alpha_{01} &gt; -1$. As such,&#10;\begin{equation*}&#10;\alpha_{01} &gt; -1 \Rightarrow W\left(\alpha_{1}+1\right)+W\left(\alpha_{2}+1\right) &gt; 4\left(\kappa_{0}+\kappa_{1}\right)&#10;\end{equation*}&#10;\end{document}" title="IguanaTex Bitmap Display">
            <a:extLst>
              <a:ext uri="{FF2B5EF4-FFF2-40B4-BE49-F238E27FC236}">
                <a16:creationId xmlns:a16="http://schemas.microsoft.com/office/drawing/2014/main" id="{AE0638AC-9242-45CF-95A3-2A88CF898C6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02104" y="3441828"/>
            <a:ext cx="9587793" cy="2997033"/>
          </a:xfrm>
          <a:prstGeom prst="rect">
            <a:avLst/>
          </a:prstGeom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75E0B9-B0BD-4B90-A1BD-02A6AC2AE74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27811" y="2631669"/>
            <a:ext cx="7617522" cy="609524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</p:spPr>
            <p:txBody>
              <a:bodyPr/>
              <a:lstStyle/>
              <a:p>
                <a:r>
                  <a:rPr lang="en-US" dirty="0"/>
                  <a:t>1. Exploring regimes of applicability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mtClean="0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  <a:blipFill>
                <a:blip r:embed="rId8"/>
                <a:stretch>
                  <a:fillRect l="-1391" t="-18824" b="-3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\documentclass{article}&#10;\usepackage{amsmath,bm}&#10;\pagestyle{empty}&#10;\begin{document}&#10;&#10;\begin{align*}&#10;\hat{H}_{l,-1}&#10;\equiv&#10;\hat{\mathcal{H}}_{\alpha+1+\frac{2l-3}{W},\frac{2}{W}}&#10;\quad\quad&#10;\hat{H}_{l,0}&#10;\equiv&#10;\hat{\mathcal{H}}_{\alpha+1-\frac{2}{W},\frac{2l+1}{W}}&#10;\quad\quad&#10;\hat{H}_{l,+1}&#10;\equiv&#10;\hat{\mathcal{H}}_{\alpha+1-\frac{2l+5}{W},\frac{2}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3BE7FFEE-4706-49B8-ADED-5DC6BE1F11E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620576" y="1975735"/>
            <a:ext cx="8950848" cy="420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2614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</p:spPr>
            <p:txBody>
              <a:bodyPr/>
              <a:lstStyle/>
              <a:p>
                <a:r>
                  <a:rPr lang="en-US" dirty="0"/>
                  <a:t>2. Exploring regimes of applicability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  <a:blipFill>
                <a:blip r:embed="rId6"/>
                <a:stretch>
                  <a:fillRect l="-1391" t="-18824" b="-3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\documentclass{article}&#10;\usepackage{amsmath,bm}&#10;\pagestyle{empty}&#10;\begin{document}&#10;We expect that when $\varphi^{2}=\phi^{2}$ the result of applying the differential operators will have constant terms. As such the integrand will contain terms that go as $\rho^{\alpha_{01}}\mathrm{e}^{-\rho}$ at the origin where &#10;\begin{equation*}&#10;\alpha_{01} = \frac{\alpha_{0}+\alpha_{1}}{2} -\frac{2}{W}\left(\kappa_{0}+\kappa_{1}\right) +\kappa_{0} +\kappa_{1}.&#10;\end{equation*}&#10;To be integrable, it must be the case that $\alpha_{01} &gt; -1$. As such,&#10;\begin{equation*}&#10;\alpha_{01} &gt; -1 &#10;\Rightarrow &#10;W\left(\alpha_{0}+1\right)+W\left(\alpha_{1}+1\right) &gt; 2\left(2-W\right)\left(\kappa_{0}+\kappa_{1}\right).&#10;\end{equation*}&#10;\end{document}" title="IguanaTex Bitmap Display">
            <a:extLst>
              <a:ext uri="{FF2B5EF4-FFF2-40B4-BE49-F238E27FC236}">
                <a16:creationId xmlns:a16="http://schemas.microsoft.com/office/drawing/2014/main" id="{A269B41A-DF99-439D-AA48-BBE2E6E73A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302104" y="3441823"/>
            <a:ext cx="9587792" cy="2997033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\documentclass{article}&#10;\usepackage{amsmath,bm}&#10;\pagestyle{empty}&#10;\begin{document}&#10;&#10;\begin{align*}&#10;\hat{\mathcal{H}}_{\phi,\pm\phi}&#10;=&#10;\rho&#10;\left(&#10;-4\left(\phi+1\right)\frac{\partial}{\partial \rho}&#10;-4\rho^{2}\frac{\partial^{2}}{\partial \rho}&#10;+2\left(\phi+1\right)&#10;+4\rho\frac{\partial}{\partial \rho}&#10;-\rho&#10;\right)&#10;\end{align*}&#10;&#10;\end{document}" title="IguanaTex Bitmap Display">
            <a:extLst>
              <a:ext uri="{FF2B5EF4-FFF2-40B4-BE49-F238E27FC236}">
                <a16:creationId xmlns:a16="http://schemas.microsoft.com/office/drawing/2014/main" id="{3B5E31D4-30E6-4576-8A7D-A5FC4F582A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27812" y="2631669"/>
            <a:ext cx="6671237" cy="621714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\documentclass{article}&#10;\usepackage{amsmath,bm}&#10;\pagestyle{empty}&#10;\begin{document}&#10;&#10;\begin{align*}&#10;\hat{H}_{l,-1}&#10;\equiv&#10;\hat{\mathcal{H}}_{\alpha+1+\frac{2l-3}{W},\frac{2}{W}}&#10;\quad\quad&#10;\hat{H}_{l,0}&#10;\equiv&#10;\hat{\mathcal{H}}_{\alpha+1-\frac{2}{W},\frac{2l+1}{W}}&#10;\quad\quad&#10;\hat{H}_{l,+1}&#10;\equiv&#10;\hat{\mathcal{H}}_{\alpha+1-\frac{2l+5}{W},\frac{2}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8D2E5DA-D7B1-496F-A194-CCE6D1B6112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620576" y="1975735"/>
            <a:ext cx="8950848" cy="420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9879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</p:spPr>
            <p:txBody>
              <a:bodyPr/>
              <a:lstStyle/>
              <a:p>
                <a:r>
                  <a:rPr lang="en-US" dirty="0"/>
                  <a:t>3. What criteria on </a:t>
                </a:r>
                <a:r>
                  <a:rPr lang="el-GR" dirty="0"/>
                  <a:t>α</a:t>
                </a:r>
                <a:r>
                  <a:rPr lang="en-US" dirty="0"/>
                  <a:t> is required to achieve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  <a:blipFill>
                <a:blip r:embed="rId6"/>
                <a:stretch>
                  <a:fillRect l="-1391" t="-18824" b="-3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Picture 74">
            <a:extLst>
              <a:ext uri="{FF2B5EF4-FFF2-40B4-BE49-F238E27FC236}">
                <a16:creationId xmlns:a16="http://schemas.microsoft.com/office/drawing/2014/main" id="{C8A35E1E-AB6F-40F3-96F7-B4C10785C91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553602" y="2950372"/>
            <a:ext cx="4554510" cy="95725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E58C69-C1F5-4B25-9908-925B76693B8F}"/>
                  </a:ext>
                </a:extLst>
              </p:cNvPr>
              <p:cNvSpPr txBox="1"/>
              <p:nvPr/>
            </p:nvSpPr>
            <p:spPr>
              <a:xfrm>
                <a:off x="2563888" y="5932715"/>
                <a:ext cx="7064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* Not possible to accomplish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for a given </a:t>
                </a:r>
                <a:r>
                  <a:rPr lang="el-GR" dirty="0"/>
                  <a:t>α</a:t>
                </a:r>
                <a:r>
                  <a:rPr lang="en-US" dirty="0"/>
                  <a:t>(l) and all values of s.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E58C69-C1F5-4B25-9908-925B76693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888" y="5932715"/>
                <a:ext cx="7064224" cy="369332"/>
              </a:xfrm>
              <a:prstGeom prst="rect">
                <a:avLst/>
              </a:prstGeom>
              <a:blipFill>
                <a:blip r:embed="rId8"/>
                <a:stretch>
                  <a:fillRect t="-8197" r="-25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D163B1D6-0AA9-4154-9B1E-50DE9EBFA84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83888" y="2447058"/>
            <a:ext cx="4385826" cy="1963885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\documentclass{article}&#10;\usepackage{amsmath,bm,mathtools}&#10;\pagestyle{empty}&#10;\begin{document}&#10;&#10;\begin{equation*}&#10;W\left(\alpha+1\right)&#10;\in&#10;\left\{&#10;{-2l+5},{-2l+1},{2l+3},{2l+7}&#10;\right\}&#10;\end{equation*}&#10;&#10;\end{document}" title="IguanaTex Bitmap Display">
            <a:extLst>
              <a:ext uri="{FF2B5EF4-FFF2-40B4-BE49-F238E27FC236}">
                <a16:creationId xmlns:a16="http://schemas.microsoft.com/office/drawing/2014/main" id="{F99315CA-2AC6-46CB-B5AC-60276E7AC32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71546" y="5231594"/>
            <a:ext cx="4448909" cy="2290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0611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</p:spPr>
            <p:txBody>
              <a:bodyPr/>
              <a:lstStyle/>
              <a:p>
                <a:r>
                  <a:rPr lang="en-US" dirty="0"/>
                  <a:t>4. Exploring regimes of applicability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  <a:blipFill>
                <a:blip r:embed="rId7"/>
                <a:stretch>
                  <a:fillRect l="-1391" t="-18824" b="-3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\documentclass{article}&#10;\usepackage{amsmath,bm}&#10;\pagestyle{empty}&#10;\begin{document}&#10;\begin{equation*}&#10;\text{Max}\left\{2\left(2-W\right)\left(\kappa_{0}+\kappa_{1}\right)\right\} = 4\left(2-W\right)&#10;\quad\Longrightarrow\quad&#10;W\left(\alpha_{0}+1\right)+W\left(\alpha_{1}+1\right) &gt; 4\left(2-W\right).&#10;\end{equation*}&#10;\end{document}" title="IguanaTex Bitmap Display">
            <a:extLst>
              <a:ext uri="{FF2B5EF4-FFF2-40B4-BE49-F238E27FC236}">
                <a16:creationId xmlns:a16="http://schemas.microsoft.com/office/drawing/2014/main" id="{A398CA5B-9856-4008-ABEE-9D711EB30A8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52883" y="2922171"/>
            <a:ext cx="10486235" cy="279924"/>
          </a:xfrm>
          <a:prstGeom prst="rect">
            <a:avLst/>
          </a:prstGeom>
          <a:ln>
            <a:noFill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227FCA6-E8E5-4F40-90DA-EE2FA0EF50A3}"/>
              </a:ext>
            </a:extLst>
          </p:cNvPr>
          <p:cNvGrpSpPr/>
          <p:nvPr/>
        </p:nvGrpSpPr>
        <p:grpSpPr>
          <a:xfrm>
            <a:off x="3608615" y="3786842"/>
            <a:ext cx="4974771" cy="913630"/>
            <a:chOff x="3608615" y="3786842"/>
            <a:chExt cx="4974771" cy="913630"/>
          </a:xfrm>
        </p:grpSpPr>
        <p:pic>
          <p:nvPicPr>
            <p:cNvPr id="17" name="Picture 16" descr="\documentclass{article}&#10;\usepackage{amsmath,bm}&#10;\pagestyle{empty}&#10;\begin{document}&#10;&#10;\begin{equation*}&#10;W\left(\alpha+1\right)&#10;\notin \left\{&#10;-2l+5,-2l+1&#10;\right\} &#10;\end{equation*}&#10;&#10;\end{document}" title="IguanaTex Bitmap Display">
              <a:extLst>
                <a:ext uri="{FF2B5EF4-FFF2-40B4-BE49-F238E27FC236}">
                  <a16:creationId xmlns:a16="http://schemas.microsoft.com/office/drawing/2014/main" id="{63982BFA-3311-4F4E-883D-05B01869979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4551772" y="3786842"/>
              <a:ext cx="3088456" cy="229028"/>
            </a:xfrm>
            <a:prstGeom prst="rect">
              <a:avLst/>
            </a:prstGeom>
            <a:ln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A2DC5EC-5AEE-4811-90F4-47BFB6A4A617}"/>
                    </a:ext>
                  </a:extLst>
                </p:cNvPr>
                <p:cNvSpPr txBox="1"/>
                <p:nvPr/>
              </p:nvSpPr>
              <p:spPr>
                <a:xfrm>
                  <a:off x="3608615" y="4054141"/>
                  <a:ext cx="497477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If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α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is proportional to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𝑙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then for large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𝑙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the integrability condition for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will be violated.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A2DC5EC-5AEE-4811-90F4-47BFB6A4A6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8615" y="4054141"/>
                  <a:ext cx="4974771" cy="646331"/>
                </a:xfrm>
                <a:prstGeom prst="rect">
                  <a:avLst/>
                </a:prstGeom>
                <a:blipFill>
                  <a:blip r:embed="rId10"/>
                  <a:stretch>
                    <a:fillRect l="-980" t="-4717" r="-980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7D77105-034E-47CE-912F-BCCA03F23433}"/>
              </a:ext>
            </a:extLst>
          </p:cNvPr>
          <p:cNvGrpSpPr/>
          <p:nvPr/>
        </p:nvGrpSpPr>
        <p:grpSpPr>
          <a:xfrm>
            <a:off x="2612118" y="5285219"/>
            <a:ext cx="6967764" cy="913630"/>
            <a:chOff x="2612118" y="5285219"/>
            <a:chExt cx="6967764" cy="913630"/>
          </a:xfrm>
        </p:grpSpPr>
        <p:pic>
          <p:nvPicPr>
            <p:cNvPr id="21" name="Picture 20" descr="\documentclass{article}&#10;\usepackage{amsmath,bm}&#10;\pagestyle{empty}&#10;\begin{document}&#10;&#10;\begin{equation*}&#10;W\left(\alpha+1\right)&#10;\in&#10;\left\{2l+3,2l+7\right\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8A1E6CCB-EAA7-4F2A-B775-C785725378C5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728686" y="5285219"/>
              <a:ext cx="2734628" cy="229028"/>
            </a:xfrm>
            <a:prstGeom prst="rect">
              <a:avLst/>
            </a:prstGeom>
            <a:ln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F9DE7B1-1B6F-463C-9B57-B3085F6E91BF}"/>
                    </a:ext>
                  </a:extLst>
                </p:cNvPr>
                <p:cNvSpPr txBox="1"/>
                <p:nvPr/>
              </p:nvSpPr>
              <p:spPr>
                <a:xfrm>
                  <a:off x="2612118" y="5552518"/>
                  <a:ext cx="696776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Either definition of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𝛼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will satisfy the integrability condition. </a:t>
                  </a:r>
                </a:p>
                <a:p>
                  <a:pPr algn="ctr"/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However, setting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+3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will satisfy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𝜑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for all </a:t>
                  </a:r>
                  <a:r>
                    <a:rPr lang="en-US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l </a:t>
                  </a: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for both s = 0,1.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F9DE7B1-1B6F-463C-9B57-B3085F6E91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2118" y="5552518"/>
                  <a:ext cx="6967764" cy="646331"/>
                </a:xfrm>
                <a:prstGeom prst="rect">
                  <a:avLst/>
                </a:prstGeom>
                <a:blipFill>
                  <a:blip r:embed="rId12"/>
                  <a:stretch>
                    <a:fillRect l="-612" t="-5660" r="-524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Picture 12" descr="\documentclass{article}&#10;\usepackage{amsmath,bm}&#10;\pagestyle{empty}&#10;\begin{document}&#10;\begin{equation*}&#10;W\left(\alpha_{1}+1\right)+W\left(\alpha_{2}+1\right) &gt; 2\left(2-W\right)\left(\kappa_{0}+\kappa_{1}\right)&#10;\end{equation*}&#10;\end{document}" title="IguanaTex Bitmap Display">
            <a:extLst>
              <a:ext uri="{FF2B5EF4-FFF2-40B4-BE49-F238E27FC236}">
                <a16:creationId xmlns:a16="http://schemas.microsoft.com/office/drawing/2014/main" id="{3704FB1F-0DEE-4918-9B1C-4D3E377C490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238101" y="2057500"/>
            <a:ext cx="5715798" cy="2799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0363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</p:spPr>
            <p:txBody>
              <a:bodyPr/>
              <a:lstStyle/>
              <a:p>
                <a:r>
                  <a:rPr lang="en-US" dirty="0"/>
                  <a:t>5. Exploring regimes of applicability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  <a:blipFill>
                <a:blip r:embed="rId7"/>
                <a:stretch>
                  <a:fillRect l="-1391" t="-21687" b="-39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\documentclass{article}&#10;\usepackage{amsmath,bm}&#10;\pagestyle{empty}&#10;\begin{document}&#10;\begin{equation*}&#10;\text{Max}\left\{4\left(\kappa_{0}+\kappa_{1}\right)\right\} = 8&#10;\quad\Longrightarrow\quad&#10;W\left(\alpha_{0}+1\right)+W\left(\alpha_{1}+1\right) &gt; 8.&#10;\end{equation*}&#10;\end{document}" title="IguanaTex Bitmap Display">
            <a:extLst>
              <a:ext uri="{FF2B5EF4-FFF2-40B4-BE49-F238E27FC236}">
                <a16:creationId xmlns:a16="http://schemas.microsoft.com/office/drawing/2014/main" id="{7C61384F-E7FF-4251-ACBB-123601B1FB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379052" y="2890092"/>
            <a:ext cx="7433897" cy="279924"/>
          </a:xfrm>
          <a:prstGeom prst="rect">
            <a:avLst/>
          </a:prstGeom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F7DC200-03ED-4573-8A56-69919FD55453}"/>
              </a:ext>
            </a:extLst>
          </p:cNvPr>
          <p:cNvGrpSpPr/>
          <p:nvPr/>
        </p:nvGrpSpPr>
        <p:grpSpPr>
          <a:xfrm>
            <a:off x="1108392" y="3724230"/>
            <a:ext cx="9975217" cy="1203791"/>
            <a:chOff x="1108392" y="3233831"/>
            <a:chExt cx="9975217" cy="12037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F9DE7B1-1B6F-463C-9B57-B3085F6E91BF}"/>
                    </a:ext>
                  </a:extLst>
                </p:cNvPr>
                <p:cNvSpPr txBox="1"/>
                <p:nvPr/>
              </p:nvSpPr>
              <p:spPr>
                <a:xfrm>
                  <a:off x="1108392" y="3514292"/>
                  <a:ext cx="997521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This definition of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𝛼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potentially does not satisfy the integrability condition for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when the operator is applied to states with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=0,1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. However, it is only the s = -1 operator that requires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, and when the s = -1 operator is applied to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=0,1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, the result is identically zero. This satisfies integrability.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F9DE7B1-1B6F-463C-9B57-B3085F6E91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392" y="3514292"/>
                  <a:ext cx="9975217" cy="923330"/>
                </a:xfrm>
                <a:prstGeom prst="rect">
                  <a:avLst/>
                </a:prstGeom>
                <a:blipFill>
                  <a:blip r:embed="rId9"/>
                  <a:stretch>
                    <a:fillRect l="-550" t="-3974" r="-856" b="-99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655156E-9106-4C50-86CC-DF27F62F164F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178058" y="3233831"/>
              <a:ext cx="3835885" cy="229028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CABAB48-E122-472C-88DE-906D56C7BB68}"/>
              </a:ext>
            </a:extLst>
          </p:cNvPr>
          <p:cNvGrpSpPr/>
          <p:nvPr/>
        </p:nvGrpSpPr>
        <p:grpSpPr>
          <a:xfrm>
            <a:off x="2766333" y="5482236"/>
            <a:ext cx="6659335" cy="926793"/>
            <a:chOff x="2766333" y="5055113"/>
            <a:chExt cx="6659335" cy="92679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9FC9693-49E0-4B17-BD28-7BA546DD1EF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085487" y="5055113"/>
              <a:ext cx="4021026" cy="229028"/>
            </a:xfrm>
            <a:prstGeom prst="rect">
              <a:avLst/>
            </a:prstGeom>
            <a:ln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9B756DA-7E25-406A-9F10-C4CD5EB92681}"/>
                    </a:ext>
                  </a:extLst>
                </p:cNvPr>
                <p:cNvSpPr txBox="1"/>
                <p:nvPr/>
              </p:nvSpPr>
              <p:spPr>
                <a:xfrm>
                  <a:off x="2766333" y="5335575"/>
                  <a:ext cx="665933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This definition of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𝛼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satisfies the integrability condition for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for all values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. However, only s = 1 will satisfy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𝜑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9B756DA-7E25-406A-9F10-C4CD5EB92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6333" y="5335575"/>
                  <a:ext cx="6659335" cy="646331"/>
                </a:xfrm>
                <a:prstGeom prst="rect">
                  <a:avLst/>
                </a:prstGeom>
                <a:blipFill>
                  <a:blip r:embed="rId12"/>
                  <a:stretch>
                    <a:fillRect t="-4717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" name="Picture 3" descr="\documentclass{article}&#10;\usepackage{amsmath,bm}&#10;\pagestyle{empty}&#10;\begin{document}&#10;\begin{equation*}&#10;W\left(\alpha_{1}+1\right)+W\left(\alpha_{2}+1\right) &gt; 4\left(\kappa_{0}+\kappa_{1}\right)&#10;\end{equation*}&#10;\end{document}" title="IguanaTex Bitmap Display">
            <a:extLst>
              <a:ext uri="{FF2B5EF4-FFF2-40B4-BE49-F238E27FC236}">
                <a16:creationId xmlns:a16="http://schemas.microsoft.com/office/drawing/2014/main" id="{E264B12D-04F6-4843-B828-333BCD289D9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759394" y="2055954"/>
            <a:ext cx="4673212" cy="2799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7586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</p:spPr>
            <p:txBody>
              <a:bodyPr/>
              <a:lstStyle/>
              <a:p>
                <a:r>
                  <a:rPr lang="en-US" dirty="0"/>
                  <a:t>6. Making the best choice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  <a:blipFill>
                <a:blip r:embed="rId5"/>
                <a:stretch>
                  <a:fillRect l="-1391" t="-22892" b="-38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\documentclass{article}&#10;\usepackage{amsmath,bm}&#10;\pagestyle{empty}&#10;\begin{document}&#10;&#10;Let $W(\alpha+1) \equiv 2l+3 \quad \Rightarrow \quad \alpha = \delta_{W1}\left(2l+2\right) + \delta_{W2}\left(l+\frac{1}{2}\right)$&#10;&#10;\end{document}" title="IguanaTex Bitmap Display">
            <a:extLst>
              <a:ext uri="{FF2B5EF4-FFF2-40B4-BE49-F238E27FC236}">
                <a16:creationId xmlns:a16="http://schemas.microsoft.com/office/drawing/2014/main" id="{79488378-C75C-4F9C-9822-436653F3FD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379048" y="3684808"/>
            <a:ext cx="7433904" cy="335238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9A22BA-BDDA-493C-B775-FAA299784AB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981334" y="4623694"/>
            <a:ext cx="2229333" cy="144822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D13E11-8ECF-47C0-A4AE-646FDA8AE8E5}"/>
                  </a:ext>
                </a:extLst>
              </p:cNvPr>
              <p:cNvSpPr txBox="1"/>
              <p:nvPr/>
            </p:nvSpPr>
            <p:spPr>
              <a:xfrm>
                <a:off x="1497467" y="2102519"/>
                <a:ext cx="91970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 it makes more sense to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This satisfies all conditions for integrability over all state indices, and reduces the number of terms introduced by the kinetic differentiation.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D13E11-8ECF-47C0-A4AE-646FDA8AE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467" y="2102519"/>
                <a:ext cx="9197067" cy="646331"/>
              </a:xfrm>
              <a:prstGeom prst="rect">
                <a:avLst/>
              </a:prstGeom>
              <a:blipFill>
                <a:blip r:embed="rId8"/>
                <a:stretch>
                  <a:fillRect l="-265" t="-5660" r="-26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809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Finishing Up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the effect of the </a:t>
            </a:r>
            <a:r>
              <a:rPr lang="en-US" dirty="0" err="1"/>
              <a:t>suboperators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804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\documentclass{article}&#10;\usepackage{amsmath,amssymb,bm}&#10;\pagestyle{empty}&#10;\begin{document}&#10;&#10;\begin{equation*}&#10;\hat{H}_{l}^{(-1)}&#10;\hat{L}_{k\left\{\rho\right\}}^{(\alpha)}&#10;=&#10;\sum_{v=-2}^{+2}&#10;\mathfrak{g}_{lk,v}^{(-1)}&#10;\hat{L}_{\left(k+v\right)\left\{\rho\right\}}^{(\alpha)}&#10;\end{equation*}&#10;&#10;\end{document}" title="IguanaTex Bitmap Display">
            <a:extLst>
              <a:ext uri="{FF2B5EF4-FFF2-40B4-BE49-F238E27FC236}">
                <a16:creationId xmlns:a16="http://schemas.microsoft.com/office/drawing/2014/main" id="{641A4705-31DB-476F-A54E-87EE63541CE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44004" y="2880998"/>
            <a:ext cx="3903992" cy="766402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Effect of final kinetic </a:t>
                </a:r>
                <a:r>
                  <a:rPr lang="en-US" dirty="0" err="1"/>
                  <a:t>suboperator</a:t>
                </a:r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7"/>
                <a:stretch>
                  <a:fillRect l="-1391" t="-22892" b="-38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\documentclass{article}&#10;\usepackage{amsmath,amssymb,bm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 title="IguanaTex Bitmap Display">
            <a:extLst>
              <a:ext uri="{FF2B5EF4-FFF2-40B4-BE49-F238E27FC236}">
                <a16:creationId xmlns:a16="http://schemas.microsoft.com/office/drawing/2014/main" id="{8C203F23-2CDD-4493-987F-B332A997B2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20946" y="4109094"/>
            <a:ext cx="8550109" cy="2279626"/>
          </a:xfrm>
          <a:prstGeom prst="rect">
            <a:avLst/>
          </a:prstGeom>
        </p:spPr>
      </p:pic>
      <p:pic>
        <p:nvPicPr>
          <p:cNvPr id="12" name="Picture 11" descr="\documentclass{article}&#10;\usepackage{amsmath,bm}&#10;\pagestyle{empty}&#10;\begin{document}&#10;&#10;\begin{equation*}&#10;W(\alpha+1) \equiv 2l+3&#10;\end{equation*}&#10;&#10;\end{document}" title="IguanaTex Bitmap Display">
            <a:extLst>
              <a:ext uri="{FF2B5EF4-FFF2-40B4-BE49-F238E27FC236}">
                <a16:creationId xmlns:a16="http://schemas.microsoft.com/office/drawing/2014/main" id="{719D21BF-037B-4C0C-90E9-E4721613608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982172" y="2139379"/>
            <a:ext cx="2227657" cy="2799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1554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Effect of final kinetic </a:t>
                </a:r>
                <a:r>
                  <a:rPr lang="en-US" dirty="0" err="1"/>
                  <a:t>suboperator</a:t>
                </a:r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1391" t="-22892" b="-38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\documentclass{article}&#10;\usepackage{amsmath,amssymb,bm}&#10;\pagestyle{empty}&#10;\begin{document}&#10;&#10;\begin{equation*}&#10;\hat{H}_{l}^{(0)}&#10;\hat{L}_{k\left\{\rho\right\}}^{(\alpha)}&#10;=&#10;\rho&#10;\sum_{v=-2}^{+1}&#10;\mathfrak{g}_{lk,v}^{(0)}&#10;\hat{L}_{\left(k+v\right)\left\{\rho\right\}}^{(\alpha+1)}&#10;\end{equation*}&#10;&#10;\end{document}" title="IguanaTex Bitmap Display">
            <a:extLst>
              <a:ext uri="{FF2B5EF4-FFF2-40B4-BE49-F238E27FC236}">
                <a16:creationId xmlns:a16="http://schemas.microsoft.com/office/drawing/2014/main" id="{DF668796-A324-4EC7-9D8C-A0BFD7F390B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74404" y="2380473"/>
            <a:ext cx="3843193" cy="766402"/>
          </a:xfrm>
          <a:prstGeom prst="rect">
            <a:avLst/>
          </a:prstGeom>
          <a:ln>
            <a:noFill/>
          </a:ln>
        </p:spPr>
      </p:pic>
      <p:pic>
        <p:nvPicPr>
          <p:cNvPr id="12" name="Picture 11" descr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 title="IguanaTex Bitmap Display">
            <a:extLst>
              <a:ext uri="{FF2B5EF4-FFF2-40B4-BE49-F238E27FC236}">
                <a16:creationId xmlns:a16="http://schemas.microsoft.com/office/drawing/2014/main" id="{A7CD9761-801D-460E-A792-DAB7C42EC35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855998" y="4025515"/>
            <a:ext cx="4480004" cy="180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02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\documentclass{article}&#10;\usepackage{amsmath,amssymb,bm}&#10;\pagestyle{empty}&#10;\begin{document}&#10;&#10;\begin{equation*}&#10;\hat{H}_{l}^{(+1)}&#10;\hat{L}_{k\left\{\rho\right\}}^{(\alpha)}&#10;=&#10;\rho&#10;\sum_{v=-2}^{+1}&#10;\mathfrak{g}_{lk,v}^{(+1)}&#10;\hat{L}_{\left(k+v\right)\left\{\rho\right\}}^{(\alpha+1)}&#10;\end{equation*}&#10;&#10;\end{document}" title="IguanaTex Bitmap Display">
            <a:extLst>
              <a:ext uri="{FF2B5EF4-FFF2-40B4-BE49-F238E27FC236}">
                <a16:creationId xmlns:a16="http://schemas.microsoft.com/office/drawing/2014/main" id="{B5A84270-E391-499C-9B82-C7E6F405DA4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56004" y="2379232"/>
            <a:ext cx="4079992" cy="766402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Effect of final kinetic </a:t>
                </a:r>
                <a:r>
                  <a:rPr lang="en-US" dirty="0" err="1"/>
                  <a:t>suboperator</a:t>
                </a:r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6"/>
                <a:stretch>
                  <a:fillRect l="-1391" t="-22892" b="-38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 title="IguanaTex Bitmap Display">
            <a:extLst>
              <a:ext uri="{FF2B5EF4-FFF2-40B4-BE49-F238E27FC236}">
                <a16:creationId xmlns:a16="http://schemas.microsoft.com/office/drawing/2014/main" id="{40300D31-6B0B-4CEB-8C2E-277039F8C26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855998" y="4330316"/>
            <a:ext cx="4480004" cy="180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37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GENERALIZED BASIS STATES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" y="3970337"/>
            <a:ext cx="8473600" cy="2212976"/>
          </a:xfrm>
        </p:spPr>
        <p:txBody>
          <a:bodyPr/>
          <a:lstStyle/>
          <a:p>
            <a:r>
              <a:rPr lang="en-US" dirty="0"/>
              <a:t>The basis state, both original and with the kinetic operator applied, expressed in one formula.</a:t>
            </a:r>
          </a:p>
        </p:txBody>
      </p:sp>
    </p:spTree>
    <p:extLst>
      <p:ext uri="{BB962C8B-B14F-4D97-AF65-F5344CB8AC3E}">
        <p14:creationId xmlns:p14="http://schemas.microsoft.com/office/powerpoint/2010/main" val="4052827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\documentclass{article}&#10;\usepackage{amsmath,amssymb,bm}&#10;\pagestyle{empty}&#10;\begin{document}&#10;&#10;\begin{align*}&#10;\mathcal{R}&#10;_{\eta;kl,s\left\{r\right\}}&#10;^{\left(W\kappa\right)}&#10;&amp; =&#10;\left(\frac{2}{Wa_{\perp}\eta}\right)^{\frac{3}{2}}&#10;\left[&#10;\sqrt{W}&#10;\rho^{\frac{l}{W}-\kappa\delta_{W1}-\delta_{s\bar{1}}}\mathrm{e}^{-\rho/2}&#10;\sum_{v=-2\kappa}^{\kappa+\delta_{s\bar{1}}}&#10;\mathfrak{h}_{lk,v}^{(\kappa s)}&#10;\hat{L}_{\left(k+v\right)\left\{\rho\right\}}^{\left(\frac{2l+3-W}{W}+\kappa-\delta_{s\bar{1}}\right)}&#10;\right|_{\rho \rightarrow \left(\frac{2r}{Wa_\perp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BC560A69-33E2-4FA5-AE35-C54F207929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54288" y="5525854"/>
            <a:ext cx="9883425" cy="93104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/>
              <a:t>basis states -- I</a:t>
            </a:r>
            <a:endParaRPr lang="en-US" dirty="0"/>
          </a:p>
        </p:txBody>
      </p:sp>
      <p:pic>
        <p:nvPicPr>
          <p:cNvPr id="17" name="Picture 16" descr="\documentclass{article}&#10;\usepackage{amsmath,bm,eufrak}&#10;\pagestyle{empty}&#10;\begin{document}&#10;&#10;\begin{equation*}&#10;\Phi_{m\zeta lk;\lambda\eta}^{(W\kappa q)}&#10;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right)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1DBF5996-F51C-4011-9BDA-3CF848474EC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147051" y="1857139"/>
            <a:ext cx="7897898" cy="717714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C605298-DE69-4711-BAEF-64F6E2D0AAEF}"/>
              </a:ext>
            </a:extLst>
          </p:cNvPr>
          <p:cNvGrpSpPr/>
          <p:nvPr/>
        </p:nvGrpSpPr>
        <p:grpSpPr>
          <a:xfrm>
            <a:off x="689315" y="2909021"/>
            <a:ext cx="10813370" cy="2282664"/>
            <a:chOff x="689315" y="3187399"/>
            <a:chExt cx="10813370" cy="228266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0250C51-F8E1-45A4-86D4-A6841A9B222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689315" y="3187399"/>
              <a:ext cx="5504000" cy="2282664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C51ABE5-50DA-42F9-9D7D-746C5EFFA2D3}"/>
                </a:ext>
              </a:extLst>
            </p:cNvPr>
            <p:cNvGrpSpPr/>
            <p:nvPr/>
          </p:nvGrpSpPr>
          <p:grpSpPr>
            <a:xfrm>
              <a:off x="7018249" y="3352731"/>
              <a:ext cx="4484436" cy="1952000"/>
              <a:chOff x="6808836" y="3100269"/>
              <a:chExt cx="4484436" cy="195200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4249CE76-A88C-4487-89DB-79F5FC40B2A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6808836" y="3100269"/>
                <a:ext cx="2558476" cy="1952000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0209C886-60C8-48AA-9803-1DBF5239F77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9702415" y="3536384"/>
                <a:ext cx="1590857" cy="122514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21143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basis states -- II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55930D-EFAF-45C2-9C5E-9BDA174E90DB}"/>
              </a:ext>
            </a:extLst>
          </p:cNvPr>
          <p:cNvGrpSpPr/>
          <p:nvPr/>
        </p:nvGrpSpPr>
        <p:grpSpPr>
          <a:xfrm>
            <a:off x="202610" y="4589237"/>
            <a:ext cx="11786779" cy="1481752"/>
            <a:chOff x="202610" y="4589237"/>
            <a:chExt cx="11786779" cy="1481752"/>
          </a:xfrm>
        </p:grpSpPr>
        <p:pic>
          <p:nvPicPr>
            <p:cNvPr id="29" name="Picture 28" descr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 title="IguanaTex Bitmap Display">
              <a:extLst>
                <a:ext uri="{FF2B5EF4-FFF2-40B4-BE49-F238E27FC236}">
                  <a16:creationId xmlns:a16="http://schemas.microsoft.com/office/drawing/2014/main" id="{D69CBFEC-10D5-4DD0-8569-AFF73788424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077390" y="4744247"/>
              <a:ext cx="2911999" cy="117173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24" name="Picture 23" descr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 title="IguanaTex Bitmap Display">
              <a:extLst>
                <a:ext uri="{FF2B5EF4-FFF2-40B4-BE49-F238E27FC236}">
                  <a16:creationId xmlns:a16="http://schemas.microsoft.com/office/drawing/2014/main" id="{F49E9B3A-862A-4AEC-9EDD-21FA0BFFCC0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962781" y="4744247"/>
              <a:ext cx="2911999" cy="1171733"/>
            </a:xfrm>
            <a:prstGeom prst="rect">
              <a:avLst/>
            </a:prstGeom>
          </p:spPr>
        </p:pic>
        <p:pic>
          <p:nvPicPr>
            <p:cNvPr id="19" name="Picture 18" descr="\documentclass{article}&#10;\usepackage{amsmath,bm,eufrak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 title="IguanaTex Bitmap Display">
              <a:extLst>
                <a:ext uri="{FF2B5EF4-FFF2-40B4-BE49-F238E27FC236}">
                  <a16:creationId xmlns:a16="http://schemas.microsoft.com/office/drawing/2014/main" id="{76026E40-AA9A-481F-B0E1-5F32260D307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202610" y="4589237"/>
              <a:ext cx="5557561" cy="1481752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725DD0-F929-465B-A9A2-5DE4543C0A4F}"/>
              </a:ext>
            </a:extLst>
          </p:cNvPr>
          <p:cNvGrpSpPr/>
          <p:nvPr/>
        </p:nvGrpSpPr>
        <p:grpSpPr>
          <a:xfrm>
            <a:off x="1388702" y="1956317"/>
            <a:ext cx="9414596" cy="2357336"/>
            <a:chOff x="1399368" y="1956317"/>
            <a:chExt cx="9414596" cy="2357336"/>
          </a:xfrm>
        </p:grpSpPr>
        <p:pic>
          <p:nvPicPr>
            <p:cNvPr id="14" name="Picture 13" descr="\documentclass{article}&#10;\usepackage{amsmath,amssymb,bm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FC0D1E48-33ED-485E-A230-B565D07503C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151113" y="1956317"/>
              <a:ext cx="4662851" cy="23573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Picture 9" descr="\documentclass{article}&#10;\usepackage{amsmath,amssymb,bm}&#10;\pagestyle{empty}&#10;\begin{document}&#10;&#10;\begin{equation*}&#10;\mathfrak{H}^{(\kappa s)}_{lm}&#10;= &#10;\delta_{s,0}-\kappa\left(1-\gamma\lambda^{2}\right)\mathfrak{Y}_{lm}^{(s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4728DDA0-9E41-44FE-93EF-8AD9BABBE13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399368" y="2958984"/>
              <a:ext cx="3349329" cy="352000"/>
            </a:xfrm>
            <a:prstGeom prst="rect">
              <a:avLst/>
            </a:prstGeom>
          </p:spPr>
        </p:pic>
      </p:grpSp>
      <p:pic>
        <p:nvPicPr>
          <p:cNvPr id="33" name="Picture 32" descr="\documentclass{article}&#10;\usepackage{amsmath,amssymb,bm}&#10;\pagestyle{empty}&#10;\begin{document}&#10;&#10;\begin{align*}&#10;\mathfrak{h}_{lk,v}^{(\kappa s)}&#10;&amp; =&#10;\left(1-\kappa\right)\delta_{s0}\delta_{v0} + \kappa \mathfrak{g}_{lk,v}^{(s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5A86B4C-5330-4569-B27E-E0F540E6CCC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483049" y="6346573"/>
            <a:ext cx="3225903" cy="37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1672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APPENDIX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5CFF480-559C-49BF-9D42-6157114A3A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85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Relations involving the Laguerre polynomial -- I</a:t>
            </a:r>
            <a:endParaRPr lang="en-US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882DD66-8F72-418A-9033-E429FAA0578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84762" y="5035378"/>
            <a:ext cx="9822476" cy="609524"/>
          </a:xfrm>
          <a:prstGeom prst="rect">
            <a:avLst/>
          </a:prstGeom>
          <a:ln>
            <a:noFill/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23F5BDB-46E4-4C6F-864C-316EBB077D3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035810" y="3248867"/>
            <a:ext cx="4120381" cy="580571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1E71A3-FF95-43D9-B018-AF5B56F0FD1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023619" y="1965671"/>
            <a:ext cx="8144762" cy="361143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E7D2749-DEE9-40C6-AEE5-4F4652CEDA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12758" y="2697555"/>
            <a:ext cx="11166484" cy="18057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69277A6-DD90-4BA2-9266-45A76C0062C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62667" y="4200179"/>
            <a:ext cx="10666667" cy="464457"/>
          </a:xfrm>
          <a:prstGeom prst="rect">
            <a:avLst/>
          </a:prstGeom>
          <a:ln>
            <a:noFill/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DBC93D3-44A8-4740-BC29-8F22CE48DCA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256762" y="5986689"/>
            <a:ext cx="7678475" cy="6095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85928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Relations involving the Laguerre polynomial -- II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0C3276-DC7B-4E8F-B114-E7265380E0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751618" y="4069568"/>
            <a:ext cx="8688764" cy="580571"/>
          </a:xfrm>
          <a:prstGeom prst="rect">
            <a:avLst/>
          </a:prstGeom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DCD6A94-0B41-4E27-AEE6-72317CEDF84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727619" y="3171950"/>
            <a:ext cx="2736762" cy="580571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B4A080D-8D09-454A-8EE1-432BFDD508E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444191" y="4938153"/>
            <a:ext cx="6592000" cy="609524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EDE48B-D791-4592-B0C0-7D25A9DEAA1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923048" y="1965671"/>
            <a:ext cx="4345905" cy="341333"/>
          </a:xfrm>
          <a:prstGeom prst="rect">
            <a:avLst/>
          </a:prstGeom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4C9756-9BF0-417A-890F-992BDAD4A98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01295" y="2595020"/>
            <a:ext cx="11789410" cy="288914"/>
          </a:xfrm>
          <a:prstGeom prst="rect">
            <a:avLst/>
          </a:prstGeom>
          <a:ln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8E4BB8B-7ED2-4646-9F87-E5219E1DC10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719239" y="5907496"/>
            <a:ext cx="6753522" cy="6217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55338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5.9655"/>
  <p:tag name="ORIGINALWIDTH" val="1538.058"/>
  <p:tag name="LATEXADDIN" val="\documentclass{article}&#10;\usepackage{amsmath,amssymb,physics,bm}&#10;\pagestyle{empty}&#10;\begin{document}&#10;&#10;\begin{equation*}&#10;\hat{H} = -\nabla^{2} + \left(1-\gamma\right)\pdv[2]{}{z} - \frac{2}{r}&#10;\end{equation*}&#10;&#10;\end{document}"/>
  <p:tag name="IGUANATEXSIZE" val="20"/>
  <p:tag name="IGUANATEXCURSOR" val="18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0.9598"/>
  <p:tag name="ORIGINALWIDTH" val="2106.487"/>
  <p:tag name="LATEXADDIN" val="\documentclass{article}&#10;\usepackage{amsmath,amssymb,physics,bm}&#10;\pagestyle{empty}&#10;\begin{document}&#10;&#10;\begin{equation*}&#10;\Psi\left(\vb*{r}\right) = F\left(r,\chi\right)&#10;\left[\frac{\mathrm{e}^{\mathrm{i}m\phi}+\zeta\mathrm{e}^{-\mathrm{i}m\phi}}{2\delta_{m0} + \sqrt{2}\left(1-\delta_{m0}\right)}\right]&#10;\end{equation*}&#10;&#10;\end{document}"/>
  <p:tag name="IGUANATEXSIZE" val="20"/>
  <p:tag name="IGUANATEXCURSOR" val="15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1.4586"/>
  <p:tag name="ORIGINALWIDTH" val="5130.109"/>
  <p:tag name="LATEXADDIN" val="\documentclass{article}&#10;\usepackage{amsmath,amssymb,physics,bm}&#10;\pagestyle{empty}&#10;\begin{document}&#10;&#10;\begin{align*}&#10;\pdv[2]{f}{z}&#10;&amp; =&#10;\chi^{2}\pdv[2]{f}{r}&#10;+ \frac{\chi\left(1-\chi^{2}\right)}{r}\left[\pdv{f}{r}{\chi}+\pdv{f}{\chi}{r}\right]&#10;+ \frac{1-\chi^{2}}{r}\pdv{f}{r}&#10;- \frac{3\chi\left(1-\chi^{2}\right)}{r^{2}}\pdv{f}{\chi}&#10;+ \left(\frac{1-\chi^{2}}{r}\right)^{2}\pdv[2]{f}{\chi}&#10;\end{align*}&#10;&#10;\end{document}"/>
  <p:tag name="IGUANATEXSIZE" val="20"/>
  <p:tag name="IGUANATEXCURSOR" val="11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9373.078"/>
  <p:tag name="OUTPUTTYPE" val="PNG"/>
  <p:tag name="IGUANATEXVERSION" val="159"/>
  <p:tag name="LATEXADDIN" val="\documentclass{article}&#10;\usepackage{amsmath,amssymb,physics,bm}&#10;\pagestyle{empty}&#10;\begin{document}&#10;&#10;\begin{equation*}&#10;-\left[&#10;   \pdv[2]{F}{r} + \frac{2}{r}\pdv{F}{r} + \frac{\left(1-\chi^{2}\right)}{r^{2}}\pdv[2]{F}{\chi} - \frac{2\chi}{r^{2}}\pdv{F}{\chi}&#10;-  \frac{m^{2}}{r^2\left(1-\chi^{2}\right)}F &#10;\right]&#10;+\left(1-\gamma\right)\left[&#10;   \chi^{2}\pdv[2]{F}{r} + \frac{1-\chi^{2}}{r}\pdv{F}{r} + \frac{\chi\left(1-\chi^{2}\right)}{r}\left[\pdv{F}{r}{\chi} + \pdv{F}{\chi}{r}\right]&#10;+  \left(\frac{1-\chi^{2}}{r}\right)^{2}\pdv[2]{F}{\chi} - \frac{3\chi\left(1-\chi^{2}\right)}{r^{2}}\pdv{F}{\chi}&#10;\right]&#10;-\frac{2}{r}F&#10;=&#10;EF&#10;\end{equation*}&#10;&#10;\end{document}"/>
  <p:tag name="IGUANATEXSIZE" val="12"/>
  <p:tag name="IGUANATEXCURSOR" val="261"/>
  <p:tag name="TRANSPARENCY" val="True"/>
  <p:tag name="FILENAME" val=""/>
  <p:tag name="LATEXENGINEID" val="0"/>
  <p:tag name="TEMPFOLDER" val="C:\iguanatex\"/>
  <p:tag name="LATEXFORMHEIGHT" val="463"/>
  <p:tag name="LATEXFORMWIDTH" val="1131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1280.09"/>
  <p:tag name="OUTPUTTYPE" val="PNG"/>
  <p:tag name="IGUANATEXVERSION" val="159"/>
  <p:tag name="LATEXADDIN" val="\documentclass{article}&#10;\usepackage{amsmath,bm,eufrak}&#10;\pagestyle{empty}&#10;\begin{document}&#10;&#10;\begin{equation*}&#10;\Phi_{m\zeta lk}^{(W\alpha)}&#10;= &#10;\hat{Y}_{lm\left\{\chi,\phi\right\}}^{(\zeta)}&#10;f_{k\alpha\left\{r\right\}}^{(W\alpha)}&#10;\end{equation*}&#10;&#10;\end{document} "/>
  <p:tag name="IGUANATEXSIZE" val="23"/>
  <p:tag name="IGUANATEXCURSOR" val="22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0.9598"/>
  <p:tag name="ORIGINALWIDTH" val="3517.06"/>
  <p:tag name="OUTPUTTYPE" val="PNG"/>
  <p:tag name="IGUANATEXVERSION" val="159"/>
  <p:tag name="LATEXADDIN" val="\documentclass{article}&#10;\usepackage{amsmath,bm,eufrak}&#10;\pagestyle{empty}&#10;\begin{document}&#10;&#10;\begin{equation*}&#10;\hat{Y}_{lm\left\{\chi,\phi\right\}}^{(\zeta)}&#10;= &#10;\hat{P}_{lm}\left(\chi\right)&#10;\frac{1}{\sqrt{2\pi}}&#10;\left(\frac{\mathrm{e}^{\mathrm{i}m \phi}+ \zeta\mathrm{e}^{-\mathrm{i}m \phi}}&#10;{2\delta_{m0} + \sqrt{2}\left(1-\delta_{m0}\right)}\right)&#10;\quad&#10;\zeta = \left\{+1,-1\right\}&#10;\end{equation*}&#10;&#10;\end{document} "/>
  <p:tag name="IGUANATEXSIZE" val="23"/>
  <p:tag name="IGUANATEXCURSOR" val="144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6.7116"/>
  <p:tag name="ORIGINALWIDTH" val="2369.704"/>
  <p:tag name="OUTPUTTYPE" val="PNG"/>
  <p:tag name="IGUANATEXVERSION" val="159"/>
  <p:tag name="LATEXADDIN" val="\documentclass{article}&#10;\usepackage{amsmath,bm,eufrak}&#10;\pagestyle{empty}&#10;\begin{document}&#10;&#10;\begin{equation*}&#10;f_{k\left\{r\right\}}^{(W\alpha)}&#10;=&#10;\sqrt{W}&#10;r^{\frac{W\left(\alpha+1\right)-3}{2}}&#10;\exp\left(-\frac{r^{W}}{2}\right)&#10;L_{k\left\{r^{W}\right\}}^{(\alpha)}&#10;\end{equation*}&#10;&#10;\end{document} "/>
  <p:tag name="IGUANATEXSIZE" val="20"/>
  <p:tag name="IGUANATEXCURSOR" val="14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9.6925"/>
  <p:tag name="ORIGINALWIDTH" val="2590.176"/>
  <p:tag name="OUTPUTTYPE" val="PNG"/>
  <p:tag name="IGUANATEXVERSION" val="159"/>
  <p:tag name="LATEXADDIN" val="\documentclass{article}&#10;\usepackage{amsmath,bm}&#10;\pagestyle{empty}&#10;\begin{document}&#10;&#10;\begin{equation*}&#10;\Phi_{\lambda\eta;m\zeta lk\alpha}^{(Wq)}&#10;=&#10;\sqrt{\lambda\left(\frac{2}{Wa_{\perp}\eta}\right)^{3}}&#10;\left(&#10;\Phi_{m\zeta lk}^{(W\alpha)}&#10;\right|_{\substack{r \rightarrow 2r/Wa_\perp\eta \\ z \rightarrow \lambda z \\ z \rightarrow q:\left\{x,y,z\right\}}}&#10;\end{equation*}&#10;&#10;\end{document}"/>
  <p:tag name="IGUANATEXSIZE" val="23"/>
  <p:tag name="IGUANATEXCURSOR" val="120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7.6678"/>
  <p:tag name="ORIGINALWIDTH" val="3962.505"/>
  <p:tag name="OUTPUTTYPE" val="PNG"/>
  <p:tag name="IGUANATEXVERSION" val="159"/>
  <p:tag name="LATEXADDIN" val="\documentclass{article}&#10;\usepackage{amsmath,bm}&#10;\pagestyle{empty}&#10;\begin{document}&#10;&#10;\begin{align*}&#10;\hat{T}^{(q)}\Phi_{\lambda\eta;m\zeta lk}^{(W\alpha q)}&#10;\equiv &amp;&#10;\left(&#10;\left[&#10;-\frac{\hbar^2}{2m_\perp}\left(\frac{\partial^2}{\partial x^2}+\frac{\partial^2}{\partial y^2}\right)&#10;-\frac{\hbar^2}{2m_\parallel}\frac{\partial^2}{\partial z^2}&#10;\right]&#10;\Phi_{m\zeta lk;\lambda\eta}^{(W\alpha z)}&#10;\right|_{(zxy)\rightarrow (qrs)}&#10;\\&#10;= &amp;&#10;\left(&#10;\hat{T}^{(z)}&#10;\Phi_{\lambda\eta;m\zeta lk}^{(W\alpha z)}&#10;\right|_{(zxy)\rightarrow (qrs)}&#10;\\&#10;\end{align*}&#10;&#10;\end{document}"/>
  <p:tag name="IGUANATEXSIZE" val="21"/>
  <p:tag name="IGUANATEXCURSOR" val="480"/>
  <p:tag name="TRANSPARENCY" val="True"/>
  <p:tag name="FILENAME" val=""/>
  <p:tag name="LATEXENGINEID" val="0"/>
  <p:tag name="TEMPFOLDER" val="C:\iguanatex\"/>
  <p:tag name="LATEXFORMHEIGHT" val="522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9.2013"/>
  <p:tag name="ORIGINALWIDTH" val="4364.455"/>
  <p:tag name="OUTPUTTYPE" val="PNG"/>
  <p:tag name="IGUANATEXVERSION" val="159"/>
  <p:tag name="LATEXADDIN" val="\documentclass{article}&#10;\usepackage{amsmath,bm}&#10;\pagestyle{empty}&#10;\begin{document}&#10;&#10;\begin{equation*}&#10;\hat{T}^{(z)}&#10;\Phi_{\lambda\eta;m\zeta lk}^{(W\alpha z)}&#10;\equiv&#10;\frac{\hbar^{2}}{2m_{\perp}a_{\perp}^{2}}&#10;\sqrt{\lambda\left(\frac{2}{Wa_{\perp}\eta}\right)^{3}}&#10;\left(\frac{2}{W\eta}\right)^{2}&#10;\left[&#10;\left(\hat{T}^{0}+\hat{T}^{(\gamma)}\right)&#10;\Phi_{m\zeta lk}^{(W\alpha)}&#10;\right|_{\substack{r \rightarrow 2r/Wa_\perp\eta \\ z \rightarrow \lambda z}}&#10;\end{equation*}&#10;&#10;\end{document}"/>
  <p:tag name="IGUANATEXSIZE" val="23"/>
  <p:tag name="IGUANATEXCURSOR" val="143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3.1833"/>
  <p:tag name="ORIGINALWIDTH" val="2635.171"/>
  <p:tag name="OUTPUTTYPE" val="PNG"/>
  <p:tag name="IGUANATEXVERSION" val="159"/>
  <p:tag name="LATEXADDIN" val="\documentclass{article}&#10;\usepackage{amsmath,bm}&#10;\pagestyle{empty}&#10;\begin{document}&#10;&#10;\begin{align*}&#10;\hat{T}^{(0)}&#10;\Phi_{m\zeta lk}^{(W\alpha)}&#10;&amp; \equiv&#10;-\nabla^2&#10;\Phi_{m\zeta lk}^{(W\alpha)}&#10;\\&#10;&amp; =&#10;\hat{Y}_{lm}^{(\zeta)}&#10;\frac{1}{r^2}&#10;\left(l(l+1)-\frac{\partial}{\partial r}r^2\frac{\partial}{\partial r}\right)&#10;f_{k\left\{r\right\}}^{(W\alpha)}&#10;\\&#10;\end{align*}&#10;&#10;\end{document}"/>
  <p:tag name="IGUANATEXSIZE" val="23"/>
  <p:tag name="IGUANATEXCURSOR" val="343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7.2328"/>
  <p:tag name="ORIGINALWIDTH" val="638.1702"/>
  <p:tag name="OUTPUTDPI" val="1200"/>
  <p:tag name="LATEXADDIN" val="\documentclass{article}&#10;\usepackage{amsmath,bm}&#10;\pagestyle{empty}&#10;\begin{document}&#10;&#10;\begin{equation*}&#10;\gamma = m_\perp/m_\parallel&#10;\end{equation*}&#10;&#10;\end{document}"/>
  <p:tag name="IGUANATEXSIZE" val="23"/>
  <p:tag name="IGUANATEXCURSOR" val="130"/>
  <p:tag name="TRANSPARENCY" val="True"/>
  <p:tag name="FILENAME" val=""/>
  <p:tag name="INPUTTYPE" val="0"/>
  <p:tag name="LATEXENGINEID" val="0"/>
  <p:tag name="TEMPFOLDER" val="D:\Temp\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5.9655"/>
  <p:tag name="ORIGINALWIDTH" val="1841.77"/>
  <p:tag name="OUTPUTTYPE" val="PNG"/>
  <p:tag name="IGUANATEXVERSION" val="159"/>
  <p:tag name="LATEXADDIN" val="\documentclass{article}&#10;\usepackage{amsmath,bm}&#10;\pagestyle{empty}&#10;\begin{document}&#10;&#10;\begin{equation*}&#10;\hat{T}^{(\gamma)}&#10;\Phi_{m\zeta lk}^{(W\alpha)}&#10;\equiv&#10;\left(1-\gamma \lambda^2\right)\frac{\partial^2}{\partial z^2}&#10;\Phi_{m\zeta lk}^{(W\alpha)}&#10;\end{equation*}&#10;&#10;\end{document}"/>
  <p:tag name="IGUANATEXSIZE" val="23"/>
  <p:tag name="IGUANATEXCURSOR" val="24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76.4154"/>
  <p:tag name="ORIGINALWIDTH" val="5130.109"/>
  <p:tag name="LATEXADDIN" val="\documentclass{article}&#10;\usepackage{amsmath,amssymb,physics,bm}&#10;\pagestyle{empty}&#10;\begin{document}&#10;&#10;\begin{align*}&#10;\pdv{f}{z}&#10;&amp; =&#10;\chi\pdv{f}{r} + \frac{1-\chi^{2}}{r}\pdv{f}{\chi}&#10;\\&#10;\pdv[2]{f}{z}&#10;&amp; =&#10;\chi^{2}\pdv[2]{f}{r}&#10;+ \frac{\chi\left(1-\chi^{2}\right)}{r}\left[\pdv{f}{r}{\chi}+\pdv{f}{\chi}{r}\right]&#10;+ \frac{1-\chi^{2}}{r}\pdv{f}{r}&#10;- \frac{3\chi\left(1-\chi^{2}\right)}{r^{2}}\pdv{f}{\chi}&#10;+ \left(\frac{1-\chi^{2}}{r}\right)^{2}\pdv[2]{f}{\chi}&#10;\end{align*}&#10;&#10;\end{document}"/>
  <p:tag name="IGUANATEXSIZE" val="20"/>
  <p:tag name="IGUANATEXCURSOR" val="18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2.9134"/>
  <p:tag name="ORIGINALWIDTH" val="3198.35"/>
  <p:tag name="OUTPUTTYPE" val="PNG"/>
  <p:tag name="IGUANATEXVERSION" val="159"/>
  <p:tag name="LATEXADDIN" val="\documentclass{article}&#10;\usepackage{amsmath,amssymb,bm}&#10;\pagestyle{empty}&#10;\begin{document}&#10;&#10;\begin{align*}&#10;\hat{T}^{(\gamma)}&#10;\Phi_{m\zeta lk}^{(W\alpha)}&#10;&amp; =&#10;\left(1-\gamma\lambda^2\right)&#10;\frac{\partial^2}{\partial z^2}&#10;\Phi_{mlk}^{(W\xi\alpha)}&#10;\\&#10;&amp; =&#10;-\left(1-\gamma\lambda^2\right)&#10;\sum_{s=-1}^{+1}&#10;\mathfrak{Y}_{lm,s}&#10;\hat{Y}_{(l+2s)m\left\{\chi,\phi\right\}}^{(\zeta)}&#10;\hat{F}_{l,s}&#10;f_{k\left\{r\right\}}^{(W\alpha)}&#10;\end{align*}&#10;&#10;\end{document}"/>
  <p:tag name="IGUANATEXSIZE" val="23"/>
  <p:tag name="IGUANATEXCURSOR" val="4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7.36"/>
  <p:tag name="ORIGINALWIDTH" val="1571.054"/>
  <p:tag name="OUTPUTTYPE" val="PNG"/>
  <p:tag name="IGUANATEXVERSION" val="159"/>
  <p:tag name="LATEXADDIN" val="\documentclass{article}&#10;\usepackage{amsmath,amssymb,bm}&#10;\pagestyle{empty}&#10;\begin{document}&#10;&#10;\begin{align*}&#10;\mathfrak{Y}_{lm,0}&#10;&amp; \equiv&#10;\frac{&#10;2l^2-2m^2+2l-1&#10;}{&#10;(2l-1)(2l+3)&#10;}  \\&#10;\mathfrak{Y}_{lm,-1}&#10;&amp; \equiv&#10;\mathfrak{B}_{lm}\mathcal{B}_{\left(l-1\right)m} \\&#10;\mathfrak{Y}_{lm,+1}&#10;&amp; \equiv&#10;\mathfrak{B}_{(l+2)m}\mathcal{B}_{\left(l+1\right)m} \\&#10;\mathfrak{B}_{lm}&#10;&amp; \equiv&#10;\sqrt{\frac{&#10;l^2-m^2&#10;}{&#10;(2l-1)(2l+1)&#10;}}&#10;\end{align*}&#10;&#10;\end{document}"/>
  <p:tag name="IGUANATEXSIZE" val="20"/>
  <p:tag name="IGUANATEXCURSOR" val="374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6.6254"/>
  <p:tag name="ORIGINALWIDTH" val="2938.883"/>
  <p:tag name="OUTPUTTYPE" val="PNG"/>
  <p:tag name="IGUANATEXVERSION" val="159"/>
  <p:tag name="LATEXADDIN" val="\documentclass{article}&#10;\usepackage{amsmath,bm}&#10;\pagestyle{empty}&#10;\begin{document}&#10;&#10;\begin{align*}&#10;\hat{F}_{l,0}&#10;&amp; \equiv&#10;\frac{1}{r^2}&#10;\left(l(l+1)-\frac{\partial}{\partial r}r^2\frac{\partial}{\partial r}\right) \\&#10;\hat{F}_{l,-1}&#10;&amp; \equiv&#10;\frac{1}{r^2}&#10;\left(-(l-1)(l+1)-(2l-1)r\frac{\partial}{\partial r}-\frac{\partial}{\partial r}r^2\frac{\partial}{\partial r}\right) \\&#10;\hat{F}_{l,+1}&#10;&amp; \equiv&#10;\frac{1}{r^2}&#10;\left(-l(l+2)+(2l+3)r\frac{\partial}{\partial r}-\frac{\partial}{\partial r}r^2\frac{\partial}{\partial r}\right) \\&#10;\end{align*}&#10;&#10;\end{document}"/>
  <p:tag name="IGUANATEXSIZE" val="20"/>
  <p:tag name="IGUANATEXCURSOR" val="399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4.1732"/>
  <p:tag name="ORIGINALWIDTH" val="3198.35"/>
  <p:tag name="OUTPUTTYPE" val="PNG"/>
  <p:tag name="IGUANATEXVERSION" val="159"/>
  <p:tag name="LATEXADDIN" val="\documentclass{article}&#10;\usepackage{amsmath,amssymb,bm}&#10;\pagestyle{empty}&#10;\begin{document}&#10;&#10;\begin{align*}&#10;\hat{T}^{(0)}&#10;\Phi_{m\zeta lk}^{(W\alpha)}&#10;&amp; =&#10;\hat{Y}_{lm\left\{\chi,\phi\right\}}^{(\zeta)}&#10;\hat{F}_{l,0}&#10;f_{k\left\{r\right\}}^{(W\alpha)}&#10;\\&#10;\hat{T}^{(\gamma)}&#10;\Phi_{m\zeta lk}^{(W\alpha)}&#10;&amp; =&#10;-\left(1-\gamma\lambda^2\right)&#10;\sum_{s=-1}^{+1}&#10;\mathfrak{Y}_{lm,s}&#10;\hat{Y}_{(l+2s)m\left\{\chi,\phi\right\}}^{(\zeta)}&#10;\hat{F}_{l,s}&#10;f_{k\left\{r\right\}}^{(W\alpha)}&#10;\end{align*}&#10;&#10;\end{document}"/>
  <p:tag name="IGUANATEXSIZE" val="23"/>
  <p:tag name="IGUANATEXCURSOR" val="29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55.118"/>
  <p:tag name="ORIGINALWIDTH" val="3566.554"/>
  <p:tag name="OUTPUTTYPE" val="PNG"/>
  <p:tag name="IGUANATEXVERSION" val="159"/>
  <p:tag name="LATEXADDIN" val="\documentclass{article}&#10;\usepackage{amsmath,bm}&#10;\pagestyle{empty}&#10;\begin{document}&#10;&#10;\begin{align*}&#10;\hat{F}_{l,s}&#10;f_{k\left\{r\right\}}^{(W\alpha)}&#10;&amp; =&#10;\hat{F}_{l,s}&#10;\sqrt{W}&#10;r^{\frac{W\left(\alpha+1\right)-3}{2}}&#10;\exp\left(-\frac{r^{W}}{2}\right)&#10;L_{k\left\{r^{W}\right\}}^{(\alpha)}&#10;\\&#10;&amp; =&#10;\frac{1}{\eta^{2}}\left(\frac{W\eta}{2}\right)^{2}&#10;\sqrt{W}&#10;r^{\frac{W\left(\alpha+1\right)-3}{2}-2}&#10;\mathrm{e}^{-r^{W}/2}&#10;\left(&#10;\hat{H}_{l,s}&#10;L_{k\left\{\rho\right\}}^{(\alpha)}&#10;\right|_{\rho\rightarrow r^{W}}&#10;\\&#10;&amp; =&#10;\frac{1}{\eta^{2}}\left(\frac{W\eta}{2}\right)^{2}&#10;\left(&#10;\sqrt{W}&#10;\rho^{\frac{\alpha+1}{2}-\frac{3}{2W}-\frac{2}{W}}\mathrm{e}^{-\rho/2}&#10;\hat{H}_{l,s}&#10;L_{k\left\{\rho\right\}}^{(\alpha)}&#10;\right|_{\rho\rightarrow r^{W}}&#10;\\&#10;\end{align*}&#10;&#10;\end{document}"/>
  <p:tag name="IGUANATEXSIZE" val="22"/>
  <p:tag name="IGUANATEXCURSOR" val="14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.2265"/>
  <p:tag name="ORIGINALWIDTH" val="4004.5"/>
  <p:tag name="OUTPUTTYPE" val="PNG"/>
  <p:tag name="IGUANATEXVERSION" val="159"/>
  <p:tag name="LATEXADDIN" val="\documentclass{article}&#10;\usepackage{amsmath,bm}&#10;\pagestyle{empty}&#10;\begin{document}&#10;&#10;\begin{align*}&#10;\hat{H}_{l,-1}&#10;\equiv&#10;\hat{\mathcal{H}}_{\alpha+1+\frac{2l-3}{W},\frac{2}{W}}&#10;\quad\quad&#10;\hat{H}_{l,0}&#10;\equiv&#10;\hat{\mathcal{H}}_{\alpha+1-\frac{2}{W},\frac{2l+1}{W}}&#10;\quad\quad&#10;\hat{H}_{l,+1}&#10;\equiv&#10;\hat{\mathcal{H}}_{\alpha+1-\frac{2l+5}{W},\frac{2}{W}}&#10;\\&#10;\end{align*}&#10;&#10;\end{document}"/>
  <p:tag name="IGUANATEXSIZE" val="22"/>
  <p:tag name="IGUANATEXCURSOR" val="291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9625"/>
  <p:tag name="ORIGINALWIDTH" val="3748.781"/>
  <p:tag name="OUTPUTTYPE" val="PNG"/>
  <p:tag name="IGUANATEXVERSION" val="159"/>
  <p:tag name="LATEXADDIN" val="\documentclass{article}&#10;\usepackage{amsmath,bm}&#10;\pagestyle{empty}&#10;\begin{document}&#10;&#10;\begin{align*}&#10;\hat{\mathcal{H}}_{\phi,\varphi}&#10;\equiv&#10;\varphi^{2}-\phi^{2}&#10;-4\left(\phi+1\right)\rho\frac{\partial}{\partial \rho}&#10;-4\rho^{2}\frac{\partial^{2}}{\partial \rho^{2}}&#10;+2\left(\phi+1\right)\rho&#10;+4\rho^{2}\frac{\partial}{\partial \rho}&#10;-\rho^{2}&#10;\end{align*}&#10;&#10;\end{document}"/>
  <p:tag name="IGUANATEXSIZE" val="20"/>
  <p:tag name="IGUANATEXCURSOR" val="13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1.1436"/>
  <p:tag name="ORIGINALWIDTH" val="3469.816"/>
  <p:tag name="OUTPUTTYPE" val="PNG"/>
  <p:tag name="IGUANATEXVERSION" val="159"/>
  <p:tag name="LATEXADDIN" val="\documentclass{article}&#10;\usepackage{amsmath,amssymb,bm}&#10;\pagestyle{empty}&#10;\begin{document}&#10;&#10;\begin{align*}&#10;\left(\hat{T}^{0}+\hat{T}^{(\gamma)}\right)&#10;\Phi_{m\zeta lk}^{(W\alpha)}&#10;&amp;=&#10;\frac{1}{\eta^{2}}\left(\frac{W\eta}{2}\right)^{2}&#10;\sum_{s=-1}^{+1}&#10;\mathfrak{G}_{\lambda;lm,s}&#10;\hat{Y}_{(l+2s)m}^{(\zeta)}&#10;\mathcal{R}_{kl,s\left\{r^{W}\right\}}^{(W\alpha)}&#10;\\&#10;\mathfrak{G}_{\lambda;lm,s}&#10;&amp;=&#10;\delta_{s,0}-\left(1-\gamma\lambda^{2}\right)\mathfrak{Y}_{lm}^{(s)}&#10;\\&#10;\mathcal{R}_{kl,s\left\{\rho\right\}}^{(W\alpha)}&#10;&amp; =&#10;\sqrt{W}&#10;\rho^{\frac{\alpha+1}{2}-\frac{3}{2W}-\frac{2}{W}}\mathrm{e}^{-\rho/2}&#10;\hat{H}_{l,s}&#10;L_{k\left\{\rho\right\}}^{(\alpha)}&#10;\\&#10;\end{align*}&#10;&#10;\end{document}"/>
  <p:tag name="IGUANATEXSIZE" val="23"/>
  <p:tag name="IGUANATEXCURSOR" val="61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9.6925"/>
  <p:tag name="ORIGINALWIDTH" val="4596.925"/>
  <p:tag name="OUTPUTTYPE" val="PNG"/>
  <p:tag name="IGUANATEXVERSION" val="159"/>
  <p:tag name="LATEXADDIN" val="\documentclass{article}&#10;\usepackage{amsmath,amssymb,bm}&#10;\pagestyle{empty}&#10;\begin{document}&#10;&#10;\begin{align*}&#10;\hat{T}^{(q)}\Phi_{\lambda\eta;m\zeta lk}^{(W\alpha q)}&#10;= &amp;&#10;\frac{\hbar^{2}}{2m_{\perp}a_{\perp}^{2}}&#10;\sqrt{\lambda\left(\frac{2}{Wa_{\perp}\eta}\right)^{3}}&#10;\frac{1}{\eta^{2}}&#10;\sum_{s=-1}^{+1}&#10;\mathfrak{G}_{\lambda;lm,s}&#10;\left[&#10;\hat{Y}_{(l+2s)m}^{(\zeta)}&#10;\mathcal{R}_{kl,s\left\{r^{W}\right\}}^{(W\alpha)}&#10;\right|_{\substack{r \rightarrow 2r/Wa_\perp\eta \\ z \rightarrow \lambda z \\ (zxy)\rightarrow (qrs)}}&#10;\\&#10;\end{align*}&#10;&#10;\end{document}"/>
  <p:tag name="IGUANATEXSIZE" val="21"/>
  <p:tag name="IGUANATEXCURSOR" val="147"/>
  <p:tag name="TRANSPARENCY" val="True"/>
  <p:tag name="FILENAME" val=""/>
  <p:tag name="LATEXENGINEID" val="0"/>
  <p:tag name="TEMPFOLDER" val="C:\iguanatex\"/>
  <p:tag name="LATEXFORMHEIGHT" val="522"/>
  <p:tag name="LATEXFORMWIDTH" val="938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2051"/>
  <p:tag name="ORIGINALWIDTH" val="3469.816"/>
  <p:tag name="OUTPUTTYPE" val="PNG"/>
  <p:tag name="IGUANATEXVERSION" val="159"/>
  <p:tag name="LATEXADDIN" val="\documentclass{article}&#10;\usepackage{amsmath,amssymb,bm}&#10;\pagestyle{empty}&#10;\begin{document}&#10;&#10;\begin{align*}&#10;\left(\hat{T}^{0}+\hat{T}^{(\gamma)}\right)&#10;\Phi_{m\zeta lk}^{(W\alpha)}&#10;&amp;=&#10;\frac{1}{\eta^{2}}\left(\frac{W\eta}{2}\right)^{2}&#10;\sum_{s=-1}^{+1}&#10;\mathfrak{G}_{\lambda;lm,s}&#10;\hat{Y}_{(l+2s)m}^{(\zeta)}&#10;\mathcal{R}_{kl,s\left\{r^{W}\right\}}^{(W\alpha)}&#10;\\&#10;\end{align*}&#10;&#10;\end{document}"/>
  <p:tag name="IGUANATEXSIZE" val="23"/>
  <p:tag name="IGUANATEXCURSOR" val="27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9.6925"/>
  <p:tag name="ORIGINALWIDTH" val="4362.205"/>
  <p:tag name="OUTPUTTYPE" val="PNG"/>
  <p:tag name="IGUANATEXVERSION" val="159"/>
  <p:tag name="LATEXADDIN" val="\documentclass{article}&#10;\usepackage{amsmath,amssymb,bm}&#10;\pagestyle{empty}&#10;\begin{document}&#10;&#10;\begin{equation*}&#10;\hat{T}^{(q)}\Phi_{\lambda\eta;m\zeta lk}^{(W\alpha q)}&#10;=&#10;\frac{\hbar^{2}}{2m_{\perp}a_{\perp}^{2}}&#10;\sqrt{\lambda\left(\frac{2}{Wa_{\perp}\eta}\right)^{3}}&#10;\left(\frac{2}{W\eta}\right)^{2}&#10;\left[&#10;\left(\hat{T}^{0}+\hat{T}^{(\gamma)}\right)&#10;\Phi_{m\zeta lk}^{(W\alpha)}&#10;\right|_{\substack{r \rightarrow 2r/Wa_\perp\eta \\ z \rightarrow \lambda z \\ (zxy)\rightarrow (qrs)}}&#10;\end{equation*}&#10;&#10;\end{document}"/>
  <p:tag name="IGUANATEXSIZE" val="23"/>
  <p:tag name="IGUANATEXCURSOR" val="15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9.64"/>
  <p:tag name="ORIGINALWIDTH" val="4596.925"/>
  <p:tag name="OUTPUTTYPE" val="PNG"/>
  <p:tag name="IGUANATEXVERSION" val="159"/>
  <p:tag name="LATEXADDIN" val="\documentclass{article}&#10;\usepackage{amsmath,amssymb,bm}&#10;\pagestyle{empty}&#10;\begin{document}&#10;&#10;\begin{align*}&#10;\hat{T}^{(q)}\Phi_{\lambda\eta;m\zeta lk}^{(W\alpha q)}&#10;= &amp;&#10;\frac{\hbar^{2}}{2m_{\perp}a_{\perp}^{2}}&#10;\sqrt{\lambda\left(\frac{2}{Wa_{\perp}\eta}\right)^{3}}&#10;\frac{1}{\eta^{2}}&#10;\sum_{s=-1}^{+1}&#10;\mathfrak{G}_{\lambda;lm,s}&#10;\left[&#10;\hat{Y}_{(l+2s)m}^{(\zeta)}&#10;\mathcal{R}_{kl,s\left\{r^{W}\right\}}^{(W\alpha)}&#10;\right|_{\substack{r \rightarrow 2r/Wa_\perp\eta \\ z \rightarrow \lambda z \\ (zxy)\rightarrow (qrs)}}&#10;\\&#10;= &amp;&#10;\left(\frac{\hbar^{2}}{2m_{0}a_{0}^{2}\eta^{2}}\right)&#10;\hat{Q}_{m\xi}^{(q)}&#10;\sum_{s=-1}^{+1}&#10;\mathfrak{G}_{\lambda;lm,s}&#10;\hat{\mathcal{P}}_{\lambda;(l+2s)m}^{(q)}&#10;\mathcal{R}&#10;_{\left(\eta/\vartheta_{\lambda\left\{\chi_{q}\right\}}\right);kl,s\left\{r\right\}}&#10;^{\left(W\alpha\right)}&#10;\end{align*}&#10;&#10;\end{document}"/>
  <p:tag name="IGUANATEXSIZE" val="20"/>
  <p:tag name="IGUANATEXCURSOR" val="801"/>
  <p:tag name="TRANSPARENCY" val="True"/>
  <p:tag name="FILENAME" val=""/>
  <p:tag name="LATEXENGINEID" val="0"/>
  <p:tag name="TEMPFOLDER" val="C:\iguanatex\"/>
  <p:tag name="LATEXFORMHEIGHT" val="522"/>
  <p:tag name="LATEXFORMWIDTH" val="938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3.828"/>
  <p:tag name="ORIGINALWIDTH" val="2969.629"/>
  <p:tag name="OUTPUTTYPE" val="PNG"/>
  <p:tag name="IGUANATEXVERSION" val="159"/>
  <p:tag name="LATEXADDIN" val="\documentclass{article}&#10;\usepackage{amsmath,bm,eufrak}&#10;\pagestyle{empty}&#10;\begin{document}&#10;&#10;\begin{align*}&#10;\vartheta_{\lambda\left\{\chi\right\}}&#10;&amp; =&#10;\sqrt{1 + \left(\lambda^2-1\right)\chi^2}&#10;\\&#10;\hat{\mathcal{P}}_{\lambda;lm}^{(p)}&#10;&amp; = &#10;\sqrt{\frac{\lambda}{\vartheta_{\lambda\left\{\chi_{p}\right\}}^{3}}}&#10;\sqrt{\frac{(2l+1)\left(l-m\right)!}{2\left(l+m\right)!}}&#10;P_{lm}\left(\frac{\lambda \chi_{q}}{\vartheta_{\lambda\left\{\chi_{q}\right\}}}\right)&#10;\\&#10;\hat{Q}_{m\xi}^{(p)}&#10;&amp; = &#10;\frac{1}{\sqrt{2\pi}}&#10;\left(\frac{\mathrm{e}^{\mathrm{i}m \phi_{p}}+ \xi\mathrm{e}^{-\mathrm{i}m \phi_{p}}}&#10;{2\delta_{m0} + \sqrt{2}\left(1-\delta_{m0}\right)}\right)&#10;\\&#10;\mathcal{R} _{\eta;kl,s\left\{r\right\}} ^{\left(W\alpha\right)}&#10;&amp; =&#10;\left(\frac{2}{Wa_{\perp}\eta}\right)^{\frac{3}{2}}&#10;\mathcal{R}_{ kl,s \left\{\left( 2r / Wa_{\perp}\eta \right)^{W}\right\} }^{(W\alpha)}&#10;\end{align*}&#10;&#10;\end{document} "/>
  <p:tag name="IGUANATEXSIZE" val="20"/>
  <p:tag name="IGUANATEXCURSOR" val="70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OUTPUTTYPE" val="PNG"/>
  <p:tag name="IGUANATEXVERSION" val="159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39.67"/>
  <p:tag name="ORIGINALWIDTH" val="3886.764"/>
  <p:tag name="OUTPUTTYPE" val="PNG"/>
  <p:tag name="IGUANATEXVERSION" val="159"/>
  <p:tag name="LATEXADDIN" val="\documentclass{article}&#10;\usepackage{amsmath,amssymb,bm}&#10;\pagestyle{empty}&#10;\begin{document}&#10;&#10;\begin{align*}&#10;\Phi_{m\zeta lk;\lambda\eta}^{(W\alpha\kappa q)}&#10;&amp; \equiv&#10;\left[1-\kappa+\kappa\hat{T}^{(q)}\right]\Phi_{m\zeta lk;\lambda\eta}^{(W\alpha q)}&#10;\quad\quad&#10;\kappa = 0,1&#10;\\&#10;&amp; 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alpha\right)}&#10;\\&#10;\end{align*}&#10;&#10;\end{document}"/>
  <p:tag name="IGUANATEXSIZE" val="16"/>
  <p:tag name="IGUANATEXCURSOR" val="59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4.1582"/>
  <p:tag name="ORIGINALWIDTH" val="4266.217"/>
  <p:tag name="OUTPUTTYPE" val="PNG"/>
  <p:tag name="IGUANATEXVERSION" val="159"/>
  <p:tag name="LATEXADDIN" val="\documentclass{article}&#10;\usepackage{amsmath,bm,eufrak}&#10;\pagestyle{empty}&#10;\begin{document}&#10;&#10;\begin{align*}&#10;\mathcal{R}&#10;_{\eta;kl,s\left\{r\right\}}&#10;^{\left(W\kappa\alpha\right)}&#10;&amp; \equiv&#10;\left(\frac{2}{Wa_{\perp}\eta}\right)^{\frac{3}{2}}&#10;\left(&#10;\left(1-\kappa\right)&#10;f_{k\left\{r\right\}}^{\left(W\alpha\right)}&#10;+&#10;\kappa&#10;\mathcal{R}_{ kl,s \left\{r^{W}\right\} }^{(W\alpha)}&#10;\right|_{\rho \rightarrow 2r / Wa_{\perp}\eta}&#10;\\&#10;&amp; =&#10;\left(\frac{2}{Wa_{\perp}\eta}\right)^{\frac{3}{2}}&#10;\left(&#10;\sqrt{W}&#10;\rho^{\frac{\alpha+1}{2}-\frac{3}{2W}-\frac{2}{W}\kappa}&#10;\mathrm{e}^{-\rho/2}&#10;\left(\hat{H}_{l,s}\right)^{\kappa}&#10;L_{k\left\{\rho\right\}}^{(\alpha)}&#10;\right|_{\rho \rightarrow \left( 2r / Wa_{\perp}\eta \right)^{W}}&#10;\end{align*}&#10;&#10;\end{document} "/>
  <p:tag name="IGUANATEXSIZE" val="16"/>
  <p:tag name="IGUANATEXCURSOR" val="40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294.713"/>
  <p:tag name="OUTPUTTYPE" val="PNG"/>
  <p:tag name="IGUANATEXVERSION" val="159"/>
  <p:tag name="LATEXADDIN" val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/>
  <p:tag name="IGUANATEXSIZE" val="16"/>
  <p:tag name="IGUANATEXCURSOR" val="4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748.781"/>
  <p:tag name="OUTPUTTYPE" val="PNG"/>
  <p:tag name="IGUANATEXVERSION" val="159"/>
  <p:tag name="LATEXADDIN" val="\documentclass{article}&#10;\usepackage{amsmath,bm,eufrak}&#10;\pagestyle{empty}&#10;\begin{document}&#10;&#10;\begin{equation*}&#10;\mathfrak{H}^{(\kappa)}_{\lambda;lm,s}&#10;= &#10;\delta_{s,0}-\kappa\left(1-\gamma\lambda^{2}\right)\mathfrak{Y}_{lm}^{(s)}&#10;\end{equation*}&#10;&#10;\end{document}"/>
  <p:tag name="IGUANATEXSIZE" val="16"/>
  <p:tag name="IGUANATEXCURSOR" val="13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2051"/>
  <p:tag name="ORIGINALWIDTH" val="1831.271"/>
  <p:tag name="OUTPUTTYPE" val="PNG"/>
  <p:tag name="IGUANATEXVERSION" val="159"/>
  <p:tag name="LATEXADDIN" val="\documentclass{article}&#10;\usepackage{amsmath,amssymb,bm}&#10;\pagestyle{empty}&#10;\begin{document}&#10;&#10;\begin{equation*}&#10;\hat{\mathcal{H}}_{\phi,\varphi}&#10;\hat{L}_{k\left\{\rho\right\}}^{(\alpha)}&#10;=&#10;\sum_{v=-2}^{+2}&#10;\mathfrak{g}_{\phi\varphi k,v}^{(\alpha)}&#10;\hat{L}_{\left(k+v\right)\left\{\rho\right\}}^{(\alpha)}&#10;\end{equation*}&#10;&#10;\end{document}"/>
  <p:tag name="IGUANATEXSIZE" val="21"/>
  <p:tag name="IGUANATEXCURSOR" val="29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2649.419"/>
  <p:tag name="OUTPUTTYPE" val="PNG"/>
  <p:tag name="IGUANATEXVERSION" val="159"/>
  <p:tag name="LATEXADDIN" val="\documentclass{article}&#10;\usepackage{amsmath,bm,eufrak}&#10;\pagestyle{empty}&#10;\begin{document}&#10;&#10;\begin{gather*}&#10;\mathfrak{g}_{k,-2}^{(\alpha)}&#10;=&#10;-\sqrt{(k-1)k(k+\alpha-1)(k+\alpha)}&#10;\\&#10;\mathfrak{g}_{\phi k,-1}^{(\alpha)}&#10;=&#10;2\sqrt{k(k+\alpha)}\left(\phi-\alpha-1\right)&#10;\\&#10;\mathfrak{g}_{\phi\varphi k,0}^{(\alpha)}&#10;=&#10;2k^{2}+\varphi^{2}-\phi^{2}+(\alpha+1)(2k+2\phi-\alpha)&#10;\\&#10;\mathfrak{g}_{\phi k,+1}^{(\alpha)}&#10;=&#10;-2\sqrt{(k+1)(k+\alpha+1)}\left(\phi-\alpha-1\right)&#10;\\&#10;\mathfrak{g}_{k,+2}^{(\alpha)}&#10;=&#10;-\sqrt{(k+1)(k+2)(k+\alpha+1)(k+\alpha+2)}&#10;\end{gather*}&#10;&#10;\end{document}"/>
  <p:tag name="IGUANATEXSIZE" val="20"/>
  <p:tag name="IGUANATEXCURSOR" val="56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9625"/>
  <p:tag name="ORIGINALWIDTH" val="3748.781"/>
  <p:tag name="OUTPUTTYPE" val="PNG"/>
  <p:tag name="IGUANATEXVERSION" val="159"/>
  <p:tag name="LATEXADDIN" val="\documentclass{article}&#10;\usepackage{amsmath,bm}&#10;\pagestyle{empty}&#10;\begin{document}&#10;&#10;\begin{align*}&#10;\hat{\mathcal{H}}_{\phi,\varphi}&#10;\equiv&#10;\varphi^{2}-\phi^{2}&#10;-4\left(\phi+1\right)\rho\frac{\partial}{\partial \rho}&#10;-4\rho^{2}\frac{\partial^{2}}{\partial \rho^{2}}&#10;+2\left(\phi+1\right)\rho&#10;+4\rho^{2}\frac{\partial}{\partial \rho}&#10;-\rho^{2}&#10;\end{align*}&#10;&#10;\end{document}"/>
  <p:tag name="IGUANATEXSIZE" val="20"/>
  <p:tag name="IGUANATEXCURSOR" val="13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2051"/>
  <p:tag name="ORIGINALWIDTH" val="1923.51"/>
  <p:tag name="OUTPUTTYPE" val="PNG"/>
  <p:tag name="IGUANATEXVERSION" val="159"/>
  <p:tag name="LATEXADDIN" val="\documentclass{article}&#10;\usepackage{amsmath,amssymb,bm}&#10;\pagestyle{empty}&#10;\begin{document}&#10;&#10;\begin{equation*}&#10;\hat{\mathcal{H}}_{\phi,\pm\phi}&#10;\hat{L}_{k\left\{\rho\right\}}^{(\alpha)}&#10;=&#10;\rho&#10;\sum_{v=-2}^{+1}&#10;\mathfrak{g}_{\phi k,v}^{(\alpha)}&#10;\hat{L}_{\left(k+v\right)\left\{\rho\right\}}^{(\alpha+1)}&#10;\end{equation*}&#10;&#10;\end{document}"/>
  <p:tag name="IGUANATEXSIZE" val="21"/>
  <p:tag name="IGUANATEXCURSOR" val="28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173.228"/>
  <p:tag name="OUTPUTTYPE" val="PNG"/>
  <p:tag name="IGUANATEXVERSION" val="159"/>
  <p:tag name="LATEXADDIN" val="\documentclass{article}&#10;\usepackage{amsmath,bm,eufrak}&#10;\pagestyle{empty}&#10;\begin{document}&#10;&#10;\begin{gather*}&#10;\mathfrak{g}_{k,-2}^{(\alpha)}&#10;=&#10;-\sqrt{(k-1)k(k+\alpha)}&#10;\\&#10;\mathfrak{g}_{\phi k,-1}^{(\alpha)}&#10;=&#10;-\sqrt{k}\left(k-2\phi+2\alpha+1\right)&#10;\\&#10;\mathfrak{g}_{\phi k,0}^{(\alpha)}&#10;=&#10;\sqrt{k+\alpha+1}&#10;\left(k+2\phi-\alpha\right)&#10;\\&#10;\mathfrak{g}_{k,+1}^{(\alpha)}&#10;=&#10;\sqrt{(k+1)(k+\alpha+1)(k+\alpha+2)}&#10;\\&#10;\end{gather*}&#10;&#10;\end{document}"/>
  <p:tag name="IGUANATEXSIZE" val="20"/>
  <p:tag name="IGUANATEXCURSOR" val="34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5.9617"/>
  <p:tag name="ORIGINALWIDTH" val="3283.09"/>
  <p:tag name="OUTPUTTYPE" val="PNG"/>
  <p:tag name="IGUANATEXVERSION" val="159"/>
  <p:tag name="LATEXADDIN" val="\documentclass{article}&#10;\usepackage{amsmath,bm}&#10;\pagestyle{empty}&#10;\begin{document}&#10;&#10;\begin{align*}&#10;\hat{\mathcal{H}}_{\phi,\pm\phi}&#10;\equiv&#10;\rho&#10;\left(&#10;-4\left(\phi+1\right)\frac{\partial}{\partial \rho}&#10;-4\rho\frac{\partial^{2}}{\partial \rho^{2}}&#10;+2\left(\phi+1\right)&#10;+4\rho\frac{\partial}{\partial \rho}&#10;-\rho&#10;\right)&#10;\end{align*}&#10;&#10;\end{document}"/>
  <p:tag name="IGUANATEXSIZE" val="20"/>
  <p:tag name="IGUANATEXCURSOR" val="13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3074.616"/>
  <p:tag name="OUTPUTTYPE" val="PNG"/>
  <p:tag name="IGUANATEXVERSION" val="159"/>
  <p:tag name="LATEXADDIN" val="\documentclass{article}&#10;\usepackage{amsmath,amssymb,bm}&#10;\usepackage{braket}&#10;\pagestyle{empty}&#10;\begin{document}&#10;&#10;\begin{align*}&#10;\Braket{T^{\kappa_{0}}T^{\kappa_{1}}}_{\left(m\zeta lk\alpha;\lambda\eta\right)_{01}}^{(q)_{01}}&#10;&amp; =&#10;\int&#10;\Phi_{\left(m\zeta lk;\lambda\eta\right)_{0}}^{\left(W\left(\alpha\kappa q\right)_{0}\right)*}&#10;\Phi_{\left(m\zeta lk;\lambda\eta\right)_{1}}^{\left(W\left(\alpha\kappa q\right)_{1}\right)}&#10;\,r^{2}&#10;\mathrm{d}r&#10;\mathrm{d}\Omega&#10;\\&#10;\end{align*}&#10;&#10;\end{document} "/>
  <p:tag name="IGUANATEXSIZE" val="20"/>
  <p:tag name="IGUANATEXCURSOR" val="45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8.2039"/>
  <p:tag name="ORIGINALWIDTH" val="6755.905"/>
  <p:tag name="OUTPUTTYPE" val="PNG"/>
  <p:tag name="IGUANATEXVERSION" val="159"/>
  <p:tag name="LATEXADDIN" val="\documentclass{article}&#10;\usepackage{amsmath,amssymb,bm}&#10;\usepackage{braket}&#10;\pagestyle{empty}&#10;\begin{document}&#10;&#10;\begin{align*}&#10;\Braket{T^{\kappa_{0}}T^{\kappa_{1}}}_{\left(m\zeta lk\alpha;\lambda\eta\right)_{01}}^{(q)_{01}}&#10;&amp; =&#10;\frac{\mathfrak{U}^{\kappa_{0}+\kappa_{1}}}{\eta_{0}^{2\kappa_{0}}\eta_{1}^{2\kappa_{1}}}&#10;\int&#10;\mathrm{d}\Omega\,&#10;\left(\hat{Q}_{\left(m\zeta\right)_{0}}^{(q_{0})}\right)^{*}&#10;\hat{Q}_{\left(m\zeta\right)_{1}}^{(q_{1})}&#10;\sum_{s_{0}=-\kappa_{0}}^{+\kappa_{1}}&#10;\sum_{s_{1}=-\kappa_{0}}^{+\kappa_{1}}&#10;\mathfrak{H}^{(\kappa_{0})}_{\left(\lambda;lm,s\right)_{0}}&#10;\mathfrak{H}^{(\kappa_{1})}_{\left(\lambda;lm,s\right)_{1}}&#10;\hat{\mathcal{P}}_{\left(\lambda;(l+2s)m\right)_{0}}^{(q_{0})}&#10;\hat{\mathcal{P}}_{\left(\lambda;(l+2s)m\right)_{1}}^{(q_{1})}&#10;\mathcal{I}^{(\kappa\alpha q)_{01}}_{\left(\lambda\eta;lk,s\right)_{01}}&#10;\end{align*}&#10;&#10;\end{document}"/>
  <p:tag name="IGUANATEXSIZE" val="16"/>
  <p:tag name="IGUANATEXCURSOR" val="52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2.9134"/>
  <p:tag name="ORIGINALWIDTH" val="5842.52"/>
  <p:tag name="OUTPUTTYPE" val="PNG"/>
  <p:tag name="IGUANATEXVERSION" val="159"/>
  <p:tag name="LATEXADDIN" val="\documentclass{article}&#10;\usepackage{amsmath,bm}&#10;\usepackage{braket}&#10;\pagestyle{empty}&#10;\begin{document}&#10;&#10;\begin{align*}&#10;\mathcal{I}^{(\kappa\alpha q)_{01}}_{\left(\lambda\eta;lk,s\right)_{01}}&#10;&amp; =&#10;\int_{0}^{\infty}r^{2}\mathrm{d}r\,&#10;\mathcal{R}&#10;_{\left(\left(\eta/\vartheta_{\lambda\left\{\chi_{q}\right\}}\right);kl,s\right)_{0}\left\{r\right\}}&#10;^{\left(W\left(\alpha q\right)_{0}\right)}&#10;\mathcal{R}&#10;_{\left(\left(\eta/\vartheta_{\lambda\left\{\chi_{q}\right\}}\right);kl,s\right)_{1}\left\{r\right\}}&#10;^{\left(W\left(\alpha q\right)_{1}\right)}&#10;\\&#10;&amp; =&#10;W&#10;\left(\frac{2}{Wa_{\perp}\sqrt{\hat{\eta}_{0}\hat{\eta}_{1}}}\right)^{3}&#10;\int_{0}^{\infty}r^{2}\mathrm{d}r\,&#10;\rho_{0}^{\frac{\alpha_{0}+1}{2}-\frac{3}{2W}-\frac{2}{W}\kappa_{0}}&#10;\rho_{1}^{\frac{\alpha_{1}+1}{2}-\frac{3}{2W}-\frac{2}{W}\kappa_{1}}&#10;\mathrm{e}^{-\frac{\rho_{0}+\rho_{1}}{2}}&#10;\hat{H}_{l_{0},s_{0}}^{\kappa_{0}}&#10;L_{k_{0}\left\{\rho_{0}\right\}}^{(\alpha_{0})}&#10;\hat{H}_{l_{1},s_{1}}^{\kappa_{1}}&#10;L_{k_{1}\left\{\rho_{1}\right\}}^{(\alpha_{1})}&#10;\end{align*}&#10;&#10;\end{document}"/>
  <p:tag name="IGUANATEXSIZE" val="16"/>
  <p:tag name="IGUANATEXCURSOR" val="554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7.4616"/>
  <p:tag name="ORIGINALWIDTH" val="614.1732"/>
  <p:tag name="OUTPUTTYPE" val="PNG"/>
  <p:tag name="IGUANATEXVERSION" val="159"/>
  <p:tag name="LATEXADDIN" val="\documentclass{article}&#10;\usepackage{amsmath,amssymb,bm}&#10;\pagestyle{empty}&#10;\begin{document}&#10;&#10;\begin{align*}&#10;\mathfrak{U}&#10;&amp; = &#10;\frac{\hbar^{2}}{2m_{0}a_{0}^{2}}&#10;\\&#10;\end{align*}&#10;&#10;\end{document}"/>
  <p:tag name="IGUANATEXSIZE" val="16"/>
  <p:tag name="IGUANATEXCURSOR" val="11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6.4529"/>
  <p:tag name="ORIGINALWIDTH" val="1988.751"/>
  <p:tag name="OUTPUTTYPE" val="PNG"/>
  <p:tag name="IGUANATEXVERSION" val="159"/>
  <p:tag name="LATEXADDIN" val="\documentclass{article}&#10;\usepackage{amsmath,amssymb,bm}&#10;\pagestyle{empty}&#10;\begin{document}&#10;&#10;\begin{equation*}&#10;\rho_{i} \equiv \left(\frac{2r}{Wa_{\perp}\hat{\eta_{i}}}\right)^{W}&#10;\quad\quad&#10;\hat{\eta}_{i} \equiv \frac{ \eta_{i} }{ \vartheta_{ \lambda_{i}\left\{\chi_{q_{i}}\right\} } }&#10;\end{equation*}&#10;&#10;\end{document}"/>
  <p:tag name="IGUANATEXSIZE" val="16"/>
  <p:tag name="IGUANATEXCURSOR" val="21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0.364"/>
  <p:tag name="ORIGINALWIDTH" val="7312.336"/>
  <p:tag name="OUTPUTTYPE" val="PNG"/>
  <p:tag name="IGUANATEXVERSION" val="159"/>
  <p:tag name="LATEXADDIN" val="\documentclass{article}&#10;\usepackage{amsmath,bm}&#10;\usepackage{braket}&#10;\pagestyle{empty}&#10;\begin{document}&#10;&#10;\begin{align*}&#10;\mathcal{I}^{(\alpha q)_{01}}_{\left(\lambda\eta;lk,s\right)_{01}}&#10;&amp; =&#10;W&#10;\left(\frac{2}{Wa_{\perp}\sqrt{\hat{\eta}_{0}\hat{\eta}_{1}}}\right)^{3}&#10;\int_{0}^{\infty}r^{2}\mathrm{d}r\,&#10;\rho_{0}^{\frac{\alpha_{0}+1}{2}-\frac{3}{2W}-\frac{2}{W}\kappa_{0}}&#10;\rho_{1}^{\frac{\alpha_{1}+1}{2}-\frac{3}{2W}-\frac{2}{W}\kappa_{1}}&#10;\mathrm{e}^{-\frac{\rho_{0}+\rho_{1}}{2}}&#10;\hat{H}_{l_{0},s_{0}}^{\kappa_{0}}&#10;L_{k_{0}\left\{\rho_{0}\right\}}^{(\alpha_{0})}&#10;\hat{H}_{l_{1},s_{1}}^{\kappa_{1}}&#10;L_{k_{1}\left\{\rho_{1}\right\}}^{(\alpha_{1})}&#10;\\&#10;&amp; =&#10;\psi_{0}^{W\left(\alpha_{0}+1\right)-4\kappa_{0}}&#10;\psi_{1}^{W\left(\alpha_{1}+1\right)-4\kappa_{1}}&#10;\int_{0}^{\infty}&#10;\left\{&#10;W&#10;\left(\frac{2}{Wa_{\perp}\hat{\eta}}\right)^{3}&#10;\rho^{1-\frac{3}{W}}&#10;r^{2}\mathrm{d}r&#10;\right\}&#10;\rho^{\frac{\alpha_{0}+\alpha_{1}}{2}-\frac{2}{W}\left(\kappa_{0}+\kappa_{1}\right)}&#10;\mathrm{e}^{-\rho}&#10;\hat{H}_{l_{0},s_{0}}^{\kappa_{0}}&#10;L_{k_{0}\left\{\rho\left(\hat{\eta}/\hat{\eta}_{0}\right)^{W}\right\}}^{(\alpha_{0})}&#10;\hat{H}_{l_{1},s_{1}}^{\kappa_{1}}&#10;L_{k_{1}\left\{\rho\left(\hat{\eta}/\hat{\eta}_{1}\right)^{W}\right\}}^{(\alpha_{1})}&#10;\\&#10;&amp; =&#10;\psi_{0}^{W\left(\alpha_{0}+1\right)-4\kappa_{0}}&#10;\psi_{1}^{W\left(\alpha_{1}+1\right)-4\kappa_{1}}&#10;\int_{0}^{\infty}\mathrm{d}\rho\,&#10;\rho^{\frac{\alpha_{0}+\alpha_{1}}{2}-\frac{2}{W}\left(\kappa_{0}+\kappa_{1}\right)}&#10;\mathrm{e}^{-\rho}&#10;\hat{H}_{l_{0},s_{0}}^{\kappa_{0}}&#10;L_{k_{0}\left\{\rho\left(\hat{\eta}/\hat{\eta}_{0}\right)^{W}\right\}}^{(\alpha_{0})}&#10;\hat{H}_{l_{1},s_{1}}^{\kappa_{1}}&#10;L_{k_{1}\left\{\rho\left(\hat{\eta}/\hat{\eta}_{1}\right)^{W}\right\}}^{(\alpha_{1})}&#10;\\&#10;\end{align*}&#10;&#10;\end{document}"/>
  <p:tag name="IGUANATEXSIZE" val="16"/>
  <p:tag name="IGUANATEXCURSOR" val="144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4308.211"/>
  <p:tag name="OUTPUTTYPE" val="PNG"/>
  <p:tag name="IGUANATEXVERSION" val="159"/>
  <p:tag name="LATEXADDIN" val="\documentclass{article}&#10;\usepackage{amsmath,amssymb,bm}&#10;\pagestyle{empty}&#10;\begin{document}&#10;&#10;\begin{equation*}&#10;\rho \equiv \frac{\rho_{0}+\rho_{1}}{2} = \left(\frac{2r}{Wa_{\perp}\hat{\eta}}\right)^{W}&#10;\quad\quad&#10;\frac{1}{\hat{\eta}^{W}} \equiv \frac{ \hat{\eta}_{0}^{W} + \hat{\eta}_{1}^{W} }{ 2\hat{\eta}_{0}^{W}\hat{\eta}_{1}^{W}  }&#10;\quad\quad&#10;\rho_{i} = \rho \psi_{i}^{2W}&#10;\quad\quad&#10;\psi_{i} = \sqrt{\frac{\hat{\eta}}{\hat{\eta}_{i}}}&#10;\end{equation*}&#10;&#10;\end{document}"/>
  <p:tag name="IGUANATEXSIZE" val="16"/>
  <p:tag name="IGUANATEXCURSOR" val="438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6.2092"/>
  <p:tag name="ORIGINALWIDTH" val="1683.54"/>
  <p:tag name="OUTPUTTYPE" val="PNG"/>
  <p:tag name="IGUANATEXVERSION" val="159"/>
  <p:tag name="LATEXADDIN" val="\documentclass{article}&#10;\usepackage{amsmath,amssymb,bm}&#10;\pagestyle{empty}&#10;\begin{document}&#10;&#10;\begin{equation*}&#10;r^{2}\mathrm{d}r = \frac{1}{W}\left(\frac{Wa_{\perp}\hat{\eta}}{2}\right)^{3}\rho^{\frac{3}{W}-1}\mathrm{d}\rho&#10;\end{equation*}&#10;&#10;\end{document}"/>
  <p:tag name="IGUANATEXSIZE" val="16"/>
  <p:tag name="IGUANATEXCURSOR" val="22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3.2133"/>
  <p:tag name="ORIGINALWIDTH" val="4365.205"/>
  <p:tag name="OUTPUTTYPE" val="PNG"/>
  <p:tag name="IGUANATEXVERSION" val="159"/>
  <p:tag name="LATEXADDIN" val="\documentclass{article}&#10;\usepackage{amsmath,bm}&#10;\usepackage{braket}&#10;\pagestyle{empty}&#10;\begin{document}&#10;&#10;\begin{align*}&#10;\mathcal{I}^{(\alpha q)_{01}}_{\left(\lambda\eta;lk,s\right)_{01}}&#10;\propto&#10;\int_{0}^{\infty}\mathrm{d}\rho\,&#10;\rho^{\frac{\alpha_{0}+\alpha_{1}}{2}-\frac{2}{W}\left(\kappa_{0}+\kappa_{1}\right)}&#10;\mathrm{e}^{-\rho}&#10;\hat{H}_{l_{0},s_{0}}^{\kappa_{0}}&#10;L_{k_{0}\left\{\rho\left(\hat{\eta}/\hat{\eta}_{0}\right)^{W}\right\}}^{(\alpha_{0})}&#10;\hat{H}_{l_{1},s_{1}}^{\kappa_{1}}&#10;L_{k_{1}\left\{\rho\left(\hat{\eta}/\hat{\eta}_{1}\right)^{W}\right\}}^{(\alpha_{1})}&#10;\end{align*}&#10;&#10;\end{document}"/>
  <p:tag name="IGUANATEXSIZE" val="23"/>
  <p:tag name="IGUANATEXCURSOR" val="185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7.342"/>
  <p:tag name="ORIGINALWIDTH" val="4290.964"/>
  <p:tag name="OUTPUTTYPE" val="PNG"/>
  <p:tag name="IGUANATEXVERSION" val="159"/>
  <p:tag name="LATEXADDIN" val="\documentclass{article}&#10;\usepackage{amsmath,bm}&#10;\pagestyle{empty}&#10;\begin{document}&#10;We expect that the effect of the differential operators upon polynomials will result in other polynomials. To whit we require that, near the origin,&#10;\begin{equation*}&#10;\hat{H}_{l_{0},s_{0}}^{\kappa_{0}}&#10;L_{k_{0}\left\{\rho\left(\hat{\eta}/\hat{\eta}_{0}\right)^{W}\right\}}^{(\alpha_{0})}&#10;\hat{H}_{l_{1},s_{1}}^{\kappa_{1}}&#10;L_{k_{1}\left\{\rho\left(\hat{\eta}/\hat{\eta}_{1}\right)^{W}\right\}}^{(\alpha_{1})}&#10;\propto&#10;\rho^{\gamma\left(\kappa_{0}+\kappa_{1}\right)}.&#10;\end{equation*}&#10;As such, for the basis function to be integrable, it must be the case that $\alpha_{01} &gt; -1$ where&#10;\begin{equation*}&#10;\alpha_{01} = \frac{\alpha_{0}+\alpha_{1}}{2} -\frac{2}{W}\left(\kappa_{0}+\kappa_{1}\right) -\gamma\left(\kappa_{0}+\kappa_{1}\right).&#10;\end{equation*}&#10;\end{document}"/>
  <p:tag name="IGUANATEXSIZE" val="22"/>
  <p:tag name="IGUANATEXCURSOR" val="84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0.832"/>
  <p:tag name="ORIGINALWIDTH" val="4289.464"/>
  <p:tag name="OUTPUTTYPE" val="PNG"/>
  <p:tag name="IGUANATEXVERSION" val="159"/>
  <p:tag name="LATEXADDIN" val="\documentclass{article}&#10;\usepackage{amsmath,bm}&#10;\pagestyle{empty}&#10;\begin{document}&#10;We expect that when $\varphi^{2}\ne\phi^{2}$ the result of applying the differential operators will have constant terms. The integrand will contain terms that go as $\rho^{\alpha_{01}}\mathrm{e}^{-\rho}$ near the origin where &#10;\begin{align*}&#10;\alpha_{01} = \frac{\alpha_{0}+\alpha_{1}}{2} -\frac{2}{W}\left(\kappa_{0}+\kappa_{1}\right).&#10;\end{align*}&#10;To be integrable, it must be the case that $\alpha_{01} &gt; -1$. As such,&#10;\begin{equation*}&#10;\alpha_{01} &gt; -1 \Rightarrow W\left(\alpha_{1}+1\right)+W\left(\alpha_{2}+1\right) &gt; 4\left(\kappa_{0}+\kappa_{1}\right)&#10;\end{equation*}&#10;\end{document}"/>
  <p:tag name="IGUANATEXSIZE" val="22"/>
  <p:tag name="IGUANATEXCURSOR" val="17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9625"/>
  <p:tag name="ORIGINALWIDTH" val="3748.781"/>
  <p:tag name="LATEXADDIN" val="\documentclass{article}&#10;\usepackage{amsmath,bm}&#10;\pagestyle{empty}&#10;\begin{document}&#10;&#10;\begin{align*}&#10;\hat{\mathcal{H}}_{\phi,\varphi}&#10;=&#10;\varphi^{2}-\phi^{2}&#10;-4\left(\phi+1\right)\rho\frac{\partial}{\partial \rho}&#10;-4\rho^{2}\frac{\partial^{2}}{\partial \rho^{2}}&#10;+2\left(\phi+1\right)\rho&#10;+4\rho^{2}\frac{\partial}{\partial \rho}&#10;-\rho^{2}&#10;\end{align*}&#10;&#10;\end{document}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.2265"/>
  <p:tag name="ORIGINALWIDTH" val="4004.5"/>
  <p:tag name="OUTPUTTYPE" val="PNG"/>
  <p:tag name="IGUANATEXVERSION" val="159"/>
  <p:tag name="LATEXADDIN" val="\documentclass{article}&#10;\usepackage{amsmath,bm}&#10;\pagestyle{empty}&#10;\begin{document}&#10;&#10;\begin{align*}&#10;\hat{H}_{l,-1}&#10;\equiv&#10;\hat{\mathcal{H}}_{\alpha+1+\frac{2l-3}{W},\frac{2}{W}}&#10;\quad\quad&#10;\hat{H}_{l,0}&#10;\equiv&#10;\hat{\mathcal{H}}_{\alpha+1-\frac{2}{W},\frac{2l+1}{W}}&#10;\quad\quad&#10;\hat{H}_{l,+1}&#10;\equiv&#10;\hat{\mathcal{H}}_{\alpha+1-\frac{2l+5}{W},\frac{2}{W}}&#10;\\&#10;\end{align*}&#10;&#10;\end{document}"/>
  <p:tag name="IGUANATEXSIZE" val="22"/>
  <p:tag name="IGUANATEXCURSOR" val="291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0.832"/>
  <p:tag name="ORIGINALWIDTH" val="4289.464"/>
  <p:tag name="OUTPUTTYPE" val="PNG"/>
  <p:tag name="IGUANATEXVERSION" val="159"/>
  <p:tag name="LATEXADDIN" val="\documentclass{article}&#10;\usepackage{amsmath,bm}&#10;\pagestyle{empty}&#10;\begin{document}&#10;We expect that when $\varphi^{2}=\phi^{2}$ the result of applying the differential operators will have constant terms. As such the integrand will contain terms that go as $\rho^{\alpha_{01}}\mathrm{e}^{-\rho}$ at the origin where &#10;\begin{equation*}&#10;\alpha_{01} = \frac{\alpha_{0}+\alpha_{1}}{2} -\frac{2}{W}\left(\kappa_{0}+\kappa_{1}\right) +\kappa_{0} +\kappa_{1}.&#10;\end{equation*}&#10;To be integrable, it must be the case that $\alpha_{01} &gt; -1$. As such,&#10;\begin{equation*}&#10;\alpha_{01} &gt; -1 &#10;\Rightarrow &#10;W\left(\alpha_{0}+1\right)+W\left(\alpha_{1}+1\right) &gt; 2\left(2-W\right)\left(\kappa_{0}+\kappa_{1}\right).&#10;\end{equation*}&#10;\end{document}"/>
  <p:tag name="IGUANATEXSIZE" val="22"/>
  <p:tag name="IGUANATEXCURSOR" val="21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5.9617"/>
  <p:tag name="ORIGINALWIDTH" val="3283.09"/>
  <p:tag name="OUTPUTTYPE" val="PNG"/>
  <p:tag name="IGUANATEXVERSION" val="159"/>
  <p:tag name="LATEXADDIN" val="\documentclass{article}&#10;\usepackage{amsmath,bm}&#10;\pagestyle{empty}&#10;\begin{document}&#10;&#10;\begin{align*}&#10;\hat{\mathcal{H}}_{\phi,\pm\phi}&#10;=&#10;\rho&#10;\left(&#10;-4\left(\phi+1\right)\frac{\partial}{\partial \rho}&#10;-4\rho^{2}\frac{\partial^{2}}{\partial \rho}&#10;+2\left(\phi+1\right)&#10;+4\rho\frac{\partial}{\partial \rho}&#10;-\rho&#10;\right)&#10;\end{align*}&#10;&#10;\end{document}"/>
  <p:tag name="IGUANATEXSIZE" val="20"/>
  <p:tag name="IGUANATEXCURSOR" val="31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.2265"/>
  <p:tag name="ORIGINALWIDTH" val="4004.5"/>
  <p:tag name="OUTPUTTYPE" val="PNG"/>
  <p:tag name="IGUANATEXVERSION" val="159"/>
  <p:tag name="LATEXADDIN" val="\documentclass{article}&#10;\usepackage{amsmath,bm}&#10;\pagestyle{empty}&#10;\begin{document}&#10;&#10;\begin{align*}&#10;\hat{H}_{l,-1}&#10;\equiv&#10;\hat{\mathcal{H}}_{\alpha+1+\frac{2l-3}{W},\frac{2}{W}}&#10;\quad\quad&#10;\hat{H}_{l,0}&#10;\equiv&#10;\hat{\mathcal{H}}_{\alpha+1-\frac{2}{W},\frac{2l+1}{W}}&#10;\quad\quad&#10;\hat{H}_{l,+1}&#10;\equiv&#10;\hat{\mathcal{H}}_{\alpha+1-\frac{2l+5}{W},\frac{2}{W}}&#10;\\&#10;\end{align*}&#10;&#10;\end{document}"/>
  <p:tag name="IGUANATEXSIZE" val="22"/>
  <p:tag name="IGUANATEXCURSOR" val="291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.4346"/>
  <p:tag name="ORIGINALWIDTH" val="2490.439"/>
  <p:tag name="LATEXADDIN" val="\documentclass{article}&#10;\usepackage{amsmath,bm,mathtools}&#10;\pagestyle{empty}&#10;\begin{document}&#10;&#10;\begin{equation*}&#10;W\left(\alpha+1\right)&#10;= &#10;\begin{cases}&#10;{-2l+5} \text{ or } {-2l+1} &amp; \text{ if } {s = -1}&#10;\\&#10;{-2l+1} \text{ or } {2l+3}  &amp; \text{ if } {s = 0}&#10;\\&#10;{2l+3} \text{ or } {2l+7}   &amp; \text{ if } {s = +1}&#10;\end{cases}&#10;\end{equation*}&#10;&#10;\end{document}"/>
  <p:tag name="IGUANATEXSIZE" val="18"/>
  <p:tag name="IGUANATEXCURSOR" val="31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3.866"/>
  <p:tag name="ORIGINALWIDTH" val="2398.2"/>
  <p:tag name="LATEXADDIN" val="\documentclass{article}&#10;\usepackage{amsmath,bm}&#10;\pagestyle{empty}&#10;\begin{document}&#10;&#10;\begin{alignat*}{2}&#10;s &amp;= -1 \quad\quad &amp;&#10;\left(\alpha+1+\frac{2l-3}{W}\right)^{2} &amp;= \left(\frac{2}{W}\right)^{2}&#10;\\&#10;s &amp;= 0 \quad\quad &amp;&#10;\left(\alpha+1-\frac{2}{W}\right)^{2} &amp;= \left(\frac{2l+1}{W}\right)^{2}&#10;\\&#10;s &amp;= +1 \quad\quad &amp;&#10;\left(\alpha+1-\frac{2l+5}{W}\right)^{2} &amp;= \left(\frac{2}{W}\right)^{2}&#10;\\&#10;\end{alignat*}&#10;&#10;\end{document}"/>
  <p:tag name="IGUANATEXSIZE" val="18"/>
  <p:tag name="IGUANATEXCURSOR" val="315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32.696"/>
  <p:tag name="OUTPUTTYPE" val="PNG"/>
  <p:tag name="IGUANATEXVERSION" val="159"/>
  <p:tag name="LATEXADDIN" val="\documentclass{article}&#10;\usepackage{amsmath,bm,mathtools}&#10;\pagestyle{empty}&#10;\begin{document}&#10;&#10;\begin{equation*}&#10;W\left(\alpha+1\right)&#10;\in&#10;\left\{&#10;{-2l+5},{-2l+1},{2l+3},{2l+7}&#10;\right\}&#10;\end{equation*}&#10;&#10;\end{document}"/>
  <p:tag name="IGUANATEXSIZE" val="18"/>
  <p:tag name="IGUANATEXCURSOR" val="13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691.414"/>
  <p:tag name="OUTPUTTYPE" val="PNG"/>
  <p:tag name="IGUANATEXVERSION" val="159"/>
  <p:tag name="LATEXADDIN" val="\documentclass{article}&#10;\usepackage{amsmath,bm}&#10;\pagestyle{empty}&#10;\begin{document}&#10;\begin{equation*}&#10;\text{Max}\left\{2\left(2-W\right)\left(\kappa_{0}+\kappa_{1}\right)\right\} = 4\left(2-W\right)&#10;\quad\Longrightarrow\quad&#10;W\left(\alpha_{0}+1\right)+W\left(\alpha_{1}+1\right) &gt; 4\left(2-W\right).&#10;\end{equation*}&#10;\end{document}"/>
  <p:tag name="IGUANATEXSIZE" val="22"/>
  <p:tag name="IGUANATEXCURSOR" val="26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57.18"/>
  <p:tag name="OUTPUTTYPE" val="PNG"/>
  <p:tag name="IGUANATEXVERSION" val="159"/>
  <p:tag name="LATEXADDIN" val="\documentclass{article}&#10;\usepackage{amsmath,bm}&#10;\pagestyle{empty}&#10;\begin{document}&#10;\begin{equation*}&#10;W\left(\alpha_{1}+1\right)+W\left(\alpha_{2}+1\right) &gt; 2\left(2-W\right)\left(\kappa_{0}+\kappa_{1}\right)&#10;\end{equation*}&#10;\end{document}"/>
  <p:tag name="IGUANATEXSIZE" val="22"/>
  <p:tag name="IGUANATEXCURSOR" val="20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495.313"/>
  <p:tag name="OUTPUTTYPE" val="PNG"/>
  <p:tag name="IGUANATEXVERSION" val="159"/>
  <p:tag name="LATEXADDIN" val="\documentclass{article}&#10;\usepackage{amsmath,bm}&#10;\pagestyle{empty}&#10;\begin{document}&#10;&#10;\begin{equation*}&#10;W\left(\alpha+1\right)&#10;\in&#10;\left\{2l+3,2l+7\right\}&#10;\end{equation*}&#10;&#10;\end{document}"/>
  <p:tag name="IGUANATEXSIZE" val="18"/>
  <p:tag name="IGUANATEXCURSOR" val="12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688.789"/>
  <p:tag name="OUTPUTTYPE" val="PNG"/>
  <p:tag name="IGUANATEXVERSION" val="159"/>
  <p:tag name="LATEXADDIN" val="\documentclass{article}&#10;\usepackage{amsmath,bm}&#10;\pagestyle{empty}&#10;\begin{document}&#10;&#10;\begin{equation*}&#10;W\left(\alpha+1\right)&#10;\notin \left\{&#10;-2l+5,-2l+1&#10;\right\} &#10;\end{equation*}&#10;&#10;\end{document}"/>
  <p:tag name="IGUANATEXSIZE" val="18"/>
  <p:tag name="IGUANATEXCURSOR" val="13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325.834"/>
  <p:tag name="OUTPUTTYPE" val="PNG"/>
  <p:tag name="IGUANATEXVERSION" val="159"/>
  <p:tag name="LATEXADDIN" val="\documentclass{article}&#10;\usepackage{amsmath,bm}&#10;\pagestyle{empty}&#10;\begin{document}&#10;\begin{equation*}&#10;\text{Max}\left\{4\left(\kappa_{0}+\kappa_{1}\right)\right\} = 8&#10;\quad\Longrightarrow\quad&#10;W\left(\alpha_{0}+1\right)+W\left(\alpha_{1}+1\right) &gt; 8.&#10;\end{equation*}&#10;\end{document}"/>
  <p:tag name="IGUANATEXSIZE" val="22"/>
  <p:tag name="IGUANATEXCURSOR" val="20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90.739"/>
  <p:tag name="OUTPUTTYPE" val="PNG"/>
  <p:tag name="IGUANATEXVERSION" val="159"/>
  <p:tag name="LATEXADDIN" val="\documentclass{article}&#10;\usepackage{amsmath,bm}&#10;\pagestyle{empty}&#10;\begin{document}&#10;\begin{equation*}&#10;W\left(\alpha_{1}+1\right)+W\left(\alpha_{2}+1\right) &gt; 4\left(\kappa_{0}+\kappa_{1}\right)&#10;\end{equation*}&#10;\end{document}"/>
  <p:tag name="IGUANATEXSIZE" val="22"/>
  <p:tag name="IGUANATEXCURSOR" val="10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198.725"/>
  <p:tag name="LATEXADDIN" val="\documentclass{article}&#10;\usepackage{amsmath,bm}&#10;\pagestyle{empty}&#10;\begin{document}&#10;&#10;\begin{equation*}&#10;W\left(\alpha+1\right)&#10;=&#10;2l+7&#10;\quad&#10;\Longrightarrow&#10;\quad&#10;l_{1}+l_{2} &gt; -3&#10;\end{equation*}&#10;&#10;\end{document}"/>
  <p:tag name="IGUANATEXSIZE" val="18"/>
  <p:tag name="IGUANATEXCURSOR" val="17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97.488"/>
  <p:tag name="LATEXADDIN" val="\documentclass{article}&#10;\usepackage{amsmath,bm}&#10;\pagestyle{empty}&#10;\begin{document}&#10;&#10;\begin{equation*}&#10;W\left(\alpha+1\right)&#10;=&#10;2l+3&#10;\quad&#10;\Longrightarrow&#10;\quad&#10;l_{1}+l_{2} &gt; 1&#10;\end{equation*}&#10;&#10;\end{document}"/>
  <p:tag name="IGUANATEXSIZE" val="18"/>
  <p:tag name="IGUANATEXCURSOR" val="17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3325.834"/>
  <p:tag name="OUTPUTTYPE" val="PNG"/>
  <p:tag name="IGUANATEXVERSION" val="159"/>
  <p:tag name="LATEXADDIN" val="\documentclass{article}&#10;\usepackage{amsmath,bm}&#10;\pagestyle{empty}&#10;\begin{document}&#10;&#10;Let $W(\alpha+1) \equiv 2l+3 \quad \Rightarrow \quad \alpha = \delta_{W1}\left(2l+2\right) + \delta_{W2}\left(l+\frac{1}{2}\right)$&#10;&#10;\end{document}"/>
  <p:tag name="IGUANATEXSIZE" val="22"/>
  <p:tag name="IGUANATEXCURSOR" val="13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47.919"/>
  <p:tag name="ORIGINALWIDTH" val="997.3754"/>
  <p:tag name="LATEXADDIN" val="\documentclass{article}&#10;\usepackage{amsmath,bm}&#10;\pagestyle{empty}&#10;\begin{document}&#10;&#10;\begin{align*}&#10;\hat{H}_{l,-1}&#10;&amp; =&#10;\hat{\mathcal{H}}_{\frac{4l}{W},\frac{2}{W}}&#10;\\&#10;\hat{H}_{l,0}&#10;&amp; =&#10;\hat{\mathcal{H}}_{\frac{2l+1}{W},\frac{2l+1}{W}}&#10;\\&#10;\hat{H}_{l,+1}&#10;&amp; =&#10;\hat{\mathcal{H}}_{-\frac{2}{W},\frac{2}{W}}&#10;\\&#10;\end{align*}&#10;&#10;\end{document}"/>
  <p:tag name="IGUANATEXSIZE" val="22"/>
  <p:tag name="IGUANATEXCURSOR" val="251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2051"/>
  <p:tag name="ORIGINALWIDTH" val="1829.771"/>
  <p:tag name="OUTPUTTYPE" val="PNG"/>
  <p:tag name="IGUANATEXVERSION" val="159"/>
  <p:tag name="LATEXADDIN" val="\documentclass{article}&#10;\usepackage{amsmath,amssymb,bm}&#10;\pagestyle{empty}&#10;\begin{document}&#10;&#10;\begin{equation*}&#10;\hat{H}_{l}^{(-1)}&#10;\hat{L}_{k\left\{\rho\right\}}^{(\alpha)}&#10;=&#10;\sum_{v=-2}^{+2}&#10;\mathfrak{g}_{lk,v}^{(-1)}&#10;\hat{L}_{\left(k+v\right)\left\{\rho\right\}}^{(\alpha)}&#10;\end{equation*}&#10;&#10;\end{document}"/>
  <p:tag name="IGUANATEXSIZE" val="21"/>
  <p:tag name="IGUANATEXCURSOR" val="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4207.724"/>
  <p:tag name="OUTPUTTYPE" val="PNG"/>
  <p:tag name="IGUANATEXVERSION" val="159"/>
  <p:tag name="LATEXADDIN" val="\documentclass{article}&#10;\usepackage{amsmath,amssymb,bm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/>
  <p:tag name="IGUANATEXSIZE" val="20"/>
  <p:tag name="IGUANATEXCURSOR" val="5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96.6254"/>
  <p:tag name="OUTPUTTYPE" val="PNG"/>
  <p:tag name="IGUANATEXVERSION" val="159"/>
  <p:tag name="LATEXADDIN" val="\documentclass{article}&#10;\usepackage{amsmath,bm}&#10;\pagestyle{empty}&#10;\begin{document}&#10;&#10;\begin{equation*}&#10;W(\alpha+1) \equiv 2l+3&#10;\end{equation*}&#10;&#10;\end{document}"/>
  <p:tag name="IGUANATEXSIZE" val="22"/>
  <p:tag name="IGUANATEXCURSOR" val="12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2051"/>
  <p:tag name="ORIGINALWIDTH" val="1801.275"/>
  <p:tag name="OUTPUTTYPE" val="PNG"/>
  <p:tag name="IGUANATEXVERSION" val="159"/>
  <p:tag name="LATEXADDIN" val="\documentclass{article}&#10;\usepackage{amsmath,amssymb,bm}&#10;\pagestyle{empty}&#10;\begin{document}&#10;&#10;\begin{equation*}&#10;\hat{H}_{l}^{(0)}&#10;\hat{L}_{k\left\{\rho\right\}}^{(\alpha)}&#10;=&#10;\rho&#10;\sum_{v=-2}^{+1}&#10;\mathfrak{g}_{lk,v}^{(0)}&#10;\hat{L}_{\left(k+v\right)\left\{\rho\right\}}^{(\alpha+1)}&#10;\end{equation*}&#10;&#10;\end{document}"/>
  <p:tag name="IGUANATEXSIZE" val="21"/>
  <p:tag name="IGUANATEXCURSOR" val="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/>
  <p:tag name="IGUANATEXSIZE" val="20"/>
  <p:tag name="IGUANATEXCURSOR" val="36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2051"/>
  <p:tag name="ORIGINALWIDTH" val="1912.261"/>
  <p:tag name="OUTPUTTYPE" val="PNG"/>
  <p:tag name="IGUANATEXVERSION" val="159"/>
  <p:tag name="LATEXADDIN" val="\documentclass{article}&#10;\usepackage{amsmath,amssymb,bm}&#10;\pagestyle{empty}&#10;\begin{document}&#10;&#10;\begin{equation*}&#10;\hat{H}_{l}^{(+1)}&#10;\hat{L}_{k\left\{\rho\right\}}^{(\alpha)}&#10;=&#10;\rho&#10;\sum_{v=-2}^{+1}&#10;\mathfrak{g}_{lk,v}^{(+1)}&#10;\hat{L}_{\left(k+v\right)\left\{\rho\right\}}^{(\alpha+1)}&#10;\end{equation*}&#10;&#10;\end{document}"/>
  <p:tag name="IGUANATEXSIZE" val="21"/>
  <p:tag name="IGUANATEXCURSOR" val="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/>
  <p:tag name="IGUANATEXSIZE" val="20"/>
  <p:tag name="IGUANATEXCURSOR" val="34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8.1927"/>
  <p:tag name="ORIGINALWIDTH" val="4863.892"/>
  <p:tag name="OUTPUTTYPE" val="PNG"/>
  <p:tag name="IGUANATEXVERSION" val="159"/>
  <p:tag name="LATEXADDIN" val="\documentclass{article}&#10;\usepackage{amsmath,amssymb,bm}&#10;\pagestyle{empty}&#10;\begin{document}&#10;&#10;\begin{align*}&#10;\mathcal{R}&#10;_{\eta;kl,s\left\{r\right\}}&#10;^{\left(W\kappa\right)}&#10;&amp; =&#10;\left(\frac{2}{Wa_{\perp}\eta}\right)^{\frac{3}{2}}&#10;\left[&#10;\sqrt{W}&#10;\rho^{\frac{l}{W}-\kappa\delta_{W1}-\delta_{s\bar{1}}}\mathrm{e}^{-\rho/2}&#10;\sum_{v=-2\kappa}^{\kappa+\delta_{s\bar{1}}}&#10;\mathfrak{h}_{lk,v}^{(\kappa s)}&#10;\hat{L}_{\left(k+v\right)\left\{\rho\right\}}^{\left(\frac{2l+3-W}{W}+\kappa-\delta_{s\bar{1}}\right)}&#10;\right|_{\rho \rightarrow \left(\frac{2r}{Wa_\perp\eta}\right)^{W}}&#10;\\&#10;\end{align*}&#10;&#10;\end{document}"/>
  <p:tag name="IGUANATEXSIZE" val="20"/>
  <p:tag name="IGUANATEXCURSOR" val="52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2058"/>
  <p:tag name="ORIGINALWIDTH" val="3886.764"/>
  <p:tag name="OUTPUTTYPE" val="PNG"/>
  <p:tag name="IGUANATEXVERSION" val="159"/>
  <p:tag name="LATEXADDIN" val="\documentclass{article}&#10;\usepackage{amsmath,bm,eufrak}&#10;\pagestyle{empty}&#10;\begin{document}&#10;&#10;\begin{equation*}&#10;\Phi_{m\zeta lk;\lambda\eta}^{(W\kappa q)}&#10;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right)}&#10;\\&#10;\end{equation*}&#10;&#10;\end{document}"/>
  <p:tag name="IGUANATEXSIZE" val="20"/>
  <p:tag name="IGUANATEXCURSOR" val="46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3.36"/>
  <p:tag name="ORIGINALWIDTH" val="2708.661"/>
  <p:tag name="LATEXADDIN" val="\documentclass{article}&#10;\usepackage{amsmath,bm,eufrak}&#10;\pagestyle{empty}&#10;\begin{document}&#10;&#10;\begin{align*}&#10;\vartheta_{\lambda}^{(q)}&#10;&amp; =&#10;\sqrt{1 + \left(\lambda^2-1\right)\chi_{q}^2}&#10;\\&#10;\hat{\mathcal{P}}_{lm;\lambda}^{(q)}&#10;&amp; = &#10;\sqrt{\frac{\lambda}{\left(\vartheta_{q}^{(\lambda)}\right)^{3}}}&#10;\sqrt{\frac{(2l+1)\left(l-m\right)!}{2\left(l+m\right)!}}&#10;P_{lm}\left(\frac{\lambda \chi_{q}}{\vartheta_{q}^{(\lambda)}}\right)&#10;\\&#10;\hat{Q}_{m}^{(q\xi)}&#10;&amp; = &#10;\frac{1}{\sqrt{2\pi}}&#10;\left(\frac{\mathrm{e}^{\mathrm{i}m \phi_{q}}+ \xi\mathrm{i}^{m}\mathrm{e}^{-\mathrm{i}m \phi_{q}}}&#10;{2\delta_{m0} + \sqrt{2}\left(1-\delta_{m0}\right)}\right)&#10;\end{align*}&#10;&#10;\end{document} "/>
  <p:tag name="IGUANATEXSIZE" val="20"/>
  <p:tag name="IGUANATEXCURSOR" val="22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87.552"/>
  <p:tag name="OUTPUTTYPE" val="PNG"/>
  <p:tag name="IGUANATEXVERSION" val="159"/>
  <p:tag name="LATEXADDIN" val="\documentclass{article}&#10;\usepackage{amsmath,amssymb,bm}&#10;\pagestyle{empty}&#10;\begin{document}&#10;&#10;\begin{align*}&#10;\mathfrak{h}_{lk,v}^{(\kappa s)}&#10;&amp; =&#10;\left(1-\kappa\right)\delta_{s0}\delta_{v0} + \kappa \mathfrak{g}_{lk,v}^{(s)}&#10;\\&#10;\end{align*}&#10;&#10;\end{document}"/>
  <p:tag name="IGUANATEXSIZE" val="20"/>
  <p:tag name="IGUANATEXCURSOR" val="52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294.713"/>
  <p:tag name="OUTPUTTYPE" val="PNG"/>
  <p:tag name="IGUANATEXVERSION" val="159"/>
  <p:tag name="LATEXADDIN" val="\documentclass{article}&#10;\usepackage{amsmath,amssymb,bm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/>
  <p:tag name="IGUANATEXSIZE" val="20"/>
  <p:tag name="IGUANATEXCURSOR" val="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2283"/>
  <p:tag name="ORIGINALWIDTH" val="1648.294"/>
  <p:tag name="OUTPUTTYPE" val="PNG"/>
  <p:tag name="IGUANATEXVERSION" val="159"/>
  <p:tag name="LATEXADDIN" val="\documentclass{article}&#10;\usepackage{amsmath,amssymb,bm}&#10;\pagestyle{empty}&#10;\begin{document}&#10;&#10;\begin{equation*}&#10;\mathfrak{H}^{(\kappa s)}_{lm}&#10;= &#10;\delta_{s,0}-\kappa\left(1-\gamma\lambda^{2}\right)\mathfrak{Y}_{lm}^{(s)}&#10;\end{equation*}&#10;&#10;\end{document}"/>
  <p:tag name="IGUANATEXSIZE" val="20"/>
  <p:tag name="IGUANATEXCURSOR" val="20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/>
  <p:tag name="IGUANATEXSIZE" val="13"/>
  <p:tag name="IGUANATEXCURSOR" val="34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/>
  <p:tag name="IGUANATEXSIZE" val="13"/>
  <p:tag name="IGUANATEXCURSOR" val="33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4207.724"/>
  <p:tag name="OUTPUTTYPE" val="PNG"/>
  <p:tag name="IGUANATEXVERSION" val="159"/>
  <p:tag name="LATEXADDIN" val="\documentclass{article}&#10;\usepackage{amsmath,bm,eufrak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/>
  <p:tag name="IGUANATEXSIZE" val="13"/>
  <p:tag name="IGUANATEXCURSOR" val="59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9625"/>
  <p:tag name="ORIGINALWIDTH" val="4833.896"/>
  <p:tag name="LATEXADDIN" val="\documentclass{article}&#10;\usepackage{amsmath,bm}&#10;\pagestyle{empty}&#10;\begin{document}&#10;&#10;\begin{equation*}&#10;\rho^{2}\frac{\partial^2}{\partial \rho^2}\hat{L}_{k}^{(\alpha)}\left(\rho\right)&#10;=&#10;\sqrt{(k-1)k(k+\alpha-1)(k+\alpha)}\hat{L}_{k-2}^{(\alpha)}&#10;-2(k-1)\sqrt{k(k+\alpha)}\hat{L}_{k-1}^{(\alpha)}&#10;+(k-1)k\hat{L}_{k}^{(\alpha)}&#10;\\&#10;\end{equation*}&#10;&#10;\end{document}"/>
  <p:tag name="IGUANATEXSIZE" val="20"/>
  <p:tag name="IGUANATEXCURSOR" val="30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143"/>
  <p:tag name="ORIGINALWIDTH" val="2027.746"/>
  <p:tag name="LATEXADDIN" val="\documentclass{article}&#10;\usepackage{amsmath,bm}&#10;\pagestyle{empty}&#10;\begin{document}&#10;&#10;\begin{equation*}&#10;\rho\frac{\partial}{\partial \rho}\hat{L}_{k}^{(\alpha)}&#10;=&#10;-\sqrt{k(k+\alpha)}\hat{L}_{k-1}^{(\alpha)}&#10;+k\hat{L}_{k}^{(\alpha)}&#10;\end{equation*}&#10;&#10;\end{document}"/>
  <p:tag name="IGUANATEXSIZE" val="20"/>
  <p:tag name="IGUANATEXCURSOR" val="15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.7278"/>
  <p:tag name="ORIGINALWIDTH" val="4008.249"/>
  <p:tag name="LATEXADDIN" val="\documentclass{article}&#10;\usepackage{amsmath,bm}&#10;\pagestyle{empty}&#10;\begin{document}&#10;&#10;\begin{gather*}&#10;\rho\hat{L}_{k}^{(\alpha)}&#10;=&#10;-\sqrt{k(k+\alpha)}L_{k-1}^{(\alpha)}&#10;+(2k+\alpha+1)\hat{L}_{k}^{(\alpha)}&#10;-\sqrt{(k+1)(k+\alpha+1)}\hat{L}_{k+1}^{(\alpha)}&#10;\\&#10;\end{gather*}&#10;&#10;\end{document}"/>
  <p:tag name="IGUANATEXSIZE" val="20"/>
  <p:tag name="IGUANATEXCURSOR" val="25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.7278"/>
  <p:tag name="ORIGINALWIDTH" val="10990.63"/>
  <p:tag name="LATEXADDIN" val="\documentclass{article}&#10;\usepackage{amsmath,bm}&#10;\pagestyle{empty}&#10;\begin{document}&#10;&#10;\begin{gather*}&#10;\rho^{2}\hat{L}_{k}^{(\alpha)}&#10;=&#10;\sqrt{(k-1)k(k+\alpha-1)(k+\alpha)}L_{k-2}^{(\alpha)}&#10;-2(2k+\alpha)\sqrt{k(k+\alpha)}L_{k-1}^{(\alpha)}&#10;+(6k^{2}+6k(\alpha+1)+(\alpha+1)(\alpha+2))\hat{L}_{k}^{(\alpha)}&#10;-2(2k+\alpha+2)\sqrt{(k+1)(k+\alpha+1)}\hat{L}_{k+1}^{(\alpha)}&#10;+\sqrt{(k+1)(k+2)(k+\alpha+1)(k+\alpha+2)}L_{k-2}^{(\alpha)}&#10;\end{gather*}&#10;&#10;\end{document}"/>
  <p:tag name="IGUANATEXSIZE" val="10"/>
  <p:tag name="IGUANATEXCURSOR" val="36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143"/>
  <p:tag name="ORIGINALWIDTH" val="6561.679"/>
  <p:tag name="LATEXADDIN" val="\documentclass{article}&#10;\usepackage{amsmath,bm}&#10;\pagestyle{empty}&#10;\begin{document}&#10;&#10;\begin{equation*}&#10;\rho^{2}\frac{\partial}{\partial \rho}\hat{L}_{k}^{(\alpha)}&#10;=&#10;\sqrt{(k-1)k(k+\alpha-1)(k+\alpha)}\hat{L}_{k-2}^{(\alpha)}&#10;-(3k+\alpha-1)\sqrt{k(k+\alpha)}\hat{L}_{k-1}^{(\alpha)}&#10;+k(3k+2\alpha+1)\hat{L}_{k}^{(\alpha)}&#10;-\sqrt{(k+1)(k+\alpha+1)}\hat{L}_{k+1}^{(\alpha)}&#10;\end{equation*}&#10;&#10;\end{document}"/>
  <p:tag name="IGUANATEXSIZE" val="16"/>
  <p:tag name="IGUANATEXCURSOR" val="23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9625"/>
  <p:tag name="ORIGINALWIDTH" val="3778.778"/>
  <p:tag name="LATEXADDIN" val="\documentclass{article}&#10;\usepackage{amsmath,bm}&#10;\pagestyle{empty}&#10;\begin{document}&#10;&#10;\begin{align*}&#10;\hat{\mathcal{H}}_{\Lambda,\lambda}&#10;=&#10;\lambda^{2}-\Lambda^{2}&#10;-4\left(\Lambda+1\right)\rho\frac{\partial}{\partial \rho}&#10;-4\rho^{2}\frac{\partial^{2}}{\partial \rho^{2}}&#10;+2\left(\Lambda+1\right)\rho&#10;+4\rho^{2}\frac{\partial}{\partial \rho}&#10;-\rho^{2}&#10;\end{align*}&#10;&#10;\end{document}"/>
  <p:tag name="IGUANATEXSIZE" val="20"/>
  <p:tag name="IGUANATEXCURSOR" val="34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143"/>
  <p:tag name="ORIGINALWIDTH" val="4275.965"/>
  <p:tag name="LATEXADDIN" val="\documentclass{article}&#10;\usepackage{amsmath,bm}&#10;\pagestyle{empty}&#10;\begin{document}&#10;&#10;\begin{equation*}&#10;\rho\frac{\partial}{\partial \rho}\hat{L}_{k}^{(\alpha)}&#10;=&#10;\sqrt{(k-1)k(k+\alpha)}\hat{L}_{k-2}^{(\alpha+1)}&#10;-(2k+\alpha)\sqrt{k}\hat{L}_{k-1}^{(\alpha+1)}&#10;+k\sqrt{k+\alpha+1}\hat{L}_{k}^{(\alpha+1)}&#10;\end{equation*}&#10;&#10;\end{document}"/>
  <p:tag name="IGUANATEXSIZE" val="20"/>
  <p:tag name="IGUANATEXCURSOR" val="30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143"/>
  <p:tag name="ORIGINALWIDTH" val="1346.832"/>
  <p:tag name="LATEXADDIN" val="\documentclass{article}&#10;\usepackage{amsmath,bm}&#10;\pagestyle{empty}&#10;\begin{document}&#10;&#10;\begin{equation*}&#10;\frac{\partial}{\partial \rho}&#10;\hat{L}_{k}^{(\alpha)}\left(\rho\right)&#10;=&#10;-\sqrt{k}\hat{L}_{k-1}^{(\alpha+1)}&#10;\end{equation*}&#10;&#10;\end{document}"/>
  <p:tag name="IGUANATEXSIZE" val="20"/>
  <p:tag name="IGUANATEXCURSOR" val="17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9625"/>
  <p:tag name="ORIGINALWIDTH" val="3244.094"/>
  <p:tag name="LATEXADDIN" val="\documentclass{article}&#10;\usepackage{amsmath,bm}&#10;\pagestyle{empty}&#10;\begin{document}&#10;&#10;\begin{equation*}&#10;\rho\frac{\partial^{2}}{\partial \rho^{2}}&#10;\hat{L}_{k}^{(\alpha)}\left(\rho\right)&#10;=&#10;\sqrt{(k-1)k(k+\alpha)}\hat{L}_{k-2}^{(\alpha+1)}&#10;-(k-1)\sqrt{k}\hat{L}_{k-1}^{(\alpha+1)}&#10;\end{equation*}&#10;&#10;\end{document}"/>
  <p:tag name="IGUANATEXSIZE" val="20"/>
  <p:tag name="IGUANATEXCURSOR" val="18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2138.733"/>
  <p:tag name="LATEXADDIN" val="\documentclass{article}&#10;\usepackage{amsmath,bm}&#10;\pagestyle{empty}&#10;\begin{document}&#10;&#10;\begin{gather*}&#10;\hat{L}_{k}^{(\alpha)}&#10;=&#10;-\sqrt{k}L_{k-1}^{(\alpha+1)}&#10;+\sqrt{k+\alpha+1}\hat{L}_{k}^{(\alpha+1)}&#10;\\&#10;\end{gather*}&#10;&#10;\end{document}"/>
  <p:tag name="IGUANATEXSIZE" val="20"/>
  <p:tag name="IGUANATEXCURSOR" val="19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.7278"/>
  <p:tag name="ORIGINALWIDTH" val="7252.343"/>
  <p:tag name="LATEXADDIN" val="\documentclass{article}&#10;\usepackage{amsmath,bm}&#10;\pagestyle{empty}&#10;\begin{document}&#10;&#10;\begin{gather*}&#10;\rho\hat{L}_{k}^{(\alpha)}&#10;=&#10;-\sqrt{(k-1)k(k+\alpha)}L_{k-2}^{(\alpha+1)}&#10;-(3k+2\alpha+1)\sqrt{k}L_{k-1}^{(\alpha+1)}&#10;+(3k+\alpha+2)\sqrt{k+\alpha+1}L_{k}^{(\alpha+1)}&#10;-\sqrt{(k+1)(k+\alpha+1)(k+\alpha+2)}\hat{L}_{k+1}^{(\alpha)}&#10;\\&#10;\end{gather*}&#10;&#10;\end{document}"/>
  <p:tag name="IGUANATEXSIZE" val="16"/>
  <p:tag name="IGUANATEXCURSOR" val="30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5.9617"/>
  <p:tag name="ORIGINALWIDTH" val="3323.584"/>
  <p:tag name="LATEXADDIN" val="\documentclass{article}&#10;\usepackage{amsmath,bm}&#10;\pagestyle{empty}&#10;\begin{document}&#10;&#10;\begin{align*}&#10;\hat{\mathcal{H}}_{\Lambda,\pm\Lambda}&#10;=&#10;\rho&#10;\left(&#10;-4\left(\Lambda+1\right)\frac{\partial}{\partial \rho}&#10;-4\rho\frac{\partial^{2}}{\partial \rho^{2}}&#10;+2\left(\Lambda+1\right)&#10;+4\rho\frac{\partial}{\partial \rho}&#10;-\rho&#10;\right)&#10;\end{align*}&#10;&#10;\end{document}"/>
  <p:tag name="IGUANATEXSIZE" val="20"/>
  <p:tag name="IGUANATEXCURSOR" val="32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75142</TotalTime>
  <Words>579</Words>
  <Application>Microsoft Office PowerPoint</Application>
  <PresentationFormat>Widescreen</PresentationFormat>
  <Paragraphs>84</Paragraphs>
  <Slides>38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Cambria Math</vt:lpstr>
      <vt:lpstr>Georgia</vt:lpstr>
      <vt:lpstr>LucidaGrande</vt:lpstr>
      <vt:lpstr>UB Powerpoint Template</vt:lpstr>
      <vt:lpstr>Useful differential operators acting on general functions</vt:lpstr>
      <vt:lpstr>Useful differential operators acting on general functions</vt:lpstr>
      <vt:lpstr>Single-Valley BASIS</vt:lpstr>
      <vt:lpstr>The naïve basis functions defined</vt:lpstr>
      <vt:lpstr>Kinetic OperATOR</vt:lpstr>
      <vt:lpstr>Operators used for kinetic matrix elements defined</vt:lpstr>
      <vt:lpstr>Useful differential operators acting on general functions</vt:lpstr>
      <vt:lpstr>Elaborating the anisotropic kinetic operator</vt:lpstr>
      <vt:lpstr>Restating effects of the iso- and anisotropic kinetic operators</vt:lpstr>
      <vt:lpstr>Further examination of the effect of the kinetic operators</vt:lpstr>
      <vt:lpstr>Combined effect of kinetic operators</vt:lpstr>
      <vt:lpstr>Restatement of effect of full kinetic operator</vt:lpstr>
      <vt:lpstr>Restatement of effect of full kinetic operator</vt:lpstr>
      <vt:lpstr>Definition of the generalized single-valley basis states</vt:lpstr>
      <vt:lpstr>Operator Effects</vt:lpstr>
      <vt:lpstr>Generic kinetic operator acting on Laguerre polynomials</vt:lpstr>
      <vt:lpstr>Generic kinetic operator acting on Laguerre poly. (φ^2=ϕ^2)</vt:lpstr>
      <vt:lpstr>Expectation Values</vt:lpstr>
      <vt:lpstr>Examining the expectation values (Overlap, Kinetic, KinKin)</vt:lpstr>
      <vt:lpstr>Examining the expectation values</vt:lpstr>
      <vt:lpstr>2. Integrability condition</vt:lpstr>
      <vt:lpstr>Determining Alpha</vt:lpstr>
      <vt:lpstr>1. Exploring regimes of applicability for φ^2≠ϕ^2</vt:lpstr>
      <vt:lpstr>2. Exploring regimes of applicability for φ^2=ϕ^2</vt:lpstr>
      <vt:lpstr>3. What criteria on α is required to achieve φ^2=ϕ^2?</vt:lpstr>
      <vt:lpstr>4. Exploring regimes of applicability for φ^2=ϕ^2</vt:lpstr>
      <vt:lpstr>5. Exploring regimes of applicability for φ^2≠ϕ^2.</vt:lpstr>
      <vt:lpstr>6. Making the best choice of α</vt:lpstr>
      <vt:lpstr>Finishing Up</vt:lpstr>
      <vt:lpstr>Effect of final kinetic suboperator – s=-1</vt:lpstr>
      <vt:lpstr>Effect of final kinetic suboperator – s=0</vt:lpstr>
      <vt:lpstr>Effect of final kinetic suboperator – s=+1</vt:lpstr>
      <vt:lpstr>GENERALIZED BASIS STATES</vt:lpstr>
      <vt:lpstr>Generalized basis states -- I</vt:lpstr>
      <vt:lpstr>Generalized basis states -- II</vt:lpstr>
      <vt:lpstr>APPENDIX</vt:lpstr>
      <vt:lpstr>Relations involving the Laguerre polynomial -- I</vt:lpstr>
      <vt:lpstr>Relations involving the Laguerre polynomial -- II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3252</cp:revision>
  <cp:lastPrinted>2016-07-18T17:32:49Z</cp:lastPrinted>
  <dcterms:created xsi:type="dcterms:W3CDTF">2016-06-28T14:05:07Z</dcterms:created>
  <dcterms:modified xsi:type="dcterms:W3CDTF">2023-04-11T21:08:24Z</dcterms:modified>
  <cp:category/>
</cp:coreProperties>
</file>