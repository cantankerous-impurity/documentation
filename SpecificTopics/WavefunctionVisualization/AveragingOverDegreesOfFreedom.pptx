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3.xml" ContentType="application/vnd.openxmlformats-officedocument.presentationml.notesSlide+xml"/>
  <Override PartName="/ppt/tags/tag30.xml" ContentType="application/vnd.openxmlformats-officedocument.presentationml.tags+xml"/>
  <Override PartName="/ppt/notesSlides/notesSlide14.xml" ContentType="application/vnd.openxmlformats-officedocument.presentationml.notesSlide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6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7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8.xml" ContentType="application/vnd.openxmlformats-officedocument.presentationml.notesSlide+xml"/>
  <Override PartName="/ppt/tags/tag41.xml" ContentType="application/vnd.openxmlformats-officedocument.presentationml.tags+xml"/>
  <Override PartName="/ppt/notesSlides/notesSlide19.xml" ContentType="application/vnd.openxmlformats-officedocument.presentationml.notesSlide+xml"/>
  <Override PartName="/ppt/tags/tag42.xml" ContentType="application/vnd.openxmlformats-officedocument.presentationml.tags+xml"/>
  <Override PartName="/ppt/notesSlides/notesSlide20.xml" ContentType="application/vnd.openxmlformats-officedocument.presentationml.notesSlide+xml"/>
  <Override PartName="/ppt/tags/tag43.xml" ContentType="application/vnd.openxmlformats-officedocument.presentationml.tags+xml"/>
  <Override PartName="/ppt/notesSlides/notesSlide2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5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6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27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8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9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1.xml" ContentType="application/vnd.openxmlformats-officedocument.presentationml.notesSlide+xml"/>
  <Override PartName="/ppt/tags/tag79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6"/>
  </p:notesMasterIdLst>
  <p:handoutMasterIdLst>
    <p:handoutMasterId r:id="rId37"/>
  </p:handoutMasterIdLst>
  <p:sldIdLst>
    <p:sldId id="880" r:id="rId2"/>
    <p:sldId id="878" r:id="rId3"/>
    <p:sldId id="881" r:id="rId4"/>
    <p:sldId id="1371" r:id="rId5"/>
    <p:sldId id="1372" r:id="rId6"/>
    <p:sldId id="1342" r:id="rId7"/>
    <p:sldId id="1406" r:id="rId8"/>
    <p:sldId id="1417" r:id="rId9"/>
    <p:sldId id="1388" r:id="rId10"/>
    <p:sldId id="1390" r:id="rId11"/>
    <p:sldId id="1391" r:id="rId12"/>
    <p:sldId id="1392" r:id="rId13"/>
    <p:sldId id="1404" r:id="rId14"/>
    <p:sldId id="1416" r:id="rId15"/>
    <p:sldId id="1387" r:id="rId16"/>
    <p:sldId id="1397" r:id="rId17"/>
    <p:sldId id="1409" r:id="rId18"/>
    <p:sldId id="1414" r:id="rId19"/>
    <p:sldId id="1415" r:id="rId20"/>
    <p:sldId id="1407" r:id="rId21"/>
    <p:sldId id="1408" r:id="rId22"/>
    <p:sldId id="1405" r:id="rId23"/>
    <p:sldId id="1394" r:id="rId24"/>
    <p:sldId id="1401" r:id="rId25"/>
    <p:sldId id="1403" r:id="rId26"/>
    <p:sldId id="1396" r:id="rId27"/>
    <p:sldId id="1400" r:id="rId28"/>
    <p:sldId id="1385" r:id="rId29"/>
    <p:sldId id="1384" r:id="rId30"/>
    <p:sldId id="832" r:id="rId31"/>
    <p:sldId id="879" r:id="rId32"/>
    <p:sldId id="849" r:id="rId33"/>
    <p:sldId id="848" r:id="rId34"/>
    <p:sldId id="847" r:id="rId3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2A3A8"/>
    <a:srgbClr val="FF7F7F"/>
    <a:srgbClr val="005961"/>
    <a:srgbClr val="7FD7A7"/>
    <a:srgbClr val="00B050"/>
    <a:srgbClr val="FF0000"/>
    <a:srgbClr val="33A366"/>
    <a:srgbClr val="B797CF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6" autoAdjust="0"/>
    <p:restoredTop sz="94847" autoAdjust="0"/>
  </p:normalViewPr>
  <p:slideViewPr>
    <p:cSldViewPr snapToGrid="0" snapToObjects="1">
      <p:cViewPr varScale="1">
        <p:scale>
          <a:sx n="113" d="100"/>
          <a:sy n="113" d="100"/>
        </p:scale>
        <p:origin x="3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4/29/2023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81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457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315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126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521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69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777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84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38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53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82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273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84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022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2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65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67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86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18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758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4345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288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7235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254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519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338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33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114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00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1545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58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6.xml"/><Relationship Id="rId7" Type="http://schemas.openxmlformats.org/officeDocument/2006/relationships/image" Target="../media/image12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4.xml"/><Relationship Id="rId7" Type="http://schemas.openxmlformats.org/officeDocument/2006/relationships/image" Target="../media/image20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7.xml"/><Relationship Id="rId7" Type="http://schemas.openxmlformats.org/officeDocument/2006/relationships/image" Target="../media/image23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26.xml"/><Relationship Id="rId7" Type="http://schemas.openxmlformats.org/officeDocument/2006/relationships/image" Target="../media/image3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0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tags" Target="../tags/tag29.xml"/><Relationship Id="rId7" Type="http://schemas.openxmlformats.org/officeDocument/2006/relationships/image" Target="../media/image34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3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0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34.xml"/><Relationship Id="rId7" Type="http://schemas.openxmlformats.org/officeDocument/2006/relationships/image" Target="../media/image38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1.png"/><Relationship Id="rId4" Type="http://schemas.openxmlformats.org/officeDocument/2006/relationships/tags" Target="../tags/tag35.xml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38.xml"/><Relationship Id="rId7" Type="http://schemas.openxmlformats.org/officeDocument/2006/relationships/image" Target="../media/image40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2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1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2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3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46.xml"/><Relationship Id="rId7" Type="http://schemas.openxmlformats.org/officeDocument/2006/relationships/image" Target="../media/image48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1.png"/><Relationship Id="rId4" Type="http://schemas.openxmlformats.org/officeDocument/2006/relationships/tags" Target="../tags/tag47.xml"/><Relationship Id="rId9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3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52.png"/><Relationship Id="rId5" Type="http://schemas.openxmlformats.org/officeDocument/2006/relationships/image" Target="../media/image410.png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3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52.png"/><Relationship Id="rId5" Type="http://schemas.openxmlformats.org/officeDocument/2006/relationships/image" Target="../media/image410.png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4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480.png"/><Relationship Id="rId4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58.xml"/><Relationship Id="rId7" Type="http://schemas.openxmlformats.org/officeDocument/2006/relationships/image" Target="../media/image58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0.png"/><Relationship Id="rId4" Type="http://schemas.openxmlformats.org/officeDocument/2006/relationships/tags" Target="../tags/tag59.xml"/><Relationship Id="rId9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tags" Target="../tags/tag62.xml"/><Relationship Id="rId7" Type="http://schemas.openxmlformats.org/officeDocument/2006/relationships/image" Target="../media/image61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4.png"/><Relationship Id="rId4" Type="http://schemas.openxmlformats.org/officeDocument/2006/relationships/tags" Target="../tags/tag63.xml"/><Relationship Id="rId9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tags" Target="../tags/tag68.xml"/><Relationship Id="rId7" Type="http://schemas.openxmlformats.org/officeDocument/2006/relationships/notesSlide" Target="../notesSlides/notesSlide30.xml"/><Relationship Id="rId12" Type="http://schemas.openxmlformats.org/officeDocument/2006/relationships/image" Target="../media/image70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69.png"/><Relationship Id="rId5" Type="http://schemas.openxmlformats.org/officeDocument/2006/relationships/tags" Target="../tags/tag70.xml"/><Relationship Id="rId10" Type="http://schemas.openxmlformats.org/officeDocument/2006/relationships/image" Target="../media/image68.png"/><Relationship Id="rId4" Type="http://schemas.openxmlformats.org/officeDocument/2006/relationships/tags" Target="../tags/tag69.xml"/><Relationship Id="rId9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image" Target="../media/image73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tags" Target="../tags/tag72.xml"/><Relationship Id="rId16" Type="http://schemas.openxmlformats.org/officeDocument/2006/relationships/image" Target="../media/image76.png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71.png"/><Relationship Id="rId5" Type="http://schemas.openxmlformats.org/officeDocument/2006/relationships/tags" Target="../tags/tag75.xml"/><Relationship Id="rId15" Type="http://schemas.openxmlformats.org/officeDocument/2006/relationships/image" Target="../media/image75.png"/><Relationship Id="rId10" Type="http://schemas.openxmlformats.org/officeDocument/2006/relationships/notesSlide" Target="../notesSlides/notesSlide31.xml"/><Relationship Id="rId4" Type="http://schemas.openxmlformats.org/officeDocument/2006/relationships/tags" Target="../tags/tag74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9.xml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C159-59FB-4E0C-823C-7B7FA4A21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6638544" cy="1597104"/>
          </a:xfrm>
        </p:spPr>
        <p:txBody>
          <a:bodyPr/>
          <a:lstStyle/>
          <a:p>
            <a:r>
              <a:rPr lang="en-US" dirty="0"/>
              <a:t>Exploring Electron Density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8C9E6-75CF-410B-BF96-BBB39AC7F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3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Single Electron Number Density</a:t>
            </a:r>
          </a:p>
        </p:txBody>
      </p:sp>
      <p:pic>
        <p:nvPicPr>
          <p:cNvPr id="12" name="Picture 11" descr="\documentclass{article}&#10;\usepackage{amsmath,bm,physics}&#10;\pagestyle{empty}&#10;\begin{document}&#10;&#10;\begin{equation*}&#10;\Psi_{\vb*{r}}&#10;=&#10;\sum_{\beta}c^{\prime}_{\beta}\Psi_{\beta\vb*{r}}&#10;\approx&#10;\sum_{\beta}c^{\prime}_{\beta}&#10;\sum_{j} c_{j}&#10;\left(&#10;\sum_{q\in\left\{x,y,z\right\}} \beta_{q}&#10;\Phi_{j\vb*{r}}^{(q)}&#10;\Theta^{(q)}_{\Omega_{j}\vb*{r}}&#10;\right)&#10;=&#10;\sum_{j^\prime} d_{j^{\prime}}&#10;\left(&#10;\sum_{q\in\left\{x,y,z\right\}} \beta_{j^{\prime}q}&#10;\Phi_{j^{\prime}\vb*{r}}^{(q)}&#10;\Theta^{(q)}_{\Omega_{j^{\prime}}\vb*{r}}&#10;\right)&#10;\end{equation*}&#10;&#10;\end{document}" title="IguanaTex Bitmap Display">
            <a:extLst>
              <a:ext uri="{FF2B5EF4-FFF2-40B4-BE49-F238E27FC236}">
                <a16:creationId xmlns:a16="http://schemas.microsoft.com/office/drawing/2014/main" id="{4BC236BD-CD3A-41C2-824A-71574FCC40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94097" y="2131346"/>
            <a:ext cx="10003807" cy="911238"/>
          </a:xfrm>
          <a:prstGeom prst="rect">
            <a:avLst/>
          </a:prstGeom>
        </p:spPr>
      </p:pic>
      <p:pic>
        <p:nvPicPr>
          <p:cNvPr id="3" name="Picture 2" descr="\documentclass{article}&#10;\usepackage{amsmath,bm,physics}&#10;\pagestyle{empty}&#10;\begin{document}&#10;&#10;\begin{equation*}&#10;\rho_{\vb*{r}}&#10;= &#10;\tilde{\Psi}_{\vb*{r}}\Psi_{\vb*{r}}&#10;\approx&#10;\sum_{i}\sum_{j}&#10;c_{i}^{*}&#10;\left(&#10;\sum_{p\in\left\{x,y,z\right\}} \beta_{ip}^{*}&#10;\tilde{\Phi}_{i\vb*{r}}^{(p)}&#10;\tilde{\Theta}^{(p)}_{\Omega_{i}\vb*{r}}&#10;\right)&#10;\left(&#10;\sum_{q\in\left\{x,y,z\right\}} \beta_{jq}&#10;\Phi_{j\vb*{r}}^{(q)}&#10;\Theta^{(q)}_{\Omega_{j}\vb*{r}}&#10;\right)&#10;c_{j}&#10;\end{equation*}&#10;&#10;\end{document}" title="IguanaTex Bitmap Display">
            <a:extLst>
              <a:ext uri="{FF2B5EF4-FFF2-40B4-BE49-F238E27FC236}">
                <a16:creationId xmlns:a16="http://schemas.microsoft.com/office/drawing/2014/main" id="{8D84E211-0F97-41F7-B8FE-872AF8E333D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05526" y="3553788"/>
            <a:ext cx="8380948" cy="911238"/>
          </a:xfrm>
          <a:prstGeom prst="rect">
            <a:avLst/>
          </a:prstGeom>
        </p:spPr>
      </p:pic>
      <p:pic>
        <p:nvPicPr>
          <p:cNvPr id="30" name="Picture 29" descr="\documentclass{article}&#10;\usepackage{amsmath,bm,physics,mathtools}&#10;\pagestyle{empty}&#10;\begin{document}&#10;&#10;\begin{equation*}&#10;\rho_{\vb*{r}}&#10;= &#10;\vb*{c}^{\dagger}\vb*{\rho}_{\vb*{r}}\vb*{c}&#10;\quad\quad&#10;\vb*{\rho}_{ij\vb*{r}}&#10;\coloneqq&#10;\sum_{p,q\in\left\{x,y,z\right\}}&#10;\beta_{ip}^{*}\beta_{jq}&#10;\tilde{\Phi}_{i\vb*{r}}^{(p)}&#10;\Phi_{j\vb*{r}}^{(q)}&#10;\tilde{\Theta}^{(p)}_{\Omega_{i}\vb*{r}}&#10;\Theta^{(q)}_{\Omega_{j}\vb*{r}}&#10;\end{equation*}&#10;&#10;\end{document}" title="IguanaTex Bitmap Display">
            <a:extLst>
              <a:ext uri="{FF2B5EF4-FFF2-40B4-BE49-F238E27FC236}">
                <a16:creationId xmlns:a16="http://schemas.microsoft.com/office/drawing/2014/main" id="{21D8166F-1539-45F8-B108-23962D2A0A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20382" y="5264051"/>
            <a:ext cx="6351236" cy="62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4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</a:t>
            </a:r>
          </a:p>
        </p:txBody>
      </p:sp>
      <p:pic>
        <p:nvPicPr>
          <p:cNvPr id="52" name="Picture 51" descr="\documentclass{article}&#10;\usepackage{amsmath,bm,physics,mathtools}&#10;\pagestyle{empty}&#10;\begin{document}&#10;&#10;\begin{equation*}&#10;\vb*{\rho}_{ij\left\{r\right\}}&#10;\coloneqq&#10;\sum_{ p,q\in\left\{x,y,z\right\} }&#10;\beta_{ip}^{*}\beta_{jq}&#10;\int_{\mathcal{S}} \mathrm{d}\vb{\Omega}\,&#10;\tilde{\Phi}_{i\vb*{r}}^{(p)}&#10;\Phi_{j\vb*{r}}^{(q)}&#10;\tilde{\Theta}^{(p)}_{\Omega_{i}\vb*{r}}&#10;\Theta^{(q)}_{\Omega_{j}\vb*{r}}&#10;\end{equation*}&#10;&#10;\end{document}" title="IguanaTex Bitmap Display">
            <a:extLst>
              <a:ext uri="{FF2B5EF4-FFF2-40B4-BE49-F238E27FC236}">
                <a16:creationId xmlns:a16="http://schemas.microsoft.com/office/drawing/2014/main" id="{7D15204D-0F0E-4F32-B01A-35D8D544E0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15049" y="2053781"/>
            <a:ext cx="5561903" cy="702477"/>
          </a:xfrm>
          <a:prstGeom prst="rect">
            <a:avLst/>
          </a:prstGeom>
        </p:spPr>
      </p:pic>
      <p:pic>
        <p:nvPicPr>
          <p:cNvPr id="21" name="Picture 20" descr="\documentclass{article}&#10;\usepackage{amsmath,bm,physics,mathtools}&#10;\pagestyle{empty}&#10;\begin{document}&#10;&#10;\begin{align*}&#10;\vb*{\rho}_{ij\left\{r\right\}}&#10;&amp; =&#10;\sum_{ p\in\left\{x,y,z\right\} }&#10;\left(&#10;\beta_{ip}^{*}\beta_{jp}&#10;\int_{\mathcal{S}} \mathrm{d}\vb{\Omega}\,&#10;\tilde{\Phi}_{i\vb*{r}}^{(z)}&#10;\Phi_{j\vb*{r}}^{(z)}&#10;\tilde{\Theta}^{(z)}_{\Omega_{i}\vb*{r}}&#10;\Theta^{(z)}_{\Omega_{j}\vb*{r}}&#10;+&#10;\beta_{ip}^{*}\beta_{j\left(p+1\right)}&#10;\int_{\mathcal{S}} \mathrm{d}\vb{\Omega}\,&#10;\tilde{\Phi}_{i\vb*{r}}^{(x)}&#10;\Phi_{j\vb*{r}}^{(y)}&#10;\tilde{\Theta}^{(x)}_{\Omega_{i}\vb*{r}}&#10;\Theta^{(y)}_{\Omega_{j}\vb*{r}}&#10;+&#10;\beta_{ip}^{*}\beta_{j\left(p-1\right)}&#10;\int_{\mathcal{S}} \mathrm{d}\vb{\Omega}\,&#10;\tilde{\Phi}_{i\vb*{r}}^{(y)}&#10;\Phi_{j\vb*{r}}^{(x)}&#10;\tilde{\Theta}^{(y)}_{\Omega_{i}\vb*{r}}&#10;\Theta^{(x)}_{\Omega_{j}\vb*{r}}&#10;\right)&#10;\\&#10;&amp; =&#10;\left(&#10;\sum_{ p\in\left\{x,y,z\right\} }&#10;\beta_{ip}^{*}\beta_{jp}&#10;\right)&#10;\int_{\mathcal{S}} \mathrm{d}\vb{\Omega}\,&#10;\tilde{\Phi}_{i\vb*{r}}^{(z)}&#10;\Phi_{j\vb*{r}}^{(z)}&#10;\tilde{\Theta}^{(z)}_{\Omega_{i}\vb*{r}}&#10;\Theta^{(z)}_{\Omega_{j}\vb*{r}}&#10;+&#10;\left(&#10;\sum_{ p\in\left\{x,y,z\right\} }&#10;\sigma_{i}\sigma_{j}\beta_{ip}^{*}\beta_{j\left(p+1\right)}&#10;+&#10;\beta_{ip}^{*}\beta_{j\left(p-1\right)}&#10;\right)&#10;\int_{\mathcal{S}} \mathrm{d}\vb{\Omega}\,&#10;\tilde{\Phi}_{i\vb*{r}}^{(y)}&#10;\Phi_{j\vb*{r}}^{(x)}&#10;\tilde{\Theta}^{(y)}_{\Omega_{i}\vb*{r}}&#10;\Theta^{(x)}_{\Omega_{j}\vb*{r}}&#10;\end{align*}&#10;&#10;\end{document}" title="IguanaTex Bitmap Display">
            <a:extLst>
              <a:ext uri="{FF2B5EF4-FFF2-40B4-BE49-F238E27FC236}">
                <a16:creationId xmlns:a16="http://schemas.microsoft.com/office/drawing/2014/main" id="{77EDBA8F-60E3-4F30-BC80-5F9CBFE38D9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0838" y="3218304"/>
            <a:ext cx="11310327" cy="1410439"/>
          </a:xfrm>
          <a:prstGeom prst="rect">
            <a:avLst/>
          </a:prstGeom>
        </p:spPr>
      </p:pic>
      <p:pic>
        <p:nvPicPr>
          <p:cNvPr id="19" name="Picture 18" descr="\documentclass{article}&#10;\usepackage{amsmath,bm,physics,mathtools}&#10;\pagestyle{empty}&#10;\begin{document}&#10;&#10;\begin{align*}&#10;\vb*{\rho}_{ij\left\{r\right\}}&#10;&amp; =&#10;p_{\parallel(\mathcal{W})_{01}}&#10;\vb*{\rho}_{\left(m\zeta lk;\lambda\eta\right)_{ij}\left\{r\right\}}^{\left(\parallel\right)}&#10;+&#10;p_{\perp(\mathcal{W})_{01}}&#10;\vb*{\rho}_{\left(m\zeta lk;\lambda\eta\right)_{ij}\left\{r\right\}}^{\left(\perp\right)}&#10;\\&#10;\vb*{\rho}_{\left(m\zeta lk;\lambda\eta\right)_{ij}\left\{r\right\}}^{\left(\parallel\right)}&#10;&amp; \coloneqq&#10;\int_{\mathcal{S}} \mathrm{d}\vb{\Omega}\,&#10;\tilde{\Phi}_{i\vb*{r}}^{(z)}&#10;\Phi_{j\vb*{r}}^{(z)}&#10;\tilde{\Theta}^{(z)}_{\Omega_{i}\vb*{r}}&#10;\Theta^{(z)}_{\Omega_{j}\vb*{r}}&#10;\\&#10;\vb*{\rho}_{\left(m\zeta lk;\lambda\eta\right)_{ij}\left\{r\right\}}^{\left(\perp\right)}&#10;&amp; \coloneqq&#10;\int_{\mathcal{S}} \mathrm{d}\vb{\Omega}\,&#10;\tilde{\Phi}_{i\vb*{r}}^{(y)}&#10;\Phi_{j\vb*{r}}^{(x)}&#10;\tilde{\Theta}^{(y)}_{\Omega_{i}\vb*{r}}&#10;\Theta^{(x)}_{\Omega_{j}\vb*{r}}&#10;\end{align*}&#10;&#10;\end{document}" title="IguanaTex Bitmap Display">
            <a:extLst>
              <a:ext uri="{FF2B5EF4-FFF2-40B4-BE49-F238E27FC236}">
                <a16:creationId xmlns:a16="http://schemas.microsoft.com/office/drawing/2014/main" id="{ADC1399F-4DB7-4B32-86F0-9A04B0F3551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39733" y="5090789"/>
            <a:ext cx="5512535" cy="142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64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Coefficient involving parallel valleys</a:t>
            </a:r>
          </a:p>
        </p:txBody>
      </p:sp>
      <p:pic>
        <p:nvPicPr>
          <p:cNvPr id="13" name="Picture 12" descr="\documentclass{article}&#10;\usepackage{amsmath,bm,eufrak}&#10;\pagestyle{empty}&#10;\begin{document}&#10;&#10;\begin{equation*}&#10;p_{\parallel(\mathcal{W})_{01}}&#10;=&#10;\begin{pmatrix}&#10;\delta_{\sigma_{0}\sigma_{1}} &amp;           0 &amp;          0 &amp;          0 &amp;           0 &amp; 0 &amp; 0 &amp; 0 \\&#10;                            0 &amp;           1 &amp; \mathrm{i} &amp;          0 &amp;           0 &amp; 0 &amp; 0 &amp; 0 \\&#10;                            0 &amp; -\mathrm{i} &amp;          1 &amp;          0 &amp;           0 &amp; 0 &amp; 0 &amp; 0 \\&#10;                            0 &amp;           0 &amp;          0 &amp;          1 &amp; -\mathrm{i} &amp; 0 &amp; 0 &amp; 0 \\&#10;                            0 &amp;           0 &amp;          0 &amp; \mathrm{i} &amp;           1 &amp; 0 &amp; 0 &amp; 0 \\&#10;&#10;0 &amp; 0 &amp; 0 &amp; 0 &amp; 0 &amp; \delta_{\sigma_{0}\sigma_{1}} &amp;                             0 &amp;                             0 \\&#10;0 &amp; 0 &amp; 0 &amp; 0 &amp; 0 &amp;                             0 &amp; \delta_{\sigma_{0}\sigma_{1}} &amp;                             0 \\&#10;0 &amp; 0 &amp; 0 &amp; 0 &amp; 0 &amp;                             0 &amp;                             0 &amp; \delta_{\sigma_{0}\sigma_{1}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67121A8-4ED0-4FFF-AD04-E8569B4191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44002" y="2652535"/>
            <a:ext cx="6303996" cy="24289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62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Coefficient involving perpendicular valleys</a:t>
            </a:r>
          </a:p>
        </p:txBody>
      </p:sp>
      <p:pic>
        <p:nvPicPr>
          <p:cNvPr id="16" name="Picture 15" descr="\documentclass{article}&#10;\usepackage{amsmath,bm,eufrak}&#10;\pagestyle{empty}&#10;\begin{document}&#10;&#10;\begin{equation*}&#10;p_{\perp(\mathcal{W})_{01}}&#10;=&#10;\begin{pmatrix}&#10;2\delta_{\sigma_{0}\sigma_{1}} &amp;         0 &amp;         0 &amp;         0 &amp;        0 &amp; 0 &amp; 0 &amp; 0 \\&#10;                             0 &amp;        -1 &amp;  \sqrt{3} &amp;         0 &amp;        0 &amp; 0 &amp; 0 &amp; 0 \\&#10;                             0 &amp; -\sqrt{3} &amp;        -1 &amp;         0 &amp;        0 &amp; 0 &amp; 0 &amp; 0 \\&#10;                             0 &amp;         0 &amp;         0 &amp;        -1 &amp; \sqrt{3} &amp; 0 &amp; 0 &amp; 0 \\&#10;                             0 &amp;         0 &amp;         0 &amp; -\sqrt{3} &amp;       -1 &amp; 0 &amp; 0 &amp; 0 \\&#10;&#10;0 &amp; 0 &amp; 0 &amp; 0 &amp; 0 &amp; 0 &amp; 0 &amp; 0 \\&#10;0 &amp; 0 &amp; 0 &amp; 0 &amp; 0 &amp; 0 &amp; 0 &amp; 0 \\&#10;0 &amp; 0 &amp; 0 &amp; 0 &amp; 0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4251AC5C-282D-4E76-A2E8-3FCF7B5A5F9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21715" y="2858771"/>
            <a:ext cx="6148570" cy="242893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865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 – Parallel Axes</a:t>
            </a:r>
          </a:p>
        </p:txBody>
      </p:sp>
      <p:pic>
        <p:nvPicPr>
          <p:cNvPr id="8" name="Picture 7" descr="\documentclass{article}&#10;\usepackage{amsmath,amssymb,bm,physics,mathtools}&#10;\pagestyle{empty}&#10;\begin{document}&#10;&#10;\begin{align*}&#10;\vb*{\rho}_{\left(m\zeta lk;\lambda\eta\right)_{ij}\left\{r\right\}}^{\left(\parallel\right)}&#10;&amp; \coloneqq&#10;\int_{\mathcal{S}} \mathrm{d}\vb{\Omega}\,&#10;\tilde{\Phi}_{\left(m\zeta lk;\lambda\eta\right)_{i}}^{(Wz)}&#10;\Phi_{\left(m\zeta lk;\lambda\eta\right)_{j}}^{(Wz)}&#10;\tilde{\Theta}^{(z)}_{\Omega_{i}\vb*{r}}&#10;\Theta^{(z)}_{\Omega_{j}\vb*{r}}&#10;\\&#10;&amp; =&#10;\int_{\mathcal{S}} \mathrm{d}\vb{\Omega}\,&#10;\tilde{\Phi}_{\left(m\zeta lk;\lambda\eta\right)_{i}}^{(Wz)}&#10;\Phi_{\left(m\zeta lk;\lambda\eta\right)_{j}}^{(Wz)}&#10;\left[&#10;\delta_{\Omega_{i}\Omega_{j}}&#10;\left(&#10;1&#10;+&#10;\Theta^{(\upharpoonleft \! \upharpoonright)}&#10;\right)&#10;+&#10;\Theta_{(\Omega)_{ij}}^{(\upharpoonleft \! \downharpoonright)}&#10;\right]&#10;\\&#10;&amp; = &#10;\vb*{\rho}_{\left(m\zeta lk;\lambda\eta\right)_{ij}\left\{r\right\}}^{\left(\bullet\right)}&#10;+&#10;\vb*{\rho}_{\left(m\zeta lk;\lambda\eta\right)_{ij}\left\{r\right\}}^{\left(\upharpoonleft \! \upharpoonright\right)}&#10;+&#10;\vb*{\rho}_{\left(m\zeta lk;\lambda\eta\right)_{ij}\left\{r\right\}}^{\left(\upharpoonleft \! \downharpoonright\right)}&#10;\end{align*}&#10;&#10;\end{document}" title="IguanaTex Bitmap Display">
            <a:extLst>
              <a:ext uri="{FF2B5EF4-FFF2-40B4-BE49-F238E27FC236}">
                <a16:creationId xmlns:a16="http://schemas.microsoft.com/office/drawing/2014/main" id="{F878C7E3-3C23-4C50-A9E7-ED35A6E321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68576" y="2199129"/>
            <a:ext cx="8054849" cy="1785909"/>
          </a:xfrm>
          <a:prstGeom prst="rect">
            <a:avLst/>
          </a:prstGeom>
        </p:spPr>
      </p:pic>
      <p:pic>
        <p:nvPicPr>
          <p:cNvPr id="10" name="Picture 9" descr="\documentclass{article}&#10;\usepackage{amsmath,amssymb,bm,physics,mathtools}&#10;\pagestyle{empty}&#10;\begin{document}&#10;&#10;\begin{align*}&#10;\vb*{\rho}_{\left(m\zeta lk;\lambda\eta\right)_{ij}\left\{r\right\}}^{\left(\bullet\right)}&#10;&amp; \coloneqq&#10;\delta_{\Omega_{i}\Omega_{j}}&#10;\int_{\mathcal{S}} \mathrm{d}\vb{\Omega}\,&#10;\tilde{\Phi}_{\left(m\zeta lk;\lambda\eta\right)_{i}}^{(Wz)}&#10;\Phi_{\left(m\zeta lk;\lambda\eta\right)_{j}}^{(Wz)}&#10;\\&#10;\vb*{\rho}_{\left(m\zeta lk;\lambda\eta\right)_{ij}\left\{r\right\}}^{\left(\upharpoonleft \! \upharpoonright\right)}&#10;&amp; \coloneqq&#10;\int_{\mathcal{S}} \mathrm{d}\vb{\Omega}\,&#10;\tilde{\Phi}_{\left(m\zeta lk;\lambda\eta\right)_{i}}^{(Wz)}&#10;\Phi_{\left(m\zeta lk;\lambda\eta\right)_{j}}^{(Wz)}&#10;\delta_{\Omega_{i}\Omega_{j}}\Theta^{(\upharpoonleft \! \upharpoonright)}&#10;\\&#10;\vb*{\rho}_{\left(m\zeta lk;\lambda\eta\right)_{ij}\left\{r\right\}}^{\left(\upharpoonleft \! \downharpoonright\right)}&#10;&amp; \coloneqq&#10;\int_{\mathcal{S}} \mathrm{d}\vb{\Omega}\,&#10;\tilde{\Phi}_{\left(m\zeta lk;\lambda\eta\right)_{i}}^{(Wz)}&#10;\Phi_{\left(m\zeta lk;\lambda\eta\right)_{j}}^{(Wz)}&#10;\Theta_{(\Omega)_{ij}}^{(\upharpoonleft \! \downharpoonright)}&#10;\end{align*}&#10;&#10;\end{document}" title="IguanaTex Bitmap Display">
            <a:extLst>
              <a:ext uri="{FF2B5EF4-FFF2-40B4-BE49-F238E27FC236}">
                <a16:creationId xmlns:a16="http://schemas.microsoft.com/office/drawing/2014/main" id="{7D121B56-3CB6-447E-97E4-81E92768255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51433" y="4510530"/>
            <a:ext cx="6089134" cy="193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06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 – Perpendicular Axes</a:t>
            </a:r>
          </a:p>
        </p:txBody>
      </p:sp>
      <p:pic>
        <p:nvPicPr>
          <p:cNvPr id="8" name="Picture 7" descr="\documentclass{article}&#10;\usepackage{amsmath,amssymb,bm,physics,mathtools}&#10;\pagestyle{empty}&#10;\begin{document}&#10;&#10;\begin{align*}&#10;\vb*{\rho}_{\left(m\zeta lk;\lambda\eta\right)_{ij}\left\{r\right\}}^{\left(\perp\right)}&#10;&amp; \coloneqq&#10;\int_{\mathcal{S}} \mathrm{d}\vb{\Omega}\,&#10;\tilde{\Phi}_{i\vb*{r}}^{(y)}&#10;\Phi_{j\vb*{r}}^{(x)}&#10;\tilde{\Theta}^{(y)}_{\Omega_{i}\vb*{r}}&#10;\Theta^{(x)}_{\Omega_{j}\vb*{r}}&#10;\\&#10;&amp; =&#10;\int_{\mathcal{S}} \mathrm{d}\vb{\Omega}\,&#10;\tilde{\Phi}_{\left(m\zeta lk;\lambda\eta\right)_{i}}^{(Wy)}&#10;\Phi_{\left(m\zeta lk;\lambda\eta\right)_{j}}^{(Wx)}&#10;\Theta_{(\Omega)_{12}}^{(\perp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FE82F3C-9FDF-48BE-9B90-B7B4098A6E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80765" y="3198196"/>
            <a:ext cx="5630470" cy="125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5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Integrand Contributions</a:t>
            </a:r>
          </a:p>
        </p:txBody>
      </p:sp>
      <p:pic>
        <p:nvPicPr>
          <p:cNvPr id="8" name="Picture 7" descr="\documentclass{article}&#10;\usepackage{amsmath,amssymb,bm,physics,mathtools}&#10;\pagestyle{empty}&#10;\begin{document}&#10;&#10;\begin{align*}&#10;\tilde{\Phi}_{\left(m\zeta lk;\lambda\eta\right)_{i}}^{(Wz)}&#10;\Phi_{\left(m\zeta lk;\lambda\eta\right)_{j}}^{(Wz)}&#10;&amp; =&#10;\hat{Q}_{\left(m\zeta\right)_{i}}^{(p)}&#10;\hat{Q}_{\left(m\zeta\right)_{i}}^{(q)}&#10;\hat{\mathcal{P}}_{\left(\lambda;lm\right)_{i}}^{(p)}&#10;\hat{\mathcal{P}}_{\left(\lambda;lm\right)_{i}}^{(q)}&#10;\mathcal{R} _{\left(\check{\eta}_{p};kl\right)_{i}\left\{r\right\}} ^{\left(W\right)}&#10;\mathcal{R} _{\left(\check{\eta}_{q};kl\right)_{j}\left\{r\right\}} ^{\left(W\right)}&#10;\\&#10;\mathcal{R} _{\left(\check{\eta}_{p};kl\right)_{i}\left\{r\right\}} ^{\left(W\right)}&#10;\mathcal{R} _{\left(\check{\eta}_{q};kl\right)_{j}\left\{r\right\}} ^{\left(W\right)}&#10;&amp; =&#10;\left(\frac{2}{Wa_{\perp}}\right)^{3}&#10;\frac{W}{\left(\check{\eta}_{ip}\check{\eta}_{jq}\right)^{\frac{3}{2}}}&#10;\left[&#10;\rho_{ip}^{\frac{l_{i}}{W}}\mathrm{e}^{-\rho_{iz}/2}&#10;\hat{L}_{k_{i}\left\{\rho_{ip}\right\}}^{\left(\frac{2l_{i}+3-W}{W}\right)}&#10;\right]&#10;\left[&#10;\rho_{jq}^{\frac{l_{j}}{W}}\mathrm{e}^{-\rho_{jz}/2}&#10;\hat{L}_{k_{j}\left\{\rho_{jq}\right\}}^{\left(\frac{2l_{j}+3-W}{W}\right)}&#10;\right]&#10;\end{align*}&#10;&#10;\end{document}" title="IguanaTex Bitmap Display">
            <a:extLst>
              <a:ext uri="{FF2B5EF4-FFF2-40B4-BE49-F238E27FC236}">
                <a16:creationId xmlns:a16="http://schemas.microsoft.com/office/drawing/2014/main" id="{A2394B00-DB66-46F9-A8A5-3882A77F5F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0097" y="2328850"/>
            <a:ext cx="10451807" cy="1304388"/>
          </a:xfrm>
          <a:prstGeom prst="rect">
            <a:avLst/>
          </a:prstGeom>
        </p:spPr>
      </p:pic>
      <p:pic>
        <p:nvPicPr>
          <p:cNvPr id="46" name="Picture 45" descr="\documentclass{article}&#10;\usepackage{amsmath,bm,eufrak}&#10;\pagestyle{empty}&#10;\begin{document}&#10;&#10;\begin{equation*}&#10;\check{\eta}_{ip}&#10;= &#10;\frac{ \eta_{i} }{ \vartheta_{ip} }&#10;\quad\quad&#10;\vartheta_{ip} = \sqrt{ 1 + \left(\lambda_{i}^{2}-1\right)\chi_{p}^{2} }&#10;\quad\quad&#10;\rho_{ip} = \left(\frac{2r}{Wa_\perp\check{\eta}_{ip}}\right)^{W}&#10;\end{equation*}&#10;&#10;\end{document}" title="IguanaTex Bitmap Display">
            <a:extLst>
              <a:ext uri="{FF2B5EF4-FFF2-40B4-BE49-F238E27FC236}">
                <a16:creationId xmlns:a16="http://schemas.microsoft.com/office/drawing/2014/main" id="{71BE06B1-EC1D-45DD-8FE3-33FCE53D51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85715" y="5538614"/>
            <a:ext cx="6820571" cy="670476"/>
          </a:xfrm>
          <a:prstGeom prst="rect">
            <a:avLst/>
          </a:prstGeom>
        </p:spPr>
      </p:pic>
      <p:pic>
        <p:nvPicPr>
          <p:cNvPr id="40" name="Picture 39" descr="\documentclass{article}&#10;\usepackage{amsmath,bm,eufrak}&#10;\pagestyle{empty}&#10;\begin{document}&#10;&#10;\begin{equation*}&#10;\Phi_{\left(m\zeta lk;\lambda\eta\right)_{i}}^{(Wp)}&#10;= &#10;\hat{Q}_{\left(m\zeta\right)_{i}}^{(p)}&#10;\hat{\mathcal{P}}_{\left(\lambda;lm\right)_{i}}^{(p)}&#10;\mathcal{R} _{\left(\check{\eta}_{p};kl\right)_{i}\left\{r\right\}} ^{\left(W\right)}&#10;\quad\quad&#10;\mathcal{R}&#10;_{\eta;kl\left\{r\right\}}&#10;^{\left(W\right)}&#10;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EBB544A0-7278-41DC-BA7D-9434C30CDAD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8193" y="4173736"/>
            <a:ext cx="11495614" cy="82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38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Radial Contribution – Elaboration I</a:t>
            </a:r>
          </a:p>
        </p:txBody>
      </p:sp>
      <p:pic>
        <p:nvPicPr>
          <p:cNvPr id="11" name="Picture 10" descr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\left(\frac{2}{Wa_{\perp}}\right)^{3}&#10;\frac{W}{\left(\check{\eta}_{ip}\check{\eta}_{jq}\right)^{\frac{3}{2}}}&#10;\left[&#10;\rho_{ip}^{\frac{l_{i}}{W}}\mathrm{e}^{-\rho_{ip}/2}&#10;\hat{L}_{k_{i}\left\{\rho_{ip}\right\}}^{\left(\frac{2l_{i}+3-W}{W}\right)}&#10;\right]&#10;\left[&#10;\rho_{jq}^{\frac{l_{j}}{W}}\mathrm{e}^{-\rho_{jq}/2}&#10;\hat{L}_{k_{j}\left\{\rho_{jq}\right\}}^{\left(\frac{2l_{j}+3-W}{W}\right)}&#10;\right]&#10;\\&#10;&amp; =&#10;Wr^{-3}&#10;\rho_{ip}^{\frac{l_{i}+\frac{3}{2}}{W}}\rho_{jq}^{\frac{l_{j}+\frac{3}{2}}{W}}&#10;\mathrm{e}^{-\hat{\rho}_{ij}^{(pq)}}&#10;\hat{L}_{k_{i}\left\{\rho_{ip}\right\}}^{\left(\frac{2l_{i}+3-W}{W}\right)}&#10;\hat{L}_{k_{j}\left\{\rho_{jq}\right\}}^{\left(\frac{2l_{j}+3-W}{W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20D8D7B-E6AE-4A51-9410-FF31106A04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7047" y="1888584"/>
            <a:ext cx="10448764" cy="1415622"/>
          </a:xfrm>
          <a:prstGeom prst="rect">
            <a:avLst/>
          </a:prstGeom>
        </p:spPr>
      </p:pic>
      <p:pic>
        <p:nvPicPr>
          <p:cNvPr id="9" name="Picture 8" descr="\documentclass{article}&#10;\usepackage{amsmath,bm,eufrak,mathtools}&#10;\pagestyle{empty}&#10;\begin{document}&#10;&#10;\begin{align*}&#10;\hat{\rho}_{ij}^{(pq)}&#10;\coloneqq&#10;\frac{\rho_{ip}+\rho_{jq}}{2}&#10;&amp; = &#10;\left(\frac{2r}{Wa_{\perp}\hat{\eta}_{ij}^{(pq)}}\right)^{W}&#10;=&#10;\rho_{ij}\left(\hat{\vartheta}_{ij}^{(pq)}\hat{\Xi}_{ij}^{(pq)}\right)^{W}&#10;\quad\quad&#10;\hat{\eta}_{ij}^{(pq)}&#10;\coloneqq&#10;\frac{\eta_{ij}}{\hat{\vartheta}_{ij}^{(pq)}\hat{\Xi}_{ij}^{(pq)}}&#10;\quad\quad&#10;\rho_{ij}&#10;\coloneq&#10;\left(\frac{2r}{Wa_{\perp}\eta_{ij}}\right)^{W}&#10;\end{align*}&#10;&#10;\end{document}" title="IguanaTex Bitmap Display">
            <a:extLst>
              <a:ext uri="{FF2B5EF4-FFF2-40B4-BE49-F238E27FC236}">
                <a16:creationId xmlns:a16="http://schemas.microsoft.com/office/drawing/2014/main" id="{A1CB3EA4-BF9B-40AE-B89F-1FA35B1FB6E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85719" y="4097145"/>
            <a:ext cx="11620562" cy="844191"/>
          </a:xfrm>
          <a:prstGeom prst="rect">
            <a:avLst/>
          </a:prstGeom>
          <a:ln>
            <a:noFill/>
          </a:ln>
        </p:spPr>
      </p:pic>
      <p:pic>
        <p:nvPicPr>
          <p:cNvPr id="47" name="Picture 46" descr="\documentclass{article}&#10;\usepackage{amsmath,bm,mathtools}&#10;\pagestyle{empty}&#10;\begin{document}&#10;&#10;\begin{equation*}&#10;\delta_{ij}&#10;\coloneqq&#10;\frac{\eta_{j}^{W}-\eta_{i}^{W}}{\eta_{i}^{W}+\eta_{j}^{W}}&#10;\quad\quad&#10;\hat{\epsilon}_{ij}^{(pq)}&#10;\coloneqq&#10;\frac&#10;{\vartheta_{ip}^{W}-\vartheta_{jq}^{W}}&#10;{\vartheta_{ip}^{W}+\vartheta_{jq}^{W}}&#10;\quad\quad&#10;\eta_{ij}^{W}&#10;\coloneqq&#10;\frac&#10;{2\eta_{i}^{W}\eta_{j}^{W}}&#10;{\eta_{i}^{W}+\eta_{j}^{W}}&#10;\quad\quad&#10;\left(\hat{\vartheta}_{ij}^{(pq)}\right)^{W}&#10;\coloneqq&#10;\frac&#10;{\vartheta_{ip}^{W}+\vartheta_{jq}^{W}}&#10;{2}&#10;\quad\quad&#10;\left(\hat{\Xi}_{ij}^{(pq)}\right)^{W}&#10;\coloneqq&#10;1+\delta_{ij}\hat{\epsilon}_{ij}^{(pq)}&#10;\end{equation*}&#10;&#10;\end{document}" title="IguanaTex Bitmap Display">
            <a:extLst>
              <a:ext uri="{FF2B5EF4-FFF2-40B4-BE49-F238E27FC236}">
                <a16:creationId xmlns:a16="http://schemas.microsoft.com/office/drawing/2014/main" id="{F2B1FC7F-004E-48C6-A651-46DC178A939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63810" y="5764751"/>
            <a:ext cx="10264380" cy="55832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37750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Radial Contribution – Elaboration II</a:t>
            </a:r>
          </a:p>
        </p:txBody>
      </p:sp>
      <p:pic>
        <p:nvPicPr>
          <p:cNvPr id="18" name="Picture 17" descr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Wr^{-3}&#10;\rho_{ip}^{\frac{l_{i}+\frac{3}{2}}{W}}\rho_{jq}^{\frac{l_{j}+\frac{3}{2}}{W}}&#10;\mathrm{e}^{-\hat{\rho}_{ij}^{(pq)}}&#10;\hat{L}_{k_{i}\left\{\rho_{ip}\right\}}^{\left(\frac{2l_{i}+3-W}{W}\right)}&#10;\hat{L}_{k_{j}\left\{\rho_{jq}\right\}}^{\left(\frac{2l_{j}+3-W}{W}\right)}&#10;\\&#10;&amp; =&#10;Wr^{-3}&#10;\rho_{ij}^{\frac{l_{i}+l_{j}+3}{W}}&#10;\left(\frac{\vartheta_{ip}\eta_{ij}}{\eta_{i}}\right)^{l_{i}+\frac{3}{2}}\left(\frac{\vartheta_{jq}\eta_{ij}}{\eta_{j}}\right)^{l_{j}+\frac{3}{2}}&#10;\mathrm{e}^{-\hat{\rho}_{ij}^{(pq)}}&#10;\hat{L}_{k_{i}\left\{\rho_{ip}\right\}}^{\left(\frac{2l_{i}+3-W}{W}\right)}&#10;\hat{L}_{k_{j}\left\{\rho_{jq}\right\}}^{\left(\frac{2l_{j}+3-W}{W}\right)}&#10;\\&#10;&amp; =&#10;\frac{2\left(2/W\right)^{2}}{a_{\perp}^{3}\eta_{ij}^{3}}&#10;\rho_{ij}^{\frac{l_{i}+l_{j}}{W}}&#10;\left(\frac{\vartheta_{ip}\eta_{ij}}{\eta_{i}}\right)^{l_{i}+\frac{3}{2}}\left(\frac{\vartheta_{jq}\eta_{ij}}{\eta_{j}}\right)^{l_{j}+\frac{3}{2}}&#10;\mathrm{e}^{-\hat{\rho}_{ij}^{(pq)}}&#10;\hat{L}_{k_{i}\left\{\rho_{ip}\right\}}^{\left(\frac{2l_{i}+3}{W}-1\right)}&#10;\hat{L}_{k_{i}\left\{\rho_{jq}\right\}}^{\left(\frac{2l_{j}+3}{W}-1\right)}&#10;\\&#10;\hat{L}_{k_{i}\left\{\rho_{ip}\right\}}^{\left(\frac{2l_{i}+3}{W}-1\right)}&#10;\hat{L}_{k_{j}\left\{\rho_{jq}\right\}}^{\left(\frac{2l_{j}+3}{W}-1\right)}&#10;&amp; =&#10;\left[&#10;\sum_{n_{i}=0}^{n_{i}=k_{i}}&#10;\frac{ (-1)^{n_{i}} }{ n_{i}! }\binom{ \frac{2l_{i}+3}{W}+k_{i}-1 }{ k_{i}-n_{i} }\rho_{ip}^{n_{i}}&#10;\right]&#10;\left[&#10;\sum_{n_{j}=0}^{n_{j}=k_{j}}&#10;\frac{ (-1)^{n_{j}} }{ n_{j}! }\binom{ \frac{2l_{j}+3}{W}+k_{j}-1 }{ k_{j}-n_{j} }\rho_{jq}^{n_{j}}&#10;\right]&#10;\\&#10;\end{align*}&#10;&#10;\end{document}" title="IguanaTex Bitmap Display">
            <a:extLst>
              <a:ext uri="{FF2B5EF4-FFF2-40B4-BE49-F238E27FC236}">
                <a16:creationId xmlns:a16="http://schemas.microsoft.com/office/drawing/2014/main" id="{FA94BAA3-829F-4949-96AF-6FFE23EFBA6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2955" y="2040992"/>
            <a:ext cx="10765719" cy="3232011"/>
          </a:xfrm>
          <a:prstGeom prst="rect">
            <a:avLst/>
          </a:prstGeom>
        </p:spPr>
      </p:pic>
      <p:pic>
        <p:nvPicPr>
          <p:cNvPr id="15" name="Picture 14" descr="\documentclass{article}&#10;\usepackage{amsmath,bm,eufrak,mathtools}&#10;\pagestyle{empty}&#10;\begin{document}&#10;&#10;\begin{equation*}&#10;\rho_{ip}&#10;=&#10;\rho_{ij}&#10;\left(\frac{ \vartheta_{ip}\eta_{ij} }{ \eta_{i} }\right)^{W}&#10;\quad\quad&#10;\rho_{jq}&#10;=&#10;\rho_{ij}&#10;\left(\frac{ \vartheta_{jq}\eta_{ij} }{ \eta_{j} }\right)^{W}&#10;\end{equation*}&#10;&#10;\end{document}" title="IguanaTex Bitmap Display">
            <a:extLst>
              <a:ext uri="{FF2B5EF4-FFF2-40B4-BE49-F238E27FC236}">
                <a16:creationId xmlns:a16="http://schemas.microsoft.com/office/drawing/2014/main" id="{F703219D-342E-41EB-957D-B9BB172230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07048" y="5631405"/>
            <a:ext cx="5177904" cy="6720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372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Radial Contribution – Elaboration III</a:t>
            </a:r>
          </a:p>
        </p:txBody>
      </p:sp>
      <p:pic>
        <p:nvPicPr>
          <p:cNvPr id="12" name="Picture 11" descr="\documentclass{article}&#10;\usepackage{amsmath,amssymb,bm,physics,mathtools}&#10;\pagestyle{empty}&#10;\begin{document}&#10;&#10;\begin{align*}&#10;\hat{L}_{k_{i}\left\{\rho_{ip}\right\}}^{\left(\frac{2l_{i}+3-W}{W}\right)}&#10;\hat{L}_{k_{j}\left\{\rho_{jq}\right\}}^{\left(\frac{2l_{j}+3-W}{W}\right)}&#10;&amp; =&#10;\left[&#10;\sum_{n_{i}=0}^{n_{i}=k_{i}}&#10;\frac{ (-1)^{n_{i}} }{ n_{i}! }\binom{ \frac{2l_{i}+3}{W}+k_{i}-1 }{ k_{i}-n_{i} }\rho_{ip}^{n_{i}}&#10;\right]&#10;\left[&#10;\sum_{n_{j}=0}^{n_{j}=k_{j}}&#10;\frac{ (-1)^{n_{j}} }{ n_{j}! }\binom{ \frac{2l_{j}+3}{W}+k_{j}-1 }{ k_{j}-n_{j} }\rho_{jq}^{n_{j}}&#10;\right]&#10;\\&#10;&amp; =&#10;\sum_{n_{i}=0}^{n_{i}=k_{i}}&#10;\sum_{n_{j}=0}^{n_{j}=k_{j}}&#10;\rho_{ij}^{n_{i}+n_{j}}&#10;\left(\frac{ \eta_{ij}\vartheta_{ip} }{ \eta_{i} }\right)^{Wn_{i}}&#10;\left(\frac{ \eta_{ij}\vartheta_{jq} }{ \eta_{j} }\right)^{Wn_{j}}&#10;\mathfrak{C}_{ij;\left(n\right)_{ij}}^{(W)}&#10;\\&#10;\mathfrak{C}_{ij;\left(n\right)_{ij}}^{(W)}&#10;&amp; \coloneqq&#10;\frac{ (-1)^{n_{i}+n_{j}} }{ n_{i}!n_{j}! }&#10;\binom{ \frac{2l_{i}+3-W}{W}+k_{i} }{ k_{i}-n_{i} }&#10;\binom{ \frac{2l_{j}+3-W}{W}+k_{j} }{ k_{j}-n_{j} }&#10;\\&#10;\end{align*}&#10;&#10;\end{document}" title="IguanaTex Bitmap Display">
            <a:extLst>
              <a:ext uri="{FF2B5EF4-FFF2-40B4-BE49-F238E27FC236}">
                <a16:creationId xmlns:a16="http://schemas.microsoft.com/office/drawing/2014/main" id="{D7BD7E25-4F49-471E-A15C-1AA3AEB048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4094" y="2162075"/>
            <a:ext cx="10803812" cy="2646859"/>
          </a:xfrm>
          <a:prstGeom prst="rect">
            <a:avLst/>
          </a:prstGeom>
        </p:spPr>
      </p:pic>
      <p:pic>
        <p:nvPicPr>
          <p:cNvPr id="10" name="Picture 9" descr="\documentclass{article}&#10;\usepackage{amsmath,bm,eufrak,mathtools}&#10;\pagestyle{empty}&#10;\begin{document}&#10;&#10;\begin{equation*}&#10;\rho_{ip}&#10;=&#10;\rho_{ij}&#10;\left(\frac{ \vartheta_{ip}\eta_{ij} }{ \eta_{i} }\right)^{W}&#10;\quad\quad&#10;\rho_{jq}&#10;=&#10;\rho_{ij}&#10;\left(\frac{ \vartheta_{jq}\eta_{ij} }{ \eta_{j} }\right)^{W}&#10;\end{equation*}&#10;&#10;\end{document}" title="IguanaTex Bitmap Display">
            <a:extLst>
              <a:ext uri="{FF2B5EF4-FFF2-40B4-BE49-F238E27FC236}">
                <a16:creationId xmlns:a16="http://schemas.microsoft.com/office/drawing/2014/main" id="{D65CB539-5F2C-4453-BF9F-5839304B08B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07048" y="5428204"/>
            <a:ext cx="5177904" cy="6720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7987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Radial Contribution – Elaboration IV</a:t>
            </a:r>
          </a:p>
        </p:txBody>
      </p:sp>
      <p:pic>
        <p:nvPicPr>
          <p:cNvPr id="30" name="Picture 29" descr="\documentclass{article}&#10;\usepackage{amsmath,amssymb,bm,physics,mathtools}&#10;\pagestyle{empty}&#10;\begin{document}&#10;&#10;\begin{align*}&#10;\hat{L}_{k_{i}\left\{\rho_{ip}\right\}}^{\left(\frac{2l_{i}+3-W}{W}\right)}&#10;\hat{L}_{k_{j}\left\{\rho_{jq}\right\}}^{\left(\frac{2l_{j}+3-W}{W}\right)}&#10;&amp; =&#10;\sum_{n_{i}=0}^{n_{i}=k_{i}}&#10;\sum_{n_{j}=0}^{n_{j}=k_{j}}&#10;\rho_{ij}^{n_{i}+n_{j}}&#10;\left(\frac{ \eta_{ij}\vartheta_{ip} }{ \eta_{i} }\right)^{Wn_{i}}&#10;\left(\frac{ \eta_{ij}\vartheta_{jq} }{ \eta_{j} }\right)^{Wn_{j}}&#10;\mathfrak{C}_{ij;\left(n\right)_{ij}}^{(W)}&#10;\\&#10;\mathcal{R} _{\left(\check{\eta}_{p};kl\right)_{i}\left\{r\right\}} ^{\left(W\right)}&#10;\mathcal{R} _{\left(\check{\eta}_{q};kl\right)_{j}\left\{r\right\}} ^{\left(W\right)}&#10;&amp; =&#10;\frac{1}{a_{\perp}^{3}}&#10;\mathfrak{D}_{ij}^{(W)}&#10;\rho_{ij}^{\frac{l_{i}+l_{j}}{W}}&#10;\mathrm{e}^{-\rho_{ij}\left(\hat{\vartheta}_{ij}^{(pq)}\hat{\Xi}_{ij}^{(pq)}\right)^{W}}&#10;\left(\frac{ \eta_{ij}\vartheta_{ip} }{ \eta_{i} }\right)^{l_{i}+\frac{3}{2}}&#10;\left(\frac{ \eta_{ij}\vartheta_{jq} }{ \eta_{j} }\right)^{l_{j}+\frac{3}{2}}&#10;\hat{L}_{k_{i}\left\{\rho_{ip}\right\}}^{\left(\frac{2l+3-W}{W}\right)}&#10;\hat{L}_{k_{i}\left\{\rho_{jq}\right\}}^{\left(\frac{2l+3-W}{W}\right)}&#10;\\&#10;\mathfrak{D}_{ij}^{(W)}&#10;&amp; \coloneqq&#10;\frac{2\left(\frac{2}{W}\right)^{2}}{\eta_{ij}^{3}}&#10;\\&#10;\end{align*}&#10;&#10;\end{document}" title="IguanaTex Bitmap Display">
            <a:extLst>
              <a:ext uri="{FF2B5EF4-FFF2-40B4-BE49-F238E27FC236}">
                <a16:creationId xmlns:a16="http://schemas.microsoft.com/office/drawing/2014/main" id="{13D9D072-4B5D-40D1-9DCF-E1827D730F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8101" y="2148162"/>
            <a:ext cx="11795798" cy="247773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2" name="Picture 31" descr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D}_{ij}^{(W)}&#10;\rho_{ij}^{\frac{l_{i}+l_{j}}{W}}&#10;\sum_{n_{i}=0}^{n_{i}=k_{i}}&#10;\sum_{n_{j}=0}^{n_{j}=k_{j}}&#10;\rho^{n_{i}+n_{j}}&#10;\mathfrak{C}_{ij;\left(n\right)_{ij}}^{(W)}&#10;\left(\sqrt{\frac{ \eta_{ij}\vartheta_{ip} }{ \eta_{i} }}\right)^{2Wn_{i}+2l_{i}+3}&#10;\left(\sqrt{\frac{ \eta_{ij}\vartheta_{jq} }{ \eta_{j} }}\right)^{2Wn_{j}+2l_{j}+3}&#10;\mathrm{e}^{-\rho_{ij}\left(\hat{\vartheta}_{ij}^{(pq)}\hat{\Xi}_{ij}^{(pq)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7578FE8-B33F-41EE-8C63-1BB530D6D3E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7694" y="5170763"/>
            <a:ext cx="11456613" cy="70582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92381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Radial Contribution – Elaboration V</a:t>
            </a:r>
          </a:p>
        </p:txBody>
      </p:sp>
      <p:pic>
        <p:nvPicPr>
          <p:cNvPr id="22" name="Picture 21" descr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\frac{1}{a_{\perp}^{3}}&#10;\mathfrak{D}_{ij}^{(W)}&#10;\rho_{ij}^{\frac{l_{i}+l_{j}}{W}}&#10;\sum_{n_{i}=0}^{n_{i}=k_{i}}&#10;\sum_{n_{j}=0}^{n_{j}=k_{j}}&#10;\rho_{ij}^{n_{i}+n_{j}}&#10;\mathfrak{C}_{ij;\left(n\right)_{ij}}^{(W)}&#10;\mathcal{F}_{ij;\left(n\right)_{ij}}^{(W)(pq)}&#10;\\&#10;&amp; =&#10;\frac{1}{a_{\perp}^{3}}&#10;\mathfrak{D}_{ij}^{(W)}&#10;\rho_{ij}^{\frac{l_{i}+l_{j}}{W}}&#10;\sum_{n=0}^{n=k_{i}+k_{j}}&#10;\rho_{ij}^{n}&#10;\sum_{n_{i}=0}^{n_{i}=k_{i}}&#10;\sum_{n_{j}=0}^{n_{j}=k_{j}}&#10;\delta_{n_{i}+n_{j},n}&#10;\mathfrak{C}_{ij;n_{i}\left(n-n_{j}\right)}^{(W)}&#10;\mathcal{F}_{ij;n_{i}\left(n-n_{j}\right)}^{(W)(pq)}&#10;\\&#10;&amp; =&#10;\frac{1}{a_{\perp}^{3}}&#10;\mathfrak{D}_{ij}^{(W)}&#10;\rho_{ij}^{\frac{l_{i}+l_{j}}{W}}&#10;\sum_{n=0}^{n=k_{i}+k_{j}}&#10;\rho_{ij}^{n}&#10;\sum_{n_{i}=0}^{n_{i}=\text{Min}\left(k_{i},n-k_{j}\right)}&#10;\mathfrak{C}_{ij;n_{i}\left(n-n_{j}\right)}^{(W)}&#10;\mathcal{F}_{ij;n_{i}\left(n-n_{j}\right)}^{(W)(zz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AFED06B-FF6D-4C04-BFEE-7607E5E870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25909" y="1935658"/>
            <a:ext cx="10235423" cy="272610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0" name="Picture 19" descr="\documentclass{article}&#10;\usepackage{amsmath,amssymb,bm,physics,mathtools}&#10;\pagestyle{empty}&#10;\begin{document}&#10;&#10;\begin{equation*}&#10;\mathfrak{D}_{ij}^{(W)}&#10;\coloneqq&#10;\frac{8}{W^{2}\eta_{ij}^{3}}&#10;\quad\quad&#10;\rho_{ij}&#10;\coloneqq&#10;\left(\frac{2}{W\eta_{ij}}\frac{r}{a_{\perp}}\right)^{W}&#10;\quad\quad&#10;\mathcal{F}_{ij;\left(n\right)_{ij}}^{(W)(pq)}&#10;\coloneqq&#10;\left(\frac{ \eta_{ij}\vartheta_{ip} }{ \eta_{i} }\right)^{Wn_{i}+l_{i}+\frac{3}{2}}&#10;\left(\frac{ \eta_{ij}\vartheta_{jq} }{ \eta_{j} }\right)^{Wn_{j}+l_{j}+\frac{3}{2}}&#10;\mathrm{e}^{-\rho_{ij}\left(\hat{\vartheta}_{ij}^{(pq)}\hat{\Xi}_{ij}^{(pq)}\right)^{W}}&#10;\end{equation*}&#10;&#10;\end{document}" title="IguanaTex Bitmap Display">
            <a:extLst>
              <a:ext uri="{FF2B5EF4-FFF2-40B4-BE49-F238E27FC236}">
                <a16:creationId xmlns:a16="http://schemas.microsoft.com/office/drawing/2014/main" id="{3EA0C09D-DA9E-448F-9504-52CDA7E130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52190" y="5024766"/>
            <a:ext cx="10133944" cy="588801"/>
          </a:xfrm>
          <a:prstGeom prst="rect">
            <a:avLst/>
          </a:prstGeom>
          <a:noFill/>
        </p:spPr>
      </p:pic>
      <p:pic>
        <p:nvPicPr>
          <p:cNvPr id="6" name="Picture 5" descr="\documentclass{article}&#10;\usepackage{amsmath,amssymb,bm,physics,mathtools}&#10;\pagestyle{empty}&#10;\begin{document}&#10;&#10;\begin{align*}&#10;\mathfrak{C}_{ij;\left(n\right)_{ij}}^{(W)}&#10;&amp; \coloneqq&#10;\frac{ (-1)^{n_{i}+n_{j}} }{ n_{i}!n_{j}! }&#10;\binom{ \frac{2l_{i}+3-W}{W}+k_{i} }{ k_{i}-n_{i} }&#10;\binom{ \frac{2l_{j}+3-W}{W}+k_{j} }{ k_{j}-n_{j} }&#10;\\&#10;\end{align*}&#10;&#10;\end{document}" title="IguanaTex Bitmap Display">
            <a:extLst>
              <a:ext uri="{FF2B5EF4-FFF2-40B4-BE49-F238E27FC236}">
                <a16:creationId xmlns:a16="http://schemas.microsoft.com/office/drawing/2014/main" id="{6655EC94-E32E-4870-B63A-AB8E3663379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79847" y="5976575"/>
            <a:ext cx="4832306" cy="5363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83410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Radial Contribution – Final Statement</a:t>
            </a:r>
          </a:p>
        </p:txBody>
      </p:sp>
      <p:pic>
        <p:nvPicPr>
          <p:cNvPr id="19" name="Picture 18" descr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\frac{1}{a_{\perp}^{3}}&#10;\mathfrak{D}_{ij}^{(W)}&#10;\rho_{ij}^{\frac{l_{i}+l_{j}}{W}}&#10;\sum_{n=0}^{n=k_{i}+k_{j}}&#10;\left(-1\right)^{n}\rho_{ij}^{n}&#10;\sum_{n_{i}=0}^{n_{i}=\text{Min}\left(k_{i},n-k_{j}\right)}&#10;\acute{\mathfrak{C}}_{ij;nn_{i}}^{(W)}&#10;\mathcal{F}_{ij;nn_{i}}^{(W)(zz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E36931B-1EE2-44A4-B840-CDE3D3865B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84574" y="2655325"/>
            <a:ext cx="9622852" cy="79847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" name="Picture 6" descr="\documentclass{article}&#10;\usepackage{amsmath,amssymb,bm,physics,mathtools}&#10;\pagestyle{empty}&#10;\begin{document}&#10;&#10;\begin{equation*}&#10;\mathfrak{D}_{ij}^{(W)}&#10;\coloneqq&#10;\frac{8}{W^{2}\eta_{ij}^{3}}&#10;\quad\quad&#10;\rho_{ij}&#10;\coloneqq&#10;\left(\frac{2}{W\eta_{ij}}\frac{r}{a_{\perp}}\right)^{W}&#10;\quad\quad&#10;\mathcal{F}_{ij;nn_{i}}^{(W)(pq)}&#10;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equation*}&#10;&#10;\end{document}" title="IguanaTex Bitmap Display">
            <a:extLst>
              <a:ext uri="{FF2B5EF4-FFF2-40B4-BE49-F238E27FC236}">
                <a16:creationId xmlns:a16="http://schemas.microsoft.com/office/drawing/2014/main" id="{B2A2BDCC-B30A-4E07-A772-36E1DA2906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09104" y="4111998"/>
            <a:ext cx="11173793" cy="681449"/>
          </a:xfrm>
          <a:prstGeom prst="rect">
            <a:avLst/>
          </a:prstGeom>
          <a:noFill/>
        </p:spPr>
      </p:pic>
      <p:pic>
        <p:nvPicPr>
          <p:cNvPr id="17" name="Picture 16" descr="\documentclass{article}&#10;\usepackage{amsmath,amssymb,bm,physics,mathtools}&#10;\pagestyle{empty}&#10;\begin{document}&#10;&#10;\begin{align*}&#10;\acute{\mathfrak{C}}_{ij;nn_{i}}^{(W)}&#10;&amp; \coloneqq&#10;\frac{ 1 }{ n_{i}!\left(n-n_{i}\right)! }&#10;\binom{ \frac{2l_{i}+3-W}{W}+k_{i} }{ k_{i}-n_{i} }&#10;\binom{ \frac{2l_{j}+3-W}{W}+k_{j} }{ k_{j}-n_{j} }&#10;\\&#10;\end{align*}&#10;&#10;\end{document}" title="IguanaTex Bitmap Display">
            <a:extLst>
              <a:ext uri="{FF2B5EF4-FFF2-40B4-BE49-F238E27FC236}">
                <a16:creationId xmlns:a16="http://schemas.microsoft.com/office/drawing/2014/main" id="{CC2F58C4-55DA-4D5B-85B9-F28FEEC6D38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45714" y="5451644"/>
            <a:ext cx="4900573" cy="5363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0242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Central Term – Averaged over solid angle</a:t>
            </a:r>
          </a:p>
        </p:txBody>
      </p:sp>
      <p:pic>
        <p:nvPicPr>
          <p:cNvPr id="3" name="Picture 2" descr="\documentclass{article}&#10;\usepackage{amsmath,amssymb,bm,physics,mathtools}&#10;\pagestyle{empty}&#10;\begin{document}&#10;&#10;\begin{align*}&#10;\vb*{\rho}_{\left(m\zeta lk;\lambda\eta\right)_{ij}\left\{r\right\}}^{\left(\bullet\right)}&#10;&amp; \coloneqq&#10;\delta_{\Omega_{i}\Omega_{j}}&#10;\int_{\mathcal{S}} \mathrm{d}\vb{\Omega}\,&#10;\tilde{\Phi}_{\left(m\zeta lk;\lambda\eta\right)_{i}}^{(Wz)}&#10;\Phi_{\left(m\zeta lk;\lambda\eta\right)_{j}}^{(Wz)}&#10;\\&#10;&amp; = &#10;\delta_{\left(m\zeta\Omega\right)_{ij}}&#10;\int_{\chi=-1}^{\chi=+1}\mathrm{d}\chi\,&#10;\hat{\mathcal{P}}_{\left(\lambda;lm\right)_{i}}^{(z)}&#10;\hat{\mathcal{P}}_{\left(\lambda;l\right)_{j}m_{i}}^{(z)}&#10;\mathcal{R} _{\left(\check{\eta}_{z};kl\right)_{i}\left\{r\right\}} ^{\left(W\right)}&#10;\mathcal{R} _{\left(\check{\eta}_{z};kl\right)_{j}\left\{r\right\}} ^{\left(W\right)}&#10;\\&#10;\mathcal{R} _{\left(\check{\eta}_{z};kl\right)_{i}\left\{r\right\}} ^{\left(W\right)}&#10;\mathcal{R} _{\left(\check{\eta}_{z};kl\right)_{j}\left\{r\right\}} ^{\left(W\right)}&#10;&amp; =&#10;\frac{1}{a_{\perp}^{3}}&#10;\mathfrak{D}_{ij}^{(W)}&#10;\rho_{ij}^{\frac{l_{i}+l_{j}}{W}}&#10;\sum_{n=0}^{n=k_{i}+k_{j}}&#10;\left(-1\right)^{n}\rho_{ij}^{n}&#10;\sum_{n_{i}=0}^{n_{i}=\text{Min}\left(k_{i},n-k_{j}\right)}&#10;\tilde{\mathfrak{C}}_{ij;nn_{i}}^{(W)}&#10;\mathcal{F}_{ij;nn_{i}}^{(W)(zz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8067809-20C9-45D5-B3A9-56E68E58AE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83811" y="2548986"/>
            <a:ext cx="9624379" cy="22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84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Central Term SA Avg. (General Definition)</a:t>
            </a:r>
          </a:p>
        </p:txBody>
      </p:sp>
      <p:pic>
        <p:nvPicPr>
          <p:cNvPr id="37" name="Picture 36" descr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\Omega\right)_{ij}}&#10;\frac{1}{a_{\perp}^{3}}&#10;\mathfrak{D}_{ij}^{(W)}&#10;\rho_{ij}^{\frac{l_{i}+l_{j}}{W}}&#10;\mathcal{I}_{\left(\lambda;l\right)_{ij}m_{i}}^{\left(\bullet\right)}&#10;\\&#10;\mathfrak{D}_{ij}^{(W)}&#10;&amp; \coloneqq&#10;\frac{2\left(\frac{2}{W}\right)^{2}}{\eta_{ij}^{3}}&#10;\quad\quad&#10;\rho_{ij}&#10;\coloneqq&#10;\left(\frac{2}{W\eta_{ij}}\frac{r}{a_{\perp}}\right)^{W}&#10;\\&#10;\mathcal{I}_{\left(\lambda;l\right)_{ij}m_{i}}^{\left(\bullet\right)}&#10;&amp; \coloneqq&#10;\int_{\chi=-1}^{\chi=+1}\mathrm{d}\chi\,&#10;\hat{\mathcal{P}}_{\left(\lambda;lm\right)_{i}}^{(z)}&#10;\hat{\mathcal{P}}_{\left(\lambda;l\right)_{j}m_{i}}^{(z)}&#10;\sum_{n=0}^{n=k_{i}+k_{j}}&#10;\left(-1\right)^{n}\rho_{ij}^{n}&#10;\sum_{n_{i}=0}^{n_{i}=\text{Min}\left(k_{i},n-k_{j}\right)}&#10;\acute{\mathfrak{C}}_{ij;nn_{i}}^{(W)}&#10;\mathcal{F}_{ij;nn_{i}}^{(W)(zz)}&#10;\\&#10;\acute{\mathfrak{C}}_{ij;nn_{i}}^{(W)}&#10;&amp; \coloneqq&#10;\frac{ (-1)^{n} }{ n_{i}!\left(n-n_{i}\right)! }&#10;\binom{ \frac{2l_{i}+3-W}{W}+k_{i} }{ k_{i}-n_{i} }&#10;\binom{ \frac{2l_{j}+3-W}{W}+k_{j} }{ k_{j}-n+n_{i} }&#10;\\&#10;\mathcal{F}_{ij;nn_{i}}^{(W)(zz)}&#10;&amp; \coloneqq&#10;\left(\sqrt{\frac{ \eta_{ij}\vartheta_{iz} }{ \eta_{i} }}\right)^{2Wn_{i}+2l_{i}+3}&#10;\left(\sqrt{\frac{ \eta_{ij}\vartheta_{jz} }{ \eta_{j} }}\right)^{2W\left(n-n_{i}\right)+2l_{j}+3}&#10;\mathrm{e}^{-\rho_{ij}\left(\hat{\vartheta}_{ij}^{(zz)}\hat{\Xi}_{ij}^{(zz)}\right)^{W}}&#10;\end{align*}&#10;&#10;\end{document}" title="IguanaTex Bitmap Display">
            <a:extLst>
              <a:ext uri="{FF2B5EF4-FFF2-40B4-BE49-F238E27FC236}">
                <a16:creationId xmlns:a16="http://schemas.microsoft.com/office/drawing/2014/main" id="{859C5CE1-7F50-44F3-8AE0-678074858A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17913" y="2122762"/>
            <a:ext cx="10156175" cy="41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25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 – Parallel Terms I</a:t>
            </a:r>
          </a:p>
        </p:txBody>
      </p:sp>
      <p:pic>
        <p:nvPicPr>
          <p:cNvPr id="21" name="Picture 20" descr="\documentclass{article}&#10;\usepackage{amsmath,amssymb,bm,physics,mathtools}&#10;\pagestyle{empty}&#10;\begin{document}&#10;&#10;\begin{align*}&#10;\vb*{\rho}_{\left(m\zeta lk;\lambda\eta\right)_{ij}\left\{r\right\}}&#10;^{\left(\aleph\right)}&#10;&amp; \coloneqq&#10;\int_{\mathcal{S}} \mathrm{d}\vb{\Omega}\,&#10;\tilde{\Phi}_{\left(m\zeta lk;\lambda\eta\right)_{i}}^{(Wz)}&#10;\Phi_{\left(m\zeta lk;\lambda\eta\right)_{j}}^{(Wz)}&#10;\left(&#10;\delta_{\aleph\left(\upharpoonleft \! \upharpoonright\right)}\delta_{(\Omega)_{ij}}\Theta^{\left(\upharpoonleft \! \upharpoonright\right)}&#10;+&#10;\delta_{\aleph\left(\upharpoonleft \! \downharpoonright\right)}\Theta_{(\Omega)_{ij}}^{\left(\upharpoonleft \! \downharpoonright\right)}&#10;\right)&#10;\\&#10;&amp; = &#10;\int_{\phi=-\pi}^{\phi=+\pi}\mathrm{d}\phi\,&#10;\int_{\chi=-1}^{\chi=+1}\mathrm{d}\chi\,&#10;\hat{Q}_{\left(m\zeta\right)_{i}}^{(z)}&#10;\hat{Q}_{\left(m\zeta\right)_{j}}^{(z)}&#10;\hat{\mathcal{P}}_{\left(\lambda;lm\right)_{i}}^{(z)}&#10;\hat{\mathcal{P}}_{\left(\lambda;lm\right)_{j}}^{(z)}&#10;\mathcal{R} _{\left(\check{\eta}_{z};kl\right)_{i}\left\{r\right\}} ^{\left(W\right)}&#10;\mathcal{R} _{\left(\check{\eta}_{z};kl\right)_{j}\left\{r\right\}} ^{\left(W\right)}&#10;\end{align*}&#10;&#10;\end{document}" title="IguanaTex Bitmap Display">
            <a:extLst>
              <a:ext uri="{FF2B5EF4-FFF2-40B4-BE49-F238E27FC236}">
                <a16:creationId xmlns:a16="http://schemas.microsoft.com/office/drawing/2014/main" id="{B00A30D2-0E63-41F8-BD4D-C71B7A3CD1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43620" y="1888584"/>
            <a:ext cx="9904760" cy="1348581"/>
          </a:xfrm>
          <a:prstGeom prst="rect">
            <a:avLst/>
          </a:prstGeom>
        </p:spPr>
      </p:pic>
      <p:pic>
        <p:nvPicPr>
          <p:cNvPr id="26" name="Picture 25" descr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E}_{ij}^{(W)}&#10;\rho_{ij}^{\frac{l_{i}+l_{j}}{W}}&#10;\sum_{n=0}^{n=k_{i}+k_{j}}&#10;\rho_{ij}^{n}&#10;\sum_{n_{i}=0}^{n_{i}=\text{Min}\left(k_{i},n-k_{j}\right)}&#10;\mathfrak{C}_{ij;nn_{i}}^{(W)}&#10;\mathcal{F}_{ij;nn_{i}}^{(W)(zz)}&#10;\\&#10;\end{align*}&#10;&#10;\end{document}" title="IguanaTex Bitmap Display">
            <a:extLst>
              <a:ext uri="{FF2B5EF4-FFF2-40B4-BE49-F238E27FC236}">
                <a16:creationId xmlns:a16="http://schemas.microsoft.com/office/drawing/2014/main" id="{9068330B-4209-440C-AC42-2E77F07B3C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54860" y="3772926"/>
            <a:ext cx="8882280" cy="79847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3" name="Picture 22" descr="\documentclass{article}&#10;\usepackage{amsmath,amssymb,bm,physics,mathtools}&#10;\pagestyle{empty}&#10;\begin{document}&#10;&#10;\begin{equation*}&#10;\mathfrak{E}_{ij}^{(W)}&#10;\coloneqq&#10;\frac{8}{W^{2}\eta_{ij}^{3}}&#10;\quad\quad&#10;\rho_{ij}&#10;\coloneqq&#10;\left(\frac{2}{W\eta_{ij}}\frac{r}{a_{\perp}}\right)^{W}&#10;\quad\quad&#10;\mathcal{F}_{ij;nn_{i}}^{(W)(pq)}&#10;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equation*}&#10;&#10;\end{document}" title="IguanaTex Bitmap Display">
            <a:extLst>
              <a:ext uri="{FF2B5EF4-FFF2-40B4-BE49-F238E27FC236}">
                <a16:creationId xmlns:a16="http://schemas.microsoft.com/office/drawing/2014/main" id="{5B26E901-8E86-4758-AB64-2404C203B24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52190" y="5024766"/>
            <a:ext cx="11127468" cy="681449"/>
          </a:xfrm>
          <a:prstGeom prst="rect">
            <a:avLst/>
          </a:prstGeom>
          <a:noFill/>
        </p:spPr>
      </p:pic>
      <p:pic>
        <p:nvPicPr>
          <p:cNvPr id="24" name="Picture 23" descr="\documentclass{article}&#10;\usepackage{amsmath,amssymb,bm,physics,mathtools}&#10;\pagestyle{empty}&#10;\begin{document}&#10;&#10;\begin{align*}&#10;\mathfrak{C}_{ij;nn_{i}}^{(W)}&#10;&amp; \coloneqq&#10;\frac{ (-1)^{n} }{ n_{i}!\left(n-n_{i}\right)! }&#10;\binom{ \frac{2l_{i}+3-W}{W}+k_{i} }{ k_{i}-n_{i} }&#10;\binom{ \frac{2l_{j}+3-W}{W}+k_{j} }{ k_{j}-n+n_{i} }&#10;\\&#10;\end{align*}&#10;&#10;\end{document}" title="IguanaTex Bitmap Display">
            <a:extLst>
              <a:ext uri="{FF2B5EF4-FFF2-40B4-BE49-F238E27FC236}">
                <a16:creationId xmlns:a16="http://schemas.microsoft.com/office/drawing/2014/main" id="{705BEE3F-1DA9-4CEC-8725-49B7340938E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79847" y="5976576"/>
            <a:ext cx="4900574" cy="5363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3910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Central Terms – Elaboration V</a:t>
            </a:r>
          </a:p>
        </p:txBody>
      </p:sp>
      <p:pic>
        <p:nvPicPr>
          <p:cNvPr id="3" name="Picture 2" descr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E}_{ij}^{(W)}&#10;\rho_{ij}^{\frac{l_{i}+l_{j}}{W}}&#10;\sum_{n=0}^{n=k_{i}+k_{j}}&#10;\rho_{ij}^{n}&#10;\sum_{n_{i}=0}^{n_{i}=\text{Min}\left(k_{i},n-k_{j}\right)}&#10;\mathfrak{C}_{ij;n_{i}\left(n-n_{j}\right)}^{(W)}&#10;\mathcal{F}_{ij;n_{i}\left(n-n_{j}\right)}^{(W)(zz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E9623EC-AB2E-40EE-940E-C31F45604E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25909" y="1935657"/>
            <a:ext cx="9740185" cy="79847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9" name="Picture 8" descr="\documentclass{article}&#10;\usepackage{amsmath,amssymb,bm,physics,mathtools}&#10;\pagestyle{empty}&#10;\begin{document}&#10;&#10;\begin{equation*}&#10;\mathfrak{E}_{ij}^{(W)}&#10;\coloneqq&#10;\frac{8}{W^{2}\eta_{ij}^{3}}&#10;\quad\quad&#10;\rho_{ij}&#10;\coloneqq&#10;\left(\frac{2}{W\eta_{ij}}\frac{r}{a_{\perp}}\right)^{W}&#10;\quad\quad&#10;\mathcal{F}_{ij;nn_{i}}^{(W)(pq)}&#10;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equation*}&#10;&#10;\end{document}" title="IguanaTex Bitmap Display">
            <a:extLst>
              <a:ext uri="{FF2B5EF4-FFF2-40B4-BE49-F238E27FC236}">
                <a16:creationId xmlns:a16="http://schemas.microsoft.com/office/drawing/2014/main" id="{F143F25A-E0FA-4C1F-BEF1-3473ACF31A7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52190" y="5024766"/>
            <a:ext cx="11127468" cy="681449"/>
          </a:xfrm>
          <a:prstGeom prst="rect">
            <a:avLst/>
          </a:prstGeom>
          <a:noFill/>
        </p:spPr>
      </p:pic>
      <p:pic>
        <p:nvPicPr>
          <p:cNvPr id="14" name="Picture 13" descr="\documentclass{article}&#10;\usepackage{amsmath,amssymb,bm,physics,mathtools}&#10;\pagestyle{empty}&#10;\begin{document}&#10;&#10;\begin{align*}&#10;\mathfrak{C}_{ij;nn_{i}}^{(W)}&#10;&amp; \coloneqq&#10;\frac{ (-1)^{n} }{ n_{i}!\left(n-n_{i}\right)! }&#10;\binom{ \frac{2l_{i}+3-W}{W}+k_{i} }{ k_{i}-n_{i} }&#10;\binom{ \frac{2l_{j}+3-W}{W}+k_{j} }{ k_{j}-n+n_{i} }&#10;\\&#10;\end{align*}&#10;&#10;\end{document}" title="IguanaTex Bitmap Display">
            <a:extLst>
              <a:ext uri="{FF2B5EF4-FFF2-40B4-BE49-F238E27FC236}">
                <a16:creationId xmlns:a16="http://schemas.microsoft.com/office/drawing/2014/main" id="{8DE929E0-5905-49AB-8C12-E27F644A6FC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79847" y="5976576"/>
            <a:ext cx="4900574" cy="5363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4853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 – Central Term II</a:t>
            </a:r>
          </a:p>
        </p:txBody>
      </p:sp>
      <p:pic>
        <p:nvPicPr>
          <p:cNvPr id="35" name="Picture 34" descr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E}_{ij}^{(W)}&#10;\rho_{ij}^{\frac{l_{i}+l_{j}}{W}}&#10;\sum_{n=0}^{n=k_{i}+k_{j}}&#10;\rho_{ij}^{n}&#10;\sum_{n_{i}=0}^{n_{i}=\text{Min}\left(k_{i},n-k_{j}\right)}&#10;\mathfrak{C}_{ij;n_{i}\left(n-n_{i}\right)}^{(W)}&#10;\mathcal{F}_{ij;n_{i}\left(n-n_{i}\right)}^{(W)(zz)}&#10;\\&#10;\vb*{\rho}_{\left(m\zeta lk;\lambda\eta\right)_{ij}\left\{r\right\}}^{\left(\bullet\right)}&#10;&amp; = &#10;\delta_{\left(m\zeta\Omega\right)_{ij}}&#10;\int_{\chi=-1}^{\chi=+1}\mathrm{d}\chi\,&#10;\hat{\mathcal{P}}_{\left(\lambda;lm\right)_{i}}^{(z)}&#10;\hat{\mathcal{P}}_{\left(\lambda;lm\right)_{j}}^{(z)}&#10;\mathcal{R} _{\left(\check{\eta}_{z};kl\right)_{i}\left\{r\right\}} ^{\left(W\right)}&#10;\mathcal{R} _{\left(\check{\eta}_{z};kl\right)_{j}\left\{r\right\}} ^{\left(W\right)}&#10;\\&#10;&amp; = &#10;\delta_{\left(m\zeta\Omega\right)_{ij}}&#10;\frac{1}{a_{\perp}^{3}}&#10;\mathfrak{E}_{ij}^{(W)}&#10;\rho_{ij}^{\frac{l_{i}+l_{j}}{W}}&#10;\sum_{n=0}^{n=k_{i}+k_{j}}&#10;\rho_{ij}^{n}&#10;\sum_{n_{i}=0}^{n_{i}=\text{Min}\left(k_{i},n-k_{j}\right)}&#10;\mathfrak{C}_{ij;nn_{i}}^{(W)}&#10;\mathcal{I}_{\left(\eta\lambda;l\right)_{ij}m_{i};nn_{i}}^{(zz)}&#10;\\&#10;\mathcal{I}_{\left(\eta\lambda;l\right)_{ij}m_{i};nn_{i}}^{(zz)}&#10;&amp; \coloneqq&#10;\int_{\chi=-1}^{\chi=+1}\mathrm{d}\chi\,&#10;\hat{\mathcal{P}}_{\left(\lambda;lm\right)_{i}}^{(z)}&#10;\hat{\mathcal{P}}_{\left(\lambda;l\right)_{j}m_{i}}^{(z)}&#10;\mathcal{F}_{ij;nn_{i}}^{(W)(zz)}&#10;\\&#10;\end{align*}&#10;&#10;\end{document}" title="IguanaTex Bitmap Display">
            <a:extLst>
              <a:ext uri="{FF2B5EF4-FFF2-40B4-BE49-F238E27FC236}">
                <a16:creationId xmlns:a16="http://schemas.microsoft.com/office/drawing/2014/main" id="{00F4A97F-AD97-43E7-998A-77D31B3A62D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65336" y="2046568"/>
            <a:ext cx="10261328" cy="3297539"/>
          </a:xfrm>
          <a:prstGeom prst="rect">
            <a:avLst/>
          </a:prstGeom>
        </p:spPr>
      </p:pic>
      <p:pic>
        <p:nvPicPr>
          <p:cNvPr id="33" name="Picture 32" descr="\documentclass{article}&#10;\usepackage{amsmath,amssymb,bm,physics,mathtools}&#10;\pagestyle{empty}&#10;\begin{document}&#10;&#10;\begin{equation*}&#10;\mathfrak{C}_{ij;nn_{i}}^{(W)}&#10;\coloneqq&#10;\frac{ (-1)^{n} }{ n_{i}!\left(n-n_{i}\right)! }&#10;\binom{ \frac{2l_{i}+3-W}{W}+k_{i} }{ k_{i}-n_{i} }&#10;\binom{ \frac{2l_{j}+3-W}{W}+k_{j} }{ k_{j}-n+n_{i} }&#10;\quad\quad&#10;\mathcal{F}_{ij;nn_{i}}^{(W)(pq)}&#10;\coloneqq&#10;\left(\frac{ \eta_{ij}\vartheta_{ip} }{ \eta_{i} }\right)^{Wn_{i}+l_{i}+\frac{3}{2}}&#10;\left(\frac{ \eta_{ij}\vartheta_{jq} }{ \eta_{j} }\right)^{W\left(n-n_{i}\right)+l_{j}+\frac{3}{2}}&#10;\mathrm{e}^{-\rho_{ij}\left(\hat{\vartheta}_{ij}^{(pq)}\hat{\Xi}_{ij}^{(pq)}\right)^{W}}&#10;\end{equation*}&#10;&#10;\end{document}" title="IguanaTex Bitmap Display">
            <a:extLst>
              <a:ext uri="{FF2B5EF4-FFF2-40B4-BE49-F238E27FC236}">
                <a16:creationId xmlns:a16="http://schemas.microsoft.com/office/drawing/2014/main" id="{10F0CEF2-0E07-4895-94DA-25D1EAF758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3237" y="5697746"/>
            <a:ext cx="11745526" cy="563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355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 – Parallel Valley Terms (Gen. Def.)</a:t>
            </a:r>
          </a:p>
        </p:txBody>
      </p:sp>
      <p:pic>
        <p:nvPicPr>
          <p:cNvPr id="9" name="Picture 8" descr="\documentclass{article}&#10;\usepackage{amsmath,amssymb,bm,physics,mathtools}&#10;\pagestyle{empty}&#10;\begin{document}&#10;&#10;\begin{align*}&#10;\vb*{\rho}_{\left(m\zeta lk;\lambda\eta\right)_{ij}\left\{r\right\}}&#10;^{\left(\upharpoonleft \! \upharpoonright\slash\upharpoonleft \! \downharpoonright\right)}&#10;&amp; = &#10;\delta_{\left(m\zeta\Omega\right)_{ij}}&#10;\frac{1}{a_{\perp}^{3}}&#10;\mathfrak{E}_{ij}^{(W)}&#10;\rho_{ij}^{\frac{l_{i}+l_{j}}{W}}&#10;\mathcal{I}_{\left(\lambda;l\right)_{ij}m_{i}}^{(zz)}&#10;\\&#10;\mathfrak{E}_{ij}^{(W)}&#10;&amp; \coloneqq&#10;\frac{2\left(\frac{2}{W}\right)^{2}}{\eta_{ij}^{3}}&#10;\quad\quad&#10;\rho_{ij}&#10;\coloneqq&#10;\left(\frac{2}{W\eta_{ij}}\frac{r}{a_{\perp}}\right)^{W}&#10;\\&#10;\mathcal{I}_{\left(\lambda;l\right)_{ij}m_{i}}^{\left(\upharpoonleft \! \upharpoonright\slash\upharpoonleft \! \downharpoonright\right)}&#10;&amp; \coloneqq&#10;\int_{\chi=-1}^{\chi=+1}\mathrm{d}\chi\,&#10;\hat{\mathcal{P}}_{\left(\lambda;lm\right)_{i}}^{(z)}&#10;\hat{\mathcal{P}}_{\left(\lambda;l\right)_{j}m_{i}}^{(z)}&#10;\sum_{n=0}^{n=k_{i}+k_{j}}&#10;\rho_{ij}^{n}&#10;\sum_{n_{i}=0}^{n_{i}=\text{Min}\left(k_{i},n-k_{j}\right)}&#10;\mathfrak{C}_{ij;nn_{i}}^{(W)}&#10;\mathcal{F}_{ij;nn_{i}}^{(W)(zz)}&#10;\\&#10;\mathfrak{C}_{ij;nn_{i}}^{(W)}&#10;&amp; \coloneqq&#10;\frac{ (-1)^{n} }{ n_{i}!\left(n-n_{i}\right)! }&#10;\binom{ \frac{2l_{i}+3-W}{W}+k_{i} }{ k_{i}-n_{i} }&#10;\binom{ \frac{2l_{j}+3-W}{W}+k_{j} }{ k_{j}-n+n_{i} }&#10;\\&#10;\mathcal{F}_{ij;nn_{i}}^{(W)(pq)}&#10;&amp; \coloneqq&#10;\left(\sqrt{\frac{ \eta_{ij}\vartheta_{iz} }{ \eta_{i} }}\right)^{2Wn_{i}+2l_{i}+3}&#10;\left(\sqrt{\frac{ \eta_{ij}\vartheta_{jz} }{ \eta_{j} }}\right)^{2W\left(n-n_{i}\right)+2l_{j}+3}&#10;\mathrm{e}^{-\rho_{ij}\left(\hat{\vartheta}_{ij}^{(zz)}\hat{\Xi}_{ij}^{(zz)}\right)^{W}}&#10;\end{align*}&#10;&#10;\end{document}" title="IguanaTex Bitmap Display">
            <a:extLst>
              <a:ext uri="{FF2B5EF4-FFF2-40B4-BE49-F238E27FC236}">
                <a16:creationId xmlns:a16="http://schemas.microsoft.com/office/drawing/2014/main" id="{35948552-0427-444E-9855-1FCCD9192B7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66865" y="2122761"/>
            <a:ext cx="9458271" cy="41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21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Avg.’d</a:t>
            </a:r>
            <a:r>
              <a:rPr lang="en-US" dirty="0"/>
              <a:t> Over Solid Angle – Perpendicular Valley Terms (Gen. Def.)</a:t>
            </a:r>
          </a:p>
        </p:txBody>
      </p:sp>
      <p:pic>
        <p:nvPicPr>
          <p:cNvPr id="26" name="Picture 25" descr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\Omega\right)_{ij}}&#10;\frac{1}{a_{\perp}^{3}}&#10;\mathfrak{E}_{ij}^{(W)}&#10;\rho_{ij}^{\frac{l_{i}+l_{j}}{W}}&#10;\mathcal{I}_{\left(\lambda;l\right)_{ij}m_{i}}^{(zz)}&#10;\\&#10;\mathfrak{E}_{ij}^{(W)}&#10;&amp; \coloneqq&#10;\frac{2\left(\frac{2}{W}\right)^{2}}{\eta_{ij}^{3}}&#10;\quad\quad&#10;\rho_{ij}&#10;\coloneqq&#10;\left(\frac{2}{W\eta_{ij}}\frac{r}{a_{\perp}}\right)^{W}&#10;\\&#10;\mathcal{I}_{\left(\lambda;l\right)_{ij}m_{i}}^{(zz)}&#10;&amp; \coloneqq&#10;\int_{\chi=-1}^{\chi=+1}\mathrm{d}\chi\,&#10;\hat{\mathcal{P}}_{\left(\lambda;lm\right)_{i}}^{(z)}&#10;\hat{\mathcal{P}}_{\left(\lambda;l\right)_{j}m_{i}}^{(z)}&#10;\sum_{n=0}^{n=k_{i}+k_{j}}&#10;\rho_{ij}^{n}&#10;\sum_{n_{i}=0}^{n_{i}=\text{Min}\left(k_{i},n-k_{j}\right)}&#10;\mathfrak{C}_{ij;nn_{i}}^{(W)}&#10;\mathcal{F}_{ij;nn_{i}}^{(W)(zz)}&#10;\\&#10;\mathfrak{C}_{ij;nn_{i}}^{(W)}&#10;&amp; \coloneqq&#10;\frac{ (-1)^{n} }{ n_{i}!\left(n-n_{i}\right)! }&#10;\binom{ \frac{2l_{i}+3-W}{W}+k_{i} }{ k_{i}-n_{i} }&#10;\binom{ \frac{2l_{j}+3-W}{W}+k_{j} }{ k_{j}-n+n_{i} }&#10;\\&#10;\mathcal{F}_{ij;nn_{i}}^{(W)(pq)}&#10;&amp; 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align*}&#10;&#10;\end{document}" title="IguanaTex Bitmap Display">
            <a:extLst>
              <a:ext uri="{FF2B5EF4-FFF2-40B4-BE49-F238E27FC236}">
                <a16:creationId xmlns:a16="http://schemas.microsoft.com/office/drawing/2014/main" id="{78550BF5-249E-404C-A70F-D5A22FAEDC8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67627" y="2122762"/>
            <a:ext cx="9456747" cy="41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89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 – Central Term (within </a:t>
            </a:r>
            <a:r>
              <a:rPr lang="en-US" dirty="0" err="1"/>
              <a:t>subbasis</a:t>
            </a:r>
            <a:r>
              <a:rPr lang="en-US" dirty="0"/>
              <a:t>)</a:t>
            </a:r>
          </a:p>
        </p:txBody>
      </p:sp>
      <p:pic>
        <p:nvPicPr>
          <p:cNvPr id="35" name="Picture 34" descr="\documentclass{article}&#10;\usepackage{amsmath,amssymb,bm,physics,mathtools}&#10;\pagestyle{empty}&#10;\begin{document}&#10;&#10;\begin{align*}&#10;\vb*{\rho}_{\left(m\zeta lk\right)_{ij};\lambda\eta\left\{r\right\}}^{\left(\bullet\right)}&#10;&amp; = &#10;\delta_{\left(m\zeta\Omega\right)_{ij}}&#10;\frac{1}{a_{\perp}^{3}}&#10;\mathfrak{E}^{(W)}&#10;\rho^{\frac{l_{i}+l_{j}}{W}}&#10;\mathcal{I}_{\lambda;\left(l\right)_{ij}m_{i}}^{(zz)}&#10;\\&#10;\mathfrak{E}^{(W)}&#10;&amp; \coloneqq&#10;\frac{2\left(\frac{2}{W}\right)^{2}}{\eta^{3}}&#10;\quad\quad&#10;\rho&#10;\coloneqq&#10;\left(\frac{2}{W\eta}\frac{r}{a_{\perp}}\right)^{W}&#10;\\&#10;\mathcal{I}_{\lambda;\left(l\right)_{ij}m_{i}}^{(zz)}&#10;&amp; \coloneqq&#10;\int_{\chi=-1}^{\chi=+1}\mathrm{d}\chi\,&#10;\hat{\mathcal{P}}_{\lambda;\left(lm\right)_{i}}^{(p)}&#10;\hat{\mathcal{P}}_{\lambda;l_{j}m_{i}}^{(q)}&#10;\sum_{n=0}^{n=k_{i}+k_{j}}&#10;\mathfrak{C}_{ij;n}^{(W)}&#10;\rho^{n}&#10;\mathcal{F}_{ij;n}^{(W)(zz)}&#10;\\&#10;\mathfrak{C}_{ij;n}^{(W)}&#10;&amp; \coloneqq&#10;(-1)^{n}&#10;\sum_{n_{i}=0}^{n_{i}=\text{Min}\left(k_{i},n-k_{j}\right)}&#10;\frac{ 1 }{ n_{i}!\left(n-n_{i}\right)! }&#10;\binom{ \frac{2l_{i}+3-W}{W}+k_{i} }{ k_{i}-n_{i} }&#10;\binom{ \frac{2l_{j}+3-W}{W}+k_{j} }{ k_{j}-n+n_{i} }&#10;\\&#10;\mathcal{F}_{ij;n}^{(W)(zz)}&#10;&amp; \coloneqq&#10;\vartheta^{Wn+l_{i}+l_{j}+3}&#10;\mathrm{e}^{-\rho\vartheta^{W}}&#10;\\&#10;\mathfrak{C}_{ij;nn_{i}}^{(W)}&#10;&amp; \coloneqq&#10;\frac{ (-1)^{n} }{ n_{i}!\left(n-n_{i}\right)! }&#10;\binom{ \frac{2l_{i}+3-W}{W}+k_{i} }{ k_{i}-n_{i} }&#10;\binom{ \frac{2l_{j}+3-W}{W}+k_{j} }{ k_{j}-n+n_{i} }&#10;\\&#10;\mathcal{F}_{ij;nn_{i}}^{(W)(pq)}&#10;&amp; \coloneqq&#10;\sqrt{\vartheta_{p}}^{2Wn_{i}+2l_{i}+3}&#10;\sqrt{\vartheta_{q}}^{2W\left(n-n_{i}\right)+2l_{j}+3}&#10;\mathrm{e}^{-\rho\left(\hat{\vartheta}^{(pq)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BB2DAFA3-D95F-4D9A-9F7E-80965223C1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48391" y="2029630"/>
            <a:ext cx="9295218" cy="50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0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Central Integral (General)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DBCED3-66A6-4616-A056-022F626B3474}"/>
              </a:ext>
            </a:extLst>
          </p:cNvPr>
          <p:cNvGrpSpPr/>
          <p:nvPr/>
        </p:nvGrpSpPr>
        <p:grpSpPr>
          <a:xfrm>
            <a:off x="860953" y="2004615"/>
            <a:ext cx="10470095" cy="4212507"/>
            <a:chOff x="860953" y="2004615"/>
            <a:chExt cx="10470095" cy="4212507"/>
          </a:xfrm>
        </p:grpSpPr>
        <p:pic>
          <p:nvPicPr>
            <p:cNvPr id="13" name="Picture 12" descr="\documentclass{article}&#10;\usepackage{amsmath,amssymb,bm,physics,mathtools}&#10;\pagestyle{empty}&#10;\begin{document}&#10;&#10;\begin{align*}&#10;\mathcal{I}_{\left(\lambda;l\right)_{ij}m_{i};\left(n\right)_{ij}}^{(zz)}&#10;&amp; \coloneqq&#10;\int_{\chi=-1}^{\chi=+1}\mathrm{d}\chi\,&#10;\hat{\mathcal{P}}_{\left(\lambda;lm\right)_{i}}^{(z)}&#10;\hat{\mathcal{P}}_{\left(\lambda;l\right)_{j}m_{i}}^{(z)}&#10;\vartheta_{\lambda_i\left\{\chi\right\}}^{Wn_{i}+l_{i}+\frac{3}{2}}&#10;\vartheta_{\lambda_j\left\{\chi\right\}}^{Wn_{j}+l_{j}+\frac{3}{2}}&#10;\mathrm{e}^{-\rho_{ij}\left(\hat{\vartheta}_{ij}^{(pq)}\hat{\Xi}_{ij}^{(pq)}\right)^{W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64DFC54-B81D-42CE-A6D9-F50A9560C6C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534479" y="2004615"/>
              <a:ext cx="9123042" cy="665907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,bm,eufrak}&#10;\pagestyle{empty}&#10;\begin{document}&#10;&#10;\begin{equation*}&#10;\hat{\mathcal{P}}_{\lambda;lm}^{(z)}&#10;= &#10;\sqrt{\frac{\lambda}{\left(\vartheta_{\lambda\left\{\chi\right\}}\right)^{3}}}&#10;\sqrt{\frac{(2l+1)\left(l-m\right)!}{2\left(l+m\right)!}}&#10;P_{lm}\left(\frac{\lambda \chi}{\vartheta_{\lambda\left\{\chi\right\}}}\right)&#10;\quad\quad&#10;\vartheta_{i\left\{\chi\right\}} = \sqrt{ 1 + \left(\lambda_{i}^{2}-1\right)\chi^{2} }&#10;\end{equation*}&#10;&#10;\end{document} " title="IguanaTex Bitmap Display">
              <a:extLst>
                <a:ext uri="{FF2B5EF4-FFF2-40B4-BE49-F238E27FC236}">
                  <a16:creationId xmlns:a16="http://schemas.microsoft.com/office/drawing/2014/main" id="{59C169D7-1982-47FC-A818-FF7A87F4211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520001" y="3112658"/>
              <a:ext cx="9151999" cy="810666"/>
            </a:xfrm>
            <a:prstGeom prst="rect">
              <a:avLst/>
            </a:prstGeom>
          </p:spPr>
        </p:pic>
        <p:pic>
          <p:nvPicPr>
            <p:cNvPr id="9" name="Picture 8" descr="\documentclass{article}&#10;\usepackage{amsmath,bm,eufrak,mathtools}&#10;\pagestyle{empty}&#10;\begin{document}&#10;&#10;\begin{equation*}&#10;\rho_{ij}&#10;\coloneqq&#10;\left(&#10;\frac{2r}{Wa_{\perp}\eta_{ij}}&#10;\right)^{W}&#10;\quad\quad&#10;\eta_{ij}^{W}&#10;\coloneqq&#10;\frac&#10;{2\eta_{i}^{W}\eta_{j}^{W}}&#10;{\eta_{i}^{W}+\eta_{j}^{W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35BDBB94-7A1C-4C25-A8C6-586BAE0F5AC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790477" y="4365460"/>
              <a:ext cx="4611046" cy="7116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 descr="\documentclass{article}&#10;\usepackage{amsmath,bm,mathtools}&#10;\pagestyle{empty}&#10;\begin{document}&#10;&#10;\begin{equation*}&#10;\delta_{ij}&#10;\coloneqq&#10;\frac{\eta_{j}^{W}-\eta_{i}^{W}}{\eta_{i}^{W}+\eta_{j}^{W}}&#10;\quad\quad&#10;\hat{\epsilon}_{ij}^{(pq)}&#10;\coloneqq&#10;\frac&#10;{\vartheta_{ip}^{W}-\vartheta_{jq}^{W}}&#10;{\vartheta_{ip}^{W}+\vartheta_{jq}^{W}}&#10;\quad\quad&#10;\left(\hat{\vartheta}_{ij}^{(pq)}\right)^{W}&#10;\coloneqq&#10;\frac&#10;{\vartheta_{ip}^{W}+\vartheta_{jq}^{W}}&#10;{2}&#10;\quad\quad&#10;\left(\hat{\Xi}_{ij}^{(pq)}\right)^{W}&#10;\coloneqq&#10;1+\delta_{ij}\hat{\epsilon}_{ij}^{(pq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0E062007-A8FC-4807-92EC-082EC6E8665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860953" y="5519217"/>
              <a:ext cx="10470095" cy="697905"/>
            </a:xfrm>
            <a:prstGeom prst="rect">
              <a:avLst/>
            </a:prstGeom>
            <a:solidFill>
              <a:srgbClr val="FFFFFF"/>
            </a:solidFill>
          </p:spPr>
        </p:pic>
      </p:grpSp>
    </p:spTree>
    <p:extLst>
      <p:ext uri="{BB962C8B-B14F-4D97-AF65-F5344CB8AC3E}">
        <p14:creationId xmlns:p14="http://schemas.microsoft.com/office/powerpoint/2010/main" val="2606802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8158"/>
                <a:ext cx="10515600" cy="559833"/>
              </a:xfrm>
            </p:spPr>
            <p:txBody>
              <a:bodyPr/>
              <a:lstStyle/>
              <a:p>
                <a:r>
                  <a:rPr lang="en-US" dirty="0"/>
                  <a:t>Averaged Over Solid Angle – Central Term (w/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8158"/>
                <a:ext cx="10515600" cy="559833"/>
              </a:xfrm>
              <a:blipFill>
                <a:blip r:embed="rId5"/>
                <a:stretch>
                  <a:fillRect t="-18478" b="-27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 l\Omega\right)_{ij}}&#10;\frac{2}{a_{\perp}^{3}}&#10;\sum_{n=0}^{n_{i}=k_{i}+k_{j}}&#10;\mathfrak{E}_{ij;n}^{(W)}&#10;\left(\frac{r}{a_{\perp}}\right)^{Wn+2l_{i}}&#10;\mathrm{e}^{-\rho_{ij}^{(zz)}}&#10;\\&#10;\mathfrak{E}_{ij;n}^{(W)}&#10;&amp; \coloneqq&#10;(-1)^{n}&#10;\frac{ \left(2/W\right)^{Wn+2l_{i}+2} }{ \left(\eta_{i}\eta_{j}\right)^{l_{i}+\frac{3}{2}} }&#10;\sum_{\substack{ n_{i}\le k_{i},n_{j}\le k_{j} \\ n_{i}+n_{j}=n }}&#10;\frac{ 1 }{ n_{i}!n_{j}! }&#10;\binom{ \frac{2l_{i}+3-W}{W}+k_{i} }{ k_{i}-n_{i} }&#10;\binom{ \frac{2l_{i}+3-W}{W}+k_{j} }{ k_{j}-n_{j} }&#10;\\&#10;\end{align*}&#10;&#10;\end{document}" title="IguanaTex Bitmap Display">
            <a:extLst>
              <a:ext uri="{FF2B5EF4-FFF2-40B4-BE49-F238E27FC236}">
                <a16:creationId xmlns:a16="http://schemas.microsoft.com/office/drawing/2014/main" id="{838D44EC-5033-4B34-A5D8-1072FF7CBC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02486" y="2579965"/>
            <a:ext cx="9987029" cy="1849915"/>
          </a:xfrm>
          <a:prstGeom prst="rect">
            <a:avLst/>
          </a:prstGeom>
        </p:spPr>
      </p:pic>
      <p:pic>
        <p:nvPicPr>
          <p:cNvPr id="11" name="Picture 10" descr="\documentclass{article}&#10;\usepackage{amsmath,bm,eufrak,mathtools}&#10;\pagestyle{empty}&#10;\begin{document}&#10;&#10;\begin{equation*}&#10;\rho_{ij}^{(zz)}&#10;= &#10;\left(\frac{2r}{Wa_{\perp}\eta_{ij}}\right)^{W}&#10;\end{equation*}&#10;&#10;\end{document}" title="IguanaTex Bitmap Display">
            <a:extLst>
              <a:ext uri="{FF2B5EF4-FFF2-40B4-BE49-F238E27FC236}">
                <a16:creationId xmlns:a16="http://schemas.microsoft.com/office/drawing/2014/main" id="{6DF5BDC3-9C85-4DCA-B061-DF5597F0521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14287" y="5054082"/>
            <a:ext cx="2363427" cy="6720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1679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8158"/>
                <a:ext cx="10515600" cy="559833"/>
              </a:xfrm>
            </p:spPr>
            <p:txBody>
              <a:bodyPr/>
              <a:lstStyle/>
              <a:p>
                <a:r>
                  <a:rPr lang="en-US" dirty="0"/>
                  <a:t>Averaged Over Solid Angle – Central Term (w/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8158"/>
                <a:ext cx="10515600" cy="559833"/>
              </a:xfrm>
              <a:blipFill>
                <a:blip r:embed="rId5"/>
                <a:stretch>
                  <a:fillRect t="-18478" b="-27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 l\Omega\right)_{ij}}&#10;\frac{2}{a_{\perp}^{3}}&#10;\sum_{n=0}^{n_{i}=k_{i}+k_{j}}&#10;\mathfrak{E}_{ij;n}^{(W)}&#10;\left(\frac{r}{a_{\perp}}\right)^{Wn+2l_{i}}&#10;\mathrm{e}^{-\rho_{ij}^{(zz)}}&#10;\\&#10;\mathfrak{E}_{ij;n}^{(W)}&#10;&amp; \coloneqq&#10;(-1)^{n}&#10;\frac{ \left(2/W\right)^{Wn+2l_{i}+2} }{ \left(\eta_{i}\eta_{j}\right)^{l_{i}+\frac{3}{2}} }&#10;\sum_{\substack{ n_{i}\le k_{i},n_{j}\le k_{j} \\ n_{i}+n_{j}=n }}&#10;\frac{ 1 }{ n_{i}!n_{j}! }&#10;\binom{ \frac{2l_{i}+3-W}{W}+k_{i} }{ k_{i}-n_{i} }&#10;\binom{ \frac{2l_{i}+3-W}{W}+k_{j} }{ k_{j}-n_{j} }&#10;\\&#10;\end{align*}&#10;&#10;\end{document}" title="IguanaTex Bitmap Display">
            <a:extLst>
              <a:ext uri="{FF2B5EF4-FFF2-40B4-BE49-F238E27FC236}">
                <a16:creationId xmlns:a16="http://schemas.microsoft.com/office/drawing/2014/main" id="{838D44EC-5033-4B34-A5D8-1072FF7CBC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02486" y="2579965"/>
            <a:ext cx="9987029" cy="1849915"/>
          </a:xfrm>
          <a:prstGeom prst="rect">
            <a:avLst/>
          </a:prstGeom>
        </p:spPr>
      </p:pic>
      <p:pic>
        <p:nvPicPr>
          <p:cNvPr id="11" name="Picture 10" descr="\documentclass{article}&#10;\usepackage{amsmath,bm,eufrak,mathtools}&#10;\pagestyle{empty}&#10;\begin{document}&#10;&#10;\begin{equation*}&#10;\rho_{ij}^{(zz)}&#10;= &#10;\left(\frac{2r}{Wa_{\perp}\eta_{ij}}\right)^{W}&#10;\end{equation*}&#10;&#10;\end{document}" title="IguanaTex Bitmap Display">
            <a:extLst>
              <a:ext uri="{FF2B5EF4-FFF2-40B4-BE49-F238E27FC236}">
                <a16:creationId xmlns:a16="http://schemas.microsoft.com/office/drawing/2014/main" id="{6DF5BDC3-9C85-4DCA-B061-DF5597F0521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14287" y="5054082"/>
            <a:ext cx="2363427" cy="6720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1662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8158"/>
                <a:ext cx="10515600" cy="559833"/>
              </a:xfrm>
            </p:spPr>
            <p:txBody>
              <a:bodyPr/>
              <a:lstStyle/>
              <a:p>
                <a:r>
                  <a:rPr lang="en-US" dirty="0"/>
                  <a:t>Central Integral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8158"/>
                <a:ext cx="10515600" cy="559833"/>
              </a:xfrm>
              <a:blipFill>
                <a:blip r:embed="rId6"/>
                <a:stretch>
                  <a:fillRect t="-18478" b="-27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DB15BF2-974B-4460-88CD-0169C37E7EAB}"/>
              </a:ext>
            </a:extLst>
          </p:cNvPr>
          <p:cNvGrpSpPr/>
          <p:nvPr/>
        </p:nvGrpSpPr>
        <p:grpSpPr>
          <a:xfrm>
            <a:off x="3177145" y="2486829"/>
            <a:ext cx="5837711" cy="1892379"/>
            <a:chOff x="3177145" y="2038093"/>
            <a:chExt cx="5837711" cy="1892379"/>
          </a:xfrm>
        </p:grpSpPr>
        <p:pic>
          <p:nvPicPr>
            <p:cNvPr id="21" name="Picture 20" descr="\documentclass{article}&#10;\usepackage{amsmath,amssymb,bm,physics,mathtools}&#10;\pagestyle{empty}&#10;\begin{document}&#10;&#10;\begin{align*}&#10;\mathcal{I}_{\left(\lambda;lm\right)_{ij}}^{(zz)}&#10;&amp; \coloneqq&#10;\int_{\chi=-1}^{\chi=+1}\mathrm{d}\chi\,&#10;\hat{\mathcal{P}}_{l_{i}m_{i}}^{(z)}&#10;\hat{\mathcal{P}}_{l_{j}m_{i}}^{(z)}&#10;\mathrm{e}^{-\rho_{ij}^{(zz)}}&#10;=&#10;\delta_{l_{i}l_{j}}&#10;\mathrm{e}^{-\rho_{ij}^{(zz)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C3CCC0BF-BB6D-4650-874B-D20A8EAEBEB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3177145" y="2038093"/>
              <a:ext cx="5837711" cy="665907"/>
            </a:xfrm>
            <a:prstGeom prst="rect">
              <a:avLst/>
            </a:prstGeom>
          </p:spPr>
        </p:pic>
        <p:pic>
          <p:nvPicPr>
            <p:cNvPr id="5" name="Picture 4" descr="\documentclass{article}&#10;\usepackage{amsmath,bm,eufrak}&#10;\pagestyle{empty}&#10;\begin{document}&#10;&#10;\begin{align*}&#10;\hat{\mathcal{P}}_{lm}^{(z)}&#10;&amp; = &#10;\sqrt{\frac{(2l+1)\left(l-m\right)!}{2\left(l+m\right)!}}&#10;P_{lm}\left(\chi\right)&#10;\\&#10;\end{align*}&#10;&#10;\end{document} " title="IguanaTex Bitmap Display">
              <a:extLst>
                <a:ext uri="{FF2B5EF4-FFF2-40B4-BE49-F238E27FC236}">
                  <a16:creationId xmlns:a16="http://schemas.microsoft.com/office/drawing/2014/main" id="{12DBFEFB-8BEF-4B49-B83B-E43B1E0B5B9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261334" y="3171616"/>
              <a:ext cx="3669333" cy="7588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903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 – Aligned Valleys Term I</a:t>
            </a:r>
          </a:p>
        </p:txBody>
      </p:sp>
      <p:pic>
        <p:nvPicPr>
          <p:cNvPr id="22" name="Picture 21" descr="\documentclass{article}&#10;\usepackage{amsmath,amssymb,bm,physics,mathtools}&#10;\pagestyle{empty}&#10;\begin{document}&#10;&#10;\begin{align*}&#10;\vb*{\rho}_{\left(m\zeta lk;\lambda\eta\right)_{ij}\left\{r\right\}}^{\left(\upharpoonleft \! \upharpoonright\right)}&#10;&amp; \coloneqq&#10;\delta_{\left(\Omega\right)_{ij}}&#10;\int_{\mathcal{S}} \mathrm{d}\vb{\Omega}\,&#10;\tilde{\Phi}_{\left(m\zeta lk;\lambda\eta\right)_{i}}^{(Wz)}&#10;\Phi_{\left(m\zeta lk;\lambda\eta\right)_{j}}^{(Wz)}&#10;\Theta^{(\upharpoonleft \! \upharpoonright)}&#10;\\&#10;&amp; =&#10;\delta_{\left(\Omega\right)_{ij}}&#10;\int_{\mathcal{S}} \mathrm{d}\vb{\Omega}\,&#10;\tilde{\Phi}_{\left(m\zeta lk;\lambda\eta\right)_{i}}^{(Wz)}&#10;\Phi_{\left(m\zeta lk;\lambda\eta\right)_{j}}^{(Wz)}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\&#10;&amp; =&#10;\zeta_{i}&#10;\delta_{\left(\Omega\right)_{ij}}&#10;\int_{\mathcal{S}} \mathrm{d}\vb{\Omega}\,&#10;\sum_{g}&#10;D_{g}^{(\upharpoonleft \! \upharpoonright)}&#10;\hat{Q}_{\left(m\zeta\right)_{i}}^{(z)}&#10;\hat{Q}_{\left(m\zeta\right)_{j}}^{(z)}&#10;\hat{\mathcal{P}}_{\left(\lambda;lm\right)_{i}}^{(z)}&#10;\hat{\mathcal{P}}_{\left(\lambda;lm\right)_{j}}^{(z)}&#10;\mathcal{\text{Re}}\left\{&#10;\mathrm{e}^{\mathrm{i}\phi_{g}^{(\upharpoonleft \! \upharpoonright)}}&#10;\sum_{h(g)}&#10;\mathcal{R} _{\left(\check{\eta}_{z};kl\right)_{i}\left\{r\right\}} ^{\left(W\right)}&#10;\mathcal{R} _{\left(\check{\eta}_{z};kl\right)_{j}\left\{r\right\}} ^{\left(W\right)}&#10;\mathrm{e}^{\mathrm{i}\frac{2\pi}{a_{\text{Si}}}\bm{h}_{gh}^{(\upharpoonleft \! \upharpoonright)}\cdot\bm{r}}&#10;\right\}&#10;\\&#10;\Theta_{\upharpoonleft \! \upharpoonright}&#10;&amp; \coloneqq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 title="IguanaTex Bitmap Display">
            <a:extLst>
              <a:ext uri="{FF2B5EF4-FFF2-40B4-BE49-F238E27FC236}">
                <a16:creationId xmlns:a16="http://schemas.microsoft.com/office/drawing/2014/main" id="{90A63420-4D17-4FB5-BD25-5CBD5B75BA2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-265133" y="1928198"/>
            <a:ext cx="12918840" cy="3609913"/>
          </a:xfrm>
          <a:prstGeom prst="rect">
            <a:avLst/>
          </a:prstGeom>
        </p:spPr>
      </p:pic>
      <p:pic>
        <p:nvPicPr>
          <p:cNvPr id="25" name="Picture 24" descr="\documentclass{article}&#10;\usepackage{amsmath,amssymb,bm}&#10;\pagestyle{empty}&#10;\begin{document}&#10;&#10;\begin{align*}&#10;\mathcal{R}&#10;_{\eta;kl\left\{r\right\}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C56B1AB3-0C7E-4A35-B1C0-6F6E69A8692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55049" y="5966121"/>
            <a:ext cx="6681902" cy="8243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2868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Averaged Over Solid Angle</a:t>
            </a:r>
          </a:p>
        </p:txBody>
      </p:sp>
      <p:pic>
        <p:nvPicPr>
          <p:cNvPr id="3" name="Picture 2" descr="\documentclass{article}&#10;\usepackage{amsmath,amssymb,bm,physics,mathtools}&#10;\pagestyle{empty}&#10;\begin{document}&#10;&#10;\begin{align*}&#10;\vb*{\rho}_{\left(m\zeta lk;\lambda\eta\right)_{ij}\left\{r\right\}}^{\left(\parallel\right)}&#10;&amp; \coloneqq&#10;\int_{\mathcal{S}} \mathrm{d}\vb{\Omega}\,&#10;\tilde{\Phi}_{\left(m\zeta lk;\lambda\eta\right)_{i}}^{(Wz)}&#10;\Phi_{\left(m\zeta lk;\lambda\eta\right)_{j}}^{(Wz)}&#10;\tilde{\Theta}^{(z)}_{\Omega_{i}\vb*{r}}&#10;\Theta^{(z)}_{\Omega_{j}\vb*{r}}&#10;\\&#10;&amp; =&#10;\int_{\mathcal{S}} \mathrm{d}\vb{\Omega}\,&#10;\tilde{\Phi}_{\left(m\zeta lk;\lambda\eta\right)_{i}}^{(Wz)}&#10;\Phi_{\left(m\zeta lk;\lambda\eta\right)_{j}}^{(Wz)}&#10;\left[&#10;\left(\frac{1+\Omega_{1}\Omega_{2}}{2}\right)&#10;\left(&#10;1&#10;+&#10;\Theta^{(\upharpoonleft \! \upharpoonright)}&#10;\right)&#10;+&#10;\Theta_{(\Omega)_{12}}^{(\upharpoonleft \! \downharpoonright)}&#10;\right]&#10;\\&#10;&amp; =&#10;\int_{\phi=-\pi}^{\phi=\pi} \mathrm{d}\phi&#10;\int_{\chi=-1}^{\chi=+1} \mathrm{d}\chi\,&#10;\tilde{Q}_{\left(m\zeta\right)_{i}}^{(z)}Q_{\left(m\zeta\right)_{j}}^{(z)}&#10;\mathcal{P}_{\left(\lambda;lm\right)_{i}}^{(z)}&#10;\mathcal{P}_{\left(\lambda;lm\right)_{j}}^{(z)}&#10;\mathcal{R} _{\left(\check{\eta}_{z};kl\right)_{i}\left\{r\right\}} ^{\left(W\right)}&#10;\mathcal{R} _{\left(\check{\eta}_{z};kl\right)_{j}\left\{r\right\}} ^{\left(W\right)}&#10;\tilde{\Theta}^{(z)}_{\Omega_{i}\vb*{r}}&#10;\Theta^{(z)}_{\Omega_{j}\vb*{r}}&#10;\end{align*}&#10;&#10;\end{document}" title="IguanaTex Bitmap Display">
            <a:extLst>
              <a:ext uri="{FF2B5EF4-FFF2-40B4-BE49-F238E27FC236}">
                <a16:creationId xmlns:a16="http://schemas.microsoft.com/office/drawing/2014/main" id="{DE1191B7-E64F-45E0-9F1B-8E846D34FD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1339" y="2063662"/>
            <a:ext cx="10869323" cy="2057147"/>
          </a:xfrm>
          <a:prstGeom prst="rect">
            <a:avLst/>
          </a:prstGeom>
        </p:spPr>
      </p:pic>
      <p:pic>
        <p:nvPicPr>
          <p:cNvPr id="48" name="Picture 47" descr="\documentclass{article}&#10;\usepackage{amsmath,bm,eufrak}&#10;\pagestyle{empty}&#10;\begin{document}&#10;&#10;\begin{equation*}&#10;\Phi_{\left(m\zeta lk;\lambda\eta\right)_{i}}^{(Wp)}&#10;= &#10;\hat{Q}_{\left(m\zeta\right)_{i}}^{(p)}&#10;\hat{\mathcal{P}}_{\left(\lambda;lm\right)_{i}}^{(p)}&#10;\mathcal{R} _{\left(\check{\eta};kl\right)_{i}\left\{r\right\}} ^{\left(W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82398C17-2D77-46C9-BADE-D152B4332C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08700" y="4596711"/>
            <a:ext cx="4173713" cy="408381"/>
          </a:xfrm>
          <a:prstGeom prst="rect">
            <a:avLst/>
          </a:prstGeom>
        </p:spPr>
      </p:pic>
      <p:pic>
        <p:nvPicPr>
          <p:cNvPr id="25" name="Picture 24" descr="\documentclass{article}&#10;\usepackage{amsmath,amssymb,bm}&#10;\pagestyle{empty}&#10;\begin{document}&#10;&#10;\begin{align*}&#10;\mathcal{R}&#10;_{\eta;kl\left\{r\right\}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C56B1AB3-0C7E-4A35-B1C0-6F6E69A8692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55049" y="5703655"/>
            <a:ext cx="6681902" cy="8243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3" name="Picture 52" descr="\documentclass{article}&#10;\usepackage{amsmath,bm,eufrak}&#10;\pagestyle{empty}&#10;\begin{document}&#10;&#10;\begin{equation*}&#10;\check{\eta}_{ip}&#10;= &#10;\frac&#10;{ \eta_{i} }&#10;{ \vartheta_{\lambda_{i}\left\{\chi_{p}\right\}} 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830A5AB6-CB62-46EE-9597-302AFE3347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477063" y="4523642"/>
            <a:ext cx="1478094" cy="55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61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Bloch integrand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\mathcal{Z}\left\{\Theta^{(-y)}\Theta^{(+x)}+\Omega_{0}\Theta^{(+y)}\Theta^{(+x)},\Omega_{0}\Omega_{1}\right\}&#10;&amp; =&#10;\Theta_{\perp}&#10;\equiv&#10;\sum_{g}D_{g}^{(\perp)}&#10;\mathcal{Z}\left\{&#10;\sum_{p}&#10;\mathrm{e}^{\mathrm{i}p\phi_{g}^{(\perp)}}&#10;\sum_{n=0,1}\Xi_{n}&#10;\sum_{h(g,p,n)}&#10;\mathrm{e}^{\mathrm{i}\frac{2\pi}{a_{\text{Si}}}\bm{h}_{gpnh}^{(\perp)}\cdot\bm{r}}&#10;,\Omega_{0}\Omega_{1}\right\}&#10;\\&#10;\Xi_{n}&#10;&amp; =&#10;\delta_{n0}+\Omega_{0}\delta_{n1}&#10;\end{align*}&#10;&#10;&#10;&#10;\end{document}" title="IguanaTex Bitmap Display">
            <a:extLst>
              <a:ext uri="{FF2B5EF4-FFF2-40B4-BE49-F238E27FC236}">
                <a16:creationId xmlns:a16="http://schemas.microsoft.com/office/drawing/2014/main" id="{A0251A97-633F-49D9-BEEB-A7E10B4BB79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70665" y="5193501"/>
            <a:ext cx="11850670" cy="126780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\documentclass{article}&#10;\usepackage{amsmath,amssymb,bm}&#10;\pagestyle{empty}&#10;\begin{document}&#10;&#10;\begin{align*}&#10;\mathcal{Z}\left\{\Theta^{(-z)}\Theta^{(+z)},\Omega_{0}\Omega_{1}\right\}&#10;=&#10;\left(\frac{1+\Omega_{0}\Omega_{1}}{2}\right)&#10;\left( 1 + \Theta_{\upharpoonleft \! \upharpoonright} \right)&#10;\end{align*}&#10;&#10;\end{document}" title="IguanaTex Bitmap Display">
            <a:extLst>
              <a:ext uri="{FF2B5EF4-FFF2-40B4-BE49-F238E27FC236}">
                <a16:creationId xmlns:a16="http://schemas.microsoft.com/office/drawing/2014/main" id="{1B0A1A98-C4B3-4829-A4C2-FEB6D5EE75C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30094" y="2030604"/>
            <a:ext cx="5331812" cy="608000"/>
          </a:xfrm>
          <a:prstGeom prst="rect">
            <a:avLst/>
          </a:prstGeom>
        </p:spPr>
      </p:pic>
      <p:pic>
        <p:nvPicPr>
          <p:cNvPr id="20" name="Picture 19" descr="\documentclass{article}&#10;\usepackage{amsmath,amssymb,bm}&#10;\pagestyle{empty}&#10;\begin{document}&#10;&#10;\begin{align*}&#10;\mathcal{Z}\left\{\Theta^{(+z)}\Theta^{(+z)},\Omega_{0}\Omega_{1}\right\}&#10;=&#10;\Theta_{\upharpoonleft \! \downharpoonright}&#10;\equiv&#10;\sum_{g} &#10;D_{g}^{(\upharpoonleft \! \downharpoonright)}&#10;\mathcal{Z}\left\{&#10;\sum_{p}&#10;\mathrm{e}^{\mathrm{i}p\phi_{g}^{(\upharpoonleft \! \downharpoonright)}}&#10;\sum_{h(g,p)}&#10;\mathrm{e}^{\mathrm{i}\frac{2\pi}{a_{\text{Si}}}\bm{h}_{gph}^{(\upharpoonleft \! \downharpoonright)}\cdot\bm{r}}&#10;,\Omega_{0}\Omega_{1}\right\}&#10;\\&#10;\end{align*}&#10;&#10;\end{document}" title="IguanaTex Bitmap Display">
            <a:extLst>
              <a:ext uri="{FF2B5EF4-FFF2-40B4-BE49-F238E27FC236}">
                <a16:creationId xmlns:a16="http://schemas.microsoft.com/office/drawing/2014/main" id="{25BE2251-C73C-49CA-BC31-368430A47F3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53906" y="4037621"/>
            <a:ext cx="8684189" cy="912761"/>
          </a:xfrm>
          <a:prstGeom prst="rect">
            <a:avLst/>
          </a:prstGeom>
        </p:spPr>
      </p:pic>
      <p:pic>
        <p:nvPicPr>
          <p:cNvPr id="18" name="Picture 17" descr="\documentclass{article}&#10;\usepackage{amsmath,amssymb,bm}&#10;\pagestyle{empty}&#10;\begin{document}&#10;&#10;\begin{align*}&#10;\Theta_{\upharpoonleft \! \upharpoonright}&#10;\equiv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 title="IguanaTex Bitmap Display">
            <a:extLst>
              <a:ext uri="{FF2B5EF4-FFF2-40B4-BE49-F238E27FC236}">
                <a16:creationId xmlns:a16="http://schemas.microsoft.com/office/drawing/2014/main" id="{C1B66382-ABBB-47FE-AAF5-282AB88875C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50666" y="2881734"/>
            <a:ext cx="4490669" cy="91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03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B11. Final form of Bloch product formulae</a:t>
            </a:r>
          </a:p>
        </p:txBody>
      </p:sp>
      <p:pic>
        <p:nvPicPr>
          <p:cNvPr id="11" name="Picture 10" descr="\documentclass{article}&#10;\usepackage{amsmath,amssymb,bm,mathtools}&#10;\pagestyle{empty}&#10;\begin{document}&#10;&#10;\begin{align*}&#10;\Theta_{(\Omega)_{12}}^{(\upharpoonleft \! \upharpoonright)}&#10;&amp; \coloneqq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\&#10;\Theta_{(\Omega)_{12}}^{(\upharpoonleft \! \downharpoonright)}&#10;&amp; \coloneqq&#10;\Omega_{1}&#10;\sum_{g} &#10;\left|D_{g}^{(\upharpoonleft \! \downharpoonright)}\right|&#10;\mathcal{Z}\left\{&#10;\sum_{p}&#10;\mathrm{e}^{\mathrm{i}p\phi_{g}^{(\upharpoonleft \! \downharpoonright)}}&#10;\sum_{h(g,p)}&#10;\mathrm{e}^{\mathrm{i}\frac{2\pi}{a_{\text{Si}}}\bm{h}_{gph}^{(\upharpoonleft \! \downharpoonright)}\cdot\bm{r}}&#10;,\Omega_{1}\Omega_{2}\right\}&#10;\\&#10;\Theta_{(\Omega)_{12}}^{(\perp)}&#10;&amp; \coloneqq&#10;\sum_{g}\left|D_{g}^{(\perp)}\right|&#10;\mathcal{Z}\left\{&#10;\sum_{p}&#10;\mathrm{e}^{\mathrm{i}p\phi_{g}^{(\perp)}}&#10;\sum_{n}\left(\delta_{n,-1}+\Omega_{1}\delta_{n,+1}\right)&#10;\sum_{h(g,p,n)}&#10;\mathrm{e}^{\mathrm{i}\frac{2\pi}{a_{\text{Si}}}\bm{h}_{gpnh}^{(\perp)}\cdot\bm{r}}&#10;,\Omega_{1}\Omega_{2}\right\}&#10;\end{align*}&#10;&#10;\end{document}" title="IguanaTex Bitmap Display">
            <a:extLst>
              <a:ext uri="{FF2B5EF4-FFF2-40B4-BE49-F238E27FC236}">
                <a16:creationId xmlns:a16="http://schemas.microsoft.com/office/drawing/2014/main" id="{1940E3C3-87B9-4372-8FF2-C14BE4C9B01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90629" y="3797030"/>
            <a:ext cx="8210742" cy="2642745"/>
          </a:xfrm>
          <a:prstGeom prst="rect">
            <a:avLst/>
          </a:prstGeom>
        </p:spPr>
      </p:pic>
      <p:pic>
        <p:nvPicPr>
          <p:cNvPr id="9" name="Picture 8" descr="\documentclass{article}&#10;\usepackage{amsmath,bm,amssymb}&#10;\pagestyle{empty}&#10;\begin{document}&#10;&#10;\begin{align*}&#10;\Omega_{1}&#10;\Theta_{\Omega_{1}}^{(y)}&#10;\Theta_{\Omega_{2}}^{(x)}&#10;&amp; =&#10;\Theta_{(\Omega)_{12}}^{(\perp)}&#10;\\&#10;\Omega_{1}&#10;\Theta_{\Omega_{1}}^{(z)}&#10;\Theta_{\Omega_{2}}^{(z)}&#10;&amp; =&#10;\left(\frac{1+\Omega_{1}\Omega_{2}}{2}\right)&#10;\left(&#10;1&#10;+&#10;\Theta_{(\Omega)_{12}}^{(\upharpoonleft \! \upharpoonright)}&#10;\right)&#10;+&#10;\Theta_{(\Omega)_{12}}^{(\upharpoonleft \! \downharpoonright)}&#10;\end{align*}&#10;&#10;\end{document}" title="IguanaTex Bitmap Display">
            <a:extLst>
              <a:ext uri="{FF2B5EF4-FFF2-40B4-BE49-F238E27FC236}">
                <a16:creationId xmlns:a16="http://schemas.microsoft.com/office/drawing/2014/main" id="{885650F1-A685-4DD8-AE31-F37EEF2FE30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26055" y="2268310"/>
            <a:ext cx="4939891" cy="9929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4533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C159-59FB-4E0C-823C-7B7FA4A21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Basis Defined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8C9E6-75CF-410B-BF96-BBB39AC7F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83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\documentclass{article}&#10;\usepackage{amsmath,amssymb,bm}&#10;\pagestyle{empty}&#10;\begin{document}&#10;&#10;\begin{align*}&#10;\mathcal{R}&#10;_{\eta;kl\left\{r\right\}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80822695-B0E8-48B3-9731-4F83821E04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55049" y="5703655"/>
            <a:ext cx="6681902" cy="8243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basis states -- I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\Phi_{m\zeta lk;\lambda\eta}^{(Wq)}&#10;= &#10;\hat{Q}_{m\zeta}^{(q)}&#10;\hat{\mathcal{P}}_{\lambda;lm}^{(q)}&#10;\mathcal{R} _{\left(\eta/\vartheta_{\lambda\left\{\chi_{q}\right\}}\right);kl\left\{r\right\}} ^{\left(W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B99FF71B-E8F7-4A81-A283-23693A4A7E0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981716" y="1967206"/>
            <a:ext cx="4228568" cy="53638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B2C094F-EFC2-4339-A45D-FDF7C8FF04CC}"/>
              </a:ext>
            </a:extLst>
          </p:cNvPr>
          <p:cNvGrpSpPr/>
          <p:nvPr/>
        </p:nvGrpSpPr>
        <p:grpSpPr>
          <a:xfrm>
            <a:off x="583665" y="3099432"/>
            <a:ext cx="11024671" cy="2008378"/>
            <a:chOff x="583664" y="2963498"/>
            <a:chExt cx="11024671" cy="2008378"/>
          </a:xfrm>
        </p:grpSpPr>
        <p:pic>
          <p:nvPicPr>
            <p:cNvPr id="8" name="Picture 7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left(\vartheta_{\lambda\left\{\chi_{q}\right\}}\right)^{3}}}&#10;\sqrt{\frac{(2l+1)\left(l-m\right)!}{2\left(l+m\right)!}}&#10;P_{lm}\left(\frac{\lambda \chi_{q}}{\vartheta_{\lambda\left\{\chi_{q}\right\}}}\right)&#10;\\&#10;\hat{Q}_{\zeta m}^{(q)}&#10;&amp; = &#10;\frac{1}{\sqrt{2\pi}}&#10;\left(\frac{\mathrm{e}^{\mathrm{i}m \phi_{q}}+ \zeta\mathrm{e}^{-\mathrm{i}m \phi_{q}}}&#10;{2\delta_{m0} + \sqrt{2}\left(1-\delta_{m0}\right)}\right)&#10;\end{align*}&#10;&#10;\end{document} " title="IguanaTex Bitmap Display">
              <a:extLst>
                <a:ext uri="{FF2B5EF4-FFF2-40B4-BE49-F238E27FC236}">
                  <a16:creationId xmlns:a16="http://schemas.microsoft.com/office/drawing/2014/main" id="{B9279BAF-FDB1-489D-9A0F-BEE88B93973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83664" y="2963498"/>
              <a:ext cx="5956571" cy="2008378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C51ABE5-50DA-42F9-9D7D-746C5EFFA2D3}"/>
                </a:ext>
              </a:extLst>
            </p:cNvPr>
            <p:cNvGrpSpPr/>
            <p:nvPr/>
          </p:nvGrpSpPr>
          <p:grpSpPr>
            <a:xfrm>
              <a:off x="7123899" y="2991687"/>
              <a:ext cx="4484436" cy="1952000"/>
              <a:chOff x="6808836" y="3100269"/>
              <a:chExt cx="4484436" cy="1952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249CE76-A88C-4487-89DB-79F5FC40B2A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209C886-60C8-48AA-9803-1DBF5239F77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28825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even</a:t>
            </a:r>
          </a:p>
        </p:txBody>
      </p:sp>
      <p:pic>
        <p:nvPicPr>
          <p:cNvPr id="18" name="Picture 17" descr="\documentclass{article}&#10;\usepackage{amsmath,bm}&#10;\pagestyle{empty}&#10;\begin{document}&#10;&#10;\begin{equation*}&#10;\Psi_{A^{(\sigma)};\lambda\eta}^{\left(W\right)}&#10;=&#10;\sum_{m_{e}lk}&#10;c_{m_{e}lk}&#10;\sum_{q = x,y,z} &#10;\left(\frac{1}{\sqrt{3}}\right)&#10;\Phi_{m_{e}(\sigma\mathrm{i}^{m_{e}})lk;\lambda\eta}^{(W q)}&#10;\Theta^{(q)}_{\sigma\mathrm{i}^{m_{e}}(-1)^{l}}&#10;\end{equation*}&#10;&#10;\end{document}" title="IguanaTex Bitmap Display">
            <a:extLst>
              <a:ext uri="{FF2B5EF4-FFF2-40B4-BE49-F238E27FC236}">
                <a16:creationId xmlns:a16="http://schemas.microsoft.com/office/drawing/2014/main" id="{A70F57C6-5A1F-44D6-93CD-F3511645B2F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31907" y="2271897"/>
            <a:ext cx="5897141" cy="628114"/>
          </a:xfrm>
          <a:prstGeom prst="rect">
            <a:avLst/>
          </a:prstGeom>
        </p:spPr>
      </p:pic>
      <p:pic>
        <p:nvPicPr>
          <p:cNvPr id="28" name="Picture 27" descr="\documentclass{article}&#10;\usepackage{amsmath,bm}&#10;\pagestyle{empty}&#10;\begin{document}&#10;&#10;\begin{align*}&#10;\Psi_{T_{q}^{(\sigma)};\lambda\eta}^{\left(W\right)}&#10;=&#10;\sum_{m_{e}lk}&#10;c_{m_{e}lk}&#10;\Phi_{m_{e}(\sigma\mathrm{i}^{m_{e}})lk;\lambda\eta}^{(W q)}&#10;\Theta_{-\sigma\mathrm{i}^{m_{e}}(-1)^{l}}^{(q)}&#10;\end{align*}&#10;&#10;\end{document}" title="IguanaTex Bitmap Display">
            <a:extLst>
              <a:ext uri="{FF2B5EF4-FFF2-40B4-BE49-F238E27FC236}">
                <a16:creationId xmlns:a16="http://schemas.microsoft.com/office/drawing/2014/main" id="{743CCCF7-AB0F-4246-8B07-A4A672AF91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09870" y="5719801"/>
            <a:ext cx="4595649" cy="534858"/>
          </a:xfrm>
          <a:prstGeom prst="rect">
            <a:avLst/>
          </a:prstGeom>
        </p:spPr>
      </p:pic>
      <p:pic>
        <p:nvPicPr>
          <p:cNvPr id="20" name="Picture 19" descr="\documentclass{article}&#10;\usepackage{amsmath,bm}&#10;\pagestyle{empty}&#10;\begin{document}&#10;&#10;\begin{equation*}&#10;\Psi_{E_{i};\lambda\eta}^{\left(W\right)}&#10;=&#10;\sum_{m_{e}lk\sigma}&#10;c_{m_{e}lk\sigma}&#10;\sum_{q = x,y,z}&#10;\left(\beta_{E_{i}}^{(\sigma)}\right)_{q}&#10;\Phi_{m_{e}(\sigma\mathrm{i}^{m_{e}})lk;\lambda\eta}^{(W q)}&#10;\Theta^{(q)}_{\sigma\mathrm{i}^{m_{e}}(-1)^{l}}&#10;\end{equation*}&#10;&#10;\end{document}" title="IguanaTex Bitmap Display">
            <a:extLst>
              <a:ext uri="{FF2B5EF4-FFF2-40B4-BE49-F238E27FC236}">
                <a16:creationId xmlns:a16="http://schemas.microsoft.com/office/drawing/2014/main" id="{6C0B5189-0175-48A1-8C3C-C51012855A6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03051" y="3992811"/>
            <a:ext cx="6042509" cy="559543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80F15C3-D595-41CB-B6AB-8CADA7AC6D83}"/>
              </a:ext>
            </a:extLst>
          </p:cNvPr>
          <p:cNvGrpSpPr/>
          <p:nvPr/>
        </p:nvGrpSpPr>
        <p:grpSpPr>
          <a:xfrm>
            <a:off x="6964171" y="3904230"/>
            <a:ext cx="4048787" cy="763628"/>
            <a:chOff x="6964171" y="3838118"/>
            <a:chExt cx="4048787" cy="76362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FD8E46-B34A-4FF7-86CB-79EDE9D46181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6964171" y="3838118"/>
              <a:ext cx="2171123" cy="763628"/>
              <a:chOff x="6964171" y="3838118"/>
              <a:chExt cx="2171123" cy="763628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F407A43-AF9D-49DE-8682-E6D93E3DA97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6964171" y="3838118"/>
                <a:ext cx="2171123" cy="460800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3257" y="4383536"/>
                <a:ext cx="1178819" cy="218210"/>
              </a:xfrm>
              <a:prstGeom prst="rect">
                <a:avLst/>
              </a:prstGeom>
            </p:spPr>
          </p:pic>
        </p:grpSp>
        <p:pic>
          <p:nvPicPr>
            <p:cNvPr id="21" name="Picture 2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520" y="3994408"/>
              <a:ext cx="1282438" cy="451048"/>
            </a:xfrm>
            <a:prstGeom prst="rect">
              <a:avLst/>
            </a:prstGeom>
          </p:spPr>
        </p:pic>
      </p:grpSp>
      <p:pic>
        <p:nvPicPr>
          <p:cNvPr id="7" name="Picture 6" descr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E46659B-01EA-4988-B004-C6B953A3CE8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386568" y="2037422"/>
            <a:ext cx="2162743" cy="9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09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odd</a:t>
            </a:r>
          </a:p>
        </p:txBody>
      </p:sp>
      <p:pic>
        <p:nvPicPr>
          <p:cNvPr id="4" name="Picture 3" descr="\documentclass{article}&#10;\usepackage{amsmath,bm}&#10;\pagestyle{empty}&#10;\begin{document}&#10;&#10;\begin{align*}&#10;\Psi_{T_{q_{1}}^{(\sigma)};\lambda\eta}^{\left(W\right)}&#10;=&#10;\sum_{m_{o}lkh}&#10;c_{m_{o}lkh}&#10;\left(&#10;\frac&#10;{&#10;\Phi_{m_{o}hlk;\lambda\eta}^{\left(W\kappa q_{2}\right)}\Theta_{h(-1)^{l}}^{(q_{2})}&#10;- h\sigma\mathrm{i}^{m_{o}}\Phi_{m_{o}\bar{h}lk;\lambda\eta}^{\left(Wq_{3}\right)}\Theta_{h(-1)^{l}}^{(q_{3})}&#10;}&#10;{\sqrt{2}}&#10;\right)&#10;\end{align*}&#10;&#10;\end{document}" title="IguanaTex Bitmap Display">
            <a:extLst>
              <a:ext uri="{FF2B5EF4-FFF2-40B4-BE49-F238E27FC236}">
                <a16:creationId xmlns:a16="http://schemas.microsoft.com/office/drawing/2014/main" id="{AA8135EF-9CAF-4F6F-BF2B-0A6FDD11D61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12575" y="3098484"/>
            <a:ext cx="6966851" cy="82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504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4923.134"/>
  <p:tag name="LATEXADDIN" val="\documentclass{article}&#10;\usepackage{amsmath,bm,physics}&#10;\pagestyle{empty}&#10;\begin{document}&#10;&#10;\begin{equation*}&#10;\Psi_{\vb*{r}}&#10;=&#10;\sum_{\beta}c^{\prime}_{\beta}\Psi_{\beta\vb*{r}}&#10;\approx&#10;\sum_{\beta}c^{\prime}_{\beta}&#10;\sum_{j} c_{j}&#10;\left(&#10;\sum_{q\in\left\{x,y,z\right\}} \beta_{q}&#10;\Phi_{j\vb*{r}}^{(q)}&#10;\Theta^{(q)}_{\Omega_{j}\vb*{r}}&#10;\right)&#10;=&#10;\sum_{j^\prime} d_{j^{\prime}}&#10;\left(&#10;\sum_{q\in\left\{x,y,z\right\}} \beta_{j^{\prime}q}&#10;\Phi_{j^{\prime}\vb*{r}}^{(q)}&#10;\Theta^{(q)}_{\Omega_{j^{\prime}}\vb*{r}}&#10;\right)&#10;\end{equation*}&#10;&#10;\end{document}"/>
  <p:tag name="IGUANATEXSIZE" val="20"/>
  <p:tag name="IGUANATEXCURSOR" val="21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4124.484"/>
  <p:tag name="LATEXADDIN" val="\documentclass{article}&#10;\usepackage{amsmath,bm,physics}&#10;\pagestyle{empty}&#10;\begin{document}&#10;&#10;\begin{equation*}&#10;\rho_{\vb*{r}}&#10;= &#10;\tilde{\Psi}_{\vb*{r}}\Psi_{\vb*{r}}&#10;\approx&#10;\sum_{i}\sum_{j}&#10;c_{i}^{*}&#10;\left(&#10;\sum_{p\in\left\{x,y,z\right\}} \beta_{ip}^{*}&#10;\tilde{\Phi}_{i\vb*{r}}^{(p)}&#10;\tilde{\Theta}^{(p)}_{\Omega_{i}\vb*{r}}&#10;\right)&#10;\left(&#10;\sum_{q\in\left\{x,y,z\right\}} \beta_{jq}&#10;\Phi_{j\vb*{r}}^{(q)}&#10;\Theta^{(q)}_{\Omega_{j}\vb*{r}}&#10;\right)&#10;c_{j}&#10;\end{equation*}&#10;&#10;\end{document}"/>
  <p:tag name="IGUANATEXSIZE" val="20"/>
  <p:tag name="IGUANATEXCURSOR" val="29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125.609"/>
  <p:tag name="LATEXADDIN" val="\documentclass{article}&#10;\usepackage{amsmath,bm,physics,mathtools}&#10;\pagestyle{empty}&#10;\begin{document}&#10;&#10;\begin{equation*}&#10;\rho_{\vb*{r}}&#10;= &#10;\vb*{c}^{\dagger}\vb*{\rho}_{\vb*{r}}\vb*{c}&#10;\quad\quad&#10;\vb*{\rho}_{ij\vb*{r}}&#10;\coloneqq&#10;\sum_{p,q\in\left\{x,y,z\right\}}&#10;\beta_{ip}^{*}\beta_{jq}&#10;\tilde{\Phi}_{i\vb*{r}}^{(p)}&#10;\Phi_{j\vb*{r}}^{(q)}&#10;\tilde{\Theta}^{(p)}_{\Omega_{i}\vb*{r}}&#10;\Theta^{(q)}_{\Omega_{j}\vb*{r}}&#10;\end{equation*}&#10;&#10;\end{document}"/>
  <p:tag name="IGUANATEXSIZE" val="20"/>
  <p:tag name="IGUANATEXCURSOR" val="21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7068"/>
  <p:tag name="ORIGINALWIDTH" val="2737.158"/>
  <p:tag name="LATEXADDIN" val="\documentclass{article}&#10;\usepackage{amsmath,bm,physics,mathtools}&#10;\pagestyle{empty}&#10;\begin{document}&#10;&#10;\begin{equation*}&#10;\vb*{\rho}_{ij\left\{r\right\}}&#10;\coloneqq&#10;\sum_{ p,q\in\left\{x,y,z\right\} }&#10;\beta_{ip}^{*}\beta_{jq}&#10;\int_{\mathcal{S}} \mathrm{d}\vb{\Omega}\,&#10;\tilde{\Phi}_{i\vb*{r}}^{(p)}&#10;\Phi_{j\vb*{r}}^{(q)}&#10;\tilde{\Theta}^{(p)}_{\Omega_{i}\vb*{r}}&#10;\Theta^{(q)}_{\Omega_{j}\vb*{r}}&#10;\end{equation*}&#10;&#10;\end{document}"/>
  <p:tag name="IGUANATEXSIZE" val="20"/>
  <p:tag name="IGUANATEXCURSOR" val="19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7.6415"/>
  <p:tag name="ORIGINALWIDTH" val="6957.63"/>
  <p:tag name="LATEXADDIN" val="\documentclass{article}&#10;\usepackage{amsmath,bm,physics,mathtools}&#10;\pagestyle{empty}&#10;\begin{document}&#10;&#10;\begin{align*}&#10;\vb*{\rho}_{ij\left\{r\right\}}&#10;&amp; =&#10;\sum_{ p\in\left\{x,y,z\right\} }&#10;\left(&#10;\beta_{ip}^{*}\beta_{jp}&#10;\int_{\mathcal{S}} \mathrm{d}\vb{\Omega}\,&#10;\tilde{\Phi}_{i\vb*{r}}^{(z)}&#10;\Phi_{j\vb*{r}}^{(z)}&#10;\tilde{\Theta}^{(z)}_{\Omega_{i}\vb*{r}}&#10;\Theta^{(z)}_{\Omega_{j}\vb*{r}}&#10;+&#10;\beta_{ip}^{*}\beta_{j\left(p+1\right)}&#10;\int_{\mathcal{S}} \mathrm{d}\vb{\Omega}\,&#10;\tilde{\Phi}_{i\vb*{r}}^{(x)}&#10;\Phi_{j\vb*{r}}^{(y)}&#10;\tilde{\Theta}^{(x)}_{\Omega_{i}\vb*{r}}&#10;\Theta^{(y)}_{\Omega_{j}\vb*{r}}&#10;+&#10;\beta_{ip}^{*}\beta_{j\left(p-1\right)}&#10;\int_{\mathcal{S}} \mathrm{d}\vb{\Omega}\,&#10;\tilde{\Phi}_{i\vb*{r}}^{(y)}&#10;\Phi_{j\vb*{r}}^{(x)}&#10;\tilde{\Theta}^{(y)}_{\Omega_{i}\vb*{r}}&#10;\Theta^{(x)}_{\Omega_{j}\vb*{r}}&#10;\right)&#10;\\&#10;&amp; =&#10;\left(&#10;\sum_{ p\in\left\{x,y,z\right\} }&#10;\beta_{ip}^{*}\beta_{jp}&#10;\right)&#10;\int_{\mathcal{S}} \mathrm{d}\vb{\Omega}\,&#10;\tilde{\Phi}_{i\vb*{r}}^{(z)}&#10;\Phi_{j\vb*{r}}^{(z)}&#10;\tilde{\Theta}^{(z)}_{\Omega_{i}\vb*{r}}&#10;\Theta^{(z)}_{\Omega_{j}\vb*{r}}&#10;+&#10;\left(&#10;\sum_{ p\in\left\{x,y,z\right\} }&#10;\sigma_{i}\sigma_{j}\beta_{ip}^{*}\beta_{j\left(p+1\right)}&#10;+&#10;\beta_{ip}^{*}\beta_{j\left(p-1\right)}&#10;\right)&#10;\int_{\mathcal{S}} \mathrm{d}\vb{\Omega}\,&#10;\tilde{\Phi}_{i\vb*{r}}^{(y)}&#10;\Phi_{j\vb*{r}}^{(x)}&#10;\tilde{\Theta}^{(y)}_{\Omega_{i}\vb*{r}}&#10;\Theta^{(x)}_{\Omega_{j}\vb*{r}}&#10;\end{align*}&#10;&#10;\end{document}"/>
  <p:tag name="IGUANATEXSIZE" val="16"/>
  <p:tag name="IGUANATEXCURSOR" val="138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8.8901"/>
  <p:tag name="ORIGINALWIDTH" val="3391.076"/>
  <p:tag name="LATEXADDIN" val="\documentclass{article}&#10;\usepackage{amsmath,bm,physics,mathtools}&#10;\pagestyle{empty}&#10;\begin{document}&#10;&#10;\begin{align*}&#10;\vb*{\rho}_{ij\left\{r\right\}}&#10;&amp; =&#10;p_{\parallel(\mathcal{W})_{01}}&#10;\vb*{\rho}_{\left(m\zeta lk;\lambda\eta\right)_{ij}\left\{r\right\}}^{\left(\parallel\right)}&#10;+&#10;p_{\perp(\mathcal{W})_{01}}&#10;\vb*{\rho}_{\left(m\zeta lk;\lambda\eta\right)_{ij}\left\{r\right\}}^{\left(\perp\right)}&#10;\\&#10;\vb*{\rho}_{\left(m\zeta lk;\lambda\eta\right)_{ij}\left\{r\right\}}^{\left(\parallel\right)}&#10;&amp; \coloneqq&#10;\int_{\mathcal{S}} \mathrm{d}\vb{\Omega}\,&#10;\tilde{\Phi}_{i\vb*{r}}^{(z)}&#10;\Phi_{j\vb*{r}}^{(z)}&#10;\tilde{\Theta}^{(z)}_{\Omega_{i}\vb*{r}}&#10;\Theta^{(z)}_{\Omega_{j}\vb*{r}}&#10;\\&#10;\vb*{\rho}_{\left(m\zeta lk;\lambda\eta\right)_{ij}\left\{r\right\}}^{\left(\perp\right)}&#10;&amp; \coloneqq&#10;\int_{\mathcal{S}} \mathrm{d}\vb{\Omega}\,&#10;\tilde{\Phi}_{i\vb*{r}}^{(y)}&#10;\Phi_{j\vb*{r}}^{(x)}&#10;\tilde{\Theta}^{(y)}_{\Omega_{i}\vb*{r}}&#10;\Theta^{(x)}_{\Omega_{j}\vb*{r}}&#10;\end{align*}&#10;&#10;\end{document}"/>
  <p:tag name="IGUANATEXSIZE" val="16"/>
  <p:tag name="IGUANATEXCURSOR" val="28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3102.362"/>
  <p:tag name="LATEXADDIN" val="\documentclass{article}&#10;\usepackage{amsmath,bm,eufrak}&#10;\pagestyle{empty}&#10;\begin{document}&#10;&#10;\begin{equation*}&#10;p_{\parallel(\mathcal{W})_{01}}&#10;=&#10;\begin{pmatrix}&#10;\delta_{\sigma_{0}\sigma_{1}} &amp;           0 &amp;          0 &amp;          0 &amp;           0 &amp; 0 &amp; 0 &amp; 0 \\&#10;                            0 &amp;           1 &amp; \mathrm{i} &amp;          0 &amp;           0 &amp; 0 &amp; 0 &amp; 0 \\&#10;                            0 &amp; -\mathrm{i} &amp;          1 &amp;          0 &amp;           0 &amp; 0 &amp; 0 &amp; 0 \\&#10;                            0 &amp;           0 &amp;          0 &amp;          1 &amp; -\mathrm{i} &amp; 0 &amp; 0 &amp; 0 \\&#10;                            0 &amp;           0 &amp;          0 &amp; \mathrm{i} &amp;           1 &amp; 0 &amp; 0 &amp; 0 \\&#10;&#10;0 &amp; 0 &amp; 0 &amp; 0 &amp; 0 &amp; \delta_{\sigma_{0}\sigma_{1}} &amp;                             0 &amp;                             0 \\&#10;0 &amp; 0 &amp; 0 &amp; 0 &amp; 0 &amp;                             0 &amp; \delta_{\sigma_{0}\sigma_{1}} &amp;                             0 \\&#10;0 &amp; 0 &amp; 0 &amp; 0 &amp; 0 &amp;                             0 &amp;                             0 &amp; \delta_{\sigma_{0}\sigma_{1}} \\&#10;\end{pmatrix}&#10;\end{equation*}&#10;&#10;\end{document}"/>
  <p:tag name="IGUANATEXSIZE" val="20"/>
  <p:tag name="IGUANATEXCURSOR" val="739"/>
  <p:tag name="TRANSPARENCY" val="True"/>
  <p:tag name="FILENAME" val=""/>
  <p:tag name="LATEXENGINEID" val="0"/>
  <p:tag name="TEMPFOLDER" val="c:\temp\"/>
  <p:tag name="LATEXFORMHEIGHT" val="571.5"/>
  <p:tag name="LATEXFORMWIDTH" val="1901.2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3025.872"/>
  <p:tag name="LATEXADDIN" val="\documentclass{article}&#10;\usepackage{amsmath,bm,eufrak}&#10;\pagestyle{empty}&#10;\begin{document}&#10;&#10;\begin{equation*}&#10;p_{\perp(\mathcal{W})_{01}}&#10;=&#10;\begin{pmatrix}&#10;2\delta_{\sigma_{0}\sigma_{1}} &amp;         0 &amp;         0 &amp;         0 &amp;        0 &amp; 0 &amp; 0 &amp; 0 \\&#10;                             0 &amp;        -1 &amp;  \sqrt{3} &amp;         0 &amp;        0 &amp; 0 &amp; 0 &amp; 0 \\&#10;                             0 &amp; -\sqrt{3} &amp;        -1 &amp;         0 &amp;        0 &amp; 0 &amp; 0 &amp; 0 \\&#10;                             0 &amp;         0 &amp;         0 &amp;        -1 &amp; \sqrt{3} &amp; 0 &amp; 0 &amp; 0 \\&#10;                             0 &amp;         0 &amp;         0 &amp; -\sqrt{3} &amp;       -1 &amp; 0 &amp; 0 &amp; 0 \\&#10;&#10;0 &amp; 0 &amp; 0 &amp; 0 &amp; 0 &amp; 0 &amp; 0 &amp; 0 \\&#10;0 &amp; 0 &amp; 0 &amp; 0 &amp; 0 &amp; 0 &amp; 0 &amp; 0 \\&#10;0 &amp; 0 &amp; 0 &amp; 0 &amp; 0 &amp; 0 &amp; 0 &amp; 0 \\&#10;\end{pmatrix}&#10;\end{equation*}&#10;&#10;\end{document}"/>
  <p:tag name="IGUANATEXSIZE" val="20"/>
  <p:tag name="IGUANATEXCURSOR" val="231"/>
  <p:tag name="TRANSPARENCY" val="True"/>
  <p:tag name="FILENAME" val=""/>
  <p:tag name="LATEXENGINEID" val="0"/>
  <p:tag name="TEMPFOLDER" val="c:\temp\"/>
  <p:tag name="LATEXFORMHEIGHT" val="624"/>
  <p:tag name="LATEXFORMWIDTH" val="1568.2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8.8901"/>
  <p:tag name="ORIGINALWIDTH" val="3964.004"/>
  <p:tag name="LATEXADDIN" val="\documentclass{article}&#10;\usepackage{amsmath,amssymb,bm,physics,mathtools}&#10;\pagestyle{empty}&#10;\begin{document}&#10;&#10;\begin{align*}&#10;\vb*{\rho}_{\left(m\zeta lk;\lambda\eta\right)_{ij}\left\{r\right\}}^{\left(\parallel\right)}&#10;&amp; \coloneqq&#10;\int_{\mathcal{S}} \mathrm{d}\vb{\Omega}\,&#10;\tilde{\Phi}_{\left(m\zeta lk;\lambda\eta\right)_{i}}^{(Wz)}&#10;\Phi_{\left(m\zeta lk;\lambda\eta\right)_{j}}^{(Wz)}&#10;\tilde{\Theta}^{(z)}_{\Omega_{i}\vb*{r}}&#10;\Theta^{(z)}_{\Omega_{j}\vb*{r}}&#10;\\&#10;&amp; =&#10;\int_{\mathcal{S}} \mathrm{d}\vb{\Omega}\,&#10;\tilde{\Phi}_{\left(m\zeta lk;\lambda\eta\right)_{i}}^{(Wz)}&#10;\Phi_{\left(m\zeta lk;\lambda\eta\right)_{j}}^{(Wz)}&#10;\left[&#10;\delta_{\Omega_{i}\Omega_{j}}&#10;\left(&#10;1&#10;+&#10;\Theta^{(\upharpoonleft \! \upharpoonright)}&#10;\right)&#10;+&#10;\Theta_{(\Omega)_{ij}}^{(\upharpoonleft \! \downharpoonright)}&#10;\right]&#10;\\&#10;&amp; = &#10;\vb*{\rho}_{\left(m\zeta lk;\lambda\eta\right)_{ij}\left\{r\right\}}^{\left(\bullet\right)}&#10;+&#10;\vb*{\rho}_{\left(m\zeta lk;\lambda\eta\right)_{ij}\left\{r\right\}}^{\left(\upharpoonleft \! \upharpoonright\right)}&#10;+&#10;\vb*{\rho}_{\left(m\zeta lk;\lambda\eta\right)_{ij}\left\{r\right\}}^{\left(\upharpoonleft \! \downharpoonright\right)}&#10;\end{align*}&#10;&#10;\end{document}"/>
  <p:tag name="IGUANATEXSIZE" val="20"/>
  <p:tag name="IGUANATEXCURSOR" val="101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0.1313"/>
  <p:tag name="ORIGINALWIDTH" val="2996.625"/>
  <p:tag name="LATEXADDIN" val="\documentclass{article}&#10;\usepackage{amsmath,amssymb,bm,physics,mathtools}&#10;\pagestyle{empty}&#10;\begin{document}&#10;&#10;\begin{align*}&#10;\vb*{\rho}_{\left(m\zeta lk;\lambda\eta\right)_{ij}\left\{r\right\}}^{\left(\bullet\right)}&#10;&amp; \coloneqq&#10;\delta_{\Omega_{i}\Omega_{j}}&#10;\int_{\mathcal{S}} \mathrm{d}\vb{\Omega}\,&#10;\tilde{\Phi}_{\left(m\zeta lk;\lambda\eta\right)_{i}}^{(Wz)}&#10;\Phi_{\left(m\zeta lk;\lambda\eta\right)_{j}}^{(Wz)}&#10;\\&#10;\vb*{\rho}_{\left(m\zeta lk;\lambda\eta\right)_{ij}\left\{r\right\}}^{\left(\upharpoonleft \! \upharpoonright\right)}&#10;&amp; \coloneqq&#10;\int_{\mathcal{S}} \mathrm{d}\vb{\Omega}\,&#10;\tilde{\Phi}_{\left(m\zeta lk;\lambda\eta\right)_{i}}^{(Wz)}&#10;\Phi_{\left(m\zeta lk;\lambda\eta\right)_{j}}^{(Wz)}&#10;\delta_{\Omega_{i}\Omega_{j}}\Theta^{(\upharpoonleft \! \upharpoonright)}&#10;\\&#10;\vb*{\rho}_{\left(m\zeta lk;\lambda\eta\right)_{ij}\left\{r\right\}}^{\left(\upharpoonleft \! \downharpoonright\right)}&#10;&amp; \coloneqq&#10;\int_{\mathcal{S}} \mathrm{d}\vb{\Omega}\,&#10;\tilde{\Phi}_{\left(m\zeta lk;\lambda\eta\right)_{i}}^{(Wz)}&#10;\Phi_{\left(m\zeta lk;\lambda\eta\right)_{j}}^{(Wz)}&#10;\Theta_{(\Omega)_{ij}}^{(\upharpoonleft \! \downharpoonright)}&#10;\end{align*}&#10;&#10;\end{document}"/>
  <p:tag name="IGUANATEXSIZE" val="20"/>
  <p:tag name="IGUANATEXCURSOR" val="73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7.1729"/>
  <p:tag name="ORIGINALWIDTH" val="2770.904"/>
  <p:tag name="LATEXADDIN" val="\documentclass{article}&#10;\usepackage{amsmath,amssymb,bm,physics,mathtools}&#10;\pagestyle{empty}&#10;\begin{document}&#10;&#10;\begin{align*}&#10;\vb*{\rho}_{\left(m\zeta lk;\lambda\eta\right)_{ij}\left\{r\right\}}^{\left(\perp\right)}&#10;&amp; \coloneqq&#10;\int_{\mathcal{S}} \mathrm{d}\vb{\Omega}\,&#10;\tilde{\Phi}_{i\vb*{r}}^{(y)}&#10;\Phi_{j\vb*{r}}^{(x)}&#10;\tilde{\Theta}^{(y)}_{\Omega_{i}\vb*{r}}&#10;\Theta^{(x)}_{\Omega_{j}\vb*{r}}&#10;\\&#10;&amp; =&#10;\int_{\mathcal{S}} \mathrm{d}\vb{\Omega}\,&#10;\tilde{\Phi}_{\left(m\zeta lk;\lambda\eta\right)_{i}}^{(Wy)}&#10;\Phi_{\left(m\zeta lk;\lambda\eta\right)_{j}}^{(Wx)}&#10;\Theta_{(\Omega)_{12}}^{(\perp)}&#10;\\&#10;\end{align*}&#10;&#10;\end{document}"/>
  <p:tag name="IGUANATEXSIZE" val="20"/>
  <p:tag name="IGUANATEXCURSOR" val="55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41.9197"/>
  <p:tag name="ORIGINALWIDTH" val="5143.607"/>
  <p:tag name="LATEXADDIN" val="\documentclass{article}&#10;\usepackage{amsmath,amssymb,bm,physics,mathtools}&#10;\pagestyle{empty}&#10;\begin{document}&#10;&#10;\begin{align*}&#10;\tilde{\Phi}_{\left(m\zeta lk;\lambda\eta\right)_{i}}^{(Wz)}&#10;\Phi_{\left(m\zeta lk;\lambda\eta\right)_{j}}^{(Wz)}&#10;&amp; =&#10;\hat{Q}_{\left(m\zeta\right)_{i}}^{(p)}&#10;\hat{Q}_{\left(m\zeta\right)_{i}}^{(q)}&#10;\hat{\mathcal{P}}_{\left(\lambda;lm\right)_{i}}^{(p)}&#10;\hat{\mathcal{P}}_{\left(\lambda;lm\right)_{i}}^{(q)}&#10;\mathcal{R} _{\left(\check{\eta}_{p};kl\right)_{i}\left\{r\right\}} ^{\left(W\right)}&#10;\mathcal{R} _{\left(\check{\eta}_{q};kl\right)_{j}\left\{r\right\}} ^{\left(W\right)}&#10;\\&#10;\mathcal{R} _{\left(\check{\eta}_{p};kl\right)_{i}\left\{r\right\}} ^{\left(W\right)}&#10;\mathcal{R} _{\left(\check{\eta}_{q};kl\right)_{j}\left\{r\right\}} ^{\left(W\right)}&#10;&amp; =&#10;\left(\frac{2}{Wa_{\perp}}\right)^{3}&#10;\frac{W}{\left(\check{\eta}_{ip}\check{\eta}_{jq}\right)^{\frac{3}{2}}}&#10;\left[&#10;\rho_{ip}^{\frac{l_{i}}{W}}\mathrm{e}^{-\rho_{iz}/2}&#10;\hat{L}_{k_{i}\left\{\rho_{ip}\right\}}^{\left(\frac{2l_{i}+3-W}{W}\right)}&#10;\right]&#10;\left[&#10;\rho_{jq}^{\frac{l_{j}}{W}}\mathrm{e}^{-\rho_{jz}/2}&#10;\hat{L}_{k_{j}\left\{\rho_{jq}\right\}}^{\left(\frac{2l_{j}+3-W}{W}\right)}&#10;\right]&#10;\end{align*}&#10;&#10;\end{document}"/>
  <p:tag name="IGUANATEXSIZE" val="20"/>
  <p:tag name="IGUANATEXCURSOR" val="60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3356.581"/>
  <p:tag name="LATEXADDIN" val="\documentclass{article}&#10;\usepackage{amsmath,bm,eufrak}&#10;\pagestyle{empty}&#10;\begin{document}&#10;&#10;\begin{equation*}&#10;\check{\eta}_{ip}&#10;= &#10;\frac{ \eta_{i} }{ \vartheta_{ip} }&#10;\quad\quad&#10;\vartheta_{ip} = \sqrt{ 1 + \left(\lambda_{i}^{2}-1\right)\chi_{p}^{2} }&#10;\quad\quad&#10;\rho_{ip} = \left(\frac{2r}{Wa_\perp\check{\eta}_{ip}}\right)^{W}&#10;\end{equation*}&#10;&#10;\end{document}"/>
  <p:tag name="IGUANATEXSIZE" val="20"/>
  <p:tag name="IGUANATEXCURSOR" val="22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5.6993"/>
  <p:tag name="ORIGINALWIDTH" val="5657.292"/>
  <p:tag name="LATEXADDIN" val="\documentclass{article}&#10;\usepackage{amsmath,bm,eufrak}&#10;\pagestyle{empty}&#10;\begin{document}&#10;&#10;\begin{equation*}&#10;\Phi_{\left(m\zeta lk;\lambda\eta\right)_{i}}^{(Wp)}&#10;= &#10;\hat{Q}_{\left(m\zeta\right)_{i}}^{(p)}&#10;\hat{\mathcal{P}}_{\left(\lambda;lm\right)_{i}}^{(p)}&#10;\mathcal{R} _{\left(\check{\eta}_{p};kl\right)_{i}\left\{r\right\}} ^{\left(W\right)}&#10;\quad\quad&#10;\mathcal{R}&#10;_{\eta;kl\left\{r\right\}}&#10;^{\left(W\right)}&#10;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equation*}&#10;&#10;\end{document}"/>
  <p:tag name="IGUANATEXSIZE" val="20"/>
  <p:tag name="IGUANATEXCURSOR" val="41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6.6629"/>
  <p:tag name="ORIGINALWIDTH" val="5142.107"/>
  <p:tag name="LATEXADDIN" val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\left(\frac{2}{Wa_{\perp}}\right)^{3}&#10;\frac{W}{\left(\check{\eta}_{ip}\check{\eta}_{jq}\right)^{\frac{3}{2}}}&#10;\left[&#10;\rho_{ip}^{\frac{l_{i}}{W}}\mathrm{e}^{-\rho_{ip}/2}&#10;\hat{L}_{k_{i}\left\{\rho_{ip}\right\}}^{\left(\frac{2l_{i}+3-W}{W}\right)}&#10;\right]&#10;\left[&#10;\rho_{jq}^{\frac{l_{j}}{W}}\mathrm{e}^{-\rho_{jq}/2}&#10;\hat{L}_{k_{j}\left\{\rho_{jq}\right\}}^{\left(\frac{2l_{j}+3-W}{W}\right)}&#10;\right]&#10;\\&#10;&amp; =&#10;Wr^{-3}&#10;\rho_{ip}^{\frac{l_{i}+\frac{3}{2}}{W}}\rho_{jq}^{\frac{l_{j}+\frac{3}{2}}{W}}&#10;\mathrm{e}^{-\hat{\rho}_{ij}^{(pq)}}&#10;\hat{L}_{k_{i}\left\{\rho_{ip}\right\}}^{\left(\frac{2l_{i}+3-W}{W}\right)}&#10;\hat{L}_{k_{j}\left\{\rho_{jq}\right\}}^{\left(\frac{2l_{j}+3-W}{W}\right)}&#10;\\&#10;\end{align*}&#10;&#10;\end{document}"/>
  <p:tag name="IGUANATEXSIZE" val="20"/>
  <p:tag name="IGUANATEXCURSOR" val="80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5.448"/>
  <p:tag name="ORIGINALWIDTH" val="5718.785"/>
  <p:tag name="LATEXADDIN" val="\documentclass{article}&#10;\usepackage{amsmath,bm,eufrak,mathtools}&#10;\pagestyle{empty}&#10;\begin{document}&#10;&#10;\begin{align*}&#10;\hat{\rho}_{ij}^{(pq)}&#10;\coloneqq&#10;\frac{\rho_{ip}+\rho_{jq}}{2}&#10;&amp; = &#10;\left(\frac{2r}{Wa_{\perp}\hat{\eta}_{ij}^{(pq)}}\right)^{W}&#10;=&#10;\rho_{ij}\left(\hat{\vartheta}_{ij}^{(pq)}\hat{\Xi}_{ij}^{(pq)}\right)^{W}&#10;\quad\quad&#10;\hat{\eta}_{ij}^{(pq)}&#10;\coloneqq&#10;\frac{\eta_{ij}}{\hat{\vartheta}_{ij}^{(pq)}\hat{\Xi}_{ij}^{(pq)}}&#10;\quad\quad&#10;\rho_{ij}&#10;\coloneq&#10;\left(\frac{2r}{Wa_{\perp}\eta_{ij}}\right)^{W}&#10;\end{align*}&#10;&#10;\end{document}"/>
  <p:tag name="IGUANATEXSIZE" val="20"/>
  <p:tag name="IGUANATEXCURSOR" val="498"/>
  <p:tag name="TRANSPARENCY" val="True"/>
  <p:tag name="FILENAME" val=""/>
  <p:tag name="LATEXENGINEID" val="0"/>
  <p:tag name="TEMPFOLDER" val="c:\temp\"/>
  <p:tag name="LATEXFORMHEIGHT" val="666"/>
  <p:tag name="LATEXFORMWIDTH" val="1059.7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.4571"/>
  <p:tag name="ORIGINALWIDTH" val="6314.21"/>
  <p:tag name="LATEXADDIN" val="\documentclass{article}&#10;\usepackage{amsmath,bm,mathtools}&#10;\pagestyle{empty}&#10;\begin{document}&#10;&#10;\begin{equation*}&#10;\delta_{ij}&#10;\coloneqq&#10;\frac{\eta_{j}^{W}-\eta_{i}^{W}}{\eta_{i}^{W}+\eta_{j}^{W}}&#10;\quad\quad&#10;\hat{\epsilon}_{ij}^{(pq)}&#10;\coloneqq&#10;\frac&#10;{\vartheta_{ip}^{W}-\vartheta_{jq}^{W}}&#10;{\vartheta_{ip}^{W}+\vartheta_{jq}^{W}}&#10;\quad\quad&#10;\eta_{ij}^{W}&#10;\coloneqq&#10;\frac&#10;{2\eta_{i}^{W}\eta_{j}^{W}}&#10;{\eta_{i}^{W}+\eta_{j}^{W}}&#10;\quad\quad&#10;\left(\hat{\vartheta}_{ij}^{(pq)}\right)^{W}&#10;\coloneqq&#10;\frac&#10;{\vartheta_{ip}^{W}+\vartheta_{jq}^{W}}&#10;{2}&#10;\quad\quad&#10;\left(\hat{\Xi}_{ij}^{(pq)}\right)^{W}&#10;\coloneqq&#10;1+\delta_{ij}\hat{\epsilon}_{ij}^{(pq)}&#10;\end{equation*}&#10;&#10;\end{document}"/>
  <p:tag name="IGUANATEXSIZE" val="16"/>
  <p:tag name="IGUANATEXCURSOR" val="640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90.551"/>
  <p:tag name="ORIGINALWIDTH" val="5298.087"/>
  <p:tag name="LATEXADDIN" val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Wr^{-3}&#10;\rho_{ip}^{\frac{l_{i}+\frac{3}{2}}{W}}\rho_{jq}^{\frac{l_{j}+\frac{3}{2}}{W}}&#10;\mathrm{e}^{-\hat{\rho}_{ij}^{(pq)}}&#10;\hat{L}_{k_{i}\left\{\rho_{ip}\right\}}^{\left(\frac{2l_{i}+3-W}{W}\right)}&#10;\hat{L}_{k_{j}\left\{\rho_{jq}\right\}}^{\left(\frac{2l_{j}+3-W}{W}\right)}&#10;\\&#10;&amp; =&#10;Wr^{-3}&#10;\rho_{ij}^{\frac{l_{i}+l_{j}+3}{W}}&#10;\left(\frac{\vartheta_{ip}\eta_{ij}}{\eta_{i}}\right)^{l_{i}+\frac{3}{2}}\left(\frac{\vartheta_{jq}\eta_{ij}}{\eta_{j}}\right)^{l_{j}+\frac{3}{2}}&#10;\mathrm{e}^{-\hat{\rho}_{ij}^{(pq)}}&#10;\hat{L}_{k_{i}\left\{\rho_{ip}\right\}}^{\left(\frac{2l_{i}+3-W}{W}\right)}&#10;\hat{L}_{k_{j}\left\{\rho_{jq}\right\}}^{\left(\frac{2l_{j}+3-W}{W}\right)}&#10;\\&#10;&amp; =&#10;\frac{2\left(2/W\right)^{2}}{a_{\perp}^{3}\eta_{ij}^{3}}&#10;\rho_{ij}^{\frac{l_{i}+l_{j}}{W}}&#10;\left(\frac{\vartheta_{ip}\eta_{ij}}{\eta_{i}}\right)^{l_{i}+\frac{3}{2}}\left(\frac{\vartheta_{jq}\eta_{ij}}{\eta_{j}}\right)^{l_{j}+\frac{3}{2}}&#10;\mathrm{e}^{-\hat{\rho}_{ij}^{(pq)}}&#10;\hat{L}_{k_{i}\left\{\rho_{ip}\right\}}^{\left(\frac{2l_{i}+3}{W}-1\right)}&#10;\hat{L}_{k_{i}\left\{\rho_{jq}\right\}}^{\left(\frac{2l_{j}+3}{W}-1\right)}&#10;\\&#10;\hat{L}_{k_{i}\left\{\rho_{ip}\right\}}^{\left(\frac{2l_{i}+3}{W}-1\right)}&#10;\hat{L}_{k_{j}\left\{\rho_{jq}\right\}}^{\left(\frac{2l_{j}+3}{W}-1\right)}&#10;&amp; =&#10;\left[&#10;\sum_{n_{i}=0}^{n_{i}=k_{i}}&#10;\frac{ (-1)^{n_{i}} }{ n_{i}! }\binom{ \frac{2l_{i}+3}{W}+k_{i}-1 }{ k_{i}-n_{i} }\rho_{ip}^{n_{i}}&#10;\right]&#10;\left[&#10;\sum_{n_{j}=0}^{n_{j}=k_{j}}&#10;\frac{ (-1)^{n_{j}} }{ n_{j}! }\binom{ \frac{2l_{j}+3}{W}+k_{j}-1 }{ k_{j}-n_{j} }\rho_{jq}^{n_{j}}&#10;\right]&#10;\\&#10;\end{align*}&#10;&#10;\end{document}"/>
  <p:tag name="IGUANATEXSIZE" val="20"/>
  <p:tag name="IGUANATEXCURSOR" val="62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2548.181"/>
  <p:tag name="LATEXADDIN" val="\documentclass{article}&#10;\usepackage{amsmath,bm,eufrak,mathtools}&#10;\pagestyle{empty}&#10;\begin{document}&#10;&#10;\begin{equation*}&#10;\rho_{ip}&#10;=&#10;\rho_{ij}&#10;\left(\frac{ \vartheta_{ip}\eta_{ij} }{ \eta_{i} }\right)^{W}&#10;\quad\quad&#10;\rho_{jq}&#10;=&#10;\rho_{ij}&#10;\left(\frac{ \vartheta_{jq}\eta_{ij} }{ \eta_{j} }\right)^{W}&#10;\end{equation*}&#10;&#10;\end{document}"/>
  <p:tag name="IGUANATEXSIZE" val="20"/>
  <p:tag name="IGUANATEXCURSOR" val="235"/>
  <p:tag name="TRANSPARENCY" val="True"/>
  <p:tag name="FILENAME" val=""/>
  <p:tag name="LATEXENGINEID" val="0"/>
  <p:tag name="TEMPFOLDER" val="c:\temp\"/>
  <p:tag name="LATEXFORMHEIGHT" val="666"/>
  <p:tag name="LATEXFORMWIDTH" val="1059.7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2.587"/>
  <p:tag name="ORIGINALWIDTH" val="5316.835"/>
  <p:tag name="LATEXADDIN" val="\documentclass{article}&#10;\usepackage{amsmath,amssymb,bm,physics,mathtools}&#10;\pagestyle{empty}&#10;\begin{document}&#10;&#10;\begin{align*}&#10;\hat{L}_{k_{i}\left\{\rho_{ip}\right\}}^{\left(\frac{2l_{i}+3-W}{W}\right)}&#10;\hat{L}_{k_{j}\left\{\rho_{jq}\right\}}^{\left(\frac{2l_{j}+3-W}{W}\right)}&#10;&amp; =&#10;\left[&#10;\sum_{n_{i}=0}^{n_{i}=k_{i}}&#10;\frac{ (-1)^{n_{i}} }{ n_{i}! }\binom{ \frac{2l_{i}+3}{W}+k_{i}-1 }{ k_{i}-n_{i} }\rho_{ip}^{n_{i}}&#10;\right]&#10;\left[&#10;\sum_{n_{j}=0}^{n_{j}=k_{j}}&#10;\frac{ (-1)^{n_{j}} }{ n_{j}! }\binom{ \frac{2l_{j}+3}{W}+k_{j}-1 }{ k_{j}-n_{j} }\rho_{jq}^{n_{j}}&#10;\right]&#10;\\&#10;&amp; =&#10;\sum_{n_{i}=0}^{n_{i}=k_{i}}&#10;\sum_{n_{j}=0}^{n_{j}=k_{j}}&#10;\rho_{ij}^{n_{i}+n_{j}}&#10;\left(\frac{ \eta_{ij}\vartheta_{ip} }{ \eta_{i} }\right)^{Wn_{i}}&#10;\left(\frac{ \eta_{ij}\vartheta_{jq} }{ \eta_{j} }\right)^{Wn_{j}}&#10;\mathfrak{C}_{ij;\left(n\right)_{ij}}^{(W)}&#10;\\&#10;\mathfrak{C}_{ij;\left(n\right)_{ij}}^{(W)}&#10;&amp; \coloneqq&#10;\frac{ (-1)^{n_{i}+n_{j}} }{ n_{i}!n_{j}! }&#10;\binom{ \frac{2l_{i}+3-W}{W}+k_{i} }{ k_{i}-n_{i} }&#10;\binom{ \frac{2l_{j}+3-W}{W}+k_{j} }{ k_{j}-n_{j} }&#10;\\&#10;\end{align*}&#10;&#10;\end{document}"/>
  <p:tag name="IGUANATEXSIZE" val="20"/>
  <p:tag name="IGUANATEXCURSOR" val="83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2548.181"/>
  <p:tag name="LATEXADDIN" val="\documentclass{article}&#10;\usepackage{amsmath,bm,eufrak,mathtools}&#10;\pagestyle{empty}&#10;\begin{document}&#10;&#10;\begin{equation*}&#10;\rho_{ip}&#10;=&#10;\rho_{ij}&#10;\left(\frac{ \vartheta_{ip}\eta_{ij} }{ \eta_{i} }\right)^{W}&#10;\quad\quad&#10;\rho_{jq}&#10;=&#10;\rho_{ij}&#10;\left(\frac{ \vartheta_{jq}\eta_{ij} }{ \eta_{j} }\right)^{W}&#10;\end{equation*}&#10;&#10;\end{document}"/>
  <p:tag name="IGUANATEXSIZE" val="20"/>
  <p:tag name="IGUANATEXCURSOR" val="235"/>
  <p:tag name="TRANSPARENCY" val="True"/>
  <p:tag name="FILENAME" val=""/>
  <p:tag name="LATEXENGINEID" val="0"/>
  <p:tag name="TEMPFOLDER" val="c:\temp\"/>
  <p:tag name="LATEXFORMHEIGHT" val="666"/>
  <p:tag name="LATEXFORMWIDTH" val="1059.7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9.348"/>
  <p:tag name="ORIGINALWIDTH" val="5805.024"/>
  <p:tag name="LATEXADDIN" val="\documentclass{article}&#10;\usepackage{amsmath,amssymb,bm,physics,mathtools}&#10;\pagestyle{empty}&#10;\begin{document}&#10;&#10;\begin{align*}&#10;\hat{L}_{k_{i}\left\{\rho_{ip}\right\}}^{\left(\frac{2l_{i}+3-W}{W}\right)}&#10;\hat{L}_{k_{j}\left\{\rho_{jq}\right\}}^{\left(\frac{2l_{j}+3-W}{W}\right)}&#10;&amp; =&#10;\sum_{n_{i}=0}^{n_{i}=k_{i}}&#10;\sum_{n_{j}=0}^{n_{j}=k_{j}}&#10;\rho_{ij}^{n_{i}+n_{j}}&#10;\left(\frac{ \eta_{ij}\vartheta_{ip} }{ \eta_{i} }\right)^{Wn_{i}}&#10;\left(\frac{ \eta_{ij}\vartheta_{jq} }{ \eta_{j} }\right)^{Wn_{j}}&#10;\mathfrak{C}_{ij;\left(n\right)_{ij}}^{(W)}&#10;\\&#10;\mathcal{R} _{\left(\check{\eta}_{p};kl\right)_{i}\left\{r\right\}} ^{\left(W\right)}&#10;\mathcal{R} _{\left(\check{\eta}_{q};kl\right)_{j}\left\{r\right\}} ^{\left(W\right)}&#10;&amp; =&#10;\frac{1}{a_{\perp}^{3}}&#10;\mathfrak{D}_{ij}^{(W)}&#10;\rho_{ij}^{\frac{l_{i}+l_{j}}{W}}&#10;\mathrm{e}^{-\rho_{ij}\left(\hat{\vartheta}_{ij}^{(pq)}\hat{\Xi}_{ij}^{(pq)}\right)^{W}}&#10;\left(\frac{ \eta_{ij}\vartheta_{ip} }{ \eta_{i} }\right)^{l_{i}+\frac{3}{2}}&#10;\left(\frac{ \eta_{ij}\vartheta_{jq} }{ \eta_{j} }\right)^{l_{j}+\frac{3}{2}}&#10;\hat{L}_{k_{i}\left\{\rho_{ip}\right\}}^{\left(\frac{2l+3-W}{W}\right)}&#10;\hat{L}_{k_{i}\left\{\rho_{jq}\right\}}^{\left(\frac{2l+3-W}{W}\right)}&#10;\\&#10;\mathfrak{D}_{ij}^{(W)}&#10;&amp; \coloneqq&#10;\frac{2\left(\frac{2}{W}\right)^{2}}{\eta_{ij}^{3}}&#10;\\&#10;\end{align*}&#10;&#10;\end{document}"/>
  <p:tag name="IGUANATEXSIZE" val="20"/>
  <p:tag name="IGUANATEXCURSOR" val="665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4.1957"/>
  <p:tag name="ORIGINALWIDTH" val="7047.619"/>
  <p:tag name="LATEXADDIN" val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D}_{ij}^{(W)}&#10;\rho_{ij}^{\frac{l_{i}+l_{j}}{W}}&#10;\sum_{n_{i}=0}^{n_{i}=k_{i}}&#10;\sum_{n_{j}=0}^{n_{j}=k_{j}}&#10;\rho^{n_{i}+n_{j}}&#10;\mathfrak{C}_{ij;\left(n\right)_{ij}}^{(W)}&#10;\left(\sqrt{\frac{ \eta_{ij}\vartheta_{ip} }{ \eta_{i} }}\right)^{2Wn_{i}+2l_{i}+3}&#10;\left(\sqrt{\frac{ \eta_{ij}\vartheta_{jq} }{ \eta_{j} }}\right)^{2Wn_{j}+2l_{j}+3}&#10;\mathrm{e}^{-\rho_{ij}\left(\hat{\vartheta}_{ij}^{(pq)}\hat{\Xi}_{ij}^{(pq)}\right)^{W}}&#10;\\&#10;\end{align*}&#10;&#10;\end{document}"/>
  <p:tag name="IGUANATEXSIZE" val="16"/>
  <p:tag name="IGUANATEXCURSOR" val="671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1.582"/>
  <p:tag name="ORIGINALWIDTH" val="5037.12"/>
  <p:tag name="LATEXADDIN" val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\frac{1}{a_{\perp}^{3}}&#10;\mathfrak{D}_{ij}^{(W)}&#10;\rho_{ij}^{\frac{l_{i}+l_{j}}{W}}&#10;\sum_{n_{i}=0}^{n_{i}=k_{i}}&#10;\sum_{n_{j}=0}^{n_{j}=k_{j}}&#10;\rho_{ij}^{n_{i}+n_{j}}&#10;\mathfrak{C}_{ij;\left(n\right)_{ij}}^{(W)}&#10;\mathcal{F}_{ij;\left(n\right)_{ij}}^{(W)(pq)}&#10;\\&#10;&amp; =&#10;\frac{1}{a_{\perp}^{3}}&#10;\mathfrak{D}_{ij}^{(W)}&#10;\rho_{ij}^{\frac{l_{i}+l_{j}}{W}}&#10;\sum_{n=0}^{n=k_{i}+k_{j}}&#10;\rho_{ij}^{n}&#10;\sum_{n_{i}=0}^{n_{i}=k_{i}}&#10;\sum_{n_{j}=0}^{n_{j}=k_{j}}&#10;\delta_{n_{i}+n_{j},n}&#10;\mathfrak{C}_{ij;n_{i}\left(n-n_{j}\right)}^{(W)}&#10;\mathcal{F}_{ij;n_{i}\left(n-n_{j}\right)}^{(W)(pq)}&#10;\\&#10;&amp; =&#10;\frac{1}{a_{\perp}^{3}}&#10;\mathfrak{D}_{ij}^{(W)}&#10;\rho_{ij}^{\frac{l_{i}+l_{j}}{W}}&#10;\sum_{n=0}^{n=k_{i}+k_{j}}&#10;\rho_{ij}^{n}&#10;\sum_{n_{i}=0}^{n_{i}=\text{Min}\left(k_{i},n-k_{j}\right)}&#10;\mathfrak{C}_{ij;n_{i}\left(n-n_{j}\right)}^{(W)}&#10;\mathcal{F}_{ij;n_{i}\left(n-n_{j}\right)}^{(W)(zz)}&#10;\\&#10;\end{align*}&#10;&#10;\end{document}"/>
  <p:tag name="IGUANATEXSIZE" val="20"/>
  <p:tag name="IGUANATEXCURSOR" val="858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2047"/>
  <p:tag name="ORIGINALWIDTH" val="6233.97"/>
  <p:tag name="LATEXADDIN" val="\documentclass{article}&#10;\usepackage{amsmath,amssymb,bm,physics,mathtools}&#10;\pagestyle{empty}&#10;\begin{document}&#10;&#10;\begin{equation*}&#10;\mathfrak{D}_{ij}^{(W)}&#10;\coloneqq&#10;\frac{8}{W^{2}\eta_{ij}^{3}}&#10;\quad\quad&#10;\rho_{ij}&#10;\coloneqq&#10;\left(\frac{2}{W\eta_{ij}}\frac{r}{a_{\perp}}\right)^{W}&#10;\quad\quad&#10;\mathcal{F}_{ij;\left(n\right)_{ij}}^{(W)(pq)}&#10;\coloneqq&#10;\left(\frac{ \eta_{ij}\vartheta_{ip} }{ \eta_{i} }\right)^{Wn_{i}+l_{i}+\frac{3}{2}}&#10;\left(\frac{ \eta_{ij}\vartheta_{jq} }{ \eta_{j} }\right)^{Wn_{j}+l_{j}+\frac{3}{2}}&#10;\mathrm{e}^{-\rho_{ij}\left(\hat{\vartheta}_{ij}^{(pq)}\hat{\Xi}_{ij}^{(pq)}\right)^{W}}&#10;\end{equation*}&#10;&#10;\end{document}"/>
  <p:tag name="IGUANATEXSIZE" val="16"/>
  <p:tag name="IGUANATEXCURSOR" val="13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2972.628"/>
  <p:tag name="LATEXADDIN" val="\documentclass{article}&#10;\usepackage{amsmath,amssymb,bm,physics,mathtools}&#10;\pagestyle{empty}&#10;\begin{document}&#10;&#10;\begin{align*}&#10;\mathfrak{C}_{ij;\left(n\right)_{ij}}^{(W)}&#10;&amp; \coloneqq&#10;\frac{ (-1)^{n_{i}+n_{j}} }{ n_{i}!n_{j}! }&#10;\binom{ \frac{2l_{i}+3-W}{W}+k_{i} }{ k_{i}-n_{i} }&#10;\binom{ \frac{2l_{j}+3-W}{W}+k_{j} }{ k_{j}-n_{j} }&#10;\\&#10;\end{align*}&#10;&#10;\end{document}"/>
  <p:tag name="IGUANATEXSIZE" val="16"/>
  <p:tag name="IGUANATEXCURSOR" val="18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2.9509"/>
  <p:tag name="ORIGINALWIDTH" val="4735.658"/>
  <p:tag name="LATEXADDIN" val="\documentclass{article}&#10;\usepackage{amsmath,amssymb,bm,physics,mathtools}&#10;\pagestyle{empty}&#10;\begin{document}&#10;&#10;\begin{align*}&#10;\mathcal{R} _{\left(\check{\eta}_{p};kl\right)_{i}\left\{r\right\}} ^{\left(W\right)}&#10;\mathcal{R} _{\left(\check{\eta}_{q};kl\right)_{j}\left\{r\right\}} ^{\left(W\right)}&#10;&amp; =&#10;\frac{1}{a_{\perp}^{3}}&#10;\mathfrak{D}_{ij}^{(W)}&#10;\rho_{ij}^{\frac{l_{i}+l_{j}}{W}}&#10;\sum_{n=0}^{n=k_{i}+k_{j}}&#10;\left(-1\right)^{n}\rho_{ij}^{n}&#10;\sum_{n_{i}=0}^{n_{i}=\text{Min}\left(k_{i},n-k_{j}\right)}&#10;\acute{\mathfrak{C}}_{ij;nn_{i}}^{(W)}&#10;\mathcal{F}_{ij;nn_{i}}^{(W)(zz)}&#10;\\&#10;\end{align*}&#10;&#10;\end{document}"/>
  <p:tag name="IGUANATEXSIZE" val="20"/>
  <p:tag name="IGUANATEXCURSOR" val="506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9.1976"/>
  <p:tag name="ORIGINALWIDTH" val="6873.641"/>
  <p:tag name="LATEXADDIN" val="\documentclass{article}&#10;\usepackage{amsmath,amssymb,bm,physics,mathtools}&#10;\pagestyle{empty}&#10;\begin{document}&#10;&#10;\begin{equation*}&#10;\mathfrak{D}_{ij}^{(W)}&#10;\coloneqq&#10;\frac{8}{W^{2}\eta_{ij}^{3}}&#10;\quad\quad&#10;\rho_{ij}&#10;\coloneqq&#10;\left(\frac{2}{W\eta_{ij}}\frac{r}{a_{\perp}}\right)^{W}&#10;\quad\quad&#10;\mathcal{F}_{ij;nn_{i}}^{(W)(pq)}&#10;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equation*}&#10;&#10;\end{document}"/>
  <p:tag name="IGUANATEXSIZE" val="16"/>
  <p:tag name="IGUANATEXCURSOR" val="50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3014.623"/>
  <p:tag name="LATEXADDIN" val="\documentclass{article}&#10;\usepackage{amsmath,amssymb,bm,physics,mathtools}&#10;\pagestyle{empty}&#10;\begin{document}&#10;&#10;\begin{align*}&#10;\acute{\mathfrak{C}}_{ij;nn_{i}}^{(W)}&#10;&amp; \coloneqq&#10;\frac{ 1 }{ n_{i}!\left(n-n_{i}\right)! }&#10;\binom{ \frac{2l_{i}+3-W}{W}+k_{i} }{ k_{i}-n_{i} }&#10;\binom{ \frac{2l_{j}+3-W}{W}+k_{j} }{ k_{j}-n_{j} }&#10;\\&#10;\end{align*}&#10;&#10;\end{document}"/>
  <p:tag name="IGUANATEXSIZE" val="16"/>
  <p:tag name="IGUANATEXCURSOR" val="1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3.611"/>
  <p:tag name="ORIGINALWIDTH" val="4736.408"/>
  <p:tag name="LATEXADDIN" val="\documentclass{article}&#10;\usepackage{amsmath,amssymb,bm,physics,mathtools}&#10;\pagestyle{empty}&#10;\begin{document}&#10;&#10;\begin{align*}&#10;\vb*{\rho}_{\left(m\zeta lk;\lambda\eta\right)_{ij}\left\{r\right\}}^{\left(\bullet\right)}&#10;&amp; \coloneqq&#10;\delta_{\Omega_{i}\Omega_{j}}&#10;\int_{\mathcal{S}} \mathrm{d}\vb{\Omega}\,&#10;\tilde{\Phi}_{\left(m\zeta lk;\lambda\eta\right)_{i}}^{(Wz)}&#10;\Phi_{\left(m\zeta lk;\lambda\eta\right)_{j}}^{(Wz)}&#10;\\&#10;&amp; = &#10;\delta_{\left(m\zeta\Omega\right)_{ij}}&#10;\int_{\chi=-1}^{\chi=+1}\mathrm{d}\chi\,&#10;\hat{\mathcal{P}}_{\left(\lambda;lm\right)_{i}}^{(z)}&#10;\hat{\mathcal{P}}_{\left(\lambda;l\right)_{j}m_{i}}^{(z)}&#10;\mathcal{R} _{\left(\check{\eta}_{z};kl\right)_{i}\left\{r\right\}} ^{\left(W\right)}&#10;\mathcal{R} _{\left(\check{\eta}_{z};kl\right)_{j}\left\{r\right\}} ^{\left(W\right)}&#10;\\&#10;\mathcal{R} _{\left(\check{\eta}_{z};kl\right)_{i}\left\{r\right\}} ^{\left(W\right)}&#10;\mathcal{R} _{\left(\check{\eta}_{z};kl\right)_{j}\left\{r\right\}} ^{\left(W\right)}&#10;&amp; =&#10;\frac{1}{a_{\perp}^{3}}&#10;\mathfrak{D}_{ij}^{(W)}&#10;\rho_{ij}^{\frac{l_{i}+l_{j}}{W}}&#10;\sum_{n=0}^{n=k_{i}+k_{j}}&#10;\left(-1\right)^{n}\rho_{ij}^{n}&#10;\sum_{n_{i}=0}^{n_{i}=\text{Min}\left(k_{i},n-k_{j}\right)}&#10;\tilde{\mathfrak{C}}_{ij;nn_{i}}^{(W)}&#10;\mathcal{F}_{ij;nn_{i}}^{(W)(zz)}&#10;\\&#10;\end{align*}&#10;&#10;\end{document}"/>
  <p:tag name="IGUANATEXSIZE" val="20"/>
  <p:tag name="IGUANATEXCURSOR" val="79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23.997"/>
  <p:tag name="ORIGINALWIDTH" val="4998.125"/>
  <p:tag name="LATEXADDIN" val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\Omega\right)_{ij}}&#10;\frac{1}{a_{\perp}^{3}}&#10;\mathfrak{D}_{ij}^{(W)}&#10;\rho_{ij}^{\frac{l_{i}+l_{j}}{W}}&#10;\mathcal{I}_{\left(\lambda;l\right)_{ij}m_{i}}^{\left(\bullet\right)}&#10;\\&#10;\mathfrak{D}_{ij}^{(W)}&#10;&amp; \coloneqq&#10;\frac{2\left(\frac{2}{W}\right)^{2}}{\eta_{ij}^{3}}&#10;\quad\quad&#10;\rho_{ij}&#10;\coloneqq&#10;\left(\frac{2}{W\eta_{ij}}\frac{r}{a_{\perp}}\right)^{W}&#10;\\&#10;\mathcal{I}_{\left(\lambda;l\right)_{ij}m_{i}}^{\left(\bullet\right)}&#10;&amp; \coloneqq&#10;\int_{\chi=-1}^{\chi=+1}\mathrm{d}\chi\,&#10;\hat{\mathcal{P}}_{\left(\lambda;lm\right)_{i}}^{(z)}&#10;\hat{\mathcal{P}}_{\left(\lambda;l\right)_{j}m_{i}}^{(z)}&#10;\sum_{n=0}^{n=k_{i}+k_{j}}&#10;\left(-1\right)^{n}\rho_{ij}^{n}&#10;\sum_{n_{i}=0}^{n_{i}=\text{Min}\left(k_{i},n-k_{j}\right)}&#10;\acute{\mathfrak{C}}_{ij;nn_{i}}^{(W)}&#10;\mathcal{F}_{ij;nn_{i}}^{(W)(zz)}&#10;\\&#10;\acute{\mathfrak{C}}_{ij;nn_{i}}^{(W)}&#10;&amp; \coloneqq&#10;\frac{ (-1)^{n} }{ n_{i}!\left(n-n_{i}\right)! }&#10;\binom{ \frac{2l_{i}+3-W}{W}+k_{i} }{ k_{i}-n_{i} }&#10;\binom{ \frac{2l_{j}+3-W}{W}+k_{j} }{ k_{j}-n+n_{i} }&#10;\\&#10;\mathcal{F}_{ij;nn_{i}}^{(W)(zz)}&#10;&amp; \coloneqq&#10;\left(\sqrt{\frac{ \eta_{ij}\vartheta_{iz} }{ \eta_{i} }}\right)^{2Wn_{i}+2l_{i}+3}&#10;\left(\sqrt{\frac{ \eta_{ij}\vartheta_{jz} }{ \eta_{j} }}\right)^{2W\left(n-n_{i}\right)+2l_{j}+3}&#10;\mathrm{e}^{-\rho_{ij}\left(\hat{\vartheta}_{ij}^{(zz)}\hat{\Xi}_{ij}^{(zz)}\right)^{W}}&#10;\end{align*}&#10;&#10;\end{document}"/>
  <p:tag name="IGUANATEXSIZE" val="20"/>
  <p:tag name="IGUANATEXCURSOR" val="153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3.667"/>
  <p:tag name="ORIGINALWIDTH" val="4874.391"/>
  <p:tag name="LATEXADDIN" val="\documentclass{article}&#10;\usepackage{amsmath,amssymb,bm,physics,mathtools}&#10;\pagestyle{empty}&#10;\begin{document}&#10;&#10;\begin{align*}&#10;\vb*{\rho}_{\left(m\zeta lk;\lambda\eta\right)_{ij}\left\{r\right\}}&#10;^{\left(\aleph\right)}&#10;&amp; \coloneqq&#10;\int_{\mathcal{S}} \mathrm{d}\vb{\Omega}\,&#10;\tilde{\Phi}_{\left(m\zeta lk;\lambda\eta\right)_{i}}^{(Wz)}&#10;\Phi_{\left(m\zeta lk;\lambda\eta\right)_{j}}^{(Wz)}&#10;\left(&#10;\delta_{\aleph\left(\upharpoonleft \! \upharpoonright\right)}\delta_{(\Omega)_{ij}}\Theta^{\left(\upharpoonleft \! \upharpoonright\right)}&#10;+&#10;\delta_{\aleph\left(\upharpoonleft \! \downharpoonright\right)}\Theta_{(\Omega)_{ij}}^{\left(\upharpoonleft \! \downharpoonright\right)}&#10;\right)&#10;\\&#10;&amp; = &#10;\int_{\phi=-\pi}^{\phi=+\pi}\mathrm{d}\phi\,&#10;\int_{\chi=-1}^{\chi=+1}\mathrm{d}\chi\,&#10;\hat{Q}_{\left(m\zeta\right)_{i}}^{(z)}&#10;\hat{Q}_{\left(m\zeta\right)_{j}}^{(z)}&#10;\hat{\mathcal{P}}_{\left(\lambda;lm\right)_{i}}^{(z)}&#10;\hat{\mathcal{P}}_{\left(\lambda;lm\right)_{j}}^{(z)}&#10;\mathcal{R} _{\left(\check{\eta}_{z};kl\right)_{i}\left\{r\right\}} ^{\left(W\right)}&#10;\mathcal{R} _{\left(\check{\eta}_{z};kl\right)_{j}\left\{r\right\}} ^{\left(W\right)}&#10;\end{align*}&#10;&#10;\end{document}"/>
  <p:tag name="IGUANATEXSIZE" val="20"/>
  <p:tag name="IGUANATEXCURSOR" val="95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2.9509"/>
  <p:tag name="ORIGINALWIDTH" val="4371.204"/>
  <p:tag name="LATEXADDIN" val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E}_{ij}^{(W)}&#10;\rho_{ij}^{\frac{l_{i}+l_{j}}{W}}&#10;\sum_{n=0}^{n=k_{i}+k_{j}}&#10;\rho_{ij}^{n}&#10;\sum_{n_{i}=0}^{n_{i}=\text{Min}\left(k_{i},n-k_{j}\right)}&#10;\mathfrak{C}_{ij;nn_{i}}^{(W)}&#10;\mathcal{F}_{ij;nn_{i}}^{(W)(zz)}&#10;\\&#10;\end{align*}&#10;&#10;\end{document}"/>
  <p:tag name="IGUANATEXSIZE" val="20"/>
  <p:tag name="IGUANATEXCURSOR" val="537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9.1976"/>
  <p:tag name="ORIGINALWIDTH" val="6845.144"/>
  <p:tag name="LATEXADDIN" val="\documentclass{article}&#10;\usepackage{amsmath,amssymb,bm,physics,mathtools}&#10;\pagestyle{empty}&#10;\begin{document}&#10;&#10;\begin{equation*}&#10;\mathfrak{E}_{ij}^{(W)}&#10;\coloneqq&#10;\frac{8}{W^{2}\eta_{ij}^{3}}&#10;\quad\quad&#10;\rho_{ij}&#10;\coloneqq&#10;\left(\frac{2}{W\eta_{ij}}\frac{r}{a_{\perp}}\right)^{W}&#10;\quad\quad&#10;\mathcal{F}_{ij;nn_{i}}^{(W)(pq)}&#10;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equation*}&#10;&#10;\end{document}"/>
  <p:tag name="IGUANATEXSIZE" val="16"/>
  <p:tag name="IGUANATEXCURSOR" val="31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3014.623"/>
  <p:tag name="LATEXADDIN" val="\documentclass{article}&#10;\usepackage{amsmath,amssymb,bm,physics,mathtools}&#10;\pagestyle{empty}&#10;\begin{document}&#10;&#10;\begin{align*}&#10;\mathfrak{C}_{ij;nn_{i}}^{(W)}&#10;&amp; \coloneqq&#10;\frac{ (-1)^{n} }{ n_{i}!\left(n-n_{i}\right)! }&#10;\binom{ \frac{2l_{i}+3-W}{W}+k_{i} }{ k_{i}-n_{i} }&#10;\binom{ \frac{2l_{j}+3-W}{W}+k_{j} }{ k_{j}-n+n_{i} }&#10;\\&#10;\end{align*}&#10;&#10;\end{document}"/>
  <p:tag name="IGUANATEXSIZE" val="16"/>
  <p:tag name="IGUANATEXCURSOR" val="15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2.9509"/>
  <p:tag name="ORIGINALWIDTH" val="4793.401"/>
  <p:tag name="LATEXADDIN" val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E}_{ij}^{(W)}&#10;\rho_{ij}^{\frac{l_{i}+l_{j}}{W}}&#10;\sum_{n=0}^{n=k_{i}+k_{j}}&#10;\rho_{ij}^{n}&#10;\sum_{n_{i}=0}^{n_{i}=\text{Min}\left(k_{i},n-k_{j}\right)}&#10;\mathfrak{C}_{ij;n_{i}\left(n-n_{j}\right)}^{(W)}&#10;\mathcal{F}_{ij;n_{i}\left(n-n_{j}\right)}^{(W)(zz)}&#10;\\&#10;\end{align*}&#10;&#10;\end{document}"/>
  <p:tag name="IGUANATEXSIZE" val="20"/>
  <p:tag name="IGUANATEXCURSOR" val="296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9.1976"/>
  <p:tag name="ORIGINALWIDTH" val="6845.144"/>
  <p:tag name="LATEXADDIN" val="\documentclass{article}&#10;\usepackage{amsmath,amssymb,bm,physics,mathtools}&#10;\pagestyle{empty}&#10;\begin{document}&#10;&#10;\begin{equation*}&#10;\mathfrak{E}_{ij}^{(W)}&#10;\coloneqq&#10;\frac{8}{W^{2}\eta_{ij}^{3}}&#10;\quad\quad&#10;\rho_{ij}&#10;\coloneqq&#10;\left(\frac{2}{W\eta_{ij}}\frac{r}{a_{\perp}}\right)^{W}&#10;\quad\quad&#10;\mathcal{F}_{ij;nn_{i}}^{(W)(pq)}&#10;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equation*}&#10;&#10;\end{document}"/>
  <p:tag name="IGUANATEXSIZE" val="16"/>
  <p:tag name="IGUANATEXCURSOR" val="31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3014.623"/>
  <p:tag name="LATEXADDIN" val="\documentclass{article}&#10;\usepackage{amsmath,amssymb,bm,physics,mathtools}&#10;\pagestyle{empty}&#10;\begin{document}&#10;&#10;\begin{align*}&#10;\mathfrak{C}_{ij;nn_{i}}^{(W)}&#10;&amp; \coloneqq&#10;\frac{ (-1)^{n} }{ n_{i}!\left(n-n_{i}\right)! }&#10;\binom{ \frac{2l_{i}+3-W}{W}+k_{i} }{ k_{i}-n_{i} }&#10;\binom{ \frac{2l_{j}+3-W}{W}+k_{j} }{ k_{j}-n+n_{i} }&#10;\\&#10;\end{align*}&#10;&#10;\end{document}"/>
  <p:tag name="IGUANATEXSIZE" val="16"/>
  <p:tag name="IGUANATEXCURSOR" val="15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22.797"/>
  <p:tag name="ORIGINALWIDTH" val="5049.869"/>
  <p:tag name="LATEXADDIN" val="\documentclass{article}&#10;\usepackage{amsmath,amssymb,bm,physics,mathtools}&#10;\pagestyle{empty}&#10;\begin{document}&#10;&#10;\begin{align*}&#10;\mathcal{R} _{\left(\check{\eta}_{z};kl\right)_{i}\left\{r\right\}} ^{\left(W\right)}&#10;\mathcal{R} _{\left(\check{\eta}_{z};kl\right)_{j}\left\{r\right\}} ^{\left(W\right)}&#10;&amp; =&#10;\frac{1}{a_{\perp}^{3}}&#10;\mathfrak{E}_{ij}^{(W)}&#10;\rho_{ij}^{\frac{l_{i}+l_{j}}{W}}&#10;\sum_{n=0}^{n=k_{i}+k_{j}}&#10;\rho_{ij}^{n}&#10;\sum_{n_{i}=0}^{n_{i}=\text{Min}\left(k_{i},n-k_{j}\right)}&#10;\mathfrak{C}_{ij;n_{i}\left(n-n_{i}\right)}^{(W)}&#10;\mathcal{F}_{ij;n_{i}\left(n-n_{i}\right)}^{(W)(zz)}&#10;\\&#10;\vb*{\rho}_{\left(m\zeta lk;\lambda\eta\right)_{ij}\left\{r\right\}}^{\left(\bullet\right)}&#10;&amp; = &#10;\delta_{\left(m\zeta\Omega\right)_{ij}}&#10;\int_{\chi=-1}^{\chi=+1}\mathrm{d}\chi\,&#10;\hat{\mathcal{P}}_{\left(\lambda;lm\right)_{i}}^{(z)}&#10;\hat{\mathcal{P}}_{\left(\lambda;lm\right)_{j}}^{(z)}&#10;\mathcal{R} _{\left(\check{\eta}_{z};kl\right)_{i}\left\{r\right\}} ^{\left(W\right)}&#10;\mathcal{R} _{\left(\check{\eta}_{z};kl\right)_{j}\left\{r\right\}} ^{\left(W\right)}&#10;\\&#10;&amp; = &#10;\delta_{\left(m\zeta\Omega\right)_{ij}}&#10;\frac{1}{a_{\perp}^{3}}&#10;\mathfrak{E}_{ij}^{(W)}&#10;\rho_{ij}^{\frac{l_{i}+l_{j}}{W}}&#10;\sum_{n=0}^{n=k_{i}+k_{j}}&#10;\rho_{ij}^{n}&#10;\sum_{n_{i}=0}^{n_{i}=\text{Min}\left(k_{i},n-k_{j}\right)}&#10;\mathfrak{C}_{ij;nn_{i}}^{(W)}&#10;\mathcal{I}_{\left(\eta\lambda;l\right)_{ij}m_{i};nn_{i}}^{(zz)}&#10;\\&#10;\mathcal{I}_{\left(\eta\lambda;l\right)_{ij}m_{i};nn_{i}}^{(zz)}&#10;&amp; \coloneqq&#10;\int_{\chi=-1}^{\chi=+1}\mathrm{d}\chi\,&#10;\hat{\mathcal{P}}_{\left(\lambda;lm\right)_{i}}^{(z)}&#10;\hat{\mathcal{P}}_{\left(\lambda;l\right)_{j}m_{i}}^{(z)}&#10;\mathcal{F}_{ij;nn_{i}}^{(W)(zz)}&#10;\\&#10;\end{align*}&#10;&#10;\end{document}"/>
  <p:tag name="IGUANATEXSIZE" val="20"/>
  <p:tag name="IGUANATEXCURSOR" val="13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.4567"/>
  <p:tag name="ORIGINALWIDTH" val="7225.347"/>
  <p:tag name="LATEXADDIN" val="\documentclass{article}&#10;\usepackage{amsmath,amssymb,bm,physics,mathtools}&#10;\pagestyle{empty}&#10;\begin{document}&#10;&#10;\begin{equation*}&#10;\mathfrak{C}_{ij;nn_{i}}^{(W)}&#10;\coloneqq&#10;\frac{ (-1)^{n} }{ n_{i}!\left(n-n_{i}\right)! }&#10;\binom{ \frac{2l_{i}+3-W}{W}+k_{i} }{ k_{i}-n_{i} }&#10;\binom{ \frac{2l_{j}+3-W}{W}+k_{j} }{ k_{j}-n+n_{i} }&#10;\quad\quad&#10;\mathcal{F}_{ij;nn_{i}}^{(W)(pq)}&#10;\coloneqq&#10;\left(\frac{ \eta_{ij}\vartheta_{ip} }{ \eta_{i} }\right)^{Wn_{i}+l_{i}+\frac{3}{2}}&#10;\left(\frac{ \eta_{ij}\vartheta_{jq} }{ \eta_{j} }\right)^{W\left(n-n_{i}\right)+l_{j}+\frac{3}{2}}&#10;\mathrm{e}^{-\rho_{ij}\left(\hat{\vartheta}_{ij}^{(pq)}\hat{\Xi}_{ij}^{(pq)}\right)^{W}}&#10;\end{equation*}&#10;&#10;\end{document}"/>
  <p:tag name="IGUANATEXSIZE" val="16"/>
  <p:tag name="IGUANATEXCURSOR" val="334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23.997"/>
  <p:tag name="ORIGINALWIDTH" val="4654.668"/>
  <p:tag name="LATEXADDIN" val="\documentclass{article}&#10;\usepackage{amsmath,amssymb,bm,physics,mathtools}&#10;\pagestyle{empty}&#10;\begin{document}&#10;&#10;\begin{align*}&#10;\vb*{\rho}_{\left(m\zeta lk;\lambda\eta\right)_{ij}\left\{r\right\}}&#10;^{\left(\upharpoonleft \! \upharpoonright\slash\upharpoonleft \! \downharpoonright\right)}&#10;&amp; = &#10;\delta_{\left(m\zeta\Omega\right)_{ij}}&#10;\frac{1}{a_{\perp}^{3}}&#10;\mathfrak{E}_{ij}^{(W)}&#10;\rho_{ij}^{\frac{l_{i}+l_{j}}{W}}&#10;\mathcal{I}_{\left(\lambda;l\right)_{ij}m_{i}}^{(zz)}&#10;\\&#10;\mathfrak{E}_{ij}^{(W)}&#10;&amp; \coloneqq&#10;\frac{2\left(\frac{2}{W}\right)^{2}}{\eta_{ij}^{3}}&#10;\quad\quad&#10;\rho_{ij}&#10;\coloneqq&#10;\left(\frac{2}{W\eta_{ij}}\frac{r}{a_{\perp}}\right)^{W}&#10;\\&#10;\mathcal{I}_{\left(\lambda;l\right)_{ij}m_{i}}^{\left(\upharpoonleft \! \upharpoonright\slash\upharpoonleft \! \downharpoonright\right)}&#10;&amp; \coloneqq&#10;\int_{\chi=-1}^{\chi=+1}\mathrm{d}\chi\,&#10;\hat{\mathcal{P}}_{\left(\lambda;lm\right)_{i}}^{(z)}&#10;\hat{\mathcal{P}}_{\left(\lambda;l\right)_{j}m_{i}}^{(z)}&#10;\sum_{n=0}^{n=k_{i}+k_{j}}&#10;\rho_{ij}^{n}&#10;\sum_{n_{i}=0}^{n_{i}=\text{Min}\left(k_{i},n-k_{j}\right)}&#10;\mathfrak{C}_{ij;nn_{i}}^{(W)}&#10;\mathcal{F}_{ij;nn_{i}}^{(W)(zz)}&#10;\\&#10;\mathfrak{C}_{ij;nn_{i}}^{(W)}&#10;&amp; \coloneqq&#10;\frac{ (-1)^{n} }{ n_{i}!\left(n-n_{i}\right)! }&#10;\binom{ \frac{2l_{i}+3-W}{W}+k_{i} }{ k_{i}-n_{i} }&#10;\binom{ \frac{2l_{j}+3-W}{W}+k_{j} }{ k_{j}-n+n_{i} }&#10;\\&#10;\mathcal{F}_{ij;nn_{i}}^{(W)(pq)}&#10;&amp; \coloneqq&#10;\left(\sqrt{\frac{ \eta_{ij}\vartheta_{iz} }{ \eta_{i} }}\right)^{2Wn_{i}+2l_{i}+3}&#10;\left(\sqrt{\frac{ \eta_{ij}\vartheta_{jz} }{ \eta_{j} }}\right)^{2W\left(n-n_{i}\right)+2l_{j}+3}&#10;\mathrm{e}^{-\rho_{ij}\left(\hat{\vartheta}_{ij}^{(zz)}\hat{\Xi}_{ij}^{(zz)}\right)^{W}}&#10;\end{align*}&#10;&#10;\end{document}"/>
  <p:tag name="IGUANATEXSIZE" val="20"/>
  <p:tag name="IGUANATEXCURSOR" val="160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23.997"/>
  <p:tag name="ORIGINALWIDTH" val="4653.918"/>
  <p:tag name="LATEXADDIN" val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\Omega\right)_{ij}}&#10;\frac{1}{a_{\perp}^{3}}&#10;\mathfrak{E}_{ij}^{(W)}&#10;\rho_{ij}^{\frac{l_{i}+l_{j}}{W}}&#10;\mathcal{I}_{\left(\lambda;l\right)_{ij}m_{i}}^{(zz)}&#10;\\&#10;\mathfrak{E}_{ij}^{(W)}&#10;&amp; \coloneqq&#10;\frac{2\left(\frac{2}{W}\right)^{2}}{\eta_{ij}^{3}}&#10;\quad\quad&#10;\rho_{ij}&#10;\coloneqq&#10;\left(\frac{2}{W\eta_{ij}}\frac{r}{a_{\perp}}\right)^{W}&#10;\\&#10;\mathcal{I}_{\left(\lambda;l\right)_{ij}m_{i}}^{(zz)}&#10;&amp; \coloneqq&#10;\int_{\chi=-1}^{\chi=+1}\mathrm{d}\chi\,&#10;\hat{\mathcal{P}}_{\left(\lambda;lm\right)_{i}}^{(z)}&#10;\hat{\mathcal{P}}_{\left(\lambda;l\right)_{j}m_{i}}^{(z)}&#10;\sum_{n=0}^{n=k_{i}+k_{j}}&#10;\rho_{ij}^{n}&#10;\sum_{n_{i}=0}^{n_{i}=\text{Min}\left(k_{i},n-k_{j}\right)}&#10;\mathfrak{C}_{ij;nn_{i}}^{(W)}&#10;\mathcal{F}_{ij;nn_{i}}^{(W)(zz)}&#10;\\&#10;\mathfrak{C}_{ij;nn_{i}}^{(W)}&#10;&amp; \coloneqq&#10;\frac{ (-1)^{n} }{ n_{i}!\left(n-n_{i}\right)! }&#10;\binom{ \frac{2l_{i}+3-W}{W}+k_{i} }{ k_{i}-n_{i} }&#10;\binom{ \frac{2l_{j}+3-W}{W}+k_{j} }{ k_{j}-n+n_{i} }&#10;\\&#10;\mathcal{F}_{ij;nn_{i}}^{(W)(pq)}&#10;&amp; \coloneqq&#10;\left(\sqrt{\frac{ \eta_{ij}\vartheta_{ip} }{ \eta_{i} }}\right)^{2Wn_{i}+2l_{i}+3}&#10;\left(\sqrt{\frac{ \eta_{ij}\vartheta_{jq} }{ \eta_{j} }}\right)^{2W\left(n-n_{i}\right)+2l_{j}+3}&#10;\mathrm{e}^{-\rho_{ij}\left(\hat{\vartheta}_{ij}^{(pq)}\hat{\Xi}_{ij}^{(pq)}\right)^{W}}&#10;\end{align*}&#10;&#10;\end{document}"/>
  <p:tag name="IGUANATEXSIZE" val="20"/>
  <p:tag name="IGUANATEXCURSOR" val="12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63.442"/>
  <p:tag name="ORIGINALWIDTH" val="4574.428"/>
  <p:tag name="LATEXADDIN" val="\documentclass{article}&#10;\usepackage{amsmath,amssymb,bm,physics,mathtools}&#10;\pagestyle{empty}&#10;\begin{document}&#10;&#10;\begin{align*}&#10;\vb*{\rho}_{\left(m\zeta lk\right)_{ij};\lambda\eta\left\{r\right\}}^{\left(\bullet\right)}&#10;&amp; = &#10;\delta_{\left(m\zeta\Omega\right)_{ij}}&#10;\frac{1}{a_{\perp}^{3}}&#10;\mathfrak{E}^{(W)}&#10;\rho^{\frac{l_{i}+l_{j}}{W}}&#10;\mathcal{I}_{\lambda;\left(l\right)_{ij}m_{i}}^{(zz)}&#10;\\&#10;\mathfrak{E}^{(W)}&#10;&amp; \coloneqq&#10;\frac{2\left(\frac{2}{W}\right)^{2}}{\eta^{3}}&#10;\quad\quad&#10;\rho&#10;\coloneqq&#10;\left(\frac{2}{W\eta}\frac{r}{a_{\perp}}\right)^{W}&#10;\\&#10;\mathcal{I}_{\lambda;\left(l\right)_{ij}m_{i}}^{(zz)}&#10;&amp; \coloneqq&#10;\int_{\chi=-1}^{\chi=+1}\mathrm{d}\chi\,&#10;\hat{\mathcal{P}}_{\lambda;\left(lm\right)_{i}}^{(p)}&#10;\hat{\mathcal{P}}_{\lambda;l_{j}m_{i}}^{(q)}&#10;\sum_{n=0}^{n=k_{i}+k_{j}}&#10;\mathfrak{C}_{ij;n}^{(W)}&#10;\rho^{n}&#10;\mathcal{F}_{ij;n}^{(W)(zz)}&#10;\\&#10;\mathfrak{C}_{ij;n}^{(W)}&#10;&amp; \coloneqq&#10;(-1)^{n}&#10;\sum_{n_{i}=0}^{n_{i}=\text{Min}\left(k_{i},n-k_{j}\right)}&#10;\frac{ 1 }{ n_{i}!\left(n-n_{i}\right)! }&#10;\binom{ \frac{2l_{i}+3-W}{W}+k_{i} }{ k_{i}-n_{i} }&#10;\binom{ \frac{2l_{j}+3-W}{W}+k_{j} }{ k_{j}-n+n_{i} }&#10;\\&#10;\mathcal{F}_{ij;n}^{(W)(zz)}&#10;&amp; \coloneqq&#10;\vartheta^{Wn+l_{i}+l_{j}+3}&#10;\mathrm{e}^{-\rho\vartheta^{W}}&#10;\\&#10;\mathfrak{C}_{ij;nn_{i}}^{(W)}&#10;&amp; \coloneqq&#10;\frac{ (-1)^{n} }{ n_{i}!\left(n-n_{i}\right)! }&#10;\binom{ \frac{2l_{i}+3-W}{W}+k_{i} }{ k_{i}-n_{i} }&#10;\binom{ \frac{2l_{j}+3-W}{W}+k_{j} }{ k_{j}-n+n_{i} }&#10;\\&#10;\mathcal{F}_{ij;nn_{i}}^{(W)(pq)}&#10;&amp; \coloneqq&#10;\sqrt{\vartheta_{p}}^{2Wn_{i}+2l_{i}+3}&#10;\sqrt{\vartheta_{q}}^{2W\left(n-n_{i}\right)+2l_{j}+3}&#10;\mathrm{e}^{-\rho\left(\hat{\vartheta}^{(pq)}\right)^{W}}&#10;\\&#10;\end{align*}&#10;&#10;\end{document}"/>
  <p:tag name="IGUANATEXSIZE" val="20"/>
  <p:tag name="IGUANATEXCURSOR" val="60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4489.689"/>
  <p:tag name="OUTPUTTYPE" val="PNG"/>
  <p:tag name="IGUANATEXVERSION" val="159"/>
  <p:tag name="LATEXADDIN" val="\documentclass{article}&#10;\usepackage{amsmath,amssymb,bm,physics,mathtools}&#10;\pagestyle{empty}&#10;\begin{document}&#10;&#10;\begin{align*}&#10;\mathcal{I}_{\left(\lambda;l\right)_{ij}m_{i};\left(n\right)_{ij}}^{(zz)}&#10;&amp; \coloneqq&#10;\int_{\chi=-1}^{\chi=+1}\mathrm{d}\chi\,&#10;\hat{\mathcal{P}}_{\left(\lambda;lm\right)_{i}}^{(z)}&#10;\hat{\mathcal{P}}_{\left(\lambda;l\right)_{j}m_{i}}^{(z)}&#10;\vartheta_{\lambda_i\left\{\chi\right\}}^{Wn_{i}+l_{i}+\frac{3}{2}}&#10;\vartheta_{\lambda_j\left\{\chi\right\}}^{Wn_{j}+l_{j}+\frac{3}{2}}&#10;\mathrm{e}^{-\rho_{ij}\left(\hat{\vartheta}_{ij}^{(pq)}\hat{\Xi}_{ij}^{(pq)}\right)^{W}}&#10;\\&#10;\end{align*}&#10;&#10;\end{document}"/>
  <p:tag name="IGUANATEXSIZE" val="20"/>
  <p:tag name="IGUANATEXCURSOR" val="58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8.9502"/>
  <p:tag name="ORIGINALWIDTH" val="4503.937"/>
  <p:tag name="OUTPUTTYPE" val="PNG"/>
  <p:tag name="IGUANATEXVERSION" val="159"/>
  <p:tag name="LATEXADDIN" val="\documentclass{article}&#10;\usepackage{amsmath,bm,eufrak}&#10;\pagestyle{empty}&#10;\begin{document}&#10;&#10;\begin{equation*}&#10;\hat{\mathcal{P}}_{\lambda;lm}^{(z)}&#10;= &#10;\sqrt{\frac{\lambda}{\left(\vartheta_{\lambda\left\{\chi\right\}}\right)^{3}}}&#10;\sqrt{\frac{(2l+1)\left(l-m\right)!}{2\left(l+m\right)!}}&#10;P_{lm}\left(\frac{\lambda \chi}{\vartheta_{\lambda\left\{\chi\right\}}}\right)&#10;\quad\quad&#10;\vartheta_{i\left\{\chi\right\}} = \sqrt{ 1 + \left(\lambda_{i}^{2}-1\right)\chi^{2} }&#10;\end{equation*}&#10;&#10;\end{document} "/>
  <p:tag name="IGUANATEXSIZE" val="20"/>
  <p:tag name="IGUANATEXCURSOR" val="45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0.2062"/>
  <p:tag name="ORIGINALWIDTH" val="2269.216"/>
  <p:tag name="OUTPUTTYPE" val="PNG"/>
  <p:tag name="IGUANATEXVERSION" val="159"/>
  <p:tag name="LATEXADDIN" val="\documentclass{article}&#10;\usepackage{amsmath,bm,eufrak,mathtools}&#10;\pagestyle{empty}&#10;\begin{document}&#10;&#10;\begin{equation*}&#10;\rho_{ij}&#10;\coloneqq&#10;\left(&#10;\frac{2r}{Wa_{\perp}\eta_{ij}}&#10;\right)^{W}&#10;\quad\quad&#10;\eta_{ij}^{W}&#10;\coloneqq&#10;\frac&#10;{2\eta_{i}^{W}\eta_{j}^{W}}&#10;{\eta_{i}^{W}+\eta_{j}^{W}}&#10;\end{equation*}&#10;&#10;\end{document}"/>
  <p:tag name="IGUANATEXSIZE" val="20"/>
  <p:tag name="IGUANATEXCURSOR" val="285"/>
  <p:tag name="TRANSPARENCY" val="True"/>
  <p:tag name="FILENAME" val=""/>
  <p:tag name="LATEXENGINEID" val="0"/>
  <p:tag name="TEMPFOLDER" val="C:\iguanatex\"/>
  <p:tag name="LATEXFORMHEIGHT" val="666"/>
  <p:tag name="LATEXFORMWIDTH" val="1059.7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.4571"/>
  <p:tag name="ORIGINALWIDTH" val="5152.606"/>
  <p:tag name="OUTPUTTYPE" val="PNG"/>
  <p:tag name="IGUANATEXVERSION" val="159"/>
  <p:tag name="LATEXADDIN" val="\documentclass{article}&#10;\usepackage{amsmath,bm,mathtools}&#10;\pagestyle{empty}&#10;\begin{document}&#10;&#10;\begin{equation*}&#10;\delta_{ij}&#10;\coloneqq&#10;\frac{\eta_{j}^{W}-\eta_{i}^{W}}{\eta_{i}^{W}+\eta_{j}^{W}}&#10;\quad\quad&#10;\hat{\epsilon}_{ij}^{(pq)}&#10;\coloneqq&#10;\frac&#10;{\vartheta_{ip}^{W}-\vartheta_{jq}^{W}}&#10;{\vartheta_{ip}^{W}+\vartheta_{jq}^{W}}&#10;\quad\quad&#10;\left(\hat{\vartheta}_{ij}^{(pq)}\right)^{W}&#10;\coloneqq&#10;\frac&#10;{\vartheta_{ip}^{W}+\vartheta_{jq}^{W}}&#10;{2}&#10;\quad\quad&#10;\left(\hat{\Xi}_{ij}^{(pq)}\right)^{W}&#10;\coloneqq&#10;1+\delta_{ij}\hat{\epsilon}_{ij}^{(pq)}&#10;\end{equation*}&#10;&#10;\end{document}"/>
  <p:tag name="IGUANATEXSIZE" val="20"/>
  <p:tag name="IGUANATEXCURSOR" val="327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0.3862"/>
  <p:tag name="ORIGINALWIDTH" val="4914.886"/>
  <p:tag name="LATEXADDIN" val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 l\Omega\right)_{ij}}&#10;\frac{2}{a_{\perp}^{3}}&#10;\sum_{n=0}^{n_{i}=k_{i}+k_{j}}&#10;\mathfrak{E}_{ij;n}^{(W)}&#10;\left(\frac{r}{a_{\perp}}\right)^{Wn+2l_{i}}&#10;\mathrm{e}^{-\rho_{ij}^{(zz)}}&#10;\\&#10;\mathfrak{E}_{ij;n}^{(W)}&#10;&amp; \coloneqq&#10;(-1)^{n}&#10;\frac{ \left(2/W\right)^{Wn+2l_{i}+2} }{ \left(\eta_{i}\eta_{j}\right)^{l_{i}+\frac{3}{2}} }&#10;\sum_{\substack{ n_{i}\le k_{i},n_{j}\le k_{j} \\ n_{i}+n_{j}=n }}&#10;\frac{ 1 }{ n_{i}!n_{j}! }&#10;\binom{ \frac{2l_{i}+3-W}{W}+k_{i} }{ k_{i}-n_{i} }&#10;\binom{ \frac{2l_{i}+3-W}{W}+k_{j} }{ k_{j}-n_{j} }&#10;\\&#10;\end{align*}&#10;&#10;\end{document}"/>
  <p:tag name="IGUANATEXSIZE" val="20"/>
  <p:tag name="IGUANATEXCURSOR" val="60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1163.105"/>
  <p:tag name="LATEXADDIN" val="\documentclass{article}&#10;\usepackage{amsmath,bm,eufrak,mathtools}&#10;\pagestyle{empty}&#10;\begin{document}&#10;&#10;\begin{equation*}&#10;\rho_{ij}^{(zz)}&#10;= &#10;\left(\frac{2r}{Wa_{\perp}\eta_{ij}}\right)^{W}&#10;\end{equation*}&#10;&#10;\end{document}"/>
  <p:tag name="IGUANATEXSIZE" val="20"/>
  <p:tag name="IGUANATEXCURSOR" val="165"/>
  <p:tag name="TRANSPARENCY" val="True"/>
  <p:tag name="FILENAME" val=""/>
  <p:tag name="LATEXENGINEID" val="0"/>
  <p:tag name="TEMPFOLDER" val="c:\temp\"/>
  <p:tag name="LATEXFORMHEIGHT" val="666"/>
  <p:tag name="LATEXFORMWIDTH" val="1059.7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0.3862"/>
  <p:tag name="ORIGINALWIDTH" val="4914.886"/>
  <p:tag name="LATEXADDIN" val="\documentclass{article}&#10;\usepackage{amsmath,amssymb,bm,physics,mathtools}&#10;\pagestyle{empty}&#10;\begin{document}&#10;&#10;\begin{align*}&#10;\vb*{\rho}_{\left(m\zeta lk;\lambda\eta\right)_{ij}\left\{r\right\}}^{\left(\bullet\right)}&#10;&amp; = &#10;\delta_{\left(m\zeta l\Omega\right)_{ij}}&#10;\frac{2}{a_{\perp}^{3}}&#10;\sum_{n=0}^{n_{i}=k_{i}+k_{j}}&#10;\mathfrak{E}_{ij;n}^{(W)}&#10;\left(\frac{r}{a_{\perp}}\right)^{Wn+2l_{i}}&#10;\mathrm{e}^{-\rho_{ij}^{(zz)}}&#10;\\&#10;\mathfrak{E}_{ij;n}^{(W)}&#10;&amp; \coloneqq&#10;(-1)^{n}&#10;\frac{ \left(2/W\right)^{Wn+2l_{i}+2} }{ \left(\eta_{i}\eta_{j}\right)^{l_{i}+\frac{3}{2}} }&#10;\sum_{\substack{ n_{i}\le k_{i},n_{j}\le k_{j} \\ n_{i}+n_{j}=n }}&#10;\frac{ 1 }{ n_{i}!n_{j}! }&#10;\binom{ \frac{2l_{i}+3-W}{W}+k_{i} }{ k_{i}-n_{i} }&#10;\binom{ \frac{2l_{i}+3-W}{W}+k_{j} }{ k_{j}-n_{j} }&#10;\\&#10;\end{align*}&#10;&#10;\end{document}"/>
  <p:tag name="IGUANATEXSIZE" val="20"/>
  <p:tag name="IGUANATEXCURSOR" val="60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1163.105"/>
  <p:tag name="LATEXADDIN" val="\documentclass{article}&#10;\usepackage{amsmath,bm,eufrak,mathtools}&#10;\pagestyle{empty}&#10;\begin{document}&#10;&#10;\begin{equation*}&#10;\rho_{ij}^{(zz)}&#10;= &#10;\left(\frac{2r}{Wa_{\perp}\eta_{ij}}\right)^{W}&#10;\end{equation*}&#10;&#10;\end{document}"/>
  <p:tag name="IGUANATEXSIZE" val="20"/>
  <p:tag name="IGUANATEXCURSOR" val="165"/>
  <p:tag name="TRANSPARENCY" val="True"/>
  <p:tag name="FILENAME" val=""/>
  <p:tag name="LATEXENGINEID" val="0"/>
  <p:tag name="TEMPFOLDER" val="c:\temp\"/>
  <p:tag name="LATEXFORMHEIGHT" val="666"/>
  <p:tag name="LATEXFORMWIDTH" val="1059.7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2872.891"/>
  <p:tag name="LATEXADDIN" val="\documentclass{article}&#10;\usepackage{amsmath,amssymb,bm,physics,mathtools}&#10;\pagestyle{empty}&#10;\begin{document}&#10;&#10;\begin{align*}&#10;\mathcal{I}_{\left(\lambda;lm\right)_{ij}}^{(zz)}&#10;&amp; \coloneqq&#10;\int_{\chi=-1}^{\chi=+1}\mathrm{d}\chi\,&#10;\hat{\mathcal{P}}_{l_{i}m_{i}}^{(z)}&#10;\hat{\mathcal{P}}_{l_{j}m_{i}}^{(z)}&#10;\mathrm{e}^{-\rho_{ij}^{(zz)}}&#10;=&#10;\delta_{l_{i}l_{j}}&#10;\mathrm{e}^{-\rho_{ij}^{(zz)}}&#10;\\&#10;\end{align*}&#10;&#10;\end{document}"/>
  <p:tag name="IGUANATEXSIZE" val="20"/>
  <p:tag name="IGUANATEXCURSOR" val="35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805.774"/>
  <p:tag name="LATEXADDIN" val="\documentclass{article}&#10;\usepackage{amsmath,bm,eufrak}&#10;\pagestyle{empty}&#10;\begin{document}&#10;&#10;\begin{align*}&#10;\hat{\mathcal{P}}_{lm}^{(z)}&#10;&amp; = &#10;\sqrt{\frac{(2l+1)\left(l-m\right)!}{2\left(l+m\right)!}}&#10;P_{lm}\left(\chi\right)&#10;\\&#10;\end{align*}&#10;&#10;\end{document} 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6.528"/>
  <p:tag name="ORIGINALWIDTH" val="6357.705"/>
  <p:tag name="LATEXADDIN" val="\documentclass{article}&#10;\usepackage{amsmath,amssymb,bm,physics,mathtools}&#10;\pagestyle{empty}&#10;\begin{document}&#10;&#10;\begin{align*}&#10;\vb*{\rho}_{\left(m\zeta lk;\lambda\eta\right)_{ij}\left\{r\right\}}^{\left(\upharpoonleft \! \upharpoonright\right)}&#10;&amp; \coloneqq&#10;\delta_{\left(\Omega\right)_{ij}}&#10;\int_{\mathcal{S}} \mathrm{d}\vb{\Omega}\,&#10;\tilde{\Phi}_{\left(m\zeta lk;\lambda\eta\right)_{i}}^{(Wz)}&#10;\Phi_{\left(m\zeta lk;\lambda\eta\right)_{j}}^{(Wz)}&#10;\Theta^{(\upharpoonleft \! \upharpoonright)}&#10;\\&#10;&amp; =&#10;\delta_{\left(\Omega\right)_{ij}}&#10;\int_{\mathcal{S}} \mathrm{d}\vb{\Omega}\,&#10;\tilde{\Phi}_{\left(m\zeta lk;\lambda\eta\right)_{i}}^{(Wz)}&#10;\Phi_{\left(m\zeta lk;\lambda\eta\right)_{j}}^{(Wz)}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\&#10;&amp; =&#10;\zeta_{i}&#10;\delta_{\left(\Omega\right)_{ij}}&#10;\int_{\mathcal{S}} \mathrm{d}\vb{\Omega}\,&#10;\sum_{g}&#10;D_{g}^{(\upharpoonleft \! \upharpoonright)}&#10;\hat{Q}_{\left(m\zeta\right)_{i}}^{(z)}&#10;\hat{Q}_{\left(m\zeta\right)_{j}}^{(z)}&#10;\hat{\mathcal{P}}_{\left(\lambda;lm\right)_{i}}^{(z)}&#10;\hat{\mathcal{P}}_{\left(\lambda;lm\right)_{j}}^{(z)}&#10;\mathcal{\text{Re}}\left\{&#10;\mathrm{e}^{\mathrm{i}\phi_{g}^{(\upharpoonleft \! \upharpoonright)}}&#10;\sum_{h(g)}&#10;\mathcal{R} _{\left(\check{\eta}_{z};kl\right)_{i}\left\{r\right\}} ^{\left(W\right)}&#10;\mathcal{R} _{\left(\check{\eta}_{z};kl\right)_{j}\left\{r\right\}} ^{\left(W\right)}&#10;\mathrm{e}^{\mathrm{i}\frac{2\pi}{a_{\text{Si}}}\bm{h}_{gh}^{(\upharpoonleft \! \upharpoonright)}\cdot\bm{r}}&#10;\right\}&#10;\\&#10;\Theta_{\upharpoonleft \! \upharpoonright}&#10;&amp; \coloneqq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/>
  <p:tag name="IGUANATEXSIZE" val="20"/>
  <p:tag name="IGUANATEXCURSOR" val="158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5.6993"/>
  <p:tag name="ORIGINALWIDTH" val="3288.339"/>
  <p:tag name="LATEXADDIN" val="\documentclass{article}&#10;\usepackage{amsmath,amssymb,bm}&#10;\pagestyle{empty}&#10;\begin{document}&#10;&#10;\begin{align*}&#10;\mathcal{R}&#10;_{\eta;kl\left\{r\right\}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/>
  <p:tag name="IGUANATEXSIZE" val="20"/>
  <p:tag name="IGUANATEXCURSOR" val="32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2.373"/>
  <p:tag name="ORIGINALWIDTH" val="5349.082"/>
  <p:tag name="LATEXADDIN" val="\documentclass{article}&#10;\usepackage{amsmath,amssymb,bm,physics,mathtools}&#10;\pagestyle{empty}&#10;\begin{document}&#10;&#10;\begin{align*}&#10;\vb*{\rho}_{\left(m\zeta lk;\lambda\eta\right)_{ij}\left\{r\right\}}^{\left(\parallel\right)}&#10;&amp; \coloneqq&#10;\int_{\mathcal{S}} \mathrm{d}\vb{\Omega}\,&#10;\tilde{\Phi}_{\left(m\zeta lk;\lambda\eta\right)_{i}}^{(Wz)}&#10;\Phi_{\left(m\zeta lk;\lambda\eta\right)_{j}}^{(Wz)}&#10;\tilde{\Theta}^{(z)}_{\Omega_{i}\vb*{r}}&#10;\Theta^{(z)}_{\Omega_{j}\vb*{r}}&#10;\\&#10;&amp; =&#10;\int_{\mathcal{S}} \mathrm{d}\vb{\Omega}\,&#10;\tilde{\Phi}_{\left(m\zeta lk;\lambda\eta\right)_{i}}^{(Wz)}&#10;\Phi_{\left(m\zeta lk;\lambda\eta\right)_{j}}^{(Wz)}&#10;\left[&#10;\left(\frac{1+\Omega_{1}\Omega_{2}}{2}\right)&#10;\left(&#10;1&#10;+&#10;\Theta^{(\upharpoonleft \! \upharpoonright)}&#10;\right)&#10;+&#10;\Theta_{(\Omega)_{12}}^{(\upharpoonleft \! \downharpoonright)}&#10;\right]&#10;\\&#10;&amp; =&#10;\int_{\phi=-\pi}^{\phi=\pi} \mathrm{d}\phi&#10;\int_{\chi=-1}^{\chi=+1} \mathrm{d}\chi\,&#10;\tilde{Q}_{\left(m\zeta\right)_{i}}^{(z)}Q_{\left(m\zeta\right)_{j}}^{(z)}&#10;\mathcal{P}_{\left(\lambda;lm\right)_{i}}^{(z)}&#10;\mathcal{P}_{\left(\lambda;lm\right)_{j}}^{(z)}&#10;\mathcal{R} _{\left(\check{\eta}_{z};kl\right)_{i}\left\{r\right\}} ^{\left(W\right)}&#10;\mathcal{R} _{\left(\check{\eta}_{z};kl\right)_{j}\left\{r\right\}} ^{\left(W\right)}&#10;\tilde{\Theta}^{(z)}_{\Omega_{i}\vb*{r}}&#10;\Theta^{(z)}_{\Omega_{j}\vb*{r}}&#10;\end{align*}&#10;&#10;\end{document}"/>
  <p:tag name="IGUANATEXSIZE" val="20"/>
  <p:tag name="IGUANATEXCURSOR" val="69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0.9749"/>
  <p:tag name="ORIGINALWIDTH" val="2053.993"/>
  <p:tag name="LATEXADDIN" val="\documentclass{article}&#10;\usepackage{amsmath,bm,eufrak}&#10;\pagestyle{empty}&#10;\begin{document}&#10;&#10;\begin{equation*}&#10;\Phi_{\left(m\zeta lk;\lambda\eta\right)_{i}}^{(Wp)}&#10;= &#10;\hat{Q}_{\left(m\zeta\right)_{i}}^{(p)}&#10;\hat{\mathcal{P}}_{\left(\lambda;lm\right)_{i}}^{(p)}&#10;\mathcal{R} _{\left(\check{\eta};kl\right)_{i}\left\{r\right\}} ^{\left(W\right)}&#10;\\&#10;\end{equation*}&#10;&#10;\end{document}"/>
  <p:tag name="IGUANATEXSIZE" val="20"/>
  <p:tag name="IGUANATEXCURSOR" val="29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5.6993"/>
  <p:tag name="ORIGINALWIDTH" val="3288.339"/>
  <p:tag name="LATEXADDIN" val="\documentclass{article}&#10;\usepackage{amsmath,amssymb,bm}&#10;\pagestyle{empty}&#10;\begin{document}&#10;&#10;\begin{align*}&#10;\mathcal{R}&#10;_{\eta;kl\left\{r\right\}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/>
  <p:tag name="IGUANATEXSIZE" val="20"/>
  <p:tag name="IGUANATEXCURSOR" val="32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0.7162"/>
  <p:tag name="ORIGINALWIDTH" val="727.4091"/>
  <p:tag name="LATEXADDIN" val="\documentclass{article}&#10;\usepackage{amsmath,bm,eufrak}&#10;\pagestyle{empty}&#10;\begin{document}&#10;&#10;\begin{equation*}&#10;\check{\eta}_{ip}&#10;= &#10;\frac&#10;{ \eta_{i} }&#10;{ \vartheta_{\lambda_{i}\left\{\chi_{p}\right\}} }&#10;\\&#10;\end{equation*}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3.922"/>
  <p:tag name="ORIGINALWIDTH" val="5832.021"/>
  <p:tag name="LATEXADDIN" val="\documentclass{article}&#10;\usepackage{amsmath,bm,eufrak}&#10;\pagestyle{empty}&#10;\begin{document}&#10;&#10;\begin{align*}&#10;\mathcal{Z}\left\{\Theta^{(-y)}\Theta^{(+x)}+\Omega_{0}\Theta^{(+y)}\Theta^{(+x)},\Omega_{0}\Omega_{1}\right\}&#10;&amp; =&#10;\Theta_{\perp}&#10;\equiv&#10;\sum_{g}D_{g}^{(\perp)}&#10;\mathcal{Z}\left\{&#10;\sum_{p}&#10;\mathrm{e}^{\mathrm{i}p\phi_{g}^{(\perp)}}&#10;\sum_{n=0,1}\Xi_{n}&#10;\sum_{h(g,p,n)}&#10;\mathrm{e}^{\mathrm{i}\frac{2\pi}{a_{\text{Si}}}\bm{h}_{gpnh}^{(\perp)}\cdot\bm{r}}&#10;,\Omega_{0}\Omega_{1}\right\}&#10;\\&#10;\Xi_{n}&#10;&amp; =&#10;\delta_{n0}+\Omega_{0}\delta_{n1}&#10;\end{align*}&#10;&#10;&#10;&#10;\end{document}"/>
  <p:tag name="IGUANATEXSIZE" val="20"/>
  <p:tag name="IGUANATEXCURSOR" val="535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623.922"/>
  <p:tag name="LATEXADDIN" val="\documentclass{article}&#10;\usepackage{amsmath,amssymb,bm}&#10;\pagestyle{empty}&#10;\begin{document}&#10;&#10;\begin{align*}&#10;\mathcal{Z}\left\{\Theta^{(-z)}\Theta^{(+z)},\Omega_{0}\Omega_{1}\right\}&#10;=&#10;\left(\frac{1+\Omega_{0}\Omega_{1}}{2}\right)&#10;\left( 1 + \Theta_{\upharpoonleft \! \upharpoonright} \right)&#10;\end{align*}&#10;&#10;\end{document}"/>
  <p:tag name="IGUANATEXSIZE" val="20"/>
  <p:tag name="IGUANATEXCURSOR" val="28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4273.716"/>
  <p:tag name="LATEXADDIN" val="\documentclass{article}&#10;\usepackage{amsmath,amssymb,bm}&#10;\pagestyle{empty}&#10;\begin{document}&#10;&#10;\begin{align*}&#10;\mathcal{Z}\left\{\Theta^{(+z)}\Theta^{(+z)},\Omega_{0}\Omega_{1}\right\}&#10;=&#10;\Theta_{\upharpoonleft \! \downharpoonright}&#10;\equiv&#10;\sum_{g} &#10;D_{g}^{(\upharpoonleft \! \downharpoonright)}&#10;\mathcal{Z}\left\{&#10;\sum_{p}&#10;\mathrm{e}^{\mathrm{i}p\phi_{g}^{(\upharpoonleft \! \downharpoonright)}}&#10;\sum_{h(g,p)}&#10;\mathrm{e}^{\mathrm{i}\frac{2\pi}{a_{\text{Si}}}\bm{h}_{gph}^{(\upharpoonleft \! \downharpoonright)}\cdot\bm{r}}&#10;,\Omega_{0}\Omega_{1}\right\}&#10;\\&#10;\end{align*}&#10;&#10;\end{document}"/>
  <p:tag name="IGUANATEXSIZE" val="20"/>
  <p:tag name="IGUANATEXCURSOR" val="28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2209.974"/>
  <p:tag name="LATEXADDIN" val="\documentclass{article}&#10;\usepackage{amsmath,amssymb,bm}&#10;\pagestyle{empty}&#10;\begin{document}&#10;&#10;\begin{align*}&#10;\Theta_{\upharpoonleft \! \upharpoonright}&#10;\equiv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5.069"/>
  <p:tag name="ORIGINALWIDTH" val="4489.689"/>
  <p:tag name="LATEXADDIN" val="\documentclass{article}&#10;\usepackage{amsmath,amssymb,bm,mathtools}&#10;\pagestyle{empty}&#10;\begin{document}&#10;&#10;\begin{align*}&#10;\Theta_{(\Omega)_{12}}^{(\upharpoonleft \! \upharpoonright)}&#10;&amp; \coloneqq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\&#10;\Theta_{(\Omega)_{12}}^{(\upharpoonleft \! \downharpoonright)}&#10;&amp; \coloneqq&#10;\Omega_{1}&#10;\sum_{g} &#10;\left|D_{g}^{(\upharpoonleft \! \downharpoonright)}\right|&#10;\mathcal{Z}\left\{&#10;\sum_{p}&#10;\mathrm{e}^{\mathrm{i}p\phi_{g}^{(\upharpoonleft \! \downharpoonright)}}&#10;\sum_{h(g,p)}&#10;\mathrm{e}^{\mathrm{i}\frac{2\pi}{a_{\text{Si}}}\bm{h}_{gph}^{(\upharpoonleft \! \downharpoonright)}\cdot\bm{r}}&#10;,\Omega_{1}\Omega_{2}\right\}&#10;\\&#10;\Theta_{(\Omega)_{12}}^{(\perp)}&#10;&amp; \coloneqq&#10;\sum_{g}\left|D_{g}^{(\perp)}\right|&#10;\mathcal{Z}\left\{&#10;\sum_{p}&#10;\mathrm{e}^{\mathrm{i}p\phi_{g}^{(\perp)}}&#10;\sum_{n}\left(\delta_{n,-1}+\Omega_{1}\delta_{n,+1}\right)&#10;\sum_{h(g,p,n)}&#10;\mathrm{e}^{\mathrm{i}\frac{2\pi}{a_{\text{Si}}}\bm{h}_{gpnh}^{(\perp)}\cdot\bm{r}}&#10;,\Omega_{1}\Omega_{2}\right\}&#10;\end{align*}&#10;&#10;\end{document}"/>
  <p:tag name="IGUANATEXSIZE" val="18"/>
  <p:tag name="IGUANATEXCURSOR" val="63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2.9321"/>
  <p:tag name="ORIGINALWIDTH" val="2701.162"/>
  <p:tag name="LATEXADDIN" val="\documentclass{article}&#10;\usepackage{amsmath,bm,amssymb}&#10;\pagestyle{empty}&#10;\begin{document}&#10;&#10;\begin{align*}&#10;\Omega_{1}&#10;\Theta_{\Omega_{1}}^{(y)}&#10;\Theta_{\Omega_{2}}^{(x)}&#10;&amp; =&#10;\Theta_{(\Omega)_{12}}^{(\perp)}&#10;\\&#10;\Omega_{1}&#10;\Theta_{\Omega_{1}}^{(z)}&#10;\Theta_{\Omega_{2}}^{(z)}&#10;&amp; =&#10;\left(\frac{1+\Omega_{1}\Omega_{2}}{2}\right)&#10;\left(&#10;1&#10;+&#10;\Theta_{(\Omega)_{12}}^{(\upharpoonleft \! \upharpoonright)}&#10;\right)&#10;+&#10;\Theta_{(\Omega)_{12}}^{(\upharpoonleft \! \downharpoonright)}&#10;\end{align*}&#10;&#10;\end{document}"/>
  <p:tag name="IGUANATEXSIZE" val="18"/>
  <p:tag name="IGUANATEXCURSOR" val="3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5.6993"/>
  <p:tag name="ORIGINALWIDTH" val="3288.339"/>
  <p:tag name="LATEXADDIN" val="\documentclass{article}&#10;\usepackage{amsmath,amssymb,bm}&#10;\pagestyle{empty}&#10;\begin{document}&#10;&#10;\begin{align*}&#10;\mathcal{R}&#10;_{\eta;kl\left\{r\right\}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/>
  <p:tag name="IGUANATEXSIZE" val="20"/>
  <p:tag name="IGUANATEXCURSOR" val="32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2080.99"/>
  <p:tag name="LATEXADDIN" val="\documentclass{article}&#10;\usepackage{amsmath,bm,eufrak}&#10;\pagestyle{empty}&#10;\begin{document}&#10;&#10;\begin{equation*}&#10;\Phi_{m\zeta lk;\lambda\eta}^{(Wq)}&#10;= &#10;\hat{Q}_{m\zeta}^{(q)}&#10;\hat{\mathcal{P}}_{\lambda;lm}^{(q)}&#10;\mathcal{R} _{\left(\eta/\vartheta_{\lambda\left\{\chi_{q}\right\}}\right);kl\left\{r\right\}} ^{\left(W\right)}&#10;\\&#10;\end{equation*}&#10;&#10;\end{document}"/>
  <p:tag name="IGUANATEXSIZE" val="20"/>
  <p:tag name="IGUANATEXCURSOR" val="28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8.3765"/>
  <p:tag name="ORIGINALWIDTH" val="2931.384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left(\vartheta_{\lambda\left\{\chi_{q}\right\}}\right)^{3}}}&#10;\sqrt{\frac{(2l+1)\left(l-m\right)!}{2\left(l+m\right)!}}&#10;P_{lm}\left(\frac{\lambda \chi_{q}}{\vartheta_{\lambda\left\{\chi_{q}\right\}}}\right)&#10;\\&#10;\hat{Q}_{\zeta m}^{(q)}&#10;&amp; = &#10;\frac{1}{\sqrt{2\pi}}&#10;\left(\frac{\mathrm{e}^{\mathrm{i}m \phi_{q}}+ \zeta\mathrm{e}^{-\mathrm{i}m \phi_{q}}}&#10;{2\delta_{m0} + \sqrt{2}\left(1-\delta_{m0}\right)}\right)&#10;\end{align*}&#10;&#10;\end{document} "/>
  <p:tag name="IGUANATEXSIZE" val="20"/>
  <p:tag name="IGUANATEXCURSOR" val="22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.4571"/>
  <p:tag name="ORIGINALWIDTH" val="3224.597"/>
  <p:tag name="LATEXADDIN" val="\documentclass{article}&#10;\usepackage{amsmath,bm}&#10;\pagestyle{empty}&#10;\begin{document}&#10;&#10;\begin{equation*}&#10;\Psi_{A^{(\sigma)};\lambda\eta}^{\left(W\right)}&#10;=&#10;\sum_{m_{e}lk}&#10;c_{m_{e}lk}&#10;\sum_{q = x,y,z} &#10;\left(\frac{1}{\sqrt{3}}\right)&#10;\Phi_{m_{e}(\sigma\mathrm{i}^{m_{e}})lk;\lambda\eta}^{(W q)}&#10;\Theta^{(q)}_{\sigma\mathrm{i}^{m_{e}}(-1)^{l}}&#10;\end{equation*}&#10;&#10;\end{document}"/>
  <p:tag name="IGUANATEXSIZE" val="18"/>
  <p:tag name="IGUANATEXCURSOR" val="28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2.4635"/>
  <p:tag name="ORIGINALWIDTH" val="2512.936"/>
  <p:tag name="LATEXADDIN" val="\documentclass{article}&#10;\usepackage{amsmath,bm}&#10;\pagestyle{empty}&#10;\begin{document}&#10;&#10;\begin{align*}&#10;\Psi_{T_{q}^{(\sigma)};\lambda\eta}^{\left(W\right)}&#10;=&#10;\sum_{m_{e}lk}&#10;c_{m_{e}lk}&#10;\Phi_{m_{e}(\sigma\mathrm{i}^{m_{e}})lk;\lambda\eta}^{(W q)}&#10;\Theta_{-\sigma\mathrm{i}^{m_{e}}(-1)^{l}}^{(q)}&#10;\end{align*}&#10;&#10;\end{document}"/>
  <p:tag name="IGUANATEXSIZE" val="18"/>
  <p:tag name="IGUANATEXCURSOR" val="23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304.087"/>
  <p:tag name="LATEXADDIN" val="\documentclass{article}&#10;\usepackage{amsmath,bm}&#10;\pagestyle{empty}&#10;\begin{document}&#10;&#10;\begin{equation*}&#10;\Psi_{E_{i};\lambda\eta}^{\left(W\right)}&#10;=&#10;\sum_{m_{e}lk\sigma}&#10;c_{m_{e}lk\sigma}&#10;\sum_{q = x,y,z}&#10;\left(\beta_{E_{i}}^{(\sigma)}\right)_{q}&#10;\Phi_{m_{e}(\sigma\mathrm{i}^{m_{e}})lk;\lambda\eta}^{(W q)}&#10;\Theta^{(q)}_{\sigma\mathrm{i}^{m_{e}}(-1)^{l}}&#10;\end{equation*}&#10;&#10;\end{document}"/>
  <p:tag name="IGUANATEXSIZE" val="18"/>
  <p:tag name="IGUANATEXCURSOR" val="3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.6846"/>
  <p:tag name="ORIGINALWIDTH" val="1182.602"/>
  <p:tag name="OUTPUTTYPE" val="PNG"/>
  <p:tag name="IGUANATEXVERSION" val="159"/>
  <p:tag name="LATEXADDIN" val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/>
  <p:tag name="IGUANATEXSIZE" val="18"/>
  <p:tag name="IGUANATEXCURSOR" val="25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4"/>
  <p:tag name="LAYER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.4653"/>
  <p:tag name="ORIGINALWIDTH" val="788.9014"/>
  <p:tag name="LATEXADDIN" val="\documentclass{article}&#10;\usepackage{amsmath,bm}&#10;\pagestyle{empty}&#10;\begin{document}&#10;&#10;\begin{equation*}&#10;\tau = -\frac{1}{2} + \mathrm{i}\frac{\sqrt{3}}{2}&#10;\end{equation*}&#10;&#10;\end{document}"/>
  <p:tag name="IGUANATEXSIZE" val="16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335.583"/>
  <p:tag name="LATEXADDIN" val="\documentclass{article}&#10;\usepackage{amsmath,bm}&#10;\pagestyle{empty}&#10;\begin{document}&#10;&#10;\begin{equation*}&#10;\bm{\beta}_{E_{1}}^{(\sigma)}&#10;=&#10;\mathrm{i}^{\frac{1-\sigma}{2}}&#10;\frac{1}{\sqrt{3}}&#10;\left\{\tau, \tau^{2}, 1\right\}&#10;\end{equation*}&#10;&#10;\end{document}"/>
  <p:tag name="IGUANATEXSIZE" val="16"/>
  <p:tag name="IGUANATEXCURSOR" val="12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725.1594"/>
  <p:tag name="LATEXADDIN" val="\documentclass{article}&#10;\usepackage{amsmath,bm}&#10;\pagestyle{empty}&#10;\begin{document}&#10;&#10;\begin{equation*}&#10;\bm{\beta}_{E_{2}}&#10;=&#10;\left(\bm{\beta}_{E_{1}}\right)^{*}&#10;\end{equation*}&#10;&#10;\end{document}"/>
  <p:tag name="IGUANATEXSIZE" val="16"/>
  <p:tag name="IGUANATEXCURSOR" val="13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3809.524"/>
  <p:tag name="LATEXADDIN" val="\documentclass{article}&#10;\usepackage{amsmath,bm}&#10;\pagestyle{empty}&#10;\begin{document}&#10;&#10;\begin{align*}&#10;\Psi_{T_{q_{1}}^{(\sigma)};\lambda\eta}^{\left(W\right)}&#10;=&#10;\sum_{m_{o}lkh}&#10;c_{m_{o}lkh}&#10;\left(&#10;\frac&#10;{&#10;\Phi_{m_{o}hlk;\lambda\eta}^{\left(W\kappa q_{2}\right)}\Theta_{h(-1)^{l}}^{(q_{2})}&#10;- h\sigma\mathrm{i}^{m_{o}}\Phi_{m_{o}\bar{h}lk;\lambda\eta}^{\left(Wq_{3}\right)}\Theta_{h(-1)^{l}}^{(q_{3})}&#10;}&#10;{\sqrt{2}}&#10;\right)&#10;\end{align*}&#10;&#10;\end{document}"/>
  <p:tag name="IGUANATEXSIZE" val="18"/>
  <p:tag name="IGUANATEXCURSOR" val="35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48880</TotalTime>
  <Words>259</Words>
  <Application>Microsoft Office PowerPoint</Application>
  <PresentationFormat>Widescreen</PresentationFormat>
  <Paragraphs>66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Georgia</vt:lpstr>
      <vt:lpstr>LucidaGrande</vt:lpstr>
      <vt:lpstr>UB Powerpoint Template</vt:lpstr>
      <vt:lpstr>Exploring Electron Density</vt:lpstr>
      <vt:lpstr>Single Electron Number Density</vt:lpstr>
      <vt:lpstr>Averaged Over Solid Angle</vt:lpstr>
      <vt:lpstr>Coefficient involving parallel valleys</vt:lpstr>
      <vt:lpstr>Coefficient involving perpendicular valleys</vt:lpstr>
      <vt:lpstr>Averaged Over Solid Angle – Parallel Axes</vt:lpstr>
      <vt:lpstr>Averaged Over Solid Angle – Perpendicular Axes</vt:lpstr>
      <vt:lpstr>Integrand Contributions</vt:lpstr>
      <vt:lpstr>Radial Contribution – Elaboration I</vt:lpstr>
      <vt:lpstr>Radial Contribution – Elaboration II</vt:lpstr>
      <vt:lpstr>Radial Contribution – Elaboration III</vt:lpstr>
      <vt:lpstr>Radial Contribution – Elaboration IV</vt:lpstr>
      <vt:lpstr>Radial Contribution – Elaboration V</vt:lpstr>
      <vt:lpstr>Radial Contribution – Final Statement</vt:lpstr>
      <vt:lpstr>Central Term – Averaged over solid angle</vt:lpstr>
      <vt:lpstr>Central Term SA Avg. (General Definition)</vt:lpstr>
      <vt:lpstr>Averaged Over Solid Angle – Parallel Terms I</vt:lpstr>
      <vt:lpstr>Central Terms – Elaboration V</vt:lpstr>
      <vt:lpstr>Averaged Over Solid Angle – Central Term II</vt:lpstr>
      <vt:lpstr>Averaged Over Solid Angle – Parallel Valley Terms (Gen. Def.)</vt:lpstr>
      <vt:lpstr>Avg.’d Over Solid Angle – Perpendicular Valley Terms (Gen. Def.)</vt:lpstr>
      <vt:lpstr>Averaged Over Solid Angle – Central Term (within subbasis)</vt:lpstr>
      <vt:lpstr>Central Integral (General)</vt:lpstr>
      <vt:lpstr>Averaged Over Solid Angle – Central Term (w/ λ_i,λ_j==1)</vt:lpstr>
      <vt:lpstr>Averaged Over Solid Angle – Central Term (w/ λ_i,λ_j==1)</vt:lpstr>
      <vt:lpstr>Central Integral (λ_i,λ_j==1)</vt:lpstr>
      <vt:lpstr>Averaged Over Solid Angle – Aligned Valleys Term I</vt:lpstr>
      <vt:lpstr>Averaged Over Solid Angle</vt:lpstr>
      <vt:lpstr>Bloch integrand</vt:lpstr>
      <vt:lpstr>B11. Final form of Bloch product formulae</vt:lpstr>
      <vt:lpstr>Basis Defined</vt:lpstr>
      <vt:lpstr>Naïve basis states -- I</vt:lpstr>
      <vt:lpstr>Symmetrized States, m even</vt:lpstr>
      <vt:lpstr>Symmetrized States, m odd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2047</cp:revision>
  <cp:lastPrinted>2016-07-18T17:32:49Z</cp:lastPrinted>
  <dcterms:created xsi:type="dcterms:W3CDTF">2016-06-28T14:05:07Z</dcterms:created>
  <dcterms:modified xsi:type="dcterms:W3CDTF">2023-04-29T19:52:27Z</dcterms:modified>
  <cp:category/>
</cp:coreProperties>
</file>