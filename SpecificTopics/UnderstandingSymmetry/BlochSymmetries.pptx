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3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4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5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6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7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8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9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0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1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12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13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14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15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16.xml" ContentType="application/vnd.openxmlformats-officedocument.presentationml.notesSlide+xml"/>
  <Override PartName="/ppt/tags/tag57.xml" ContentType="application/vnd.openxmlformats-officedocument.presentationml.tags+xml"/>
  <Override PartName="/ppt/notesSlides/notesSlide17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1" r:id="rId1"/>
  </p:sldMasterIdLst>
  <p:notesMasterIdLst>
    <p:notesMasterId r:id="rId22"/>
  </p:notesMasterIdLst>
  <p:handoutMasterIdLst>
    <p:handoutMasterId r:id="rId23"/>
  </p:handoutMasterIdLst>
  <p:sldIdLst>
    <p:sldId id="517" r:id="rId2"/>
    <p:sldId id="790" r:id="rId3"/>
    <p:sldId id="828" r:id="rId4"/>
    <p:sldId id="794" r:id="rId5"/>
    <p:sldId id="796" r:id="rId6"/>
    <p:sldId id="797" r:id="rId7"/>
    <p:sldId id="798" r:id="rId8"/>
    <p:sldId id="799" r:id="rId9"/>
    <p:sldId id="801" r:id="rId10"/>
    <p:sldId id="802" r:id="rId11"/>
    <p:sldId id="805" r:id="rId12"/>
    <p:sldId id="806" r:id="rId13"/>
    <p:sldId id="807" r:id="rId14"/>
    <p:sldId id="830" r:id="rId15"/>
    <p:sldId id="815" r:id="rId16"/>
    <p:sldId id="816" r:id="rId17"/>
    <p:sldId id="817" r:id="rId18"/>
    <p:sldId id="831" r:id="rId19"/>
    <p:sldId id="833" r:id="rId20"/>
    <p:sldId id="832" r:id="rId21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961"/>
    <a:srgbClr val="FF7F7F"/>
    <a:srgbClr val="7FD7A7"/>
    <a:srgbClr val="00B050"/>
    <a:srgbClr val="FF0000"/>
    <a:srgbClr val="33A366"/>
    <a:srgbClr val="B797CF"/>
    <a:srgbClr val="7A0000"/>
    <a:srgbClr val="005AC0"/>
    <a:srgbClr val="2F71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13" autoAdjust="0"/>
    <p:restoredTop sz="93979" autoAdjust="0"/>
  </p:normalViewPr>
  <p:slideViewPr>
    <p:cSldViewPr snapToGrid="0" snapToObjects="1">
      <p:cViewPr varScale="1">
        <p:scale>
          <a:sx n="112" d="100"/>
          <a:sy n="112" d="100"/>
        </p:scale>
        <p:origin x="186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3" d="100"/>
          <a:sy n="73" d="100"/>
        </p:scale>
        <p:origin x="251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D33A1-6D17-2C4C-B4C2-C83DB37352CC}" type="datetimeFigureOut">
              <a:rPr lang="en-US" smtClean="0">
                <a:latin typeface="Arial" charset="0"/>
              </a:rPr>
              <a:t>3/15/2023</a:t>
            </a:fld>
            <a:endParaRPr lang="en-US" dirty="0">
              <a:latin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9171E-5108-1245-8B63-E8B205C9AF87}" type="slidenum">
              <a:rPr lang="en-US" smtClean="0">
                <a:latin typeface="Arial" charset="0"/>
              </a:rPr>
              <a:t>‹#›</a:t>
            </a:fld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5423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fld id="{5B96CA4F-2197-CC40-B4FC-798A937A9DC6}" type="datetimeFigureOut">
              <a:rPr lang="en-US" smtClean="0"/>
              <a:pPr/>
              <a:t>3/15/2023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fld id="{02322656-8894-1544-92AA-01B3CF5E61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75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76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7010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7107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3598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1274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175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3896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1949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5728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7763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2548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960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5705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1326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3776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1993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9704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90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2188950" cy="6857998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+mj-lt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1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472"/>
            <a:ext cx="6638544" cy="2386584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811521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0"/>
            <a:ext cx="12188952" cy="6857999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+mj-lt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2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472"/>
            <a:ext cx="6638544" cy="2386584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05879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9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663"/>
            <a:ext cx="6638544" cy="2387600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baseline="0">
                <a:solidFill>
                  <a:schemeClr val="tx1"/>
                </a:solidFill>
                <a:latin typeface="+mj-lt"/>
                <a:ea typeface="Georgia" charset="0"/>
                <a:cs typeface="Georgia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6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8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3042137"/>
            <a:ext cx="6638544" cy="836126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i="1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6" y="366636"/>
            <a:ext cx="4800588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996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470" y="2007221"/>
            <a:ext cx="10513060" cy="39725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6930" y="122010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66897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66928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5029200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vitae dolor </a:t>
            </a:r>
            <a:r>
              <a:rPr lang="en-US" dirty="0" err="1"/>
              <a:t>euismod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. In </a:t>
            </a:r>
            <a:r>
              <a:rPr lang="en-US" dirty="0" err="1"/>
              <a:t>ornare</a:t>
            </a:r>
            <a:r>
              <a:rPr lang="en-US" dirty="0"/>
              <a:t> convallis </a:t>
            </a:r>
            <a:r>
              <a:rPr lang="en-US" dirty="0" err="1"/>
              <a:t>velit</a:t>
            </a:r>
            <a:r>
              <a:rPr lang="en-US" dirty="0"/>
              <a:t> vitae cursus. Integer </a:t>
            </a:r>
            <a:r>
              <a:rPr lang="en-US" dirty="0" err="1"/>
              <a:t>egestas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mi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61855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838200" y="2185416"/>
            <a:ext cx="10515600" cy="373242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457200" marR="0" indent="-406400" algn="l" defTabSz="914400" rtl="0" eaLnBrk="1" fontAlgn="auto" latinLnBrk="0" hangingPunct="1">
              <a:lnSpc>
                <a:spcPts val="2600"/>
              </a:lnSpc>
              <a:spcBef>
                <a:spcPts val="1000"/>
              </a:spcBef>
              <a:spcAft>
                <a:spcPts val="0"/>
              </a:spcAft>
              <a:buClr>
                <a:srgbClr val="005BBB"/>
              </a:buClr>
              <a:buSzPct val="109000"/>
              <a:buFont typeface="Arial" charset="0"/>
              <a:buChar char="•"/>
              <a:tabLst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r>
              <a:rPr lang="en-US" dirty="0" err="1"/>
              <a:t>Quisque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 in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</a:t>
            </a:r>
          </a:p>
          <a:p>
            <a:r>
              <a:rPr lang="en-US" dirty="0" err="1"/>
              <a:t>Donec</a:t>
            </a:r>
            <a:r>
              <a:rPr lang="en-US" dirty="0"/>
              <a:t> vitae </a:t>
            </a:r>
            <a:r>
              <a:rPr lang="en-US" dirty="0" err="1"/>
              <a:t>justo</a:t>
            </a:r>
            <a:r>
              <a:rPr lang="en-US" dirty="0"/>
              <a:t> et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  <a:p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ex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  <a:p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ac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</a:t>
            </a:r>
          </a:p>
          <a:p>
            <a:r>
              <a:rPr lang="en-US" dirty="0" err="1"/>
              <a:t>Duis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</a:t>
            </a:r>
          </a:p>
          <a:p>
            <a:r>
              <a:rPr lang="en-US" dirty="0"/>
              <a:t>Justo et neque odio facilisis turpis </a:t>
            </a:r>
            <a:r>
              <a:rPr lang="en-US" dirty="0" err="1"/>
              <a:t>sodales</a:t>
            </a:r>
            <a:r>
              <a:rPr lang="en-US" dirty="0"/>
              <a:t> placerat.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0740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3 level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566928" y="2185416"/>
            <a:ext cx="9678987" cy="38481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300"/>
              </a:lnSpc>
              <a:buClr>
                <a:srgbClr val="005BBB"/>
              </a:buClr>
              <a:buFontTx/>
              <a:buNone/>
              <a:defRPr sz="1700" b="1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736600" indent="-279400">
              <a:lnSpc>
                <a:spcPts val="2300"/>
              </a:lnSpc>
              <a:buClr>
                <a:srgbClr val="005BBB"/>
              </a:buClr>
              <a:buFont typeface="Arial" charset="0"/>
              <a:buChar char="•"/>
              <a:tabLst/>
              <a:defRPr sz="20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marR="0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>
                <a:tab pos="11430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</a:t>
            </a:r>
          </a:p>
          <a:p>
            <a:pPr lvl="1"/>
            <a:r>
              <a:rPr lang="en-US" dirty="0"/>
              <a:t>Second level text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 </a:t>
            </a:r>
          </a:p>
          <a:p>
            <a:pPr lvl="2"/>
            <a:r>
              <a:rPr lang="en-US" dirty="0"/>
              <a:t>Third level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549412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700" y="11430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9469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626100" y="12954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1748040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699" y="1143001"/>
            <a:ext cx="6718301" cy="285529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473699" y="3998296"/>
            <a:ext cx="3429001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902701" y="3998296"/>
            <a:ext cx="3289300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9469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8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787271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0" y="1143001"/>
            <a:ext cx="121920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784519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>
            <a:spAutoFit/>
          </a:bodyPr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9416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68638" y="0"/>
            <a:ext cx="1169605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6" algn="ctr"/>
            <a:r>
              <a:rPr lang="en-US" sz="2400" dirty="0">
                <a:latin typeface="Arial" charset="0"/>
              </a:rPr>
              <a:t>‘-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2045778" y="1023929"/>
            <a:ext cx="8557756" cy="1402691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Effra Trial Heavy" charset="0"/>
                <a:ea typeface="Effra Trial Heavy" charset="0"/>
                <a:cs typeface="Effra Trial Heavy" charset="0"/>
              </a:defRPr>
            </a:lvl1pPr>
          </a:lstStyle>
          <a:p>
            <a:endParaRPr lang="en-US" sz="4800" dirty="0"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9" name="Text Placeholder 2"/>
          <p:cNvSpPr txBox="1">
            <a:spLocks/>
          </p:cNvSpPr>
          <p:nvPr userDrawn="1"/>
        </p:nvSpPr>
        <p:spPr>
          <a:xfrm>
            <a:off x="2045778" y="2555888"/>
            <a:ext cx="8557756" cy="3078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0" i="0" kern="1200">
                <a:solidFill>
                  <a:srgbClr val="828383"/>
                </a:solidFill>
                <a:latin typeface="Museo Slab 100" charset="0"/>
                <a:ea typeface="Museo Slab 100" charset="0"/>
                <a:cs typeface="Museo Slab 100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950" cy="6857998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838200" y="2039400"/>
            <a:ext cx="10515600" cy="4094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11" name="Slide Number Placeholder 6"/>
          <p:cNvSpPr txBox="1">
            <a:spLocks/>
          </p:cNvSpPr>
          <p:nvPr userDrawn="1"/>
        </p:nvSpPr>
        <p:spPr>
          <a:xfrm>
            <a:off x="11353800" y="199638"/>
            <a:ext cx="731520" cy="457200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685800" rtl="0" eaLnBrk="1" latinLnBrk="0" hangingPunct="1">
              <a:defRPr sz="1000" b="1" i="0" kern="1200">
                <a:solidFill>
                  <a:srgbClr val="828383"/>
                </a:solidFill>
                <a:latin typeface="Museo Slab 900" charset="0"/>
                <a:ea typeface="Museo Slab 900" charset="0"/>
                <a:cs typeface="Museo Slab 900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915D2C3-7EB9-F849-9C19-1CC92E2870ED}" type="slidenum">
              <a:rPr lang="en-US" sz="1600" b="1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pPr algn="ctr"/>
              <a:t>‹#›</a:t>
            </a:fld>
            <a:endParaRPr lang="en-US" sz="1600" b="1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03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896" r:id="rId2"/>
    <p:sldLayoutId id="2147483894" r:id="rId3"/>
    <p:sldLayoutId id="2147483909" r:id="rId4"/>
    <p:sldLayoutId id="2147483895" r:id="rId5"/>
    <p:sldLayoutId id="2147483897" r:id="rId6"/>
    <p:sldLayoutId id="2147483907" r:id="rId7"/>
    <p:sldLayoutId id="2147483898" r:id="rId8"/>
    <p:sldLayoutId id="2147483900" r:id="rId9"/>
    <p:sldLayoutId id="2147483906" r:id="rId10"/>
    <p:sldLayoutId id="2147483902" r:id="rId11"/>
    <p:sldLayoutId id="214748391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0" kern="1200">
          <a:solidFill>
            <a:schemeClr val="tx2"/>
          </a:solidFill>
          <a:latin typeface="Gill Sans MT" panose="020B0502020104020203" pitchFamily="34" charset="0"/>
          <a:ea typeface="Gill Sans MT" panose="020B0502020104020203" pitchFamily="34" charset="0"/>
          <a:cs typeface="Gill Sans MT" panose="020B05020201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5BBB"/>
        </a:buClr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Gill Sans MT" panose="020B0502020104020203" pitchFamily="34" charset="0"/>
          <a:ea typeface="Gill Sans MT" panose="020B0502020104020203" pitchFamily="34" charset="0"/>
          <a:cs typeface="Arial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Gill Sans MT" panose="020B0502020104020203" pitchFamily="34" charset="0"/>
          <a:ea typeface="Gill Sans MT" panose="020B0502020104020203" pitchFamily="34" charset="0"/>
          <a:cs typeface="Arial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LucidaGrande" charset="0"/>
        <a:buChar char="-"/>
        <a:defRPr sz="1800" kern="1200" baseline="0">
          <a:solidFill>
            <a:schemeClr val="tx1"/>
          </a:solidFill>
          <a:latin typeface="Gill Sans MT" panose="020B0502020104020203" pitchFamily="34" charset="0"/>
          <a:ea typeface="Gill Sans MT" panose="020B0502020104020203" pitchFamily="34" charset="0"/>
          <a:cs typeface="Arial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880">
          <p15:clr>
            <a:srgbClr val="F26B43"/>
          </p15:clr>
        </p15:guide>
        <p15:guide id="2" pos="416">
          <p15:clr>
            <a:srgbClr val="F26B43"/>
          </p15:clr>
        </p15:guide>
        <p15:guide id="3" orient="horz" pos="4016">
          <p15:clr>
            <a:srgbClr val="F26B43"/>
          </p15:clr>
        </p15:guide>
        <p15:guide id="4" pos="7392">
          <p15:clr>
            <a:srgbClr val="F26B43"/>
          </p15:clr>
        </p15:guide>
        <p15:guide id="5" pos="288">
          <p15:clr>
            <a:srgbClr val="F26B43"/>
          </p15:clr>
        </p15:guide>
        <p15:guide id="6" pos="4464">
          <p15:clr>
            <a:srgbClr val="F26B43"/>
          </p15:clr>
        </p15:guide>
        <p15:guide id="7" pos="4704">
          <p15:clr>
            <a:srgbClr val="F26B43"/>
          </p15:clr>
        </p15:guide>
        <p15:guide id="8" pos="4512">
          <p15:clr>
            <a:srgbClr val="F26B43"/>
          </p15:clr>
        </p15:guide>
        <p15:guide id="9" orient="horz" pos="1848">
          <p15:clr>
            <a:srgbClr val="F26B43"/>
          </p15:clr>
        </p15:guide>
        <p15:guide id="10" orient="horz" pos="1896">
          <p15:clr>
            <a:srgbClr val="F26B43"/>
          </p15:clr>
        </p15:guide>
        <p15:guide id="11" orient="horz" pos="2880">
          <p15:clr>
            <a:srgbClr val="F26B43"/>
          </p15:clr>
        </p15:guide>
        <p15:guide id="1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tags" Target="../tags/tag3.xml"/><Relationship Id="rId7" Type="http://schemas.openxmlformats.org/officeDocument/2006/relationships/image" Target="../media/image8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11.png"/><Relationship Id="rId4" Type="http://schemas.openxmlformats.org/officeDocument/2006/relationships/tags" Target="../tags/tag4.xml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tags" Target="../tags/tag7.xml"/><Relationship Id="rId7" Type="http://schemas.openxmlformats.org/officeDocument/2006/relationships/image" Target="../media/image12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15.png"/><Relationship Id="rId4" Type="http://schemas.openxmlformats.org/officeDocument/2006/relationships/tags" Target="../tags/tag8.xml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tags" Target="../tags/tag11.xml"/><Relationship Id="rId7" Type="http://schemas.openxmlformats.org/officeDocument/2006/relationships/notesSlide" Target="../notesSlides/notesSlide3.xml"/><Relationship Id="rId12" Type="http://schemas.openxmlformats.org/officeDocument/2006/relationships/image" Target="../media/image20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19.png"/><Relationship Id="rId5" Type="http://schemas.openxmlformats.org/officeDocument/2006/relationships/tags" Target="../tags/tag13.xml"/><Relationship Id="rId10" Type="http://schemas.openxmlformats.org/officeDocument/2006/relationships/image" Target="../media/image18.png"/><Relationship Id="rId4" Type="http://schemas.openxmlformats.org/officeDocument/2006/relationships/tags" Target="../tags/tag12.xml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tags" Target="../tags/tag16.xml"/><Relationship Id="rId7" Type="http://schemas.openxmlformats.org/officeDocument/2006/relationships/notesSlide" Target="../notesSlides/notesSlide4.xml"/><Relationship Id="rId12" Type="http://schemas.openxmlformats.org/officeDocument/2006/relationships/image" Target="../media/image25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24.png"/><Relationship Id="rId5" Type="http://schemas.openxmlformats.org/officeDocument/2006/relationships/tags" Target="../tags/tag18.xml"/><Relationship Id="rId10" Type="http://schemas.openxmlformats.org/officeDocument/2006/relationships/image" Target="../media/image23.png"/><Relationship Id="rId4" Type="http://schemas.openxmlformats.org/officeDocument/2006/relationships/tags" Target="../tags/tag17.xml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tags" Target="../tags/tag21.xml"/><Relationship Id="rId7" Type="http://schemas.openxmlformats.org/officeDocument/2006/relationships/image" Target="../media/image27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26.pn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notesSlide" Target="../notesSlides/notesSlid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notesSlide" Target="../notesSlides/notesSlide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tags" Target="../tags/tag28.xml"/><Relationship Id="rId7" Type="http://schemas.openxmlformats.org/officeDocument/2006/relationships/image" Target="../media/image33.pn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36.png"/><Relationship Id="rId4" Type="http://schemas.openxmlformats.org/officeDocument/2006/relationships/tags" Target="../tags/tag29.xml"/><Relationship Id="rId9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tags" Target="../tags/tag32.xml"/><Relationship Id="rId7" Type="http://schemas.openxmlformats.org/officeDocument/2006/relationships/image" Target="../media/image37.pn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40.png"/><Relationship Id="rId4" Type="http://schemas.openxmlformats.org/officeDocument/2006/relationships/tags" Target="../tags/tag33.xml"/><Relationship Id="rId9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tags" Target="../tags/tag36.xml"/><Relationship Id="rId7" Type="http://schemas.openxmlformats.org/officeDocument/2006/relationships/image" Target="../media/image42.png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image" Target="../media/image41.png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tags" Target="../tags/tag39.xml"/><Relationship Id="rId7" Type="http://schemas.openxmlformats.org/officeDocument/2006/relationships/image" Target="../media/image45.png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image" Target="../media/image44.png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tags" Target="../tags/tag42.xml"/><Relationship Id="rId7" Type="http://schemas.openxmlformats.org/officeDocument/2006/relationships/image" Target="../media/image47.png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50.png"/><Relationship Id="rId4" Type="http://schemas.openxmlformats.org/officeDocument/2006/relationships/tags" Target="../tags/tag43.xml"/><Relationship Id="rId9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tags" Target="../tags/tag46.xml"/><Relationship Id="rId7" Type="http://schemas.openxmlformats.org/officeDocument/2006/relationships/image" Target="../media/image51.png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53.png"/><Relationship Id="rId4" Type="http://schemas.openxmlformats.org/officeDocument/2006/relationships/tags" Target="../tags/tag47.xml"/><Relationship Id="rId9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tags" Target="../tags/tag50.xml"/><Relationship Id="rId7" Type="http://schemas.openxmlformats.org/officeDocument/2006/relationships/image" Target="../media/image55.png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image" Target="../media/image54.png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tags" Target="../tags/tag53.xml"/><Relationship Id="rId7" Type="http://schemas.openxmlformats.org/officeDocument/2006/relationships/image" Target="../media/image58.png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image" Target="../media/image57.png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tags" Target="../tags/tag56.xml"/><Relationship Id="rId7" Type="http://schemas.openxmlformats.org/officeDocument/2006/relationships/image" Target="../media/image61.png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image" Target="../media/image60.png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7.xml"/><Relationship Id="rId4" Type="http://schemas.openxmlformats.org/officeDocument/2006/relationships/image" Target="../media/image6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367" y="3024952"/>
            <a:ext cx="9569366" cy="853311"/>
          </a:xfrm>
          <a:solidFill>
            <a:srgbClr val="005AC0"/>
          </a:solidFill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BLOCH Functions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How symmetry introduces interrelationships between the coefficients of the Bloch Fourier expansion.</a:t>
            </a:r>
          </a:p>
        </p:txBody>
      </p:sp>
    </p:spTree>
    <p:extLst>
      <p:ext uri="{BB962C8B-B14F-4D97-AF65-F5344CB8AC3E}">
        <p14:creationId xmlns:p14="http://schemas.microsoft.com/office/powerpoint/2010/main" val="376344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\documentclass{article}&#10;\usepackage{amsmath,bm,eufrak}&#10;\pagestyle{empty}&#10;\begin{document}&#10;&#10;\begin{equation*}&#10;\Theta_{q}&#10;=&#10;\mathrm{e}^{\mathrm{i}\bm{k}_{q}\cdot\bm{r}}&#10;u_{\bm{k}_{q}}\left(\bm{r}\right)&#10;=&#10;\mathrm{e}^{\mathrm{i}\bm{k}_{q}\cdot\bm{r}}&#10;\sum_{\bm{G}} C_{\bm{G}}^{(q)}\mathrm{e}^{\mathrm{i}\bm{G}\cdot\bm{r}}&#10;\end{equation*}&#10;&#10;\end{document}" title="IguanaTex Bitmap Display">
            <a:extLst>
              <a:ext uri="{FF2B5EF4-FFF2-40B4-BE49-F238E27FC236}">
                <a16:creationId xmlns:a16="http://schemas.microsoft.com/office/drawing/2014/main" id="{CC6A1D15-C035-4D07-A701-258BF8D83FF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939048" y="2058267"/>
            <a:ext cx="4313905" cy="569905"/>
          </a:xfrm>
          <a:prstGeom prst="rect">
            <a:avLst/>
          </a:prstGeom>
        </p:spPr>
      </p:pic>
      <p:sp>
        <p:nvSpPr>
          <p:cNvPr id="63" name="Title 6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A1. Fourier series expansion of Bloch function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63F7066-24EB-4CD1-93C2-C0F64835A47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403811" y="2791588"/>
            <a:ext cx="7384378" cy="911239"/>
          </a:xfrm>
          <a:prstGeom prst="rect">
            <a:avLst/>
          </a:prstGeom>
        </p:spPr>
      </p:pic>
      <p:pic>
        <p:nvPicPr>
          <p:cNvPr id="3" name="Picture 2" descr="\documentclass{article}&#10;\usepackage{amsmath,bm,eufrak}&#10;\pagestyle{empty}&#10;\begin{document}&#10;&#10;\begin{align*}&#10;\Theta_{+z}&#10;=&#10;\left(xyz\right)\Theta_{+z}&#10;= &#10;\left(yxz\right)\Theta_{+z}&#10;\\&#10;\end{align*}&#10;&#10;\end{document}" title="IguanaTex Bitmap Display">
            <a:extLst>
              <a:ext uri="{FF2B5EF4-FFF2-40B4-BE49-F238E27FC236}">
                <a16:creationId xmlns:a16="http://schemas.microsoft.com/office/drawing/2014/main" id="{D0C4C3CD-F3BC-4F0C-AE2B-73B334EDA9F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285714" y="4385614"/>
            <a:ext cx="3332573" cy="254476"/>
          </a:xfrm>
          <a:prstGeom prst="rect">
            <a:avLst/>
          </a:prstGeom>
        </p:spPr>
      </p:pic>
      <p:pic>
        <p:nvPicPr>
          <p:cNvPr id="6" name="Picture 5" descr="\documentclass{article}&#10;\usepackage{amsmath,bm,eufrak}&#10;\pagestyle{empty}&#10;\begin{document}&#10;&#10;\begin{align*}&#10;\Theta_{-z}&#10;=&#10;\left(\Theta_{+z}\right)^{*}&#10;=&#10;\left(x\bar{y}\bar{z}\right)\Theta_{+z}&#10;=&#10;\left(y\bar{x}\bar{z}\right)\Theta_{+z}&#10;=&#10;\left(\bar{x}y\bar{z}\right)\Theta_{+z}&#10;=&#10;\left(\bar{y}x\bar{z}\right)\Theta_{+z}&#10;\\&#10;\end{align*}&#10;&#10;\end{document}" title="IguanaTex Bitmap Display">
            <a:extLst>
              <a:ext uri="{FF2B5EF4-FFF2-40B4-BE49-F238E27FC236}">
                <a16:creationId xmlns:a16="http://schemas.microsoft.com/office/drawing/2014/main" id="{7BDE304E-A8AA-4812-9FAE-913AE8ACD94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416762" y="5143409"/>
            <a:ext cx="7358477" cy="272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673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A2. Examples of invariant Bloch function transformations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82E6EDE-F5E9-4AE9-8A14-CB9713F46045}"/>
              </a:ext>
            </a:extLst>
          </p:cNvPr>
          <p:cNvGrpSpPr/>
          <p:nvPr/>
        </p:nvGrpSpPr>
        <p:grpSpPr>
          <a:xfrm>
            <a:off x="2075939" y="1895715"/>
            <a:ext cx="8040124" cy="4557656"/>
            <a:chOff x="2075939" y="1895715"/>
            <a:chExt cx="8040124" cy="455765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4986F9A-D8F2-4C91-891A-57AE339023DF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8197587" y="2693733"/>
              <a:ext cx="1918476" cy="352000"/>
            </a:xfrm>
            <a:prstGeom prst="rect">
              <a:avLst/>
            </a:prstGeom>
          </p:spPr>
        </p:pic>
        <p:pic>
          <p:nvPicPr>
            <p:cNvPr id="4" name="Picture 3" descr="\documentclass{article}&#10;\usepackage{amsmath,bm,eufrak}&#10;\pagestyle{empty}&#10;\begin{document}&#10;&#10;\begin{align*}&#10;\Theta_{+z}&#10;&amp; =&#10;\left(yxz\right)\Theta_{+z}&#10;\\&#10;&amp; =&#10;\left(yxz\right)&#10;\mathrm{e}^{+\mathrm{i}\gamma\frac{2\pi}{a_{\text{Si}}}z}&#10;\sum_{\bm{G}} C_{g_{x}g_{y}g_{z}}^{(z)}\mathrm{e}^{\mathrm{i}\left(G_{x}x+G_{y}y+G_{z}z\right)}&#10;\\&#10;&amp; =&#10;\mathrm{e}^{+\mathrm{i}\gamma\frac{2\pi}{a_{\text{Si}}}z}&#10;\sum_{\bm{G}} C_{g_{x}g_{y}g_{z}}^{(z)}\mathrm{e}^{\mathrm{i}\left(G_{x}y+G_{y}x+G_{z}z\right)}&#10;\\&#10;&amp; =&#10;\mathrm{e}^{+\mathrm{i}\gamma\frac{2\pi}{a_{\text{Si}}}z}&#10;\sum_{\bm{G}} C_{g_{y}g_{x}g_{z}}^{(z)}\mathrm{e}^{\mathrm{i}\left(G_{x}x+G_{y}y+G_{z}z\right)}&#10;\end{align*}&#10;&#10;\end{document}" title="IguanaTex Bitmap Display">
              <a:extLst>
                <a:ext uri="{FF2B5EF4-FFF2-40B4-BE49-F238E27FC236}">
                  <a16:creationId xmlns:a16="http://schemas.microsoft.com/office/drawing/2014/main" id="{806FA9F9-8C5F-4DC5-AC42-7690A5A2574A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2075939" y="1895715"/>
              <a:ext cx="4260573" cy="1910247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FC2AD0F-F973-4EA8-AEA4-532AB9FDED5E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8197588" y="5377562"/>
              <a:ext cx="1918474" cy="377905"/>
            </a:xfrm>
            <a:prstGeom prst="rect">
              <a:avLst/>
            </a:prstGeom>
          </p:spPr>
        </p:pic>
        <p:pic>
          <p:nvPicPr>
            <p:cNvPr id="10" name="Picture 9" descr="\documentclass{article}&#10;\usepackage{amsmath,bm,eufrak}&#10;\pagestyle{empty}&#10;\begin{document}&#10;&#10;\begin{align*}&#10;\Theta_{+z}&#10;&amp; =&#10;\left(\bar{x}y\bar{z}\right)\left(\Theta_{+z}\right)^{*}&#10;\\&#10;&amp; =&#10;\left(\bar{x}y\bar{z}\right)&#10;\mathrm{e}^{-\mathrm{i}\gamma\frac{2\pi}{a_{0}}z}&#10;\sum_{\bm{G}} C_{g_{x}g_{y}g_{z}}^{(z)*}\mathrm{e}^{\mathrm{i}\left(-G_{x}x-G_{y}y-G_{z}z\right)}&#10;\\&#10;&amp; =&#10;\mathrm{e}^{\mathrm{i}\gamma\frac{2\pi}{a_{0}}z}&#10;\sum_{\bm{G}} C_{g_{x}g_{y}g_{z}}^{(z)*}\mathrm{e}^{\mathrm{i}\left(G_{x}x-G_{y}y+G_{z}z\right)}&#10;\\&#10;&amp; =&#10;\mathrm{e}^{\mathrm{i}\gamma\frac{2\pi}{a_{0}}z}&#10;\sum_{\bm{G}} C_{g_{x}\bar{g}_{y}g_{z}}^{(z)*}\mathrm{e}^{\mathrm{i}\left(G_{x}x+G_{y}y+G_{z}z\right)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2A4C5DDA-87D4-49EF-BCBE-609289DD0433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2075939" y="4539466"/>
              <a:ext cx="4345908" cy="191390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81149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A3. Symmetries evident in the coefficients of the Bloch expansion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637CE4-B688-4362-AFF3-43FEF50618D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402237" y="2334387"/>
            <a:ext cx="553143" cy="101333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EEBF126-91DD-42C7-86AB-145AFD0BE11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786403" y="2244533"/>
            <a:ext cx="1918475" cy="129219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5B81E5B-B9E6-45C7-B209-A98C7600B22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402237" y="3951519"/>
            <a:ext cx="665905" cy="141104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9F1EAA7-5ACC-47D8-A81A-4997ED154911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3862603" y="3782186"/>
            <a:ext cx="1918475" cy="178742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D59A1B5-7D94-4A51-8715-14D769A8D940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844574" y="5988078"/>
            <a:ext cx="8502852" cy="377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267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A4. Example of transformations that change Bloch function valley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65C4F53-D8CC-43B0-9FD4-87CA417F4A82}"/>
              </a:ext>
            </a:extLst>
          </p:cNvPr>
          <p:cNvGrpSpPr/>
          <p:nvPr/>
        </p:nvGrpSpPr>
        <p:grpSpPr>
          <a:xfrm>
            <a:off x="2072032" y="1903657"/>
            <a:ext cx="8042148" cy="1910249"/>
            <a:chOff x="2072032" y="1903657"/>
            <a:chExt cx="8042148" cy="191024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9097CB5-A928-482E-ABD5-FD2EF8901B64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8192658" y="2692982"/>
              <a:ext cx="1921522" cy="352000"/>
            </a:xfrm>
            <a:prstGeom prst="rect">
              <a:avLst/>
            </a:prstGeom>
          </p:spPr>
        </p:pic>
        <p:pic>
          <p:nvPicPr>
            <p:cNvPr id="5" name="Picture 4" descr="\documentclass{article}&#10;\usepackage{amsmath,bm,eufrak}&#10;\pagestyle{empty}&#10;\begin{document}&#10;&#10;\begin{align*}&#10;\Theta_{+z}&#10;&amp; =&#10;\left(zxy\right)\Theta_{+x}&#10;\\&#10;&amp; =&#10;\left(zxy\right)&#10;\mathrm{e}^{+\mathrm{i}\gamma\frac{2\pi}{a_{\text{Si}}}x}&#10;\sum_{\bm{G}} C_{g_{x}g_{y}g_{z}}^{(x)}\mathrm{e}^{\mathrm{i}\left(G_{x}x+G_{y}y+G_{z}z\right)}&#10;\\&#10;&amp; =&#10;\mathrm{e}^{+\mathrm{i}\gamma\frac{2\pi}{a_{\text{Si}}}z}&#10;\sum_{\bm{G}} C_{g_{x}g_{y}g_{z}}^{(x)}\mathrm{e}^{\mathrm{i}\left(G_{x}z+G_{y}x+G_{z}y\right)}&#10;\\&#10;&amp; =&#10;\mathrm{e}^{+\mathrm{i}\gamma\frac{2\pi}{a_{\text{Si}}}z}&#10;\sum_{\bm{G}} C_{g_{z}g_{x}g_{y}}^{(x)}\mathrm{e}^{\mathrm{i}\left(G_{x}x+G_{y}y+G_{z}z\right)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D4756795-9EB7-470B-8B51-B163D35F826A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2072032" y="1903657"/>
              <a:ext cx="4267886" cy="1910249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D9F94047-0159-417B-855D-12116F5328E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098670" y="4695765"/>
            <a:ext cx="9994660" cy="3779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91EA410-2B2B-466F-A848-21B2BA31503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097909" y="5178366"/>
            <a:ext cx="9996183" cy="37790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44B83DD-D551-40AE-9F22-8D3EE4F8A6F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5135239" y="5754099"/>
            <a:ext cx="1921523" cy="801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278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A5. Contracted summation representation of Bloch functions</a:t>
            </a:r>
          </a:p>
        </p:txBody>
      </p:sp>
      <p:pic>
        <p:nvPicPr>
          <p:cNvPr id="3" name="Picture 2" descr="\documentclass{article}&#10;\usepackage{amsmath,bm,eufrak}&#10;\pagestyle{empty}&#10;\begin{document}&#10;&#10;\begin{align*}&#10;\Theta_{+z}&#10;&amp; =&#10;\mathrm{e}^{+\mathrm{i}\gamma\frac{2\pi}{a_{\text{Si}}}z}&#10;\sum_{\bm{G}} C_{g_{x}g_{y}g_{z}}^{(z)}\mathrm{e}^{\mathrm{i}\left(G_{x}x+G_{y}y+G_{z}z\right)}&#10;\\&#10;&amp; =&#10;\mathrm{e}^{+\mathrm{i}\gamma\frac{2\pi}{a_{\text{Si}}}z}&#10;\sum_{g} &#10;C_{g}^{(z)}&#10;f_{g}^{(1)}&#10;+&#10;C_{g}^{(z)*}&#10;f_{g}^{(2)}&#10;\\&#10;&amp; =&#10;\mathrm{e}^{+\mathrm{i}\gamma\frac{2\pi}{a_{\text{Si}}}z}&#10;\sum_{g} &#10;\left|C_{g}^{(z)}\right|&#10;\left(&#10;\mathrm{e}^{\mathrm{i}\phi_{g}^{(z)}}f_{g}^{(1)}&#10;+&#10;\mathrm{e}^{-\mathrm{i}\phi_{g}^{(z)}}f_{g}^{(2)}&#10;\right)&#10;\\&#10;\end{align*}&#10;&#10;\end{document}" title="IguanaTex Bitmap Display">
            <a:extLst>
              <a:ext uri="{FF2B5EF4-FFF2-40B4-BE49-F238E27FC236}">
                <a16:creationId xmlns:a16="http://schemas.microsoft.com/office/drawing/2014/main" id="{9FE3906B-50CD-4559-A025-966B27C4098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911467" y="1854427"/>
            <a:ext cx="4369067" cy="164937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997B07B-29B3-4D5C-9343-5702886BE9C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676193" y="5988078"/>
            <a:ext cx="8839614" cy="3779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AB5A7D-5950-4024-AA95-B1A5A4DA2E5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558099" y="4139403"/>
            <a:ext cx="9075803" cy="772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044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367" y="3024952"/>
            <a:ext cx="9569366" cy="853311"/>
          </a:xfrm>
          <a:solidFill>
            <a:srgbClr val="005AC0"/>
          </a:solidFill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BLOCH PRODUCTS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How symmetry introduces interrelationships between the coefficients of the Fourier expansion of products of Bloch functions</a:t>
            </a:r>
          </a:p>
        </p:txBody>
      </p:sp>
    </p:spTree>
    <p:extLst>
      <p:ext uri="{BB962C8B-B14F-4D97-AF65-F5344CB8AC3E}">
        <p14:creationId xmlns:p14="http://schemas.microsoft.com/office/powerpoint/2010/main" val="441392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B1. Explicit formulae for parallel and antiparallel Bloch products</a:t>
            </a:r>
          </a:p>
        </p:txBody>
      </p:sp>
      <p:pic>
        <p:nvPicPr>
          <p:cNvPr id="3" name="Picture 2" descr="\documentclass{article}&#10;\usepackage{amsmath,bm,eufrak}&#10;\pagestyle{empty}&#10;\begin{document}&#10;&#10;\begin{align*}&#10;\Theta_{-z}\Theta_{+z}&#10;&amp; =&#10;\left(&#10;\mathrm{e}^{-\mathrm{i}\gamma\frac{2\pi}{a_{\text{Si}}}z}&#10;\sum_{\bm{G}_{1}} C_{\bm{G}_{1}}^{(z)*}\mathrm{e}^{-\mathrm{i}\bm{G}_{1}\cdot\bm{r}}&#10;\right)&#10;\left(&#10;\mathrm{e}^{+\mathrm{i}\gamma\frac{2\pi}{a_{\text{Si}}}z}&#10;\sum_{\bm{G}_{2}} C_{\bm{G}_{2}}^{(z)}\mathrm{e}^{+\mathrm{i}\bm{G}_{2}\cdot\bm{r}}&#10;\right)&#10;\\&#10;&amp; =&#10;\sum_{\bm{G}_{1}}\sum_{\bm{G}_{2}} &#10;C_{\bm{G}_{1}}^{(z)*}C_{z\bm{G}_{2}}^{(z)}&#10;\mathrm{e}^{\mathrm{i}\left(\bm{G}_{2}-\bm{G}_{1}\right)\cdot\bm{r}}&#10;\\&#10;&amp; =&#10;\sum_{\bm{G}}&#10;\left(&#10;\sum_{\bm{G}_{2}-\bm{G}_{1}=\bm{G}}C_{\bm{G}_{1}}^{(z)*}C_{\bm{G}_{2}}^{(z)}&#10;\right)&#10;\mathrm{e}^{\mathrm{i}\bm{G}\cdot\bm{r}}&#10;\\&#10;\end{align*}&#10;&#10;\end{document}" title="IguanaTex Bitmap Display">
            <a:extLst>
              <a:ext uri="{FF2B5EF4-FFF2-40B4-BE49-F238E27FC236}">
                <a16:creationId xmlns:a16="http://schemas.microsoft.com/office/drawing/2014/main" id="{8AD619B7-0500-470B-9BF4-CD7DE17B9CD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332957" y="1737190"/>
            <a:ext cx="7326471" cy="2389331"/>
          </a:xfrm>
          <a:prstGeom prst="rect">
            <a:avLst/>
          </a:prstGeom>
        </p:spPr>
      </p:pic>
      <p:pic>
        <p:nvPicPr>
          <p:cNvPr id="6" name="Picture 5" descr="\documentclass{article}&#10;\usepackage{amsmath,bm,eufrak}&#10;\pagestyle{empty}&#10;\begin{document}&#10;&#10;\begin{align*}&#10;\Theta_{+z}\Theta_{+z}&#10;&amp; =&#10;\left(&#10;\mathrm{e}^{+\mathrm{i}\gamma\frac{2\pi}{a_{\text{Si}}}z}&#10;\sum_{\bm{G}_{1}} C_{\bm{G}_{1}}^{(z)}\mathrm{e}^{+\mathrm{i}\bm{G}_{1}\cdot\bm{r}}&#10;\right)&#10;\left(&#10;\mathrm{e}^{+\mathrm{i}\gamma\frac{2\pi}{a_{\text{Si}}}z}&#10;\sum_{\bm{G}_{2}} C_{\bm{G}_{2}}^{(z)}\mathrm{e}^{+\mathrm{i}\bm{G}_{2}\cdot\bm{r}}&#10;\right)&#10;\\&#10;&amp; =&#10;\mathrm{e}^{+\mathrm{i}2\gamma\frac{2\pi}{a_{\text{Si}}}z}&#10;\sum_{\bm{G}_{1}}\sum_{\bm{G}_{2}} &#10;C_{\bm{G}_{1}}^{(z)}C_{\bm{G}_{2}}^{(z)}&#10;\mathrm{e}^{\mathrm{i}\left(\bm{G}_{2}+\bm{G}_{1}\right)\cdot\bm{r}}&#10;\\&#10;&amp; =&#10;\mathrm{e}^{+\mathrm{i}2\gamma\frac{2\pi}{a_{\text{Si}}}z}&#10;\sum_{\bm{G}}&#10;\left(&#10;\sum_{\bm{G}_{2}+\bm{G}_{1}=\bm{G}}C_{\bm{G}_{1}}^{(z)}C_{\bm{G}_{2}}^{(z)}&#10;\right)&#10;\mathrm{e}^{\mathrm{i}\bm{G}\cdot\bm{r}}&#10;\\&#10;\end{align*}&#10;&#10;\end{document}" title="IguanaTex Bitmap Display">
            <a:extLst>
              <a:ext uri="{FF2B5EF4-FFF2-40B4-BE49-F238E27FC236}">
                <a16:creationId xmlns:a16="http://schemas.microsoft.com/office/drawing/2014/main" id="{D1E65727-25CE-4096-9701-7E5248439D0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489145" y="4333090"/>
            <a:ext cx="7213713" cy="2403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089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B2. Explicit formulae for perpendicular Bloch products</a:t>
            </a:r>
          </a:p>
        </p:txBody>
      </p:sp>
      <p:pic>
        <p:nvPicPr>
          <p:cNvPr id="7" name="Picture 6" descr="\documentclass{article}&#10;\usepackage{amsmath,bm,eufrak}&#10;\pagestyle{empty}&#10;\begin{document}&#10;&#10;\begin{align*}&#10;\Theta_{-y}\Theta_{+x}&#10;&amp; =&#10;\left(&#10;\mathrm{e}^{-\mathrm{i}\gamma\frac{2\pi}{a_{\text{Si}}}y}&#10;\sum_{\bm{G}_{1}} C_{\bm{G}_{1}}^{(y)*}\mathrm{e}^{-\mathrm{i}\bm{G}_{1}\cdot\bm{r}}&#10;\right)&#10;\left(&#10;\mathrm{e}^{+\mathrm{i}\gamma\frac{2\pi}{a_{\text{Si}}}x}&#10;\sum_{\bm{G}_{2}} C_{\bm{G}_{2}}^{(x)}\mathrm{e}^{+\mathrm{i}\bm{G}_{2}\cdot\bm{r}}&#10;\right)&#10;\\&#10;&amp; =&#10;\mathrm{e}^{\mathrm{i}\gamma\frac{2\pi}{a_{\text{Si}}}(x-y)}&#10;\sum_{\bm{G}_{1}}\sum_{\bm{G}_{2}} &#10;C_{\bm{G}_{1}}^{(y)*}C_{\bm{G}_{2}}^{(x)}&#10;\mathrm{e}^{\mathrm{i}\left(\bm{G}_{2}-\bm{G}_{1}\right)\cdot\bm{r}}&#10;\\&#10;&amp; =&#10;\mathrm{e}^{\mathrm{i}\gamma\frac{2\pi}{a_{\text{Si}}}(x-y)}&#10;\sum_{\bm{G}}&#10;\left(&#10;\sum_{\bm{G}_{2}-\bm{G}_{1}=\bm{G}}C_{\bm{G}_{1}}^{(y)*}C_{\bm{G}_{2}}^{(x)}&#10;\right)&#10;\mathrm{e}^{\mathrm{i}\bm{G}\cdot\bm{r}}&#10;\\&#10;\end{align*}&#10;&#10;\end{document}" title="IguanaTex Bitmap Display">
            <a:extLst>
              <a:ext uri="{FF2B5EF4-FFF2-40B4-BE49-F238E27FC236}">
                <a16:creationId xmlns:a16="http://schemas.microsoft.com/office/drawing/2014/main" id="{9149A035-12B5-400C-BE5F-926CF559E13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409907" y="1754124"/>
            <a:ext cx="7372186" cy="2403051"/>
          </a:xfrm>
          <a:prstGeom prst="rect">
            <a:avLst/>
          </a:prstGeom>
        </p:spPr>
      </p:pic>
      <p:pic>
        <p:nvPicPr>
          <p:cNvPr id="9" name="Picture 8" descr="\documentclass{article}&#10;\usepackage{amsmath,bm,eufrak}&#10;\pagestyle{empty}&#10;\begin{document}&#10;&#10;\begin{align*}&#10;\Theta_{+y}\Theta_{+x}&#10;&amp; =&#10;\left(&#10;\mathrm{e}^{+\mathrm{i}\gamma\frac{2\pi}{a_{\text{Si}}}y}&#10;\sum_{\bm{G}_{1}} C_{\bm{G}_{1}}^{(y)}\mathrm{e}^{+\mathrm{i}\bm{G}_{1}\cdot\bm{r}}&#10;\right)&#10;\left(&#10;\mathrm{e}^{+\mathrm{i}\gamma\frac{2\pi}{a_{\text{Si}}}x}&#10;\sum_{\bm{G}_{2}} C_{\bm{G}_{2}}^{(x)}\mathrm{e}^{+\mathrm{i}\bm{G}_{2}\cdot\bm{r}}&#10;\right)&#10;\\&#10;&amp; =&#10;\mathrm{e}^{+\mathrm{i}\gamma\frac{2\pi}{a_{\text{Si}}}(x+y)}&#10;\sum_{\bm{G}_{1}}\sum_{\bm{G}_{2}} &#10;C_{\bm{G}_{1}}^{(y)}C_{\bm{G}_{2}}^{(x)}&#10;\mathrm{e}^{\mathrm{i}\left(\bm{G}_{2}+\bm{G}_{1}\right)\cdot\bm{r}}&#10;\\&#10;&amp; =&#10;\mathrm{e}^{+\mathrm{i}\gamma\frac{2\pi}{a_{\text{Si}}}(x+y)}&#10;\sum_{\bm{G}}&#10;\left(&#10;\sum_{\bm{G}_{2}+\bm{G}_{1}=\bm{G}}C_{\bm{G}_{1}}^{(y)}C_{\bm{G}_{2}}^{(x)}&#10;\right)&#10;\mathrm{e}^{\mathrm{i}\bm{G}\cdot\bm{r}}&#10;\\&#10;\end{align*}&#10;&#10;\end{document}" title="IguanaTex Bitmap Display">
            <a:extLst>
              <a:ext uri="{FF2B5EF4-FFF2-40B4-BE49-F238E27FC236}">
                <a16:creationId xmlns:a16="http://schemas.microsoft.com/office/drawing/2014/main" id="{FB2B056E-68B9-464F-8827-9BEE9F81A83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365718" y="4366958"/>
            <a:ext cx="7259422" cy="240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022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B3. Symmetries evident in the antiparallel Bloch products</a:t>
            </a:r>
          </a:p>
        </p:txBody>
      </p:sp>
      <p:pic>
        <p:nvPicPr>
          <p:cNvPr id="3" name="Picture 2" descr="\documentclass{article}&#10;\usepackage{amsmath,bm,eufrak}&#10;\pagestyle{empty}&#10;\begin{document}&#10;&#10;\begin{align*}&#10;\Theta_{-z}\Theta_{+z}&#10;&amp; =&#10;\sum_{\bm{G}}&#10;D_{g_{x}g_{y}g_{z}}^{(\bar{z}z)}&#10;\mathrm{e}^{\mathrm{i}\left(G_{x}x+G_{y}y+G_{z}z\right)}&#10;\\&#10;\left(yxz\right)\Theta_{-z}\Theta_{+z}&#10;&amp; =&#10;\sum_{\bm{G}}&#10;D_{g_{y}g_{x}g_{z}}^{(\bar{z}z)}&#10;\mathrm{e}^{\mathrm{i}\left(G_{x}x+G_{y}y+G_{z}z\right)}&#10;\\&#10;\left(\bar{x}y\bar{z}\right)\Theta_{-z}\Theta_{+z}&#10;&amp; =&#10;\sum_{\bm{G}}&#10;D_{\bar{g}_{x}g_{y}\bar{g}_{z}}^{(\bar{z}z)}&#10;\mathrm{e}^{\mathrm{i}\left(G_{x}x+G_{y}y+G_{z}z\right)}&#10;\\&#10;\left(\Theta_{-z}\Theta_{+z}\right)^{*}&#10;&amp; =&#10;\sum_{\bm{G}}&#10;D_{\bar{g}_{x}\bar{g}_{y}\bar{g}_{z}}^{(\bar{z}z)*}&#10;\mathrm{e}^{\mathrm{i}\left(G_{x}x+G_{y}y+G_{z}z\right)}&#10;\\&#10;\end{align*}&#10;&#10;\end{document}" title="IguanaTex Bitmap Display">
            <a:extLst>
              <a:ext uri="{FF2B5EF4-FFF2-40B4-BE49-F238E27FC236}">
                <a16:creationId xmlns:a16="http://schemas.microsoft.com/office/drawing/2014/main" id="{A0FD9E9C-74AA-4245-B69F-1A359218AF7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647999" y="1854088"/>
            <a:ext cx="4896002" cy="2631617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A8429172-2E0E-4493-A86C-AA278C5483F2}"/>
              </a:ext>
            </a:extLst>
          </p:cNvPr>
          <p:cNvGrpSpPr/>
          <p:nvPr/>
        </p:nvGrpSpPr>
        <p:grpSpPr>
          <a:xfrm>
            <a:off x="969148" y="5675305"/>
            <a:ext cx="10253705" cy="892479"/>
            <a:chOff x="969148" y="5675305"/>
            <a:chExt cx="10253705" cy="892479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65A34DE4-9BFE-431B-BD58-1AC8FACD0C78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559622" y="5675305"/>
              <a:ext cx="9072756" cy="377906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E2B5547-A52C-4666-B48D-49781EB9DD29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969148" y="6189878"/>
              <a:ext cx="10253705" cy="377906"/>
            </a:xfrm>
            <a:prstGeom prst="rect">
              <a:avLst/>
            </a:prstGeom>
          </p:spPr>
        </p:pic>
      </p:grpSp>
      <p:pic>
        <p:nvPicPr>
          <p:cNvPr id="7" name="Picture 6" descr="\documentclass{article}&#10;\usepackage{amsmath,bm,eufrak}&#10;\pagestyle{empty}&#10;\begin{document}&#10;&#10;\begin{align*}&#10;\Theta_{-z}\Theta_{+z}&#10;=&#10;\left(yxz\right)\Theta_{-z}\Theta_{+z}&#10;=&#10;\left(\bar{x}y\bar{z}\right)\Theta_{-z}\Theta_{+z}&#10;=&#10;\left(\Theta_{-z}\Theta_{+z}\right)^{*}&#10;\\&#10;\end{align*}&#10;&#10;\end{document}" title="IguanaTex Bitmap Display">
            <a:extLst>
              <a:ext uri="{FF2B5EF4-FFF2-40B4-BE49-F238E27FC236}">
                <a16:creationId xmlns:a16="http://schemas.microsoft.com/office/drawing/2014/main" id="{F2DD4B1F-83CA-404A-BFBF-3815A386D50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929523" y="4864885"/>
            <a:ext cx="6332955" cy="27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122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B4. Symmetries evident in the parallel Bloch products</a:t>
            </a:r>
          </a:p>
        </p:txBody>
      </p:sp>
      <p:pic>
        <p:nvPicPr>
          <p:cNvPr id="4" name="Picture 3" descr="\documentclass{article}&#10;\usepackage{amsmath,bm,eufrak}&#10;\pagestyle{empty}&#10;\begin{document}&#10;&#10;\begin{align*}&#10;\Theta_{+z}\Theta_{+z}&#10;&amp; =&#10;\mathrm{e}^{+\mathrm{i}2\gamma\frac{2\pi}{a_{\text{Si}}}z}&#10;\sum_{\bm{G}}&#10;D_{g_{x}g_{y}g_{z}}^{(zz)}&#10;\mathrm{e}^{\mathrm{i}\left(G_{x}x+G_{y}y+G_{z}z\right)}&#10;\\&#10;\left(yxz\right)\Theta_{+z}\Theta_{+z}&#10;&amp; =&#10;\mathrm{e}^{+\mathrm{i}2\gamma\frac{2\pi}{a_{\text{Si}}}z}&#10;\sum_{\bm{G}}&#10;D_{g_{y}g_{x}g_{z}}^{(zz)}&#10;\mathrm{e}^{\mathrm{i}\left(G_{x}x+G_{y}y+G_{z}z\right)}&#10;\\&#10;\left(\left(\bar{x}y\bar{z}\right)\Theta_{+z}\Theta_{+z}\right)^{*}&#10;&amp; =&#10;\mathrm{e}^{+\mathrm{i}2\gamma\frac{2\pi}{a_{\text{Si}}}z}&#10;\sum_{\bm{G}}&#10;D_{g_{x}\bar{g}_{y}g_{z}}^{(zz)*}&#10;\mathrm{e}^{\mathrm{i}\left(G_{x}x+G_{y}y+G_{z}z\right)}&#10;\\&#10;\end{align*}&#10;&#10;\end{document}" title="IguanaTex Bitmap Display">
            <a:extLst>
              <a:ext uri="{FF2B5EF4-FFF2-40B4-BE49-F238E27FC236}">
                <a16:creationId xmlns:a16="http://schemas.microsoft.com/office/drawing/2014/main" id="{FDF2237C-B0CA-48EF-8C29-72B3CC9A185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982859" y="2173326"/>
            <a:ext cx="6226282" cy="2006853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EB68593-1BC0-4EAF-90EF-7BA68CD50673}"/>
              </a:ext>
            </a:extLst>
          </p:cNvPr>
          <p:cNvGrpSpPr/>
          <p:nvPr/>
        </p:nvGrpSpPr>
        <p:grpSpPr>
          <a:xfrm>
            <a:off x="3333336" y="5676007"/>
            <a:ext cx="5525329" cy="891777"/>
            <a:chOff x="3333336" y="5676007"/>
            <a:chExt cx="5525329" cy="891777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FAF5F78-37C5-40BD-BD6E-7D4A505343EE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3924573" y="5676007"/>
              <a:ext cx="4342854" cy="37790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492B848-8BBF-4C90-B7B3-2304F9916836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3333336" y="6189878"/>
              <a:ext cx="5525329" cy="377906"/>
            </a:xfrm>
            <a:prstGeom prst="rect">
              <a:avLst/>
            </a:prstGeom>
          </p:spPr>
        </p:pic>
      </p:grpSp>
      <p:pic>
        <p:nvPicPr>
          <p:cNvPr id="5" name="Picture 4" descr="\documentclass{article}&#10;\usepackage{amsmath,bm,eufrak}&#10;\pagestyle{empty}&#10;\begin{document}&#10;&#10;\begin{align*}&#10;\Theta_{+z}\Theta_{+z}&#10;=&#10;\left(yxz\right)\Theta_{+z}\Theta_{+z}&#10;=&#10;\left(\left(\bar{x}y\bar{z}\right)\Theta_{+z}\Theta_{+z}\right)^{*}&#10;\\&#10;\end{align*}&#10;&#10;\end{document}" title="IguanaTex Bitmap Display">
            <a:extLst>
              <a:ext uri="{FF2B5EF4-FFF2-40B4-BE49-F238E27FC236}">
                <a16:creationId xmlns:a16="http://schemas.microsoft.com/office/drawing/2014/main" id="{E8AB6F6C-528F-43BD-824D-6931F924D5F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572571" y="4864886"/>
            <a:ext cx="5046859" cy="27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366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\documentclass{article}&#10;\usepackage{amsmath,bm,eufrak}&#10;\pagestyle{empty}&#10;\begin{document}&#10;&#10;\begin{align*}&#10;\Theta_{-y}\Theta_{+x}&#10;&amp; =&#10;\mathrm{e}^{\mathrm{i}\gamma\frac{2\pi}{a_{0}}(x-y)}&#10;\sum_{\bm{G}}&#10;D_{g_{x}g_{y}g_{z}}^{(\bar{y}x)}&#10;\mathrm{e}^{\mathrm{i}\left(G_{x}x+G_{y}y+G_{z}z\right)}&#10;\\&#10;\left(\bar{y}\bar{x}z\right)\Theta_{-y}\Theta_{+x}&#10;&amp; =&#10;\mathrm{e}^{\mathrm{i}\gamma\frac{2\pi}{a_{0}}(x-y)}&#10;\sum_{\bm{G}}&#10;D_{\bar{g}_{y}\bar{g}_{x}g_{z}}^{(\bar{y}x)}&#10;\mathrm{e}^{\mathrm{i}\left(G_{x}x+G_{y}y+G_{z}z\right)}&#10;\\&#10;\left(\left(\bar{x}\bar{y}z\right)\Theta_{-y}\Theta_{+x}\right)^{*}&#10;&amp; =&#10;\mathrm{e}^{\mathrm{i}\gamma\frac{2\pi}{a_{0}}(x-y)}&#10;\sum_{\bm{G}}&#10;D_{g_{x}g_{y}\bar{g}_{z}}^{(\bar{y}x)*}&#10;\mathrm{e}^{\mathrm{i}\left(G_{x}x+G_{y}y+G_{z}z\right)}&#10;\\&#10;\left(\left(yxz\right)\Theta_{-y}\Theta_{+x}\right)^{*}&#10;&amp; =&#10;\mathrm{e}^{\mathrm{i}\gamma\frac{2\pi}{a_{0}}(x-y)}&#10;\sum_{\bm{G}}&#10;D_{\bar{g}_{y}\bar{g}_{x}\bar{g}_{z}}^{(\bar{y}x)*}&#10;\mathrm{e}^{\mathrm{i}\left(G_{x}x+G_{y}y+G_{z}z\right)}&#10;\\&#10;\end{align*}&#10;&#10;\end{document}" title="IguanaTex Bitmap Display">
            <a:extLst>
              <a:ext uri="{FF2B5EF4-FFF2-40B4-BE49-F238E27FC236}">
                <a16:creationId xmlns:a16="http://schemas.microsoft.com/office/drawing/2014/main" id="{4CB6F649-C860-49A9-8C15-3A44AE25597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774861" y="1812290"/>
            <a:ext cx="6363427" cy="2697138"/>
          </a:xfrm>
          <a:prstGeom prst="rect">
            <a:avLst/>
          </a:prstGeom>
        </p:spPr>
      </p:pic>
      <p:sp>
        <p:nvSpPr>
          <p:cNvPr id="63" name="Title 6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B5. Symmetries evident in the perpendicular Bloch products -- I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C36A88F8-7F4D-428C-B6E1-0C6432979A9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924575" y="5915167"/>
            <a:ext cx="4342851" cy="377906"/>
          </a:xfrm>
          <a:prstGeom prst="rect">
            <a:avLst/>
          </a:prstGeom>
        </p:spPr>
      </p:pic>
      <p:pic>
        <p:nvPicPr>
          <p:cNvPr id="10" name="Picture 9" descr="\documentclass{article}&#10;\usepackage{amsmath,bm,eufrak}&#10;\pagestyle{empty}&#10;\begin{document}&#10;&#10;\begin{align*}&#10;\Theta_{-y}\Theta_{+x}&#10;=&#10;\left(\bar{y}\bar{x}z\right)\Theta_{-y}\Theta_{+x}&#10;=&#10;\left(\left(\bar{x}\bar{y}z\right)\Theta_{-y}\Theta_{+x}\right)^{*}&#10;=&#10;\left(\left(yxz\right)\Theta_{-y}\Theta_{+x}\right)^{*}&#10;\\&#10;\end{align*}&#10;&#10;\end{document}" title="IguanaTex Bitmap Display">
            <a:extLst>
              <a:ext uri="{FF2B5EF4-FFF2-40B4-BE49-F238E27FC236}">
                <a16:creationId xmlns:a16="http://schemas.microsoft.com/office/drawing/2014/main" id="{2ECE5751-F604-4550-B913-A7168709293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419048" y="4864886"/>
            <a:ext cx="7353905" cy="283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500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C533222-57FA-479A-A4E0-947316A6A23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777910" y="1808694"/>
            <a:ext cx="6636180" cy="2767234"/>
          </a:xfrm>
          <a:prstGeom prst="rect">
            <a:avLst/>
          </a:prstGeom>
        </p:spPr>
      </p:pic>
      <p:sp>
        <p:nvSpPr>
          <p:cNvPr id="63" name="Title 6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B6. Symmetries evident in the perpendicular Bloch products -- II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203D03-BCEB-4D5A-AEE9-02BA3DB11DE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924576" y="5917875"/>
            <a:ext cx="4342849" cy="3779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C718F3A-541C-423B-A4EB-A662A869B30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929142" y="4864886"/>
            <a:ext cx="8333716" cy="4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118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B7. Contracted summation of “parallel” Bloch products</a:t>
            </a:r>
          </a:p>
        </p:txBody>
      </p:sp>
      <p:pic>
        <p:nvPicPr>
          <p:cNvPr id="32" name="Picture 31" descr="\documentclass{article}&#10;\usepackage{amsmath,amssymb,bm}&#10;\pagestyle{empty}&#10;\begin{document}&#10;&#10;\begin{align*}&#10;\Theta_{-z}\Theta_{+z}&#10;&amp; =&#10;1 +&#10;\sum_{g} &#10;\left|D_{g}^{(\bar{z}z)}\right|&#10;\Xi_{g}&#10;\left(&#10;f_{g}^{(1)}\mathrm{e}^{+\mathrm{i}G_{z}z}\mathrm{e}^{+\mathrm{i}\phi_{g}^{(\bar{z}z)}}&#10;+f_{g}^{(1)}\mathrm{e}^{-\mathrm{i}G_{z}z}\mathrm{e}^{-\mathrm{i}\phi_{g}^{(\bar{z}z)}}&#10;+f_{g}^{(2)}\mathrm{e}^{-\mathrm{i}G_{z}z}\mathrm{e}^{+\mathrm{i}\phi_{g}^{(\bar{z}z)}}&#10;+f_{g}^{(2)}\mathrm{e}^{+\mathrm{i}G_{z}z}\mathrm{e}^{-\mathrm{i}\phi_{g}^{(\bar{z}z)}}&#10;\right)&#10;\\&#10;&amp; =&#10;1 +&#10;\sum_{g} &#10;2\left|D_{g}^{(\bar{z}z)}\right|&#10;\mbox{Re}\left\{&#10;\mathrm{e}^{+\mathrm{i}\phi_{g}^{(\bar{z}z)}}&#10;\Xi_{g}&#10;\left(&#10;f_{g}^{(1)}\mathrm{e}^{+\mathrm{i}G_{z}z}&#10;+&#10;f_{g}^{(2)}\mathrm{e}^{-\mathrm{i}G_{z}z}&#10;\right)&#10;\right\}&#10;\\&#10;&amp; =&#10;1&#10;+&#10;\sum_{g}&#10;\left|D_{g}^{(\upharpoonleft \! \upharpoonright)}\right|&#10;\mathcal{\text{Re}}\left\{&#10;\mathrm{e}^{\mathrm{i}\phi_{g}^{(\upharpoonleft \! \upharpoonright)}}&#10;\sum_{h(g)}\mathrm{e}^{\mathrm{i}\frac{2\pi}{a_{\text{Si}}}\bm{h}_{gh}^{(\upharpoonleft \! \upharpoonright)}\cdot\bm{r}}&#10;\right\}&#10;\end{align*}&#10;&#10;\end{document}" title="IguanaTex Bitmap Display">
            <a:extLst>
              <a:ext uri="{FF2B5EF4-FFF2-40B4-BE49-F238E27FC236}">
                <a16:creationId xmlns:a16="http://schemas.microsoft.com/office/drawing/2014/main" id="{B818E928-8968-43D1-BEA9-3417EA4BDA4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1150" y="1791990"/>
            <a:ext cx="12109701" cy="2401522"/>
          </a:xfrm>
          <a:prstGeom prst="rect">
            <a:avLst/>
          </a:prstGeom>
        </p:spPr>
      </p:pic>
      <p:pic>
        <p:nvPicPr>
          <p:cNvPr id="8" name="Picture 7" descr="\documentclass{article}&#10;\usepackage{amsmath,bm,eufrak}&#10;\pagestyle{empty}&#10;\begin{document}&#10;&#10;\begin{align*}&#10;\Xi_{g} &amp; =&#10;\left(1+\delta_{G_{x}G_{y}}\right)^{-1}\left(1+\delta_{G_{x}0}\right)^{-1}\left(1+\delta_{G_{y}0}\right)^{-1}\left(1+\delta_{G_{z}0}\right)^{-1}&#10;\\&#10;f_{g}^{(1)} &amp; =&#10;\mathrm{e}^{\mathrm{i}\left(G_{x}x+G_{y}y\right)}+\mathrm{e}^{\mathrm{i}\left(G_{y}x+G_{x}y\right)}&#10;+\mathrm{e}^{\mathrm{i}\left(-G_{x}x-G_{y}y\right)}+\mathrm{e}^{\mathrm{i}\left(-G_{y}x-G_{x}y\right)}&#10;\\&#10;f_{g}^{(2)} &amp; =&#10;\mathrm{e}^{\mathrm{i}\left(G_{x}x-G_{y}y\right)}+\mathrm{e}^{\mathrm{i}\left(G_{y}x-G_{x}y\right)}&#10;+\mathrm{e}^{\mathrm{i}\left(-G_{x}x+G_{y}y\right)}+\mathrm{e}^{\mathrm{i}\left(-G_{y}x+G_{x}y\right)}&#10;\\&#10;\end{align*}&#10;&#10;\end{document}" title="IguanaTex Bitmap Display">
            <a:extLst>
              <a:ext uri="{FF2B5EF4-FFF2-40B4-BE49-F238E27FC236}">
                <a16:creationId xmlns:a16="http://schemas.microsoft.com/office/drawing/2014/main" id="{45DA6A91-7800-4DE0-8079-E573B251D1F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600384" y="4364268"/>
            <a:ext cx="6991233" cy="1234288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CF26864A-0EE4-4903-94E8-D8E92A35D5B4}"/>
              </a:ext>
            </a:extLst>
          </p:cNvPr>
          <p:cNvGrpSpPr/>
          <p:nvPr/>
        </p:nvGrpSpPr>
        <p:grpSpPr>
          <a:xfrm>
            <a:off x="969149" y="5769311"/>
            <a:ext cx="10253705" cy="892479"/>
            <a:chOff x="969149" y="5769311"/>
            <a:chExt cx="10253705" cy="892479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0C4964A8-81B2-44B1-95DB-CBAE1347D954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559620" y="5769311"/>
              <a:ext cx="9072756" cy="377906"/>
            </a:xfrm>
            <a:prstGeom prst="rect">
              <a:avLst/>
            </a:prstGeom>
          </p:spPr>
        </p:pic>
        <p:pic>
          <p:nvPicPr>
            <p:cNvPr id="13" name="Picture 12" descr="\documentclass{article}&#10;\usepackage{amsmath,bm,eufrak}&#10;\pagestyle{empty}&#10;\begin{document}&#10;&#10;\begin{equation*}&#10;D_{g_{x}g_{y}g_{z}}^{(\bar{z}z)*}&#10;= D_{g_{x}g_{y}\bar{g}_{z}}^{(\bar{z}z)}             = D_{g_{y}g_{x}\bar{g}_{z}}^{(\bar{z}z)}&#10;= D_{\bar{g}_{x}\bar{g}_{y}\bar{g}_{z}}^{(\bar{z}z)} = D_{\bar{g}_{y}\bar{g}_{x}\bar{g}_{z}}^{(\bar{z}z)}&#10;= D_{g_{x}\bar{g}_{y}g_{z}}^{(\bar{z}z)}             = D_{g_{y}\bar{g}_{x}g_{z}}^{(\bar{z}z)}&#10;= D_{\bar{g}_{x}g_{y}g_{z}}^{(\bar{z}z)}             = D_{\bar{g}_{y}g_{x}g_{z}}^{(\bar{z}z)} \\&#10;\end{equation*}&#10;&#10;\end{document}" title="IguanaTex Bitmap Display">
              <a:extLst>
                <a:ext uri="{FF2B5EF4-FFF2-40B4-BE49-F238E27FC236}">
                  <a16:creationId xmlns:a16="http://schemas.microsoft.com/office/drawing/2014/main" id="{0B634CA7-D10D-45F7-8637-2746877A6405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969149" y="6283884"/>
              <a:ext cx="10253705" cy="3779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81196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B8. Contracted summation of “antiparallel” Bloch products</a:t>
            </a:r>
          </a:p>
        </p:txBody>
      </p:sp>
      <p:pic>
        <p:nvPicPr>
          <p:cNvPr id="17" name="Picture 16" descr="\documentclass{article}&#10;\usepackage{amsmath,amssymb,bm}&#10;\pagestyle{empty}&#10;\begin{document}&#10;&#10;\begin{align*}&#10;\Theta_{+z}\Theta_{+z}&#10;&amp; =&#10;\mathrm{e}^{+\mathrm{i}2\gamma\frac{2\pi}{a_{0}}z}&#10;\sum_{g} &#10;\left|D_{g}^{(\upharpoonleft \! \downharpoonright)}\right|&#10;\left(&#10;f_{g}^{(1)}\mathrm{e}^{+\mathrm{i}G_{z}z}\mathrm{e}^{+\mathrm{i}\phi_{g}^{(zz)}}&#10;+&#10;f_{g}^{(2)}\mathrm{e}^{+\mathrm{i}G_{z}z}\mathrm{e}^{-\mathrm{i}\phi_{g}^{(zz)}}&#10;\right)&#10;\\&#10;&amp; =&#10;\sum_{g} &#10;\left|D_{g}^{(\upharpoonleft \! \downharpoonright)}\right|&#10;\sum_{p}&#10;\mathrm{e}^{\mathrm{i}p\phi_{g}^{(\upharpoonleft \! \downharpoonright)}}&#10;\sum_{h(g,p)}&#10;\mathrm{e}^{\mathrm{i}\frac{2\pi}{a_{\text{Si}}}\bm{h}_{gph}^{(\upharpoonleft \! \downharpoonright)}\cdot\bm{r}}&#10;\end{align*}&#10;&#10;\end{document}" title="IguanaTex Bitmap Display">
            <a:extLst>
              <a:ext uri="{FF2B5EF4-FFF2-40B4-BE49-F238E27FC236}">
                <a16:creationId xmlns:a16="http://schemas.microsoft.com/office/drawing/2014/main" id="{87CA6EA8-DAFF-4E47-BCD5-3649E722136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210290" y="2147033"/>
            <a:ext cx="7771421" cy="14247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6EAB7F6-4BA2-4141-AADA-AA5FF439C4B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600384" y="4044148"/>
            <a:ext cx="6991233" cy="77257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8DCC2253-36E8-493D-8C11-BF6D47F08A82}"/>
              </a:ext>
            </a:extLst>
          </p:cNvPr>
          <p:cNvGrpSpPr/>
          <p:nvPr/>
        </p:nvGrpSpPr>
        <p:grpSpPr>
          <a:xfrm>
            <a:off x="3211416" y="5344849"/>
            <a:ext cx="5525329" cy="1062045"/>
            <a:chOff x="3211416" y="5344849"/>
            <a:chExt cx="5525329" cy="106204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CB41FA3-C114-4231-814F-070930D9E920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3802653" y="5344849"/>
              <a:ext cx="4342854" cy="377906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7D6617D-785F-4BDC-9877-729AFDA8FDD0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3211416" y="6028988"/>
              <a:ext cx="5525329" cy="3779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483832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B9a. Contracted summation of “perpendicular” Bloch products</a:t>
            </a:r>
          </a:p>
        </p:txBody>
      </p:sp>
      <p:pic>
        <p:nvPicPr>
          <p:cNvPr id="42" name="Picture 41" descr="\documentclass{article}&#10;\usepackage{amsmath,bm,eufrak}&#10;\pagestyle{empty}&#10;\begin{document}&#10;&#10;\begin{align*}&#10;\Theta_{-y}\Theta_{+x}&#10;&amp; =&#10;\mathrm{e}^{\mathrm{i}\gamma\frac{2\pi}{a_{0}}(x-y)}&#10;\sum_{g}\left|D_{g}^{(\perp)}\right|&#10;\left(&#10;\mathrm{e}^{\mathrm{i}\left(G_{x}x+G_{y}y\right)}&#10;+\mathrm{e}^{\mathrm{i}\left(-G_{y}x-G_{x}y\right)}&#10;\right)&#10;\left(&#10;\mathrm{e}^{+\mathrm{i}\phi_{g}^{(\bar{y}x)}}\mathrm{e}^{+\mathrm{i}G_{z}z}&#10;+&#10;\mathrm{e}^{-\mathrm{i}\phi_{g}^{(\bar{y}x)}}\mathrm{e}^{-\mathrm{i}G_{z}z}&#10;\right)&#10;\\&#10;&amp; =&#10;\sum_{g}&#10;\left|D_{g}^{(\perp)}\right|&#10;\sum_{p}&#10;\mathrm{e}^{\mathrm{i}p\phi_{g}^{(\perp)}}&#10;\left(&#10;\mathrm{e}^{\mathrm{i}\frac{2\pi}{a_{\text{Si}}}\left(\left(\gamma+g_{x}\right)x+\left(-\gamma+g_{y}\right)y+pg_{z}z\right)}&#10;+\mathrm{e}^{\mathrm{i}\frac{2\pi}{a_{\text{Si}}}\left(\left(\gamma-g_{y}\right)x+\left(-\gamma-g_{x}\right)y+pg_{z}z\right)}&#10;\right)&#10;\\&#10;&amp; =&#10;\sum_{g}\left|D_{g}^{(\perp)}\right|&#10;\sum_{p}&#10;\mathrm{e}^{\mathrm{i}p\phi_{g}^{(\perp)}}&#10;\sum_{h(g,p,+1)}&#10;\mathrm{e}^{\mathrm{i}\frac{2\pi}{a_{\text{Si}}}\bm{h}_{gp(+1)h}^{(\perp)}\cdot\bm{r}}&#10;\\&#10;\end{align*}&#10;&#10;\end{document}" title="IguanaTex Bitmap Display">
            <a:extLst>
              <a:ext uri="{FF2B5EF4-FFF2-40B4-BE49-F238E27FC236}">
                <a16:creationId xmlns:a16="http://schemas.microsoft.com/office/drawing/2014/main" id="{8ACE27A2-7754-41F1-B17D-6F93DD7FE6E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46478" y="2320878"/>
            <a:ext cx="10499043" cy="21683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B30604F-0A63-4005-AC97-14C531B487A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107049" y="5341304"/>
            <a:ext cx="1977902" cy="3779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8C3076-903A-4B3D-9C57-2543372D4A9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515812" y="6029731"/>
            <a:ext cx="3160376" cy="377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1957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B9b. Contracted summation of “perpendicular” Bloch products</a:t>
            </a:r>
          </a:p>
        </p:txBody>
      </p:sp>
      <p:pic>
        <p:nvPicPr>
          <p:cNvPr id="34" name="Picture 33" descr="\documentclass{article}&#10;\usepackage{amsmath,bm,eufrak}&#10;\pagestyle{empty}&#10;\begin{document}&#10;&#10;\begin{align*}&#10;\Theta_{+y}\Theta_{+x}&#10;&amp; =&#10;\mathrm{e}^{\mathrm{i}\gamma\frac{2\pi}{a_{0}}(x+y)}&#10;\sum_{g}&#10;\left|D_{g}^{(yx)}\right|&#10;\left(&#10;\mathrm{e}^{\mathrm{i}\left(G_{x}x+G_{y}y\right)}&#10;+\mathrm{e}^{\mathrm{i}\left(G_{y}x+G_{x}y\right)}&#10;\right)&#10;\left(&#10;\mathrm{e}^{+\mathrm{i}\phi_{g}^{(yx)}}\mathrm{e}^{+\mathrm{i}G_{z}z}&#10;+&#10;\mathrm{e}^{-\mathrm{i}\phi_{g}^{(yx)}}\mathrm{e}^{-\mathrm{i}G_{z}z}&#10;\right)&#10;\\&#10;&amp; =&#10;\mathrm{e}^{\mathrm{i}\gamma\frac{2\pi}{a_{0}}(x+y)}&#10;\sum_{g}&#10;\left|D_{g}^{(\perp)}\right|&#10;\left(&#10;\mathrm{e}^{\mathrm{i}\left(G_{x}x-G_{y}y\right)}&#10;+\mathrm{e}^{\mathrm{i}\left(-G_{y}x+G_{x}y\right)}&#10;\right)&#10;\left(&#10;\mathrm{e}^{+\mathrm{i}\phi_{g}^{(\bar{y}x)}}\mathrm{e}^{+\mathrm{i}G_{z}z}&#10;+&#10;\mathrm{e}^{-\mathrm{i}\phi_{g}^{(\bar{y}x)}}\mathrm{e}^{-\mathrm{i}G_{z}z}&#10;\right)&#10;\\&#10;&amp; =&#10;\sum_{g}&#10;\left|D_{g}^{(\perp)}\right|&#10;\sum_{p}&#10;\mathrm{e}^{\mathrm{i}p\phi_{g}^{(\bar{y}x)}}&#10;\left(&#10;\mathrm{e}^{\mathrm{i}\frac{2\pi}{a_{\text{Si}}}\left(\left(\gamma+g_{x}\right)x+\left(\gamma-g_{y}\right)y+pg_{z}z\right)}&#10;+\mathrm{e}^{\mathrm{i}\frac{2\pi}{a_{\text{Si}}}\left(\left(\gamma-g_{y}\right)x+\left(\gamma+g_{x}\right)y+pg_{z}z\right)}&#10;\right)&#10;\\&#10;&amp; =&#10;\sum_{g}\left|D_{g}^{(\perp)}\right|&#10;\sum_{p}&#10;\mathrm{e}^{\mathrm{i}p\phi_{g}^{(\perp)}}&#10;\sum_{h(g,p,-1)}&#10;\mathrm{e}^{\mathrm{i}\frac{2\pi}{a_{\text{Si}}}\bm{h}_{gp(-1)h}^{(\perp)}\cdot\bm{r}}&#10;\end{align*}&#10;&#10;\end{document}" title="IguanaTex Bitmap Display">
            <a:extLst>
              <a:ext uri="{FF2B5EF4-FFF2-40B4-BE49-F238E27FC236}">
                <a16:creationId xmlns:a16="http://schemas.microsoft.com/office/drawing/2014/main" id="{4736E68E-423E-42F3-9629-DBB64F63602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96953" y="1970499"/>
            <a:ext cx="10494481" cy="291046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59561AD-A362-4C3D-9F0B-4904A2B722C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107049" y="5341304"/>
            <a:ext cx="1977902" cy="3520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8886AD9-A8EC-4881-9FFE-4BE4FC3AAE1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515812" y="6029731"/>
            <a:ext cx="3160373" cy="377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8153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B10. Restatement of Bloch products</a:t>
            </a:r>
          </a:p>
        </p:txBody>
      </p:sp>
      <p:pic>
        <p:nvPicPr>
          <p:cNvPr id="26" name="Picture 25" descr="\documentclass{article}&#10;\usepackage{amsmath,bm,eufrak}&#10;\pagestyle{empty}&#10;\begin{document}&#10;&#10;\begin{align*}&#10;\Theta_{\Omega_{1}}^{(z)}\Theta_{\Omega_{2}}^{(z)}&#10;&amp; =&#10;\left(\frac{\Theta_{z}+\Omega_{1}\Theta_{-z}}{\sqrt{2}}\right)&#10;\left(\frac{\Theta_{z}+\Omega_{2}\Theta_{-z}}{\sqrt{2}}\right)&#10;\\&#10;&amp; =&#10;\frac{\Theta_{z}\Theta_{z}+\Omega_{1}\Theta_{z}\Theta_{-z}+\Omega_{2}\Theta_{z}\Theta_{-z}+\Omega_{1}\Omega_{2}\Theta_{-z}\Theta_{-z}}{2}&#10;\\&#10;&amp; = &#10;\mathcal{Z}\left\{\Theta_{z}\Theta_{z},\Omega_{1}\Omega_{2}\right\}+\Omega_{1}\mathcal{Z}\left\{\Theta_{z}\Theta_{-z},\Omega_{1}\Omega_{2}\right\}&#10;\\&#10;&amp; = &#10;\mathcal{Z}\left\{\Theta_{z}\Theta_{z},\Omega_{1}\Omega_{2}\right\}&#10;+\Omega_{1}\left(\frac{1+\Omega_{1}\Omega_{2}}{2}\right)\Theta_{z}\Theta_{-z}&#10;\\&#10;\end{align*}&#10;&#10;\end{document}" title="IguanaTex Bitmap Display">
            <a:extLst>
              <a:ext uri="{FF2B5EF4-FFF2-40B4-BE49-F238E27FC236}">
                <a16:creationId xmlns:a16="http://schemas.microsoft.com/office/drawing/2014/main" id="{8D32D788-2B9A-4C23-8D28-B670F9685A9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96953" y="2158510"/>
            <a:ext cx="6547809" cy="2339044"/>
          </a:xfrm>
          <a:prstGeom prst="rect">
            <a:avLst/>
          </a:prstGeom>
        </p:spPr>
      </p:pic>
      <p:pic>
        <p:nvPicPr>
          <p:cNvPr id="18" name="Picture 17" descr="\documentclass{article}&#10;\usepackage{amsmath,bm}&#10;\pagestyle{empty}&#10;\begin{document}&#10;&#10;\begin{align*}&#10;\Theta_{\Omega}^{(q)}&#10;&amp; =&#10;\frac{\Theta_{q}+\Omega\Theta_{-q}}{\sqrt{2}}&#10;\\&#10;\mathcal{Z}\left\{f,\Omega\right\}&#10;&amp; =&#10;\frac{f+\Omega f^{*}}{2}&#10;\end{align*}&#10;&#10;\end{document}" title="IguanaTex Bitmap Display">
            <a:extLst>
              <a:ext uri="{FF2B5EF4-FFF2-40B4-BE49-F238E27FC236}">
                <a16:creationId xmlns:a16="http://schemas.microsoft.com/office/drawing/2014/main" id="{701BFC4D-B9F9-4256-8661-1B3EF91D6B1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8458340" y="3429000"/>
            <a:ext cx="2940497" cy="1386135"/>
          </a:xfrm>
          <a:prstGeom prst="rect">
            <a:avLst/>
          </a:prstGeom>
        </p:spPr>
      </p:pic>
      <p:pic>
        <p:nvPicPr>
          <p:cNvPr id="24" name="Picture 23" descr="\documentclass{article}&#10;\usepackage{amsmath,bm,eufrak}&#10;\pagestyle{empty}&#10;\begin{document}&#10;&#10;\begin{align*}&#10;\Theta_{\Omega_{1}}^{(y)}\Theta_{\Omega_{2}}^{(x)}&#10;&amp; =&#10;\left(\frac{\Theta_{y}+\Omega_{1}\Theta_{-y}}{\sqrt{2}}\right)&#10;\left(\frac{\Theta_{x}+\Omega_{2}\Theta_{-x}}{\sqrt{2}}\right)&#10;\\&#10;&amp; =&#10;\frac{\Theta_{y}\Theta_{x}+\Omega_{1}\Theta_{-y}\Theta_{x}+\Omega_{2}\Theta_{y}\Theta_{-x}+\Omega_{1}\Omega_{2}\Theta_{-y}\Theta_{-x}}{2}&#10;\\&#10;&amp; = &#10;\mathcal{Z}\left\{\Theta_{y}\Theta_{x}+\Omega_{1}\Theta_{-y}\Theta_{x},\Omega_{1}\Omega_{2}\right\}&#10;\end{align*}&#10;&#10;\end{document}" title="IguanaTex Bitmap Display">
            <a:extLst>
              <a:ext uri="{FF2B5EF4-FFF2-40B4-BE49-F238E27FC236}">
                <a16:creationId xmlns:a16="http://schemas.microsoft.com/office/drawing/2014/main" id="{1C6930B8-EFB3-4614-B481-DB6FF3805B1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96952" y="4951560"/>
            <a:ext cx="6627047" cy="1615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6998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B10a. Elaboration of Bloch products</a:t>
            </a:r>
          </a:p>
        </p:txBody>
      </p:sp>
      <p:pic>
        <p:nvPicPr>
          <p:cNvPr id="3" name="Picture 2" descr="\documentclass{article}&#10;\usepackage{amsmath,amssymb,bm}&#10;\pagestyle{empty}&#10;\begin{document}&#10;&#10;\begin{align*}&#10;\left(\frac{1+\Omega_{1}\Omega_{2}}{2}\right)\Theta_{z}\Theta_{-z}&#10;&amp; =&#10;\left(\frac{1+\Omega_{1}\Omega_{2}}{2}\right)&#10;\left(&#10;1&#10;+&#10;\sum_{g}&#10;\left|D_{g}^{(\upharpoonleft \! \upharpoonright)}\right|&#10;\mathcal{\text{Re}}\left\{&#10;\mathrm{e}^{\mathrm{i}\phi_{g}^{(\upharpoonleft \! \upharpoonright)}}&#10;\sum_{h(g)}\mathrm{e}^{\mathrm{i}\frac{2\pi}{a_{\text{Si}}}\bm{h}_{gh}^{(\upharpoonleft \! \upharpoonright)}\cdot\bm{r}}&#10;\right\}&#10;\right)&#10;\\&#10;\Omega_{1}\mathcal{Z}\left\{\Theta_{z}\Theta_{z},\Omega_{1}\Omega_{2}\right\}&#10;&amp; =&#10;\Omega_{1}&#10;\sum_{g} &#10;\left|D_{g}^{(\upharpoonleft \! \downharpoonright)}\right|&#10;\mathcal{Z}\left\{&#10;\sum_{p}&#10;\mathrm{e}^{\mathrm{i}p\phi_{g}^{(\upharpoonleft \! \downharpoonright)}}&#10;\sum_{h(g,p)}&#10;\mathrm{e}^{\mathrm{i}\frac{2\pi}{a_{\text{Si}}}\bm{h}_{gph}^{(\upharpoonleft \! \downharpoonright)}\cdot\bm{r}}&#10;,\Omega_{1}\Omega_{2}\right\}&#10;\\&#10;\mathcal{Z}\left\{\Theta_{y}\Theta_{x}+\Omega_{1}\Theta_{-y}\Theta_{x},\Omega_{1}\Omega_{2}\right\}&#10;&amp; =&#10;\sum_{g}\left|D_{g}^{(\perp)}\right|&#10;\mathcal{Z}\left\{&#10;\sum_{p}&#10;\mathrm{e}^{\mathrm{i}p\phi_{g}^{(\perp)}}&#10;\sum_{n}\left(\delta_{n,-1}+\Omega_{1}\delta_{n,+1}\right)&#10;\sum_{h(g,p,n)}&#10;\mathrm{e}^{\mathrm{i}\frac{2\pi}{a_{\text{Si}}}\bm{h}_{gpnh}^{(\perp)}\cdot\bm{r}}&#10;,\Omega_{1}\Omega_{2}\right\}&#10;\end{align*}&#10;&#10;\end{document}" title="IguanaTex Bitmap Display">
            <a:extLst>
              <a:ext uri="{FF2B5EF4-FFF2-40B4-BE49-F238E27FC236}">
                <a16:creationId xmlns:a16="http://schemas.microsoft.com/office/drawing/2014/main" id="{7E71E58C-A7D9-4CCB-A6C6-82FE7DD674D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62629" y="2711712"/>
            <a:ext cx="10466742" cy="2642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8423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B11. Final form of Bloch product formulae</a:t>
            </a:r>
          </a:p>
        </p:txBody>
      </p:sp>
      <p:pic>
        <p:nvPicPr>
          <p:cNvPr id="11" name="Picture 10" descr="\documentclass{article}&#10;\usepackage{amsmath,amssymb,bm,mathtools}&#10;\pagestyle{empty}&#10;\begin{document}&#10;&#10;\begin{align*}&#10;\Theta_{(\Omega)_{12}}^{(\upharpoonleft \! \upharpoonright)}&#10;&amp; \coloneqq&#10;\sum_{g}&#10;\left|D_{g}^{(\upharpoonleft \! \upharpoonright)}\right|&#10;\mathcal{\text{Re}}\left\{&#10;\mathrm{e}^{\mathrm{i}\phi_{g}^{(\upharpoonleft \! \upharpoonright)}}&#10;\sum_{h(g)}\mathrm{e}^{\mathrm{i}\frac{2\pi}{a_{\text{Si}}}\bm{h}_{gh}^{(\upharpoonleft \! \upharpoonright)}\cdot\bm{r}}&#10;\right\}&#10;\\&#10;\Theta_{(\Omega)_{12}}^{(\upharpoonleft \! \downharpoonright)}&#10;&amp; \coloneqq&#10;\Omega_{1}&#10;\sum_{g} &#10;\left|D_{g}^{(\upharpoonleft \! \downharpoonright)}\right|&#10;\mathcal{Z}\left\{&#10;\sum_{p}&#10;\mathrm{e}^{\mathrm{i}p\phi_{g}^{(\upharpoonleft \! \downharpoonright)}}&#10;\sum_{h(g,p)}&#10;\mathrm{e}^{\mathrm{i}\frac{2\pi}{a_{\text{Si}}}\bm{h}_{gph}^{(\upharpoonleft \! \downharpoonright)}\cdot\bm{r}}&#10;,\Omega_{1}\Omega_{2}\right\}&#10;\\&#10;\Theta_{(\Omega)_{12}}^{(\perp)}&#10;&amp; \coloneqq&#10;\sum_{g}\left|D_{g}^{(\perp)}\right|&#10;\mathcal{Z}\left\{&#10;\sum_{p}&#10;\mathrm{e}^{\mathrm{i}p\phi_{g}^{(\perp)}}&#10;\sum_{n}\left(\delta_{n,-1}+\Omega_{1}\delta_{n,+1}\right)&#10;\sum_{h(g,p,n)}&#10;\mathrm{e}^{\mathrm{i}\frac{2\pi}{a_{\text{Si}}}\bm{h}_{gpnh}^{(\perp)}\cdot\bm{r}}&#10;,\Omega_{1}\Omega_{2}\right\}&#10;\end{align*}&#10;&#10;\end{document}" title="IguanaTex Bitmap Display">
            <a:extLst>
              <a:ext uri="{FF2B5EF4-FFF2-40B4-BE49-F238E27FC236}">
                <a16:creationId xmlns:a16="http://schemas.microsoft.com/office/drawing/2014/main" id="{1940E3C3-87B9-4372-8FF2-C14BE4C9B01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990629" y="3797030"/>
            <a:ext cx="8210742" cy="2642745"/>
          </a:xfrm>
          <a:prstGeom prst="rect">
            <a:avLst/>
          </a:prstGeom>
        </p:spPr>
      </p:pic>
      <p:pic>
        <p:nvPicPr>
          <p:cNvPr id="9" name="Picture 8" descr="\documentclass{article}&#10;\usepackage{amsmath,bm,amssymb}&#10;\pagestyle{empty}&#10;\begin{document}&#10;&#10;\begin{align*}&#10;\Omega_{1}&#10;\Theta_{\Omega_{1}}^{(y)}&#10;\Theta_{\Omega_{2}}^{(x)}&#10;&amp; =&#10;\Theta_{(\Omega)_{12}}^{(\perp)}&#10;\\&#10;\Omega_{1}&#10;\Theta_{\Omega_{1}}^{(z)}&#10;\Theta_{\Omega_{2}}^{(z)}&#10;&amp; =&#10;\left(\frac{1+\Omega_{1}\Omega_{2}}{2}\right)&#10;\left(&#10;1&#10;+&#10;\Theta_{(\Omega)_{12}}^{(\upharpoonleft \! \upharpoonright)}&#10;\right)&#10;+&#10;\Theta_{(\Omega)_{12}}^{(\upharpoonleft \! \downharpoonright)}&#10;\end{align*}&#10;&#10;\end{document}" title="IguanaTex Bitmap Display">
            <a:extLst>
              <a:ext uri="{FF2B5EF4-FFF2-40B4-BE49-F238E27FC236}">
                <a16:creationId xmlns:a16="http://schemas.microsoft.com/office/drawing/2014/main" id="{885650F1-A685-4DD8-AE31-F37EEF2FE30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626055" y="2268310"/>
            <a:ext cx="4939891" cy="99291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245335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0.465"/>
  <p:tag name="ORIGINALWIDTH" val="2122.985"/>
  <p:tag name="LATEXADDIN" val="\documentclass{article}&#10;\usepackage{amsmath,bm,eufrak}&#10;\pagestyle{empty}&#10;\begin{document}&#10;&#10;\begin{equation*}&#10;\Theta_{q}&#10;=&#10;\mathrm{e}^{\mathrm{i}\bm{k}_{q}\cdot\bm{r}}&#10;u_{\bm{k}_{q}}\left(\bm{r}\right)&#10;=&#10;\mathrm{e}^{\mathrm{i}\bm{k}_{q}\cdot\bm{r}}&#10;\sum_{\bm{G}} C_{\bm{G}}^{(q)}\mathrm{e}^{\mathrm{i}\bm{G}\cdot\bm{r}}&#10;\end{equation*}&#10;&#10;\end{document}"/>
  <p:tag name="IGUANATEXSIZE" val="20"/>
  <p:tag name="IGUANATEXCURSOR" val="121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48.4439"/>
  <p:tag name="ORIGINALWIDTH" val="3634.046"/>
  <p:tag name="LATEXADDIN" val="\documentclass{article}&#10;\usepackage{amsmath,bm,eufrak}&#10;\pagestyle{empty}&#10;\begin{document}&#10;&#10;\begin{equation*}&#10;\bm{G}&#10;=&#10;\frac{2\pi}{a_{\text{Si}}}\left(&#10;l\begin{pmatrix}-1 \\ 1 \\ 1\end{pmatrix}&#10;+ m\begin{pmatrix}1 \\ -1 \\ 1\end{pmatrix}&#10;+ n\begin{pmatrix}1 \\ 1 \\ -1\end{pmatrix}&#10;\right)&#10;=&#10;\begin{pmatrix}&#10;G_{x} \\&#10;G_{y} \\&#10;G_{z}&#10;\end{pmatrix}&#10;=&#10;\frac{2\pi}{a_{\text{Si}}}&#10;\begin{pmatrix}&#10;g_{x} \\&#10;g_{y} \\&#10;g_{z}&#10;\end{pmatrix}&#10;\end{equation*}&#10;&#10;\end{document}"/>
  <p:tag name="IGUANATEXSIZE" val="20"/>
  <p:tag name="IGUANATEXCURSOR" val="409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640.045"/>
  <p:tag name="LATEXADDIN" val="\documentclass{article}&#10;\usepackage{amsmath,bm,eufrak}&#10;\pagestyle{empty}&#10;\begin{document}&#10;&#10;\begin{align*}&#10;\Theta_{+z}&#10;=&#10;\left(xyz\right)\Theta_{+z}&#10;= &#10;\left(yxz\right)\Theta_{+z}&#10;\\&#10;\end{align*}&#10;&#10;\end{document}"/>
  <p:tag name="IGUANATEXSIZE" val="20"/>
  <p:tag name="IGUANATEXCURSOR" val="174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.2332"/>
  <p:tag name="ORIGINALWIDTH" val="3621.297"/>
  <p:tag name="LATEXADDIN" val="\documentclass{article}&#10;\usepackage{amsmath,bm,eufrak}&#10;\pagestyle{empty}&#10;\begin{document}&#10;&#10;\begin{align*}&#10;\Theta_{-z}&#10;=&#10;\left(\Theta_{+z}\right)^{*}&#10;=&#10;\left(x\bar{y}\bar{z}\right)\Theta_{+z}&#10;=&#10;\left(y\bar{x}\bar{z}\right)\Theta_{+z}&#10;=&#10;\left(\bar{x}y\bar{z}\right)\Theta_{+z}&#10;=&#10;\left(\bar{y}x\bar{z}\right)\Theta_{+z}&#10;\\&#10;\end{align*}&#10;&#10;\end{document}"/>
  <p:tag name="IGUANATEXSIZE" val="20"/>
  <p:tag name="IGUANATEXCURSOR" val="312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3.2283"/>
  <p:tag name="ORIGINALWIDTH" val="944.132"/>
  <p:tag name="LATEXADDIN" val="\documentclass{article}&#10;\usepackage{amsmath,bm,eufrak}&#10;\pagestyle{empty}&#10;\begin{document}&#10;&#10;\begin{align*}&#10;C_{g_{x}g_{y}g_{z}}^{(z)} &amp; = C_{g_{y}g_{x}g_{z}}^{(z)}&#10;\end{align*}&#10;&#10;\end{document}"/>
  <p:tag name="IGUANATEXSIZE" val="20"/>
  <p:tag name="IGUANATEXCURSOR" val="105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75.103"/>
  <p:tag name="ORIGINALWIDTH" val="2620.922"/>
  <p:tag name="LATEXADDIN" val="\documentclass{article}&#10;\usepackage{amsmath,bm,eufrak}&#10;\pagestyle{empty}&#10;\begin{document}&#10;&#10;\begin{align*}&#10;\Theta_{+z}&#10;&amp; =&#10;\left(yxz\right)\Theta_{+z}&#10;\\&#10;&amp; =&#10;\left(yxz\right)&#10;\mathrm{e}^{+\mathrm{i}\gamma\frac{2\pi}{a_{\text{Si}}}z}&#10;\sum_{\bm{G}} C_{g_{x}g_{y}g_{z}}^{(z)}\mathrm{e}^{\mathrm{i}\left(G_{x}x+G_{y}y+G_{z}z\right)}&#10;\\&#10;&amp; =&#10;\mathrm{e}^{+\mathrm{i}\gamma\frac{2\pi}{a_{\text{Si}}}z}&#10;\sum_{\bm{G}} C_{g_{x}g_{y}g_{z}}^{(z)}\mathrm{e}^{\mathrm{i}\left(G_{x}y+G_{y}x+G_{z}z\right)}&#10;\\&#10;&amp; =&#10;\mathrm{e}^{+\mathrm{i}\gamma\frac{2\pi}{a_{\text{Si}}}z}&#10;\sum_{\bm{G}} C_{g_{y}g_{x}g_{z}}^{(z)}\mathrm{e}^{\mathrm{i}\left(G_{x}x+G_{y}y+G_{z}z\right)}&#10;\end{align*}&#10;&#10;\end{document}"/>
  <p:tag name="IGUANATEXSIZE" val="16"/>
  <p:tag name="IGUANATEXCURSOR" val="145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5.9768"/>
  <p:tag name="ORIGINALWIDTH" val="944.132"/>
  <p:tag name="LATEXADDIN" val="\documentclass{article}&#10;\usepackage{amsmath,bm,eufrak}&#10;\pagestyle{empty}&#10;\begin{document}&#10;&#10;\begin{align*}&#10;C_{g_{x}g_{y}g_{z}}^{(z)} &amp; = C_{g_{x}\bar{g}_{y}g_{z}}^{(z)*}&#10;\end{align*}&#10;&#10;\end{document}"/>
  <p:tag name="IGUANATEXSIZE" val="20"/>
  <p:tag name="IGUANATEXCURSOR" val="105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77.353"/>
  <p:tag name="ORIGINALWIDTH" val="2673.416"/>
  <p:tag name="LATEXADDIN" val="\documentclass{article}&#10;\usepackage{amsmath,bm,eufrak}&#10;\pagestyle{empty}&#10;\begin{document}&#10;&#10;\begin{align*}&#10;\Theta_{+z}&#10;&amp; =&#10;\left(\bar{x}y\bar{z}\right)\left(\Theta_{+z}\right)^{*}&#10;\\&#10;&amp; =&#10;\left(\bar{x}y\bar{z}\right)&#10;\mathrm{e}^{-\mathrm{i}\gamma\frac{2\pi}{a_{0}}z}&#10;\sum_{\bm{G}} C_{g_{x}g_{y}g_{z}}^{(z)*}\mathrm{e}^{\mathrm{i}\left(-G_{x}x-G_{y}y-G_{z}z\right)}&#10;\\&#10;&amp; =&#10;\mathrm{e}^{\mathrm{i}\gamma\frac{2\pi}{a_{0}}z}&#10;\sum_{\bm{G}} C_{g_{x}g_{y}g_{z}}^{(z)*}\mathrm{e}^{\mathrm{i}\left(G_{x}x-G_{y}y+G_{z}z\right)}&#10;\\&#10;&amp; =&#10;\mathrm{e}^{\mathrm{i}\gamma\frac{2\pi}{a_{0}}z}&#10;\sum_{\bm{G}} C_{g_{x}\bar{g}_{y}g_{z}}^{(z)*}\mathrm{e}^{\mathrm{i}\left(G_{x}x+G_{y}y+G_{z}z\right)}&#10;\\&#10;\end{align*}&#10;&#10;\end{document}"/>
  <p:tag name="IGUANATEXSIZE" val="16"/>
  <p:tag name="IGUANATEXCURSOR" val="163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98.6877"/>
  <p:tag name="ORIGINALWIDTH" val="272.216"/>
  <p:tag name="LATEXADDIN" val="\documentclass{article}&#10;\usepackage{amsmath,bm,eufrak}&#10;\pagestyle{empty}&#10;\begin{document}&#10;&#10;\begin{align*}&#10;\left(yxz\right) \\&#10;\left(\bar{x}\bar{y}z\right) \\&#10;\left(\bar{y}\bar{x}z\right) \\&#10;\end{align*}&#10;&#10;\end{document}"/>
  <p:tag name="IGUANATEXSIZE" val="20"/>
  <p:tag name="IGUANATEXCURSOR" val="105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35.9205"/>
  <p:tag name="ORIGINALWIDTH" val="944.132"/>
  <p:tag name="LATEXADDIN" val="\documentclass{article}&#10;\usepackage{amsmath,bm,eufrak}&#10;\pagestyle{empty}&#10;\begin{document}&#10;&#10;\begin{align*}&#10;C_{g_{x}g_{y}g_{z}}^{(z)} &amp; = C_{g_{y}g_{x}g_{z}}^{(z)} \\&#10;                          &amp; = C_{\bar{g}_{x}\bar{g}_{y}g_{z}}^{(z)} \\&#10;                          &amp; = C_{\bar{g}_{y}\bar{g}_{x}g_{z}}^{(z)} \\&#10;\end{align*}&#10;&#10;\end{document}"/>
  <p:tag name="IGUANATEXSIZE" val="20"/>
  <p:tag name="IGUANATEXCURSOR" val="303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94.4132"/>
  <p:tag name="ORIGINALWIDTH" val="327.709"/>
  <p:tag name="LATEXADDIN" val="\documentclass{article}&#10;\usepackage{amsmath,bm,eufrak}&#10;\pagestyle{empty}&#10;\begin{document}&#10;&#10;\begin{align*}&#10;\left(\bar{x}y\bar{z}\right)^{*} \\&#10;\left(\bar{y}x\bar{z}\right)^{*} \\&#10;\left(x\bar{y}\bar{z}\right)^{*} \\&#10;\left(y\bar{x}\bar{z}\right)^{*}&#10;\end{align*}&#10;&#10;\end{document}"/>
  <p:tag name="IGUANATEXSIZE" val="20"/>
  <p:tag name="IGUANATEXCURSOR" val="246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9.64"/>
  <p:tag name="ORIGINALWIDTH" val="944.132"/>
  <p:tag name="LATEXADDIN" val="\documentclass{article}&#10;\usepackage{amsmath,bm,eufrak}&#10;\pagestyle{empty}&#10;\begin{document}&#10;&#10;\begin{align*}&#10;C_{g_{x}g_{y}g_{z}}^{(z)} &amp; = C_{g_{x}\bar{g}_{y}g_{z}}^{(z)*} \\&#10;                          &amp; = C_{g_{y}\bar{g}_{x}g_{z}}^{(z)*} \\&#10;                          &amp; = C_{\bar{g}_{x}g_{y}g_{z}}^{(z)*} \\&#10;                          &amp; = C_{\bar{g}_{y}g_{x}g_{z}}^{(z)*} \\&#10;\end{align*}&#10;&#10;\end{document}"/>
  <p:tag name="IGUANATEXSIZE" val="20"/>
  <p:tag name="IGUANATEXCURSOR" val="166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5.9768"/>
  <p:tag name="ORIGINALWIDTH" val="4184.477"/>
  <p:tag name="LATEXADDIN" val="\documentclass{article}&#10;\usepackage{amsmath,bm,eufrak}&#10;\pagestyle{empty}&#10;\begin{document}&#10;&#10;\begin{equation*}&#10;C_{g_{x}g_{y}g_{z}}^{(z)} = C_{g_{y}g_{x}g_{z}}^{(z)} = C_{\bar{g}_{x}\bar{g}_{y}g_{z}}^{(z)} = C_{\bar{g}_{y}\bar{g}_{x}g_{z}}^{(z)}&#10;= C_{g_{x}\bar{g}_{y}g_{z}}^{(z)*} = C_{g_{y}\bar{g}_{x}g_{z}}^{(z)*}  C_{\bar{g}_{x}g_{y}g_{z}}^{(z)*} = C_{\bar{g}_{y}g_{x}g_{z}}^{(z)*} \\&#10;\end{equation*}&#10;&#10;\end{document}"/>
  <p:tag name="IGUANATEXSIZE" val="20"/>
  <p:tag name="IGUANATEXCURSOR" val="379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5.9768"/>
  <p:tag name="ORIGINALWIDTH" val="4918.635"/>
  <p:tag name="LATEXADDIN" val="\documentclass{article}&#10;\usepackage{amsmath,bm,eufrak}&#10;\pagestyle{empty}&#10;\begin{document}&#10;&#10;\begin{equation*}&#10;C_{g_{x}g_{y}g_{z}}^{(z)} = &#10;C_{g_{z}g_{x}g_{y}}^{(x)} = C_{g_{z}g_{y}g_{x}}^{(x)} = C_{g_{z}\bar{g}_{x}\bar{g}_{y}}^{(x)} = C_{g_{z}\bar{g}_{y}\bar{g}_{x}}^{(x)}&#10;= C_{g_{z}g_{x}\bar{g}_{y}}^{(x)*} = C_{g_{z}g_{y}\bar{g}_{x}}^{(x)*} = C_{g_{z}\bar{g}_{x}g_{y}}^{(x)*} = C_{g_{z}\bar{g}_{y}g_{x}}^{(x)*} \\&#10;\end{equation*}&#10;&#10;\end{document}"/>
  <p:tag name="IGUANATEXSIZE" val="20"/>
  <p:tag name="IGUANATEXCURSOR" val="343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5.9768"/>
  <p:tag name="ORIGINALWIDTH" val="4919.385"/>
  <p:tag name="LATEXADDIN" val="\documentclass{article}&#10;\usepackage{amsmath,bm,eufrak}&#10;\pagestyle{empty}&#10;\begin{document}&#10;&#10;\begin{equation*}&#10;C_{g_{x}g_{y}g_{z}}^{(z)} =&#10;C_{g_{y}g_{z}g_{x}}^{(y)} = C_{g_{x}g_{z}g_{y}}^{(y)} = C_{\bar{g}_{y}g_{z}\bar{g}_{x}}^{(y)} = C_{\bar{g}_{x}g_{z}\bar{g}_{y}}^{(y)}&#10;= C_{\bar{g}_{y}g_{z}g_{x}}^{(y)*} = C_{\bar{g}_{x}g_{z}g_{y}}^{(y)*} = C_{g_{y}g_{z}\bar{g}_{x}}^{(y)*} = C_{g_{x}g_{z}\bar{g}_{y}}^{(y)*} \\&#10;\end{equation*}&#10;&#10;\end{document}"/>
  <p:tag name="IGUANATEXSIZE" val="20"/>
  <p:tag name="IGUANATEXCURSOR" val="342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94.4507"/>
  <p:tag name="ORIGINALWIDTH" val="945.6318"/>
  <p:tag name="LATEXADDIN" val="\documentclass{article}&#10;\usepackage{amsmath,bm,eufrak}&#10;\pagestyle{empty}&#10;\begin{document}&#10;&#10;\begin{align*}&#10;C_{g_{x}g_{y}g_{z}}^{(x)} &amp;= C_{g_{y}g_{z}g_{x}}^{(z)} \\&#10;C_{g_{x}g_{y}g_{z}}^{(y)} &amp;= C_{g_{z}g_{x}g_{y}}^{(z)} \\&#10;\end{align*}&#10;&#10;\end{document}"/>
  <p:tag name="IGUANATEXSIZE" val="20"/>
  <p:tag name="IGUANATEXCURSOR" val="138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3.2283"/>
  <p:tag name="ORIGINALWIDTH" val="945.6318"/>
  <p:tag name="LATEXADDIN" val="\documentclass{article}&#10;\usepackage{amsmath,bm,eufrak}&#10;\pagestyle{empty}&#10;\begin{document}&#10;&#10;\begin{align*}&#10;C_{g_{x}g_{y}g_{z}}^{(z)} &amp; = C_{g_{z}g_{x}g_{y}}^{(x)}&#10;\end{align*}&#10;&#10;\end{document}"/>
  <p:tag name="IGUANATEXSIZE" val="20"/>
  <p:tag name="IGUANATEXCURSOR" val="105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75.103"/>
  <p:tag name="ORIGINALWIDTH" val="2625.422"/>
  <p:tag name="LATEXADDIN" val="\documentclass{article}&#10;\usepackage{amsmath,bm,eufrak}&#10;\pagestyle{empty}&#10;\begin{document}&#10;&#10;\begin{align*}&#10;\Theta_{+z}&#10;&amp; =&#10;\left(zxy\right)\Theta_{+x}&#10;\\&#10;&amp; =&#10;\left(zxy\right)&#10;\mathrm{e}^{+\mathrm{i}\gamma\frac{2\pi}{a_{\text{Si}}}x}&#10;\sum_{\bm{G}} C_{g_{x}g_{y}g_{z}}^{(x)}\mathrm{e}^{\mathrm{i}\left(G_{x}x+G_{y}y+G_{z}z\right)}&#10;\\&#10;&amp; =&#10;\mathrm{e}^{+\mathrm{i}\gamma\frac{2\pi}{a_{\text{Si}}}z}&#10;\sum_{\bm{G}} C_{g_{x}g_{y}g_{z}}^{(x)}\mathrm{e}^{\mathrm{i}\left(G_{x}z+G_{y}x+G_{z}y\right)}&#10;\\&#10;&amp; =&#10;\mathrm{e}^{+\mathrm{i}\gamma\frac{2\pi}{a_{\text{Si}}}z}&#10;\sum_{\bm{G}} C_{g_{z}g_{x}g_{y}}^{(x)}\mathrm{e}^{\mathrm{i}\left(G_{x}x+G_{y}y+G_{z}z\right)}&#10;\\&#10;\end{align*}&#10;&#10;\end{document}"/>
  <p:tag name="IGUANATEXSIZE" val="16"/>
  <p:tag name="IGUANATEXCURSOR" val="148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14.623"/>
  <p:tag name="ORIGINALWIDTH" val="2687.664"/>
  <p:tag name="LATEXADDIN" val="\documentclass{article}&#10;\usepackage{amsmath,bm,eufrak}&#10;\pagestyle{empty}&#10;\begin{document}&#10;&#10;\begin{align*}&#10;\Theta_{+z}&#10;&amp; =&#10;\mathrm{e}^{+\mathrm{i}\gamma\frac{2\pi}{a_{\text{Si}}}z}&#10;\sum_{\bm{G}} C_{g_{x}g_{y}g_{z}}^{(z)}\mathrm{e}^{\mathrm{i}\left(G_{x}x+G_{y}y+G_{z}z\right)}&#10;\\&#10;&amp; =&#10;\mathrm{e}^{+\mathrm{i}\gamma\frac{2\pi}{a_{\text{Si}}}z}&#10;\sum_{g} &#10;C_{g}^{(z)}&#10;f_{g}^{(1)}&#10;+&#10;C_{g}^{(z)*}&#10;f_{g}^{(2)}&#10;\\&#10;&amp; =&#10;\mathrm{e}^{+\mathrm{i}\gamma\frac{2\pi}{a_{\text{Si}}}z}&#10;\sum_{g} &#10;\left|C_{g}^{(z)}\right|&#10;\left(&#10;\mathrm{e}^{\mathrm{i}\phi_{g}^{(z)}}f_{g}^{(1)}&#10;+&#10;\mathrm{e}^{-\mathrm{i}\phi_{g}^{(z)}}f_{g}^{(2)}&#10;\right)&#10;\\&#10;\end{align*}&#10;&#10;\end{document}"/>
  <p:tag name="IGUANATEXSIZE" val="16"/>
  <p:tag name="IGUANATEXCURSOR" val="113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5.9768"/>
  <p:tag name="ORIGINALWIDTH" val="4350.206"/>
  <p:tag name="LATEXADDIN" val="\documentclass{article}&#10;\usepackage{amsmath,bm,eufrak}&#10;\pagestyle{empty}&#10;\begin{document}&#10;&#10;\begin{equation*}&#10;C_{g_{x}g_{y}g_{z}}^{(z)} = C_{g_{y}g_{x}g_{z}}^{(z)} = C_{\bar{g}_{x}\bar{g}_{y}g_{z}}^{(z)} = C_{\bar{g}_{y}\bar{g}_{x}g_{z}}^{(z)}&#10;= C_{g_{x}\bar{g}_{y}g_{z}}^{(z)*} = C_{g_{y}\bar{g}_{x}g_{z}}^{(z)*} = C_{\bar{g}_{x}g_{y}g_{z}}^{(z)*} = C_{\bar{g}_{y}g_{x}g_{z}}^{(z)*} \\&#10;\end{equation*}&#10;&#10;\end{document}"/>
  <p:tag name="IGUANATEXSIZE" val="20"/>
  <p:tag name="IGUANATEXCURSOR" val="380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80.2025"/>
  <p:tag name="ORIGINALWIDTH" val="4466.441"/>
  <p:tag name="LATEXADDIN" val="\documentclass{article}&#10;\usepackage{amsmath,bm,eufrak}&#10;\pagestyle{empty}&#10;\begin{document}&#10;&#10;\begin{align*}&#10;f_{g}^{(1)} &amp; =&#10;\mathrm{e}^{\mathrm{i}\left(G_{x}x+G_{y}y+G_{z}z\right)}+\mathrm{e}^{\mathrm{i}\left(G_{y}x+G_{x}y+G_{z}z\right)}&#10;+\mathrm{e}^{\mathrm{i}\left(-G_{x}x-G_{y}y+G_{z}z\right)}+\mathrm{e}^{\mathrm{i}\left(-G_{y}x-G_{x}y+G_{z}z\right)} \\&#10;f_{g}^{(2)} &amp; =&#10;\mathrm{e}^{\mathrm{i}\left(G_{x}x-G_{y}y+G_{z}z\right)}+\mathrm{e}^{\mathrm{i}\left(G_{y}x-G_{x}y+G_{z}z\right)}&#10;+\mathrm{e}^{\mathrm{i}\left(-G_{x}x+G_{y}y+G_{z}z\right)}+\mathrm{e}^{\mathrm{i}\left(-G_{y}x+G_{x}y+G_{z}z\right)}&#10;\\&#10;\end{align*}&#10;&#10;\end{document}"/>
  <p:tag name="IGUANATEXSIZE" val="20"/>
  <p:tag name="IGUANATEXCURSOR" val="589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75.853"/>
  <p:tag name="ORIGINALWIDTH" val="3605.549"/>
  <p:tag name="LATEXADDIN" val="\documentclass{article}&#10;\usepackage{amsmath,bm,eufrak}&#10;\pagestyle{empty}&#10;\begin{document}&#10;&#10;\begin{align*}&#10;\Theta_{-z}\Theta_{+z}&#10;&amp; =&#10;\left(&#10;\mathrm{e}^{-\mathrm{i}\gamma\frac{2\pi}{a_{\text{Si}}}z}&#10;\sum_{\bm{G}_{1}} C_{\bm{G}_{1}}^{(z)*}\mathrm{e}^{-\mathrm{i}\bm{G}_{1}\cdot\bm{r}}&#10;\right)&#10;\left(&#10;\mathrm{e}^{+\mathrm{i}\gamma\frac{2\pi}{a_{\text{Si}}}z}&#10;\sum_{\bm{G}_{2}} C_{\bm{G}_{2}}^{(z)}\mathrm{e}^{+\mathrm{i}\bm{G}_{2}\cdot\bm{r}}&#10;\right)&#10;\\&#10;&amp; =&#10;\sum_{\bm{G}_{1}}\sum_{\bm{G}_{2}} &#10;C_{\bm{G}_{1}}^{(z)*}C_{z\bm{G}_{2}}^{(z)}&#10;\mathrm{e}^{\mathrm{i}\left(\bm{G}_{2}-\bm{G}_{1}\right)\cdot\bm{r}}&#10;\\&#10;&amp; =&#10;\sum_{\bm{G}}&#10;\left(&#10;\sum_{\bm{G}_{2}-\bm{G}_{1}=\bm{G}}C_{\bm{G}_{1}}^{(z)*}C_{\bm{G}_{2}}^{(z)}&#10;\right)&#10;\mathrm{e}^{\mathrm{i}\bm{G}\cdot\bm{r}}&#10;\\&#10;\end{align*}&#10;&#10;\end{document}"/>
  <p:tag name="IGUANATEXSIZE" val="20"/>
  <p:tag name="IGUANATEXCURSOR" val="124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82.602"/>
  <p:tag name="ORIGINALWIDTH" val="3550.056"/>
  <p:tag name="LATEXADDIN" val="\documentclass{article}&#10;\usepackage{amsmath,bm,eufrak}&#10;\pagestyle{empty}&#10;\begin{document}&#10;&#10;\begin{align*}&#10;\Theta_{+z}\Theta_{+z}&#10;&amp; =&#10;\left(&#10;\mathrm{e}^{+\mathrm{i}\gamma\frac{2\pi}{a_{\text{Si}}}z}&#10;\sum_{\bm{G}_{1}} C_{\bm{G}_{1}}^{(z)}\mathrm{e}^{+\mathrm{i}\bm{G}_{1}\cdot\bm{r}}&#10;\right)&#10;\left(&#10;\mathrm{e}^{+\mathrm{i}\gamma\frac{2\pi}{a_{\text{Si}}}z}&#10;\sum_{\bm{G}_{2}} C_{\bm{G}_{2}}^{(z)}\mathrm{e}^{+\mathrm{i}\bm{G}_{2}\cdot\bm{r}}&#10;\right)&#10;\\&#10;&amp; =&#10;\mathrm{e}^{+\mathrm{i}2\gamma\frac{2\pi}{a_{\text{Si}}}z}&#10;\sum_{\bm{G}_{1}}\sum_{\bm{G}_{2}} &#10;C_{\bm{G}_{1}}^{(z)}C_{\bm{G}_{2}}^{(z)}&#10;\mathrm{e}^{\mathrm{i}\left(\bm{G}_{2}+\bm{G}_{1}\right)\cdot\bm{r}}&#10;\\&#10;&amp; =&#10;\mathrm{e}^{+\mathrm{i}2\gamma\frac{2\pi}{a_{\text{Si}}}z}&#10;\sum_{\bm{G}}&#10;\left(&#10;\sum_{\bm{G}_{2}+\bm{G}_{1}=\bm{G}}C_{\bm{G}_{1}}^{(z)}C_{\bm{G}_{2}}^{(z)}&#10;\right)&#10;\mathrm{e}^{\mathrm{i}\bm{G}\cdot\bm{r}}&#10;\\&#10;\end{align*}&#10;&#10;\end{document}"/>
  <p:tag name="IGUANATEXSIZE" val="20"/>
  <p:tag name="IGUANATEXCURSOR" val="124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82.602"/>
  <p:tag name="ORIGINALWIDTH" val="3628.047"/>
  <p:tag name="LATEXADDIN" val="\documentclass{article}&#10;\usepackage{amsmath,bm,eufrak}&#10;\pagestyle{empty}&#10;\begin{document}&#10;&#10;\begin{align*}&#10;\Theta_{-y}\Theta_{+x}&#10;&amp; =&#10;\left(&#10;\mathrm{e}^{-\mathrm{i}\gamma\frac{2\pi}{a_{\text{Si}}}y}&#10;\sum_{\bm{G}_{1}} C_{\bm{G}_{1}}^{(y)*}\mathrm{e}^{-\mathrm{i}\bm{G}_{1}\cdot\bm{r}}&#10;\right)&#10;\left(&#10;\mathrm{e}^{+\mathrm{i}\gamma\frac{2\pi}{a_{\text{Si}}}x}&#10;\sum_{\bm{G}_{2}} C_{\bm{G}_{2}}^{(x)}\mathrm{e}^{+\mathrm{i}\bm{G}_{2}\cdot\bm{r}}&#10;\right)&#10;\\&#10;&amp; =&#10;\mathrm{e}^{\mathrm{i}\gamma\frac{2\pi}{a_{\text{Si}}}(x-y)}&#10;\sum_{\bm{G}_{1}}\sum_{\bm{G}_{2}} &#10;C_{\bm{G}_{1}}^{(y)*}C_{\bm{G}_{2}}^{(x)}&#10;\mathrm{e}^{\mathrm{i}\left(\bm{G}_{2}-\bm{G}_{1}\right)\cdot\bm{r}}&#10;\\&#10;&amp; =&#10;\mathrm{e}^{\mathrm{i}\gamma\frac{2\pi}{a_{\text{Si}}}(x-y)}&#10;\sum_{\bm{G}}&#10;\left(&#10;\sum_{\bm{G}_{2}-\bm{G}_{1}=\bm{G}}C_{\bm{G}_{1}}^{(y)*}C_{\bm{G}_{2}}^{(x)}&#10;\right)&#10;\mathrm{e}^{\mathrm{i}\bm{G}\cdot\bm{r}}&#10;\\&#10;\end{align*}&#10;&#10;\end{document}"/>
  <p:tag name="IGUANATEXSIZE" val="20"/>
  <p:tag name="IGUANATEXCURSOR" val="124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82.602"/>
  <p:tag name="ORIGINALWIDTH" val="3572.553"/>
  <p:tag name="LATEXADDIN" val="\documentclass{article}&#10;\usepackage{amsmath,bm,eufrak}&#10;\pagestyle{empty}&#10;\begin{document}&#10;&#10;\begin{align*}&#10;\Theta_{+y}\Theta_{+x}&#10;&amp; =&#10;\left(&#10;\mathrm{e}^{+\mathrm{i}\gamma\frac{2\pi}{a_{\text{Si}}}y}&#10;\sum_{\bm{G}_{1}} C_{\bm{G}_{1}}^{(y)}\mathrm{e}^{+\mathrm{i}\bm{G}_{1}\cdot\bm{r}}&#10;\right)&#10;\left(&#10;\mathrm{e}^{+\mathrm{i}\gamma\frac{2\pi}{a_{\text{Si}}}x}&#10;\sum_{\bm{G}_{2}} C_{\bm{G}_{2}}^{(x)}\mathrm{e}^{+\mathrm{i}\bm{G}_{2}\cdot\bm{r}}&#10;\right)&#10;\\&#10;&amp; =&#10;\mathrm{e}^{+\mathrm{i}\gamma\frac{2\pi}{a_{\text{Si}}}(x+y)}&#10;\sum_{\bm{G}_{1}}\sum_{\bm{G}_{2}} &#10;C_{\bm{G}_{1}}^{(y)}C_{\bm{G}_{2}}^{(x)}&#10;\mathrm{e}^{\mathrm{i}\left(\bm{G}_{2}+\bm{G}_{1}\right)\cdot\bm{r}}&#10;\\&#10;&amp; =&#10;\mathrm{e}^{+\mathrm{i}\gamma\frac{2\pi}{a_{\text{Si}}}(x+y)}&#10;\sum_{\bm{G}}&#10;\left(&#10;\sum_{\bm{G}_{2}+\bm{G}_{1}=\bm{G}}C_{\bm{G}_{1}}^{(y)}C_{\bm{G}_{2}}^{(x)}&#10;\right)&#10;\mathrm{e}^{\mathrm{i}\bm{G}\cdot\bm{r}}&#10;\\&#10;\end{align*}&#10;&#10;\end{document}"/>
  <p:tag name="IGUANATEXSIZE" val="20"/>
  <p:tag name="IGUANATEXCURSOR" val="127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95.088"/>
  <p:tag name="ORIGINALWIDTH" val="2409.449"/>
  <p:tag name="LATEXADDIN" val="\documentclass{article}&#10;\usepackage{amsmath,bm,eufrak}&#10;\pagestyle{empty}&#10;\begin{document}&#10;&#10;\begin{align*}&#10;\Theta_{-z}\Theta_{+z}&#10;&amp; =&#10;\sum_{\bm{G}}&#10;D_{g_{x}g_{y}g_{z}}^{(\bar{z}z)}&#10;\mathrm{e}^{\mathrm{i}\left(G_{x}x+G_{y}y+G_{z}z\right)}&#10;\\&#10;\left(yxz\right)\Theta_{-z}\Theta_{+z}&#10;&amp; =&#10;\sum_{\bm{G}}&#10;D_{g_{y}g_{x}g_{z}}^{(\bar{z}z)}&#10;\mathrm{e}^{\mathrm{i}\left(G_{x}x+G_{y}y+G_{z}z\right)}&#10;\\&#10;\left(\bar{x}y\bar{z}\right)\Theta_{-z}\Theta_{+z}&#10;&amp; =&#10;\sum_{\bm{G}}&#10;D_{\bar{g}_{x}g_{y}\bar{g}_{z}}^{(\bar{z}z)}&#10;\mathrm{e}^{\mathrm{i}\left(G_{x}x+G_{y}y+G_{z}z\right)}&#10;\\&#10;\left(\Theta_{-z}\Theta_{+z}\right)^{*}&#10;&amp; =&#10;\sum_{\bm{G}}&#10;D_{\bar{g}_{x}\bar{g}_{y}\bar{g}_{z}}^{(\bar{z}z)*}&#10;\mathrm{e}^{\mathrm{i}\left(G_{x}x+G_{y}y+G_{z}z\right)}&#10;\\&#10;\end{align*}&#10;&#10;\end{document}"/>
  <p:tag name="IGUANATEXSIZE" val="20"/>
  <p:tag name="IGUANATEXCURSOR" val="761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.2332"/>
  <p:tag name="ORIGINALWIDTH" val="3116.61"/>
  <p:tag name="LATEXADDIN" val="\documentclass{article}&#10;\usepackage{amsmath,bm,eufrak}&#10;\pagestyle{empty}&#10;\begin{document}&#10;&#10;\begin{align*}&#10;\Theta_{-z}\Theta_{+z}&#10;=&#10;\left(yxz\right)\Theta_{-z}\Theta_{+z}&#10;=&#10;\left(\bar{x}y\bar{z}\right)\Theta_{-z}\Theta_{+z}&#10;=&#10;\left(\Theta_{-z}\Theta_{+z}\right)^{*}&#10;\\&#10;\end{align*}&#10;&#10;\end{document}"/>
  <p:tag name="IGUANATEXSIZE" val="20"/>
  <p:tag name="IGUANATEXCURSOR" val="253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5.9768"/>
  <p:tag name="ORIGINALWIDTH" val="4464.942"/>
  <p:tag name="LATEXADDIN" val="\documentclass{article}&#10;\usepackage{amsmath,bm,eufrak}&#10;\pagestyle{empty}&#10;\begin{document}&#10;&#10;\begin{equation*}&#10;D_{g_{x}g_{y}g_{z}}^{(\bar{z}z)} = D_{g_{y}g_{x}g_{z}}^{(\bar{z}z)}&#10;= D_{\bar{g}_{x}\bar{g}_{y}g_{z}}^{(\bar{z}z)} = D_{\bar{g}_{y}\bar{g}_{x}g_{z}}^{(\bar{z}z)}&#10;= D_{\bar{g}_{x}g_{y}\bar{g}_{z}}^{(\bar{z}z)} = D_{\bar{g}_{y}g_{x}\bar{g}_{z}}^{(\bar{z}z)}&#10;= D_{g_{x}\bar{g}_{y}\bar{g}_{z}}^{(\bar{z}z)} = D_{g_{y}\bar{g}_{x}\bar{g}_{z}}^{(\bar{z}z)} \\&#10;\end{equation*}&#10;&#10;\end{document}"/>
  <p:tag name="IGUANATEXSIZE" val="20"/>
  <p:tag name="IGUANATEXCURSOR" val="411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5.9768"/>
  <p:tag name="ORIGINALWIDTH" val="5046.119"/>
  <p:tag name="LATEXADDIN" val="\documentclass{article}&#10;\usepackage{amsmath,bm,eufrak}&#10;\pagestyle{empty}&#10;\begin{document}&#10;&#10;\begin{equation*}&#10;D_{g_{x}g_{y}g_{z}}^{(\bar{z}z)} = &#10;D_{\bar{g}_{x}\bar{g}_{y}\bar{g}_{z}}^{(\bar{z}z)*} = D_{\bar{g}_{y}\bar{g}_{x}\bar{g}_{z}}^{(\bar{z}z)*}&#10;= D_{g_{x}g_{y}\bar{g}_{z}}^{(\bar{z}z)*} = D_{g_{y}g_{x}\bar{g}_{z}}^{(\bar{z}z)*}&#10;= D_{g_{x}\bar{g}_{y}g_{z}}^{(\bar{z}z)*} = D_{g_{y}\bar{g}_{x}g_{z}}^{(\bar{z}z)*}&#10;= D_{\bar{g}_{x}g_{y}g_{z}}^{(\bar{z}z)*} = D_{\bar{g}_{y}g_{x}g_{z}}^{(\bar{z}z)*} \\&#10;\end{equation*}&#10;&#10;\end{document}"/>
  <p:tag name="IGUANATEXSIZE" val="20"/>
  <p:tag name="IGUANATEXCURSOR" val="249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87.6265"/>
  <p:tag name="ORIGINALWIDTH" val="3064.117"/>
  <p:tag name="LATEXADDIN" val="\documentclass{article}&#10;\usepackage{amsmath,bm,eufrak}&#10;\pagestyle{empty}&#10;\begin{document}&#10;&#10;\begin{align*}&#10;\Theta_{+z}\Theta_{+z}&#10;&amp; =&#10;\mathrm{e}^{+\mathrm{i}2\gamma\frac{2\pi}{a_{\text{Si}}}z}&#10;\sum_{\bm{G}}&#10;D_{g_{x}g_{y}g_{z}}^{(zz)}&#10;\mathrm{e}^{\mathrm{i}\left(G_{x}x+G_{y}y+G_{z}z\right)}&#10;\\&#10;\left(yxz\right)\Theta_{+z}\Theta_{+z}&#10;&amp; =&#10;\mathrm{e}^{+\mathrm{i}2\gamma\frac{2\pi}{a_{\text{Si}}}z}&#10;\sum_{\bm{G}}&#10;D_{g_{y}g_{x}g_{z}}^{(zz)}&#10;\mathrm{e}^{\mathrm{i}\left(G_{x}x+G_{y}y+G_{z}z\right)}&#10;\\&#10;\left(\left(\bar{x}y\bar{z}\right)\Theta_{+z}\Theta_{+z}\right)^{*}&#10;&amp; =&#10;\mathrm{e}^{+\mathrm{i}2\gamma\frac{2\pi}{a_{\text{Si}}}z}&#10;\sum_{\bm{G}}&#10;D_{g_{x}\bar{g}_{y}g_{z}}^{(zz)*}&#10;\mathrm{e}^{\mathrm{i}\left(G_{x}x+G_{y}y+G_{z}z\right)}&#10;\\&#10;\end{align*}&#10;&#10;\end{document}"/>
  <p:tag name="IGUANATEXSIZE" val="20"/>
  <p:tag name="IGUANATEXCURSOR" val="76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.2332"/>
  <p:tag name="ORIGINALWIDTH" val="2483.689"/>
  <p:tag name="LATEXADDIN" val="\documentclass{article}&#10;\usepackage{amsmath,bm,eufrak}&#10;\pagestyle{empty}&#10;\begin{document}&#10;&#10;\begin{align*}&#10;\Theta_{+z}\Theta_{+z}&#10;=&#10;\left(yxz\right)\Theta_{+z}\Theta_{+z}&#10;=&#10;\left(\left(\bar{x}y\bar{z}\right)\Theta_{+z}\Theta_{+z}\right)^{*}&#10;\\&#10;\end{align*}&#10;&#10;\end{document}"/>
  <p:tag name="IGUANATEXSIZE" val="20"/>
  <p:tag name="IGUANATEXCURSOR" val="113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5.9768"/>
  <p:tag name="ORIGINALWIDTH" val="2137.233"/>
  <p:tag name="LATEXADDIN" val="\documentclass{article}&#10;\usepackage{amsmath,bm,eufrak}&#10;\pagestyle{empty}&#10;\begin{document}&#10;&#10;\begin{equation*}&#10;D_{g_{x}g_{y}g_{z}}^{(zz)} = D_{g_{y}g_{x}g_{z}}^{(zz)} = D_{\bar{g}_{x}\bar{g}_{y}g_{z}}^{(zz)} = D_{\bar{g}_{y}\bar{g}_{x}g_{z}}^{(zz)} \\&#10;\end{equation*}&#10;&#10;\end{document}"/>
  <p:tag name="IGUANATEXSIZE" val="20"/>
  <p:tag name="IGUANATEXCURSOR" val="246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5.9768"/>
  <p:tag name="ORIGINALWIDTH" val="2719.16"/>
  <p:tag name="LATEXADDIN" val="\documentclass{article}&#10;\usepackage{amsmath,bm,eufrak}&#10;\pagestyle{empty}&#10;\begin{document}&#10;&#10;\begin{equation*}&#10;D_{g_{x}g_{y}g_{z}}^{(zz)} &#10;= D_{g_{x}\bar{g}_{y}g_{z}}^{(zz)*} = D_{g_{y}\bar{g}_{x}g_{z}}^{(zz)*}&#10;= D_{\bar{g}_{x}g_{y}g_{z}}^{(zz)*} = D_{\bar{g}_{y}g_{x}g_{z}}^{(zz)*} \\&#10;\end{equation*}&#10;&#10;\end{document}"/>
  <p:tag name="IGUANATEXSIZE" val="20"/>
  <p:tag name="IGUANATEXCURSOR" val="279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27.334"/>
  <p:tag name="ORIGINALWIDTH" val="3131.608"/>
  <p:tag name="LATEXADDIN" val="\documentclass{article}&#10;\usepackage{amsmath,bm,eufrak}&#10;\pagestyle{empty}&#10;\begin{document}&#10;&#10;\begin{align*}&#10;\Theta_{-y}\Theta_{+x}&#10;&amp; =&#10;\mathrm{e}^{\mathrm{i}\gamma\frac{2\pi}{a_{0}}(x-y)}&#10;\sum_{\bm{G}}&#10;D_{g_{x}g_{y}g_{z}}^{(\bar{y}x)}&#10;\mathrm{e}^{\mathrm{i}\left(G_{x}x+G_{y}y+G_{z}z\right)}&#10;\\&#10;\left(\bar{y}\bar{x}z\right)\Theta_{-y}\Theta_{+x}&#10;&amp; =&#10;\mathrm{e}^{\mathrm{i}\gamma\frac{2\pi}{a_{0}}(x-y)}&#10;\sum_{\bm{G}}&#10;D_{\bar{g}_{y}\bar{g}_{x}g_{z}}^{(\bar{y}x)}&#10;\mathrm{e}^{\mathrm{i}\left(G_{x}x+G_{y}y+G_{z}z\right)}&#10;\\&#10;\left(\left(\bar{x}\bar{y}z\right)\Theta_{-y}\Theta_{+x}\right)^{*}&#10;&amp; =&#10;\mathrm{e}^{\mathrm{i}\gamma\frac{2\pi}{a_{0}}(x-y)}&#10;\sum_{\bm{G}}&#10;D_{g_{x}g_{y}\bar{g}_{z}}^{(\bar{y}x)*}&#10;\mathrm{e}^{\mathrm{i}\left(G_{x}x+G_{y}y+G_{z}z\right)}&#10;\\&#10;\left(\left(yxz\right)\Theta_{-y}\Theta_{+x}\right)^{*}&#10;&amp; =&#10;\mathrm{e}^{\mathrm{i}\gamma\frac{2\pi}{a_{0}}(x-y)}&#10;\sum_{\bm{G}}&#10;D_{\bar{g}_{y}\bar{g}_{x}\bar{g}_{z}}^{(\bar{y}x)*}&#10;\mathrm{e}^{\mathrm{i}\left(G_{x}x+G_{y}y+G_{z}z\right)}&#10;\\&#10;\end{align*}&#10;&#10;\end{document}"/>
  <p:tag name="IGUANATEXSIZE" val="20"/>
  <p:tag name="IGUANATEXCURSOR" val="803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5.9768"/>
  <p:tag name="ORIGINALWIDTH" val="2137.233"/>
  <p:tag name="LATEXADDIN" val="\documentclass{article}&#10;\usepackage{amsmath,bm,eufrak}&#10;\pagestyle{empty}&#10;\begin{document}&#10;&#10;\begin{equation*}&#10;D_{g_{x}g_{y}g_{z}}^{(\bar{y}x)}&#10;= D_{\bar{g}_{y}\bar{g}_{x}g_{z}}^{(\bar{y}x)}&#10;= D_{g_{x}g_{y}\bar{g}_{z}}^{(\bar{y}x)*} \\&#10;= D_{\bar{g}_{y}\bar{g}_{x}\bar{g}_{z}}^{(\bar{y}x)*} \\&#10;\end{equation*}&#10;&#10;\end{document}"/>
  <p:tag name="IGUANATEXSIZE" val="20"/>
  <p:tag name="IGUANATEXCURSOR" val="260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9.4826"/>
  <p:tag name="ORIGINALWIDTH" val="3619.048"/>
  <p:tag name="LATEXADDIN" val="\documentclass{article}&#10;\usepackage{amsmath,bm,eufrak}&#10;\pagestyle{empty}&#10;\begin{document}&#10;&#10;\begin{align*}&#10;\Theta_{-y}\Theta_{+x}&#10;=&#10;\left(\bar{y}\bar{x}z\right)\Theta_{-y}\Theta_{+x}&#10;=&#10;\left(\left(\bar{x}\bar{y}z\right)\Theta_{-y}\Theta_{+x}\right)^{*}&#10;=&#10;\left(\left(yxz\right)\Theta_{-y}\Theta_{+x}\right)^{*}&#10;\\&#10;\end{align*}&#10;&#10;\end{document}"/>
  <p:tag name="IGUANATEXSIZE" val="20"/>
  <p:tag name="IGUANATEXCURSOR" val="298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61.83"/>
  <p:tag name="ORIGINALWIDTH" val="3265.842"/>
  <p:tag name="LATEXADDIN" val="\documentclass{article}&#10;\usepackage{amsmath,bm,eufrak}&#10;\pagestyle{empty}&#10;\begin{document}&#10;&#10;\begin{align*}&#10;\eta^{(+y)}\eta^{(+x)}&#10;&amp; =&#10;\mathrm{e}^{\mathrm{i}\gamma\frac{2\pi}{a_{0}}(x+y)}&#10;\sum_{\bm{G}}&#10;D_{g_{x}g_{y}g_{z}}^{(yx)}&#10;\mathrm{e}^{\mathrm{i}\left(G_{x}x+G_{y}y+G_{z}z\right)}&#10;\\&#10;\left(yxz\right)\eta^{(+y)}\eta^{(+x)}&#10;&amp; =&#10;\mathrm{e}^{\mathrm{i}\gamma\frac{2\pi}{a_{0}}(x+y)}&#10;\sum_{\bm{G}}&#10;D_{g_{y}g_{x}g_{z}}^{(yx)}&#10;\mathrm{e}^{\mathrm{i}\left(G_{x}x+G_{y}y+G_{z}z\right)}&#10;\\&#10;\left(\left(\bar{x}\bar{y}z\right)\eta^{(+y)}\eta^{(+x)}\right)^{*}&#10;&amp; =&#10;\mathrm{e}^{\mathrm{i}\gamma\frac{2\pi}{a_{0}}(x+y)}&#10;\sum_{\bm{G}}&#10;D_{g_{x}g_{y}\bar{g}_{z}}^{(yx)*}&#10;\mathrm{e}^{\mathrm{i}\left(G_{x}x+G_{y}y+G_{z}z\right)}&#10;\\&#10;\left(\left(\bar{y}\bar{x}z\right)\eta^{(+y)}\eta^{(+x)}\right)^{*}&#10;&amp; =&#10;\mathrm{e}^{\mathrm{i}\gamma\frac{2\pi}{a_{0}}(x+y)}&#10;\sum_{\bm{G}}&#10;D_{g_{y}g_{x}\bar{g}_{z}}^{(yx)*}&#10;\mathrm{e}^{\mathrm{i}\left(G_{x}x+G_{y}y+G_{z}z\right)}&#10;\\&#10;\end{align*}&#10;&#10;\end{document}"/>
  <p:tag name="IGUANATEXSIZE" val="20"/>
  <p:tag name="IGUANATEXCURSOR" val="933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5.9768"/>
  <p:tag name="ORIGINALWIDTH" val="2137.233"/>
  <p:tag name="LATEXADDIN" val="\documentclass{article}&#10;\usepackage{amsmath,bm,eufrak}&#10;\pagestyle{empty}&#10;\begin{document}&#10;&#10;\begin{equation*}&#10;D_{g_{x}g_{y}g_{z}}^{(yx)}&#10;= D_{g_{y}g_{x}g_{z}}^{(yx)}&#10;= D_{g_{x}g_{y}\bar{g}_{z}}^{(yx)*}&#10;= D_{g_{y}g_{x}\bar{g}_{z}}^{(yx)*} \\&#10;\end{equation*}&#10;&#10;\end{document}"/>
  <p:tag name="IGUANATEXSIZE" val="20"/>
  <p:tag name="IGUANATEXCURSOR" val="215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33.9708"/>
  <p:tag name="ORIGINALWIDTH" val="4101.237"/>
  <p:tag name="LATEXADDIN" val="\documentclass{article}&#10;\usepackage{amsmath,bm,eufrak}&#10;\pagestyle{empty}&#10;\begin{document}&#10;&#10;\begin{align*}&#10;\eta^{(+y)}\eta^{(+x)}&#10;=&#10;\left(yxz\right)\eta^{(+y)}\eta^{(+x)}&#10;=&#10;\left(\left(\bar{x}\bar{y}z\right)\eta^{(+y)}\eta^{(+x)}\right)^{*}&#10;=&#10;\left(\left(\bar{y}\bar{x}z\right)\eta^{(-y)}\eta^{(+x)}\right)^{*}&#10;\\&#10;\end{align*}&#10;&#10;\end{document}"/>
  <p:tag name="IGUANATEXSIZE" val="20"/>
  <p:tag name="IGUANATEXCURSOR" val="155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81.852"/>
  <p:tag name="ORIGINALWIDTH" val="5959.505"/>
  <p:tag name="LATEXADDIN" val="\documentclass{article}&#10;\usepackage{amsmath,amssymb,bm}&#10;\pagestyle{empty}&#10;\begin{document}&#10;&#10;\begin{align*}&#10;\Theta_{-z}\Theta_{+z}&#10;&amp; =&#10;1 +&#10;\sum_{g} &#10;\left|D_{g}^{(\bar{z}z)}\right|&#10;\Xi_{g}&#10;\left(&#10;f_{g}^{(1)}\mathrm{e}^{+\mathrm{i}G_{z}z}\mathrm{e}^{+\mathrm{i}\phi_{g}^{(\bar{z}z)}}&#10;+f_{g}^{(1)}\mathrm{e}^{-\mathrm{i}G_{z}z}\mathrm{e}^{-\mathrm{i}\phi_{g}^{(\bar{z}z)}}&#10;+f_{g}^{(2)}\mathrm{e}^{-\mathrm{i}G_{z}z}\mathrm{e}^{+\mathrm{i}\phi_{g}^{(\bar{z}z)}}&#10;+f_{g}^{(2)}\mathrm{e}^{+\mathrm{i}G_{z}z}\mathrm{e}^{-\mathrm{i}\phi_{g}^{(\bar{z}z)}}&#10;\right)&#10;\\&#10;&amp; =&#10;1 +&#10;\sum_{g} &#10;2\left|D_{g}^{(\bar{z}z)}\right|&#10;\mbox{Re}\left\{&#10;\mathrm{e}^{+\mathrm{i}\phi_{g}^{(\bar{z}z)}}&#10;\Xi_{g}&#10;\left(&#10;f_{g}^{(1)}\mathrm{e}^{+\mathrm{i}G_{z}z}&#10;+&#10;f_{g}^{(2)}\mathrm{e}^{-\mathrm{i}G_{z}z}&#10;\right)&#10;\right\}&#10;\\&#10;&amp; =&#10;1&#10;+&#10;\sum_{g}&#10;\left|D_{g}^{(\upharpoonleft \! \upharpoonright)}\right|&#10;\mathcal{\text{Re}}\left\{&#10;\mathrm{e}^{\mathrm{i}\phi_{g}^{(\upharpoonleft \! \upharpoonright)}}&#10;\sum_{h(g)}\mathrm{e}^{\mathrm{i}\frac{2\pi}{a_{\text{Si}}}\bm{h}_{gh}^{(\upharpoonleft \! \upharpoonright)}\cdot\bm{r}}&#10;\right\}&#10;\end{align*}&#10;&#10;\end{document}"/>
  <p:tag name="IGUANATEXSIZE" val="20"/>
  <p:tag name="IGUANATEXCURSOR" val="780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07.4241"/>
  <p:tag name="ORIGINALWIDTH" val="3440.57"/>
  <p:tag name="LATEXADDIN" val="\documentclass{article}&#10;\usepackage{amsmath,bm,eufrak}&#10;\pagestyle{empty}&#10;\begin{document}&#10;&#10;\begin{align*}&#10;\Xi_{g} &amp; =&#10;\left(1+\delta_{G_{x}G_{y}}\right)^{-1}\left(1+\delta_{G_{x}0}\right)^{-1}\left(1+\delta_{G_{y}0}\right)^{-1}\left(1+\delta_{G_{z}0}\right)^{-1}&#10;\\&#10;f_{g}^{(1)} &amp; =&#10;\mathrm{e}^{\mathrm{i}\left(G_{x}x+G_{y}y\right)}+\mathrm{e}^{\mathrm{i}\left(G_{y}x+G_{x}y\right)}&#10;+\mathrm{e}^{\mathrm{i}\left(-G_{x}x-G_{y}y\right)}+\mathrm{e}^{\mathrm{i}\left(-G_{y}x-G_{x}y\right)}&#10;\\&#10;f_{g}^{(2)} &amp; =&#10;\mathrm{e}^{\mathrm{i}\left(G_{x}x-G_{y}y\right)}+\mathrm{e}^{\mathrm{i}\left(G_{y}x-G_{x}y\right)}&#10;+\mathrm{e}^{\mathrm{i}\left(-G_{x}x+G_{y}y\right)}+\mathrm{e}^{\mathrm{i}\left(-G_{y}x+G_{x}y\right)}&#10;\\&#10;\end{align*}&#10;&#10;\end{document}"/>
  <p:tag name="IGUANATEXSIZE" val="20"/>
  <p:tag name="IGUANATEXCURSOR" val="106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5.9768"/>
  <p:tag name="ORIGINALWIDTH" val="4464.942"/>
  <p:tag name="LATEXADDIN" val="\documentclass{article}&#10;\usepackage{amsmath,bm,eufrak}&#10;\pagestyle{empty}&#10;\begin{document}&#10;&#10;\begin{equation*}&#10;  D_{g_{x}g_{y}g_{z}}^{(\bar{z}z)}             = D_{g_{y}g_{x}g_{z}}^{(\bar{z}z)}&#10;= D_{\bar{g}_{x}\bar{g}_{y}g_{z}}^{(\bar{z}z)} = D_{\bar{g}_{y}\bar{g}_{x}g_{z}}^{(\bar{z}z)}&#10;= D_{g_{x}\bar{g}_{y}\bar{g}_{z}}^{(\bar{z}z)} = D_{g_{y}\bar{g}_{x}\bar{g}_{z}}^{(\bar{z}z)}&#10;= D_{\bar{g}_{x}g_{y}\bar{g}_{z}}^{(\bar{z}z)} = D_{\bar{g}_{y}g_{x}\bar{g}_{z}}^{(\bar{z}z)}&#10; \\&#10;\end{equation*}&#10;&#10;\end{document}"/>
  <p:tag name="IGUANATEXSIZE" val="20"/>
  <p:tag name="IGUANATEXCURSOR" val="476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5.9768"/>
  <p:tag name="ORIGINALWIDTH" val="5046.119"/>
  <p:tag name="LATEXADDIN" val="\documentclass{article}&#10;\usepackage{amsmath,bm,eufrak}&#10;\pagestyle{empty}&#10;\begin{document}&#10;&#10;\begin{equation*}&#10;D_{g_{x}g_{y}g_{z}}^{(\bar{z}z)*}&#10;= D_{g_{x}g_{y}\bar{g}_{z}}^{(\bar{z}z)}             = D_{g_{y}g_{x}\bar{g}_{z}}^{(\bar{z}z)}&#10;= D_{\bar{g}_{x}\bar{g}_{y}\bar{g}_{z}}^{(\bar{z}z)} = D_{\bar{g}_{y}\bar{g}_{x}\bar{g}_{z}}^{(\bar{z}z)}&#10;= D_{g_{x}\bar{g}_{y}g_{z}}^{(\bar{z}z)}             = D_{g_{y}\bar{g}_{x}g_{z}}^{(\bar{z}z)}&#10;= D_{\bar{g}_{x}g_{y}g_{z}}^{(\bar{z}z)}             = D_{\bar{g}_{y}g_{x}g_{z}}^{(\bar{z}z)} \\&#10;\end{equation*}&#10;&#10;\end{document}"/>
  <p:tag name="IGUANATEXSIZE" val="20"/>
  <p:tag name="IGUANATEXCURSOR" val="238"/>
  <p:tag name="TRANSPARENCY" val="Fals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01.1624"/>
  <p:tag name="ORIGINALWIDTH" val="3824.522"/>
  <p:tag name="LATEXADDIN" val="\documentclass{article}&#10;\usepackage{amsmath,amssymb,bm}&#10;\pagestyle{empty}&#10;\begin{document}&#10;&#10;\begin{align*}&#10;\Theta_{+z}\Theta_{+z}&#10;&amp; =&#10;\mathrm{e}^{+\mathrm{i}2\gamma\frac{2\pi}{a_{0}}z}&#10;\sum_{g} &#10;\left|D_{g}^{(\upharpoonleft \! \downharpoonright)}\right|&#10;\left(&#10;f_{g}^{(1)}\mathrm{e}^{+\mathrm{i}G_{z}z}\mathrm{e}^{+\mathrm{i}\phi_{g}^{(zz)}}&#10;+&#10;f_{g}^{(2)}\mathrm{e}^{+\mathrm{i}G_{z}z}\mathrm{e}^{-\mathrm{i}\phi_{g}^{(zz)}}&#10;\right)&#10;\\&#10;&amp; =&#10;\sum_{g} &#10;\left|D_{g}^{(\upharpoonleft \! \downharpoonright)}\right|&#10;\sum_{p}&#10;\mathrm{e}^{\mathrm{i}p\phi_{g}^{(\upharpoonleft \! \downharpoonright)}}&#10;\sum_{h(g,p)}&#10;\mathrm{e}^{\mathrm{i}\frac{2\pi}{a_{\text{Si}}}\bm{h}_{gph}^{(\upharpoonleft \! \downharpoonright)}\cdot\bm{r}}&#10;\end{align*}&#10;&#10;\end{document}"/>
  <p:tag name="IGUANATEXSIZE" val="20"/>
  <p:tag name="IGUANATEXCURSOR" val="253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80.2025"/>
  <p:tag name="ORIGINALWIDTH" val="3440.57"/>
  <p:tag name="LATEXADDIN" val="\documentclass{article}&#10;\usepackage{amsmath,bm,eufrak}&#10;\pagestyle{empty}&#10;\begin{document}&#10;&#10;\begin{align*}&#10;f_{g}^{(1)} &amp; =&#10;\mathrm{e}^{\mathrm{i}\left(G_{x}x+G_{y}y\right)}+\mathrm{e}^{\mathrm{i}\left(G_{y}x+G_{x}y\right)}&#10;+\mathrm{e}^{\mathrm{i}\left(-G_{x}x-G_{y}y\right)}+\mathrm{e}^{\mathrm{i}\left(-G_{y}x-G_{x}y\right)} \\&#10;f_{g}^{(2)} &amp; =&#10;\mathrm{e}^{\mathrm{i}\left(G_{x}x-G_{y}y\right)}+\mathrm{e}^{\mathrm{i}\left(G_{y}x-G_{x}y\right)}&#10;+\mathrm{e}^{\mathrm{i}\left(-G_{x}x+G_{y}y\right)}+\mathrm{e}^{\mathrm{i}\left(-G_{y}x+G_{x}y\right)}&#10;\\&#10;\end{align*}&#10;&#10;\end{document}"/>
  <p:tag name="IGUANATEXSIZE" val="20"/>
  <p:tag name="IGUANATEXCURSOR" val="526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5.9768"/>
  <p:tag name="ORIGINALWIDTH" val="2137.233"/>
  <p:tag name="LATEXADDIN" val="\documentclass{article}&#10;\usepackage{amsmath,bm,eufrak}&#10;\pagestyle{empty}&#10;\begin{document}&#10;&#10;\begin{equation*}&#10;D_{g_{x}g_{y}g_{z}}^{(zz)} = D_{g_{y}g_{x}g_{z}}^{(zz)} = D_{\bar{g}_{x}\bar{g}_{y}g_{z}}^{(zz)} = D_{\bar{g}_{y}\bar{g}_{x}g_{z}}^{(zz)} \\&#10;\end{equation*}&#10;&#10;\end{document}"/>
  <p:tag name="IGUANATEXSIZE" val="20"/>
  <p:tag name="IGUANATEXCURSOR" val="246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5.9768"/>
  <p:tag name="ORIGINALWIDTH" val="2719.16"/>
  <p:tag name="LATEXADDIN" val="\documentclass{article}&#10;\usepackage{amsmath,bm,eufrak}&#10;\pagestyle{empty}&#10;\begin{document}&#10;&#10;\begin{equation*}&#10;D_{g_{x}g_{y}g_{z}}^{(zz)*} &#10;= D_{g_{x}\bar{g}_{y}g_{z}}^{(zz)} = D_{g_{y}\bar{g}_{x}g_{z}}^{(zz)}&#10;= D_{\bar{g}_{x}g_{y}g_{z}}^{(zz)} = D_{\bar{g}_{y}g_{x}g_{z}}^{(zz)} \\&#10;\end{equation*}&#10;&#10;\end{document}"/>
  <p:tag name="IGUANATEXSIZE" val="20"/>
  <p:tag name="IGUANATEXCURSOR" val="241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67.117"/>
  <p:tag name="ORIGINALWIDTH" val="5166.854"/>
  <p:tag name="LATEXADDIN" val="\documentclass{article}&#10;\usepackage{amsmath,bm,eufrak}&#10;\pagestyle{empty}&#10;\begin{document}&#10;&#10;\begin{align*}&#10;\Theta_{-y}\Theta_{+x}&#10;&amp; =&#10;\mathrm{e}^{\mathrm{i}\gamma\frac{2\pi}{a_{0}}(x-y)}&#10;\sum_{g}\left|D_{g}^{(\perp)}\right|&#10;\left(&#10;\mathrm{e}^{\mathrm{i}\left(G_{x}x+G_{y}y\right)}&#10;+\mathrm{e}^{\mathrm{i}\left(-G_{y}x-G_{x}y\right)}&#10;\right)&#10;\left(&#10;\mathrm{e}^{+\mathrm{i}\phi_{g}^{(\bar{y}x)}}\mathrm{e}^{+\mathrm{i}G_{z}z}&#10;+&#10;\mathrm{e}^{-\mathrm{i}\phi_{g}^{(\bar{y}x)}}\mathrm{e}^{-\mathrm{i}G_{z}z}&#10;\right)&#10;\\&#10;&amp; =&#10;\sum_{g}&#10;\left|D_{g}^{(\perp)}\right|&#10;\sum_{p}&#10;\mathrm{e}^{\mathrm{i}p\phi_{g}^{(\perp)}}&#10;\left(&#10;\mathrm{e}^{\mathrm{i}\frac{2\pi}{a_{\text{Si}}}\left(\left(\gamma+g_{x}\right)x+\left(-\gamma+g_{y}\right)y+pg_{z}z\right)}&#10;+\mathrm{e}^{\mathrm{i}\frac{2\pi}{a_{\text{Si}}}\left(\left(\gamma-g_{y}\right)x+\left(-\gamma-g_{x}\right)y+pg_{z}z\right)}&#10;\right)&#10;\\&#10;&amp; =&#10;\sum_{g}\left|D_{g}^{(\perp)}\right|&#10;\sum_{p}&#10;\mathrm{e}^{\mathrm{i}p\phi_{g}^{(\perp)}}&#10;\sum_{h(g,p,+1)}&#10;\mathrm{e}^{\mathrm{i}\frac{2\pi}{a_{\text{Si}}}\bm{h}_{gp(+1)h}^{(\perp)}\cdot\bm{r}}&#10;\\&#10;\end{align*}&#10;&#10;\end{document}"/>
  <p:tag name="IGUANATEXSIZE" val="20"/>
  <p:tag name="IGUANATEXCURSOR" val="834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5.9768"/>
  <p:tag name="ORIGINALWIDTH" val="973.3784"/>
  <p:tag name="LATEXADDIN" val="\documentclass{article}&#10;\usepackage{amsmath,bm,eufrak}&#10;\pagestyle{empty}&#10;\begin{document}&#10;&#10;\begin{equation*}&#10;D_{g_{x}g_{y}g_{z}}^{(\bar{y}x)}&#10;= D_{\bar{g}_{y}\bar{g}_{x}g_{z}}^{(\bar{y}x)}&#10;\end{equation*}&#10;&#10;\end{document}"/>
  <p:tag name="IGUANATEXSIZE" val="20"/>
  <p:tag name="IGUANATEXCURSOR" val="188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5.9768"/>
  <p:tag name="ORIGINALWIDTH" val="1555.306"/>
  <p:tag name="LATEXADDIN" val="\documentclass{article}&#10;\usepackage{amsmath,bm,eufrak}&#10;\pagestyle{empty}&#10;\begin{document}&#10;&#10;\begin{equation*}&#10;D_{g_{x}g_{y}g_{z}}^{(\bar{y}x)*}&#10;= D_{g_{x}g_{y}\bar{g}_{z}}^{(\bar{y}x)}&#10;= D_{\bar{g}_{y}\bar{g}_{x}\bar{g}_{z}}^{(\bar{y}x)}&#10;\end{equation*}&#10;&#10;\end{document}"/>
  <p:tag name="IGUANATEXSIZE" val="20"/>
  <p:tag name="IGUANATEXCURSOR" val="235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32.321"/>
  <p:tag name="ORIGINALWIDTH" val="5164.604"/>
  <p:tag name="LATEXADDIN" val="\documentclass{article}&#10;\usepackage{amsmath,bm,eufrak}&#10;\pagestyle{empty}&#10;\begin{document}&#10;&#10;\begin{align*}&#10;\Theta_{+y}\Theta_{+x}&#10;&amp; =&#10;\mathrm{e}^{\mathrm{i}\gamma\frac{2\pi}{a_{0}}(x+y)}&#10;\sum_{g}&#10;\left|D_{g}^{(yx)}\right|&#10;\left(&#10;\mathrm{e}^{\mathrm{i}\left(G_{x}x+G_{y}y\right)}&#10;+\mathrm{e}^{\mathrm{i}\left(G_{y}x+G_{x}y\right)}&#10;\right)&#10;\left(&#10;\mathrm{e}^{+\mathrm{i}\phi_{g}^{(yx)}}\mathrm{e}^{+\mathrm{i}G_{z}z}&#10;+&#10;\mathrm{e}^{-\mathrm{i}\phi_{g}^{(yx)}}\mathrm{e}^{-\mathrm{i}G_{z}z}&#10;\right)&#10;\\&#10;&amp; =&#10;\mathrm{e}^{\mathrm{i}\gamma\frac{2\pi}{a_{0}}(x+y)}&#10;\sum_{g}&#10;\left|D_{g}^{(\perp)}\right|&#10;\left(&#10;\mathrm{e}^{\mathrm{i}\left(G_{x}x-G_{y}y\right)}&#10;+\mathrm{e}^{\mathrm{i}\left(-G_{y}x+G_{x}y\right)}&#10;\right)&#10;\left(&#10;\mathrm{e}^{+\mathrm{i}\phi_{g}^{(\bar{y}x)}}\mathrm{e}^{+\mathrm{i}G_{z}z}&#10;+&#10;\mathrm{e}^{-\mathrm{i}\phi_{g}^{(\bar{y}x)}}\mathrm{e}^{-\mathrm{i}G_{z}z}&#10;\right)&#10;\\&#10;&amp; =&#10;\sum_{g}&#10;\left|D_{g}^{(\perp)}\right|&#10;\sum_{p}&#10;\mathrm{e}^{\mathrm{i}p\phi_{g}^{(\bar{y}x)}}&#10;\left(&#10;\mathrm{e}^{\mathrm{i}\frac{2\pi}{a_{\text{Si}}}\left(\left(\gamma+g_{x}\right)x+\left(\gamma-g_{y}\right)y+pg_{z}z\right)}&#10;+\mathrm{e}^{\mathrm{i}\frac{2\pi}{a_{\text{Si}}}\left(\left(\gamma-g_{y}\right)x+\left(\gamma+g_{x}\right)y+pg_{z}z\right)}&#10;\right)&#10;\\&#10;&amp; =&#10;\sum_{g}\left|D_{g}^{(\perp)}\right|&#10;\sum_{p}&#10;\mathrm{e}^{\mathrm{i}p\phi_{g}^{(\perp)}}&#10;\sum_{h(g,p,-1)}&#10;\mathrm{e}^{\mathrm{i}\frac{2\pi}{a_{\text{Si}}}\bm{h}_{gp(-1)h}^{(\perp)}\cdot\bm{r}}&#10;\end{align*}&#10;&#10;\end{document}"/>
  <p:tag name="IGUANATEXSIZE" val="20"/>
  <p:tag name="IGUANATEXCURSOR" val="1158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3.2283"/>
  <p:tag name="ORIGINALWIDTH" val="973.3784"/>
  <p:tag name="LATEXADDIN" val="\documentclass{article}&#10;\usepackage{amsmath,bm,eufrak}&#10;\pagestyle{empty}&#10;\begin{document}&#10;&#10;\begin{equation*}&#10;D_{g_{x}g_{y}g_{z}}^{(yx)}&#10;= D_{g_{y}g_{x}g_{z}}^{(yx)}&#10;\end{equation*}&#10;&#10;\end{document}"/>
  <p:tag name="IGUANATEXSIZE" val="20"/>
  <p:tag name="IGUANATEXCURSOR" val="142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5.9768"/>
  <p:tag name="ORIGINALWIDTH" val="1555.306"/>
  <p:tag name="LATEXADDIN" val="\documentclass{article}&#10;\usepackage{amsmath,bm,eufrak}&#10;\pagestyle{empty}&#10;\begin{document}&#10;&#10;\begin{equation*}&#10;D_{g_{x}g_{y}g_{z}}^{(yx)*}&#10;= D_{g_{x}g_{y}\bar{g}_{z}}^{(yx)}&#10;= D_{g_{y}g_{x}\bar{g}_{z}}^{(\bar{y}x)}&#10;\end{equation*}&#10;&#10;\end{document}"/>
  <p:tag name="IGUANATEXSIZE" val="20"/>
  <p:tag name="IGUANATEXCURSOR" val="187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51.106"/>
  <p:tag name="ORIGINALWIDTH" val="3222.347"/>
  <p:tag name="LATEXADDIN" val="\documentclass{article}&#10;\usepackage{amsmath,bm,eufrak}&#10;\pagestyle{empty}&#10;\begin{document}&#10;&#10;\begin{align*}&#10;\Theta_{\Omega_{1}}^{(z)}\Theta_{\Omega_{2}}^{(z)}&#10;&amp; =&#10;\left(\frac{\Theta_{z}+\Omega_{1}\Theta_{-z}}{\sqrt{2}}\right)&#10;\left(\frac{\Theta_{z}+\Omega_{2}\Theta_{-z}}{\sqrt{2}}\right)&#10;\\&#10;&amp; =&#10;\frac{\Theta_{z}\Theta_{z}+\Omega_{1}\Theta_{z}\Theta_{-z}+\Omega_{2}\Theta_{z}\Theta_{-z}+\Omega_{1}\Omega_{2}\Theta_{-z}\Theta_{-z}}{2}&#10;\\&#10;&amp; = &#10;\mathcal{Z}\left\{\Theta_{z}\Theta_{z},\Omega_{1}\Omega_{2}\right\}+\Omega_{1}\mathcal{Z}\left\{\Theta_{z}\Theta_{-z},\Omega_{1}\Omega_{2}\right\}&#10;\\&#10;&amp; = &#10;\mathcal{Z}\left\{\Theta_{z}\Theta_{z},\Omega_{1}\Omega_{2}\right\}&#10;+\Omega_{1}\left(\frac{1+\Omega_{1}\Omega_{2}}{2}\right)\Theta_{z}\Theta_{-z}&#10;\\&#10;\end{align*}&#10;&#10;\end{document}"/>
  <p:tag name="IGUANATEXSIZE" val="20"/>
  <p:tag name="IGUANATEXCURSOR" val="674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93.1758"/>
  <p:tag name="ORIGINALWIDTH" val="1258.343"/>
  <p:tag name="LATEXADDIN" val="\documentclass{article}&#10;\usepackage{amsmath,bm}&#10;\pagestyle{empty}&#10;\begin{document}&#10;&#10;\begin{align*}&#10;\Theta_{\Omega}^{(q)}&#10;&amp; =&#10;\frac{\Theta_{q}+\Omega\Theta_{-q}}{\sqrt{2}}&#10;\\&#10;\mathcal{Z}\left\{f,\Omega\right\}&#10;&amp; =&#10;\frac{f+\Omega f^{*}}{2}&#10;\end{align*}&#10;&#10;\end{document}"/>
  <p:tag name="IGUANATEXSIZE" val="23"/>
  <p:tag name="IGUANATEXCURSOR" val="233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94.9006"/>
  <p:tag name="ORIGINALWIDTH" val="3261.342"/>
  <p:tag name="LATEXADDIN" val="\documentclass{article}&#10;\usepackage{amsmath,bm,eufrak}&#10;\pagestyle{empty}&#10;\begin{document}&#10;&#10;\begin{align*}&#10;\Theta_{\Omega_{1}}^{(y)}\Theta_{\Omega_{2}}^{(x)}&#10;&amp; =&#10;\left(\frac{\Theta_{y}+\Omega_{1}\Theta_{-y}}{\sqrt{2}}\right)&#10;\left(\frac{\Theta_{x}+\Omega_{2}\Theta_{-x}}{\sqrt{2}}\right)&#10;\\&#10;&amp; =&#10;\frac{\Theta_{y}\Theta_{x}+\Omega_{1}\Theta_{-y}\Theta_{x}+\Omega_{2}\Theta_{y}\Theta_{-x}+\Omega_{1}\Omega_{2}\Theta_{-y}\Theta_{-x}}{2}&#10;\\&#10;&amp; = &#10;\mathcal{Z}\left\{\Theta_{y}\Theta_{x}+\Omega_{1}\Theta_{-y}\Theta_{x},\Omega_{1}\Omega_{2}\right\}&#10;\end{align*}&#10;&#10;\end{document}"/>
  <p:tag name="IGUANATEXSIZE" val="20"/>
  <p:tag name="IGUANATEXCURSOR" val="539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45.069"/>
  <p:tag name="ORIGINALWIDTH" val="5723.284"/>
  <p:tag name="LATEXADDIN" val="\documentclass{article}&#10;\usepackage{amsmath,amssymb,bm}&#10;\pagestyle{empty}&#10;\begin{document}&#10;&#10;\begin{align*}&#10;\left(\frac{1+\Omega_{1}\Omega_{2}}{2}\right)\Theta_{z}\Theta_{-z}&#10;&amp; =&#10;\left(\frac{1+\Omega_{1}\Omega_{2}}{2}\right)&#10;\left(&#10;1&#10;+&#10;\sum_{g}&#10;\left|D_{g}^{(\upharpoonleft \! \upharpoonright)}\right|&#10;\mathcal{\text{Re}}\left\{&#10;\mathrm{e}^{\mathrm{i}\phi_{g}^{(\upharpoonleft \! \upharpoonright)}}&#10;\sum_{h(g)}\mathrm{e}^{\mathrm{i}\frac{2\pi}{a_{\text{Si}}}\bm{h}_{gh}^{(\upharpoonleft \! \upharpoonright)}\cdot\bm{r}}&#10;\right\}&#10;\right)&#10;\\&#10;\Omega_{1}\mathcal{Z}\left\{\Theta_{z}\Theta_{z},\Omega_{1}\Omega_{2}\right\}&#10;&amp; =&#10;\Omega_{1}&#10;\sum_{g} &#10;\left|D_{g}^{(\upharpoonleft \! \downharpoonright)}\right|&#10;\mathcal{Z}\left\{&#10;\sum_{p}&#10;\mathrm{e}^{\mathrm{i}p\phi_{g}^{(\upharpoonleft \! \downharpoonright)}}&#10;\sum_{h(g,p)}&#10;\mathrm{e}^{\mathrm{i}\frac{2\pi}{a_{\text{Si}}}\bm{h}_{gph}^{(\upharpoonleft \! \downharpoonright)}\cdot\bm{r}}&#10;,\Omega_{1}\Omega_{2}\right\}&#10;\\&#10;\mathcal{Z}\left\{\Theta_{y}\Theta_{x}+\Omega_{1}\Theta_{-y}\Theta_{x},\Omega_{1}\Omega_{2}\right\}&#10;&amp; =&#10;\sum_{g}\left|D_{g}^{(\perp)}\right|&#10;\mathcal{Z}\left\{&#10;\sum_{p}&#10;\mathrm{e}^{\mathrm{i}p\phi_{g}^{(\perp)}}&#10;\sum_{n}\left(\delta_{n,-1}+\Omega_{1}\delta_{n,+1}\right)&#10;\sum_{h(g,p,n)}&#10;\mathrm{e}^{\mathrm{i}\frac{2\pi}{a_{\text{Si}}}\bm{h}_{gpnh}^{(\perp)}\cdot\bm{r}}&#10;,\Omega_{1}\Omega_{2}\right\}&#10;\end{align*}&#10;&#10;\end{document}"/>
  <p:tag name="IGUANATEXSIZE" val="18"/>
  <p:tag name="IGUANATEXCURSOR" val="1064"/>
  <p:tag name="TRANSPARENCY" val="Fals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45.069"/>
  <p:tag name="ORIGINALWIDTH" val="4489.689"/>
  <p:tag name="LATEXADDIN" val="\documentclass{article}&#10;\usepackage{amsmath,amssymb,bm,mathtools}&#10;\pagestyle{empty}&#10;\begin{document}&#10;&#10;\begin{align*}&#10;\Theta_{(\Omega)_{12}}^{(\upharpoonleft \! \upharpoonright)}&#10;&amp; \coloneqq&#10;\sum_{g}&#10;\left|D_{g}^{(\upharpoonleft \! \upharpoonright)}\right|&#10;\mathcal{\text{Re}}\left\{&#10;\mathrm{e}^{\mathrm{i}\phi_{g}^{(\upharpoonleft \! \upharpoonright)}}&#10;\sum_{h(g)}\mathrm{e}^{\mathrm{i}\frac{2\pi}{a_{\text{Si}}}\bm{h}_{gh}^{(\upharpoonleft \! \upharpoonright)}\cdot\bm{r}}&#10;\right\}&#10;\\&#10;\Theta_{(\Omega)_{12}}^{(\upharpoonleft \! \downharpoonright)}&#10;&amp; \coloneqq&#10;\Omega_{1}&#10;\sum_{g} &#10;\left|D_{g}^{(\upharpoonleft \! \downharpoonright)}\right|&#10;\mathcal{Z}\left\{&#10;\sum_{p}&#10;\mathrm{e}^{\mathrm{i}p\phi_{g}^{(\upharpoonleft \! \downharpoonright)}}&#10;\sum_{h(g,p)}&#10;\mathrm{e}^{\mathrm{i}\frac{2\pi}{a_{\text{Si}}}\bm{h}_{gph}^{(\upharpoonleft \! \downharpoonright)}\cdot\bm{r}}&#10;,\Omega_{1}\Omega_{2}\right\}&#10;\\&#10;\Theta_{(\Omega)_{12}}^{(\perp)}&#10;&amp; \coloneqq&#10;\sum_{g}\left|D_{g}^{(\perp)}\right|&#10;\mathcal{Z}\left\{&#10;\sum_{p}&#10;\mathrm{e}^{\mathrm{i}p\phi_{g}^{(\perp)}}&#10;\sum_{n}\left(\delta_{n,-1}+\Omega_{1}\delta_{n,+1}\right)&#10;\sum_{h(g,p,n)}&#10;\mathrm{e}^{\mathrm{i}\frac{2\pi}{a_{\text{Si}}}\bm{h}_{gpnh}^{(\perp)}\cdot\bm{r}}&#10;,\Omega_{1}\Omega_{2}\right\}&#10;\end{align*}&#10;&#10;\end{document}"/>
  <p:tag name="IGUANATEXSIZE" val="18"/>
  <p:tag name="IGUANATEXCURSOR" val="63"/>
  <p:tag name="TRANSPARENCY" val="Fals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42.9321"/>
  <p:tag name="ORIGINALWIDTH" val="2701.162"/>
  <p:tag name="LATEXADDIN" val="\documentclass{article}&#10;\usepackage{amsmath,bm,amssymb}&#10;\pagestyle{empty}&#10;\begin{document}&#10;&#10;\begin{align*}&#10;\Omega_{1}&#10;\Theta_{\Omega_{1}}^{(y)}&#10;\Theta_{\Omega_{2}}^{(x)}&#10;&amp; =&#10;\Theta_{(\Omega)_{12}}^{(\perp)}&#10;\\&#10;\Omega_{1}&#10;\Theta_{\Omega_{1}}^{(z)}&#10;\Theta_{\Omega_{2}}^{(z)}&#10;&amp; =&#10;\left(\frac{1+\Omega_{1}\Omega_{2}}{2}\right)&#10;\left(&#10;1&#10;+&#10;\Theta_{(\Omega)_{12}}^{(\upharpoonleft \! \upharpoonright)}&#10;\right)&#10;+&#10;\Theta_{(\Omega)_{12}}^{(\upharpoonleft \! \downharpoonright)}&#10;\end{align*}&#10;&#10;\end{document}"/>
  <p:tag name="IGUANATEXSIZE" val="18"/>
  <p:tag name="IGUANATEXCURSOR" val="331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heme/theme1.xml><?xml version="1.0" encoding="utf-8"?>
<a:theme xmlns:a="http://schemas.openxmlformats.org/drawingml/2006/main" name="UB Powerpoint Template">
  <a:themeElements>
    <a:clrScheme name="Custom 2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Custom 1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WIDE" id="{320877F5-9057-5044-9670-55C377C33490}" vid="{043CC7DF-15AC-0F49-A0D1-304573C219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74167</TotalTime>
  <Words>214</Words>
  <Application>Microsoft Office PowerPoint</Application>
  <PresentationFormat>Widescreen</PresentationFormat>
  <Paragraphs>40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Georgia</vt:lpstr>
      <vt:lpstr>Gill Sans MT</vt:lpstr>
      <vt:lpstr>LucidaGrande</vt:lpstr>
      <vt:lpstr>UB Powerpoint Template</vt:lpstr>
      <vt:lpstr>BLOCH Functions</vt:lpstr>
      <vt:lpstr>A1. Fourier series expansion of Bloch function</vt:lpstr>
      <vt:lpstr>A2. Examples of invariant Bloch function transformations</vt:lpstr>
      <vt:lpstr>A3. Symmetries evident in the coefficients of the Bloch expansion</vt:lpstr>
      <vt:lpstr>A4. Example of transformations that change Bloch function valley</vt:lpstr>
      <vt:lpstr>A5. Contracted summation representation of Bloch functions</vt:lpstr>
      <vt:lpstr>BLOCH PRODUCTS</vt:lpstr>
      <vt:lpstr>B1. Explicit formulae for parallel and antiparallel Bloch products</vt:lpstr>
      <vt:lpstr>B2. Explicit formulae for perpendicular Bloch products</vt:lpstr>
      <vt:lpstr>B3. Symmetries evident in the antiparallel Bloch products</vt:lpstr>
      <vt:lpstr>B4. Symmetries evident in the parallel Bloch products</vt:lpstr>
      <vt:lpstr>B5. Symmetries evident in the perpendicular Bloch products -- I</vt:lpstr>
      <vt:lpstr>B6. Symmetries evident in the perpendicular Bloch products -- II</vt:lpstr>
      <vt:lpstr>B7. Contracted summation of “parallel” Bloch products</vt:lpstr>
      <vt:lpstr>B8. Contracted summation of “antiparallel” Bloch products</vt:lpstr>
      <vt:lpstr>B9a. Contracted summation of “perpendicular” Bloch products</vt:lpstr>
      <vt:lpstr>B9b. Contracted summation of “perpendicular” Bloch products</vt:lpstr>
      <vt:lpstr>B10. Restatement of Bloch products</vt:lpstr>
      <vt:lpstr>B10a. Elaboration of Bloch products</vt:lpstr>
      <vt:lpstr>B11. Final form of Bloch product formulae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Powerpoint Template</dc:title>
  <dc:subject/>
  <dc:creator>Microsoft Office User</dc:creator>
  <cp:keywords/>
  <dc:description/>
  <cp:lastModifiedBy>Luke Pendo</cp:lastModifiedBy>
  <cp:revision>3311</cp:revision>
  <cp:lastPrinted>2016-07-18T17:32:49Z</cp:lastPrinted>
  <dcterms:created xsi:type="dcterms:W3CDTF">2016-06-28T14:05:07Z</dcterms:created>
  <dcterms:modified xsi:type="dcterms:W3CDTF">2023-03-16T00:12:30Z</dcterms:modified>
  <cp:category/>
</cp:coreProperties>
</file>