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8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9.xml" ContentType="application/vnd.openxmlformats-officedocument.presentationml.notesSlide+xml"/>
  <Override PartName="/ppt/tags/tag37.xml" ContentType="application/vnd.openxmlformats-officedocument.presentationml.tags+xml"/>
  <Override PartName="/ppt/notesSlides/notesSlide10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1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2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4.xml" ContentType="application/vnd.openxmlformats-officedocument.presentationml.notesSlide+xml"/>
  <Override PartName="/ppt/tags/tag50.xml" ContentType="application/vnd.openxmlformats-officedocument.presentationml.tags+xml"/>
  <Override PartName="/ppt/notesSlides/notesSlide15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6.xml" ContentType="application/vnd.openxmlformats-officedocument.presentationml.notesSlide+xml"/>
  <Override PartName="/ppt/tags/tag53.xml" ContentType="application/vnd.openxmlformats-officedocument.presentationml.tags+xml"/>
  <Override PartName="/ppt/notesSlides/notesSlide17.xml" ContentType="application/vnd.openxmlformats-officedocument.presentationml.notesSlide+xml"/>
  <Override PartName="/ppt/tags/tag54.xml" ContentType="application/vnd.openxmlformats-officedocument.presentationml.tags+xml"/>
  <Override PartName="/ppt/notesSlides/notesSlide18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20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1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2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3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24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5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26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34"/>
  </p:notesMasterIdLst>
  <p:handoutMasterIdLst>
    <p:handoutMasterId r:id="rId35"/>
  </p:handoutMasterIdLst>
  <p:sldIdLst>
    <p:sldId id="815" r:id="rId2"/>
    <p:sldId id="817" r:id="rId3"/>
    <p:sldId id="816" r:id="rId4"/>
    <p:sldId id="819" r:id="rId5"/>
    <p:sldId id="1126" r:id="rId6"/>
    <p:sldId id="1127" r:id="rId7"/>
    <p:sldId id="1132" r:id="rId8"/>
    <p:sldId id="1133" r:id="rId9"/>
    <p:sldId id="1131" r:id="rId10"/>
    <p:sldId id="1137" r:id="rId11"/>
    <p:sldId id="1138" r:id="rId12"/>
    <p:sldId id="1125" r:id="rId13"/>
    <p:sldId id="1134" r:id="rId14"/>
    <p:sldId id="1135" r:id="rId15"/>
    <p:sldId id="1136" r:id="rId16"/>
    <p:sldId id="1129" r:id="rId17"/>
    <p:sldId id="1124" r:id="rId18"/>
    <p:sldId id="1128" r:id="rId19"/>
    <p:sldId id="812" r:id="rId20"/>
    <p:sldId id="821" r:id="rId21"/>
    <p:sldId id="820" r:id="rId22"/>
    <p:sldId id="778" r:id="rId23"/>
    <p:sldId id="918" r:id="rId24"/>
    <p:sldId id="919" r:id="rId25"/>
    <p:sldId id="920" r:id="rId26"/>
    <p:sldId id="1120" r:id="rId27"/>
    <p:sldId id="1121" r:id="rId28"/>
    <p:sldId id="1122" r:id="rId29"/>
    <p:sldId id="914" r:id="rId30"/>
    <p:sldId id="915" r:id="rId31"/>
    <p:sldId id="1123" r:id="rId32"/>
    <p:sldId id="917" r:id="rId33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3" autoAdjust="0"/>
    <p:restoredTop sz="94812" autoAdjust="0"/>
  </p:normalViewPr>
  <p:slideViewPr>
    <p:cSldViewPr snapToGrid="0" snapToObjects="1">
      <p:cViewPr varScale="1">
        <p:scale>
          <a:sx n="159" d="100"/>
          <a:sy n="159" d="100"/>
        </p:scale>
        <p:origin x="864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4/4/2023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4/4/2023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73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36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41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269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089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648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733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121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727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02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893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895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99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4724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310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4139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995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20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99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730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36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8015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100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2377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730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4210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11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24952"/>
            <a:ext cx="4667303" cy="853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6930" y="122010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Gill Sans MT" panose="020B0502020104020203" pitchFamily="34" charset="0"/>
          <a:ea typeface="Gill Sans MT" panose="020B0502020104020203" pitchFamily="34" charset="0"/>
          <a:cs typeface="Gill Sans MT" panose="020B05020201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image" Target="../media/image15.png"/><Relationship Id="rId3" Type="http://schemas.openxmlformats.org/officeDocument/2006/relationships/tags" Target="../tags/tag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13.png"/><Relationship Id="rId5" Type="http://schemas.openxmlformats.org/officeDocument/2006/relationships/tags" Target="../tags/tag8.xml"/><Relationship Id="rId10" Type="http://schemas.openxmlformats.org/officeDocument/2006/relationships/image" Target="../media/image12.png"/><Relationship Id="rId4" Type="http://schemas.openxmlformats.org/officeDocument/2006/relationships/tags" Target="../tags/tag7.xml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19.png"/><Relationship Id="rId3" Type="http://schemas.openxmlformats.org/officeDocument/2006/relationships/tags" Target="../tags/tag1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13.png"/><Relationship Id="rId5" Type="http://schemas.openxmlformats.org/officeDocument/2006/relationships/tags" Target="../tags/tag14.xml"/><Relationship Id="rId10" Type="http://schemas.openxmlformats.org/officeDocument/2006/relationships/image" Target="../media/image18.png"/><Relationship Id="rId4" Type="http://schemas.openxmlformats.org/officeDocument/2006/relationships/tags" Target="../tags/tag13.xml"/><Relationship Id="rId9" Type="http://schemas.openxmlformats.org/officeDocument/2006/relationships/image" Target="../media/image17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20.xml"/><Relationship Id="rId7" Type="http://schemas.openxmlformats.org/officeDocument/2006/relationships/notesSlide" Target="../notesSlides/notesSlide5.xml"/><Relationship Id="rId12" Type="http://schemas.openxmlformats.org/officeDocument/2006/relationships/image" Target="../media/image2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6.png"/><Relationship Id="rId5" Type="http://schemas.openxmlformats.org/officeDocument/2006/relationships/tags" Target="../tags/tag22.xml"/><Relationship Id="rId10" Type="http://schemas.openxmlformats.org/officeDocument/2006/relationships/image" Target="../media/image25.png"/><Relationship Id="rId4" Type="http://schemas.openxmlformats.org/officeDocument/2006/relationships/tags" Target="../tags/tag21.xml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23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30.png"/><Relationship Id="rId2" Type="http://schemas.openxmlformats.org/officeDocument/2006/relationships/tags" Target="../tags/tag24.xml"/><Relationship Id="rId16" Type="http://schemas.openxmlformats.org/officeDocument/2006/relationships/image" Target="../media/image33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29.png"/><Relationship Id="rId5" Type="http://schemas.openxmlformats.org/officeDocument/2006/relationships/tags" Target="../tags/tag27.xml"/><Relationship Id="rId15" Type="http://schemas.openxmlformats.org/officeDocument/2006/relationships/image" Target="../media/image32.png"/><Relationship Id="rId10" Type="http://schemas.openxmlformats.org/officeDocument/2006/relationships/image" Target="../media/image28.png"/><Relationship Id="rId4" Type="http://schemas.openxmlformats.org/officeDocument/2006/relationships/tags" Target="../tags/tag26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0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35.xml"/><Relationship Id="rId7" Type="http://schemas.openxmlformats.org/officeDocument/2006/relationships/image" Target="../media/image37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0.png"/><Relationship Id="rId4" Type="http://schemas.openxmlformats.org/officeDocument/2006/relationships/tags" Target="../tags/tag36.xml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7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42.xml"/><Relationship Id="rId7" Type="http://schemas.openxmlformats.org/officeDocument/2006/relationships/image" Target="../media/image45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47.xml"/><Relationship Id="rId7" Type="http://schemas.openxmlformats.org/officeDocument/2006/relationships/notesSlide" Target="../notesSlides/notesSlide14.xml"/><Relationship Id="rId12" Type="http://schemas.openxmlformats.org/officeDocument/2006/relationships/image" Target="../media/image52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51.png"/><Relationship Id="rId5" Type="http://schemas.openxmlformats.org/officeDocument/2006/relationships/tags" Target="../tags/tag49.xml"/><Relationship Id="rId10" Type="http://schemas.openxmlformats.org/officeDocument/2006/relationships/image" Target="../media/image50.png"/><Relationship Id="rId4" Type="http://schemas.openxmlformats.org/officeDocument/2006/relationships/tags" Target="../tags/tag48.xml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0.xml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22.png"/><Relationship Id="rId5" Type="http://schemas.openxmlformats.org/officeDocument/2006/relationships/image" Target="../media/image54.png"/><Relationship Id="rId4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3.xml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4.xml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22.png"/><Relationship Id="rId5" Type="http://schemas.openxmlformats.org/officeDocument/2006/relationships/image" Target="../media/image57.png"/><Relationship Id="rId4" Type="http://schemas.openxmlformats.org/officeDocument/2006/relationships/notesSlide" Target="../notesSlides/notesSlide1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59.xml"/><Relationship Id="rId7" Type="http://schemas.openxmlformats.org/officeDocument/2006/relationships/notesSlide" Target="../notesSlides/notesSlide20.xml"/><Relationship Id="rId12" Type="http://schemas.openxmlformats.org/officeDocument/2006/relationships/image" Target="../media/image27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6.png"/><Relationship Id="rId5" Type="http://schemas.openxmlformats.org/officeDocument/2006/relationships/tags" Target="../tags/tag61.xml"/><Relationship Id="rId10" Type="http://schemas.openxmlformats.org/officeDocument/2006/relationships/image" Target="../media/image25.png"/><Relationship Id="rId4" Type="http://schemas.openxmlformats.org/officeDocument/2006/relationships/tags" Target="../tags/tag60.xml"/><Relationship Id="rId9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23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image" Target="../media/image30.png"/><Relationship Id="rId2" Type="http://schemas.openxmlformats.org/officeDocument/2006/relationships/tags" Target="../tags/tag63.xml"/><Relationship Id="rId16" Type="http://schemas.openxmlformats.org/officeDocument/2006/relationships/image" Target="../media/image33.png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29.png"/><Relationship Id="rId5" Type="http://schemas.openxmlformats.org/officeDocument/2006/relationships/tags" Target="../tags/tag66.xml"/><Relationship Id="rId15" Type="http://schemas.openxmlformats.org/officeDocument/2006/relationships/image" Target="../media/image32.png"/><Relationship Id="rId10" Type="http://schemas.openxmlformats.org/officeDocument/2006/relationships/image" Target="../media/image28.png"/><Relationship Id="rId4" Type="http://schemas.openxmlformats.org/officeDocument/2006/relationships/tags" Target="../tags/tag65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71.xml"/><Relationship Id="rId7" Type="http://schemas.openxmlformats.org/officeDocument/2006/relationships/image" Target="../media/image23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0.png"/><Relationship Id="rId4" Type="http://schemas.openxmlformats.org/officeDocument/2006/relationships/tags" Target="../tags/tag72.xml"/><Relationship Id="rId9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64.png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63.png"/><Relationship Id="rId2" Type="http://schemas.openxmlformats.org/officeDocument/2006/relationships/tags" Target="../tags/tag74.xml"/><Relationship Id="rId16" Type="http://schemas.openxmlformats.org/officeDocument/2006/relationships/image" Target="../media/image23.png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62.png"/><Relationship Id="rId5" Type="http://schemas.openxmlformats.org/officeDocument/2006/relationships/tags" Target="../tags/tag77.xml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tags" Target="../tags/tag76.xml"/><Relationship Id="rId9" Type="http://schemas.openxmlformats.org/officeDocument/2006/relationships/notesSlide" Target="../notesSlides/notesSlide23.xml"/><Relationship Id="rId1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0.png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image" Target="../media/image69.png"/><Relationship Id="rId2" Type="http://schemas.openxmlformats.org/officeDocument/2006/relationships/tags" Target="../tags/tag81.xml"/><Relationship Id="rId16" Type="http://schemas.openxmlformats.org/officeDocument/2006/relationships/image" Target="../media/image23.pn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image" Target="../media/image68.png"/><Relationship Id="rId5" Type="http://schemas.openxmlformats.org/officeDocument/2006/relationships/tags" Target="../tags/tag84.xml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tags" Target="../tags/tag83.xml"/><Relationship Id="rId9" Type="http://schemas.openxmlformats.org/officeDocument/2006/relationships/notesSlide" Target="../notesSlides/notesSlide24.xml"/><Relationship Id="rId1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notesSlide" Target="../notesSlides/notesSlide2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91.xml"/><Relationship Id="rId7" Type="http://schemas.openxmlformats.org/officeDocument/2006/relationships/image" Target="../media/image45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9514332" cy="853311"/>
          </a:xfrm>
        </p:spPr>
        <p:txBody>
          <a:bodyPr/>
          <a:lstStyle/>
          <a:p>
            <a:r>
              <a:rPr lang="en-US"/>
              <a:t>Our REPRESENTATION OF TD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set of specific irreducible matrix representations of elements in Td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39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and E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1E10DCD6-F13A-49AA-9B87-2E6774C9EDF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2600" y="1915574"/>
            <a:ext cx="10611200" cy="15268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C20FCA9-830F-4F93-AF13-CE8E68A17A8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70600" y="2551222"/>
            <a:ext cx="5644800" cy="380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BA1AEB-2DAF-4FC3-960D-5D773E1F125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384294" y="3439575"/>
            <a:ext cx="2607542" cy="248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1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-25000" dirty="0"/>
              <a:t>1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43FD299-394D-47E0-A82D-1E17D1038C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89878" y="2335970"/>
            <a:ext cx="1518628" cy="21860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0BD0C0-5E15-4506-BE22-EB240E4372F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115397" y="2335969"/>
            <a:ext cx="1635657" cy="2186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99E0FE-1831-45E1-A03B-AB7938B71A6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298384" y="2335969"/>
            <a:ext cx="1518628" cy="2186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F27B64-8100-4433-B5CC-8FFEAF73EF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206890" y="2335969"/>
            <a:ext cx="1518629" cy="21860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43D9F89-2F0C-4488-A36F-2E23C93AD53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166467" y="2335970"/>
            <a:ext cx="1399772" cy="21860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790BB8-0C4A-425B-970F-74469C77968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140932" y="2335969"/>
            <a:ext cx="1635657" cy="218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9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3B2B50A-AEED-4670-8D22-148F7623D4A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40032" y="2335971"/>
            <a:ext cx="1518628" cy="21860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800843-CFAA-4581-BAA2-89BCE4494BA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316013" y="2335971"/>
            <a:ext cx="1518629" cy="21860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33B3E6-5989-4075-A7E4-29F7BAEDCA5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398692" y="2335971"/>
            <a:ext cx="1518628" cy="21860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3F4211-1033-47E0-B6F3-BF0D4D84046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357352" y="2335971"/>
            <a:ext cx="1518629" cy="21860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C31F30-C89A-4D4A-8F57-DCC97D6E759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233335" y="2335971"/>
            <a:ext cx="1518630" cy="21860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C68C29-3AA6-442A-A612-190B7350C07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274674" y="2335971"/>
            <a:ext cx="1518629" cy="218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1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GROUP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Resolving a function in terms of the irreducible representations of Td</a:t>
            </a:r>
          </a:p>
        </p:txBody>
      </p:sp>
    </p:spTree>
    <p:extLst>
      <p:ext uri="{BB962C8B-B14F-4D97-AF65-F5344CB8AC3E}">
        <p14:creationId xmlns:p14="http://schemas.microsoft.com/office/powerpoint/2010/main" val="304842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projected onto symmetries of Td</a:t>
            </a:r>
          </a:p>
        </p:txBody>
      </p:sp>
      <p:pic>
        <p:nvPicPr>
          <p:cNvPr id="8" name="Picture 7" descr="\documentclass{article}&#10;\usepackage{amsmath,bm,eufrak}&#10;\pagestyle{empty}&#10;\begin{document}&#10;&#10;\begin{align*}&#10;f&#10;&amp;=&#10;\sum_{j \in \Gamma\left(T_{d}\right)}&#10;\sum_{\kappa = 1}^{l_{j}}&#10;f^{(j)}_{\kappa\kappa}&#10;\\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6261D084-CF5B-4376-AA11-24BE91F05F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38858" y="2351170"/>
            <a:ext cx="2473142" cy="1619816"/>
          </a:xfrm>
          <a:prstGeom prst="rect">
            <a:avLst/>
          </a:prstGeom>
        </p:spPr>
      </p:pic>
      <p:pic>
        <p:nvPicPr>
          <p:cNvPr id="7" name="Picture 6" descr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 title="IguanaTex Bitmap Display">
            <a:extLst>
              <a:ext uri="{FF2B5EF4-FFF2-40B4-BE49-F238E27FC236}">
                <a16:creationId xmlns:a16="http://schemas.microsoft.com/office/drawing/2014/main" id="{690E2082-1216-4477-A2F8-6E12E26887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09525" y="5806048"/>
            <a:ext cx="8572951" cy="3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95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Symmetrized potential –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and E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4EDFAA6-40A6-4BA2-B398-55460EA2EE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  <p:pic>
        <p:nvPicPr>
          <p:cNvPr id="35" name="Picture 34" descr="\documentclass{article}&#10;\usepackage{amsmath,bm,eufrak}&#10;\pagestyle{empty}&#10;&#10;&#10;\begin{document}&#10;&#10;\begin{equation*}&#10;\mathfrak{p}^{\left(A_{1}\right)}&#10;=&#10;\frac{1}{24}&#10;\begin{pmatrix}&#10;1 \\&#10;1 \\&#10;1 \\&#10;1 \\&#10;1 \\&#10;1 \\&#10;1 \\&#10;1 \\&#10;1 \\&#10;1 \\&#10;1 \\&#10;1 \\&#10;1 \\&#10;1 \\&#10;1 \\&#10;1 \\&#10;1 \\&#10;1 \\&#10;1 \\&#10;1 \\&#10;1 \\&#10;1 \\&#10;1 \\&#10;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11B77329-8D4C-4D1B-A7FB-84F19001CA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574217" y="2154171"/>
            <a:ext cx="1040457" cy="4371200"/>
          </a:xfrm>
          <a:prstGeom prst="rect">
            <a:avLst/>
          </a:prstGeom>
        </p:spPr>
      </p:pic>
      <p:pic>
        <p:nvPicPr>
          <p:cNvPr id="37" name="Picture 36" descr="\documentclass{article}&#10;\usepackage{amsmath,bm,eufrak}&#10;\pagestyle{empty}&#10;&#10;&#10;\begin{document}&#10;&#10;\begin{equation*}&#10;\mathfrak{p}^{\left(A_{2}\right)}&#10;=&#10;\frac{1}{24}&#10;\begin{pmatrix}&#10;+1 \\&#10;+1 \\&#10;+1 \\&#10;+1 \\&#10;+1 \\&#10;+1 \\&#10;+1 \\&#10;+1 \\&#10;+1 \\&#10;+1 \\&#10;+1 \\&#10;+1 \\&#10;-1 \\&#10;-1 \\&#10;-1 \\&#10;-1 \\&#10;-1 \\&#10;-1 \\&#10;-1 \\&#10;-1 \\&#10;-1 \\&#10;-1 \\&#10;-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C581E38-5F96-4FD0-9669-F084518AA6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188891" y="2154171"/>
            <a:ext cx="1159314" cy="4371200"/>
          </a:xfrm>
          <a:prstGeom prst="rect">
            <a:avLst/>
          </a:prstGeom>
        </p:spPr>
      </p:pic>
      <p:pic>
        <p:nvPicPr>
          <p:cNvPr id="39" name="Picture 38" descr="\documentclass{article}&#10;\usepackage{amsmath,bm,eufrak}&#10;\pagestyle{empty}&#10;&#10;&#10;\begin{document}&#10;&#10;\begin{equation*}&#10;\mathfrak{p}^{\left(E\right)}_{11}&#10;=&#10;\frac{1}{12}&#10;\begin{pmatrix}&#10;1        \\&#10;1        \\&#10;1        \\&#10;1        \\&#10;\tau     \\&#10;\tau     \\&#10;\tau     \\&#10;\tau     \\&#10;\tau^{2} \\&#10;\tau^{2} \\&#10;\tau^{2} \\&#10;\tau^{2} \\&#10;0        \\&#10;0        \\&#10;0        \\&#10;0        \\&#10;0        \\&#10;0        \\&#10;0        \\&#10;0        \\&#10;0        \\&#10;0        \\&#10;0        \\&#10;0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7C07BF5D-FDF5-46CA-AA16-CD7BDAA99F9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922422" y="2154171"/>
            <a:ext cx="1060571" cy="4371200"/>
          </a:xfrm>
          <a:prstGeom prst="rect">
            <a:avLst/>
          </a:prstGeom>
        </p:spPr>
      </p:pic>
      <p:pic>
        <p:nvPicPr>
          <p:cNvPr id="41" name="Picture 40" descr="\documentclass{article}&#10;\usepackage{amsmath,bm,eufrak}&#10;\pagestyle{empty}&#10;&#10;&#10;\begin{document}&#10;&#10;\begin{equation*}&#10;\mathfrak{p}^{\left(E\right)}_{22}&#10;=&#10;\frac{1}{12}&#10;\begin{pmatrix}&#10;1        \\&#10;1        \\&#10;1        \\&#10;1        \\&#10;\tau^{2} \\&#10;\tau^{2} \\&#10;\tau^{2} \\&#10;\tau^{2} \\&#10;\tau     \\&#10;\tau     \\&#10;\tau     \\&#10;\tau     \\&#10;0        \\&#10;0        \\&#10;0        \\&#10;0        \\&#10;0        \\&#10;0        \\&#10;0        \\&#10;0        \\&#10;0        \\&#10;0        \\&#10;0        \\&#10;0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01E8376-8E4B-433C-B639-67EF8D900B5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557210" y="2154171"/>
            <a:ext cx="1060571" cy="43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94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Symmetrized potential – T</a:t>
            </a:r>
            <a:r>
              <a:rPr lang="en-US" baseline="-25000" dirty="0"/>
              <a:t>1</a:t>
            </a:r>
            <a:r>
              <a:rPr lang="en-US" dirty="0"/>
              <a:t> and T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45" name="Picture 44" descr="\documentclass{article}&#10;\usepackage{amsmath,bm,eufrak}&#10;\pagestyle{empty}&#10;&#10;&#10;\begin{document}&#10;&#10;\begin{equation*}&#10;\mathfrak{p}^{\left(T_{1}\right)}_{x}&#10;=&#10;\frac{1}{8}&#10;\begin{pmatrix}&#10;+1 \\&#10;+1 \\&#10;-1 \\&#10;-1 \\&#10;0  \\&#10;0  \\&#10;0  \\&#10;0  \\&#10;0  \\&#10;0  \\&#10;0  \\&#10;0  \\&#10;-1 \\&#10;-1 \\&#10;0  \\&#10;0  \\&#10;0  \\&#10;0  \\&#10;+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EFE4D76-4FDC-4944-AFEA-FF56BA698C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9518" y="2115693"/>
            <a:ext cx="1064229" cy="4371200"/>
          </a:xfrm>
          <a:prstGeom prst="rect">
            <a:avLst/>
          </a:prstGeom>
        </p:spPr>
      </p:pic>
      <p:pic>
        <p:nvPicPr>
          <p:cNvPr id="43" name="Picture 42" descr="\documentclass{article}&#10;\usepackage{amsmath,bm,eufrak}&#10;\pagestyle{empty}&#10;&#10;&#10;\begin{document}&#10;&#10;\begin{equation*}&#10;\mathfrak{p}^{\left(T_{1}\right)}_{y}&#10;=&#10;\frac{1}{8}&#10;\begin{pmatrix}&#10;+1 \\&#10;-1 \\&#10;+1 \\&#10;-1 \\&#10;0  \\&#10;0  \\&#10;0  \\&#10;0  \\&#10;0  \\&#10;0  \\&#10;0  \\&#10;0  \\&#10;0  \\&#10;0  \\&#10;-1 \\&#10;-1 \\&#10;0  \\&#10;0  \\&#10;0  \\&#10;0  \\&#10;+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BEBFAF4-B9E9-4451-A3FE-69EDFEA8A6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723265" y="2115693"/>
            <a:ext cx="1064229" cy="4371200"/>
          </a:xfrm>
          <a:prstGeom prst="rect">
            <a:avLst/>
          </a:prstGeom>
        </p:spPr>
      </p:pic>
      <p:pic>
        <p:nvPicPr>
          <p:cNvPr id="41" name="Picture 40" descr="\documentclass{article}&#10;\usepackage{amsmath,bm,eufrak}&#10;\pagestyle{empty}&#10;&#10;&#10;\begin{document}&#10;&#10;\begin{equation*}&#10;\mathfrak{p}^{\left(T_{1}\right)}_{z}&#10;=&#10;\frac{1}{8}&#10;\begin{pmatrix}&#10;+1 \\&#10;-1 \\&#10;-1 \\&#10;+1 \\&#10;0  \\&#10;0  \\&#10;0  \\&#10;0  \\&#10;0  \\&#10;0  \\&#10;0  \\&#10;0  \\&#10;0  \\&#10;0  \\&#10;0  \\&#10;0  \\&#10;-1 \\&#10;-1 \\&#10;0  \\&#10;0  \\&#10;0  \\&#10;0  \\&#10;+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7AF9775C-961B-4327-B26E-CEBB3225E83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617012" y="2115693"/>
            <a:ext cx="1064229" cy="4371200"/>
          </a:xfrm>
          <a:prstGeom prst="rect">
            <a:avLst/>
          </a:prstGeom>
        </p:spPr>
      </p:pic>
      <p:pic>
        <p:nvPicPr>
          <p:cNvPr id="13" name="Picture 12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4DC16428-4E5F-47F0-A239-56AE851EF9D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&#10;&#10;\begin{document}&#10;&#10;\begin{equation*}&#10;\mathfrak{p}^{\left(T_{2}\right)}_{x}&#10;=&#10;\frac{1}{8}&#10;\begin{pmatrix}&#10;+1 \\&#10;+1 \\&#10;-1 \\&#10;-1 \\&#10;0  \\&#10;0  \\&#10;0  \\&#10;0  \\&#10;0  \\&#10;0  \\&#10;0  \\&#10;0  \\&#10;+1 \\&#10;+1 \\&#10;0  \\&#10;0  \\&#10;0  \\&#10;0  \\&#10;-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C81C01F7-B0C8-49C7-A61A-A65CC4EDB08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10759" y="2115693"/>
            <a:ext cx="1064229" cy="4371200"/>
          </a:xfrm>
          <a:prstGeom prst="rect">
            <a:avLst/>
          </a:prstGeom>
        </p:spPr>
      </p:pic>
      <p:pic>
        <p:nvPicPr>
          <p:cNvPr id="6" name="Picture 5" descr="\documentclass{article}&#10;\usepackage{amsmath,bm,eufrak}&#10;\pagestyle{empty}&#10;&#10;&#10;\begin{document}&#10;&#10;\begin{equation*}&#10;\mathfrak{p}^{\left(T_{2}\right)}_{y}&#10;=&#10;\frac{1}{8}&#10;\begin{pmatrix}&#10;+1 \\&#10;-1 \\&#10;+1 \\&#10;-1 \\&#10;0  \\&#10;0  \\&#10;0  \\&#10;0  \\&#10;0  \\&#10;0  \\&#10;0  \\&#10;0  \\&#10;0  \\&#10;0  \\&#10;+1 \\&#10;+1 \\&#10;0  \\&#10;0  \\&#10;0  \\&#10;0  \\&#10;-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5781B77E-0ED3-4137-935C-1F7CAE817A1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404506" y="2115693"/>
            <a:ext cx="1064229" cy="4371200"/>
          </a:xfrm>
          <a:prstGeom prst="rect">
            <a:avLst/>
          </a:prstGeom>
        </p:spPr>
      </p:pic>
      <p:pic>
        <p:nvPicPr>
          <p:cNvPr id="8" name="Picture 7" descr="\documentclass{article}&#10;\usepackage{amsmath,bm,eufrak}&#10;\pagestyle{empty}&#10;&#10;&#10;\begin{document}&#10;&#10;\begin{equation*}&#10;\mathfrak{p}^{\left(T_{2}\right)}_{z}&#10;=&#10;\frac{1}{8}&#10;\begin{pmatrix}&#10;+1 \\&#10;-1 \\&#10;-1 \\&#10;+1 \\&#10;0  \\&#10;0  \\&#10;0  \\&#10;0  \\&#10;0  \\&#10;0  \\&#10;0  \\&#10;0  \\&#10;0  \\&#10;0  \\&#10;0  \\&#10;0  \\&#10;+1 \\&#10;+1 \\&#10;0  \\&#10;0  \\&#10;0  \\&#10;0  \\&#10;-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DC559CA7-C106-42D4-993B-C739E9B6749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298253" y="2115693"/>
            <a:ext cx="1064229" cy="43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10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Effect of coordinate transformations on T</a:t>
            </a:r>
            <a:r>
              <a:rPr lang="en-US" baseline="-25000" dirty="0"/>
              <a:t>d</a:t>
            </a:r>
            <a:r>
              <a:rPr lang="en-US" dirty="0"/>
              <a:t> states</a:t>
            </a:r>
          </a:p>
        </p:txBody>
      </p:sp>
      <p:pic>
        <p:nvPicPr>
          <p:cNvPr id="40" name="Picture 39" descr="\documentclass{article}&#10;\usepackage{amsmath,bm,physics,array,multirow}&#10;\pagestyle{empty}&#10;&#10;\newcolumntype{C}{&gt;{$}c&lt;{$}}&#10;&#10;\begin{document}&#10;&#10;\begin{equation*}&#10;\begin{tabular}{!{\vrule width 2pt}CC!{\vrule width 3pt}C|C|C|C|C|C!{\vrule width 2pt}}&#10;\noalign{\hrule height 2pt}&#10;\multicolumn{2}{!{\vrule width 2pt}C!{\vrule width 3pt}}{}&#10;                                                      &amp; A_{\sigma}        &amp; E_{1}          &amp; E_{2}          &amp; T_{\sigma x}           &amp; T_{\sigma y}           &amp; T_{\sigma z}           \\ \noalign{\hrule height 3pt}&#10;&#10;E                                 &amp; (xyz)             &amp; A_{\sigma}        &amp; E_{1}          &amp; E_{2}          &amp; T_{\sigma x}           &amp; T_{\sigma y}           &amp; T_{\sigma z}           \\ \noalign{\hrule height 1.2pt}&#10;\multirow{3}{*}{$C_{2}$}          &amp; (x\bar{y}\bar{z}) &amp; A_{\sigma}        &amp; E_{1}          &amp; E_{2}          &amp; T_{\sigma x}           &amp; -T_{\sigma y}          &amp; -T_{\sigma z}          \\ \cline{2-8}&#10;                                  &amp; (\bar{x}y\bar{z}) &amp; A_{\sigma}        &amp; E_{1}          &amp; E_{2}          &amp; -T_{\sigma x}          &amp; T_{\sigma y}           &amp; -T_{\sigma z}          \\ \cline{2-8}&#10;                                  &amp; (\bar{x}\bar{y}z) &amp; A_{\sigma}        &amp; E_{1}          &amp; E_{2}          &amp; -T_{\sigma x}          &amp; -T_{\sigma y}          &amp; T_{\sigma z}           \\ \noalign{\hrule height 1.2pt}&#10;&#10;\multirow{4}{*}{$C_{4}$}          &amp; (yzx)             &amp; A_{\sigma}        &amp; \tau^{2}E_{1}  &amp; \tau E_{2}     &amp; T_{\sigma x,2}         &amp; T_{\sigma y,3}         &amp; T_{\sigma z,1}         \\ \cline{2-8}&#10;                                  &amp; (y\bar{z}\bar{x}) &amp; A_{\sigma}        &amp; \tau^{2}E_{1}  &amp; \tau E_{2}     &amp; T_{\sigma x,2}         &amp; -T_{\sigma y,3}        &amp; -T_{\sigma z,1}        \\ \cline{2-8}&#10;                                  &amp; (\bar{y}z\bar{x}) &amp; A_{\sigma}        &amp; \tau^{2}E_{1}  &amp; \tau E_{2}     &amp; -T_{\sigma x,2}        &amp; T_{\sigma y,3}         &amp; -T_{\sigma z,1}        \\ \cline{2-8}&#10;                                  &amp; (\bar{y}\bar{z}x) &amp; A_{\sigma}        &amp; \tau^{2}E_{1}  &amp; \tau E_{2}     &amp; -T_{\sigma x,2}        &amp; -T_{\sigma y,3}        &amp; T_{\sigma z,1}         \\ \noalign{\hrule height 1.2pt}&#10;&#10;\multirow{4}{*}{$C_{4}^{\prime}$} &amp; (zxy)             &amp; A_{\sigma}        &amp; \tau E_{1}     &amp; \tau^{2}E_{2}  &amp; T_{\sigma x,3}         &amp; T_{\sigma y,1}         &amp; T_{\sigma z,2}         \\ \cline{2-8}&#10;                                  &amp; (\bar{z}x\bar{y}) &amp; A_{\sigma}        &amp; \tau E_{1}     &amp; \tau^{2}E_{2}  &amp; -T_{\sigma x,3}        &amp; T_{\sigma y,1}         &amp; -T_{\sigma z,2}        \\ \cline{2-8}&#10;                                  &amp; (\bar{z}\bar{x}y) &amp; A_{\sigma}        &amp; \tau E_{1}     &amp; \tau^{2}E_{2}  &amp; -T_{\sigma x,3}        &amp; -T_{\sigma y,1}        &amp; T_{\sigma z,2}         \\ \cline{2-8}&#10;                                  &amp; (z\bar{x}\bar{y}) &amp; A_{\sigma}        &amp; \tau E_{1}     &amp; \tau^{2}E_{2}  &amp; T_{\sigma x,3}         &amp; -T_{\sigma y,1}        &amp; -T_{\sigma z,2}        \\ \noalign{\hrule height 1.2pt}&#10;&#10;\multirow{6}{*}{$\sigma_{d}$}     &amp; (xzy)             &amp; \sigma A_{\sigma} &amp; \tau^{2}E_{21} &amp; \tau E_{12}    &amp; \sigma T_{\sigma x}    &amp; \sigma T_{\sigma y,3}  &amp; \sigma T_{\sigma z,2}  \\ \cline{2-8}&#10;                                  &amp; (x\bar{z}\bar{y}) &amp; \sigma A_{\sigma} &amp; \tau^{2}E_{21} &amp; \tau E_{12}    &amp; \sigma T_{\sigma x}    &amp; -\sigma T_{\sigma y,3} &amp; -\sigma T_{\sigma z,2} \\ \cline{2-8}&#10;                                  &amp; (zyx)             &amp; \sigma A_{\sigma} &amp; \tau E_{21}    &amp; \tau^{2}E_{12} &amp; \sigma T_{\sigma x,3}  &amp; \sigma T_{\sigma y}    &amp; \sigma T_{\sigma z,1}  \\ \cline{2-8}&#10;                                  &amp; (\bar{z}y\bar{x}) &amp; \sigma A_{\sigma} &amp; \tau E_{21}    &amp; \tau^{2}E_{12} &amp; -\sigma T_{\sigma x,3} &amp; \sigma T_{\sigma y}    &amp; -\sigma T_{\sigma z,1} \\ \cline{2-8}&#10;                                  &amp; (yxz)             &amp; \sigma A_{\sigma} &amp; E_{21}         &amp; E_{12}         &amp; \sigma T_{\sigma x,2}  &amp; \sigma T_{\sigma y,1}  &amp; \sigma T_{\sigma z}    \\ \cline{2-8}&#10;                                  &amp; (\bar{y}\bar{x}z) &amp; \sigma A_{\sigma} &amp; E_{21}         &amp; E_{12}         &amp; -\sigma T_{\sigma x,2} &amp; -\sigma T_{\sigma y,1} &amp; \sigma T_{\sigma z}    \\ \noalign{\hrule height 1.2pt}&#10;&#10;\multirow{6}{*}{$S_{4}$}          &amp; (\bar{x}\bar{z}y) &amp; \sigma A_{\sigma} &amp; \tau^{2}E_{21} &amp; \tau E_{12}    &amp; -\sigma T_{\sigma x}   &amp; -\sigma T_{\sigma y,3} &amp; \sigma T_{\sigma z,2}  \\ \cline{2-8}&#10;                                  &amp; (\bar{x}z\bar{y}) &amp; \sigma A_{\sigma} &amp; \tau^{2}E_{21} &amp; \tau E_{12}    &amp; -\sigma T_{\sigma x}   &amp; \sigma T_{\sigma y,3}  &amp; -\sigma T_{\sigma z,2} \\ \cline{2-8}&#10;                                  &amp; (z\bar{y}\bar{x}) &amp; \sigma A_{\sigma} &amp; \tau E_{21}    &amp; \tau^{2}E_{12} &amp; \sigma T_{\sigma x,3}  &amp; -\sigma T_{\sigma y}   &amp; -\sigma T_{\sigma z,1} \\ \cline{2-8}&#10;                                  &amp; (\bar{z}\bar{y}x) &amp; \sigma A_{\sigma} &amp; \tau E_{21}    &amp; \tau^{2}E_{12} &amp; -\sigma T_{\sigma x,3} &amp; -\sigma T_{\sigma y}   &amp; \sigma T_{\sigma z,1}  \\ \cline{2-8}&#10;                                  &amp; (\bar{y}x\bar{z}) &amp; \sigma A_{\sigma} &amp; E_{21}         &amp; E_{12}         &amp; -\sigma T_{\sigma x,2} &amp; \sigma T_{\sigma y,1}  &amp; -\sigma T_{\sigma z}   \\ \cline{2-8}&#10;                                  &amp; (y\bar{x}\bar{z}) &amp; \sigma A_{\sigma} &amp; E_{21}         &amp; E_{12}         &amp; \sigma T_{\sigma x,2}  &amp; -\sigma T_{\sigma y,1} &amp; -\sigma T_{\sigma z}   \\ \cline{2-8}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54C9EA91-CC94-4AB0-95F3-42F7D77BFA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69157" y="2016603"/>
            <a:ext cx="4027397" cy="395885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1741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Effect of coordinate transformations on T</a:t>
            </a:r>
            <a:r>
              <a:rPr lang="en-US" baseline="-25000" dirty="0"/>
              <a:t>d</a:t>
            </a:r>
            <a:r>
              <a:rPr lang="en-US" dirty="0"/>
              <a:t> states</a:t>
            </a:r>
          </a:p>
        </p:txBody>
      </p:sp>
      <p:pic>
        <p:nvPicPr>
          <p:cNvPr id="31" name="Picture 30" descr="\documentclass{article}&#10;\usepackage{amsmath,bm,physics,array,multirow}&#10;\pagestyle{empty}&#10;&#10;\newcolumntype{C}{&gt;{$}c&lt;{$}}&#10;&#10;\begin{document}&#10;&#10;\begin{equation*}&#10;\begin{tabular}{!{\vrule width 2pt}C!{\vrule width 3pt}C|C|C|C|C|C|C|C|C|C!{\vrule width 2pt}}&#10;\noalign{\hrule height 2pt}&#10;                                     &amp;                                                             A_{1} &amp;                                                             A_{2} &amp;              E_{1} &amp;              E_{2} &amp; T_{1x} &amp; T_{1y} &amp; T_{1z} &amp; T_{2x} &amp; T_{2y} &amp; T_{2z} \\ \noalign{\hrule height 3pt}&#10;        f_{A_{\sigma}}g_{A_{\sigma}} &amp;                                      f_{A_{\sigma}}g_{A_{\sigma}} &amp;                                                                 0 &amp;                  0 &amp;                  0 &amp;      0 &amp;      0 &amp;      0 &amp;      0 &amp;      0 &amp;      0 \\ \noalign{\hrule height 1pt}&#10;  f_{A_{\sigma}}g_{A_{\bar{\sigma}}} &amp;                                                                 0 &amp;                                f_{A_{\sigma}}g_{A_{\bar{\sigma}}} &amp;                  0 &amp;                  0 &amp;      0 &amp;      0 &amp;      0 &amp;      0 &amp;      0 &amp;      0 \\ \noalign{\hrule height 1pt}&#10;                  f_{E_{1}}g_{E_{1}} &amp;                                                                 0 &amp;                                                                 0 &amp;                  0 &amp; f_{E_{1}}g_{E_{1}} &amp;      0 &amp;      0 &amp;      0 &amp;      0 &amp;      0 &amp;      0 \\ \noalign{\hrule height 1pt}&#10;                  f_{E_{2}}g_{E_{2}} &amp;                                                                 0 &amp;                                                                 0 &amp; f_{E_{2}}g_{E_{2}} &amp;                  0 &amp;      0 &amp;      0 &amp;      0 &amp;      0 &amp;      0 &amp;      0 \\ \noalign{\hrule height 1pt}&#10;                  f_{E_{1}}g_{E_{2}} &amp;                                                    \frac{1}{2}\left(f_{E_{1}}g_{E_{2}} + f_{E_{21}}g_{E_{12}}\right) &amp; \frac{1}{2}\left(f_{E_{1}}g_{E_{2}} - f_{E_{21}}g_{E_{12}}\right) &amp;                  0 &amp;                  0 &amp;      0 &amp;      0 &amp;      0 &amp;      0 &amp;      0 &amp;      0 \\ \noalign{\hrule height 1pt}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B501796D-7533-4052-982E-C086A98E95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47264" y="2016598"/>
            <a:ext cx="6497472" cy="106361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58" name="Picture 57" descr="\documentclass{article}&#10;\usepackage{amsmath,bm,physics,array,multirow}&#10;\pagestyle{empty}&#10;&#10;\newcolumntype{C}{&gt;{$}c&lt;{$}}&#10;&#10;\begin{document}&#10;&#10;\begin{equation*}&#10;\begin{tabular}{!{\vrule width 2pt}C!{\vrule width 3pt}C|C|C|C|C|C|C|C|C|C!{\vrule width 2pt}}&#10;\noalign{\hrule height 2pt}&#10;                                      &amp;                                                                                                                                     A_{1} &amp;                                                                                                                                     A_{2} &amp;                                                                                                                                                         E_{1} &amp;                                                                                                                                                         E_{2} &amp; T_{1x} &amp; T_{1y} &amp; T_{1z} &amp; T_{2x} &amp; T_{2y} &amp; T_{2z} \\ \noalign{\hrule height 3pt}&#10;     f_{T_{\sigma x}}g_{T_{\sigma x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\frac{\tau^{2}}{3}\left(\tau f_{T_{\sigma x}}g_{T_{\sigma x}}+\tau^{2}f_{T_{\sigma y}}g_{T_{\sigma y}}+f_{T_{\sigma z}}g_{T_{\sigma z}}\right) &amp;                    \frac{\tau}{3}\left(\tau^{2}f_{T_{\sigma x}}g_{T_{\sigma x}}+\tau f_{T_{\sigma y}}g_{T_{\sigma y}}+f_{T_{\sigma z}}g_{T_{\sigma z}}\right) &amp;      0 &amp;      0 &amp;      0 &amp;      0 &amp;      0 &amp;      0 \\ \noalign{\hrule height 1pt}&#10;     f_{T_{\sigma y}}g_{T_{\sigma y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    \frac{\tau}{3}\left(\tau f_{T_{\sigma x}}g_{T_{\sigma x}}+\tau^{2}f_{T_{\sigma y}}g_{T_{\sigma y}}+f_{T_{\sigma z}}g_{T_{\sigma z}}\right) &amp;                \frac{\tau^{2}}{3}\left(\tau^{2}f_{T_{\sigma x}}g_{T_{\sigma x}}+\tau f_{T_{\sigma y}}g_{T_{\sigma y}}+f_{T_{\sigma z}}g_{T_{\sigma z}}\right) &amp;      0 &amp;      0 &amp;      0 &amp;      0 &amp;      0 &amp;      0 \\ \noalign{\hrule height 1pt}&#10;     f_{T_{\sigma z}}g_{T_{\sigma z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       \frac{1}{3}\left(\tau f_{T_{\sigma x}}g_{T_{\sigma x}}+\tau^{2}f_{T_{\sigma y}}g_{T_{\sigma y}}+f_{T_{\sigma z}}g_{T_{\sigma z}}\right) &amp;                       \frac{1}{3}\left(\tau^{2}f_{T_{\sigma x}}g_{T_{\sigma x}}+\tau f_{T_{\sigma y}}g_{T_{\sigma y}}+f_{T_{\sigma z}}g_{T_{\sigma z}}\right) &amp;      0 &amp;      0 &amp;      0 &amp;      0 &amp;      0 &amp;      0 \\ \noalign{\hrule height 1pt}&#10;f_{T_{\sigma x}}g_{T_{\bar{\sigma}x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\frac{\tau^{2}}{3}\left(\tau f_{T_{\sigma x}}g_{T_{\bar{\sigma}x}}+\tau^{2}f_{T_{\sigma y}}g_{T_{\bar{\sigma}y}}+f_{T_{\sigma z}}g_{T_{\bar{\sigma}z}}\right) &amp;     \frac{\tau}{3}\left(\tau^{2}f_{T_{\sigma x}}g_{T_{\bar{\sigma}x}}+\tau f_{T_{\sigma y}}g_{T_{\bar{\sigma}y}}+f_{T_{\sigma z}}g_{T_{\bar{\sigma}z}}\right) &amp;      0 &amp;      0 &amp;      0 &amp;      0 &amp;      0 &amp;      0 \\ \noalign{\hrule height 1pt}&#10;f_{T_{\sigma y}}g_{T_{\bar{\sigma}y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    \frac{\tau}{3}\left(\tau f_{T_{\sigma x}}g_{T_{\bar{\sigma}x}}+\tau^{2}f_{T_{\sigma y}}g_{T_{\bar{\sigma}y}}+f_{T_{\sigma z}}g_{T_{\bar{\sigma}z}}\right) &amp; \frac{\tau^{2}}{3}\left(\tau^{2}f_{T_{\sigma x}}g_{T_{\bar{\sigma}x}}+\tau f_{T_{\sigma y}}g_{T_{\bar{\sigma}y}}+f_{T_{\sigma z}}g_{T_{\bar{\sigma}z}}\right) &amp;      0 &amp;      0 &amp;      0 &amp;      0 &amp;      0 &amp;      0 \\ \noalign{\hrule height 1pt}&#10;f_{T_{\sigma y}}g_{T_{\bar{\sigma}z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       \frac{1}{3}\left(\tau f_{T_{\sigma x}}g_{T_{\bar{\sigma}x}}+\tau^{2}f_{T_{\sigma y}}g_{T_{\bar{\sigma}y}}+f_{T_{\sigma z}}g_{T_{\bar{\sigma}z}}\right) &amp;        \frac{1}{3}\left(\tau^{2}f_{T_{\sigma x}}g_{T_{\bar{\sigma}x}}+\tau f_{T_{\sigma y}}g_{T_{\bar{\sigma}y}}+f_{T_{\sigma z}}g_{T_{\bar{\sigma}z}}\right) &amp;      0 &amp;      0 &amp;      0 &amp;      0 &amp;      0 &amp;      0 \\ \noalign{\hrule height 1pt}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C80A912F-1550-4787-9830-B1D933B2359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5052" y="3777785"/>
            <a:ext cx="11653243" cy="131961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60470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Effect of coordinate transformations on T</a:t>
            </a:r>
            <a:r>
              <a:rPr lang="en-US" baseline="-25000" dirty="0"/>
              <a:t>d</a:t>
            </a:r>
            <a:r>
              <a:rPr lang="en-US" dirty="0"/>
              <a:t> states</a:t>
            </a:r>
          </a:p>
        </p:txBody>
      </p:sp>
      <p:pic>
        <p:nvPicPr>
          <p:cNvPr id="20" name="Picture 19" descr="\documentclass{article}&#10;\usepackage{amsmath,bm,physics,array,multirow}&#10;\pagestyle{empty}&#10;&#10;\newcolumntype{C}{&gt;{$}c&lt;{$}}&#10;&#10;\begin{document}&#10;&#10;\begin{equation*}&#10;\begin{tabular}{!{\vrule width 2pt}C!{\vrule width 3pt}C|C|C|C!{\vrule width 2pt}}&#10;\noalign{\hrule height 2pt}&#10;                                     &amp;                                                             A_{1} &amp;                                                             A_{2} &amp;                   E_{1} &amp;                   E_{2} \\ \noalign{\hrule height 3pt}&#10;        f_{A_{\sigma}}g_{A_{\sigma}} &amp;                                      f_{A_{\sigma}}g_{A_{\sigma}} &amp;                                                                 0 &amp;                       0 &amp;                       0 \\ \noalign{\hrule height 1pt}&#10;  f_{A_{\sigma}}g_{A_{\bar{\sigma}}} &amp;                                                                 0 &amp;                                f_{A_{\sigma}}g_{A_{\bar{\sigma}}} &amp;                       0 &amp;                       0 \\ \noalign{\hrule height 1pt}&#10;             f_{A_{\sigma}}g_{E_{1}} &amp;                                                                 0 &amp;                                                                 0 &amp; f_{A_{\sigma}}g_{E_{1}} &amp;                       0 \\ \noalign{\hrule height 1pt}&#10;             f_{A_{\sigma}}g_{E_{2}} &amp;                                                                 0 &amp;                                                                 0 &amp;                       0 &amp; f_{A_{\sigma}}g_{E_{2}} \\ \noalign{\hrule height 1pt}&#10;                  f_{E_{1}}g_{E_{1}} &amp;                                                                 0 &amp;                                                                 0 &amp;                       0 &amp;      f_{E_{1}}g_{E_{1}} \\ \noalign{\hrule height 1pt}&#10;                  f_{E_{2}}g_{E_{2}} &amp;                                                                 0 &amp;                                                                 0 &amp;      f_{E_{2}}g_{E_{2}} &amp;                       0 \\ \noalign{\hrule height 1pt}&#10;                  f_{E_{1}}g_{E_{2}} &amp; \frac{1}{2}\left(f_{E_{1}}g_{E_{2}} + f_{E_{21}}g_{E_{12}}\right) &amp; \frac{1}{2}\left(f_{E_{1}}g_{E_{2}} - f_{E_{21}}g_{E_{12}}\right) &amp;                       0 &amp;                       0 \\ \noalign{\hrule height 1pt}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7ADA3171-E165-4C9C-8910-7626AD2A64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60970" y="1776847"/>
            <a:ext cx="4470060" cy="1391999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6" name="Picture 25" descr="\documentclass{article}&#10;\usepackage{amsmath,bm,physics,array,multirow}&#10;\pagestyle{empty}&#10;&#10;\newcolumntype{C}{&gt;{$}c&lt;{$}}&#10;&#10;\begin{document}&#10;&#10;\begin{equation*}&#10;\begin{tabular}{!{\vrule width 2pt}C!{\vrule width 3pt}C|C|C|C!{\vrule width 2pt}}&#10;\noalign{\hrule height 2pt}&#10;                                      &amp;                                                                                                                                     A_{1} &amp;                                                                                                                                     A_{2} &amp;                                                                                                                                                         E_{1} &amp;                                                                                                                                                         E_{2} \\ \noalign{\hrule height 3pt}&#10;     f_{T_{\sigma x}}g_{T_{\sigma x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\frac{\tau^{2}}{3}\left(\tau f_{T_{\sigma x}}g_{T_{\sigma x}}+\tau^{2}f_{T_{\sigma y}}g_{T_{\sigma y}}+f_{T_{\sigma z}}g_{T_{\sigma z}}\right) &amp;                    \frac{\tau}{3}\left(\tau^{2}f_{T_{\sigma x}}g_{T_{\sigma x}}+\tau f_{T_{\sigma y}}g_{T_{\sigma y}}+f_{T_{\sigma z}}g_{T_{\sigma z}}\right) \\ \noalign{\hrule height 1pt}&#10;     f_{T_{\sigma y}}g_{T_{\sigma y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    \frac{\tau}{3}\left(\tau f_{T_{\sigma x}}g_{T_{\sigma x}}+\tau^{2}f_{T_{\sigma y}}g_{T_{\sigma y}}+f_{T_{\sigma z}}g_{T_{\sigma z}}\right) &amp;                \frac{\tau^{2}}{3}\left(\tau^{2}f_{T_{\sigma x}}g_{T_{\sigma x}}+\tau f_{T_{\sigma y}}g_{T_{\sigma y}}+f_{T_{\sigma z}}g_{T_{\sigma z}}\right) \\ \noalign{\hrule height 1pt}&#10;     f_{T_{\sigma z}}g_{T_{\sigma z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       \frac{1}{3}\left(\tau f_{T_{\sigma x}}g_{T_{\sigma x}}+\tau^{2}f_{T_{\sigma y}}g_{T_{\sigma y}}+f_{T_{\sigma z}}g_{T_{\sigma z}}\right) &amp;                       \frac{1}{3}\left(\tau^{2}f_{T_{\sigma x}}g_{T_{\sigma x}}+\tau f_{T_{\sigma y}}g_{T_{\sigma y}}+f_{T_{\sigma z}}g_{T_{\sigma z}}\right) \\ \noalign{\hrule height 1pt}&#10;f_{T_{\sigma x}}g_{T_{\bar{\sigma}x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\frac{\tau^{2}}{3}\left(\tau f_{T_{\sigma x}}g_{T_{\bar{\sigma}x}}+\tau^{2}f_{T_{\sigma y}}g_{T_{\bar{\sigma}y}}+f_{T_{\sigma z}}g_{T_{\bar{\sigma}z}}\right) &amp;     \frac{\tau}{3}\left(\tau^{2}f_{T_{\sigma x}}g_{T_{\bar{\sigma}x}}+\tau f_{T_{\sigma y}}g_{T_{\bar{\sigma}y}}+f_{T_{\sigma z}}g_{T_{\bar{\sigma}z}}\right) \\ \noalign{\hrule height 1pt}&#10;f_{T_{\sigma y}}g_{T_{\bar{\sigma}y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    \frac{\tau}{3}\left(\tau f_{T_{\sigma x}}g_{T_{\bar{\sigma}x}}+\tau^{2}f_{T_{\sigma y}}g_{T_{\bar{\sigma}y}}+f_{T_{\sigma z}}g_{T_{\bar{\sigma}z}}\right) &amp; \frac{\tau^{2}}{3}\left(\tau^{2}f_{T_{\sigma x}}g_{T_{\bar{\sigma}x}}+\tau f_{T_{\sigma y}}g_{T_{\bar{\sigma}y}}+f_{T_{\sigma z}}g_{T_{\bar{\sigma}z}}\right) \\ \noalign{\hrule height 1pt}&#10;f_{T_{\sigma z}}g_{T_{\bar{\sigma}z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       \frac{1}{3}\left(\tau f_{T_{\sigma x}}g_{T_{\bar{\sigma}x}}+\tau^{2}f_{T_{\sigma y}}g_{T_{\bar{\sigma}y}}+f_{T_{\sigma z}}g_{T_{\bar{\sigma}z}}\right) &amp;        \frac{1}{3}\left(\tau^{2}f_{T_{\sigma x}}g_{T_{\bar{\sigma}x}}+\tau f_{T_{\sigma y}}g_{T_{\bar{\sigma}y}}+f_{T_{\sigma z}}g_{T_{\bar{\sigma}z}}\right) \\ \noalign{\hrule height 1pt}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6ED70DDE-2A89-455E-A6AE-38C54DA2F75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586732" y="3362696"/>
            <a:ext cx="9600684" cy="1319617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4" name="Picture 23" descr="\documentclass{article}&#10;\usepackage{amsmath,bm,physics,array,multirow}&#10;\pagestyle{empty}&#10;&#10;\newcolumntype{C}{&gt;{$}c&lt;{$}}&#10;&#10;\begin{document}&#10;&#10;\begin{equation*}&#10;\begin{tabular}{!{\vrule width 2pt}C!{\vrule width 3pt}C|C|C!{\vrule width 2pt}}&#10;\noalign{\hrule height 2pt}&#10;                                      &amp;                                                                      T_{1x} &amp;                                                                      T_{1y} &amp;                                                                      T_{1z} \\ \noalign{\hrule height 3pt}&#10;f_{T_{\sigma x}}g_{T_{\bar{\sigma}y}} &amp;                                                                           0 &amp;                                                                           0 &amp; f_{T_{\sigma x}}g_{T_{\bar{\sigma}y}}+f_{T_{\sigma y}}g_{T_{\bar{\sigma}x}} \\ \noalign{\hrule height 1pt}&#10;f_{T_{\sigma x}}g_{T_{\bar{\sigma}z}} &amp;                                                                           0 &amp; f_{T_{\sigma x}}g_{T_{\bar{\sigma}z}}+f_{T_{\sigma z}}g_{T_{\bar{\sigma}x}} &amp;                                                                           0 \\ \noalign{\hrule height 1pt}&#10;f_{T_{\sigma y}}g_{T_{\bar{\sigma}z}} &amp; f_{T_{\sigma y}}g_{T_{\bar{\sigma}z}}+f_{T_{\sigma z}}g_{T_{\bar{\sigma}y}} &amp;                                                                           0 &amp;                                                                           0 \\ \noalign{\hrule height 1pt}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E2B56370-3984-4026-ADD7-0F5EDB84129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78831" y="5053246"/>
            <a:ext cx="4469297" cy="733713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8" name="Picture 27" descr="\documentclass{article}&#10;\usepackage{amsmath,bm,physics,array,multirow}&#10;\pagestyle{empty}&#10;&#10;\newcolumntype{C}{&gt;{$}c&lt;{$}}&#10;&#10;\begin{document}&#10;&#10;\begin{equation*}&#10;\begin{tabular}{!{\vrule width 2pt}C!{\vrule width 3pt}C|C|C!{\vrule width 2pt}}&#10;\noalign{\hrule height 2pt}&#10;                                 &amp;                                                            T_{2x} &amp;                                                            T_{2y} &amp;                                                            T_{2z} \\ \noalign{\hrule height 3pt}&#10;f_{T_{\sigma x}}g_{T_{\sigma y}} &amp;                                                                 0 &amp;                                                                 0 &amp; f_{T_{\sigma x}}g_{T_{\sigma y}}+f_{T_{\sigma y}}g_{T_{\sigma x}} \\ \noalign{\hrule height 1pt}&#10;f_{T_{\sigma x}}g_{T_{\sigma z}} &amp;                                                                 0 &amp; f_{T_{\sigma x}}g_{T_{\sigma z}}+f_{T_{\sigma z}}g_{T_{\sigma x}} &amp;                                                                 0 \\ \noalign{\hrule height 1pt}&#10;f_{T_{\sigma y}}g_{T_{\sigma z}} &amp; f_{T_{\sigma y}}g_{T_{\sigma z}}+f_{T_{\sigma z}}g_{T_{\sigma y}} &amp;                                                                 0 &amp;                                                                 0 \\ \noalign{\hrule height 1pt}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07C749EC-F483-4E0F-A1A2-F9AA016429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035041" y="5000718"/>
            <a:ext cx="4469297" cy="73371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58775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Products of representations expressed as sums of representations</a:t>
            </a:r>
          </a:p>
        </p:txBody>
      </p:sp>
      <p:pic>
        <p:nvPicPr>
          <p:cNvPr id="24" name="Picture 23" descr="\documentclass{article}&#10;\usepackage{amsmath,amssymb,bm,array}&#10;\pagestyle{empty}&#10;&#10;\newcolumntype{C}{&gt;{$}c&lt;{$}}&#10;&#10;\begin{document}&#10;&#10;\begin{equation*}&#10;\begin{tabular}{!{\vrule width 2pt}C!{\vrule width 3pt}C|C|C|C|C!{\vrule width 2pt}}&#10;\noalign{\hrule height 2pt}&#10;       &amp; A_{1} &amp; A_{2} &amp;             E &amp;               T_{1} &amp;               T_{2} \\ \noalign{\hrule height 3pt}&#10; A_{1} &amp; A_{1} &amp; A_{2} &amp;             E &amp;               T_{1} &amp;               T_{2} \\ \noalign{\hrule height .5pt}&#10; A_{2} &amp; A_{2} &amp; A_{1} &amp;             E &amp;               T_{1} &amp;               T_{2} \\ \noalign{\hrule height .5pt}&#10;     E &amp;     E &amp;     E &amp; A_{1}+A_{2}+E &amp;         T_{1}+T_{2} &amp;         T_{1}+T_{2} \\ \noalign{\hrule height .5pt}&#10; T_{1} &amp; T_{1} &amp; T_{2} &amp;   T_{1}+T_{2} &amp; A_{1}+E+T_{1}+T_{2} &amp; A_{2}+E+T_{1}+T_{2} \\ \noalign{\hrule height .5pt}&#10; T_{2} &amp; T_{2} &amp; T_{1} &amp;   T_{1}+T_{2} &amp; A_{2}+E+T_{1}+T_{2} &amp; A_{1}+E+T_{1}+T_{2} \\ 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77A463A3-D143-4B49-9797-F2116B6CC36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82020" y="2573866"/>
            <a:ext cx="6627964" cy="163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4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A</a:t>
            </a:r>
            <a:r>
              <a:rPr lang="en-US" baseline="30000" dirty="0"/>
              <a:t>(σ)</a:t>
            </a:r>
            <a:r>
              <a:rPr lang="en-US" dirty="0"/>
              <a:t>, and E</a:t>
            </a:r>
          </a:p>
        </p:txBody>
      </p:sp>
      <p:pic>
        <p:nvPicPr>
          <p:cNvPr id="14" name="Picture 13" descr="\documentclass{article}&#10;\usepackage{amsmath,bm,physics,array,multirow}&#10;\pagestyle{empty}&#10;&#10;\newcolumntype{C}{&gt;{$}c&lt;{$}}&#10;&#10;\begin{document}&#10;&#10;\begin{align*}&#10;&amp;&#10;\left\{&#10; (1:xyz),&#10; (2:x\bar{y}\bar{z}),&#10; (3:\bar{x}y\bar{z}),&#10; (4:\bar{x}\bar{y}z),&#10; (5:yzx),&#10; (6:y\bar{z}\bar{x}),&#10; (7:\bar{y}z\bar{x}),&#10; (8:\bar{y}\bar{z}x),&#10; (9:zxy),&#10;(10:\bar{z}x\bar{y}),&#10;(11:\bar{z}\bar{x}y),&#10;(12:z\bar{x}\bar{y})&#10;\right\}&#10;&amp; \Rightarrow &amp;&#10;U^{\left(A^{\left(\sigma\right)}\right)}&#10;\\&#10;&amp;&#10;\left\{&#10;(13:xzy),&#10;(14:x\bar{z}\bar{y}),&#10;(15:zyx),&#10;(16:\bar{z}y\bar{x}),&#10;(17:yxz),&#10;(18:\bar{y}\bar{x}z),&#10;(19:\bar{x}\bar{z}y),&#10;(20:\bar{x}z\bar{y}),&#10;(21:z\bar{y}\bar{x}),&#10;(22:\bar{z}\bar{y}x),&#10;(23:\bar{y}x\bar{z}),&#10;(24:y\bar{x}\bar{z})&#10;\right\}&#10;&amp; \Rightarrow &amp;&#10;\sigma U^{\left(A^{\left(\sigma\right)}\right)}&#10;\end{align*}&#10;&#10;\end{document}" title="IguanaTex Bitmap Display">
            <a:extLst>
              <a:ext uri="{FF2B5EF4-FFF2-40B4-BE49-F238E27FC236}">
                <a16:creationId xmlns:a16="http://schemas.microsoft.com/office/drawing/2014/main" id="{F7912EDD-8419-470A-9077-724E69F130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81029" y="2291341"/>
            <a:ext cx="9429943" cy="490059"/>
          </a:xfrm>
          <a:prstGeom prst="rect">
            <a:avLst/>
          </a:prstGeom>
        </p:spPr>
      </p:pic>
      <p:pic>
        <p:nvPicPr>
          <p:cNvPr id="10" name="Picture 9" descr="\documentclass{article}&#10;\usepackage{amsmath,bm,physics,array,multirow}&#10;\pagestyle{empty}&#10;&#10;\newcolumntype{C}{&gt;{$}c&lt;{$}}&#10;&#10;\begin{document}&#10;&#10;\begin{gather*}&#10;\left\{&#10;(1:xyz),&#10;(2:x\bar{y}\bar{z}),&#10;(3:\bar{x}y\bar{z}),&#10;(4:\bar{x}\bar{y}z)&#10;\right\}&#10;\Rightarrow&#10;\begin{pmatrix}&#10;U^{(E)}_{11} &amp; U^{(E)}_{12} \\&#10;U^{(E)}_{21} &amp; U^{(E)}_{22} \\&#10;\end{pmatrix}&#10;\\&#10;\left\{&#10;(5:yzx),&#10;(6:y\bar{z}\bar{x}),&#10;(7:\bar{y}z\bar{x}),&#10;(8:\bar{y}\bar{z}x)&#10;\right\}&#10;\Rightarrow&#10;\begin{pmatrix}&#10;\tau^{2}U^{(E)}_{11} &amp; \tau^{2}U^{(E)}_{12} \\&#10;\tau U^{(E)}_{21}    &amp; \tau U^{(E)}_{22} \\&#10;\end{pmatrix}&#10;\\&#10;\left\{&#10; (9:zxy),&#10;(10:\bar{z}x\bar{y}),&#10;(11:\bar{z}\bar{x}y),&#10;(12:z\bar{x}\bar{y})&#10;\right\}&#10;\Rightarrow&#10;\begin{pmatrix}&#10;\tau U^{(E)}_{11}     &amp; \tau U^{(E)}_{12} \\&#10;\tau^{2} U^{(E)}_{21} &amp; \tau^{2} U^{(E)}_{22} \\&#10;\end{pmatrix}&#10;\\&#10;\left\{&#10;(13:xzy),&#10;(14:x\bar{z}\bar{y}),&#10;(19:\bar{x}\bar{z}y),&#10;(20:\bar{x}z\bar{y})&#10;\right\}&#10;\Rightarrow&#10;\begin{pmatrix}&#10;\tau^{2}U^{(E)}_{21} &amp; \tau^{2}U^{(E)}_{22} \\&#10;\tau U^{(E)}_{11}    &amp; \tau U^{(E)}_{12} \\&#10;\end{pmatrix}&#10;\\&#10;\left\{&#10;(15:zyx),&#10;(16:\bar{z}y\bar{x}),&#10;(21:z\bar{y}\bar{x}),&#10;(22:\bar{z}\bar{y}x)&#10;\right\}&#10;\Rightarrow&#10;\begin{pmatrix}&#10;\tau U^{(E)}_{21}    &amp; \tau U^{(E)}_{22} \\&#10;\tau^{2}U^{(E)}_{11} &amp; \tau^{2}U^{(E)}_{12} \\&#10;\end{pmatrix}&#10;\\&#10;\left\{&#10;(17:yxz),&#10;(18:\bar{y}\bar{x}z),&#10;(23:\bar{y}x\bar{z}),&#10;(24:y\bar{x}\bar{z})&#10;\right\}&#10;\Rightarrow&#10;\begin{pmatrix}&#10;U^{(E)}_{21} &amp; U^{(E)}_{22} \\&#10;U^{(E)}_{11} &amp; U^{(E)}_{12} \\&#10;\end{pmatrix}&#10;\end{gather*}&#10;&#10;\end{document}" title="IguanaTex Bitmap Display">
            <a:extLst>
              <a:ext uri="{FF2B5EF4-FFF2-40B4-BE49-F238E27FC236}">
                <a16:creationId xmlns:a16="http://schemas.microsoft.com/office/drawing/2014/main" id="{3D431C49-0EFA-440E-9906-F61B05EB87F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877943" y="3304824"/>
            <a:ext cx="4436114" cy="303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26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30000" dirty="0"/>
              <a:t>(σ)</a:t>
            </a:r>
          </a:p>
        </p:txBody>
      </p:sp>
      <p:pic>
        <p:nvPicPr>
          <p:cNvPr id="13" name="Picture 12" descr="\documentclass{article}&#10;\usepackage{amsmath,bm,physics,array,multirow}&#10;\pagestyle{empty}&#10;&#10;\newcolumntype{C}{&gt;{$}c&lt;{$}}&#10;&#10;\begin{document}&#10;&#10;&#10;\begin{equation*}&#10;\begin{tabular}{CCC}&#10;(5:yzx)&#10;&amp; \Rightarrow &amp;&#10;\begin{pmatrix}&#10;U_{x,2} &amp; U_{y}   &amp; U_{z,2}\\&#10;U_{x,3} &amp; U_{y,3} &amp; U_{z}\\&#10;U_{x}   &amp; U_{y,1} &amp; U_{z,1}\\&#10;\end{pmatrix}&#10;\\\\&#10;(6:y\bar{z}\bar{x})&#10;&amp; \Rightarrow &amp;&#10;\begin{pmatrix}&#10; U_{x,2} &amp;  U_{y}   &amp;  U_{z,2}\\&#10;-U_{x,3} &amp; -U_{y,3} &amp; -U_{z}\\&#10;-U_{x}   &amp; -U_{y,1} &amp; -U_{z,1}\\&#10;\end{pmatrix}&#10;\\\\&#10;(7:\bar{y}z\bar{x})&#10;&amp; \Rightarrow &amp;&#10;\begin{pmatrix}&#10;-U_{x,2} &amp; -U_{y}   &amp; -U_{z,2}\\&#10; U_{x,3} &amp;  U_{y,3} &amp;  U_{z}\\&#10;-U_{x}   &amp; -U_{y,1} &amp; -U_{z,1}\\&#10;\end{pmatrix}&#10;\\\\&#10;(8:\bar{y}\bar{z}x)&#10;&amp; \Rightarrow &amp;&#10;\begin{pmatrix}&#10;-U_{x,2} &amp; -U_{y}   &amp; -U_{z,2}\\&#10;-U_{x,3} &amp; -U_{y,3} &amp; -U_{z}\\&#10; U_{x}   &amp;  U_{y,1} &amp;  U_{z,1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F3B92A1F-364E-4634-9A6D-35A5ED96C5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75664" y="2644968"/>
            <a:ext cx="2763881" cy="2731894"/>
          </a:xfrm>
          <a:prstGeom prst="rect">
            <a:avLst/>
          </a:prstGeom>
        </p:spPr>
      </p:pic>
      <p:pic>
        <p:nvPicPr>
          <p:cNvPr id="11" name="Picture 10" descr="\documentclass{article}&#10;\usepackage{amsmath,bm,physics,array,multirow}&#10;\pagestyle{empty}&#10;&#10;\newcolumntype{C}{&gt;{$}c&lt;{$}}&#10;&#10;\begin{document}&#10;&#10;\begin{equation*}&#10;\begin{tabular}{CCC}&#10;(1:xyz)&#10;&amp; \Rightarrow &amp;&#10;\begin{pmatrix}&#10;U_{x}   &amp; U_{y,1} &amp; U_{z,1}\\&#10;U_{x,2} &amp; U_{y}   &amp; U_{z,2}\\&#10;U_{x,3} &amp; U_{y,3} &amp; U_{z}\\&#10;\end{pmatrix}&#10;\\\\&#10;(2:x\bar{y}\bar{z})&#10;&amp; \Rightarrow &amp;&#10;\begin{pmatrix}&#10;U_{x}    &amp; U_{y,1}  &amp; U_{z,1}\\&#10;-U_{x,2} &amp; -U_{y}   &amp; -U_{z,2}\\&#10;-U_{x,3} &amp; -U_{y,3} &amp; -U_{z}\\&#10;\end{pmatrix}&#10;\\\\&#10;(3:\bar{x}y\bar{z})&#10;&amp; \Rightarrow &amp;&#10;\begin{pmatrix}&#10;-U_{x}   &amp; -U_{y,1} &amp; -U_{z,1}\\&#10; U_{x,2} &amp;  U_{y}   &amp;  U_{z,2}\\&#10;-U_{x,3} &amp; -U_{y,3} &amp; -U_{z}\\&#10;\end{pmatrix}&#10;\\\\&#10;(4: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CBD37FC5-B6B6-4508-8F1F-83FBDDC21E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5890" y="2644970"/>
            <a:ext cx="2763885" cy="2731891"/>
          </a:xfrm>
          <a:prstGeom prst="rect">
            <a:avLst/>
          </a:prstGeom>
        </p:spPr>
      </p:pic>
      <p:pic>
        <p:nvPicPr>
          <p:cNvPr id="15" name="Picture 14" descr="\documentclass{article}&#10;\usepackage{amsmath,bm,physics,array,multirow}&#10;\pagestyle{empty}&#10;&#10;\newcolumntype{C}{&gt;{$}c&lt;{$}}&#10;&#10;\begin{document}&#10;&#10;&#10;\begin{equation*}&#10;\begin{tabular}{CCC}&#10;(9:zxy)&#10;&amp; \Rightarrow &amp;&#10;\begin{pmatrix}&#10;U_{x,3} &amp; U_{y,3} &amp; U_{z}\\&#10;U_{x} &amp; U_{y,1} &amp; U_{z,1}\\&#10;U_{x,2} &amp; U_{y} &amp; U_{z,2}\\&#10;\end{pmatrix}&#10;\\\\&#10;(10:\bar{z}x\bar{y})&#10;&amp; \Rightarrow &amp;&#10;\begin{pmatrix}&#10;-U_{x,3} &amp; -U_{y,3} &amp; -U_{z}\\&#10; U_{x}   &amp;  U_{y,1} &amp;  U_{z,1}\\&#10;-U_{x,2} &amp; -U_{y}   &amp; -U_{z,2}\\&#10;\end{pmatrix}&#10;\\\\&#10;(11:\bar{z}\bar{x}y)&#10;&amp; \Rightarrow &amp;&#10;\begin{pmatrix}&#10;-U_{x,3} &amp; -U_{y,3} &amp; -U_{z}\\&#10;-U_{x}   &amp; -U_{y,1} &amp; -U_{z,1}\\&#10; U_{x,2} &amp;  U_{y}   &amp;  U_{z,2}\\&#10;\end{pmatrix}&#10;\\\\&#10;(12: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18A85F1F-135C-4874-9FE3-6DECF7BAF85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95434" y="2644968"/>
            <a:ext cx="2840676" cy="27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57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30000" dirty="0"/>
              <a:t>(σ)</a:t>
            </a:r>
          </a:p>
        </p:txBody>
      </p:sp>
      <p:pic>
        <p:nvPicPr>
          <p:cNvPr id="15" name="Picture 14" descr="\documentclass{article}&#10;\usepackage{amsmath,bm,physics,array,multirow}&#10;\pagestyle{empty}&#10;&#10;\newcolumntype{C}{&gt;{$}c&lt;{$}}&#10;&#10;\begin{document}&#10;&#10;&#10;\begin{equation*}&#10;\begin{tabular}{CCC}&#10;(13:xzy)&#10;&amp; \Rightarrow &amp;&#10;\sigma&#10;\begin{pmatrix}&#10;U_{x}   &amp; U_{y,1} &amp; U_{z,1}\\&#10;U_{x,3} &amp; U_{y,3} &amp; U_{z}\\&#10;U_{x,2} &amp; U_{y}   &amp; U_{z,2}\\&#10;\end{pmatrix}&#10;\\\\&#10;(14:x\bar{z}\bar{y})&#10;&amp; \Rightarrow &amp;&#10;\sigma&#10;\begin{pmatrix}&#10; U_{x}   &amp;  U_{y,1} &amp;  U_{z,1}\\&#10;-U_{x,3} &amp; -U_{y,3} &amp; -U_{z}\\&#10;-U_{x,2} &amp; -U_{y}   &amp; -U_{z,2}\\&#10;\end{pmatrix}&#10;\\\\&#10;(15:zyx)&#10;&amp; \Rightarrow &amp;&#10;\sigma&#10;\begin{pmatrix}&#10;U_{x,3} &amp; U_{y,3} &amp; U_{z}\\&#10;U_{x,2} &amp; U_{y}   &amp; U_{z,2}\\&#10;U_{x}   &amp; U_{y,1} &amp; U_{z,1}\\&#10;\end{pmatrix}&#10;\\\\&#10;(16:\bar{z}y\bar{x})&#10;&amp; \Rightarrow &amp;&#10;\sigma&#10;\begin{pmatrix}&#10;-U_{x,3} &amp; -U_{y,3} &amp; -U_{z}\\&#10; U_{x,2} &amp;  U_{y}   &amp;  U_{z,2}\\&#10;-U_{x}   &amp; -U_{y,1} &amp; -U_{z,1}\\&#10;\end{pmatrix}&#10;\\\\&#10;(17:yxz)&#10;&amp; \Rightarrow &amp;&#10;\sigma&#10;\begin{pmatrix}&#10;U_{x,2} &amp; U_{y}   &amp; U_{z,2}\\&#10;U_{x}   &amp; U_{y,1} &amp; U_{z,1}\\&#10;U_{x,3} &amp; U_{y,3} &amp; U_{z}\\&#10;\end{pmatrix}&#10;\\\\&#10;(18:\bar{y}\bar{x}z)&#10;&amp; \Rightarrow &amp;&#10;\sigma&#10;\begin{pmatrix}&#10;-U_{x,2} &amp; -U_{y,2} &amp; -U_{z,2}\\&#10;-U_{x,1} &amp; -U_{y,1} &amp; -U_{z,1}\\&#10; U_{x,3} &amp;  U_{y,3} &amp;  U_{z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4FF06C9E-7E27-4DC1-A827-EBFE891E7B8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92200" y="2085137"/>
            <a:ext cx="2957702" cy="4189268"/>
          </a:xfrm>
          <a:prstGeom prst="rect">
            <a:avLst/>
          </a:prstGeom>
        </p:spPr>
      </p:pic>
      <p:pic>
        <p:nvPicPr>
          <p:cNvPr id="19" name="Picture 18" descr="\documentclass{article}&#10;\usepackage{amsmath,bm,physics,array,multirow}&#10;\pagestyle{empty}&#10;&#10;\newcolumntype{C}{&gt;{$}c&lt;{$}}&#10;&#10;\begin{document}&#10;&#10;&#10;\begin{equation*}&#10;\begin{tabular}{CCC}&#10;(19:\bar{x}\bar{z}y)&#10;&amp; \Rightarrow &amp;&#10;\sigma&#10;\begin{pmatrix}&#10;-U_{x}   &amp; -U_{y,1} &amp; -U_{z,1}\\&#10;-U_{x,3} &amp; -U_{y,3} &amp; -U_{z}\\&#10; U_{x,2} &amp;  U_{y}   &amp;  U_{z,2}\\&#10;\end{pmatrix}&#10;\\\\&#10;(20:\bar{x}z\bar{y})&#10;&amp; \Rightarrow &amp;&#10;\sigma&#10;\begin{pmatrix}&#10;-U_{x,1} &amp; -U_{y,1} &amp; -U_{z,1}\\&#10; U_{x,3} &amp;  U_{y,3} &amp;  U_{z,3}\\&#10;-U_{x,2} &amp; -U_{y,2} &amp; -U_{z,2}\\&#10;\end{pmatrix}&#10;\\\\&#10;(21:z\bar{y}\bar{x})&#10;&amp; \Rightarrow &amp;&#10;\sigma&#10;\begin{pmatrix}&#10; U_{x,3} &amp;  U_{y,3} &amp;  U_{z}\\&#10;-U_{x,2} &amp; -U_{y}   &amp; -U_{z,2}\\&#10;-U_{x}   &amp; -U_{y,1} &amp; -U_{z,1}\\&#10;\end{pmatrix}&#10;\\\\&#10;(22:\bar{z}\bar{y}x)&#10;&amp; \Rightarrow &amp;&#10;\sigma&#10;\begin{pmatrix}&#10;-U_{x,3} &amp; -U_{y,3} &amp; -U_{z}\\&#10;-U_{x,2} &amp; -U_{y}   &amp; -U_{z,2}\\&#10; U_{x}   &amp;  U_{y,1} &amp;  U_{z,1}\\&#10;\end{pmatrix}&#10;\\\\&#10;(23:\bar{y}x\bar{z})&#10;&amp; \Rightarrow &amp;&#10;\sigma&#10;\begin{pmatrix}&#10;-U_{x,2} &amp; -U_{y}   &amp; -U_{z,2}\\&#10; U_{x,1} &amp;  U_{y,1} &amp;  U_{z,1}\\&#10;-U_{x,3} &amp; -U_{y,3} &amp; -U_{z}\\&#10;\end{pmatrix}&#10;\\\\&#10;(24:y\bar{x}\bar{z})&#10;&amp; \Rightarrow &amp;&#10;\sigma&#10;\begin{pmatrix}&#10; U_{x,2} &amp;  U_{y}   &amp;  U_{z,2}\\&#10;-U_{x}   &amp; -U_{y,1} &amp; -U_{z,1}\\&#10;-U_{x,3} &amp; -U_{y,3} &amp; -U_{z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630E0507-5AE5-428E-A452-939BCA99688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142102" y="2085137"/>
            <a:ext cx="2957697" cy="418926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583623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projected onto symmetries of Td</a:t>
            </a:r>
          </a:p>
        </p:txBody>
      </p:sp>
      <p:pic>
        <p:nvPicPr>
          <p:cNvPr id="7" name="Picture 6" descr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 title="IguanaTex Bitmap Display">
            <a:extLst>
              <a:ext uri="{FF2B5EF4-FFF2-40B4-BE49-F238E27FC236}">
                <a16:creationId xmlns:a16="http://schemas.microsoft.com/office/drawing/2014/main" id="{690E2082-1216-4477-A2F8-6E12E26887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09525" y="6168716"/>
            <a:ext cx="8572951" cy="362668"/>
          </a:xfrm>
          <a:prstGeom prst="rect">
            <a:avLst/>
          </a:prstGeom>
        </p:spPr>
      </p:pic>
      <p:pic>
        <p:nvPicPr>
          <p:cNvPr id="19" name="Picture 18" descr="\documentclass{article}&#10;\usepackage{amsmath,bm,eufrak}&#10;\pagestyle{empty}&#10;\begin{document}&#10;&#10;\begin{align*}&#10;f^{\left(A_{1}\right)}&#10;&amp;=&#10;\frac{1}{24}&#10;\sum_{\hat{R}\in \mathcal{T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801DF3DF-E4D4-4C1C-A5D6-32F153AB52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052953" y="1962147"/>
            <a:ext cx="2022093" cy="702479"/>
          </a:xfrm>
          <a:prstGeom prst="rect">
            <a:avLst/>
          </a:prstGeom>
        </p:spPr>
      </p:pic>
      <p:pic>
        <p:nvPicPr>
          <p:cNvPr id="23" name="Picture 22" descr="\documentclass{article}&#10;\usepackage{amsmath,bm,eufrak}&#10;\pagestyle{empty}&#10;\begin{document}&#10;&#10;\begin{align*}&#10;f^{\left(A_{2}\right)}&#10;&amp;=&#10;\frac{1}{24}&#10;\left(&#10;\sum_{\hat{R}\in \mathcal{T}_{0}}&#10;f_{\hat{R}}&#10;-&#10;\sum_{\hat{R}\in \mathcal{T}_{1}}&#10;f_{\hat{R}}&#10;\right)&#10;\\&#10;\end{align*}&#10;&#10;\end{document}" title="IguanaTex Bitmap Display">
            <a:extLst>
              <a:ext uri="{FF2B5EF4-FFF2-40B4-BE49-F238E27FC236}">
                <a16:creationId xmlns:a16="http://schemas.microsoft.com/office/drawing/2014/main" id="{E920065C-BB4C-4E1C-BADD-DC253C10FC0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95621" y="4158769"/>
            <a:ext cx="3600759" cy="911241"/>
          </a:xfrm>
          <a:prstGeom prst="rect">
            <a:avLst/>
          </a:prstGeom>
        </p:spPr>
      </p:pic>
      <p:pic>
        <p:nvPicPr>
          <p:cNvPr id="21" name="Picture 20" descr="\documentclass{article}&#10;\usepackage{amsmath,bm,physics,array,multirow}&#10;\pagestyle{empty}&#10;&#10;\newcolumntype{C}{&gt;{$}c&lt;{$}}&#10;&#10;\begin{document}&#10;&#10;\begin{gather*}&#10;\mathcal{T}_{0}&#10;=&#10;\left\{&#10;(xyz),&#10;(x\bar{y}\bar{z}),&#10;(\bar{x}y\bar{z}),&#10;(\bar{x}\bar{y}z),&#10;(yzx),&#10;(y\bar{z}\bar{x}),&#10;(\bar{y}z\bar{x}),&#10;(\bar{y}\bar{z}x),&#10;(zxy),&#10;(\bar{z}x\bar{y}),&#10;(\bar{z}\bar{x}y),&#10;(z\bar{x}\bar{y})&#10;\right\}&#10;\\&#10;\mathcal{T}_{1}&#10;=&#10;\left\{&#10;(xzy),&#10;(x\bar{z}\bar{y}),&#10;(zyx),&#10;(\bar{z}y\bar{x}),&#10;(yxz),&#10;(\bar{y}\bar{x}z),&#10;(\bar{x}\bar{z}y),&#10;(\bar{x}z\bar{y}),&#10;(z\bar{y}\bar{x}),&#10;(\bar{z}\bar{y}x),&#10;(\bar{y}x\bar{z}),&#10;(y\bar{x}\bar{z})&#10;\right\}&#10;\end{gather*}&#10;&#10;\end{document}" title="IguanaTex Bitmap Display">
            <a:extLst>
              <a:ext uri="{FF2B5EF4-FFF2-40B4-BE49-F238E27FC236}">
                <a16:creationId xmlns:a16="http://schemas.microsoft.com/office/drawing/2014/main" id="{402C4B87-4AA9-4C6A-8B6E-F657517F22A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308800" y="5326629"/>
            <a:ext cx="5574400" cy="380344"/>
          </a:xfrm>
          <a:prstGeom prst="rect">
            <a:avLst/>
          </a:prstGeom>
        </p:spPr>
      </p:pic>
      <p:pic>
        <p:nvPicPr>
          <p:cNvPr id="17" name="Picture 16" descr="\documentclass{article}&#10;\usepackage{amsmath,bm,physics,array,multirow}&#10;\pagestyle{empty}&#10;&#10;\newcolumntype{C}{&gt;{$}c&lt;{$}}&#10;&#10;\begin{document}&#10;&#10;\begin{equation*}&#10;\mathcal{T}&#10;=&#10;\left\{&#10;(xyz),&#10;(x\bar{y}\bar{z}),&#10;(\bar{x}y\bar{z}),&#10;(\bar{x}\bar{y}z)&#10;(yzx),&#10;(y\bar{z}\bar{x}),&#10;(\bar{y}z\bar{x}),&#10;(\bar{y}\bar{z}x),&#10;(zxy),&#10;(\bar{z}x\bar{y}),&#10;(\bar{z}\bar{x}y),&#10;(z\bar{x}\bar{y}),&#10;(xzy),&#10;(x\bar{z}\bar{y}),&#10;(zyx),&#10;(\bar{z}y\bar{x}),&#10;(yxz),&#10;(\bar{y}\bar{x}z),&#10;(\bar{x}\bar{z}y),&#10;(\bar{x}z\bar{y}),&#10;(z\bar{y}\bar{x}),&#10;(\bar{z}\bar{y}x),&#10;(\bar{y}x\bar{z}),&#10;(y\bar{x}\bar{z})&#10;\right\}&#10;\end{equation*}&#10;&#10;\end{document}" title="IguanaTex Bitmap Display">
            <a:extLst>
              <a:ext uri="{FF2B5EF4-FFF2-40B4-BE49-F238E27FC236}">
                <a16:creationId xmlns:a16="http://schemas.microsoft.com/office/drawing/2014/main" id="{A429B56B-0E40-46A2-8516-73E8CBF88FC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81257" y="2834978"/>
            <a:ext cx="10629486" cy="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16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Effect of Td operations on solid angle coordinates</a:t>
            </a:r>
          </a:p>
        </p:txBody>
      </p:sp>
      <p:pic>
        <p:nvPicPr>
          <p:cNvPr id="32" name="Picture 31" descr="\documentclass{article}&#10;\usepackage{amsmath,amssymb,bm,array}&#10;\pagestyle{empty}&#10;&#10;\newcolumntype{C}{&gt;{$}c&lt;{$}}&#10;\DeclareMathOperator{\atan}{atan}&#10;&#10;\begin{document}&#10;&#10;\begin{equation*}&#10;\begin{tabular}{!{\vrule width 2pt}C!{\vrule width 1pt}C!{\vrule width 3pt}C!{\vrule width 1pt}C!{\vrule width 2pt}}&#10;\noalign{\hrule height 2pt}&#10; 1 &amp; (xyz)             &amp;       \theta &amp;       \phi \\&#10; 2 &amp; (x\bar{y}\bar{z}) &amp; \pi - \theta &amp;      -\phi \\ &#10; 3 &amp; (\bar{x}y\bar{z}) &amp; \pi - \theta &amp; \pi - \phi \\ &#10; 4 &amp; (\bar{x}\bar{y}z) &amp;     - \theta &amp;       \phi \\&#10;\noalign{\hrule height 1.2pt}&#10; 5 &amp; (yzx)             &amp; \theta_{yzx} = \atan\left(\sqrt{\cos\left(\theta\right)^{2}+\sin\left(\theta\right)^{2}\sin\left(\phi\right)^{2}}, \sin\left(\theta\right)\cos\left(\phi\right)\right) &amp; \phi_{yzx} = \atan\left( \cos\left(\theta\right), \sin\left(\theta\right)\sin\left(\phi\right) \right) \\&#10; 6 &amp; (y\bar{z}\bar{x}) &amp;                                                                                                                                                     \pi - \theta_{yzx} &amp;                                                                                           - \phi_{yzx} \\&#10; 7 &amp; (\bar{y}z\bar{x}) &amp;                                                                                                                                                     \pi - \theta_{yzx} &amp;                                                                                       \pi - \phi_{yzx} \\&#10; 8 &amp; (\bar{y}\bar{z}x) &amp;                                                                                                                                                         - \theta_{yzx} &amp;                                                                                             \phi_{yzx} \\&#10;\noalign{\hrule height 1.2pt}&#10; 9 &amp; (zxy)             &amp; \theta_{zxy} = \atan\left(\sqrt{\cos\left(\theta\right)^{2}+\sin\left(\theta\right)^{2}\cos\left(\phi\right)^{2}}, \sin\left(\theta\right)\sin\left(\phi\right)\right) &amp; \phi_{zxy} = \atan\left( \sin\left(\theta\right)\cos\left(\phi\right), \cos\left(\theta\right) \right) \\&#10;10 &amp; (\bar{z}x\bar{y}) &amp;                                                                                                                                                     \pi - \theta_{zxy} &amp;                                                                                       \pi - \phi_{zxy} \\&#10;11 &amp; (\bar{z}\bar{x}y) &amp;                                                                                                                                                         - \theta_{zxy} &amp;                                                                                             \phi_{zxy} \\&#10;12 &amp; (z\bar{x}\bar{y}) &amp;                                                                                                                                                     \pi - \theta_{zxy} &amp;                                                                                           - \phi_{zxy} \\&#10;\noalign{\hrule height 1.2pt}&#10;13 &amp; (xzy)             &amp;                                                                                                                                                           \theta_{zxy} &amp;                                                                             \frac{\pi}{2} - \phi_{zxy} \\&#10;14 &amp; (x\bar{z}\bar{y}) &amp;                                                                                                                                                     \pi - \theta_{zxy} &amp;                                                                           - \frac{\pi}{2} + \phi_{zxy} \\&#10;19 &amp; (\bar{x}\bar{z}y) &amp;                                                                                                                                                         - \theta_{zxy} &amp;                                                                             \frac{\pi}{2} - \phi_{zxy} \\&#10;20 &amp; (\bar{x}z\bar{y}) &amp;                                                                                                                                                     \pi - \theta_{zxy} &amp;                                                                             \frac{\pi}{2} + \phi_{zxy} \\&#10;\noalign{\hrule height 1.2pt}&#10;15 &amp; (zyx)             &amp;                                                                                                                                                           \theta_{yzx} &amp;                                                                             \frac{\pi}{2} - \phi_{yzx} \\&#10;16 &amp; (\bar{z}y\bar{x}) &amp;                                                                                                                                                     \pi - \theta_{yzx} &amp;                                                                             \frac{\pi}{2} + \phi_{yzx} \\&#10;21 &amp; (z\bar{y}\bar{x}) &amp;                                                                                                                                                     \pi - \theta_{yzx} &amp;                                                                           - \frac{\pi}{2} + \phi_{yzx} \\&#10;22 &amp; (\bar{z}\bar{y}x) &amp;                                                                                                                                                         - \theta_{yzx} &amp;                                                                             \frac{\pi}{2} - \phi_{yzx} \\&#10;\noalign{\hrule height 1.2pt}&#10;17 &amp; (yxz)             &amp;                                                                                                                                                           \theta &amp;                                                                                         \frac{\pi}{2} - \phi \\&#10;18 &amp; (\bar{y}\bar{x}z) &amp;                                                                                                                                                         - \theta &amp;                                                                                         \frac{\pi}{2} - \phi \\&#10;23 &amp; (\bar{y}x\bar{z}) &amp;                                                                                                                                                     \pi - \theta &amp;                                                                                         \frac{\pi}{2} + \phi \\&#10;24 &amp; (y\bar{x}\bar{z}) &amp;                                                                                                                                                     \pi - \theta &amp;                                                                                       - \frac{\pi}{2} + \phi \\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D22697DA-87B4-4995-A294-E352A49D5C4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62057" y="1805833"/>
            <a:ext cx="7467886" cy="48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14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projected onto symmetries of Td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f&#10;&amp;=&#10;\sum_{j \in \Gamma\left(T_{d}\right)}&#10;\sum_{\kappa = 1}^{l_{j}}&#10;f^{(j)}_{\kappa\kappa}&#10;\\&#10;f^{(j)}_{\lambda\kappa}&#10;&amp;=&#10;\frac{l_{j}}{h}&#10;\sum_{\hat{R}\in T_{d}}&#10;\left(\Gamma_{\hat{R}}^{(j)}\right)_{\lambda\kappa}^{*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75B5821C-95C1-4612-895B-B9DDF4E673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38858" y="2351170"/>
            <a:ext cx="2875427" cy="1676197"/>
          </a:xfrm>
          <a:prstGeom prst="rect">
            <a:avLst/>
          </a:prstGeom>
        </p:spPr>
      </p:pic>
      <p:pic>
        <p:nvPicPr>
          <p:cNvPr id="7" name="Picture 6" descr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 title="IguanaTex Bitmap Display">
            <a:extLst>
              <a:ext uri="{FF2B5EF4-FFF2-40B4-BE49-F238E27FC236}">
                <a16:creationId xmlns:a16="http://schemas.microsoft.com/office/drawing/2014/main" id="{690E2082-1216-4477-A2F8-6E12E26887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09525" y="5806048"/>
            <a:ext cx="8572951" cy="3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43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9674443" cy="853311"/>
          </a:xfrm>
        </p:spPr>
        <p:txBody>
          <a:bodyPr/>
          <a:lstStyle/>
          <a:p>
            <a:r>
              <a:rPr lang="en-US" dirty="0"/>
              <a:t>Multiplication table of Td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Useful for defining a particular order of elements in Td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045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Multiplication table for Td by coordinate transformations</a:t>
            </a:r>
          </a:p>
        </p:txBody>
      </p:sp>
      <p:pic>
        <p:nvPicPr>
          <p:cNvPr id="4" name="Picture 3" descr="\documentclass{article}&#10;\usepackage{amsmath,bm,physics,array,multirow}&#10;\pagestyle{empty}&#10;&#10;\newcolumntype{C}{&gt;{$}c&lt;{$}}&#10;&#10;\begin{document}&#10;&#10;\begin{equation*}&#10;\begin{tabular}{!{\vrule width 2pt}CC!{\vrule width 3pt}C!{\vrule width 1.5pt}C|C|C!{\vrule width 1.5pt}C|C|C|C!{\vrule width 1.5pt}C|C|C|C!{\vrule width 1.5pt}C|C|C|C|C|C!{\vrule width 1.5pt}C|C|C|C|C|C!{\vrule width 2pt}}&#10;\noalign{\hrule height 2pt}&#10;\multicolumn{2}{!{\vrule width 2pt}C!{\vrule width 3pt}}{} &amp; &#10;                                                        E     &amp; \multicolumn{3}{C!{\vrule width 1.5pt}}{C_{2}}            &amp; \multicolumn{4}{C!{\vrule width 1.5pt}}{C_{3}}                                &amp; \multicolumn{4}{C!{\vrule width 1.5pt}}{C_{3}^{\prime}}                       &amp; \multicolumn{6}{C!{\vrule width 1.5pt}}{\sigma_{d}}                                                                   &amp; \multicolumn{6}{C!{\vrule width 2pt}}{S_{4}} \\&#10;\multicolumn{2}{!{\vrule width 2pt}C!{\vrule width 3pt}}{} &amp;&#10;                                                       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3pt}&#10;E                                 &amp; (xyz)             &amp;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1.2pt}&#10;\multirow{3}{*}{$C_{2}$}          &amp; (x\bar{y}\bar{z}) &amp; (x\bar{y}\bar{z}) &amp; (xyz)             &amp; (\bar{x}\bar{y}z) &amp; (\bar{x}y\bar{z}) &amp; (\bar{y}\bar{z}x) &amp; (\bar{y}z\bar{x}) &amp; (y\bar{z}\bar{x}) &amp; (yzx)             &amp; (\bar{z}x\bar{y}) &amp; (zxy)             &amp; (z\bar{x}\bar{y}) &amp; (\bar{z}\bar{x}y) &amp; (x\bar{z}\bar{y}) &amp; (xzy)             &amp; (\bar{z}\bar{y}x) &amp; (z\bar{y}\bar{x}) &amp; (\bar{y}x\bar{z}) &amp; (y\bar{x}\bar{z}) &amp; (\bar{x}z\bar{y}) &amp; (\bar{x}\bar{z}y) &amp; (\bar{z}y\bar{x}) &amp; (zyx)             &amp; (yxz)             &amp; (\bar{y}\bar{x}z) \\ \cline{2-26}&#10;                                  &amp; (\bar{x}y\bar{z}) &amp; (\bar{x}y\bar{z}) &amp; (\bar{x}\bar{y}z) &amp; (xyz)             &amp; (x\bar{y}\bar{z}) &amp; (y\bar{z}\bar{x}) &amp; (yzx)             &amp; (\bar{y}\bar{z}x) &amp; (\bar{y}z\bar{x}) &amp; (\bar{z}\bar{x}y) &amp; (z\bar{x}\bar{y}) &amp; (zxy)             &amp; (\bar{z}x\bar{y}) &amp; (\bar{x}\bar{z}y) &amp; (\bar{x}z\bar{y}) &amp; (\bar{z}y\bar{x}) &amp; (zyx)             &amp; (y\bar{x}\bar{z}) &amp; (\bar{y}x\bar{z}) &amp; (xzy)             &amp; (x\bar{z}\bar{y}) &amp; (\bar{z}\bar{y}x) &amp; (z\bar{y}\bar{x}) &amp; (\bar{y}\bar{x}z) &amp; (yxz)             \\ \cline{2-26}&#10;                                  &amp; (\bar{x}\bar{y}z) &amp; (\bar{x}\bar{y}z) &amp; (\bar{x}y\bar{z}) &amp; (x\bar{y}\bar{z}) &amp; (xyz)             &amp; (\bar{y}z\bar{x}) &amp; (\bar{y}\bar{z}x) &amp; (yzx)             &amp; (y\bar{z}\bar{x}) &amp; (z\bar{x}\bar{y}) &amp; (\bar{z}\bar{x}y) &amp; (\bar{z}x\bar{y}) &amp; (zxy)             &amp; (\bar{x}z\bar{y}) &amp; (\bar{x}\bar{z}y) &amp; (z\bar{y}\bar{x}) &amp; (\bar{z}\bar{y}x) &amp; (\bar{y}\bar{x}z) &amp; (yxz)             &amp; (x\bar{z}\bar{y}) &amp; (xzy)             &amp; (zyx)             &amp; (\bar{z}y\bar{x}) &amp; (y\bar{x}\bar{z}) &amp; (\bar{y}x\bar{z}) \\ \noalign{\hrule height 1.2pt}&#10;\multirow{4}{*}{$C_{4}$}          &amp; (yzx)             &amp; (yzx)             &amp; (y\bar{z}\bar{x}) &amp; (\bar{y}z\bar{x}) &amp; (\bar{y}\bar{z}x) &amp; (zxy)             &amp; (z\bar{x}\bar{y}) &amp; (\bar{z}x\bar{y}) &amp; (\bar{z}\bar{x}y) &amp; (xyz)             &amp; (\bar{x}y\bar{z}) &amp; (\bar{x}\bar{y}z) &amp; (x\bar{y}\bar{z}) &amp; (yxz)             &amp; (y\bar{x}\bar{z}) &amp; (xzy)             &amp; (\bar{x}z\bar{y}) &amp; (zyx)             &amp; (\bar{z}\bar{y}x) &amp; (\bar{y}\bar{x}z) &amp; (\bar{y}x\bar{z}) &amp; (x\bar{z}\bar{y}) &amp; (\bar{x}\bar{z}y) &amp; (\bar{z}y\bar{x}) &amp; (z\bar{y}\bar{x}) \\ \cline{2-26}&#10;                                  &amp; (y\bar{z}\bar{x}) &amp; (y\bar{z}\bar{x}) &amp; (yzx)             &amp; (\bar{y}\bar{z}x) &amp; (\bar{y}z\bar{x}) &amp; (\bar{z}\bar{x}y) &amp; (\bar{z}x\bar{y}) &amp; (z\bar{x}\bar{y}) &amp; (zxy)             &amp; (\bar{x}y\bar{z}) &amp; (xyz)             &amp; (x\bar{y}\bar{z}) &amp; (\bar{x}\bar{y}z) &amp; (y\bar{x}\bar{z}) &amp; (yxz)             &amp; (\bar{x}\bar{z}y) &amp; (x\bar{z}\bar{y}) &amp; (\bar{z}y\bar{x}) &amp; (z\bar{y}\bar{x}) &amp; (\bar{y}x\bar{z}) &amp; (\bar{y}\bar{x}z) &amp; (\bar{x}z\bar{y}) &amp; (xzy)             &amp; (zyx)             &amp; (\bar{z}\bar{y}x) \\ \cline{2-26}&#10;                                  &amp; (\bar{y}z\bar{x}) &amp; (\bar{y}z\bar{x}) &amp; (\bar{y}\bar{z}x) &amp; (yzx)             &amp; (y\bar{z}\bar{x}) &amp; (z\bar{x}\bar{y}) &amp; (zxy)             &amp; (\bar{z}\bar{x}y) &amp; (\bar{z}x\bar{y}) &amp; (\bar{x}\bar{y}z) &amp; (x\bar{y}\bar{z}) &amp; (xyz)             &amp; (\bar{x}y\bar{z}) &amp; (\bar{y}\bar{x}z) &amp; (\bar{y}x\bar{z}) &amp; (\bar{x}z\bar{y}) &amp; (xzy)             &amp; (z\bar{y}\bar{x}) &amp; (\bar{z}y\bar{x}) &amp; (yxz)             &amp; (y\bar{x}\bar{z}) &amp; (\bar{x}\bar{z}y) &amp; (x\bar{z}\bar{y}) &amp; (\bar{z}\bar{y}x) &amp; (zyx)             \\ \cline{2-26}&#10;                                  &amp; (\bar{y}\bar{z}x) &amp; (\bar{y}\bar{z}x) &amp; (\bar{y}z\bar{x}) &amp; (y\bar{z}\bar{x}) &amp; (yzx)             &amp; (\bar{z}x\bar{y}) &amp; (\bar{z}\bar{x}y) &amp; (zxy)             &amp; (z\bar{x}\bar{y}) &amp; (x\bar{y}\bar{z}) &amp; (\bar{x}\bar{y}z) &amp; (\bar{x}y\bar{z}) &amp; (xyz)             &amp; (\bar{y}x\bar{z}) &amp; (\bar{y}\bar{x}z) &amp; (x\bar{z}\bar{y}) &amp; (\bar{x}\bar{z}y) &amp; (\bar{z}\bar{y}x) &amp; (zyx)             &amp; (y\bar{x}\bar{z}) &amp; (yxz)             &amp; (xzy)             &amp; (\bar{x}z\bar{y}) &amp; (z\bar{y}\bar{x}) &amp; (\bar{z}y\bar{x}) \\ \noalign{\hrule height 1.2pt}&#10;\multirow{4}{*}{$C_{4}^{\prime}$} &amp; (zxy)             &amp; (zxy)             &amp; (z\bar{x}\bar{y}) &amp; (\bar{z}x\bar{y}) &amp; (\bar{z}\bar{x}y) &amp; (xyz)             &amp; (x\bar{y}\bar{z}) &amp; (\bar{x}y\bar{z}) &amp; (\bar{x}\bar{y}z) &amp; (yzx)             &amp; (\bar{y}z\bar{x}) &amp; (\bar{y}\bar{z}x) &amp; (y\bar{z}\bar{x}) &amp; (zyx)             &amp; (z\bar{y}\bar{x}) &amp; (yxz)             &amp; (\bar{y}x\bar{z}) &amp; (xzy)             &amp; (\bar{x}\bar{z}y) &amp; (\bar{z}\bar{y}x) &amp; (\bar{z}y\bar{x}) &amp; (y\bar{x}\bar{z}) &amp; (\bar{y}\bar{x}z) &amp; (\bar{x}z\bar{y}) &amp; (x\bar{z}\bar{y}) \\ \cline{2-26}&#10;                                  &amp; (\bar{z}x\bar{y}) &amp; (\bar{z}x\bar{y}) &amp; (\bar{z}\bar{x}y) &amp; (zxy)             &amp; (z\bar{x}\bar{y}) &amp; (x\bar{y}\bar{z}) &amp; (xyz)             &amp; (\bar{x}\bar{y}z) &amp; (\bar{x}y\bar{z}) &amp; (\bar{y}\bar{z}x) &amp; (y\bar{z}\bar{x}) &amp; (yzx)             &amp; (\bar{y}z\bar{x}) &amp; (\bar{z}\bar{y}x) &amp; (\bar{z}y\bar{x}) &amp; (\bar{y}x\bar{z}) &amp; (yxz)             &amp; (x\bar{z}\bar{y}) &amp; (\bar{x}z\bar{y}) &amp; (zyx)             &amp; (z\bar{y}\bar{x}) &amp; (\bar{y}\bar{x}z) &amp; (y\bar{x}\bar{z}) &amp; (\bar{x}\bar{z}y) &amp; (xzy)             \\ \cline{2-26}&#10;                                  &amp; (\bar{z}\bar{x}y) &amp; (\bar{z}\bar{x}y) &amp; (\bar{z}x\bar{y}) &amp; (z\bar{x}\bar{y}) &amp; (zxy)             &amp; (\bar{x}y\bar{z}) &amp; (\bar{x}\bar{y}z) &amp; (xyz)             &amp; (x\bar{y}\bar{z}) &amp; (y\bar{z}\bar{x}) &amp; (\bar{y}\bar{z}x) &amp; (\bar{y}z\bar{x}) &amp; (yzx)             &amp; (\bar{z}y\bar{x}) &amp; (\bar{z}\bar{y}x) &amp; (y\bar{x}\bar{z}) &amp; (\bar{y}\bar{x}z) &amp; (\bar{x}\bar{z}y) &amp; (xzy)             &amp; (z\bar{y}\bar{x}) &amp; (zyx)             &amp; (yxz)             &amp; (\bar{y}x\bar{z}) &amp; (x\bar{z}\bar{y}) &amp; (\bar{x}z\bar{y}) \\ \cline{2-26}&#10;                                  &amp; (z\bar{x}\bar{y}) &amp; (z\bar{x}\bar{y}) &amp; (zxy)             &amp; (\bar{z}\bar{x}y) &amp; (\bar{z}x\bar{y}) &amp; (\bar{x}\bar{y}z) &amp; (\bar{x}y\bar{z}) &amp; (x\bar{y}\bar{z}) &amp; (xyz)             &amp; (\bar{y}z\bar{x}) &amp; (yzx)             &amp; (y\bar{z}\bar{x}) &amp; (\bar{y}\bar{z}x) &amp; (z\bar{y}\bar{x}) &amp; (zyx)             &amp; (\bar{y}\bar{x}z) &amp; (y\bar{x}\bar{z}) &amp; (\bar{x}z\bar{y}) &amp; (x\bar{z}\bar{y}) &amp; (\bar{z}y\bar{x}) &amp; (\bar{z}\bar{y}x) &amp; (\bar{y}x\bar{z}) &amp; (yxz)             &amp; (xzy)             &amp; (\bar{x}\bar{z}y) \\ \noalign{\hrule height 1.2pt}&#10;\multirow{6}{*}{$\sigma_{d}$}     &amp; (xzy)             &amp; (xzy)             &amp; (x\bar{z}\bar{y}) &amp; (\bar{x}z\bar{y}) &amp; (\bar{x}\bar{z}y) &amp; (zyx)             &amp; (z\bar{y}\bar{x}) &amp; (\bar{z}y\bar{x}) &amp; (\bar{z}\bar{y}x) &amp; (yxz)             &amp; (\bar{y}x\bar{z}) &amp; (\bar{y}\bar{x}z) &amp; (y\bar{x}\bar{z}) &amp; (xyz)             &amp; (x\bar{y}\bar{z}) &amp; (yzx)             &amp; (\bar{y}z\bar{x}) &amp; (zxy)             &amp; (\bar{z}\bar{x}y) &amp; (\bar{x}\bar{y}z) &amp; (\bar{x}y\bar{z}) &amp; (y\bar{z}\bar{x}) &amp; (\bar{y}\bar{z}x) &amp; (\bar{z}x\bar{y}) &amp; (z\bar{x}\bar{y}) \\ \cline{2-26}&#10;                                  &amp; (x\bar{z}\bar{y}) &amp; (x\bar{z}\bar{y}) &amp; (xzy)             &amp; (\bar{x}\bar{z}y) &amp; (\bar{x}z\bar{y}) &amp; (\bar{z}\bar{y}x) &amp; (\bar{z}y\bar{x}) &amp; (z\bar{y}\bar{x}) &amp; (zyx)             &amp; (\bar{y}x\bar{z}) &amp; (yxz)             &amp; (y\bar{x}\bar{z}) &amp; (\bar{y}\bar{x}z) &amp; (x\bar{y}\bar{z}) &amp; (xyz)             &amp; (\bar{y}\bar{z}x) &amp; (y\bar{z}\bar{x}) &amp; (\bar{z}x\bar{y}) &amp; (z\bar{x}\bar{y}) &amp; (\bar{x}y\bar{z}) &amp; (\bar{x}\bar{y}z) &amp; (\bar{y}z\bar{x}) &amp; (yzx)             &amp; (zxy)             &amp; (\bar{z}\bar{x}y) \\ \cline{2-26}&#10;                                  &amp; (zyx)             &amp; (zyx)             &amp; (z\bar{y}\bar{x}) &amp; (\bar{z}y\bar{x}) &amp; (\bar{z}\bar{y}x) &amp; (yxz)             &amp; (y\bar{x}\bar{z}) &amp; (\bar{y}x\bar{z}) &amp; (\bar{y}\bar{x}z) &amp; (xzy)             &amp; (\bar{x}z\bar{y}) &amp; (\bar{x}\bar{z}y) &amp; (x\bar{z}\bar{y}) &amp; (zxy)             &amp; (z\bar{x}\bar{y}) &amp; (xyz)             &amp; (\bar{x}y\bar{z}) &amp; (yzx)             &amp; (\bar{y}\bar{z}x) &amp; (\bar{z}\bar{x}y) &amp; (\bar{z}x\bar{y}) &amp; (x\bar{y}\bar{z}) &amp; (\bar{x}\bar{y}z) &amp; (\bar{y}z\bar{x}) &amp; (y\bar{z}\bar{x}) \\ \cline{2-26}&#10;                                  &amp; (\bar{z}y\bar{x}) &amp; (\bar{z}y\bar{x}) &amp; (\bar{z}\bar{y}x) &amp; (zyx)             &amp; (z\bar{y}\bar{x}) &amp; (y\bar{x}\bar{z}) &amp; (yxz)             &amp; (\bar{y}\bar{x}z) &amp; (\bar{y}x\bar{z}) &amp; (\bar{x}\bar{z}y) &amp; (x\bar{z}\bar{y}) &amp; (xzy)             &amp; (\bar{x}z\bar{y}) &amp; (\bar{z}\bar{x}y) &amp; (\bar{z}x\bar{y}) &amp; (\bar{x}y\bar{z}) &amp; (xyz)             &amp; (y\bar{z}\bar{x}) &amp; (\bar{y}z\bar{x}) &amp; (zxy)             &amp; (z\bar{x}\bar{y}) &amp; (\bar{x}\bar{y}z) &amp; (x\bar{y}\bar{z}) &amp; (\bar{y}\bar{z}x) &amp; (yzx)             \\ \cline{2-26}&#10;                                  &amp; (yxz)             &amp; (yxz)             &amp; (y\bar{x}\bar{z}) &amp; (\bar{y}x\bar{z}) &amp; (\bar{y}\bar{x}z) &amp; (xzy)             &amp; (x\bar{z}\bar{y}) &amp; (\bar{x}z\bar{y}) &amp; (\bar{x}\bar{z}y) &amp; (zyx)             &amp; (\bar{z}y\bar{x}) &amp; (\bar{z}\bar{y}x) &amp; (z\bar{y}\bar{x}) &amp; (yzx)             &amp; (y\bar{z}\bar{x}) &amp; (zxy)             &amp; (\bar{z}x\bar{y}) &amp; (xyz)             &amp; (\bar{x}\bar{y}z) &amp; (\bar{y}\bar{z}x) &amp; (\bar{y}z\bar{x}) &amp; (z\bar{x}\bar{y}) &amp; (\bar{z}\bar{x}y) &amp; (\bar{x}y\bar{z}) &amp; (x\bar{y}\bar{z}) \\ \cline{2-26}&#10;                                  &amp; (\bar{y}\bar{x}z) &amp; (\bar{y}\bar{x}z) &amp; (\bar{y}x\bar{z}) &amp; (y\bar{x}\bar{z}) &amp; (yxz)             &amp; (\bar{x}z\bar{y}) &amp; (\bar{x}\bar{z}y) &amp; (xzy)             &amp; (x\bar{z}\bar{y}) &amp; (z\bar{y}\bar{x}) &amp; (\bar{z}\bar{y}x) &amp; (\bar{z}y\bar{x}) &amp; (zyx)             &amp; (\bar{y}z\bar{x}) &amp; (\bar{y}\bar{z}x) &amp; (z\bar{x}\bar{y}) &amp; (\bar{z}\bar{x}y) &amp; (\bar{x}\bar{y}z) &amp; (xyz)             &amp; (y\bar{z}\bar{x}) &amp; (yzx)             &amp; (zxy)             &amp; (\bar{z}x\bar{y}) &amp; (x\bar{y}\bar{z}) &amp; (\bar{x}y\bar{z}) \\ \noalign{\hrule height 1.2pt}&#10;\multirow{6}{*}{$S_{4}$}          &amp; (\bar{x}\bar{z}y) &amp; (\bar{x}\bar{z}y) &amp; (\bar{x}z\bar{y}) &amp; (x\bar{z}\bar{y}) &amp; (xzy)             &amp; (\bar{z}y\bar{x}) &amp; (\bar{z}\bar{y}x) &amp; (zyx)             &amp; (z\bar{y}\bar{x}) &amp; (y\bar{x}\bar{z}) &amp; (\bar{y}\bar{x}z) &amp; (\bar{y}x\bar{z}) &amp; (yxz)             &amp; (\bar{x}y\bar{z}) &amp; (\bar{x}\bar{y}z) &amp; (y\bar{z}\bar{x}) &amp; (\bar{y}\bar{z}x) &amp; (\bar{z}\bar{x}y) &amp; (zxy)             &amp; (x\bar{y}\bar{z}) &amp; (xyz)             &amp; (yzx)             &amp; (\bar{y}z\bar{x}) &amp; (z\bar{x}\bar{y}) &amp; (\bar{z}x\bar{y}) \\ \cline{2-26}&#10;                                  &amp; (\bar{x}z\bar{y}) &amp; (\bar{x}z\bar{y}) &amp; (\bar{x}\bar{z}y) &amp; (xzy)             &amp; (x\bar{z}\bar{y}) &amp; (z\bar{y}\bar{x}) &amp; (zyx)             &amp; (\bar{z}\bar{y}x) &amp; (\bar{z}y\bar{x}) &amp; (\bar{y}\bar{x}z) &amp; (y\bar{x}\bar{z}) &amp; (yxz)             &amp; (\bar{y}x\bar{z}) &amp; (\bar{x}\bar{y}z) &amp; (\bar{x}y\bar{z}) &amp; (\bar{y}z\bar{x}) &amp; (yzx)             &amp; (z\bar{x}\bar{y}) &amp; (\bar{z}x\bar{y}) &amp; (xyz)             &amp; (x\bar{y}\bar{z}) &amp; (\bar{y}\bar{z}x) &amp; (y\bar{z}\bar{x}) &amp; (\bar{z}\bar{x}y) &amp; (zxy)             \\ \cline{2-26}&#10;                                  &amp; (z\bar{y}\bar{x}) &amp; (z\bar{y}\bar{x}) &amp; (zyx)             &amp; (\bar{z}\bar{y}x) &amp; (\bar{z}y\bar{x}) &amp; (\bar{y}\bar{x}z) &amp; (\bar{y}x\bar{z}) &amp; (y\bar{x}\bar{z}) &amp; (yxz)             &amp; (\bar{x}z\bar{y}) &amp; (xzy)             &amp; (x\bar{z}\bar{y}) &amp; (\bar{x}\bar{z}y) &amp; (z\bar{x}\bar{y}) &amp; (zxy)             &amp; (\bar{x}\bar{y}z) &amp; (x\bar{y}\bar{z}) &amp; (\bar{y}z\bar{x}) &amp; (y\bar{z}\bar{x}) &amp; (\bar{z}x\bar{y}) &amp; (\bar{z}\bar{x}y) &amp; (\bar{x}y\bar{z}) &amp; (xyz)             &amp; (yzx)             &amp; (\bar{y}\bar{z}x) \\ \cline{2-26}&#10;                                  &amp; (\bar{z}\bar{y}x) &amp; (\bar{z}\bar{y}x) &amp; (\bar{z}y\bar{x}) &amp; (z\bar{y}\bar{x}) &amp; (zyx)             &amp; (\bar{y}x\bar{z}) &amp; (\bar{y}\bar{x}z) &amp; (yxz)             &amp; (y\bar{x}\bar{z}) &amp; (x\bar{z}\bar{y}) &amp; (\bar{x}\bar{z}y) &amp; (\bar{x}z\bar{y}) &amp; (xzy)             &amp; (\bar{z}x\bar{y}) &amp; (\bar{z}\bar{x}y) &amp; (x\bar{y}\bar{z}) &amp; (\bar{x}\bar{y}z) &amp; (\bar{y}\bar{z}x) &amp; (yzx)             &amp; (z\bar{x}\bar{y}) &amp; (zxy)             &amp; (xyz)             &amp; (\bar{x}y\bar{z}) &amp; (y\bar{z}\bar{x}) &amp; (\bar{y}z\bar{x}) \\ \cline{2-26}&#10;                                  &amp; (\bar{y}x\bar{z}) &amp; (\bar{y}x\bar{z}) &amp; (\bar{y}\bar{x}z) &amp; (yxz)             &amp; (y\bar{x}\bar{z}) &amp; (x\bar{z}\bar{y}) &amp; (xzy)             &amp; (\bar{x}\bar{z}y) &amp; (\bar{x}z\bar{y}) &amp; (\bar{z}\bar{y}x) &amp; (z\bar{y}\bar{x}) &amp; (zyx)             &amp; (\bar{z}y\bar{x}) &amp; (\bar{y}\bar{z}x) &amp; (\bar{y}z\bar{x}) &amp; (\bar{z}x\bar{y}) &amp; (zxy)             &amp; (x\bar{y}\bar{z}) &amp; (\bar{x}y\bar{z}) &amp; (yzx)             &amp; (y\bar{z}\bar{x}) &amp; (\bar{z}\bar{x}y) &amp; (z\bar{x}\bar{y}) &amp; (\bar{x}\bar{y}z) &amp; (xyz)             \\ \cline{2-26}&#10;                                  &amp; (y\bar{x}\bar{z}) &amp; (y\bar{x}\bar{z}) &amp; (yxz)             &amp; (\bar{y}\bar{x}z) &amp; (\bar{y}x\bar{z}) &amp; (\bar{x}\bar{z}y) &amp; (\bar{x}z\bar{y}) &amp; (x\bar{z}\bar{y}) &amp; (xzy)             &amp; (\bar{z}y\bar{x}) &amp; (zyx)             &amp; (z\bar{y}\bar{x}) &amp; (\bar{z}\bar{y}x) &amp; (y\bar{z}\bar{x}) &amp; (yzx)             &amp; (\bar{z}\bar{x}y) &amp; (z\bar{x}\bar{y}) &amp; (\bar{x}y\bar{z}) &amp; (x\bar{y}\bar{z}) &amp; (\bar{y}z\bar{x}) &amp; (\bar{y}\bar{z}x) &amp; (\bar{z}x\bar{y}) &amp; (zxy)             &amp; (xyz)             &amp; (\bar{x}\bar{y}z) \\ \cline{2-26} 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68BFA760-32D9-4167-8936-25251409FE6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096" y="2016576"/>
            <a:ext cx="11907721" cy="411047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465912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Multiplication table for Td by operator index</a:t>
            </a:r>
          </a:p>
        </p:txBody>
      </p:sp>
      <p:pic>
        <p:nvPicPr>
          <p:cNvPr id="5" name="Picture 4" descr="\documentclass{article}&#10;\usepackage{amsmath,bm,physics,array,multirow}&#10;\pagestyle{empty}&#10;&#10;\newcolumntype{C}{&gt;{$}c&lt;{$}}&#10;&#10;\begin{document}&#10;&#10;\begin{equation*}&#10;\begin{tabular}{!{\vrule width 2pt}CC!{\vrule width 3pt}C!{\vrule width 1.5pt}C|C|C!{\vrule width 1.5pt}C|C|C|C!{\vrule width 1.5pt}C|C|C|C!{\vrule width 1.5pt}C|C|C|C|C|C!{\vrule width 1.5pt}C|C|C|C|C|C!{\vrule width 2pt}}&#10;\noalign{\hrule height 2pt}&#10;\multicolumn{2}{!{\vrule width 2pt}C!{\vrule width 3pt}}{} &amp; &#10;                                                        E     &amp; \multicolumn{3}{C!{\vrule width 1.5pt}}{C_{2}}            &amp; \multicolumn{4}{C!{\vrule width 1.5pt}}{C_{3}}                                &amp; \multicolumn{4}{C!{\vrule width 1.5pt}}{C_{3}^{\prime}}                       &amp; \multicolumn{6}{C!{\vrule width 1.5pt}}{\sigma_{d}}                                                                   &amp; \multicolumn{6}{C!{\vrule width 2pt}}{S_{4}} \\&#10;\multicolumn{2}{!{\vrule width 2pt}C!{\vrule width 3pt}}{} &amp;&#10;                                                       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3pt}&#10;E                                 &amp; (xyz)             &amp; 1                 &amp; 2                 &amp; 3                 &amp; 4                 &amp; 5                 &amp; 6                 &amp; 7                 &amp; 8                 &amp; 9                 &amp; 10                &amp; 11                &amp; 12                &amp; 13                &amp; 14                &amp; 15                &amp; 16                &amp; 17                &amp; 18                &amp; 19                &amp; 20                &amp; 21                &amp; 22                &amp; 23                &amp; 24                \\ \noalign{\hrule height 1.2pt}&#10;\multirow{3}{*}{$C_{2}$}          &amp; (x\bar{y}\bar{z}) &amp; 2                 &amp; 1                 &amp; 4                 &amp; 3                 &amp; 8                 &amp; 7                 &amp; 6                 &amp; 5                 &amp; 10                &amp; 9                 &amp; 12                &amp; 11                &amp; 14                &amp; 13                &amp; 22                &amp; 21                &amp; 23                &amp; 24                &amp; 20                &amp; 19                &amp; 16                &amp; 15                &amp; 17                &amp; 18                \\ \cline{2-26}&#10;                                  &amp; (\bar{x}y\bar{z}) &amp; 3                 &amp; 4                 &amp; 1                 &amp; 2                 &amp; 6                 &amp; 5                 &amp; 8                 &amp; 7                 &amp; 11                &amp; 12                &amp; 9                 &amp; 10                &amp; 19                &amp; 20                &amp; 16                &amp; 15                &amp; 24                &amp; 23                &amp; 13                &amp; 14                &amp; 22                &amp; 21                &amp; 18                &amp; 17                \\ \cline{2-26}&#10;                                  &amp; (\bar{x}\bar{y}z) &amp; 4                 &amp; 3                 &amp; 2                 &amp; 1                 &amp; 7                 &amp; 8                 &amp; 5                 &amp; 6                 &amp; 12                &amp; 11                &amp; 10                &amp; 9                 &amp; 20                &amp; 19                &amp; 21                &amp; 22                &amp; 18                &amp; 17                &amp; 14                &amp; 13                &amp; 15                &amp; 16                &amp; 24                &amp; 23                \\ \noalign{\hrule height 1.2pt}&#10;\multirow{4}{*}{$C_{4}$}          &amp; (yzx)             &amp; 5                 &amp; 6                 &amp; 7                 &amp; 8                 &amp; 9                 &amp; 12                &amp; 10                &amp; 11                &amp; 1                 &amp; 3                 &amp; 4                 &amp; 2                 &amp; 17                &amp; 24                &amp; 13                &amp; 20                &amp; 15                &amp; 22                &amp; 18                &amp; 23                &amp; 14                &amp; 19                &amp; 16                &amp; 21                \\ \cline{2-26}&#10;                                  &amp; (y\bar{z}\bar{x}) &amp; 6                 &amp; 5                 &amp; 8                 &amp; 7                 &amp; 11                &amp; 10                &amp; 12                &amp; 9                 &amp; 3                 &amp; 1                 &amp; 2                 &amp; 4                 &amp; 24                &amp; 17                &amp; 19                &amp; 14                &amp; 16                &amp; 21                &amp; 23                &amp; 18                &amp; 20                &amp; 13                &amp; 15                &amp; 22                \\ \cline{2-26}&#10;                                  &amp; (\bar{y}z\bar{x}) &amp; 7                 &amp; 8                 &amp; 5                 &amp; 6                 &amp; 12                &amp; 9                 &amp; 11                &amp; 10                &amp; 4                 &amp; 2                 &amp; 1                 &amp; 3                 &amp; 18                &amp; 23                &amp; 20                &amp; 13                &amp; 21                &amp; 16                &amp; 17                &amp; 24                &amp; 19                &amp; 14                &amp; 22                &amp; 15                \\ \cline{2-26}&#10;                                  &amp; (\bar{y}\bar{z}x) &amp; 8                 &amp; 7                 &amp; 6                 &amp; 5                 &amp; 10                &amp; 11                &amp; 9                 &amp; 12                &amp; 2                 &amp; 4                 &amp; 3                 &amp; 1                 &amp; 23                &amp; 18                &amp; 14                &amp; 19                &amp; 22                &amp; 15                &amp; 24                &amp; 17                &amp; 13                &amp; 20                &amp; 21                &amp; 16                \\ \noalign{\hrule height 1.2pt}&#10;\multirow{4}{*}{$C_{4}^{\prime}$} &amp; (zxy)             &amp; 9                 &amp; 12                &amp; 10                &amp; 11                &amp; 1                 &amp; 2                 &amp; 3                 &amp; 4                 &amp; 5                 &amp; 7                 &amp; 8                 &amp; 6                 &amp; 15                &amp; 21                &amp; 17                &amp; 23                &amp; 13                &amp; 19                &amp; 22                &amp; 16                &amp; 24                &amp; 18                &amp; 20                &amp; 14                \\ \cline{2-26}&#10;                                  &amp; (\bar{z}x\bar{y}) &amp; 10                &amp; 11                &amp; 9                 &amp; 12                &amp; 2                 &amp; 1                 &amp; 4                 &amp; 3                 &amp; 8                 &amp; 6                 &amp; 5                 &amp; 7                 &amp; 22                &amp; 16                &amp; 23                &amp; 17                &amp; 14                &amp; 20                &amp; 15                &amp; 21                &amp; 18                &amp; 24                &amp; 19                &amp; 13                \\ \cline{2-26}&#10;                                  &amp; (\bar{z}\bar{x}y) &amp; 11                &amp; 10                &amp; 12                &amp; 9                 &amp; 3                 &amp; 4                 &amp; 1                 &amp; 2                 &amp; 6                 &amp; 8                 &amp; 7                 &amp; 5                 &amp; 16                &amp; 22                &amp; 24                &amp; 18                &amp; 19                &amp; 13                &amp; 21                &amp; 15                &amp; 17                &amp; 23                &amp; 14                &amp; 20                \\ \cline{2-26}&#10;                                  &amp; (z\bar{x}\bar{y}) &amp; 12                &amp; 9                 &amp; 11                &amp; 10                &amp; 4                 &amp; 3                 &amp; 2                 &amp; 1                 &amp; 7                 &amp; 5                 &amp; 6                 &amp; 8                 &amp; 21                &amp; 15                &amp; 18                &amp; 24                &amp; 20                &amp; 14                &amp; 16                &amp; 22                &amp; 23                &amp; 17                &amp; 13                &amp; 19                \\ \noalign{\hrule height 1.2pt}&#10;\multirow{6}{*}{$\sigma_{d}$}     &amp; (xzy)             &amp; 13                &amp; 14                &amp; 20                &amp; 19                &amp; 15                &amp; 21                &amp; 16                &amp; 22                &amp; 17                &amp; 23                &amp; 18                &amp; 24                &amp; 1                 &amp; 2                 &amp; 5                 &amp; 7                 &amp; 9                 &amp; 11                &amp; 4                 &amp; 3                 &amp; 6                 &amp; 8                 &amp; 10                &amp; 12                \\ \cline{2-26}&#10;                                  &amp; (x\bar{z}\bar{y}) &amp; 14                &amp; 13                &amp; 19                &amp; 20                &amp; 22                &amp; 16                &amp; 21                &amp; 15                &amp; 23                &amp; 17                &amp; 24                &amp; 18                &amp; 2                 &amp; 1                 &amp; 8                 &amp; 6                 &amp; 10                &amp; 12                &amp; 3                 &amp; 4                 &amp; 7                 &amp; 5                 &amp; 9                 &amp; 11                \\ \cline{2-26}&#10;                                  &amp; (zyx)             &amp; 15                &amp; 21                &amp; 16                &amp; 22                &amp; 17                &amp; 24                &amp; 23                &amp; 18                &amp; 13                &amp; 20                &amp; 19                &amp; 14                &amp; 9                 &amp; 12                &amp; 1                 &amp; 3                 &amp; 5                 &amp; 8                 &amp; 11                &amp; 10                &amp; 2                 &amp; 4                 &amp; 7                 &amp; 6                 \\ \cline{2-26}&#10;                                  &amp; (\bar{z}y\bar{x}) &amp; 16                &amp; 22                &amp; 15                &amp; 21                &amp; 24                &amp; 17                &amp; 18                &amp; 23                &amp; 19                &amp; 14                &amp; 13                &amp; 20                &amp; 11                &amp; 10                &amp; 3                 &amp; 1                 &amp; 6                 &amp; 7                 &amp; 9                 &amp; 12                &amp; 4                 &amp; 2                 &amp; 8                 &amp; 5                 \\ \cline{2-26}&#10;                                  &amp; (yxz)             &amp; 17                &amp; 24                &amp; 23                &amp; 18                &amp; 13                &amp; 14                &amp; 20                &amp; 19                &amp; 15                &amp; 16                &amp; 22                &amp; 21                &amp; 5                 &amp; 6                 &amp; 9                 &amp; 10                &amp; 1                 &amp; 4                 &amp; 8                 &amp; 7                 &amp; 12                &amp; 11                &amp; 3                 &amp; 2                 \\ \cline{2-26}&#10;                                  &amp; (\bar{y}\bar{x}z) &amp; 18                &amp; 23                &amp; 24                &amp; 17                &amp; 20                &amp; 19                &amp; 13                &amp; 14                &amp; 21                &amp; 22                &amp; 16                &amp; 15                &amp; 7                 &amp; 8                 &amp; 12                &amp; 11                &amp; 4                 &amp; 1                 &amp; 6                 &amp; 5                 &amp; 9                 &amp; 10                &amp; 2                 &amp; 3                 \\ \noalign{\hrule height 1.2pt}&#10;\multirow{6}{*}{$S_{4}$}          &amp; (\bar{x}\bar{z}y) &amp; 19                &amp; 20                &amp; 14                &amp; 13                &amp; 16                &amp; 22                &amp; 15                &amp; 21                &amp; 24                &amp; 18                &amp; 23                &amp; 17                &amp; 3                 &amp; 4                 &amp; 6                 &amp; 8                 &amp; 11                &amp; 9                 &amp; 2                 &amp; 1                 &amp; 5                 &amp; 7                 &amp; 12                &amp; 10                \\ \cline{2-26}&#10;                                  &amp; (\bar{x}z\bar{y}) &amp; 20                &amp; 19                &amp; 13                &amp; 14                &amp; 21                &amp; 15                &amp; 22                &amp; 16                &amp; 18                &amp; 24                &amp; 17                &amp; 23                &amp; 4                 &amp; 3                 &amp; 7                 &amp; 5                 &amp; 12                &amp; 10                &amp; 1                 &amp; 2                 &amp; 8                 &amp; 6                 &amp; 11                &amp; 9                 \\ \cline{2-26}&#10;                                  &amp; (z\bar{y}\bar{x}) &amp; 21                &amp; 15                &amp; 22                &amp; 16                &amp; 18                &amp; 23                &amp; 24                &amp; 17                &amp; 20                &amp; 13                &amp; 14                &amp; 19                &amp; 12                &amp; 9                 &amp; 4                 &amp; 2                 &amp; 7                 &amp; 6                 &amp; 10                &amp; 11                &amp; 3                 &amp; 1                 &amp; 5                 &amp; 8                 \\ \cline{2-26}&#10;                                  &amp; (\bar{z}\bar{y}x) &amp; 22                &amp; 16                &amp; 21                &amp; 15                &amp; 23                &amp; 18                &amp; 17                &amp; 24                &amp; 14                &amp; 29                &amp; 20                &amp; 13                &amp; 10                &amp; 11                &amp; 2                 &amp; 4                 &amp; 8                 &amp; 5                 &amp; 12                &amp; 9                 &amp; 1                 &amp; 3                 &amp; 6                 &amp; 7                 \\ \cline{2-26}&#10;                                  &amp; (\bar{y}x\bar{z}) &amp; 23                &amp; 18                &amp; 17                &amp; 24                &amp; 14                &amp; 13                &amp; 19                &amp; 20                &amp; 22                &amp; 21                &amp; 15                &amp; 16                &amp; 8                 &amp; 7                 &amp; 10                &amp; 9                 &amp; 2                 &amp; 3                 &amp; 5                 &amp; 6                 &amp; 11                &amp; 12                &amp; 4                 &amp; 1                 \\ \cline{2-26}&#10;                                  &amp; (y\bar{x}\bar{z}) &amp; 24                &amp; 17                &amp; 18                &amp; 23                &amp; 19                &amp; 20                &amp; 14                &amp; 13                &amp; 16                &amp; 15                &amp; 21                &amp; 22                &amp; 6                 &amp; 5                 &amp; 11                &amp; 12                &amp; 3                 &amp; 2                 &amp; 7                 &amp; 8                 &amp; 10                &amp; 9                 &amp; 1                 &amp; 4                 \\ \cline{2-26} 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D671F657-DDD7-4D6B-A618-78567F26CD0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096" y="2016576"/>
            <a:ext cx="11907840" cy="411047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93061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GROUP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Resolving a function in terms of the irreducible representations of Td</a:t>
            </a:r>
          </a:p>
        </p:txBody>
      </p:sp>
    </p:spTree>
    <p:extLst>
      <p:ext uri="{BB962C8B-B14F-4D97-AF65-F5344CB8AC3E}">
        <p14:creationId xmlns:p14="http://schemas.microsoft.com/office/powerpoint/2010/main" val="2620057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projected onto symmetries of Td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f&#10;&amp;=&#10;\sum_{j \in \Gamma\left(T_{d}\right)}&#10;\sum_{\kappa = 1}^{l_{j}}&#10;f^{(j)}_{\kappa\kappa}&#10;\\&#10;f^{(j)}_{\lambda\kappa}&#10;&amp;=&#10;\frac{l_{j}}{h}&#10;\sum_{\hat{R}\in T_{d}}&#10;\left(\Gamma_{\hat{R}}^{(j)}\right)_{\lambda\kappa}^{*}&#10;f_{\hat{R}}&#10;\\&#10;\left(f^{(j)}_{\lambda\kappa}\right)_{\hat{P}}&#10;&amp;=&#10;\sum_{\mu = 1}^{l_{j}}&#10;\left(\Gamma_{\hat{P}}^{(j)}\right)_{\mu\lambda}&#10;f^{(j)}_{\mu\kappa}&#10;\\&#10;\end{align*}&#10;&#10;\end{document}" title="IguanaTex Bitmap Display">
            <a:extLst>
              <a:ext uri="{FF2B5EF4-FFF2-40B4-BE49-F238E27FC236}">
                <a16:creationId xmlns:a16="http://schemas.microsoft.com/office/drawing/2014/main" id="{11A12559-32CE-4511-B4F6-BEDC8B03BAA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38858" y="2351169"/>
            <a:ext cx="3314284" cy="2625535"/>
          </a:xfrm>
          <a:prstGeom prst="rect">
            <a:avLst/>
          </a:prstGeom>
        </p:spPr>
      </p:pic>
      <p:pic>
        <p:nvPicPr>
          <p:cNvPr id="7" name="Picture 6" descr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 title="IguanaTex Bitmap Display">
            <a:extLst>
              <a:ext uri="{FF2B5EF4-FFF2-40B4-BE49-F238E27FC236}">
                <a16:creationId xmlns:a16="http://schemas.microsoft.com/office/drawing/2014/main" id="{690E2082-1216-4477-A2F8-6E12E26887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09525" y="5806048"/>
            <a:ext cx="8572951" cy="3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74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Symmetrized potential –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and E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4EDFAA6-40A6-4BA2-B398-55460EA2EE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  <p:pic>
        <p:nvPicPr>
          <p:cNvPr id="35" name="Picture 34" descr="\documentclass{article}&#10;\usepackage{amsmath,bm,eufrak}&#10;\pagestyle{empty}&#10;&#10;&#10;\begin{document}&#10;&#10;\begin{equation*}&#10;\mathfrak{p}^{\left(A_{1}\right)}&#10;=&#10;\frac{1}{24}&#10;\begin{pmatrix}&#10;1 \\&#10;1 \\&#10;1 \\&#10;1 \\&#10;1 \\&#10;1 \\&#10;1 \\&#10;1 \\&#10;1 \\&#10;1 \\&#10;1 \\&#10;1 \\&#10;1 \\&#10;1 \\&#10;1 \\&#10;1 \\&#10;1 \\&#10;1 \\&#10;1 \\&#10;1 \\&#10;1 \\&#10;1 \\&#10;1 \\&#10;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11B77329-8D4C-4D1B-A7FB-84F19001CA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574217" y="2154171"/>
            <a:ext cx="1040457" cy="4371200"/>
          </a:xfrm>
          <a:prstGeom prst="rect">
            <a:avLst/>
          </a:prstGeom>
        </p:spPr>
      </p:pic>
      <p:pic>
        <p:nvPicPr>
          <p:cNvPr id="37" name="Picture 36" descr="\documentclass{article}&#10;\usepackage{amsmath,bm,eufrak}&#10;\pagestyle{empty}&#10;&#10;&#10;\begin{document}&#10;&#10;\begin{equation*}&#10;\mathfrak{p}^{\left(A_{2}\right)}&#10;=&#10;\frac{1}{24}&#10;\begin{pmatrix}&#10;+1 \\&#10;+1 \\&#10;+1 \\&#10;+1 \\&#10;+1 \\&#10;+1 \\&#10;+1 \\&#10;+1 \\&#10;+1 \\&#10;+1 \\&#10;+1 \\&#10;+1 \\&#10;-1 \\&#10;-1 \\&#10;-1 \\&#10;-1 \\&#10;-1 \\&#10;-1 \\&#10;-1 \\&#10;-1 \\&#10;-1 \\&#10;-1 \\&#10;-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C581E38-5F96-4FD0-9669-F084518AA6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188891" y="2154171"/>
            <a:ext cx="1159314" cy="4371200"/>
          </a:xfrm>
          <a:prstGeom prst="rect">
            <a:avLst/>
          </a:prstGeom>
        </p:spPr>
      </p:pic>
      <p:pic>
        <p:nvPicPr>
          <p:cNvPr id="39" name="Picture 38" descr="\documentclass{article}&#10;\usepackage{amsmath,bm,eufrak}&#10;\pagestyle{empty}&#10;&#10;&#10;\begin{document}&#10;&#10;\begin{equation*}&#10;\mathfrak{p}^{\left(E\right)}_{11}&#10;=&#10;\frac{1}{12}&#10;\begin{pmatrix}&#10;1        \\&#10;1        \\&#10;1        \\&#10;1        \\&#10;\tau     \\&#10;\tau     \\&#10;\tau     \\&#10;\tau     \\&#10;\tau^{2} \\&#10;\tau^{2} \\&#10;\tau^{2} \\&#10;\tau^{2} \\&#10;0        \\&#10;0        \\&#10;0        \\&#10;0        \\&#10;0        \\&#10;0        \\&#10;0        \\&#10;0        \\&#10;0        \\&#10;0        \\&#10;0        \\&#10;0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7C07BF5D-FDF5-46CA-AA16-CD7BDAA99F9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922422" y="2154171"/>
            <a:ext cx="1060571" cy="4371200"/>
          </a:xfrm>
          <a:prstGeom prst="rect">
            <a:avLst/>
          </a:prstGeom>
        </p:spPr>
      </p:pic>
      <p:pic>
        <p:nvPicPr>
          <p:cNvPr id="41" name="Picture 40" descr="\documentclass{article}&#10;\usepackage{amsmath,bm,eufrak}&#10;\pagestyle{empty}&#10;&#10;&#10;\begin{document}&#10;&#10;\begin{equation*}&#10;\mathfrak{p}^{\left(E\right)}_{22}&#10;=&#10;\frac{1}{12}&#10;\begin{pmatrix}&#10;1        \\&#10;1        \\&#10;1        \\&#10;1        \\&#10;\tau^{2} \\&#10;\tau^{2} \\&#10;\tau^{2} \\&#10;\tau^{2} \\&#10;\tau     \\&#10;\tau     \\&#10;\tau     \\&#10;\tau     \\&#10;0        \\&#10;0        \\&#10;0        \\&#10;0        \\&#10;0        \\&#10;0        \\&#10;0        \\&#10;0        \\&#10;0        \\&#10;0        \\&#10;0        \\&#10;0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01E8376-8E4B-433C-B639-67EF8D900B5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557210" y="2154171"/>
            <a:ext cx="1060571" cy="43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51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Symmetrized potential – T</a:t>
            </a:r>
            <a:r>
              <a:rPr lang="en-US" baseline="-25000" dirty="0"/>
              <a:t>1</a:t>
            </a:r>
            <a:r>
              <a:rPr lang="en-US" dirty="0"/>
              <a:t> and T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45" name="Picture 44" descr="\documentclass{article}&#10;\usepackage{amsmath,bm,eufrak}&#10;\pagestyle{empty}&#10;&#10;&#10;\begin{document}&#10;&#10;\begin{equation*}&#10;\mathfrak{p}^{\left(T_{1}\right)}_{x}&#10;=&#10;\frac{1}{8}&#10;\begin{pmatrix}&#10;+1 \\&#10;+1 \\&#10;-1 \\&#10;-1 \\&#10;0  \\&#10;0  \\&#10;0  \\&#10;0  \\&#10;0  \\&#10;0  \\&#10;0  \\&#10;0  \\&#10;-1 \\&#10;-1 \\&#10;0  \\&#10;0  \\&#10;0  \\&#10;0  \\&#10;+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EFE4D76-4FDC-4944-AFEA-FF56BA698C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9518" y="2115693"/>
            <a:ext cx="1064229" cy="4371200"/>
          </a:xfrm>
          <a:prstGeom prst="rect">
            <a:avLst/>
          </a:prstGeom>
        </p:spPr>
      </p:pic>
      <p:pic>
        <p:nvPicPr>
          <p:cNvPr id="43" name="Picture 42" descr="\documentclass{article}&#10;\usepackage{amsmath,bm,eufrak}&#10;\pagestyle{empty}&#10;&#10;&#10;\begin{document}&#10;&#10;\begin{equation*}&#10;\mathfrak{p}^{\left(T_{1}\right)}_{y}&#10;=&#10;\frac{1}{8}&#10;\begin{pmatrix}&#10;+1 \\&#10;-1 \\&#10;+1 \\&#10;-1 \\&#10;0  \\&#10;0  \\&#10;0  \\&#10;0  \\&#10;0  \\&#10;0  \\&#10;0  \\&#10;0  \\&#10;0  \\&#10;0  \\&#10;-1 \\&#10;-1 \\&#10;0  \\&#10;0  \\&#10;0  \\&#10;0  \\&#10;+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BEBFAF4-B9E9-4451-A3FE-69EDFEA8A6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723265" y="2115693"/>
            <a:ext cx="1064229" cy="4371200"/>
          </a:xfrm>
          <a:prstGeom prst="rect">
            <a:avLst/>
          </a:prstGeom>
        </p:spPr>
      </p:pic>
      <p:pic>
        <p:nvPicPr>
          <p:cNvPr id="41" name="Picture 40" descr="\documentclass{article}&#10;\usepackage{amsmath,bm,eufrak}&#10;\pagestyle{empty}&#10;&#10;&#10;\begin{document}&#10;&#10;\begin{equation*}&#10;\mathfrak{p}^{\left(T_{1}\right)}_{z}&#10;=&#10;\frac{1}{8}&#10;\begin{pmatrix}&#10;+1 \\&#10;-1 \\&#10;-1 \\&#10;+1 \\&#10;0  \\&#10;0  \\&#10;0  \\&#10;0  \\&#10;0  \\&#10;0  \\&#10;0  \\&#10;0  \\&#10;0  \\&#10;0  \\&#10;0  \\&#10;0  \\&#10;-1 \\&#10;-1 \\&#10;0  \\&#10;0  \\&#10;0  \\&#10;0  \\&#10;+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7AF9775C-961B-4327-B26E-CEBB3225E83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617012" y="2115693"/>
            <a:ext cx="1064229" cy="4371200"/>
          </a:xfrm>
          <a:prstGeom prst="rect">
            <a:avLst/>
          </a:prstGeom>
        </p:spPr>
      </p:pic>
      <p:pic>
        <p:nvPicPr>
          <p:cNvPr id="13" name="Picture 12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4DC16428-4E5F-47F0-A239-56AE851EF9D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&#10;&#10;\begin{document}&#10;&#10;\begin{equation*}&#10;\mathfrak{p}^{\left(T_{2}\right)}_{x}&#10;=&#10;\frac{1}{8}&#10;\begin{pmatrix}&#10;+1 \\&#10;+1 \\&#10;-1 \\&#10;-1 \\&#10;0  \\&#10;0  \\&#10;0  \\&#10;0  \\&#10;0  \\&#10;0  \\&#10;0  \\&#10;0  \\&#10;+1 \\&#10;+1 \\&#10;0  \\&#10;0  \\&#10;0  \\&#10;0  \\&#10;-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C81C01F7-B0C8-49C7-A61A-A65CC4EDB08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10759" y="2115693"/>
            <a:ext cx="1064229" cy="4371200"/>
          </a:xfrm>
          <a:prstGeom prst="rect">
            <a:avLst/>
          </a:prstGeom>
        </p:spPr>
      </p:pic>
      <p:pic>
        <p:nvPicPr>
          <p:cNvPr id="6" name="Picture 5" descr="\documentclass{article}&#10;\usepackage{amsmath,bm,eufrak}&#10;\pagestyle{empty}&#10;&#10;&#10;\begin{document}&#10;&#10;\begin{equation*}&#10;\mathfrak{p}^{\left(T_{2}\right)}_{y}&#10;=&#10;\frac{1}{8}&#10;\begin{pmatrix}&#10;+1 \\&#10;-1 \\&#10;+1 \\&#10;-1 \\&#10;0  \\&#10;0  \\&#10;0  \\&#10;0  \\&#10;0  \\&#10;0  \\&#10;0  \\&#10;0  \\&#10;0  \\&#10;0  \\&#10;+1 \\&#10;+1 \\&#10;0  \\&#10;0  \\&#10;0  \\&#10;0  \\&#10;-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5781B77E-0ED3-4137-935C-1F7CAE817A1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404506" y="2115693"/>
            <a:ext cx="1064229" cy="4371200"/>
          </a:xfrm>
          <a:prstGeom prst="rect">
            <a:avLst/>
          </a:prstGeom>
        </p:spPr>
      </p:pic>
      <p:pic>
        <p:nvPicPr>
          <p:cNvPr id="8" name="Picture 7" descr="\documentclass{article}&#10;\usepackage{amsmath,bm,eufrak}&#10;\pagestyle{empty}&#10;&#10;&#10;\begin{document}&#10;&#10;\begin{equation*}&#10;\mathfrak{p}^{\left(T_{2}\right)}_{z}&#10;=&#10;\frac{1}{8}&#10;\begin{pmatrix}&#10;+1 \\&#10;-1 \\&#10;-1 \\&#10;+1 \\&#10;0  \\&#10;0  \\&#10;0  \\&#10;0  \\&#10;0  \\&#10;0  \\&#10;0  \\&#10;0  \\&#10;0  \\&#10;0  \\&#10;0  \\&#10;0  \\&#10;+1 \\&#10;+1 \\&#10;0  \\&#10;0  \\&#10;0  \\&#10;0  \\&#10;-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DC559CA7-C106-42D4-993B-C739E9B6749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298253" y="2115693"/>
            <a:ext cx="1064229" cy="43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40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Transformation of symmetrized potential – E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4EDFAA6-40A6-4BA2-B398-55460EA2EE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  <p:pic>
        <p:nvPicPr>
          <p:cNvPr id="43" name="Picture 42" descr="\documentclass{article}&#10;\usepackage{amsmath,bm,eufrak}&#10;\pagestyle{empty}&#10;&#10;&#10;\begin{document}&#10;&#10;\begin{equation*}&#10;\mathfrak{p}^{\left(E\right)}_{12}&#10;=&#10;\frac{1}{12}&#10;\begin{pmatrix}&#10;0        \\&#10;0        \\&#10;0        \\&#10;0        \\&#10;0        \\&#10;0        \\&#10;0        \\&#10;0        \\&#10;0        \\&#10;0        \\&#10;0        \\&#10;0        \\&#10;\tau^{2} \\&#10;\tau^{2} \\&#10;\tau^{2} \\&#10;\tau^{2} \\&#10;\tau     \\&#10;\tau     \\&#10;\tau     \\&#10;\tau     \\&#10;1        \\&#10;1        \\&#10;1        \\&#10;1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E790A4D-8267-48D9-8B77-EF8126774FD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692570" y="2151787"/>
            <a:ext cx="1060571" cy="4371200"/>
          </a:xfrm>
          <a:prstGeom prst="rect">
            <a:avLst/>
          </a:prstGeom>
        </p:spPr>
      </p:pic>
      <p:pic>
        <p:nvPicPr>
          <p:cNvPr id="45" name="Picture 44" descr="\documentclass{article}&#10;\usepackage{amsmath,bm,eufrak}&#10;\pagestyle{empty}&#10;&#10;&#10;\begin{document}&#10;&#10;\begin{equation*}&#10;\mathfrak{p}^{\left(E\right)}_{21}&#10;=&#10;\frac{1}{12}&#10;\begin{pmatrix}&#10;0        \\&#10;0        \\&#10;0        \\&#10;0        \\&#10;0        \\&#10;0        \\&#10;0        \\&#10;0        \\&#10;0        \\&#10;0        \\&#10;0        \\&#10;0        \\&#10;\tau     \\&#10;\tau     \\&#10;\tau     \\&#10;\tau     \\&#10;\tau^{2} \\&#10;\tau^{2} \\&#10;\tau^{2} \\&#10;\tau^{2} \\&#10;1        \\&#10;1        \\&#10;1        \\&#10;1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508ADF8-D187-4443-914F-90165122AE8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442284" y="2151787"/>
            <a:ext cx="1060571" cy="4371200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\begin{document}&#10;&#10;\begin{align*}&#10;f^{(j)}_{\lambda\kappa}&#10;&amp;=&#10;\frac{l_{j}}{h}&#10;\sum_{\hat{R}\in T_{d}}&#10;\left(\Gamma_{\hat{R}}^{(j)}\right)_{\lambda\kappa}^{*}&#10;f_{\hat{R}}&#10;\\&#10;\left(f^{(j)}_{\lambda\kappa}\right)_{\hat{P}}&#10;&amp;=&#10;\sum_{\mu = 1}^{l_{j}}&#10;\left(\Gamma_{\hat{P}}^{(j)}\right)_{\mu\lambda}&#10;f^{(j)}_{\mu\kappa}&#10;\\&#10;\end{align*}&#10;&#10;\end{document}" title="IguanaTex Bitmap Display">
            <a:extLst>
              <a:ext uri="{FF2B5EF4-FFF2-40B4-BE49-F238E27FC236}">
                <a16:creationId xmlns:a16="http://schemas.microsoft.com/office/drawing/2014/main" id="{48E2ED59-53BF-4486-AA69-DEB2DD1FE85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89143" y="3500813"/>
            <a:ext cx="3314284" cy="16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85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Transformation of symmetrized potential – T</a:t>
            </a:r>
            <a:r>
              <a:rPr lang="en-US" baseline="-25000" dirty="0"/>
              <a:t>1</a:t>
            </a:r>
            <a:endParaRPr lang="en-US" dirty="0"/>
          </a:p>
        </p:txBody>
      </p:sp>
      <p:pic>
        <p:nvPicPr>
          <p:cNvPr id="51" name="Picture 50" descr="\documentclass{article}&#10;\usepackage{amsmath,bm,eufrak}&#10;\pagestyle{empty}&#10;&#10;&#10;\begin{document}&#10;&#10;\begin{equation*}&#10;\mathfrak{p}^{\left(T_{1}\right)}_{y,1}&#10;=&#10;\frac{1}{8}\begin{pmatrix}&#10;0  \\&#10;0  \\&#10;0  \\&#10;0  \\&#10;0  \\&#10;0  \\&#10;0  \\&#10;0  \\&#10;+1 \\&#10;+1 \\&#10;-1 \\&#10;-1 \\&#10;0  \\&#10;0  \\&#10;0  \\&#10;0  \\&#10;-1 \\&#10;+1 \\&#10;0  \\&#10;0  \\&#10;0  \\&#10;0  \\&#10;-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BAED8E6-98A3-4DCF-8987-4EF5F86D8CB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9518" y="2127091"/>
            <a:ext cx="1064229" cy="4371200"/>
          </a:xfrm>
          <a:prstGeom prst="rect">
            <a:avLst/>
          </a:prstGeom>
        </p:spPr>
      </p:pic>
      <p:pic>
        <p:nvPicPr>
          <p:cNvPr id="57" name="Picture 56" descr="\documentclass{article}&#10;\usepackage{amsmath,bm,eufrak}&#10;\pagestyle{empty}&#10;&#10;&#10;\begin{document}&#10;&#10;\begin{equation*}&#10;\mathfrak{p}^{\left(T_{1}\right)}_{z,1}&#10;=&#10;\frac{1}{8}&#10;\begin{pmatrix}&#10;0  \\&#10;0  \\&#10;0  \\&#10;0  \\&#10;+1 \\&#10;-1 \\&#10;-1 \\&#10;+1 \\&#10;0  \\&#10;0  \\&#10;0  \\&#10;0  \\&#10;0  \\&#10;0  \\&#10;-1 \\&#10;+1 \\&#10;0  \\&#10;0  \\&#10;0  \\&#10;0  \\&#10;+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B1E06E1-2E9D-4BB1-82DD-8A6D146116B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510758" y="2127091"/>
            <a:ext cx="1064228" cy="4371200"/>
          </a:xfrm>
          <a:prstGeom prst="rect">
            <a:avLst/>
          </a:prstGeom>
        </p:spPr>
      </p:pic>
      <p:pic>
        <p:nvPicPr>
          <p:cNvPr id="53" name="Picture 52" descr="\documentclass{article}&#10;\usepackage{amsmath,bm,eufrak}&#10;\pagestyle{empty}&#10;&#10;&#10;\begin{document}&#10;&#10;\begin{equation*}&#10;\mathfrak{p}^{\left(T_{1}\right)}_{z,2}&#10;=&#10;\frac{1}{8}&#10;\begin{pmatrix}&#10;0  \\&#10;0  \\&#10;0  \\&#10;0  \\&#10;0  \\&#10;0  \\&#10;0  \\&#10;0  \\&#10;+1 \\&#10;-1 \\&#10;+1 \\&#10;-1 \\&#10;-1 \\&#10;+1 \\&#10;0  \\&#10;0  \\&#10;0  \\&#10;0  \\&#10;-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D39AC02-480F-4866-83E7-C1A9C3D6D71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723265" y="2127091"/>
            <a:ext cx="1064228" cy="4371200"/>
          </a:xfrm>
          <a:prstGeom prst="rect">
            <a:avLst/>
          </a:prstGeom>
        </p:spPr>
      </p:pic>
      <p:pic>
        <p:nvPicPr>
          <p:cNvPr id="59" name="Picture 58" descr="\documentclass{article}&#10;\usepackage{amsmath,bm,eufrak}&#10;\pagestyle{empty}&#10;&#10;&#10;\begin{document}&#10;&#10;\begin{equation*}&#10;\mathfrak{p}^{\left(T_{1}\right)}_{y,3}&#10;=&#10;\frac{1}{8}&#10;\begin{pmatrix}&#10;0  \\&#10;0  \\&#10;0  \\&#10;0  \\&#10;+1 \\&#10;-1 \\&#10;+1 \\&#10;+1 \\&#10;0  \\&#10;0  \\&#10;0  \\&#10;0  \\&#10;-1 \\&#10;+1 \\&#10;0  \\&#10;0  \\&#10;0  \\&#10;0  \\&#10;+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1EEE22B8-05B3-4E98-821B-9D7234E737D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404504" y="2127091"/>
            <a:ext cx="1064229" cy="4371200"/>
          </a:xfrm>
          <a:prstGeom prst="rect">
            <a:avLst/>
          </a:prstGeom>
        </p:spPr>
      </p:pic>
      <p:pic>
        <p:nvPicPr>
          <p:cNvPr id="61" name="Picture 60" descr="\documentclass{article}&#10;\usepackage{amsmath,bm,eufrak}&#10;\pagestyle{empty}&#10;&#10;&#10;\begin{document}&#10;&#10;\begin{equation*}&#10;\mathfrak{p}^{\left(T_{1}\right)}_{x,2}&#10;=&#10;\frac{1}{8}&#10;\begin{pmatrix}&#10;0  \\&#10;0  \\&#10;0  \\&#10;0  \\&#10;+1 \\&#10;+1 \\&#10;-1 \\&#10;-1 \\&#10;0  \\&#10;0  \\&#10;0  \\&#10;0  \\&#10;0  \\&#10;0  \\&#10;0  \\&#10;0  \\&#10;-1 \\&#10;+1 \\&#10;0  \\&#10;0  \\&#10;0  \\&#10;0  \\&#10;+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689F7996-7706-4F16-AE52-926C75685A5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298251" y="2127091"/>
            <a:ext cx="1064229" cy="4371200"/>
          </a:xfrm>
          <a:prstGeom prst="rect">
            <a:avLst/>
          </a:prstGeom>
        </p:spPr>
      </p:pic>
      <p:pic>
        <p:nvPicPr>
          <p:cNvPr id="55" name="Picture 54" descr="\documentclass{article}&#10;\usepackage{amsmath,bm,eufrak}&#10;\pagestyle{empty}&#10;&#10;&#10;\begin{document}&#10;&#10;\begin{equation*}&#10;\mathfrak{p}^{\left(T_{1}\right)}_{x,3}&#10;=&#10;\frac{1}{8}&#10;\begin{pmatrix}&#10;0  \\&#10;0  \\&#10;0  \\&#10;0  \\&#10;0  \\&#10;0  \\&#10;0  \\&#10;0  \\&#10;+1 \\&#10;-1 \\&#10;-1 \\&#10;+1 \\&#10;0  \\&#10;0  \\&#10;-1 \\&#10;+1 \\&#10;0  \\&#10;0  \\&#10;0  \\&#10;0  \\&#10;-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91817A6B-2042-4E30-B403-ACDB8440CF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617011" y="2127091"/>
            <a:ext cx="1064229" cy="4371200"/>
          </a:xfrm>
          <a:prstGeom prst="rect">
            <a:avLst/>
          </a:prstGeom>
        </p:spPr>
      </p:pic>
      <p:pic>
        <p:nvPicPr>
          <p:cNvPr id="13" name="Picture 12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4DC16428-4E5F-47F0-A239-56AE851EF9D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18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Transformation of symmetrized potential – T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5" name="Picture 4" descr="\documentclass{article}&#10;\usepackage{amsmath,bm,eufrak}&#10;\pagestyle{empty}&#10;&#10;&#10;\begin{document}&#10;&#10;\begin{equation*}&#10;\mathfrak{p}^{\left(T_{2}\right)}_{y,1}&#10;=&#10;\frac{1}{8}\begin{pmatrix}&#10;0  \\&#10;0  \\&#10;0  \\&#10;0  \\&#10;0  \\&#10;0  \\&#10;0  \\&#10;0  \\&#10;+1 \\&#10;+1 \\&#10;-1 \\&#10;-1 \\&#10;0  \\&#10;0  \\&#10;0  \\&#10;0  \\&#10;+1 \\&#10;-1 \\&#10;0  \\&#10;0  \\&#10;0  \\&#10;0  \\&#10;+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E3A1ABDB-3E8C-41DE-9ABA-4162F06A860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9518" y="2127091"/>
            <a:ext cx="1064229" cy="4371200"/>
          </a:xfrm>
          <a:prstGeom prst="rect">
            <a:avLst/>
          </a:prstGeom>
        </p:spPr>
      </p:pic>
      <p:pic>
        <p:nvPicPr>
          <p:cNvPr id="19" name="Picture 18" descr="\documentclass{article}&#10;\usepackage{amsmath,bm,eufrak}&#10;\pagestyle{empty}&#10;&#10;&#10;\begin{document}&#10;&#10;\begin{equation*}&#10;\mathfrak{p}^{\left(T_{2}\right)}_{z,1}&#10;=&#10;\frac{1}{8}&#10;\begin{pmatrix}&#10;0  \\&#10;0  \\&#10;0  \\&#10;0  \\&#10;+1 \\&#10;-1 \\&#10;-1 \\&#10;+1 \\&#10;0  \\&#10;0  \\&#10;0  \\&#10;0  \\&#10;0  \\&#10;0  \\&#10;+1 \\&#10;-1 \\&#10;0  \\&#10;0  \\&#10;0  \\&#10;0  \\&#10;-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E1C6D01C-9857-4B9D-8907-043FB359DA1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510758" y="2127091"/>
            <a:ext cx="1064228" cy="4371200"/>
          </a:xfrm>
          <a:prstGeom prst="rect">
            <a:avLst/>
          </a:prstGeom>
        </p:spPr>
      </p:pic>
      <p:pic>
        <p:nvPicPr>
          <p:cNvPr id="9" name="Picture 8" descr="\documentclass{article}&#10;\usepackage{amsmath,bm,eufrak}&#10;\pagestyle{empty}&#10;&#10;&#10;\begin{document}&#10;&#10;\begin{equation*}&#10;\mathfrak{p}^{\left(T_{2}\right)}_{z,2}&#10;=&#10;\frac{1}{8}&#10;\begin{pmatrix}&#10;0  \\&#10;0  \\&#10;0  \\&#10;0  \\&#10;0  \\&#10;0  \\&#10;0  \\&#10;0  \\&#10;+1 \\&#10;-1 \\&#10;+1 \\&#10;-1 \\&#10;+1 \\&#10;-1 \\&#10;0  \\&#10;0  \\&#10;0  \\&#10;0  \\&#10;+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D235150-E1F3-469F-A7A0-A4B090DADF7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723265" y="2127091"/>
            <a:ext cx="1064228" cy="4371200"/>
          </a:xfrm>
          <a:prstGeom prst="rect">
            <a:avLst/>
          </a:prstGeom>
        </p:spPr>
      </p:pic>
      <p:pic>
        <p:nvPicPr>
          <p:cNvPr id="22" name="Picture 21" descr="\documentclass{article}&#10;\usepackage{amsmath,bm,eufrak}&#10;\pagestyle{empty}&#10;&#10;&#10;\begin{document}&#10;&#10;\begin{equation*}&#10;\mathfrak{p}^{\left(T_{2}\right)}_{y,3}&#10;=&#10;\frac{1}{8}&#10;\begin{pmatrix}&#10;0  \\&#10;0  \\&#10;0  \\&#10;0  \\&#10;+1 \\&#10;-1 \\&#10;+1 \\&#10;+1 \\&#10;0  \\&#10;0  \\&#10;0  \\&#10;0  \\&#10;+1 \\&#10;-1 \\&#10;0  \\&#10;0  \\&#10;0  \\&#10;0  \\&#10;-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2BF69C83-5B34-4FCB-BD19-7A466E5033A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404504" y="2127091"/>
            <a:ext cx="1064229" cy="4371200"/>
          </a:xfrm>
          <a:prstGeom prst="rect">
            <a:avLst/>
          </a:prstGeom>
        </p:spPr>
      </p:pic>
      <p:pic>
        <p:nvPicPr>
          <p:cNvPr id="24" name="Picture 23" descr="\documentclass{article}&#10;\usepackage{amsmath,bm,eufrak}&#10;\pagestyle{empty}&#10;&#10;&#10;\begin{document}&#10;&#10;\begin{equation*}&#10;\mathfrak{p}^{\left(T_{2}\right)}_{x,2}&#10;=&#10;\frac{1}{8}&#10;\begin{pmatrix}&#10;0  \\&#10;0  \\&#10;0  \\&#10;0  \\&#10;+1 \\&#10;+1 \\&#10;-1 \\&#10;-1 \\&#10;0  \\&#10;0  \\&#10;0  \\&#10;0  \\&#10;0  \\&#10;0  \\&#10;0  \\&#10;0  \\&#10;+1 \\&#10;-1 \\&#10;0  \\&#10;0  \\&#10;0  \\&#10;0  \\&#10;-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FB0B1DEF-B4D3-4833-8555-45D9CA5A6AD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298251" y="2127091"/>
            <a:ext cx="1064229" cy="4371200"/>
          </a:xfrm>
          <a:prstGeom prst="rect">
            <a:avLst/>
          </a:prstGeom>
        </p:spPr>
      </p:pic>
      <p:pic>
        <p:nvPicPr>
          <p:cNvPr id="15" name="Picture 14" descr="\documentclass{article}&#10;\usepackage{amsmath,bm,eufrak}&#10;\pagestyle{empty}&#10;&#10;&#10;\begin{document}&#10;&#10;\begin{equation*}&#10;\mathfrak{p}^{\left(T_{2}\right)}_{x,3}&#10;=&#10;\frac{1}{8}&#10;\begin{pmatrix}&#10;0  \\&#10;0  \\&#10;0  \\&#10;0  \\&#10;0  \\&#10;0  \\&#10;0  \\&#10;0  \\&#10;+1 \\&#10;-1 \\&#10;-1 \\&#10;+1 \\&#10;0  \\&#10;0  \\&#10;+1 \\&#10;-1 \\&#10;0  \\&#10;0  \\&#10;0  \\&#10;0  \\&#10;+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637C168-D33E-489A-9933-8E164AF65EF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617011" y="2127091"/>
            <a:ext cx="1064229" cy="4371200"/>
          </a:xfrm>
          <a:prstGeom prst="rect">
            <a:avLst/>
          </a:prstGeom>
        </p:spPr>
      </p:pic>
      <p:pic>
        <p:nvPicPr>
          <p:cNvPr id="13" name="Picture 12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16BB9654-890B-4857-AEFC-F0E5AFE85D5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39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GROUP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Resolving the effect of our operator representations onto the resolved parts of </a:t>
            </a:r>
            <a:r>
              <a:rPr lang="en-US" dirty="0"/>
              <a:t>a</a:t>
            </a:r>
            <a:r>
              <a:rPr lang="en-US" i="1" dirty="0"/>
              <a:t> function corresponding to each irreducible representation of Td</a:t>
            </a:r>
          </a:p>
        </p:txBody>
      </p:sp>
    </p:spTree>
    <p:extLst>
      <p:ext uri="{BB962C8B-B14F-4D97-AF65-F5344CB8AC3E}">
        <p14:creationId xmlns:p14="http://schemas.microsoft.com/office/powerpoint/2010/main" val="859557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A</a:t>
            </a:r>
            <a:r>
              <a:rPr lang="en-US" baseline="30000" dirty="0"/>
              <a:t>(σ)</a:t>
            </a:r>
            <a:r>
              <a:rPr lang="en-US" dirty="0"/>
              <a:t>, and E</a:t>
            </a:r>
          </a:p>
        </p:txBody>
      </p:sp>
      <p:pic>
        <p:nvPicPr>
          <p:cNvPr id="14" name="Picture 13" descr="\documentclass{article}&#10;\usepackage{amsmath,bm,physics,array,multirow}&#10;\pagestyle{empty}&#10;&#10;\newcolumntype{C}{&gt;{$}c&lt;{$}}&#10;&#10;\begin{document}&#10;&#10;\begin{align*}&#10;&amp;&#10;\left\{&#10; (1:xyz),&#10; (2:x\bar{y}\bar{z}),&#10; (3:\bar{x}y\bar{z}),&#10; (4:\bar{x}\bar{y}z),&#10; (5:yzx),&#10; (6:y\bar{z}\bar{x}),&#10; (7:\bar{y}z\bar{x}),&#10; (8:\bar{y}\bar{z}x),&#10; (9:zxy),&#10;(10:\bar{z}x\bar{y}),&#10;(11:\bar{z}\bar{x}y),&#10;(12:z\bar{x}\bar{y})&#10;\right\}&#10;&amp; \Rightarrow &amp;&#10;U^{\left(A^{\left(\sigma\right)}\right)}&#10;\\&#10;&amp;&#10;\left\{&#10;(13:xzy),&#10;(14:x\bar{z}\bar{y}),&#10;(15:zyx),&#10;(16:\bar{z}y\bar{x}),&#10;(17:yxz),&#10;(18:\bar{y}\bar{x}z),&#10;(19:\bar{x}\bar{z}y),&#10;(20:\bar{x}z\bar{y}),&#10;(21:z\bar{y}\bar{x}),&#10;(22:\bar{z}\bar{y}x),&#10;(23:\bar{y}x\bar{z}),&#10;(24:y\bar{x}\bar{z})&#10;\right\}&#10;&amp; \Rightarrow &amp;&#10;\sigma U^{\left(A^{\left(\sigma\right)}\right)}&#10;\end{align*}&#10;&#10;\end{document}" title="IguanaTex Bitmap Display">
            <a:extLst>
              <a:ext uri="{FF2B5EF4-FFF2-40B4-BE49-F238E27FC236}">
                <a16:creationId xmlns:a16="http://schemas.microsoft.com/office/drawing/2014/main" id="{F7912EDD-8419-470A-9077-724E69F130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81029" y="2291341"/>
            <a:ext cx="9429943" cy="490059"/>
          </a:xfrm>
          <a:prstGeom prst="rect">
            <a:avLst/>
          </a:prstGeom>
        </p:spPr>
      </p:pic>
      <p:pic>
        <p:nvPicPr>
          <p:cNvPr id="10" name="Picture 9" descr="\documentclass{article}&#10;\usepackage{amsmath,bm,physics,array,multirow}&#10;\pagestyle{empty}&#10;&#10;\newcolumntype{C}{&gt;{$}c&lt;{$}}&#10;&#10;\begin{document}&#10;&#10;\begin{gather*}&#10;\left\{&#10;(1:xyz),&#10;(2:x\bar{y}\bar{z}),&#10;(3:\bar{x}y\bar{z}),&#10;(4:\bar{x}\bar{y}z)&#10;\right\}&#10;\Rightarrow&#10;\begin{pmatrix}&#10;U^{(E)}_{11} &amp; U^{(E)}_{12} \\&#10;U^{(E)}_{21} &amp; U^{(E)}_{22} \\&#10;\end{pmatrix}&#10;\\&#10;\left\{&#10;(5:yzx),&#10;(6:y\bar{z}\bar{x}),&#10;(7:\bar{y}z\bar{x}),&#10;(8:\bar{y}\bar{z}x)&#10;\right\}&#10;\Rightarrow&#10;\begin{pmatrix}&#10;\tau^{2}U^{(E)}_{11} &amp; \tau^{2}U^{(E)}_{12} \\&#10;\tau U^{(E)}_{21}    &amp; \tau U^{(E)}_{22} \\&#10;\end{pmatrix}&#10;\\&#10;\left\{&#10; (9:zxy),&#10;(10:\bar{z}x\bar{y}),&#10;(11:\bar{z}\bar{x}y),&#10;(12:z\bar{x}\bar{y})&#10;\right\}&#10;\Rightarrow&#10;\begin{pmatrix}&#10;\tau U^{(E)}_{11}     &amp; \tau U^{(E)}_{12} \\&#10;\tau^{2} U^{(E)}_{21} &amp; \tau^{2} U^{(E)}_{22} \\&#10;\end{pmatrix}&#10;\\&#10;\left\{&#10;(13:xzy),&#10;(14:x\bar{z}\bar{y}),&#10;(19:\bar{x}\bar{z}y),&#10;(20:\bar{x}z\bar{y})&#10;\right\}&#10;\Rightarrow&#10;\begin{pmatrix}&#10;\tau^{2}U^{(E)}_{21} &amp; \tau^{2}U^{(E)}_{22} \\&#10;\tau U^{(E)}_{11}    &amp; \tau U^{(E)}_{12} \\&#10;\end{pmatrix}&#10;\\&#10;\left\{&#10;(15:zyx),&#10;(16:\bar{z}y\bar{x}),&#10;(21:z\bar{y}\bar{x}),&#10;(22:\bar{z}\bar{y}x)&#10;\right\}&#10;\Rightarrow&#10;\begin{pmatrix}&#10;\tau U^{(E)}_{21}    &amp; \tau U^{(E)}_{22} \\&#10;\tau^{2}U^{(E)}_{11} &amp; \tau^{2}U^{(E)}_{12} \\&#10;\end{pmatrix}&#10;\\&#10;\left\{&#10;(17:yxz),&#10;(18:\bar{y}\bar{x}z),&#10;(23:\bar{y}x\bar{z}),&#10;(24:y\bar{x}\bar{z})&#10;\right\}&#10;\Rightarrow&#10;\begin{pmatrix}&#10;U^{(E)}_{21} &amp; U^{(E)}_{22} \\&#10;U^{(E)}_{11} &amp; U^{(E)}_{12} \\&#10;\end{pmatrix}&#10;\end{gather*}&#10;&#10;\end{document}" title="IguanaTex Bitmap Display">
            <a:extLst>
              <a:ext uri="{FF2B5EF4-FFF2-40B4-BE49-F238E27FC236}">
                <a16:creationId xmlns:a16="http://schemas.microsoft.com/office/drawing/2014/main" id="{3D431C49-0EFA-440E-9906-F61B05EB87F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877943" y="3304824"/>
            <a:ext cx="4436114" cy="303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97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30000" dirty="0"/>
              <a:t>(σ)</a:t>
            </a:r>
          </a:p>
        </p:txBody>
      </p:sp>
      <p:pic>
        <p:nvPicPr>
          <p:cNvPr id="13" name="Picture 12" descr="\documentclass{article}&#10;\usepackage{amsmath,bm,physics,array,multirow}&#10;\pagestyle{empty}&#10;&#10;\newcolumntype{C}{&gt;{$}c&lt;{$}}&#10;&#10;\begin{document}&#10;&#10;&#10;\begin{equation*}&#10;\begin{tabular}{CCC}&#10;(5:yzx)&#10;&amp; \Rightarrow &amp;&#10;\begin{pmatrix}&#10;U_{x,2} &amp; U_{y}   &amp; U_{z,2}\\&#10;U_{x,3} &amp; U_{y,3} &amp; U_{z}\\&#10;U_{x}   &amp; U_{y,1} &amp; U_{z,1}\\&#10;\end{pmatrix}&#10;\\\\&#10;(6:y\bar{z}\bar{x})&#10;&amp; \Rightarrow &amp;&#10;\begin{pmatrix}&#10; U_{x,2} &amp;  U_{y}   &amp;  U_{z,2}\\&#10;-U_{x,3} &amp; -U_{y,3} &amp; -U_{z}\\&#10;-U_{x}   &amp; -U_{y,1} &amp; -U_{z,1}\\&#10;\end{pmatrix}&#10;\\\\&#10;(7:\bar{y}z\bar{x})&#10;&amp; \Rightarrow &amp;&#10;\begin{pmatrix}&#10;-U_{x,2} &amp; -U_{y}   &amp; -U_{z,2}\\&#10; U_{x,3} &amp;  U_{y,3} &amp;  U_{z}\\&#10;-U_{x}   &amp; -U_{y,1} &amp; -U_{z,1}\\&#10;\end{pmatrix}&#10;\\\\&#10;(8:\bar{y}\bar{z}x)&#10;&amp; \Rightarrow &amp;&#10;\begin{pmatrix}&#10;-U_{x,2} &amp; -U_{y}   &amp; -U_{z,2}\\&#10;-U_{x,3} &amp; -U_{y,3} &amp; -U_{z}\\&#10; U_{x}   &amp;  U_{y,1} &amp;  U_{z,1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F3B92A1F-364E-4634-9A6D-35A5ED96C5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75664" y="2644968"/>
            <a:ext cx="2763881" cy="2731894"/>
          </a:xfrm>
          <a:prstGeom prst="rect">
            <a:avLst/>
          </a:prstGeom>
        </p:spPr>
      </p:pic>
      <p:pic>
        <p:nvPicPr>
          <p:cNvPr id="11" name="Picture 10" descr="\documentclass{article}&#10;\usepackage{amsmath,bm,physics,array,multirow}&#10;\pagestyle{empty}&#10;&#10;\newcolumntype{C}{&gt;{$}c&lt;{$}}&#10;&#10;\begin{document}&#10;&#10;\begin{equation*}&#10;\begin{tabular}{CCC}&#10;(1:xyz)&#10;&amp; \Rightarrow &amp;&#10;\begin{pmatrix}&#10;U_{x}   &amp; U_{y,1} &amp; U_{z,1}\\&#10;U_{x,2} &amp; U_{y}   &amp; U_{z,2}\\&#10;U_{x,3} &amp; U_{y,3} &amp; U_{z}\\&#10;\end{pmatrix}&#10;\\\\&#10;(2:x\bar{y}\bar{z})&#10;&amp; \Rightarrow &amp;&#10;\begin{pmatrix}&#10;U_{x}    &amp; U_{y,1}  &amp; U_{z,1}\\&#10;-U_{x,2} &amp; -U_{y}   &amp; -U_{z,2}\\&#10;-U_{x,3} &amp; -U_{y,3} &amp; -U_{z}\\&#10;\end{pmatrix}&#10;\\\\&#10;(3:\bar{x}y\bar{z})&#10;&amp; \Rightarrow &amp;&#10;\begin{pmatrix}&#10;-U_{x}   &amp; -U_{y,1} &amp; -U_{z,1}\\&#10; U_{x,2} &amp;  U_{y}   &amp;  U_{z,2}\\&#10;-U_{x,3} &amp; -U_{y,3} &amp; -U_{z}\\&#10;\end{pmatrix}&#10;\\\\&#10;(4: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CBD37FC5-B6B6-4508-8F1F-83FBDDC21E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5890" y="2644970"/>
            <a:ext cx="2763885" cy="2731891"/>
          </a:xfrm>
          <a:prstGeom prst="rect">
            <a:avLst/>
          </a:prstGeom>
        </p:spPr>
      </p:pic>
      <p:pic>
        <p:nvPicPr>
          <p:cNvPr id="15" name="Picture 14" descr="\documentclass{article}&#10;\usepackage{amsmath,bm,physics,array,multirow}&#10;\pagestyle{empty}&#10;&#10;\newcolumntype{C}{&gt;{$}c&lt;{$}}&#10;&#10;\begin{document}&#10;&#10;&#10;\begin{equation*}&#10;\begin{tabular}{CCC}&#10;(9:zxy)&#10;&amp; \Rightarrow &amp;&#10;\begin{pmatrix}&#10;U_{x,3} &amp; U_{y,3} &amp; U_{z}\\&#10;U_{x} &amp; U_{y,1} &amp; U_{z,1}\\&#10;U_{x,2} &amp; U_{y} &amp; U_{z,2}\\&#10;\end{pmatrix}&#10;\\\\&#10;(10:\bar{z}x\bar{y})&#10;&amp; \Rightarrow &amp;&#10;\begin{pmatrix}&#10;-U_{x,3} &amp; -U_{y,3} &amp; -U_{z}\\&#10; U_{x}   &amp;  U_{y,1} &amp;  U_{z,1}\\&#10;-U_{x,2} &amp; -U_{y}   &amp; -U_{z,2}\\&#10;\end{pmatrix}&#10;\\\\&#10;(11:\bar{z}\bar{x}y)&#10;&amp; \Rightarrow &amp;&#10;\begin{pmatrix}&#10;-U_{x,3} &amp; -U_{y,3} &amp; -U_{z}\\&#10;-U_{x}   &amp; -U_{y,1} &amp; -U_{z,1}\\&#10; U_{x,2} &amp;  U_{y}   &amp;  U_{z,2}\\&#10;\end{pmatrix}&#10;\\\\&#10;(12: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18A85F1F-135C-4874-9FE3-6DECF7BAF85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95434" y="2644968"/>
            <a:ext cx="2840676" cy="27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79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30000" dirty="0"/>
              <a:t>(σ)</a:t>
            </a:r>
          </a:p>
        </p:txBody>
      </p:sp>
      <p:pic>
        <p:nvPicPr>
          <p:cNvPr id="15" name="Picture 14" descr="\documentclass{article}&#10;\usepackage{amsmath,bm,physics,array,multirow}&#10;\pagestyle{empty}&#10;&#10;\newcolumntype{C}{&gt;{$}c&lt;{$}}&#10;&#10;\begin{document}&#10;&#10;&#10;\begin{equation*}&#10;\begin{tabular}{CCC}&#10;(13:xzy)&#10;&amp; \Rightarrow &amp;&#10;\sigma&#10;\begin{pmatrix}&#10;U_{x}   &amp; U_{y,1} &amp; U_{z,1}\\&#10;U_{x,3} &amp; U_{y,3} &amp; U_{z}\\&#10;U_{x,2} &amp; U_{y}   &amp; U_{z,2}\\&#10;\end{pmatrix}&#10;\\\\&#10;(14:x\bar{z}\bar{y})&#10;&amp; \Rightarrow &amp;&#10;\sigma&#10;\begin{pmatrix}&#10; U_{x}   &amp;  U_{y,1} &amp;  U_{z,1}\\&#10;-U_{x,3} &amp; -U_{y,3} &amp; -U_{z}\\&#10;-U_{x,2} &amp; -U_{y}   &amp; -U_{z,2}\\&#10;\end{pmatrix}&#10;\\\\&#10;(15:zyx)&#10;&amp; \Rightarrow &amp;&#10;\sigma&#10;\begin{pmatrix}&#10;U_{x,3} &amp; U_{y,3} &amp; U_{z}\\&#10;U_{x,2} &amp; U_{y}   &amp; U_{z,2}\\&#10;U_{x}   &amp; U_{y,1} &amp; U_{z,1}\\&#10;\end{pmatrix}&#10;\\\\&#10;(16:\bar{z}y\bar{x})&#10;&amp; \Rightarrow &amp;&#10;\sigma&#10;\begin{pmatrix}&#10;-U_{x,3} &amp; -U_{y,3} &amp; -U_{z}\\&#10; U_{x,2} &amp;  U_{y}   &amp;  U_{z,2}\\&#10;-U_{x}   &amp; -U_{y,1} &amp; -U_{z,1}\\&#10;\end{pmatrix}&#10;\\\\&#10;(17:yxz)&#10;&amp; \Rightarrow &amp;&#10;\sigma&#10;\begin{pmatrix}&#10;U_{x,2} &amp; U_{y}   &amp; U_{z,2}\\&#10;U_{x}   &amp; U_{y,1} &amp; U_{z,1}\\&#10;U_{x,3} &amp; U_{y,3} &amp; U_{z}\\&#10;\end{pmatrix}&#10;\\\\&#10;(18:\bar{y}\bar{x}z)&#10;&amp; \Rightarrow &amp;&#10;\sigma&#10;\begin{pmatrix}&#10;-U_{x,2} &amp; -U_{y,2} &amp; -U_{z,2}\\&#10;-U_{x,1} &amp; -U_{y,1} &amp; -U_{z,1}\\&#10; U_{x,3} &amp;  U_{y,3} &amp;  U_{z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4FF06C9E-7E27-4DC1-A827-EBFE891E7B8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92200" y="2085137"/>
            <a:ext cx="2957702" cy="4189268"/>
          </a:xfrm>
          <a:prstGeom prst="rect">
            <a:avLst/>
          </a:prstGeom>
        </p:spPr>
      </p:pic>
      <p:pic>
        <p:nvPicPr>
          <p:cNvPr id="19" name="Picture 18" descr="\documentclass{article}&#10;\usepackage{amsmath,bm,physics,array,multirow}&#10;\pagestyle{empty}&#10;&#10;\newcolumntype{C}{&gt;{$}c&lt;{$}}&#10;&#10;\begin{document}&#10;&#10;&#10;\begin{equation*}&#10;\begin{tabular}{CCC}&#10;(19:\bar{x}\bar{z}y)&#10;&amp; \Rightarrow &amp;&#10;\sigma&#10;\begin{pmatrix}&#10;-U_{x}   &amp; -U_{y,1} &amp; -U_{z,1}\\&#10;-U_{x,3} &amp; -U_{y,3} &amp; -U_{z}\\&#10; U_{x,2} &amp;  U_{y}   &amp;  U_{z,2}\\&#10;\end{pmatrix}&#10;\\\\&#10;(20:\bar{x}z\bar{y})&#10;&amp; \Rightarrow &amp;&#10;\sigma&#10;\begin{pmatrix}&#10;-U_{x,1} &amp; -U_{y,1} &amp; -U_{z,1}\\&#10; U_{x,3} &amp;  U_{y,3} &amp;  U_{z,3}\\&#10;-U_{x,2} &amp; -U_{y,2} &amp; -U_{z,2}\\&#10;\end{pmatrix}&#10;\\\\&#10;(21:z\bar{y}\bar{x})&#10;&amp; \Rightarrow &amp;&#10;\sigma&#10;\begin{pmatrix}&#10; U_{x,3} &amp;  U_{y,3} &amp;  U_{z}\\&#10;-U_{x,2} &amp; -U_{y}   &amp; -U_{z,2}\\&#10;-U_{x}   &amp; -U_{y,1} &amp; -U_{z,1}\\&#10;\end{pmatrix}&#10;\\\\&#10;(22:\bar{z}\bar{y}x)&#10;&amp; \Rightarrow &amp;&#10;\sigma&#10;\begin{pmatrix}&#10;-U_{x,3} &amp; -U_{y,3} &amp; -U_{z}\\&#10;-U_{x,2} &amp; -U_{y}   &amp; -U_{z,2}\\&#10; U_{x}   &amp;  U_{y,1} &amp;  U_{z,1}\\&#10;\end{pmatrix}&#10;\\\\&#10;(23:\bar{y}x\bar{z})&#10;&amp; \Rightarrow &amp;&#10;\sigma&#10;\begin{pmatrix}&#10;-U_{x,2} &amp; -U_{y}   &amp; -U_{z,2}\\&#10; U_{x,1} &amp;  U_{y,1} &amp;  U_{z,1}\\&#10;-U_{x,3} &amp; -U_{y,3} &amp; -U_{z}\\&#10;\end{pmatrix}&#10;\\\\&#10;(24:y\bar{x}\bar{z})&#10;&amp; \Rightarrow &amp;&#10;\sigma&#10;\begin{pmatrix}&#10; U_{x,2} &amp;  U_{y}   &amp;  U_{z,2}\\&#10;-U_{x}   &amp; -U_{y,1} &amp; -U_{z,1}\\&#10;-U_{x,3} &amp; -U_{y,3} &amp; -U_{z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630E0507-5AE5-428E-A452-939BCA99688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142102" y="2085137"/>
            <a:ext cx="2957697" cy="418926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8074750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8703.412"/>
  <p:tag name="LATEXADDIN" val="\documentclass{article}&#10;\usepackage{amsmath,bm,physics,array,multirow}&#10;\pagestyle{empty}&#10;&#10;\newcolumntype{C}{&gt;{$}c&lt;{$}}&#10;&#10;\begin{document}&#10;&#10;\begin{equation*}&#10;\left\{&#10;(xyz),&#10;(x\bar{y}\bar{z}),&#10;(\bar{x}y\bar{z}),&#10;(\bar{x}\bar{y}z)&#10;(yzx),&#10;(y\bar{z}\bar{x}),&#10;(\bar{y}z\bar{x}),&#10;(\bar{y}\bar{z}x),&#10;(zxy),&#10;(\bar{z}x\bar{y}),&#10;(\bar{z}\bar{x}y),&#10;(z\bar{x}\bar{y}),&#10;(xzy),&#10;(x\bar{z}\bar{y}),&#10;(zyx),&#10;(\bar{z}y\bar{x}),&#10;(yxz),&#10;(\bar{y}\bar{x}z),&#10;(\bar{x}\bar{z}y),&#10;(\bar{x}z\bar{y}),&#10;(z\bar{y}\bar{x}),&#10;(\bar{z}\bar{y}x),&#10;(\bar{y}x\bar{z}),&#10;(y\bar{x}\bar{z})&#10;\right\}&#10;\Rightarrow&#10;1&#10;\end{equation*}&#10;&#10;\end{document}"/>
  <p:tag name="IGUANATEXSIZE" val="12"/>
  <p:tag name="IGUANATEXCURSOR" val="155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961"/>
  <p:tag name="ORIGINALWIDTH" val="4629.921"/>
  <p:tag name="LATEXADDIN" val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,&#10;(yzx),&#10;(y\bar{z}\bar{x}),&#10;(\bar{y}z\bar{x}),&#10;(\bar{y}\bar{z}x),&#10;(zxy),&#10;(\bar{z}x\bar{y}),&#10;(\bar{z}\bar{x}y),&#10;(z\bar{x}\bar{y})&#10;\right\}&#10;\Rightarrow&#10;1&#10;\\&#10;\left\{&#10;(xzy),&#10;(x\bar{z}\bar{y}),&#10;(zyx),&#10;(\bar{z}y\bar{x}),&#10;(yxz),&#10;(\bar{y}\bar{x}z),&#10;(\bar{x}\bar{z}y),&#10;(\bar{x}z\bar{y}),&#10;(z\bar{y}\bar{x}),&#10;(\bar{z}\bar{y}x),&#10;(\bar{y}x\bar{z}),&#10;(y\bar{x}\bar{z})&#10;\right\}&#10;\Rightarrow&#10;-1&#10;\end{gather*}&#10;&#10;\end{document}"/>
  <p:tag name="IGUANATEXSIZE" val="12"/>
  <p:tag name="IGUANATEXCURSOR" val="616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41.995"/>
  <p:tag name="ORIGINALWIDTH" val="2138.733"/>
  <p:tag name="LATEXADDIN" val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&#10;\right\}&#10;\Rightarrow&#10;\begin{pmatrix}&#10;1 &amp; 0 \\&#10;0 &amp; 1 \\&#10;\end{pmatrix}&#10;\\&#10;\left\{&#10;(yzx),&#10;(y\bar{z}\bar{x}),&#10;(\bar{y}z\bar{x}),&#10;(\bar{y}\bar{z}x)&#10;\right\}&#10;\Rightarrow&#10;\begin{pmatrix}&#10;\tau^{2} &amp; 0    \\&#10;0        &amp; \tau \\&#10;\end{pmatrix}&#10;\\&#10;\left\{&#10;(zxy),&#10;(\bar{z}x\bar{y}),&#10;(\bar{z}\bar{x}y),&#10;(z\bar{x}\bar{y})&#10;\right\}&#10;\Rightarrow&#10;\begin{pmatrix}&#10;\tau &amp; 0        \\&#10;0    &amp; \tau^{2} \\&#10;\end{pmatrix}&#10;\\&#10;\left\{&#10;(xzy),&#10;(x\bar{z}\bar{y}),&#10;(\bar{x}\bar{z}y),&#10;(\bar{x}z\bar{y})&#10;\right\}&#10;\Rightarrow&#10;\begin{pmatrix}&#10;0        &amp; \tau \\&#10;\tau^{2} &amp; 0        \\&#10;\end{pmatrix}&#10;\\&#10;\left\{&#10;(zyx),&#10;(\bar{z}y\bar{x}),&#10;(z\bar{y}\bar{x}),&#10;(\bar{z}\bar{y}x)&#10;\right\}&#10;\Rightarrow&#10;\begin{pmatrix}&#10;0    &amp; \tau^{2} \\&#10;\tau &amp; 0    \\&#10;\end{pmatrix}&#10;\\&#10;\left\{&#10;(yxz),&#10;(\bar{y}\bar{x}z),&#10;(\bar{y}x\bar{z}),&#10;(y\bar{x}\bar{z})&#10;\right\}&#10;\Rightarrow&#10;\begin{pmatrix}&#10;0 &amp; 1 \\&#10;1 &amp; 0 \\&#10;\end{pmatrix}&#10;\end{gather*}&#10;&#10;\end{document}"/>
  <p:tag name="IGUANATEXSIZE" val="12"/>
  <p:tag name="IGUANATEXCURSOR" val="913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xyz) &amp;&#10;\begin{pmatrix}&#10; 1 &amp;  0 &amp;  0 \\&#10; 0 &amp;  1 &amp;  0 \\&#10; 0 &amp;  0 &amp;  1 \\&#10;\end{pmatrix}&#10;\\&#10;(x\bar{y}\bar{z}) &amp;&#10;\begin{pmatrix}&#10; 1 &amp;  0 &amp;  0 \\&#10; 0 &amp; -1 &amp;  0 \\&#10; 0 &amp;  0 &amp; -1 \\&#10;\end{pmatrix}&#10;\\&#10;(\bar{x}y\bar{z}) &amp;&#10;\begin{pmatrix}&#10;-1 &amp;  0 &amp;  0 \\&#10; 0 &amp;  1 &amp;  0 \\&#10; 0 &amp;  0 &amp; -1 \\&#10;\end{pmatrix}&#10;\\&#10;(\bar{x}\bar{y}z) &amp;&#10;\begin{pmatrix}&#10;-1 &amp;  0 &amp;  0 \\&#10; 0 &amp; -1 &amp;  0 \\&#10; 0 &amp;  0 &amp;  1 \\&#10;\end{pmatrix}&#10;\\&#10;\end{tabular}&#10;\end{equation*}&#10;&#10;\end{document}"/>
  <p:tag name="IGUANATEXSIZE" val="12"/>
  <p:tag name="IGUANATEXCURSOR" val="537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341.582"/>
  <p:tag name="LATEXADDIN" val="\documentclass{article}&#10;\usepackage{amsmath,bm,physics,array,multirow}&#10;\pagestyle{empty}&#10;&#10;\newcolumntype{C}{&gt;{$}c&lt;{$}}&#10;&#10;\begin{document}&#10;&#10;\begin{equation*}&#10;\begin{tabular}{CC}&#10;(xzy) &amp;&#10;\begin{pmatrix}&#10;-1 &amp;  0 &amp;  0 \\&#10; 0 &amp;  0 &amp; -1 \\&#10; 0 &amp; -1 &amp;  0 \\&#10;\end{pmatrix}&#10;\\&#10;(x\bar{z}\bar{y}) &amp;&#10;\begin{pmatrix}&#10;-1 &amp;  0 &amp;  0 \\&#10; 0 &amp;  0 &amp;  1 \\&#10; 0 &amp;  1 &amp;  0 \\&#10;\end{pmatrix}&#10;\\&#10;(zyx) &amp;&#10;\begin{pmatrix}&#10; 0 &amp;  0 &amp; -1 \\&#10; 0 &amp; -1 &amp;  0 \\&#10;-1 &amp;  0 &amp;  0 \\&#10;\end{pmatrix}&#10;\\&#10;(\bar{z}y\bar{x}) &amp;&#10;\begin{pmatrix}&#10; 0 &amp;  0 &amp;  1 \\&#10; 0 &amp; -1 &amp;  0 \\&#10; 1 &amp;  0 &amp;  0 \\&#10;\end{pmatrix}&#10;\\&#10;\end{tabular}&#10;\end{equation*}&#10;&#10;\end{document}"/>
  <p:tag name="IGUANATEXSIZE" val="12"/>
  <p:tag name="IGUANATEXCURSOR" val="519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yzx) &amp;&#10;\begin{pmatrix}&#10; 0 &amp;  0 &amp;  1 \\&#10; 1 &amp;  0 &amp;  0 \\&#10; 0 &amp;  1 &amp;  0 \\&#10;\end{pmatrix}&#10;\\&#10;(y\bar{z}\bar{x}) &amp;&#10;\begin{pmatrix}&#10; 0 &amp; 0  &amp; -1  \\&#10; 1 &amp; 0  &amp; 0 \\&#10; 0 &amp; -1 &amp; 0  \\&#10;\end{pmatrix}&#10;\\&#10;(\bar{y}z\bar{x}) &amp;&#10;\begin{pmatrix}&#10; 0 &amp;  0 &amp; -1 \\&#10;-1 &amp;  0 &amp;  0 \\&#10; 0 &amp;  1 &amp;  0 \\&#10;\end{pmatrix}&#10;\\&#10;(\bar{y}\bar{z}x) &amp;&#10;\begin{pmatrix}&#10; 0 &amp;  0 &amp;  1 \\&#10;-1 &amp;  0 &amp;  0 \\&#10; 0 &amp; -1 &amp;  0 \\&#10;\end{pmatrix}&#10;\\&#10;\end{tabular}&#10;\end{equation*}&#10;&#10;\end{document}"/>
  <p:tag name="IGUANATEXSIZE" val="12"/>
  <p:tag name="IGUANATEXCURSOR" val="611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zxy) &amp;&#10;\begin{pmatrix}&#10; 0 &amp;  1 &amp;  0 \\&#10; 0 &amp;  0 &amp;  1 \\&#10; 1 &amp;  0 &amp;  0 \\&#10;\end{pmatrix}&#10;\\&#10;(\bar{z}x\bar{y}) &amp;&#10;\begin{pmatrix}&#10; 0 &amp;  1 &amp;  0 \\&#10; 0 &amp;  0 &amp; -1 \\&#10;-1 &amp;  0 &amp;  0 \\&#10;\end{pmatrix}&#10;\\&#10;(\bar{z}\bar{x}y) &amp;&#10;\begin{pmatrix}&#10; 0 &amp; -1 &amp;  0 \\&#10; 0 &amp;  0 &amp;  1 \\&#10;-1 &amp;  0 &amp;  0 \\&#10;\end{pmatrix}&#10;\\&#10;(z\bar{x}\bar{y}) &amp;&#10;\begin{pmatrix}&#10; 0 &amp; -1 &amp;  0 \\&#10; 0 &amp;  0 &amp; -1 \\&#10; 1 &amp;  0 &amp;  0 \\&#10;\end{pmatrix}&#10;\\&#10;\end{tabular}&#10;\end{equation*}&#10;&#10;\end{document}"/>
  <p:tag name="IGUANATEXSIZE" val="12"/>
  <p:tag name="IGUANATEXCURSOR" val="542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148.106"/>
  <p:tag name="LATEXADDIN" val="\documentclass{article}&#10;\usepackage{amsmath,bm,physics,array,multirow}&#10;\pagestyle{empty}&#10;&#10;\newcolumntype{C}{&gt;{$}c&lt;{$}}&#10;&#10;\begin{document}&#10;&#10;\begin{equation*}&#10;\begin{tabular}{CC}&#10;(z\bar{y}\bar{x}) &amp;&#10;\begin{pmatrix}&#10; 0 &amp;  0 &amp;  1 \\&#10; 0 &amp;  1 &amp;  0 \\&#10;-1 &amp;  0 &amp;  0 \\&#10;\end{pmatrix}&#10;\\&#10;(\bar{z}\bar{y}x) &amp;&#10;\begin{pmatrix}&#10; 0 &amp;  0 &amp; -1 \\&#10; 0 &amp;  1 &amp;  0 \\&#10; 1 &amp;  0 &amp;  0 \\&#10;\end{pmatrix}&#10;\\&#10;(\bar{y}x\bar{z}) &amp;&#10;\begin{pmatrix}&#10; 0 &amp; -1 &amp;  0 \\&#10; 1 &amp;  0 &amp;  0 \\&#10; 0 &amp;  0 &amp;  1 \\&#10;\end{pmatrix}&#10;\\&#10;(y\bar{x}\bar{z}) &amp;&#10;\begin{pmatrix}&#10; 0 &amp;  1 &amp;  0 \\&#10;-1 &amp;  0 &amp;  0 \\&#10; 0 &amp;  0 &amp;  1 \\&#10;\end{pmatrix}&#10;\\&#10;\end{tabular}&#10;\end{equation*}&#10;&#10;\end{document}"/>
  <p:tag name="IGUANATEXSIZE" val="12"/>
  <p:tag name="IGUANATEXCURSOR" val="521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341.582"/>
  <p:tag name="LATEXADDIN" val="\documentclass{article}&#10;\usepackage{amsmath,bm,physics,array,multirow}&#10;\pagestyle{empty}&#10;&#10;\newcolumntype{C}{&gt;{$}c&lt;{$}}&#10;&#10;\begin{document}&#10;&#10;\begin{equation*}&#10;\begin{tabular}{CC}&#10;(yxz) &amp;&#10;\begin{pmatrix}&#10; 0 &amp; -1 &amp;  0 \\&#10;-1 &amp;  0 &amp;  0 \\&#10; 0 &amp;  0 &amp; -1 \\&#10;\end{pmatrix}&#10;\\&#10;(\bar{y}\bar{x}z) &amp;&#10;\begin{pmatrix}&#10; 0 &amp;  1 &amp;  0 \\&#10; 1 &amp;  0 &amp;  0 \\&#10; 0 &amp;  0 &amp; -1 \\&#10;\end{pmatrix}&#10;\\&#10;(\bar{x}\bar{z}y) &amp;&#10;\begin{pmatrix}&#10; 1 &amp;  0 &amp;  0 \\&#10; 0 &amp;  0 &amp; -1 \\&#10; 0 &amp;  1 &amp;  0 \\&#10;\end{pmatrix}&#10;\\&#10;(\bar{x}z\bar{y}) &amp;&#10;\begin{pmatrix}&#10; 1 &amp;  0 &amp;  0 \\&#10; 0 &amp;  0 &amp;  1 \\&#10; 0 &amp; -1 &amp;  0 \\&#10;\end{pmatrix}&#10;\\&#10;\end{tabular}&#10;\end{equation*}&#10;&#10;\end{document}"/>
  <p:tag name="IGUANATEXSIZE" val="12"/>
  <p:tag name="IGUANATEXCURSOR" val="515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xyz) &amp;&#10;\begin{pmatrix}&#10; 1 &amp;  0 &amp;  0 \\&#10; 0 &amp;  1 &amp;  0 \\&#10; 1 &amp;  0 &amp;  1 \\&#10;\end{pmatrix}&#10;\\&#10;(x\bar{y}\bar{z}) &amp;&#10;\begin{pmatrix}&#10; 1 &amp;  0 &amp;  0 \\&#10; 0 &amp; -1 &amp;  0 \\&#10; 1 &amp;  0 &amp; -1 \\&#10;\end{pmatrix}&#10;\\&#10;(\bar{x}y\bar{z}) &amp;&#10;\begin{pmatrix}&#10;-1 &amp;  0 &amp;  0 \\&#10; 0 &amp;  1 &amp;  0 \\&#10; 1 &amp;  0 &amp; -1 \\&#10;\end{pmatrix}&#10;\\&#10;(\bar{x}\bar{y}z) &amp;&#10;\begin{pmatrix}&#10;-1 &amp;  0 &amp;  0 \\&#10; 0 &amp; -1 &amp;  0 \\&#10; 0 &amp;  0 &amp;  1 \\&#10;\end{pmatrix}&#10;\\&#10;\end{tabular}&#10;\end{equation*}&#10;&#10;\end{document}"/>
  <p:tag name="IGUANATEXSIZE" val="12"/>
  <p:tag name="IGUANATEXCURSOR" val="537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xzy) &amp;&#10;\begin{pmatrix}&#10; 1 &amp;  0 &amp;  0 \\&#10; 0 &amp;  0 &amp;  1 \\&#10; 0 &amp;  1 &amp;  0 \\&#10;\end{pmatrix}&#10;\\&#10;(x\bar{z}\bar{y}) &amp;&#10;\begin{pmatrix}&#10; 1 &amp;  0 &amp;  0 \\&#10; 0 &amp;  0 &amp; -1 \\&#10; 0 &amp; -1 &amp;  0 \\&#10;\end{pmatrix}&#10;\\&#10;(zyx) &amp;&#10;\begin{pmatrix}&#10; 0 &amp;  0 &amp;  1 \\&#10; 0 &amp;  1 &amp;  0 \\&#10; 1 &amp;  0 &amp;  0 \\&#10;\end{pmatrix}&#10;\\&#10;(\bar{z}y\bar{x}) &amp;&#10;\begin{pmatrix}&#10; 0 &amp;  0 &amp; -1 \\&#10; 0 &amp;  1 &amp;  0 \\&#10;-1 &amp;  0 &amp;  0 \\&#10;\end{pmatrix}&#10;\\&#10;\end{tabular}&#10;\end{equation*}&#10;&#10;\end{document}"/>
  <p:tag name="IGUANATEXSIZE" val="12"/>
  <p:tag name="IGUANATEXCURSOR" val="277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yzx) &amp;&#10;\begin{pmatrix}&#10; 0 &amp;  0 &amp;  1 \\&#10; 1 &amp;  0 &amp;  0 \\&#10; 0 &amp;  1 &amp;  0 \\&#10;\end{pmatrix}&#10;\\&#10;(y\bar{z}\bar{x}) &amp;&#10;\begin{pmatrix}&#10; 0 &amp;  0 &amp; -1 \\&#10; 1 &amp;  0 &amp;  0 \\&#10; 0 &amp; -1 &amp;  0 \\&#10;\end{pmatrix}&#10;\\&#10;(\bar{y}z\bar{x}) &amp;&#10;\begin{pmatrix}&#10; 0 &amp;  0 &amp; -1 \\&#10;-1 &amp;  0 &amp;  0 \\&#10; 0 &amp;  1 &amp;  0 \\&#10;\end{pmatrix}&#10;\\&#10;(\bar{y}\bar{z}x) &amp;&#10;\begin{pmatrix}&#10; 0 &amp;  0 &amp;  1 \\&#10;-1 &amp;  0 &amp;  0 \\&#10; 0 &amp; -1 &amp;  0 \\&#10;\end{pmatrix}&#10;\\&#10;\end{tabular}&#10;\end{equation*}&#10;&#10;\end{document}"/>
  <p:tag name="IGUANATEXSIZE" val="12"/>
  <p:tag name="IGUANATEXCURSOR" val="228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zxy) &amp;&#10;\begin{pmatrix}&#10; 0 &amp;  1 &amp;  0 \\&#10; 0 &amp;  0 &amp;  1 \\&#10; 1 &amp;  0 &amp;  0 \\&#10;\end{pmatrix}&#10;\\&#10;(\bar{z}x\bar{y}) &amp;&#10;\begin{pmatrix}&#10; 0 &amp;  1 &amp;  0 \\&#10; 0 &amp;  0 &amp; -1 \\&#10;-1 &amp;  0 &amp;  0 \\&#10;\end{pmatrix}&#10;\\&#10;(\bar{z}\bar{x}y) &amp;&#10;\begin{pmatrix}&#10; 0 &amp; -1 &amp;  0 \\&#10; 0 &amp;  0 &amp;  1 \\&#10;-1 &amp;  0 &amp;  0 \\&#10;\end{pmatrix}&#10;\\&#10;(z\bar{x}\bar{y}) &amp;&#10;\begin{pmatrix}&#10; 0 &amp; -1 &amp;  0 \\&#10; 0 &amp;  0 &amp; -1 \\&#10; 1 &amp;  0 &amp;  0 \\&#10;\end{pmatrix}&#10;\\&#10;\end{tabular}&#10;\end{equation*}&#10;&#10;\end{document}"/>
  <p:tag name="IGUANATEXSIZE" val="12"/>
  <p:tag name="IGUANATEXCURSOR" val="212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z\bar{y}\bar{x}) &amp;&#10;\begin{pmatrix}&#10; 0 &amp;  0 &amp; -1 \\&#10; 0 &amp; -1 &amp;  0 \\&#10; 1 &amp;  0 &amp;  0\\&#10;\end{pmatrix}&#10;\\&#10;(\bar{z}\bar{y}x) &amp;&#10;\begin{pmatrix}&#10; 0 &amp;  0 &amp;  1 \\&#10; 0 &amp; -1 &amp;  0 \\&#10;-1 &amp;  0 &amp;  1 \\&#10;\end{pmatrix}&#10;\\&#10;(\bar{y}x\bar{z}) &amp;&#10;\begin{pmatrix}&#10; 0 &amp;  1 &amp;  0 \\&#10;-1 &amp;  0 &amp;  0 \\&#10; 0 &amp;  0 &amp; -1 \\&#10;\end{pmatrix}&#10;\\&#10;(y\bar{x}\bar{z}) &amp;&#10;\begin{pmatrix}&#10; 0 &amp; -1 &amp;  0 \\&#10; 1 &amp;  0 &amp;  0 \\&#10; 0 &amp;  0 &amp; -1 \\&#10;\end{pmatrix}&#10;\\&#10;\end{tabular}&#10;\end{equation*}&#10;&#10;\end{document}"/>
  <p:tag name="IGUANATEXSIZE" val="12"/>
  <p:tag name="IGUANATEXCURSOR" val="119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yxz) &amp;&#10;\begin{pmatrix}&#10; 0 &amp;  1 &amp;  0 \\&#10; 1 &amp;  0 &amp;  0 \\&#10; 0 &amp;  0 &amp;  1 \\&#10;\end{pmatrix}&#10;\\&#10;(\bar{y}\bar{x}z) &amp;&#10;\begin{pmatrix}&#10; 0 &amp; -1 &amp;  0 \\&#10;-1 &amp;  0 &amp;  0 \\&#10; 0 &amp;  0 &amp;  1 \\&#10;\end{pmatrix}&#10;\\&#10;(\bar{x}\bar{z}y) &amp;&#10;\begin{pmatrix}&#10;-1 &amp;  0 &amp;  0 \\&#10; 0 &amp;  0 &amp;  1 \\&#10; 0 &amp; -1 &amp;  0 \\&#10;\end{pmatrix}&#10;\\&#10;(\bar{x}z\bar{y}) &amp;&#10;\begin{pmatrix}&#10;-1 &amp;  0 &amp;  0 \\&#10; 0 &amp;  0 &amp; -1 \\&#10; 0 &amp;  1 &amp;  0 \\&#10;\end{pmatrix}&#10;\\&#10;\end{tabular}&#10;\end{equation*}&#10;&#10;\end{document}"/>
  <p:tag name="IGUANATEXSIZE" val="12"/>
  <p:tag name="IGUANATEXCURSOR" val="479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7.1503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&#10;&amp;=&#10;\sum_{j \in \Gamma\left(T_{d}\right)}&#10;\sum_{\kappa = 1}^{l_{j}}&#10;f^{(j)}_{\kappa\kappa}&#10;\\&#10;f^{(j)}_{\lambda\kappa}&#10;&amp;=&#10;\sum_{\hat{R}\in T_{d}}&#10;\left(\mathfrak{p}_{\lambda\kappa}^{(j)}\right)_{\hat{R}}&#10;f_{\hat{R}}&#10;\\&#10;\end{align*}&#10;&#10;\end{document}"/>
  <p:tag name="IGUANATEXSIZE" val="20"/>
  <p:tag name="IGUANATEXCURSOR" val="32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4777"/>
  <p:tag name="ORIGINALWIDTH" val="4218.973"/>
  <p:tag name="OUTPUTTYPE" val="PNG"/>
  <p:tag name="IGUANATEXVERSION" val="159"/>
  <p:tag name="LATEXADDIN" val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/>
  <p:tag name="IGUANATEXSIZE" val="20"/>
  <p:tag name="IGUANATEXCURSOR" val="40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53.3933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A_{1}\right)}&#10;=&#10;\frac{1}{24}&#10;\begin{pmatrix}&#10;1 \\&#10;1 \\&#10;1 \\&#10;1 \\&#10;1 \\&#10;1 \\&#10;1 \\&#10;1 \\&#10;1 \\&#10;1 \\&#10;1 \\&#10;1 \\&#10;1 \\&#10;1 \\&#10;1 \\&#10;1 \\&#10;1 \\&#10;1 \\&#10;1 \\&#10;1 \\&#10;1 \\&#10;1 \\&#10;1 \\&#10;1 \\&#10;\end{pmatrix}&#10;\end{equation*}&#10;&#10;\end{document}"/>
  <p:tag name="IGUANATEXSIZE" val="12"/>
  <p:tag name="IGUANATEXCURSOR" val="206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950.8811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A_{2}\right)}&#10;=&#10;\frac{1}{24}&#10;\begin{pmatrix}&#10;+1 \\&#10;+1 \\&#10;+1 \\&#10;+1 \\&#10;+1 \\&#10;+1 \\&#10;+1 \\&#10;+1 \\&#10;+1 \\&#10;+1 \\&#10;+1 \\&#10;+1 \\&#10;-1 \\&#10;-1 \\&#10;-1 \\&#10;-1 \\&#10;-1 \\&#10;-1 \\&#10;-1 \\&#10;-1 \\&#10;-1 \\&#10;-1 \\&#10;-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11}&#10;=&#10;\frac{1}{12}&#10;\begin{pmatrix}&#10;1        \\&#10;1        \\&#10;1        \\&#10;1        \\&#10;\tau     \\&#10;\tau     \\&#10;\tau     \\&#10;\tau     \\&#10;\tau^{2} \\&#10;\tau^{2} \\&#10;\tau^{2} \\&#10;\tau^{2} \\&#10;0        \\&#10;0        \\&#10;0        \\&#10;0        \\&#10;0        \\&#10;0        \\&#10;0        \\&#10;0        \\&#10;0        \\&#10;0        \\&#10;0        \\&#10;0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22}&#10;=&#10;\frac{1}{12}&#10;\begin{pmatrix}&#10;1        \\&#10;1        \\&#10;1        \\&#10;1        \\&#10;\tau^{2} \\&#10;\tau^{2} \\&#10;\tau^{2} \\&#10;\tau^{2} \\&#10;\tau     \\&#10;\tau     \\&#10;\tau     \\&#10;\tau     \\&#10;0        \\&#10;0        \\&#10;0        \\&#10;0        \\&#10;0        \\&#10;0        \\&#10;0        \\&#10;0        \\&#10;0        \\&#10;0        \\&#10;0        \\&#10;0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}&#10;=&#10;\frac{1}{8}&#10;\begin{pmatrix}&#10;+1 \\&#10;+1 \\&#10;-1 \\&#10;-1 \\&#10;0  \\&#10;0  \\&#10;0  \\&#10;0  \\&#10;0  \\&#10;0  \\&#10;0  \\&#10;0  \\&#10;-1 \\&#10;-1 \\&#10;0  \\&#10;0  \\&#10;0  \\&#10;0  \\&#10;+1 \\&#10;+1 \\&#10;0  \\&#10;0  \\&#10;0  \\&#10;0  \\&#10;\end{pmatrix}&#10;\end{equation*}&#10;&#10;\end{document}"/>
  <p:tag name="IGUANATEXSIZE" val="12"/>
  <p:tag name="IGUANATEXCURSOR" val="322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}&#10;=&#10;\frac{1}{8}&#10;\begin{pmatrix}&#10;+1 \\&#10;-1 \\&#10;+1 \\&#10;-1 \\&#10;0  \\&#10;0  \\&#10;0  \\&#10;0  \\&#10;0  \\&#10;0  \\&#10;0  \\&#10;0  \\&#10;0  \\&#10;0  \\&#10;-1 \\&#10;-1 \\&#10;0  \\&#10;0  \\&#10;0  \\&#10;0  \\&#10;+1 \\&#10;+1 \\&#10;0  \\&#10;0  \\&#10;\end{pmatrix}&#10;\end{equation*}&#10;&#10;\end{document}"/>
  <p:tag name="IGUANATEXSIZE" val="12"/>
  <p:tag name="IGUANATEXCURSOR" val="298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}&#10;=&#10;\frac{1}{8}&#10;\begin{pmatrix}&#10;+1 \\&#10;-1 \\&#10;-1 \\&#10;+1 \\&#10;0  \\&#10;0  \\&#10;0  \\&#10;0  \\&#10;0  \\&#10;0  \\&#10;0  \\&#10;0  \\&#10;0  \\&#10;0  \\&#10;0  \\&#10;0  \\&#10;-1 \\&#10;-1 \\&#10;0  \\&#10;0  \\&#10;0  \\&#10;0  \\&#10;+1 \\&#10;+1 \\&#10;\end{pmatrix}&#10;\end{equation*}&#10;&#10;\end{document}"/>
  <p:tag name="IGUANATEXSIZE" val="12"/>
  <p:tag name="IGUANATEXCURSOR" val="198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}&#10;=&#10;\frac{1}{8}&#10;\begin{pmatrix}&#10;+1 \\&#10;+1 \\&#10;-1 \\&#10;-1 \\&#10;0  \\&#10;0  \\&#10;0  \\&#10;0  \\&#10;0  \\&#10;0  \\&#10;0  \\&#10;0  \\&#10;+1 \\&#10;+1 \\&#10;0  \\&#10;0  \\&#10;0  \\&#10;0  \\&#10;-1 \\&#10;-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}&#10;=&#10;\frac{1}{8}&#10;\begin{pmatrix}&#10;+1 \\&#10;-1 \\&#10;+1 \\&#10;-1 \\&#10;0  \\&#10;0  \\&#10;0  \\&#10;0  \\&#10;0  \\&#10;0  \\&#10;0  \\&#10;0  \\&#10;0  \\&#10;0  \\&#10;+1 \\&#10;+1 \\&#10;0  \\&#10;0  \\&#10;0  \\&#10;0  \\&#10;-1 \\&#10;-1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}&#10;=&#10;\frac{1}{8}&#10;\begin{pmatrix}&#10;+1 \\&#10;-1 \\&#10;-1 \\&#10;+1 \\&#10;0  \\&#10;0  \\&#10;0  \\&#10;0  \\&#10;0  \\&#10;0  \\&#10;0  \\&#10;0  \\&#10;0  \\&#10;0  \\&#10;0  \\&#10;0  \\&#10;+1 \\&#10;+1 \\&#10;0  \\&#10;0  \\&#10;0  \\&#10;0  \\&#10;-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96.513"/>
  <p:tag name="ORIGINALWIDTH" val="3964.004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C!{\vrule width 3pt}C|C|C|C|C|C!{\vrule width 2pt}}&#10;\noalign{\hrule height 2pt}&#10;\multicolumn{2}{!{\vrule width 2pt}C!{\vrule width 3pt}}{}&#10;                                                      &amp; A_{\sigma}        &amp; E_{1}          &amp; E_{2}          &amp; T_{\sigma x}           &amp; T_{\sigma y}           &amp; T_{\sigma z}           \\ \noalign{\hrule height 3pt}&#10;&#10;E                                 &amp; (xyz)             &amp; A_{\sigma}        &amp; E_{1}          &amp; E_{2}          &amp; T_{\sigma x}           &amp; T_{\sigma y}           &amp; T_{\sigma z}           \\ \noalign{\hrule height 1.2pt}&#10;\multirow{3}{*}{$C_{2}$}          &amp; (x\bar{y}\bar{z}) &amp; A_{\sigma}        &amp; E_{1}          &amp; E_{2}          &amp; T_{\sigma x}           &amp; -T_{\sigma y}          &amp; -T_{\sigma z}          \\ \cline{2-8}&#10;                                  &amp; (\bar{x}y\bar{z}) &amp; A_{\sigma}        &amp; E_{1}          &amp; E_{2}          &amp; -T_{\sigma x}          &amp; T_{\sigma y}           &amp; -T_{\sigma z}          \\ \cline{2-8}&#10;                                  &amp; (\bar{x}\bar{y}z) &amp; A_{\sigma}        &amp; E_{1}          &amp; E_{2}          &amp; -T_{\sigma x}          &amp; -T_{\sigma y}          &amp; T_{\sigma z}           \\ \noalign{\hrule height 1.2pt}&#10;&#10;\multirow{4}{*}{$C_{4}$}          &amp; (yzx)             &amp; A_{\sigma}        &amp; \tau^{2}E_{1}  &amp; \tau E_{2}     &amp; T_{\sigma x,2}         &amp; T_{\sigma y,3}         &amp; T_{\sigma z,1}         \\ \cline{2-8}&#10;                                  &amp; (y\bar{z}\bar{x}) &amp; A_{\sigma}        &amp; \tau^{2}E_{1}  &amp; \tau E_{2}     &amp; T_{\sigma x,2}         &amp; -T_{\sigma y,3}        &amp; -T_{\sigma z,1}        \\ \cline{2-8}&#10;                                  &amp; (\bar{y}z\bar{x}) &amp; A_{\sigma}        &amp; \tau^{2}E_{1}  &amp; \tau E_{2}     &amp; -T_{\sigma x,2}        &amp; T_{\sigma y,3}         &amp; -T_{\sigma z,1}        \\ \cline{2-8}&#10;                                  &amp; (\bar{y}\bar{z}x) &amp; A_{\sigma}        &amp; \tau^{2}E_{1}  &amp; \tau E_{2}     &amp; -T_{\sigma x,2}        &amp; -T_{\sigma y,3}        &amp; T_{\sigma z,1}         \\ \noalign{\hrule height 1.2pt}&#10;&#10;\multirow{4}{*}{$C_{4}^{\prime}$} &amp; (zxy)             &amp; A_{\sigma}        &amp; \tau E_{1}     &amp; \tau^{2}E_{2}  &amp; T_{\sigma x,3}         &amp; T_{\sigma y,1}         &amp; T_{\sigma z,2}         \\ \cline{2-8}&#10;                                  &amp; (\bar{z}x\bar{y}) &amp; A_{\sigma}        &amp; \tau E_{1}     &amp; \tau^{2}E_{2}  &amp; -T_{\sigma x,3}        &amp; T_{\sigma y,1}         &amp; -T_{\sigma z,2}        \\ \cline{2-8}&#10;                                  &amp; (\bar{z}\bar{x}y) &amp; A_{\sigma}        &amp; \tau E_{1}     &amp; \tau^{2}E_{2}  &amp; -T_{\sigma x,3}        &amp; -T_{\sigma y,1}        &amp; T_{\sigma z,2}         \\ \cline{2-8}&#10;                                  &amp; (z\bar{x}\bar{y}) &amp; A_{\sigma}        &amp; \tau E_{1}     &amp; \tau^{2}E_{2}  &amp; T_{\sigma x,3}         &amp; -T_{\sigma y,1}        &amp; -T_{\sigma z,2}        \\ \noalign{\hrule height 1.2pt}&#10;&#10;\multirow{6}{*}{$\sigma_{d}$}     &amp; (xzy)             &amp; \sigma A_{\sigma} &amp; \tau^{2}E_{21} &amp; \tau E_{12}    &amp; \sigma T_{\sigma x}    &amp; \sigma T_{\sigma y,3}  &amp; \sigma T_{\sigma z,2}  \\ \cline{2-8}&#10;                                  &amp; (x\bar{z}\bar{y}) &amp; \sigma A_{\sigma} &amp; \tau^{2}E_{21} &amp; \tau E_{12}    &amp; \sigma T_{\sigma x}    &amp; -\sigma T_{\sigma y,3} &amp; -\sigma T_{\sigma z,2} \\ \cline{2-8}&#10;                                  &amp; (zyx)             &amp; \sigma A_{\sigma} &amp; \tau E_{21}    &amp; \tau^{2}E_{12} &amp; \sigma T_{\sigma x,3}  &amp; \sigma T_{\sigma y}    &amp; \sigma T_{\sigma z,1}  \\ \cline{2-8}&#10;                                  &amp; (\bar{z}y\bar{x}) &amp; \sigma A_{\sigma} &amp; \tau E_{21}    &amp; \tau^{2}E_{12} &amp; -\sigma T_{\sigma x,3} &amp; \sigma T_{\sigma y}    &amp; -\sigma T_{\sigma z,1} \\ \cline{2-8}&#10;                                  &amp; (yxz)             &amp; \sigma A_{\sigma} &amp; E_{21}         &amp; E_{12}         &amp; \sigma T_{\sigma x,2}  &amp; \sigma T_{\sigma y,1}  &amp; \sigma T_{\sigma z}    \\ \cline{2-8}&#10;                                  &amp; (\bar{y}\bar{x}z) &amp; \sigma A_{\sigma} &amp; E_{21}         &amp; E_{12}         &amp; -\sigma T_{\sigma x,2} &amp; -\sigma T_{\sigma y,1} &amp; \sigma T_{\sigma z}    \\ \noalign{\hrule height 1.2pt}&#10;&#10;\multirow{6}{*}{$S_{4}$}          &amp; (\bar{x}\bar{z}y) &amp; \sigma A_{\sigma} &amp; \tau^{2}E_{21} &amp; \tau E_{12}    &amp; -\sigma T_{\sigma x}   &amp; -\sigma T_{\sigma y,3} &amp; \sigma T_{\sigma z,2}  \\ \cline{2-8}&#10;                                  &amp; (\bar{x}z\bar{y}) &amp; \sigma A_{\sigma} &amp; \tau^{2}E_{21} &amp; \tau E_{12}    &amp; -\sigma T_{\sigma x}   &amp; \sigma T_{\sigma y,3}  &amp; -\sigma T_{\sigma z,2} \\ \cline{2-8}&#10;                                  &amp; (z\bar{y}\bar{x}) &amp; \sigma A_{\sigma} &amp; \tau E_{21}    &amp; \tau^{2}E_{12} &amp; \sigma T_{\sigma x,3}  &amp; -\sigma T_{\sigma y}   &amp; -\sigma T_{\sigma z,1} \\ \cline{2-8}&#10;                                  &amp; (\bar{z}\bar{y}x) &amp; \sigma A_{\sigma} &amp; \tau E_{21}    &amp; \tau^{2}E_{12} &amp; -\sigma T_{\sigma x,3} &amp; -\sigma T_{\sigma y}   &amp; \sigma T_{\sigma z,1}  \\ \cline{2-8}&#10;                                  &amp; (\bar{y}x\bar{z}) &amp; \sigma A_{\sigma} &amp; E_{21}         &amp; E_{12}         &amp; -\sigma T_{\sigma x,2} &amp; \sigma T_{\sigma y,1}  &amp; -\sigma T_{\sigma z}   \\ \cline{2-8}&#10;                                  &amp; (y\bar{x}\bar{z}) &amp; \sigma A_{\sigma} &amp; E_{21}         &amp; E_{12}         &amp; \sigma T_{\sigma x,2}  &amp; -\sigma T_{\sigma y,1} &amp; -\sigma T_{\sigma z}   \\ \cline{2-8}&#10;\noalign{\hrule height 2pt}&#10;\end{tabular}&#10;\end{equation*}&#10;&#10;\end{document}"/>
  <p:tag name="IGUANATEXSIZE" val="10"/>
  <p:tag name="IGUANATEXCURSOR" val="511"/>
  <p:tag name="TRANSPARENCY" val="False"/>
  <p:tag name="FILENAME" val=""/>
  <p:tag name="LATEXENGINEID" val="0"/>
  <p:tag name="TEMPFOLDER" val="C:\iguanatex\"/>
  <p:tag name="LATEXFORMHEIGHT" val="774"/>
  <p:tag name="LATEXFORMWIDTH" val="1722"/>
  <p:tag name="LATEXFORMWRAP" val="Fals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6.869"/>
  <p:tag name="ORIGINALWIDTH" val="6395.201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!{\vrule width 3pt}C|C|C|C|C|C|C|C|C|C!{\vrule width 2pt}}&#10;\noalign{\hrule height 2pt}&#10;                                     &amp;                                                             A_{1} &amp;                                                             A_{2} &amp;              E_{1} &amp;              E_{2} &amp; T_{1x} &amp; T_{1y} &amp; T_{1z} &amp; T_{2x} &amp; T_{2y} &amp; T_{2z} \\ \noalign{\hrule height 3pt}&#10;        f_{A_{\sigma}}g_{A_{\sigma}} &amp;                                      f_{A_{\sigma}}g_{A_{\sigma}} &amp;                                                                 0 &amp;                  0 &amp;                  0 &amp;      0 &amp;      0 &amp;      0 &amp;      0 &amp;      0 &amp;      0 \\ \noalign{\hrule height 1pt}&#10;  f_{A_{\sigma}}g_{A_{\bar{\sigma}}} &amp;                                                                 0 &amp;                                f_{A_{\sigma}}g_{A_{\bar{\sigma}}} &amp;                  0 &amp;                  0 &amp;      0 &amp;      0 &amp;      0 &amp;      0 &amp;      0 &amp;      0 \\ \noalign{\hrule height 1pt}&#10;                  f_{E_{1}}g_{E_{1}} &amp;                                                                 0 &amp;                                                                 0 &amp;                  0 &amp; f_{E_{1}}g_{E_{1}} &amp;      0 &amp;      0 &amp;      0 &amp;      0 &amp;      0 &amp;      0 \\ \noalign{\hrule height 1pt}&#10;                  f_{E_{2}}g_{E_{2}} &amp;                                                                 0 &amp;                                                                 0 &amp; f_{E_{2}}g_{E_{2}} &amp;                  0 &amp;      0 &amp;      0 &amp;      0 &amp;      0 &amp;      0 &amp;      0 \\ \noalign{\hrule height 1pt}&#10;                  f_{E_{1}}g_{E_{2}} &amp;                                                    \frac{1}{2}\left(f_{E_{1}}g_{E_{2}} + f_{E_{21}}g_{E_{12}}\right) &amp; \frac{1}{2}\left(f_{E_{1}}g_{E_{2}} - f_{E_{21}}g_{E_{12}}\right) &amp;                  0 &amp;                  0 &amp;      0 &amp;      0 &amp;      0 &amp;      0 &amp;      0 &amp;      0 \\ \noalign{\hrule height 1pt}&#10;\noalign{\hrule height 2pt}&#10;\end{tabular}&#10;\end{equation*}&#10;&#10;\end{document}"/>
  <p:tag name="IGUANATEXSIZE" val="10"/>
  <p:tag name="IGUANATEXCURSOR" val="2129"/>
  <p:tag name="TRANSPARENCY" val="False"/>
  <p:tag name="FILENAME" val=""/>
  <p:tag name="LATEXENGINEID" val="0"/>
  <p:tag name="TEMPFOLDER" val="C:\iguanatex\"/>
  <p:tag name="LATEXFORMHEIGHT" val="460.5"/>
  <p:tag name="LATEXFORMWIDTH" val="1797"/>
  <p:tag name="LATEXFORMWRAP" val="Fals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8.838"/>
  <p:tag name="ORIGINALWIDTH" val="11469.82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!{\vrule width 3pt}C|C|C|C|C|C|C|C|C|C!{\vrule width 2pt}}&#10;\noalign{\hrule height 2pt}&#10;                                      &amp;                                                                                                                                     A_{1} &amp;                                                                                                                                     A_{2} &amp;                                                                                                                                                         E_{1} &amp;                                                                                                                                                         E_{2} &amp; T_{1x} &amp; T_{1y} &amp; T_{1z} &amp; T_{2x} &amp; T_{2y} &amp; T_{2z} \\ \noalign{\hrule height 3pt}&#10;     f_{T_{\sigma x}}g_{T_{\sigma x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\frac{\tau^{2}}{3}\left(\tau f_{T_{\sigma x}}g_{T_{\sigma x}}+\tau^{2}f_{T_{\sigma y}}g_{T_{\sigma y}}+f_{T_{\sigma z}}g_{T_{\sigma z}}\right) &amp;                    \frac{\tau}{3}\left(\tau^{2}f_{T_{\sigma x}}g_{T_{\sigma x}}+\tau f_{T_{\sigma y}}g_{T_{\sigma y}}+f_{T_{\sigma z}}g_{T_{\sigma z}}\right) &amp;      0 &amp;      0 &amp;      0 &amp;      0 &amp;      0 &amp;      0 \\ \noalign{\hrule height 1pt}&#10;     f_{T_{\sigma y}}g_{T_{\sigma y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    \frac{\tau}{3}\left(\tau f_{T_{\sigma x}}g_{T_{\sigma x}}+\tau^{2}f_{T_{\sigma y}}g_{T_{\sigma y}}+f_{T_{\sigma z}}g_{T_{\sigma z}}\right) &amp;                \frac{\tau^{2}}{3}\left(\tau^{2}f_{T_{\sigma x}}g_{T_{\sigma x}}+\tau f_{T_{\sigma y}}g_{T_{\sigma y}}+f_{T_{\sigma z}}g_{T_{\sigma z}}\right) &amp;      0 &amp;      0 &amp;      0 &amp;      0 &amp;      0 &amp;      0 \\ \noalign{\hrule height 1pt}&#10;     f_{T_{\sigma z}}g_{T_{\sigma z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       \frac{1}{3}\left(\tau f_{T_{\sigma x}}g_{T_{\sigma x}}+\tau^{2}f_{T_{\sigma y}}g_{T_{\sigma y}}+f_{T_{\sigma z}}g_{T_{\sigma z}}\right) &amp;                       \frac{1}{3}\left(\tau^{2}f_{T_{\sigma x}}g_{T_{\sigma x}}+\tau f_{T_{\sigma y}}g_{T_{\sigma y}}+f_{T_{\sigma z}}g_{T_{\sigma z}}\right) &amp;      0 &amp;      0 &amp;      0 &amp;      0 &amp;      0 &amp;      0 \\ \noalign{\hrule height 1pt}&#10;f_{T_{\sigma x}}g_{T_{\bar{\sigma}x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\frac{\tau^{2}}{3}\left(\tau f_{T_{\sigma x}}g_{T_{\bar{\sigma}x}}+\tau^{2}f_{T_{\sigma y}}g_{T_{\bar{\sigma}y}}+f_{T_{\sigma z}}g_{T_{\bar{\sigma}z}}\right) &amp;     \frac{\tau}{3}\left(\tau^{2}f_{T_{\sigma x}}g_{T_{\bar{\sigma}x}}+\tau f_{T_{\sigma y}}g_{T_{\bar{\sigma}y}}+f_{T_{\sigma z}}g_{T_{\bar{\sigma}z}}\right) &amp;      0 &amp;      0 &amp;      0 &amp;      0 &amp;      0 &amp;      0 \\ \noalign{\hrule height 1pt}&#10;f_{T_{\sigma y}}g_{T_{\bar{\sigma}y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    \frac{\tau}{3}\left(\tau f_{T_{\sigma x}}g_{T_{\bar{\sigma}x}}+\tau^{2}f_{T_{\sigma y}}g_{T_{\bar{\sigma}y}}+f_{T_{\sigma z}}g_{T_{\bar{\sigma}z}}\right) &amp; \frac{\tau^{2}}{3}\left(\tau^{2}f_{T_{\sigma x}}g_{T_{\bar{\sigma}x}}+\tau f_{T_{\sigma y}}g_{T_{\bar{\sigma}y}}+f_{T_{\sigma z}}g_{T_{\bar{\sigma}z}}\right) &amp;      0 &amp;      0 &amp;      0 &amp;      0 &amp;      0 &amp;      0 \\ \noalign{\hrule height 1pt}&#10;f_{T_{\sigma y}}g_{T_{\bar{\sigma}z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       \frac{1}{3}\left(\tau f_{T_{\sigma x}}g_{T_{\bar{\sigma}x}}+\tau^{2}f_{T_{\sigma y}}g_{T_{\bar{\sigma}y}}+f_{T_{\sigma z}}g_{T_{\bar{\sigma}z}}\right) &amp;        \frac{1}{3}\left(\tau^{2}f_{T_{\sigma x}}g_{T_{\bar{\sigma}x}}+\tau f_{T_{\sigma y}}g_{T_{\bar{\sigma}y}}+f_{T_{\sigma z}}g_{T_{\bar{\sigma}z}}\right) &amp;      0 &amp;      0 &amp;      0 &amp;      0 &amp;      0 &amp;      0 \\ \noalign{\hrule height 1pt}&#10;\noalign{\hrule height 2pt}&#10;\end{tabular}&#10;\end{equation*}&#10;&#10;\end{document}"/>
  <p:tag name="IGUANATEXSIZE" val="10"/>
  <p:tag name="IGUANATEXCURSOR" val="776"/>
  <p:tag name="TRANSPARENCY" val="False"/>
  <p:tag name="FILENAME" val=""/>
  <p:tag name="LATEXENGINEID" val="0"/>
  <p:tag name="TEMPFOLDER" val="C:\iguanatex\"/>
  <p:tag name="LATEXFORMHEIGHT" val="596.25"/>
  <p:tag name="LATEXFORMWIDTH" val="1797"/>
  <p:tag name="LATEXFORMWRAP" val="Fals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0.079"/>
  <p:tag name="ORIGINALWIDTH" val="4399.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!{\vrule width 3pt}C|C|C|C!{\vrule width 2pt}}&#10;\noalign{\hrule height 2pt}&#10;                                     &amp;                                                             A_{1} &amp;                                                             A_{2} &amp;                   E_{1} &amp;                   E_{2} \\ \noalign{\hrule height 3pt}&#10;        f_{A_{\sigma}}g_{A_{\sigma}} &amp;                                      f_{A_{\sigma}}g_{A_{\sigma}} &amp;                                                                 0 &amp;                       0 &amp;                       0 \\ \noalign{\hrule height 1pt}&#10;  f_{A_{\sigma}}g_{A_{\bar{\sigma}}} &amp;                                                                 0 &amp;                                f_{A_{\sigma}}g_{A_{\bar{\sigma}}} &amp;                       0 &amp;                       0 \\ \noalign{\hrule height 1pt}&#10;             f_{A_{\sigma}}g_{E_{1}} &amp;                                                                 0 &amp;                                                                 0 &amp; f_{A_{\sigma}}g_{E_{1}} &amp;                       0 \\ \noalign{\hrule height 1pt}&#10;             f_{A_{\sigma}}g_{E_{2}} &amp;                                                                 0 &amp;                                                                 0 &amp;                       0 &amp; f_{A_{\sigma}}g_{E_{2}} \\ \noalign{\hrule height 1pt}&#10;                  f_{E_{1}}g_{E_{1}} &amp;                                                                 0 &amp;                                                                 0 &amp;                       0 &amp;      f_{E_{1}}g_{E_{1}} \\ \noalign{\hrule height 1pt}&#10;                  f_{E_{2}}g_{E_{2}} &amp;                                                                 0 &amp;                                                                 0 &amp;      f_{E_{2}}g_{E_{2}} &amp;                       0 \\ \noalign{\hrule height 1pt}&#10;                  f_{E_{1}}g_{E_{2}} &amp; \frac{1}{2}\left(f_{E_{1}}g_{E_{2}} + f_{E_{21}}g_{E_{12}}\right) &amp; \frac{1}{2}\left(f_{E_{1}}g_{E_{2}} - f_{E_{21}}g_{E_{12}}\right) &amp;                       0 &amp;                       0 \\ \noalign{\hrule height 1pt}&#10;\noalign{\hrule height 2pt}&#10;\end{tabular}&#10;\end{equation*}&#10;&#10;\end{document}"/>
  <p:tag name="IGUANATEXSIZE" val="10"/>
  <p:tag name="IGUANATEXCURSOR" val="483"/>
  <p:tag name="TRANSPARENCY" val="False"/>
  <p:tag name="FILENAME" val=""/>
  <p:tag name="LATEXENGINEID" val="0"/>
  <p:tag name="TEMPFOLDER" val="C:\iguanatex\"/>
  <p:tag name="LATEXFORMHEIGHT" val="460.5"/>
  <p:tag name="LATEXFORMWIDTH" val="1797"/>
  <p:tag name="LATEXFORMWRAP" val="Fals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8.838"/>
  <p:tag name="ORIGINALWIDTH" val="9449.568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!{\vrule width 3pt}C|C|C|C!{\vrule width 2pt}}&#10;\noalign{\hrule height 2pt}&#10;                                      &amp;                                                                                                                                     A_{1} &amp;                                                                                                                                     A_{2} &amp;                                                                                                                                                         E_{1} &amp;                                                                                                                                                         E_{2} \\ \noalign{\hrule height 3pt}&#10;     f_{T_{\sigma x}}g_{T_{\sigma x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\frac{\tau^{2}}{3}\left(\tau f_{T_{\sigma x}}g_{T_{\sigma x}}+\tau^{2}f_{T_{\sigma y}}g_{T_{\sigma y}}+f_{T_{\sigma z}}g_{T_{\sigma z}}\right) &amp;                    \frac{\tau}{3}\left(\tau^{2}f_{T_{\sigma x}}g_{T_{\sigma x}}+\tau f_{T_{\sigma y}}g_{T_{\sigma y}}+f_{T_{\sigma z}}g_{T_{\sigma z}}\right) \\ \noalign{\hrule height 1pt}&#10;     f_{T_{\sigma y}}g_{T_{\sigma y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    \frac{\tau}{3}\left(\tau f_{T_{\sigma x}}g_{T_{\sigma x}}+\tau^{2}f_{T_{\sigma y}}g_{T_{\sigma y}}+f_{T_{\sigma z}}g_{T_{\sigma z}}\right) &amp;                \frac{\tau^{2}}{3}\left(\tau^{2}f_{T_{\sigma x}}g_{T_{\sigma x}}+\tau f_{T_{\sigma y}}g_{T_{\sigma y}}+f_{T_{\sigma z}}g_{T_{\sigma z}}\right) \\ \noalign{\hrule height 1pt}&#10;     f_{T_{\sigma z}}g_{T_{\sigma z}} &amp;                \frac{1}{3}\left(f_{T_{\sigma x}}g_{T_{\sigma x}}+f_{T_{\sigma y}}g_{T_{\sigma y}}+f_{T_{\sigma z}}g_{T_{\sigma z}}\right) &amp;                                                                                                                                         0 &amp;                       \frac{1}{3}\left(\tau f_{T_{\sigma x}}g_{T_{\sigma x}}+\tau^{2}f_{T_{\sigma y}}g_{T_{\sigma y}}+f_{T_{\sigma z}}g_{T_{\sigma z}}\right) &amp;                       \frac{1}{3}\left(\tau^{2}f_{T_{\sigma x}}g_{T_{\sigma x}}+\tau f_{T_{\sigma y}}g_{T_{\sigma y}}+f_{T_{\sigma z}}g_{T_{\sigma z}}\right) \\ \noalign{\hrule height 1pt}&#10;f_{T_{\sigma x}}g_{T_{\bar{\sigma}x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\frac{\tau^{2}}{3}\left(\tau f_{T_{\sigma x}}g_{T_{\bar{\sigma}x}}+\tau^{2}f_{T_{\sigma y}}g_{T_{\bar{\sigma}y}}+f_{T_{\sigma z}}g_{T_{\bar{\sigma}z}}\right) &amp;     \frac{\tau}{3}\left(\tau^{2}f_{T_{\sigma x}}g_{T_{\bar{\sigma}x}}+\tau f_{T_{\sigma y}}g_{T_{\bar{\sigma}y}}+f_{T_{\sigma z}}g_{T_{\bar{\sigma}z}}\right) \\ \noalign{\hrule height 1pt}&#10;f_{T_{\sigma y}}g_{T_{\bar{\sigma}y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    \frac{\tau}{3}\left(\tau f_{T_{\sigma x}}g_{T_{\bar{\sigma}x}}+\tau^{2}f_{T_{\sigma y}}g_{T_{\bar{\sigma}y}}+f_{T_{\sigma z}}g_{T_{\bar{\sigma}z}}\right) &amp; \frac{\tau^{2}}{3}\left(\tau^{2}f_{T_{\sigma x}}g_{T_{\bar{\sigma}x}}+\tau f_{T_{\sigma y}}g_{T_{\bar{\sigma}y}}+f_{T_{\sigma z}}g_{T_{\bar{\sigma}z}}\right) \\ \noalign{\hrule height 1pt}&#10;f_{T_{\sigma z}}g_{T_{\bar{\sigma}z}} &amp;                                                                                                                                         0 &amp; \frac{1}{3}\left(f_{T_{\sigma x}}g_{T_{\bar{\sigma}x}}+f_{T_{\sigma y}}g_{T_{\bar{\sigma}y}}+f_{T_{\sigma z}}g_{T_{\bar{\sigma}z}}\right) &amp;        \frac{1}{3}\left(\tau f_{T_{\sigma x}}g_{T_{\bar{\sigma}x}}+\tau^{2}f_{T_{\sigma y}}g_{T_{\bar{\sigma}y}}+f_{T_{\sigma z}}g_{T_{\bar{\sigma}z}}\right) &amp;        \frac{1}{3}\left(\tau^{2}f_{T_{\sigma x}}g_{T_{\bar{\sigma}x}}+\tau f_{T_{\sigma y}}g_{T_{\bar{\sigma}y}}+f_{T_{\sigma z}}g_{T_{\bar{\sigma}z}}\right) \\ \noalign{\hrule height 1pt}&#10;\noalign{\hrule height 2pt}&#10;\end{tabular}&#10;\end{equation*}&#10;&#10;\end{document}"/>
  <p:tag name="IGUANATEXSIZE" val="10"/>
  <p:tag name="IGUANATEXCURSOR" val="4295"/>
  <p:tag name="TRANSPARENCY" val="False"/>
  <p:tag name="FILENAME" val=""/>
  <p:tag name="LATEXENGINEID" val="0"/>
  <p:tag name="TEMPFOLDER" val="C:\iguanatex\"/>
  <p:tag name="LATEXFORMHEIGHT" val="596.25"/>
  <p:tag name="LATEXFORMWIDTH" val="1797"/>
  <p:tag name="LATEXFORMWRAP" val="Fals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2.1597"/>
  <p:tag name="ORIGINALWIDTH" val="4398.95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!{\vrule width 3pt}C|C|C!{\vrule width 2pt}}&#10;\noalign{\hrule height 2pt}&#10;                                      &amp;                                                                      T_{1x} &amp;                                                                      T_{1y} &amp;                                                                      T_{1z} \\ \noalign{\hrule height 3pt}&#10;f_{T_{\sigma x}}g_{T_{\bar{\sigma}y}} &amp;                                                                           0 &amp;                                                                           0 &amp; f_{T_{\sigma x}}g_{T_{\bar{\sigma}y}}+f_{T_{\sigma y}}g_{T_{\bar{\sigma}x}} \\ \noalign{\hrule height 1pt}&#10;f_{T_{\sigma x}}g_{T_{\bar{\sigma}z}} &amp;                                                                           0 &amp; f_{T_{\sigma x}}g_{T_{\bar{\sigma}z}}+f_{T_{\sigma z}}g_{T_{\bar{\sigma}x}} &amp;                                                                           0 \\ \noalign{\hrule height 1pt}&#10;f_{T_{\sigma y}}g_{T_{\bar{\sigma}z}} &amp; f_{T_{\sigma y}}g_{T_{\bar{\sigma}z}}+f_{T_{\sigma z}}g_{T_{\bar{\sigma}y}} &amp;                                                                           0 &amp;                                                                           0 \\ \noalign{\hrule height 1pt}&#10;\noalign{\hrule height 2pt}&#10;\end{tabular}&#10;\end{equation*}&#10;&#10;\end{document}"/>
  <p:tag name="IGUANATEXSIZE" val="10"/>
  <p:tag name="IGUANATEXCURSOR" val="816"/>
  <p:tag name="TRANSPARENCY" val="False"/>
  <p:tag name="FILENAME" val=""/>
  <p:tag name="LATEXENGINEID" val="0"/>
  <p:tag name="TEMPFOLDER" val="C:\iguanatex\"/>
  <p:tag name="LATEXFORMHEIGHT" val="596.25"/>
  <p:tag name="LATEXFORMWIDTH" val="1797"/>
  <p:tag name="LATEXFORMWRAP" val="Fals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2.1597"/>
  <p:tag name="ORIGINALWIDTH" val="4398.95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!{\vrule width 3pt}C|C|C!{\vrule width 2pt}}&#10;\noalign{\hrule height 2pt}&#10;                                 &amp;                                                            T_{2x} &amp;                                                            T_{2y} &amp;                                                            T_{2z} \\ \noalign{\hrule height 3pt}&#10;f_{T_{\sigma x}}g_{T_{\sigma y}} &amp;                                                                 0 &amp;                                                                 0 &amp; f_{T_{\sigma x}}g_{T_{\sigma y}}+f_{T_{\sigma y}}g_{T_{\sigma x}} \\ \noalign{\hrule height 1pt}&#10;f_{T_{\sigma x}}g_{T_{\sigma z}} &amp;                                                                 0 &amp; f_{T_{\sigma x}}g_{T_{\sigma z}}+f_{T_{\sigma z}}g_{T_{\sigma x}} &amp;                                                                 0 \\ \noalign{\hrule height 1pt}&#10;f_{T_{\sigma y}}g_{T_{\sigma z}} &amp; f_{T_{\sigma y}}g_{T_{\sigma z}}+f_{T_{\sigma z}}g_{T_{\sigma y}} &amp;                                                                 0 &amp;                                                                 0 \\ \noalign{\hrule height 1pt}&#10;\noalign{\hrule height 2pt}&#10;\end{tabular}&#10;\end{equation*}&#10;&#10;\end{document}"/>
  <p:tag name="IGUANATEXSIZE" val="10"/>
  <p:tag name="IGUANATEXCURSOR" val="751"/>
  <p:tag name="TRANSPARENCY" val="False"/>
  <p:tag name="FILENAME" val=""/>
  <p:tag name="LATEXENGINEID" val="0"/>
  <p:tag name="TEMPFOLDER" val="C:\iguanatex\"/>
  <p:tag name="LATEXFORMHEIGHT" val="596.25"/>
  <p:tag name="LATEXFORMWIDTH" val="1797"/>
  <p:tag name="LATEXFORMWRAP" val="Fals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8.624"/>
  <p:tag name="ORIGINALWIDTH" val="4077.24"/>
  <p:tag name="LATEXADDIN" val="\documentclass{article}&#10;\usepackage{amsmath,amssymb,bm,array}&#10;\pagestyle{empty}&#10;&#10;\newcolumntype{C}{&gt;{$}c&lt;{$}}&#10;&#10;\begin{document}&#10;&#10;\begin{equation*}&#10;\begin{tabular}{!{\vrule width 2pt}C!{\vrule width 3pt}C|C|C|C|C!{\vrule width 2pt}}&#10;\noalign{\hrule height 2pt}&#10;       &amp; A_{1} &amp; A_{2} &amp;             E &amp;               T_{1} &amp;               T_{2} \\ \noalign{\hrule height 3pt}&#10; A_{1} &amp; A_{1} &amp; A_{2} &amp;             E &amp;               T_{1} &amp;               T_{2} \\ \noalign{\hrule height .5pt}&#10; A_{2} &amp; A_{2} &amp; A_{1} &amp;             E &amp;               T_{1} &amp;               T_{2} \\ \noalign{\hrule height .5pt}&#10;     E &amp;     E &amp;     E &amp; A_{1}+A_{2}+E &amp;         T_{1}+T_{2} &amp;         T_{1}+T_{2} \\ \noalign{\hrule height .5pt}&#10; T_{1} &amp; T_{1} &amp; T_{2} &amp;   T_{1}+T_{2} &amp; A_{1}+E+T_{1}+T_{2} &amp; A_{2}+E+T_{1}+T_{2} \\ \noalign{\hrule height .5pt}&#10; T_{2} &amp; T_{2} &amp; T_{1} &amp;   T_{1}+T_{2} &amp; A_{2}+E+T_{1}+T_{2} &amp; A_{1}+E+T_{1}+T_{2} \\ \noalign{\hrule height 2pt}&#10;\end{tabular}&#10;\end{equation*}&#10;&#10;\end{document}"/>
  <p:tag name="IGUANATEXSIZE" val="16"/>
  <p:tag name="IGUANATEXCURSOR" val="830"/>
  <p:tag name="TRANSPARENCY" val="False"/>
  <p:tag name="FILENAME" val=""/>
  <p:tag name="LATEXENGINEID" val="0"/>
  <p:tag name="TEMPFOLDER" val="c:\temp\"/>
  <p:tag name="LATEXFORMHEIGHT" val="536.25"/>
  <p:tag name="LATEXFORMWIDTH" val="1306.5"/>
  <p:tag name="LATEXFORMWRAP" val="Fals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1.9498"/>
  <p:tag name="ORIGINALWIDTH" val="7734.533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align*}&#10;&amp;&#10;\left\{&#10; (1:xyz),&#10; (2:x\bar{y}\bar{z}),&#10; (3:\bar{x}y\bar{z}),&#10; (4:\bar{x}\bar{y}z),&#10; (5:yzx),&#10; (6:y\bar{z}\bar{x}),&#10; (7:\bar{y}z\bar{x}),&#10; (8:\bar{y}\bar{z}x),&#10; (9:zxy),&#10;(10:\bar{z}x\bar{y}),&#10;(11:\bar{z}\bar{x}y),&#10;(12:z\bar{x}\bar{y})&#10;\right\}&#10;&amp; \Rightarrow &amp;&#10;U^{\left(A^{\left(\sigma\right)}\right)}&#10;\\&#10;&amp;&#10;\left\{&#10;(13:xzy),&#10;(14:x\bar{z}\bar{y}),&#10;(15:zyx),&#10;(16:\bar{z}y\bar{x}),&#10;(17:yxz),&#10;(18:\bar{y}\bar{x}z),&#10;(19:\bar{x}\bar{z}y),&#10;(20:\bar{x}z\bar{y}),&#10;(21:z\bar{y}\bar{x}),&#10;(22:\bar{z}\bar{y}x),&#10;(23:\bar{y}x\bar{z}),&#10;(24:y\bar{x}\bar{z})&#10;\right\}&#10;&amp; \Rightarrow &amp;&#10;\sigma U^{\left(A^{\left(\sigma\right)}\right)}&#10;\end{align*}&#10;&#10;\end{document}"/>
  <p:tag name="IGUANATEXSIZE" val="12"/>
  <p:tag name="IGUANATEXCURSOR" val="720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9.689"/>
  <p:tag name="ORIGINALWIDTH" val="3638.545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gather*}&#10;\left\{&#10;(1:xyz),&#10;(2:x\bar{y}\bar{z}),&#10;(3:\bar{x}y\bar{z}),&#10;(4:\bar{x}\bar{y}z)&#10;\right\}&#10;\Rightarrow&#10;\begin{pmatrix}&#10;U^{(E)}_{11} &amp; U^{(E)}_{12} \\&#10;U^{(E)}_{21} &amp; U^{(E)}_{22} \\&#10;\end{pmatrix}&#10;\\&#10;\left\{&#10;(5:yzx),&#10;(6:y\bar{z}\bar{x}),&#10;(7:\bar{y}z\bar{x}),&#10;(8:\bar{y}\bar{z}x)&#10;\right\}&#10;\Rightarrow&#10;\begin{pmatrix}&#10;\tau^{2}U^{(E)}_{11} &amp; \tau^{2}U^{(E)}_{12} \\&#10;\tau U^{(E)}_{21}    &amp; \tau U^{(E)}_{22} \\&#10;\end{pmatrix}&#10;\\&#10;\left\{&#10; (9:zxy),&#10;(10:\bar{z}x\bar{y}),&#10;(11:\bar{z}\bar{x}y),&#10;(12:z\bar{x}\bar{y})&#10;\right\}&#10;\Rightarrow&#10;\begin{pmatrix}&#10;\tau U^{(E)}_{11}     &amp; \tau U^{(E)}_{12} \\&#10;\tau^{2} U^{(E)}_{21} &amp; \tau^{2} U^{(E)}_{22} \\&#10;\end{pmatrix}&#10;\\&#10;\left\{&#10;(13:xzy),&#10;(14:x\bar{z}\bar{y}),&#10;(19:\bar{x}\bar{z}y),&#10;(20:\bar{x}z\bar{y})&#10;\right\}&#10;\Rightarrow&#10;\begin{pmatrix}&#10;\tau^{2}U^{(E)}_{21} &amp; \tau^{2}U^{(E)}_{22} \\&#10;\tau U^{(E)}_{11}    &amp; \tau U^{(E)}_{12} \\&#10;\end{pmatrix}&#10;\\&#10;\left\{&#10;(15:zyx),&#10;(16:\bar{z}y\bar{x}),&#10;(21:z\bar{y}\bar{x}),&#10;(22:\bar{z}\bar{y}x)&#10;\right\}&#10;\Rightarrow&#10;\begin{pmatrix}&#10;\tau U^{(E)}_{21}    &amp; \tau U^{(E)}_{22} \\&#10;\tau^{2}U^{(E)}_{11} &amp; \tau^{2}U^{(E)}_{12} \\&#10;\end{pmatrix}&#10;\\&#10;\left\{&#10;(17:yxz),&#10;(18:\bar{y}\bar{x}z),&#10;(23:\bar{y}x\bar{z}),&#10;(24:y\bar{x}\bar{z})&#10;\right\}&#10;\Rightarrow&#10;\begin{pmatrix}&#10;U^{(E)}_{21} &amp; U^{(E)}_{22} \\&#10;U^{(E)}_{11} &amp; U^{(E)}_{12} \\&#10;\end{pmatrix}&#10;\end{gather*}&#10;&#10;\end{document}"/>
  <p:tag name="IGUANATEXSIZE" val="12"/>
  <p:tag name="IGUANATEXCURSOR" val="1326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266.96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5:yzx)&#10;&amp; \Rightarrow &amp;&#10;\begin{pmatrix}&#10;U_{x,2} &amp; U_{y}   &amp; U_{z,2}\\&#10;U_{x,3} &amp; U_{y,3} &amp; U_{z}\\&#10;U_{x}   &amp; U_{y,1} &amp; U_{z,1}\\&#10;\end{pmatrix}&#10;\\\\&#10;(6:y\bar{z}\bar{x})&#10;&amp; \Rightarrow &amp;&#10;\begin{pmatrix}&#10; U_{x,2} &amp;  U_{y}   &amp;  U_{z,2}\\&#10;-U_{x,3} &amp; -U_{y,3} &amp; -U_{z}\\&#10;-U_{x}   &amp; -U_{y,1} &amp; -U_{z,1}\\&#10;\end{pmatrix}&#10;\\\\&#10;(7:\bar{y}z\bar{x})&#10;&amp; \Rightarrow &amp;&#10;\begin{pmatrix}&#10;-U_{x,2} &amp; -U_{y}   &amp; -U_{z,2}\\&#10; U_{x,3} &amp;  U_{y,3} &amp;  U_{z}\\&#10;-U_{x}   &amp; -U_{y,1} &amp; -U_{z,1}\\&#10;\end{pmatrix}&#10;\\\\&#10;(8:\bar{y}\bar{z}x)&#10;&amp; \Rightarrow &amp;&#10;\begin{pmatrix}&#10;-U_{x,2} &amp; -U_{y}   &amp; -U_{z,2}\\&#10;-U_{x,3} &amp; -U_{y,3} &amp; -U_{z}\\&#10; U_{x}   &amp;  U_{y,1} &amp;  U_{z,1}\\&#10;\end{pmatrix}&#10;\\&#10;\end{tabular}&#10;\end{equation*}&#10;&#10;&#10;\end{document}"/>
  <p:tag name="IGUANATEXSIZE" val="12"/>
  <p:tag name="IGUANATEXCURSOR" val="664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266.96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CCC}&#10;(1:xyz)&#10;&amp; \Rightarrow &amp;&#10;\begin{pmatrix}&#10;U_{x}   &amp; U_{y,1} &amp; U_{z,1}\\&#10;U_{x,2} &amp; U_{y}   &amp; U_{z,2}\\&#10;U_{x,3} &amp; U_{y,3} &amp; U_{z}\\&#10;\end{pmatrix}&#10;\\\\&#10;(2:x\bar{y}\bar{z})&#10;&amp; \Rightarrow &amp;&#10;\begin{pmatrix}&#10;U_{x}    &amp; U_{y,1}  &amp; U_{z,1}\\&#10;-U_{x,2} &amp; -U_{y}   &amp; -U_{z,2}\\&#10;-U_{x,3} &amp; -U_{y,3} &amp; -U_{z}\\&#10;\end{pmatrix}&#10;\\\\&#10;(3:\bar{x}y\bar{z})&#10;&amp; \Rightarrow &amp;&#10;\begin{pmatrix}&#10;-U_{x}   &amp; -U_{y,1} &amp; -U_{z,1}\\&#10; U_{x,2} &amp;  U_{y}   &amp;  U_{z,2}\\&#10;-U_{x,3} &amp; -U_{y,3} &amp; -U_{z}\\&#10;\end{pmatrix}&#10;\\\\&#10;(4: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/>
  <p:tag name="IGUANATEXSIZE" val="12"/>
  <p:tag name="IGUANATEXCURSOR" val="856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329.959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9:zxy)&#10;&amp; \Rightarrow &amp;&#10;\begin{pmatrix}&#10;U_{x,3} &amp; U_{y,3} &amp; U_{z}\\&#10;U_{x} &amp; U_{y,1} &amp; U_{z,1}\\&#10;U_{x,2} &amp; U_{y} &amp; U_{z,2}\\&#10;\end{pmatrix}&#10;\\\\&#10;(10:\bar{z}x\bar{y})&#10;&amp; \Rightarrow &amp;&#10;\begin{pmatrix}&#10;-U_{x,3} &amp; -U_{y,3} &amp; -U_{z}\\&#10; U_{x}   &amp;  U_{y,1} &amp;  U_{z,1}\\&#10;-U_{x,2} &amp; -U_{y}   &amp; -U_{z,2}\\&#10;\end{pmatrix}&#10;\\\\&#10;(11:\bar{z}\bar{x}y)&#10;&amp; \Rightarrow &amp;&#10;\begin{pmatrix}&#10;-U_{x,3} &amp; -U_{y,3} &amp; -U_{z}\\&#10;-U_{x}   &amp; -U_{y,1} &amp; -U_{z,1}\\&#10; U_{x,2} &amp;  U_{y}   &amp;  U_{z,2}\\&#10;\end{pmatrix}&#10;\\\\&#10;(12: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/>
  <p:tag name="IGUANATEXSIZE" val="12"/>
  <p:tag name="IGUANATEXCURSOR" val="663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6.071"/>
  <p:tag name="ORIGINALWIDTH" val="2425.94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13:xzy)&#10;&amp; \Rightarrow &amp;&#10;\sigma&#10;\begin{pmatrix}&#10;U_{x}   &amp; U_{y,1} &amp; U_{z,1}\\&#10;U_{x,3} &amp; U_{y,3} &amp; U_{z}\\&#10;U_{x,2} &amp; U_{y}   &amp; U_{z,2}\\&#10;\end{pmatrix}&#10;\\\\&#10;(14:x\bar{z}\bar{y})&#10;&amp; \Rightarrow &amp;&#10;\sigma&#10;\begin{pmatrix}&#10; U_{x}   &amp;  U_{y,1} &amp;  U_{z,1}\\&#10;-U_{x,3} &amp; -U_{y,3} &amp; -U_{z}\\&#10;-U_{x,2} &amp; -U_{y}   &amp; -U_{z,2}\\&#10;\end{pmatrix}&#10;\\\\&#10;(15:zyx)&#10;&amp; \Rightarrow &amp;&#10;\sigma&#10;\begin{pmatrix}&#10;U_{x,3} &amp; U_{y,3} &amp; U_{z}\\&#10;U_{x,2} &amp; U_{y}   &amp; U_{z,2}\\&#10;U_{x}   &amp; U_{y,1} &amp; U_{z,1}\\&#10;\end{pmatrix}&#10;\\\\&#10;(16:\bar{z}y\bar{x})&#10;&amp; \Rightarrow &amp;&#10;\sigma&#10;\begin{pmatrix}&#10;-U_{x,3} &amp; -U_{y,3} &amp; -U_{z}\\&#10; U_{x,2} &amp;  U_{y}   &amp;  U_{z,2}\\&#10;-U_{x}   &amp; -U_{y,1} &amp; -U_{z,1}\\&#10;\end{pmatrix}&#10;\\\\&#10;(17:yxz)&#10;&amp; \Rightarrow &amp;&#10;\sigma&#10;\begin{pmatrix}&#10;U_{x,2} &amp; U_{y}   &amp; U_{z,2}\\&#10;U_{x}   &amp; U_{y,1} &amp; U_{z,1}\\&#10;U_{x,3} &amp; U_{y,3} &amp; U_{z}\\&#10;\end{pmatrix}&#10;\\\\&#10;(18:\bar{y}\bar{x}z)&#10;&amp; \Rightarrow &amp;&#10;\sigma&#10;\begin{pmatrix}&#10;-U_{x,2} &amp; -U_{y,2} &amp; -U_{z,2}\\&#10;-U_{x,1} &amp; -U_{y,1} &amp; -U_{z,1}\\&#10; U_{x,3} &amp;  U_{y,3} &amp;  U_{z}\\&#10;\end{pmatrix}&#10;\\&#10;\end{tabular}&#10;\end{equation*}&#10;&#10;&#10;\end{document}"/>
  <p:tag name="IGUANATEXSIZE" val="12"/>
  <p:tag name="IGUANATEXCURSOR" val="124"/>
  <p:tag name="TRANSPARENCY" val="True"/>
  <p:tag name="FILENAME" val=""/>
  <p:tag name="LATEXENGINEID" val="0"/>
  <p:tag name="TEMPFOLDER" val="C:\iguanatex\"/>
  <p:tag name="LATEXFORMHEIGHT" val="446.25"/>
  <p:tag name="LATEXFORMWIDTH" val="1018.5"/>
  <p:tag name="LATEXFORMWRAP" val="Fals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6.071"/>
  <p:tag name="ORIGINALWIDTH" val="2425.94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19:\bar{x}\bar{z}y)&#10;&amp; \Rightarrow &amp;&#10;\sigma&#10;\begin{pmatrix}&#10;-U_{x}   &amp; -U_{y,1} &amp; -U_{z,1}\\&#10;-U_{x,3} &amp; -U_{y,3} &amp; -U_{z}\\&#10; U_{x,2} &amp;  U_{y}   &amp;  U_{z,2}\\&#10;\end{pmatrix}&#10;\\\\&#10;(20:\bar{x}z\bar{y})&#10;&amp; \Rightarrow &amp;&#10;\sigma&#10;\begin{pmatrix}&#10;-U_{x,1} &amp; -U_{y,1} &amp; -U_{z,1}\\&#10; U_{x,3} &amp;  U_{y,3} &amp;  U_{z,3}\\&#10;-U_{x,2} &amp; -U_{y,2} &amp; -U_{z,2}\\&#10;\end{pmatrix}&#10;\\\\&#10;(21:z\bar{y}\bar{x})&#10;&amp; \Rightarrow &amp;&#10;\sigma&#10;\begin{pmatrix}&#10; U_{x,3} &amp;  U_{y,3} &amp;  U_{z}\\&#10;-U_{x,2} &amp; -U_{y}   &amp; -U_{z,2}\\&#10;-U_{x}   &amp; -U_{y,1} &amp; -U_{z,1}\\&#10;\end{pmatrix}&#10;\\\\&#10;(22:\bar{z}\bar{y}x)&#10;&amp; \Rightarrow &amp;&#10;\sigma&#10;\begin{pmatrix}&#10;-U_{x,3} &amp; -U_{y,3} &amp; -U_{z}\\&#10;-U_{x,2} &amp; -U_{y}   &amp; -U_{z,2}\\&#10; U_{x}   &amp;  U_{y,1} &amp;  U_{z,1}\\&#10;\end{pmatrix}&#10;\\\\&#10;(23:\bar{y}x\bar{z})&#10;&amp; \Rightarrow &amp;&#10;\sigma&#10;\begin{pmatrix}&#10;-U_{x,2} &amp; -U_{y}   &amp; -U_{z,2}\\&#10; U_{x,1} &amp;  U_{y,1} &amp;  U_{z,1}\\&#10;-U_{x,3} &amp; -U_{y,3} &amp; -U_{z}\\&#10;\end{pmatrix}&#10;\\\\&#10;(24:y\bar{x}\bar{z})&#10;&amp; \Rightarrow &amp;&#10;\sigma&#10;\begin{pmatrix}&#10; U_{x,2} &amp;  U_{y}   &amp;  U_{z,2}\\&#10;-U_{x}   &amp; -U_{y,1} &amp; -U_{z,1}\\&#10;-U_{x,3} &amp; -U_{y,3} &amp; -U_{z}\\&#10;\end{pmatrix}&#10;\\&#10;\end{tabular}&#10;\end{equation*}&#10;&#10;&#10;\end{document}"/>
  <p:tag name="IGUANATEXSIZE" val="12"/>
  <p:tag name="IGUANATEXCURSOR" val="1063"/>
  <p:tag name="TRANSPARENCY" val="True"/>
  <p:tag name="FILENAME" val=""/>
  <p:tag name="LATEXENGINEID" val="0"/>
  <p:tag name="TEMPFOLDER" val="C:\iguanatex\"/>
  <p:tag name="LATEXFORMHEIGHT" val="570.75"/>
  <p:tag name="LATEXFORMWIDTH" val="1018.5"/>
  <p:tag name="LATEXFORMWRAP" val="Fals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4777"/>
  <p:tag name="ORIGINALWIDTH" val="4218.973"/>
  <p:tag name="OUTPUTTYPE" val="PNG"/>
  <p:tag name="IGUANATEXVERSION" val="159"/>
  <p:tag name="LATEXADDIN" val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/>
  <p:tag name="IGUANATEXSIZE" val="20"/>
  <p:tag name="IGUANATEXCURSOR" val="40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.7068"/>
  <p:tag name="ORIGINALWIDTH" val="995.1256"/>
  <p:tag name="OUTPUTTYPE" val="PNG"/>
  <p:tag name="IGUANATEXVERSION" val="159"/>
  <p:tag name="LATEXADDIN" val="\documentclass{article}&#10;\usepackage{amsmath,bm,eufrak}&#10;\pagestyle{empty}&#10;\begin{document}&#10;&#10;\begin{align*}&#10;f^{\left(A_{1}\right)}&#10;&amp;=&#10;\frac{1}{24}&#10;\sum_{\hat{R}\in \mathcal{T}}&#10;f_{\hat{R}}&#10;\\&#10;\end{align*}&#10;&#10;\end{document}"/>
  <p:tag name="IGUANATEXSIZE" val="20"/>
  <p:tag name="IGUANATEXCURSOR" val="17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1772.029"/>
  <p:tag name="OUTPUTTYPE" val="PNG"/>
  <p:tag name="IGUANATEXVERSION" val="159"/>
  <p:tag name="LATEXADDIN" val="\documentclass{article}&#10;\usepackage{amsmath,bm,eufrak}&#10;\pagestyle{empty}&#10;\begin{document}&#10;&#10;\begin{align*}&#10;f^{\left(A_{2}\right)}&#10;&amp;=&#10;\frac{1}{24}&#10;\left(&#10;\sum_{\hat{R}\in \mathcal{T}_{0}}&#10;f_{\hat{R}}&#10;-&#10;\sum_{\hat{R}\in \mathcal{T}_{1}}&#10;f_{\hat{R}}&#10;\right)&#10;\\&#10;\end{align*}&#10;&#10;\end{document}"/>
  <p:tag name="IGUANATEXSIZE" val="20"/>
  <p:tag name="IGUANATEXCURSOR" val="23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961"/>
  <p:tag name="ORIGINALWIDTH" val="4572.178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gather*}&#10;\mathcal{T}_{0}&#10;=&#10;\left\{&#10;(xyz),&#10;(x\bar{y}\bar{z}),&#10;(\bar{x}y\bar{z}),&#10;(\bar{x}\bar{y}z),&#10;(yzx),&#10;(y\bar{z}\bar{x}),&#10;(\bar{y}z\bar{x}),&#10;(\bar{y}\bar{z}x),&#10;(zxy),&#10;(\bar{z}x\bar{y}),&#10;(\bar{z}\bar{x}y),&#10;(z\bar{x}\bar{y})&#10;\right\}&#10;\\&#10;\mathcal{T}_{1}&#10;=&#10;\left\{&#10;(xzy),&#10;(x\bar{z}\bar{y}),&#10;(zyx),&#10;(\bar{z}y\bar{x}),&#10;(yxz),&#10;(\bar{y}\bar{x}z),&#10;(\bar{x}\bar{z}y),&#10;(\bar{x}z\bar{y}),&#10;(z\bar{y}\bar{x}),&#10;(\bar{z}\bar{y}x),&#10;(\bar{y}x\bar{z}),&#10;(y\bar{x}\bar{z})&#10;\right\}&#10;\end{gather*}&#10;&#10;\end{document}"/>
  <p:tag name="IGUANATEXSIZE" val="12"/>
  <p:tag name="IGUANATEXCURSOR" val="608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8718.41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mathcal{T}&#10;=&#10;\left\{&#10;(xyz),&#10;(x\bar{y}\bar{z}),&#10;(\bar{x}y\bar{z}),&#10;(\bar{x}\bar{y}z)&#10;(yzx),&#10;(y\bar{z}\bar{x}),&#10;(\bar{y}z\bar{x}),&#10;(\bar{y}\bar{z}x),&#10;(zxy),&#10;(\bar{z}x\bar{y}),&#10;(\bar{z}\bar{x}y),&#10;(z\bar{x}\bar{y}),&#10;(xzy),&#10;(x\bar{z}\bar{y}),&#10;(zyx),&#10;(\bar{z}y\bar{x}),&#10;(yxz),&#10;(\bar{y}\bar{x}z),&#10;(\bar{x}\bar{z}y),&#10;(\bar{x}z\bar{y}),&#10;(z\bar{y}\bar{x}),&#10;(\bar{z}\bar{y}x),&#10;(\bar{y}x\bar{z}),&#10;(y\bar{x}\bar{z})&#10;\right\}&#10;\end{equation*}&#10;&#10;\end{document}"/>
  <p:tag name="IGUANATEXSIZE" val="12"/>
  <p:tag name="IGUANATEXCURSOR" val="568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08.999"/>
  <p:tag name="ORIGINALWIDTH" val="6125.234"/>
  <p:tag name="LATEXADDIN" val="\documentclass{article}&#10;\usepackage{amsmath,amssymb,bm,array}&#10;\pagestyle{empty}&#10;&#10;\newcolumntype{C}{&gt;{$}c&lt;{$}}&#10;\DeclareMathOperator{\atan}{atan}&#10;&#10;\begin{document}&#10;&#10;\begin{equation*}&#10;\begin{tabular}{!{\vrule width 2pt}C!{\vrule width 1pt}C!{\vrule width 3pt}C!{\vrule width 1pt}C!{\vrule width 2pt}}&#10;\noalign{\hrule height 2pt}&#10; 1 &amp; (xyz)             &amp;       \theta &amp;       \phi \\&#10; 2 &amp; (x\bar{y}\bar{z}) &amp; \pi - \theta &amp;      -\phi \\ &#10; 3 &amp; (\bar{x}y\bar{z}) &amp; \pi - \theta &amp; \pi - \phi \\ &#10; 4 &amp; (\bar{x}\bar{y}z) &amp;     - \theta &amp;       \phi \\&#10;\noalign{\hrule height 1.2pt}&#10; 5 &amp; (yzx)             &amp; \theta_{yzx} = \atan\left(\sqrt{\cos\left(\theta\right)^{2}+\sin\left(\theta\right)^{2}\sin\left(\phi\right)^{2}}, \sin\left(\theta\right)\cos\left(\phi\right)\right) &amp; \phi_{yzx} = \atan\left( \cos\left(\theta\right), \sin\left(\theta\right)\sin\left(\phi\right) \right) \\&#10; 6 &amp; (y\bar{z}\bar{x}) &amp;                                                                                                                                                     \pi - \theta_{yzx} &amp;                                                                                           - \phi_{yzx} \\&#10; 7 &amp; (\bar{y}z\bar{x}) &amp;                                                                                                                                                     \pi - \theta_{yzx} &amp;                                                                                       \pi - \phi_{yzx} \\&#10; 8 &amp; (\bar{y}\bar{z}x) &amp;                                                                                                                                                         - \theta_{yzx} &amp;                                                                                             \phi_{yzx} \\&#10;\noalign{\hrule height 1.2pt}&#10; 9 &amp; (zxy)             &amp; \theta_{zxy} = \atan\left(\sqrt{\cos\left(\theta\right)^{2}+\sin\left(\theta\right)^{2}\cos\left(\phi\right)^{2}}, \sin\left(\theta\right)\sin\left(\phi\right)\right) &amp; \phi_{zxy} = \atan\left( \sin\left(\theta\right)\cos\left(\phi\right), \cos\left(\theta\right) \right) \\&#10;10 &amp; (\bar{z}x\bar{y}) &amp;                                                                                                                                                     \pi - \theta_{zxy} &amp;                                                                                       \pi - \phi_{zxy} \\&#10;11 &amp; (\bar{z}\bar{x}y) &amp;                                                                                                                                                         - \theta_{zxy} &amp;                                                                                             \phi_{zxy} \\&#10;12 &amp; (z\bar{x}\bar{y}) &amp;                                                                                                                                                     \pi - \theta_{zxy} &amp;                                                                                           - \phi_{zxy} \\&#10;\noalign{\hrule height 1.2pt}&#10;13 &amp; (xzy)             &amp;                                                                                                                                                           \theta_{zxy} &amp;                                                                             \frac{\pi}{2} - \phi_{zxy} \\&#10;14 &amp; (x\bar{z}\bar{y}) &amp;                                                                                                                                                     \pi - \theta_{zxy} &amp;                                                                           - \frac{\pi}{2} + \phi_{zxy} \\&#10;19 &amp; (\bar{x}\bar{z}y) &amp;                                                                                                                                                         - \theta_{zxy} &amp;                                                                             \frac{\pi}{2} - \phi_{zxy} \\&#10;20 &amp; (\bar{x}z\bar{y}) &amp;                                                                                                                                                     \pi - \theta_{zxy} &amp;                                                                             \frac{\pi}{2} + \phi_{zxy} \\&#10;\noalign{\hrule height 1.2pt}&#10;15 &amp; (zyx)             &amp;                                                                                                                                                           \theta_{yzx} &amp;                                                                             \frac{\pi}{2} - \phi_{yzx} \\&#10;16 &amp; (\bar{z}y\bar{x}) &amp;                                                                                                                                                     \pi - \theta_{yzx} &amp;                                                                             \frac{\pi}{2} + \phi_{yzx} \\&#10;21 &amp; (z\bar{y}\bar{x}) &amp;                                                                                                                                                     \pi - \theta_{yzx} &amp;                                                                           - \frac{\pi}{2} + \phi_{yzx} \\&#10;22 &amp; (\bar{z}\bar{y}x) &amp;                                                                                                                                                         - \theta_{yzx} &amp;                                                                             \frac{\pi}{2} - \phi_{yzx} \\&#10;\noalign{\hrule height 1.2pt}&#10;17 &amp; (yxz)             &amp;                                                                                                                                                           \theta &amp;                                                                                         \frac{\pi}{2} - \phi \\&#10;18 &amp; (\bar{y}\bar{x}z) &amp;                                                                                                                                                         - \theta &amp;                                                                                         \frac{\pi}{2} - \phi \\&#10;23 &amp; (\bar{y}x\bar{z}) &amp;                                                                                                                                                     \pi - \theta &amp;                                                                                         \frac{\pi}{2} + \phi \\&#10;24 &amp; (y\bar{x}\bar{z}) &amp;                                                                                                                                                     \pi - \theta &amp;                                                                                       - \frac{\pi}{2} + \phi \\&#10;\noalign{\hrule height 2pt}&#10;\end{tabular}&#10;\end{equation*}&#10;&#10;\end{document}"/>
  <p:tag name="IGUANATEXSIZE" val="12"/>
  <p:tag name="IGUANATEXCURSOR" val="60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Fals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4.8969"/>
  <p:tag name="ORIGINALWIDTH" val="1415.073"/>
  <p:tag name="OUTPUTTYPE" val="PNG"/>
  <p:tag name="IGUANATEXVERSION" val="159"/>
  <p:tag name="LATEXADDIN" val="\documentclass{article}&#10;\usepackage{amsmath,bm,eufrak}&#10;\pagestyle{empty}&#10;\begin{document}&#10;&#10;\begin{align*}&#10;f&#10;&amp;=&#10;\sum_{j \in \Gamma\left(T_{d}\right)}&#10;\sum_{\kappa = 1}^{l_{j}}&#10;f^{(j)}_{\kappa\kappa}&#10;\\&#10;f^{(j)}_{\lambda\kappa}&#10;&amp;=&#10;\frac{l_{j}}{h}&#10;\sum_{\hat{R}\in T_{d}}&#10;\left(\Gamma_{\hat{R}}^{(j)}\right)_{\lambda\kappa}^{*}&#10;f_{\hat{R}}&#10;\\&#10;\end{align*}&#10;&#10;\end{document}"/>
  <p:tag name="IGUANATEXSIZE" val="20"/>
  <p:tag name="IGUANATEXCURSOR" val="3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4777"/>
  <p:tag name="ORIGINALWIDTH" val="4218.973"/>
  <p:tag name="OUTPUTTYPE" val="PNG"/>
  <p:tag name="IGUANATEXVERSION" val="159"/>
  <p:tag name="LATEXADDIN" val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/>
  <p:tag name="IGUANATEXSIZE" val="20"/>
  <p:tag name="IGUANATEXCURSOR" val="40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45.744"/>
  <p:tag name="ORIGINALWIDTH" val="11720.29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C!{\vrule width 3pt}C!{\vrule width 1.5pt}C|C|C!{\vrule width 1.5pt}C|C|C|C!{\vrule width 1.5pt}C|C|C|C!{\vrule width 1.5pt}C|C|C|C|C|C!{\vrule width 1.5pt}C|C|C|C|C|C!{\vrule width 2pt}}&#10;\noalign{\hrule height 2pt}&#10;\multicolumn{2}{!{\vrule width 2pt}C!{\vrule width 3pt}}{} &amp; &#10;                                                        E     &amp; \multicolumn{3}{C!{\vrule width 1.5pt}}{C_{2}}            &amp; \multicolumn{4}{C!{\vrule width 1.5pt}}{C_{3}}                                &amp; \multicolumn{4}{C!{\vrule width 1.5pt}}{C_{3}^{\prime}}                       &amp; \multicolumn{6}{C!{\vrule width 1.5pt}}{\sigma_{d}}                                                                   &amp; \multicolumn{6}{C!{\vrule width 2pt}}{S_{4}} \\&#10;\multicolumn{2}{!{\vrule width 2pt}C!{\vrule width 3pt}}{} &amp;&#10;                                                       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3pt}&#10;E                                 &amp; (xyz)             &amp;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1.2pt}&#10;\multirow{3}{*}{$C_{2}$}          &amp; (x\bar{y}\bar{z}) &amp; (x\bar{y}\bar{z}) &amp; (xyz)             &amp; (\bar{x}\bar{y}z) &amp; (\bar{x}y\bar{z}) &amp; (\bar{y}\bar{z}x) &amp; (\bar{y}z\bar{x}) &amp; (y\bar{z}\bar{x}) &amp; (yzx)             &amp; (\bar{z}x\bar{y}) &amp; (zxy)             &amp; (z\bar{x}\bar{y}) &amp; (\bar{z}\bar{x}y) &amp; (x\bar{z}\bar{y}) &amp; (xzy)             &amp; (\bar{z}\bar{y}x) &amp; (z\bar{y}\bar{x}) &amp; (\bar{y}x\bar{z}) &amp; (y\bar{x}\bar{z}) &amp; (\bar{x}z\bar{y}) &amp; (\bar{x}\bar{z}y) &amp; (\bar{z}y\bar{x}) &amp; (zyx)             &amp; (yxz)             &amp; (\bar{y}\bar{x}z) \\ \cline{2-26}&#10;                                  &amp; (\bar{x}y\bar{z}) &amp; (\bar{x}y\bar{z}) &amp; (\bar{x}\bar{y}z) &amp; (xyz)             &amp; (x\bar{y}\bar{z}) &amp; (y\bar{z}\bar{x}) &amp; (yzx)             &amp; (\bar{y}\bar{z}x) &amp; (\bar{y}z\bar{x}) &amp; (\bar{z}\bar{x}y) &amp; (z\bar{x}\bar{y}) &amp; (zxy)             &amp; (\bar{z}x\bar{y}) &amp; (\bar{x}\bar{z}y) &amp; (\bar{x}z\bar{y}) &amp; (\bar{z}y\bar{x}) &amp; (zyx)             &amp; (y\bar{x}\bar{z}) &amp; (\bar{y}x\bar{z}) &amp; (xzy)             &amp; (x\bar{z}\bar{y}) &amp; (\bar{z}\bar{y}x) &amp; (z\bar{y}\bar{x}) &amp; (\bar{y}\bar{x}z) &amp; (yxz)             \\ \cline{2-26}&#10;                                  &amp; (\bar{x}\bar{y}z) &amp; (\bar{x}\bar{y}z) &amp; (\bar{x}y\bar{z}) &amp; (x\bar{y}\bar{z}) &amp; (xyz)             &amp; (\bar{y}z\bar{x}) &amp; (\bar{y}\bar{z}x) &amp; (yzx)             &amp; (y\bar{z}\bar{x}) &amp; (z\bar{x}\bar{y}) &amp; (\bar{z}\bar{x}y) &amp; (\bar{z}x\bar{y}) &amp; (zxy)             &amp; (\bar{x}z\bar{y}) &amp; (\bar{x}\bar{z}y) &amp; (z\bar{y}\bar{x}) &amp; (\bar{z}\bar{y}x) &amp; (\bar{y}\bar{x}z) &amp; (yxz)             &amp; (x\bar{z}\bar{y}) &amp; (xzy)             &amp; (zyx)             &amp; (\bar{z}y\bar{x}) &amp; (y\bar{x}\bar{z}) &amp; (\bar{y}x\bar{z}) \\ \noalign{\hrule height 1.2pt}&#10;\multirow{4}{*}{$C_{4}$}          &amp; (yzx)             &amp; (yzx)             &amp; (y\bar{z}\bar{x}) &amp; (\bar{y}z\bar{x}) &amp; (\bar{y}\bar{z}x) &amp; (zxy)             &amp; (z\bar{x}\bar{y}) &amp; (\bar{z}x\bar{y}) &amp; (\bar{z}\bar{x}y) &amp; (xyz)             &amp; (\bar{x}y\bar{z}) &amp; (\bar{x}\bar{y}z) &amp; (x\bar{y}\bar{z}) &amp; (yxz)             &amp; (y\bar{x}\bar{z}) &amp; (xzy)             &amp; (\bar{x}z\bar{y}) &amp; (zyx)             &amp; (\bar{z}\bar{y}x) &amp; (\bar{y}\bar{x}z) &amp; (\bar{y}x\bar{z}) &amp; (x\bar{z}\bar{y}) &amp; (\bar{x}\bar{z}y) &amp; (\bar{z}y\bar{x}) &amp; (z\bar{y}\bar{x}) \\ \cline{2-26}&#10;                                  &amp; (y\bar{z}\bar{x}) &amp; (y\bar{z}\bar{x}) &amp; (yzx)             &amp; (\bar{y}\bar{z}x) &amp; (\bar{y}z\bar{x}) &amp; (\bar{z}\bar{x}y) &amp; (\bar{z}x\bar{y}) &amp; (z\bar{x}\bar{y}) &amp; (zxy)             &amp; (\bar{x}y\bar{z}) &amp; (xyz)             &amp; (x\bar{y}\bar{z}) &amp; (\bar{x}\bar{y}z) &amp; (y\bar{x}\bar{z}) &amp; (yxz)             &amp; (\bar{x}\bar{z}y) &amp; (x\bar{z}\bar{y}) &amp; (\bar{z}y\bar{x}) &amp; (z\bar{y}\bar{x}) &amp; (\bar{y}x\bar{z}) &amp; (\bar{y}\bar{x}z) &amp; (\bar{x}z\bar{y}) &amp; (xzy)             &amp; (zyx)             &amp; (\bar{z}\bar{y}x) \\ \cline{2-26}&#10;                                  &amp; (\bar{y}z\bar{x}) &amp; (\bar{y}z\bar{x}) &amp; (\bar{y}\bar{z}x) &amp; (yzx)             &amp; (y\bar{z}\bar{x}) &amp; (z\bar{x}\bar{y}) &amp; (zxy)             &amp; (\bar{z}\bar{x}y) &amp; (\bar{z}x\bar{y}) &amp; (\bar{x}\bar{y}z) &amp; (x\bar{y}\bar{z}) &amp; (xyz)             &amp; (\bar{x}y\bar{z}) &amp; (\bar{y}\bar{x}z) &amp; (\bar{y}x\bar{z}) &amp; (\bar{x}z\bar{y}) &amp; (xzy)             &amp; (z\bar{y}\bar{x}) &amp; (\bar{z}y\bar{x}) &amp; (yxz)             &amp; (y\bar{x}\bar{z}) &amp; (\bar{x}\bar{z}y) &amp; (x\bar{z}\bar{y}) &amp; (\bar{z}\bar{y}x) &amp; (zyx)             \\ \cline{2-26}&#10;                                  &amp; (\bar{y}\bar{z}x) &amp; (\bar{y}\bar{z}x) &amp; (\bar{y}z\bar{x}) &amp; (y\bar{z}\bar{x}) &amp; (yzx)             &amp; (\bar{z}x\bar{y}) &amp; (\bar{z}\bar{x}y) &amp; (zxy)             &amp; (z\bar{x}\bar{y}) &amp; (x\bar{y}\bar{z}) &amp; (\bar{x}\bar{y}z) &amp; (\bar{x}y\bar{z}) &amp; (xyz)             &amp; (\bar{y}x\bar{z}) &amp; (\bar{y}\bar{x}z) &amp; (x\bar{z}\bar{y}) &amp; (\bar{x}\bar{z}y) &amp; (\bar{z}\bar{y}x) &amp; (zyx)             &amp; (y\bar{x}\bar{z}) &amp; (yxz)             &amp; (xzy)             &amp; (\bar{x}z\bar{y}) &amp; (z\bar{y}\bar{x}) &amp; (\bar{z}y\bar{x}) \\ \noalign{\hrule height 1.2pt}&#10;\multirow{4}{*}{$C_{4}^{\prime}$} &amp; (zxy)             &amp; (zxy)             &amp; (z\bar{x}\bar{y}) &amp; (\bar{z}x\bar{y}) &amp; (\bar{z}\bar{x}y) &amp; (xyz)             &amp; (x\bar{y}\bar{z}) &amp; (\bar{x}y\bar{z}) &amp; (\bar{x}\bar{y}z) &amp; (yzx)             &amp; (\bar{y}z\bar{x}) &amp; (\bar{y}\bar{z}x) &amp; (y\bar{z}\bar{x}) &amp; (zyx)             &amp; (z\bar{y}\bar{x}) &amp; (yxz)             &amp; (\bar{y}x\bar{z}) &amp; (xzy)             &amp; (\bar{x}\bar{z}y) &amp; (\bar{z}\bar{y}x) &amp; (\bar{z}y\bar{x}) &amp; (y\bar{x}\bar{z}) &amp; (\bar{y}\bar{x}z) &amp; (\bar{x}z\bar{y}) &amp; (x\bar{z}\bar{y}) \\ \cline{2-26}&#10;                                  &amp; (\bar{z}x\bar{y}) &amp; (\bar{z}x\bar{y}) &amp; (\bar{z}\bar{x}y) &amp; (zxy)             &amp; (z\bar{x}\bar{y}) &amp; (x\bar{y}\bar{z}) &amp; (xyz)             &amp; (\bar{x}\bar{y}z) &amp; (\bar{x}y\bar{z}) &amp; (\bar{y}\bar{z}x) &amp; (y\bar{z}\bar{x}) &amp; (yzx)             &amp; (\bar{y}z\bar{x}) &amp; (\bar{z}\bar{y}x) &amp; (\bar{z}y\bar{x}) &amp; (\bar{y}x\bar{z}) &amp; (yxz)             &amp; (x\bar{z}\bar{y}) &amp; (\bar{x}z\bar{y}) &amp; (zyx)             &amp; (z\bar{y}\bar{x}) &amp; (\bar{y}\bar{x}z) &amp; (y\bar{x}\bar{z}) &amp; (\bar{x}\bar{z}y) &amp; (xzy)             \\ \cline{2-26}&#10;                                  &amp; (\bar{z}\bar{x}y) &amp; (\bar{z}\bar{x}y) &amp; (\bar{z}x\bar{y}) &amp; (z\bar{x}\bar{y}) &amp; (zxy)             &amp; (\bar{x}y\bar{z}) &amp; (\bar{x}\bar{y}z) &amp; (xyz)             &amp; (x\bar{y}\bar{z}) &amp; (y\bar{z}\bar{x}) &amp; (\bar{y}\bar{z}x) &amp; (\bar{y}z\bar{x}) &amp; (yzx)             &amp; (\bar{z}y\bar{x}) &amp; (\bar{z}\bar{y}x) &amp; (y\bar{x}\bar{z}) &amp; (\bar{y}\bar{x}z) &amp; (\bar{x}\bar{z}y) &amp; (xzy)             &amp; (z\bar{y}\bar{x}) &amp; (zyx)             &amp; (yxz)             &amp; (\bar{y}x\bar{z}) &amp; (x\bar{z}\bar{y}) &amp; (\bar{x}z\bar{y}) \\ \cline{2-26}&#10;                                  &amp; (z\bar{x}\bar{y}) &amp; (z\bar{x}\bar{y}) &amp; (zxy)             &amp; (\bar{z}\bar{x}y) &amp; (\bar{z}x\bar{y}) &amp; (\bar{x}\bar{y}z) &amp; (\bar{x}y\bar{z}) &amp; (x\bar{y}\bar{z}) &amp; (xyz)             &amp; (\bar{y}z\bar{x}) &amp; (yzx)             &amp; (y\bar{z}\bar{x}) &amp; (\bar{y}\bar{z}x) &amp; (z\bar{y}\bar{x}) &amp; (zyx)             &amp; (\bar{y}\bar{x}z) &amp; (y\bar{x}\bar{z}) &amp; (\bar{x}z\bar{y}) &amp; (x\bar{z}\bar{y}) &amp; (\bar{z}y\bar{x}) &amp; (\bar{z}\bar{y}x) &amp; (\bar{y}x\bar{z}) &amp; (yxz)             &amp; (xzy)             &amp; (\bar{x}\bar{z}y) \\ \noalign{\hrule height 1.2pt}&#10;\multirow{6}{*}{$\sigma_{d}$}     &amp; (xzy)             &amp; (xzy)             &amp; (x\bar{z}\bar{y}) &amp; (\bar{x}z\bar{y}) &amp; (\bar{x}\bar{z}y) &amp; (zyx)             &amp; (z\bar{y}\bar{x}) &amp; (\bar{z}y\bar{x}) &amp; (\bar{z}\bar{y}x) &amp; (yxz)             &amp; (\bar{y}x\bar{z}) &amp; (\bar{y}\bar{x}z) &amp; (y\bar{x}\bar{z}) &amp; (xyz)             &amp; (x\bar{y}\bar{z}) &amp; (yzx)             &amp; (\bar{y}z\bar{x}) &amp; (zxy)             &amp; (\bar{z}\bar{x}y) &amp; (\bar{x}\bar{y}z) &amp; (\bar{x}y\bar{z}) &amp; (y\bar{z}\bar{x}) &amp; (\bar{y}\bar{z}x) &amp; (\bar{z}x\bar{y}) &amp; (z\bar{x}\bar{y}) \\ \cline{2-26}&#10;                                  &amp; (x\bar{z}\bar{y}) &amp; (x\bar{z}\bar{y}) &amp; (xzy)             &amp; (\bar{x}\bar{z}y) &amp; (\bar{x}z\bar{y}) &amp; (\bar{z}\bar{y}x) &amp; (\bar{z}y\bar{x}) &amp; (z\bar{y}\bar{x}) &amp; (zyx)             &amp; (\bar{y}x\bar{z}) &amp; (yxz)             &amp; (y\bar{x}\bar{z}) &amp; (\bar{y}\bar{x}z) &amp; (x\bar{y}\bar{z}) &amp; (xyz)             &amp; (\bar{y}\bar{z}x) &amp; (y\bar{z}\bar{x}) &amp; (\bar{z}x\bar{y}) &amp; (z\bar{x}\bar{y}) &amp; (\bar{x}y\bar{z}) &amp; (\bar{x}\bar{y}z) &amp; (\bar{y}z\bar{x}) &amp; (yzx)             &amp; (zxy)             &amp; (\bar{z}\bar{x}y) \\ \cline{2-26}&#10;                                  &amp; (zyx)             &amp; (zyx)             &amp; (z\bar{y}\bar{x}) &amp; (\bar{z}y\bar{x}) &amp; (\bar{z}\bar{y}x) &amp; (yxz)             &amp; (y\bar{x}\bar{z}) &amp; (\bar{y}x\bar{z}) &amp; (\bar{y}\bar{x}z) &amp; (xzy)             &amp; (\bar{x}z\bar{y}) &amp; (\bar{x}\bar{z}y) &amp; (x\bar{z}\bar{y}) &amp; (zxy)             &amp; (z\bar{x}\bar{y}) &amp; (xyz)             &amp; (\bar{x}y\bar{z}) &amp; (yzx)             &amp; (\bar{y}\bar{z}x) &amp; (\bar{z}\bar{x}y) &amp; (\bar{z}x\bar{y}) &amp; (x\bar{y}\bar{z}) &amp; (\bar{x}\bar{y}z) &amp; (\bar{y}z\bar{x}) &amp; (y\bar{z}\bar{x}) \\ \cline{2-26}&#10;                                  &amp; (\bar{z}y\bar{x}) &amp; (\bar{z}y\bar{x}) &amp; (\bar{z}\bar{y}x) &amp; (zyx)             &amp; (z\bar{y}\bar{x}) &amp; (y\bar{x}\bar{z}) &amp; (yxz)             &amp; (\bar{y}\bar{x}z) &amp; (\bar{y}x\bar{z}) &amp; (\bar{x}\bar{z}y) &amp; (x\bar{z}\bar{y}) &amp; (xzy)             &amp; (\bar{x}z\bar{y}) &amp; (\bar{z}\bar{x}y) &amp; (\bar{z}x\bar{y}) &amp; (\bar{x}y\bar{z}) &amp; (xyz)             &amp; (y\bar{z}\bar{x}) &amp; (\bar{y}z\bar{x}) &amp; (zxy)             &amp; (z\bar{x}\bar{y}) &amp; (\bar{x}\bar{y}z) &amp; (x\bar{y}\bar{z}) &amp; (\bar{y}\bar{z}x) &amp; (yzx)             \\ \cline{2-26}&#10;                                  &amp; (yxz)             &amp; (yxz)             &amp; (y\bar{x}\bar{z}) &amp; (\bar{y}x\bar{z}) &amp; (\bar{y}\bar{x}z) &amp; (xzy)             &amp; (x\bar{z}\bar{y}) &amp; (\bar{x}z\bar{y}) &amp; (\bar{x}\bar{z}y) &amp; (zyx)             &amp; (\bar{z}y\bar{x}) &amp; (\bar{z}\bar{y}x) &amp; (z\bar{y}\bar{x}) &amp; (yzx)             &amp; (y\bar{z}\bar{x}) &amp; (zxy)             &amp; (\bar{z}x\bar{y}) &amp; (xyz)             &amp; (\bar{x}\bar{y}z) &amp; (\bar{y}\bar{z}x) &amp; (\bar{y}z\bar{x}) &amp; (z\bar{x}\bar{y}) &amp; (\bar{z}\bar{x}y) &amp; (\bar{x}y\bar{z}) &amp; (x\bar{y}\bar{z}) \\ \cline{2-26}&#10;                                  &amp; (\bar{y}\bar{x}z) &amp; (\bar{y}\bar{x}z) &amp; (\bar{y}x\bar{z}) &amp; (y\bar{x}\bar{z}) &amp; (yxz)             &amp; (\bar{x}z\bar{y}) &amp; (\bar{x}\bar{z}y) &amp; (xzy)             &amp; (x\bar{z}\bar{y}) &amp; (z\bar{y}\bar{x}) &amp; (\bar{z}\bar{y}x) &amp; (\bar{z}y\bar{x}) &amp; (zyx)             &amp; (\bar{y}z\bar{x}) &amp; (\bar{y}\bar{z}x) &amp; (z\bar{x}\bar{y}) &amp; (\bar{z}\bar{x}y) &amp; (\bar{x}\bar{y}z) &amp; (xyz)             &amp; (y\bar{z}\bar{x}) &amp; (yzx)             &amp; (zxy)             &amp; (\bar{z}x\bar{y}) &amp; (x\bar{y}\bar{z}) &amp; (\bar{x}y\bar{z}) \\ \noalign{\hrule height 1.2pt}&#10;\multirow{6}{*}{$S_{4}$}          &amp; (\bar{x}\bar{z}y) &amp; (\bar{x}\bar{z}y) &amp; (\bar{x}z\bar{y}) &amp; (x\bar{z}\bar{y}) &amp; (xzy)             &amp; (\bar{z}y\bar{x}) &amp; (\bar{z}\bar{y}x) &amp; (zyx)             &amp; (z\bar{y}\bar{x}) &amp; (y\bar{x}\bar{z}) &amp; (\bar{y}\bar{x}z) &amp; (\bar{y}x\bar{z}) &amp; (yxz)             &amp; (\bar{x}y\bar{z}) &amp; (\bar{x}\bar{y}z) &amp; (y\bar{z}\bar{x}) &amp; (\bar{y}\bar{z}x) &amp; (\bar{z}\bar{x}y) &amp; (zxy)             &amp; (x\bar{y}\bar{z}) &amp; (xyz)             &amp; (yzx)             &amp; (\bar{y}z\bar{x}) &amp; (z\bar{x}\bar{y}) &amp; (\bar{z}x\bar{y}) \\ \cline{2-26}&#10;                                  &amp; (\bar{x}z\bar{y}) &amp; (\bar{x}z\bar{y}) &amp; (\bar{x}\bar{z}y) &amp; (xzy)             &amp; (x\bar{z}\bar{y}) &amp; (z\bar{y}\bar{x}) &amp; (zyx)             &amp; (\bar{z}\bar{y}x) &amp; (\bar{z}y\bar{x}) &amp; (\bar{y}\bar{x}z) &amp; (y\bar{x}\bar{z}) &amp; (yxz)             &amp; (\bar{y}x\bar{z}) &amp; (\bar{x}\bar{y}z) &amp; (\bar{x}y\bar{z}) &amp; (\bar{y}z\bar{x}) &amp; (yzx)             &amp; (z\bar{x}\bar{y}) &amp; (\bar{z}x\bar{y}) &amp; (xyz)             &amp; (x\bar{y}\bar{z}) &amp; (\bar{y}\bar{z}x) &amp; (y\bar{z}\bar{x}) &amp; (\bar{z}\bar{x}y) &amp; (zxy)             \\ \cline{2-26}&#10;                                  &amp; (z\bar{y}\bar{x}) &amp; (z\bar{y}\bar{x}) &amp; (zyx)             &amp; (\bar{z}\bar{y}x) &amp; (\bar{z}y\bar{x}) &amp; (\bar{y}\bar{x}z) &amp; (\bar{y}x\bar{z}) &amp; (y\bar{x}\bar{z}) &amp; (yxz)             &amp; (\bar{x}z\bar{y}) &amp; (xzy)             &amp; (x\bar{z}\bar{y}) &amp; (\bar{x}\bar{z}y) &amp; (z\bar{x}\bar{y}) &amp; (zxy)             &amp; (\bar{x}\bar{y}z) &amp; (x\bar{y}\bar{z}) &amp; (\bar{y}z\bar{x}) &amp; (y\bar{z}\bar{x}) &amp; (\bar{z}x\bar{y}) &amp; (\bar{z}\bar{x}y) &amp; (\bar{x}y\bar{z}) &amp; (xyz)             &amp; (yzx)             &amp; (\bar{y}\bar{z}x) \\ \cline{2-26}&#10;                                  &amp; (\bar{z}\bar{y}x) &amp; (\bar{z}\bar{y}x) &amp; (\bar{z}y\bar{x}) &amp; (z\bar{y}\bar{x}) &amp; (zyx)             &amp; (\bar{y}x\bar{z}) &amp; (\bar{y}\bar{x}z) &amp; (yxz)             &amp; (y\bar{x}\bar{z}) &amp; (x\bar{z}\bar{y}) &amp; (\bar{x}\bar{z}y) &amp; (\bar{x}z\bar{y}) &amp; (xzy)             &amp; (\bar{z}x\bar{y}) &amp; (\bar{z}\bar{x}y) &amp; (x\bar{y}\bar{z}) &amp; (\bar{x}\bar{y}z) &amp; (\bar{y}\bar{z}x) &amp; (yzx)             &amp; (z\bar{x}\bar{y}) &amp; (zxy)             &amp; (xyz)             &amp; (\bar{x}y\bar{z}) &amp; (y\bar{z}\bar{x}) &amp; (\bar{y}z\bar{x}) \\ \cline{2-26}&#10;                                  &amp; (\bar{y}x\bar{z}) &amp; (\bar{y}x\bar{z}) &amp; (\bar{y}\bar{x}z) &amp; (yxz)             &amp; (y\bar{x}\bar{z}) &amp; (x\bar{z}\bar{y}) &amp; (xzy)             &amp; (\bar{x}\bar{z}y) &amp; (\bar{x}z\bar{y}) &amp; (\bar{z}\bar{y}x) &amp; (z\bar{y}\bar{x}) &amp; (zyx)             &amp; (\bar{z}y\bar{x}) &amp; (\bar{y}\bar{z}x) &amp; (\bar{y}z\bar{x}) &amp; (\bar{z}x\bar{y}) &amp; (zxy)             &amp; (x\bar{y}\bar{z}) &amp; (\bar{x}y\bar{z}) &amp; (yzx)             &amp; (y\bar{z}\bar{x}) &amp; (\bar{z}\bar{x}y) &amp; (z\bar{x}\bar{y}) &amp; (\bar{x}\bar{y}z) &amp; (xyz)             \\ \cline{2-26}&#10;                                  &amp; (y\bar{x}\bar{z}) &amp; (y\bar{x}\bar{z}) &amp; (yxz)             &amp; (\bar{y}\bar{x}z) &amp; (\bar{y}x\bar{z}) &amp; (\bar{x}\bar{z}y) &amp; (\bar{x}z\bar{y}) &amp; (x\bar{z}\bar{y}) &amp; (xzy)             &amp; (\bar{z}y\bar{x}) &amp; (zyx)             &amp; (z\bar{y}\bar{x}) &amp; (\bar{z}\bar{y}x) &amp; (y\bar{z}\bar{x}) &amp; (yzx)             &amp; (\bar{z}\bar{x}y) &amp; (z\bar{x}\bar{y}) &amp; (\bar{x}y\bar{z}) &amp; (x\bar{y}\bar{z}) &amp; (\bar{y}z\bar{x}) &amp; (\bar{y}\bar{z}x) &amp; (\bar{z}x\bar{y}) &amp; (zxy)             &amp; (xyz)             &amp; (\bar{x}\bar{y}z) \\ \cline{2-26} &#10;\noalign{\hrule height 2pt}&#10;\end{tabular}&#10;\end{equation*}&#10;&#10;\end{document}"/>
  <p:tag name="IGUANATEXSIZE" val="10"/>
  <p:tag name="IGUANATEXCURSOR" val="718"/>
  <p:tag name="TRANSPARENCY" val="False"/>
  <p:tag name="FILENAME" val=""/>
  <p:tag name="LATEXENGINEID" val="0"/>
  <p:tag name="TEMPFOLDER" val="C:\iguanatex\"/>
  <p:tag name="LATEXFORMHEIGHT" val="777"/>
  <p:tag name="LATEXFORMWIDTH" val="1722"/>
  <p:tag name="LATEXFORMWRAP" val="Fals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45.744"/>
  <p:tag name="ORIGINALWIDTH" val="11720.29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C!{\vrule width 3pt}C!{\vrule width 1.5pt}C|C|C!{\vrule width 1.5pt}C|C|C|C!{\vrule width 1.5pt}C|C|C|C!{\vrule width 1.5pt}C|C|C|C|C|C!{\vrule width 1.5pt}C|C|C|C|C|C!{\vrule width 2pt}}&#10;\noalign{\hrule height 2pt}&#10;\multicolumn{2}{!{\vrule width 2pt}C!{\vrule width 3pt}}{} &amp; &#10;                                                        E     &amp; \multicolumn{3}{C!{\vrule width 1.5pt}}{C_{2}}            &amp; \multicolumn{4}{C!{\vrule width 1.5pt}}{C_{3}}                                &amp; \multicolumn{4}{C!{\vrule width 1.5pt}}{C_{3}^{\prime}}                       &amp; \multicolumn{6}{C!{\vrule width 1.5pt}}{\sigma_{d}}                                                                   &amp; \multicolumn{6}{C!{\vrule width 2pt}}{S_{4}} \\&#10;\multicolumn{2}{!{\vrule width 2pt}C!{\vrule width 3pt}}{} &amp;&#10;                                                       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3pt}&#10;E                                 &amp; (xyz)             &amp; 1                 &amp; 2                 &amp; 3                 &amp; 4                 &amp; 5                 &amp; 6                 &amp; 7                 &amp; 8                 &amp; 9                 &amp; 10                &amp; 11                &amp; 12                &amp; 13                &amp; 14                &amp; 15                &amp; 16                &amp; 17                &amp; 18                &amp; 19                &amp; 20                &amp; 21                &amp; 22                &amp; 23                &amp; 24                \\ \noalign{\hrule height 1.2pt}&#10;\multirow{3}{*}{$C_{2}$}          &amp; (x\bar{y}\bar{z}) &amp; 2                 &amp; 1                 &amp; 4                 &amp; 3                 &amp; 8                 &amp; 7                 &amp; 6                 &amp; 5                 &amp; 10                &amp; 9                 &amp; 12                &amp; 11                &amp; 14                &amp; 13                &amp; 22                &amp; 21                &amp; 23                &amp; 24                &amp; 20                &amp; 19                &amp; 16                &amp; 15                &amp; 17                &amp; 18                \\ \cline{2-26}&#10;                                  &amp; (\bar{x}y\bar{z}) &amp; 3                 &amp; 4                 &amp; 1                 &amp; 2                 &amp; 6                 &amp; 5                 &amp; 8                 &amp; 7                 &amp; 11                &amp; 12                &amp; 9                 &amp; 10                &amp; 19                &amp; 20                &amp; 16                &amp; 15                &amp; 24                &amp; 23                &amp; 13                &amp; 14                &amp; 22                &amp; 21                &amp; 18                &amp; 17                \\ \cline{2-26}&#10;                                  &amp; (\bar{x}\bar{y}z) &amp; 4                 &amp; 3                 &amp; 2                 &amp; 1                 &amp; 7                 &amp; 8                 &amp; 5                 &amp; 6                 &amp; 12                &amp; 11                &amp; 10                &amp; 9                 &amp; 20                &amp; 19                &amp; 21                &amp; 22                &amp; 18                &amp; 17                &amp; 14                &amp; 13                &amp; 15                &amp; 16                &amp; 24                &amp; 23                \\ \noalign{\hrule height 1.2pt}&#10;\multirow{4}{*}{$C_{4}$}          &amp; (yzx)             &amp; 5                 &amp; 6                 &amp; 7                 &amp; 8                 &amp; 9                 &amp; 12                &amp; 10                &amp; 11                &amp; 1                 &amp; 3                 &amp; 4                 &amp; 2                 &amp; 17                &amp; 24                &amp; 13                &amp; 20                &amp; 15                &amp; 22                &amp; 18                &amp; 23                &amp; 14                &amp; 19                &amp; 16                &amp; 21                \\ \cline{2-26}&#10;                                  &amp; (y\bar{z}\bar{x}) &amp; 6                 &amp; 5                 &amp; 8                 &amp; 7                 &amp; 11                &amp; 10                &amp; 12                &amp; 9                 &amp; 3                 &amp; 1                 &amp; 2                 &amp; 4                 &amp; 24                &amp; 17                &amp; 19                &amp; 14                &amp; 16                &amp; 21                &amp; 23                &amp; 18                &amp; 20                &amp; 13                &amp; 15                &amp; 22                \\ \cline{2-26}&#10;                                  &amp; (\bar{y}z\bar{x}) &amp; 7                 &amp; 8                 &amp; 5                 &amp; 6                 &amp; 12                &amp; 9                 &amp; 11                &amp; 10                &amp; 4                 &amp; 2                 &amp; 1                 &amp; 3                 &amp; 18                &amp; 23                &amp; 20                &amp; 13                &amp; 21                &amp; 16                &amp; 17                &amp; 24                &amp; 19                &amp; 14                &amp; 22                &amp; 15                \\ \cline{2-26}&#10;                                  &amp; (\bar{y}\bar{z}x) &amp; 8                 &amp; 7                 &amp; 6                 &amp; 5                 &amp; 10                &amp; 11                &amp; 9                 &amp; 12                &amp; 2                 &amp; 4                 &amp; 3                 &amp; 1                 &amp; 23                &amp; 18                &amp; 14                &amp; 19                &amp; 22                &amp; 15                &amp; 24                &amp; 17                &amp; 13                &amp; 20                &amp; 21                &amp; 16                \\ \noalign{\hrule height 1.2pt}&#10;\multirow{4}{*}{$C_{4}^{\prime}$} &amp; (zxy)             &amp; 9                 &amp; 12                &amp; 10                &amp; 11                &amp; 1                 &amp; 2                 &amp; 3                 &amp; 4                 &amp; 5                 &amp; 7                 &amp; 8                 &amp; 6                 &amp; 15                &amp; 21                &amp; 17                &amp; 23                &amp; 13                &amp; 19                &amp; 22                &amp; 16                &amp; 24                &amp; 18                &amp; 20                &amp; 14                \\ \cline{2-26}&#10;                                  &amp; (\bar{z}x\bar{y}) &amp; 10                &amp; 11                &amp; 9                 &amp; 12                &amp; 2                 &amp; 1                 &amp; 4                 &amp; 3                 &amp; 8                 &amp; 6                 &amp; 5                 &amp; 7                 &amp; 22                &amp; 16                &amp; 23                &amp; 17                &amp; 14                &amp; 20                &amp; 15                &amp; 21                &amp; 18                &amp; 24                &amp; 19                &amp; 13                \\ \cline{2-26}&#10;                                  &amp; (\bar{z}\bar{x}y) &amp; 11                &amp; 10                &amp; 12                &amp; 9                 &amp; 3                 &amp; 4                 &amp; 1                 &amp; 2                 &amp; 6                 &amp; 8                 &amp; 7                 &amp; 5                 &amp; 16                &amp; 22                &amp; 24                &amp; 18                &amp; 19                &amp; 13                &amp; 21                &amp; 15                &amp; 17                &amp; 23                &amp; 14                &amp; 20                \\ \cline{2-26}&#10;                                  &amp; (z\bar{x}\bar{y}) &amp; 12                &amp; 9                 &amp; 11                &amp; 10                &amp; 4                 &amp; 3                 &amp; 2                 &amp; 1                 &amp; 7                 &amp; 5                 &amp; 6                 &amp; 8                 &amp; 21                &amp; 15                &amp; 18                &amp; 24                &amp; 20                &amp; 14                &amp; 16                &amp; 22                &amp; 23                &amp; 17                &amp; 13                &amp; 19                \\ \noalign{\hrule height 1.2pt}&#10;\multirow{6}{*}{$\sigma_{d}$}     &amp; (xzy)             &amp; 13                &amp; 14                &amp; 20                &amp; 19                &amp; 15                &amp; 21                &amp; 16                &amp; 22                &amp; 17                &amp; 23                &amp; 18                &amp; 24                &amp; 1                 &amp; 2                 &amp; 5                 &amp; 7                 &amp; 9                 &amp; 11                &amp; 4                 &amp; 3                 &amp; 6                 &amp; 8                 &amp; 10                &amp; 12                \\ \cline{2-26}&#10;                                  &amp; (x\bar{z}\bar{y}) &amp; 14                &amp; 13                &amp; 19                &amp; 20                &amp; 22                &amp; 16                &amp; 21                &amp; 15                &amp; 23                &amp; 17                &amp; 24                &amp; 18                &amp; 2                 &amp; 1                 &amp; 8                 &amp; 6                 &amp; 10                &amp; 12                &amp; 3                 &amp; 4                 &amp; 7                 &amp; 5                 &amp; 9                 &amp; 11                \\ \cline{2-26}&#10;                                  &amp; (zyx)             &amp; 15                &amp; 21                &amp; 16                &amp; 22                &amp; 17                &amp; 24                &amp; 23                &amp; 18                &amp; 13                &amp; 20                &amp; 19                &amp; 14                &amp; 9                 &amp; 12                &amp; 1                 &amp; 3                 &amp; 5                 &amp; 8                 &amp; 11                &amp; 10                &amp; 2                 &amp; 4                 &amp; 7                 &amp; 6                 \\ \cline{2-26}&#10;                                  &amp; (\bar{z}y\bar{x}) &amp; 16                &amp; 22                &amp; 15                &amp; 21                &amp; 24                &amp; 17                &amp; 18                &amp; 23                &amp; 19                &amp; 14                &amp; 13                &amp; 20                &amp; 11                &amp; 10                &amp; 3                 &amp; 1                 &amp; 6                 &amp; 7                 &amp; 9                 &amp; 12                &amp; 4                 &amp; 2                 &amp; 8                 &amp; 5                 \\ \cline{2-26}&#10;                                  &amp; (yxz)             &amp; 17                &amp; 24                &amp; 23                &amp; 18                &amp; 13                &amp; 14                &amp; 20                &amp; 19                &amp; 15                &amp; 16                &amp; 22                &amp; 21                &amp; 5                 &amp; 6                 &amp; 9                 &amp; 10                &amp; 1                 &amp; 4                 &amp; 8                 &amp; 7                 &amp; 12                &amp; 11                &amp; 3                 &amp; 2                 \\ \cline{2-26}&#10;                                  &amp; (\bar{y}\bar{x}z) &amp; 18                &amp; 23                &amp; 24                &amp; 17                &amp; 20                &amp; 19                &amp; 13                &amp; 14                &amp; 21                &amp; 22                &amp; 16                &amp; 15                &amp; 7                 &amp; 8                 &amp; 12                &amp; 11                &amp; 4                 &amp; 1                 &amp; 6                 &amp; 5                 &amp; 9                 &amp; 10                &amp; 2                 &amp; 3                 \\ \noalign{\hrule height 1.2pt}&#10;\multirow{6}{*}{$S_{4}$}          &amp; (\bar{x}\bar{z}y) &amp; 19                &amp; 20                &amp; 14                &amp; 13                &amp; 16                &amp; 22                &amp; 15                &amp; 21                &amp; 24                &amp; 18                &amp; 23                &amp; 17                &amp; 3                 &amp; 4                 &amp; 6                 &amp; 8                 &amp; 11                &amp; 9                 &amp; 2                 &amp; 1                 &amp; 5                 &amp; 7                 &amp; 12                &amp; 10                \\ \cline{2-26}&#10;                                  &amp; (\bar{x}z\bar{y}) &amp; 20                &amp; 19                &amp; 13                &amp; 14                &amp; 21                &amp; 15                &amp; 22                &amp; 16                &amp; 18                &amp; 24                &amp; 17                &amp; 23                &amp; 4                 &amp; 3                 &amp; 7                 &amp; 5                 &amp; 12                &amp; 10                &amp; 1                 &amp; 2                 &amp; 8                 &amp; 6                 &amp; 11                &amp; 9                 \\ \cline{2-26}&#10;                                  &amp; (z\bar{y}\bar{x}) &amp; 21                &amp; 15                &amp; 22                &amp; 16                &amp; 18                &amp; 23                &amp; 24                &amp; 17                &amp; 20                &amp; 13                &amp; 14                &amp; 19                &amp; 12                &amp; 9                 &amp; 4                 &amp; 2                 &amp; 7                 &amp; 6                 &amp; 10                &amp; 11                &amp; 3                 &amp; 1                 &amp; 5                 &amp; 8                 \\ \cline{2-26}&#10;                                  &amp; (\bar{z}\bar{y}x) &amp; 22                &amp; 16                &amp; 21                &amp; 15                &amp; 23                &amp; 18                &amp; 17                &amp; 24                &amp; 14                &amp; 29                &amp; 20                &amp; 13                &amp; 10                &amp; 11                &amp; 2                 &amp; 4                 &amp; 8                 &amp; 5                 &amp; 12                &amp; 9                 &amp; 1                 &amp; 3                 &amp; 6                 &amp; 7                 \\ \cline{2-26}&#10;                                  &amp; (\bar{y}x\bar{z}) &amp; 23                &amp; 18                &amp; 17                &amp; 24                &amp; 14                &amp; 13                &amp; 19                &amp; 20                &amp; 22                &amp; 21                &amp; 15                &amp; 16                &amp; 8                 &amp; 7                 &amp; 10                &amp; 9                 &amp; 2                 &amp; 3                 &amp; 5                 &amp; 6                 &amp; 11                &amp; 12                &amp; 4                 &amp; 1                 \\ \cline{2-26}&#10;                                  &amp; (y\bar{x}\bar{z}) &amp; 24                &amp; 17                &amp; 18                &amp; 23                &amp; 19                &amp; 20                &amp; 14                &amp; 13                &amp; 16                &amp; 15                &amp; 21                &amp; 22                &amp; 6                 &amp; 5                 &amp; 11                &amp; 12                &amp; 3                 &amp; 2                 &amp; 7                 &amp; 8                 &amp; 10                &amp; 9                 &amp; 1                 &amp; 4                 \\ \cline{2-26} &#10;\noalign{\hrule height 2pt}&#10;\end{tabular}&#10;\end{equation*}&#10;&#10;\end{document}"/>
  <p:tag name="IGUANATEXSIZE" val="10"/>
  <p:tag name="IGUANATEXCURSOR" val="718"/>
  <p:tag name="TRANSPARENCY" val="False"/>
  <p:tag name="FILENAME" val=""/>
  <p:tag name="LATEXENGINEID" val="0"/>
  <p:tag name="TEMPFOLDER" val="C:\iguanatex\"/>
  <p:tag name="LATEXFORMHEIGHT" val="536.25"/>
  <p:tag name="LATEXFORMWIDTH" val="1722"/>
  <p:tag name="LATEXFORMWRAP" val="Fals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2.089"/>
  <p:tag name="ORIGINALWIDTH" val="1631.046"/>
  <p:tag name="OUTPUTTYPE" val="PNG"/>
  <p:tag name="IGUANATEXVERSION" val="159"/>
  <p:tag name="LATEXADDIN" val="\documentclass{article}&#10;\usepackage{amsmath,bm,eufrak}&#10;\pagestyle{empty}&#10;\begin{document}&#10;&#10;\begin{align*}&#10;f&#10;&amp;=&#10;\sum_{j \in \Gamma\left(T_{d}\right)}&#10;\sum_{\kappa = 1}^{l_{j}}&#10;f^{(j)}_{\kappa\kappa}&#10;\\&#10;f^{(j)}_{\lambda\kappa}&#10;&amp;=&#10;\frac{l_{j}}{h}&#10;\sum_{\hat{R}\in T_{d}}&#10;\left(\Gamma_{\hat{R}}^{(j)}\right)_{\lambda\kappa}^{*}&#10;f_{\hat{R}}&#10;\\&#10;\left(f^{(j)}_{\lambda\kappa}\right)_{\hat{P}}&#10;&amp;=&#10;\sum_{\mu = 1}^{l_{j}}&#10;\left(\Gamma_{\hat{P}}^{(j)}\right)_{\mu\lambda}&#10;f^{(j)}_{\mu\kappa}&#10;\\&#10;\end{align*}&#10;&#10;\end{document}"/>
  <p:tag name="IGUANATEXSIZE" val="20"/>
  <p:tag name="IGUANATEXCURSOR" val="46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4777"/>
  <p:tag name="ORIGINALWIDTH" val="4218.973"/>
  <p:tag name="OUTPUTTYPE" val="PNG"/>
  <p:tag name="IGUANATEXVERSION" val="159"/>
  <p:tag name="LATEXADDIN" val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/>
  <p:tag name="IGUANATEXSIZE" val="20"/>
  <p:tag name="IGUANATEXCURSOR" val="40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53.3933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A_{1}\right)}&#10;=&#10;\frac{1}{24}&#10;\begin{pmatrix}&#10;1 \\&#10;1 \\&#10;1 \\&#10;1 \\&#10;1 \\&#10;1 \\&#10;1 \\&#10;1 \\&#10;1 \\&#10;1 \\&#10;1 \\&#10;1 \\&#10;1 \\&#10;1 \\&#10;1 \\&#10;1 \\&#10;1 \\&#10;1 \\&#10;1 \\&#10;1 \\&#10;1 \\&#10;1 \\&#10;1 \\&#10;1 \\&#10;\end{pmatrix}&#10;\end{equation*}&#10;&#10;\end{document}"/>
  <p:tag name="IGUANATEXSIZE" val="12"/>
  <p:tag name="IGUANATEXCURSOR" val="206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950.8811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A_{2}\right)}&#10;=&#10;\frac{1}{24}&#10;\begin{pmatrix}&#10;+1 \\&#10;+1 \\&#10;+1 \\&#10;+1 \\&#10;+1 \\&#10;+1 \\&#10;+1 \\&#10;+1 \\&#10;+1 \\&#10;+1 \\&#10;+1 \\&#10;+1 \\&#10;-1 \\&#10;-1 \\&#10;-1 \\&#10;-1 \\&#10;-1 \\&#10;-1 \\&#10;-1 \\&#10;-1 \\&#10;-1 \\&#10;-1 \\&#10;-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11}&#10;=&#10;\frac{1}{12}&#10;\begin{pmatrix}&#10;1        \\&#10;1        \\&#10;1        \\&#10;1        \\&#10;\tau     \\&#10;\tau     \\&#10;\tau     \\&#10;\tau     \\&#10;\tau^{2} \\&#10;\tau^{2} \\&#10;\tau^{2} \\&#10;\tau^{2} \\&#10;0        \\&#10;0        \\&#10;0        \\&#10;0        \\&#10;0        \\&#10;0        \\&#10;0        \\&#10;0        \\&#10;0        \\&#10;0        \\&#10;0        \\&#10;0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22}&#10;=&#10;\frac{1}{12}&#10;\begin{pmatrix}&#10;1        \\&#10;1        \\&#10;1        \\&#10;1        \\&#10;\tau^{2} \\&#10;\tau^{2} \\&#10;\tau^{2} \\&#10;\tau^{2} \\&#10;\tau     \\&#10;\tau     \\&#10;\tau     \\&#10;\tau     \\&#10;0        \\&#10;0        \\&#10;0        \\&#10;0        \\&#10;0        \\&#10;0        \\&#10;0        \\&#10;0        \\&#10;0        \\&#10;0        \\&#10;0        \\&#10;0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}&#10;=&#10;\frac{1}{8}&#10;\begin{pmatrix}&#10;+1 \\&#10;+1 \\&#10;-1 \\&#10;-1 \\&#10;0  \\&#10;0  \\&#10;0  \\&#10;0  \\&#10;0  \\&#10;0  \\&#10;0  \\&#10;0  \\&#10;-1 \\&#10;-1 \\&#10;0  \\&#10;0  \\&#10;0  \\&#10;0  \\&#10;+1 \\&#10;+1 \\&#10;0  \\&#10;0  \\&#10;0  \\&#10;0  \\&#10;\end{pmatrix}&#10;\end{equation*}&#10;&#10;\end{document}"/>
  <p:tag name="IGUANATEXSIZE" val="12"/>
  <p:tag name="IGUANATEXCURSOR" val="322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}&#10;=&#10;\frac{1}{8}&#10;\begin{pmatrix}&#10;+1 \\&#10;-1 \\&#10;+1 \\&#10;-1 \\&#10;0  \\&#10;0  \\&#10;0  \\&#10;0  \\&#10;0  \\&#10;0  \\&#10;0  \\&#10;0  \\&#10;0  \\&#10;0  \\&#10;-1 \\&#10;-1 \\&#10;0  \\&#10;0  \\&#10;0  \\&#10;0  \\&#10;+1 \\&#10;+1 \\&#10;0  \\&#10;0  \\&#10;\end{pmatrix}&#10;\end{equation*}&#10;&#10;\end{document}"/>
  <p:tag name="IGUANATEXSIZE" val="12"/>
  <p:tag name="IGUANATEXCURSOR" val="298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}&#10;=&#10;\frac{1}{8}&#10;\begin{pmatrix}&#10;+1 \\&#10;-1 \\&#10;-1 \\&#10;+1 \\&#10;0  \\&#10;0  \\&#10;0  \\&#10;0  \\&#10;0  \\&#10;0  \\&#10;0  \\&#10;0  \\&#10;0  \\&#10;0  \\&#10;0  \\&#10;0  \\&#10;-1 \\&#10;-1 \\&#10;0  \\&#10;0  \\&#10;0  \\&#10;0  \\&#10;+1 \\&#10;+1 \\&#10;\end{pmatrix}&#10;\end{equation*}&#10;&#10;\end{document}"/>
  <p:tag name="IGUANATEXSIZE" val="12"/>
  <p:tag name="IGUANATEXCURSOR" val="198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}&#10;=&#10;\frac{1}{8}&#10;\begin{pmatrix}&#10;+1 \\&#10;+1 \\&#10;-1 \\&#10;-1 \\&#10;0  \\&#10;0  \\&#10;0  \\&#10;0  \\&#10;0  \\&#10;0  \\&#10;0  \\&#10;0  \\&#10;+1 \\&#10;+1 \\&#10;0  \\&#10;0  \\&#10;0  \\&#10;0  \\&#10;-1 \\&#10;-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}&#10;=&#10;\frac{1}{8}&#10;\begin{pmatrix}&#10;+1 \\&#10;-1 \\&#10;+1 \\&#10;-1 \\&#10;0  \\&#10;0  \\&#10;0  \\&#10;0  \\&#10;0  \\&#10;0  \\&#10;0  \\&#10;0  \\&#10;0  \\&#10;0  \\&#10;+1 \\&#10;+1 \\&#10;0  \\&#10;0  \\&#10;0  \\&#10;0  \\&#10;-1 \\&#10;-1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}&#10;=&#10;\frac{1}{8}&#10;\begin{pmatrix}&#10;+1 \\&#10;-1 \\&#10;-1 \\&#10;+1 \\&#10;0  \\&#10;0  \\&#10;0  \\&#10;0  \\&#10;0  \\&#10;0  \\&#10;0  \\&#10;0  \\&#10;0  \\&#10;0  \\&#10;0  \\&#10;0  \\&#10;+1 \\&#10;+1 \\&#10;0  \\&#10;0  \\&#10;0  \\&#10;0  \\&#10;-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12}&#10;=&#10;\frac{1}{12}&#10;\begin{pmatrix}&#10;0        \\&#10;0        \\&#10;0        \\&#10;0        \\&#10;0        \\&#10;0        \\&#10;0        \\&#10;0        \\&#10;0        \\&#10;0        \\&#10;0        \\&#10;0        \\&#10;\tau^{2} \\&#10;\tau^{2} \\&#10;\tau^{2} \\&#10;\tau^{2} \\&#10;\tau     \\&#10;\tau     \\&#10;\tau     \\&#10;\tau     \\&#10;1        \\&#10;1        \\&#10;1        \\&#10;1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21}&#10;=&#10;\frac{1}{12}&#10;\begin{pmatrix}&#10;0        \\&#10;0        \\&#10;0        \\&#10;0        \\&#10;0        \\&#10;0        \\&#10;0        \\&#10;0        \\&#10;0        \\&#10;0        \\&#10;0        \\&#10;0        \\&#10;\tau     \\&#10;\tau     \\&#10;\tau     \\&#10;\tau     \\&#10;\tau^{2} \\&#10;\tau^{2} \\&#10;\tau^{2} \\&#10;\tau^{2} \\&#10;1        \\&#10;1        \\&#10;1        \\&#10;1        \\&#10;\end{pmatrix}&#10;\end{equation*}&#10;&#10;\end{document}"/>
  <p:tag name="IGUANATEXSIZE" val="12"/>
  <p:tag name="IGUANATEXCURSOR" val="368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3.3971"/>
  <p:tag name="ORIGINALWIDTH" val="1631.046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frac{l_{j}}{h}&#10;\sum_{\hat{R}\in T_{d}}&#10;\left(\Gamma_{\hat{R}}^{(j)}\right)_{\lambda\kappa}^{*}&#10;f_{\hat{R}}&#10;\\&#10;\left(f^{(j)}_{\lambda\kappa}\right)_{\hat{P}}&#10;&amp;=&#10;\sum_{\mu = 1}^{l_{j}}&#10;\left(\Gamma_{\hat{P}}^{(j)}\right)_{\mu\lambda}&#10;f^{(j)}_{\mu\kappa}&#10;\\&#10;\end{align*}&#10;&#10;\end{document}"/>
  <p:tag name="IGUANATEXSIZE" val="20"/>
  <p:tag name="IGUANATEXCURSOR" val="1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,1}&#10;=&#10;\frac{1}{8}\begin{pmatrix}&#10;0  \\&#10;0  \\&#10;0  \\&#10;0  \\&#10;0  \\&#10;0  \\&#10;0  \\&#10;0  \\&#10;+1 \\&#10;+1 \\&#10;-1 \\&#10;-1 \\&#10;0  \\&#10;0  \\&#10;0  \\&#10;0  \\&#10;-1 \\&#10;+1 \\&#10;0  \\&#10;0  \\&#10;0  \\&#10;0  \\&#10;-1 \\&#10;+1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,1}&#10;=&#10;\frac{1}{8}&#10;\begin{pmatrix}&#10;0  \\&#10;0  \\&#10;0  \\&#10;0  \\&#10;+1 \\&#10;-1 \\&#10;-1 \\&#10;+1 \\&#10;0  \\&#10;0  \\&#10;0  \\&#10;0  \\&#10;0  \\&#10;0  \\&#10;-1 \\&#10;+1 \\&#10;0  \\&#10;0  \\&#10;0  \\&#10;0  \\&#10;+1 \\&#10;-1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,2}&#10;=&#10;\frac{1}{8}&#10;\begin{pmatrix}&#10;0  \\&#10;0  \\&#10;0  \\&#10;0  \\&#10;0  \\&#10;0  \\&#10;0  \\&#10;0  \\&#10;+1 \\&#10;-1 \\&#10;+1 \\&#10;-1 \\&#10;-1 \\&#10;+1 \\&#10;0  \\&#10;0  \\&#10;0  \\&#10;0  \\&#10;-1 \\&#10;+1 \\&#10;0  \\&#10;0 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,3}&#10;=&#10;\frac{1}{8}&#10;\begin{pmatrix}&#10;0  \\&#10;0  \\&#10;0  \\&#10;0  \\&#10;+1 \\&#10;-1 \\&#10;+1 \\&#10;+1 \\&#10;0  \\&#10;0  \\&#10;0  \\&#10;0  \\&#10;-1 \\&#10;+1 \\&#10;0  \\&#10;0  \\&#10;0  \\&#10;0  \\&#10;+1 \\&#10;-1 \\&#10;0  \\&#10;0 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,2}&#10;=&#10;\frac{1}{8}&#10;\begin{pmatrix}&#10;0  \\&#10;0  \\&#10;0  \\&#10;0  \\&#10;+1 \\&#10;+1 \\&#10;-1 \\&#10;-1 \\&#10;0  \\&#10;0  \\&#10;0  \\&#10;0  \\&#10;0  \\&#10;0  \\&#10;0  \\&#10;0  \\&#10;-1 \\&#10;+1 \\&#10;0  \\&#10;0  \\&#10;0  \\&#10;0  \\&#10;+1 \\&#10;-1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,3}&#10;=&#10;\frac{1}{8}&#10;\begin{pmatrix}&#10;0  \\&#10;0  \\&#10;0  \\&#10;0  \\&#10;0  \\&#10;0  \\&#10;0  \\&#10;0  \\&#10;+1 \\&#10;-1 \\&#10;-1 \\&#10;+1 \\&#10;0  \\&#10;0  \\&#10;-1 \\&#10;+1 \\&#10;0  \\&#10;0  \\&#10;0  \\&#10;0  \\&#10;-1 \\&#10;+1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,1}&#10;=&#10;\frac{1}{8}\begin{pmatrix}&#10;0  \\&#10;0  \\&#10;0  \\&#10;0  \\&#10;0  \\&#10;0  \\&#10;0  \\&#10;0  \\&#10;+1 \\&#10;+1 \\&#10;-1 \\&#10;-1 \\&#10;0  \\&#10;0  \\&#10;0  \\&#10;0  \\&#10;+1 \\&#10;-1 \\&#10;0  \\&#10;0  \\&#10;0  \\&#10;0  \\&#10;+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,1}&#10;=&#10;\frac{1}{8}&#10;\begin{pmatrix}&#10;0  \\&#10;0  \\&#10;0  \\&#10;0  \\&#10;+1 \\&#10;-1 \\&#10;-1 \\&#10;+1 \\&#10;0  \\&#10;0  \\&#10;0  \\&#10;0  \\&#10;0  \\&#10;0  \\&#10;+1 \\&#10;-1 \\&#10;0  \\&#10;0  \\&#10;0  \\&#10;0  \\&#10;-1 \\&#10;+1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,2}&#10;=&#10;\frac{1}{8}&#10;\begin{pmatrix}&#10;0  \\&#10;0  \\&#10;0  \\&#10;0  \\&#10;0  \\&#10;0  \\&#10;0  \\&#10;0  \\&#10;+1 \\&#10;-1 \\&#10;+1 \\&#10;-1 \\&#10;+1 \\&#10;-1 \\&#10;0  \\&#10;0  \\&#10;0  \\&#10;0  \\&#10;+1 \\&#10;-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,3}&#10;=&#10;\frac{1}{8}&#10;\begin{pmatrix}&#10;0  \\&#10;0  \\&#10;0  \\&#10;0  \\&#10;+1 \\&#10;-1 \\&#10;+1 \\&#10;+1 \\&#10;0  \\&#10;0  \\&#10;0  \\&#10;0  \\&#10;+1 \\&#10;-1 \\&#10;0  \\&#10;0  \\&#10;0  \\&#10;0  \\&#10;-1 \\&#10;+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,2}&#10;=&#10;\frac{1}{8}&#10;\begin{pmatrix}&#10;0  \\&#10;0  \\&#10;0  \\&#10;0  \\&#10;+1 \\&#10;+1 \\&#10;-1 \\&#10;-1 \\&#10;0  \\&#10;0  \\&#10;0  \\&#10;0  \\&#10;0  \\&#10;0  \\&#10;0  \\&#10;0  \\&#10;+1 \\&#10;-1 \\&#10;0  \\&#10;0  \\&#10;0  \\&#10;0  \\&#10;-1 \\&#10;+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,3}&#10;=&#10;\frac{1}{8}&#10;\begin{pmatrix}&#10;0  \\&#10;0  \\&#10;0  \\&#10;0  \\&#10;0  \\&#10;0  \\&#10;0  \\&#10;0  \\&#10;+1 \\&#10;-1 \\&#10;-1 \\&#10;+1 \\&#10;0  \\&#10;0  \\&#10;+1 \\&#10;-1 \\&#10;0  \\&#10;0  \\&#10;0  \\&#10;0  \\&#10;+1 \\&#10;-1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1.9498"/>
  <p:tag name="ORIGINALWIDTH" val="7734.533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align*}&#10;&amp;&#10;\left\{&#10; (1:xyz),&#10; (2:x\bar{y}\bar{z}),&#10; (3:\bar{x}y\bar{z}),&#10; (4:\bar{x}\bar{y}z),&#10; (5:yzx),&#10; (6:y\bar{z}\bar{x}),&#10; (7:\bar{y}z\bar{x}),&#10; (8:\bar{y}\bar{z}x),&#10; (9:zxy),&#10;(10:\bar{z}x\bar{y}),&#10;(11:\bar{z}\bar{x}y),&#10;(12:z\bar{x}\bar{y})&#10;\right\}&#10;&amp; \Rightarrow &amp;&#10;U^{\left(A^{\left(\sigma\right)}\right)}&#10;\\&#10;&amp;&#10;\left\{&#10;(13:xzy),&#10;(14:x\bar{z}\bar{y}),&#10;(15:zyx),&#10;(16:\bar{z}y\bar{x}),&#10;(17:yxz),&#10;(18:\bar{y}\bar{x}z),&#10;(19:\bar{x}\bar{z}y),&#10;(20:\bar{x}z\bar{y}),&#10;(21:z\bar{y}\bar{x}),&#10;(22:\bar{z}\bar{y}x),&#10;(23:\bar{y}x\bar{z}),&#10;(24:y\bar{x}\bar{z})&#10;\right\}&#10;&amp; \Rightarrow &amp;&#10;\sigma U^{\left(A^{\left(\sigma\right)}\right)}&#10;\end{align*}&#10;&#10;\end{document}"/>
  <p:tag name="IGUANATEXSIZE" val="12"/>
  <p:tag name="IGUANATEXCURSOR" val="720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9.689"/>
  <p:tag name="ORIGINALWIDTH" val="3638.545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gather*}&#10;\left\{&#10;(1:xyz),&#10;(2:x\bar{y}\bar{z}),&#10;(3:\bar{x}y\bar{z}),&#10;(4:\bar{x}\bar{y}z)&#10;\right\}&#10;\Rightarrow&#10;\begin{pmatrix}&#10;U^{(E)}_{11} &amp; U^{(E)}_{12} \\&#10;U^{(E)}_{21} &amp; U^{(E)}_{22} \\&#10;\end{pmatrix}&#10;\\&#10;\left\{&#10;(5:yzx),&#10;(6:y\bar{z}\bar{x}),&#10;(7:\bar{y}z\bar{x}),&#10;(8:\bar{y}\bar{z}x)&#10;\right\}&#10;\Rightarrow&#10;\begin{pmatrix}&#10;\tau^{2}U^{(E)}_{11} &amp; \tau^{2}U^{(E)}_{12} \\&#10;\tau U^{(E)}_{21}    &amp; \tau U^{(E)}_{22} \\&#10;\end{pmatrix}&#10;\\&#10;\left\{&#10; (9:zxy),&#10;(10:\bar{z}x\bar{y}),&#10;(11:\bar{z}\bar{x}y),&#10;(12:z\bar{x}\bar{y})&#10;\right\}&#10;\Rightarrow&#10;\begin{pmatrix}&#10;\tau U^{(E)}_{11}     &amp; \tau U^{(E)}_{12} \\&#10;\tau^{2} U^{(E)}_{21} &amp; \tau^{2} U^{(E)}_{22} \\&#10;\end{pmatrix}&#10;\\&#10;\left\{&#10;(13:xzy),&#10;(14:x\bar{z}\bar{y}),&#10;(19:\bar{x}\bar{z}y),&#10;(20:\bar{x}z\bar{y})&#10;\right\}&#10;\Rightarrow&#10;\begin{pmatrix}&#10;\tau^{2}U^{(E)}_{21} &amp; \tau^{2}U^{(E)}_{22} \\&#10;\tau U^{(E)}_{11}    &amp; \tau U^{(E)}_{12} \\&#10;\end{pmatrix}&#10;\\&#10;\left\{&#10;(15:zyx),&#10;(16:\bar{z}y\bar{x}),&#10;(21:z\bar{y}\bar{x}),&#10;(22:\bar{z}\bar{y}x)&#10;\right\}&#10;\Rightarrow&#10;\begin{pmatrix}&#10;\tau U^{(E)}_{21}    &amp; \tau U^{(E)}_{22} \\&#10;\tau^{2}U^{(E)}_{11} &amp; \tau^{2}U^{(E)}_{12} \\&#10;\end{pmatrix}&#10;\\&#10;\left\{&#10;(17:yxz),&#10;(18:\bar{y}\bar{x}z),&#10;(23:\bar{y}x\bar{z}),&#10;(24:y\bar{x}\bar{z})&#10;\right\}&#10;\Rightarrow&#10;\begin{pmatrix}&#10;U^{(E)}_{21} &amp; U^{(E)}_{22} \\&#10;U^{(E)}_{11} &amp; U^{(E)}_{12} \\&#10;\end{pmatrix}&#10;\end{gather*}&#10;&#10;\end{document}"/>
  <p:tag name="IGUANATEXSIZE" val="12"/>
  <p:tag name="IGUANATEXCURSOR" val="1326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266.96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5:yzx)&#10;&amp; \Rightarrow &amp;&#10;\begin{pmatrix}&#10;U_{x,2} &amp; U_{y}   &amp; U_{z,2}\\&#10;U_{x,3} &amp; U_{y,3} &amp; U_{z}\\&#10;U_{x}   &amp; U_{y,1} &amp; U_{z,1}\\&#10;\end{pmatrix}&#10;\\\\&#10;(6:y\bar{z}\bar{x})&#10;&amp; \Rightarrow &amp;&#10;\begin{pmatrix}&#10; U_{x,2} &amp;  U_{y}   &amp;  U_{z,2}\\&#10;-U_{x,3} &amp; -U_{y,3} &amp; -U_{z}\\&#10;-U_{x}   &amp; -U_{y,1} &amp; -U_{z,1}\\&#10;\end{pmatrix}&#10;\\\\&#10;(7:\bar{y}z\bar{x})&#10;&amp; \Rightarrow &amp;&#10;\begin{pmatrix}&#10;-U_{x,2} &amp; -U_{y}   &amp; -U_{z,2}\\&#10; U_{x,3} &amp;  U_{y,3} &amp;  U_{z}\\&#10;-U_{x}   &amp; -U_{y,1} &amp; -U_{z,1}\\&#10;\end{pmatrix}&#10;\\\\&#10;(8:\bar{y}\bar{z}x)&#10;&amp; \Rightarrow &amp;&#10;\begin{pmatrix}&#10;-U_{x,2} &amp; -U_{y}   &amp; -U_{z,2}\\&#10;-U_{x,3} &amp; -U_{y,3} &amp; -U_{z}\\&#10; U_{x}   &amp;  U_{y,1} &amp;  U_{z,1}\\&#10;\end{pmatrix}&#10;\\&#10;\end{tabular}&#10;\end{equation*}&#10;&#10;&#10;\end{document}"/>
  <p:tag name="IGUANATEXSIZE" val="12"/>
  <p:tag name="IGUANATEXCURSOR" val="664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266.96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CCC}&#10;(1:xyz)&#10;&amp; \Rightarrow &amp;&#10;\begin{pmatrix}&#10;U_{x}   &amp; U_{y,1} &amp; U_{z,1}\\&#10;U_{x,2} &amp; U_{y}   &amp; U_{z,2}\\&#10;U_{x,3} &amp; U_{y,3} &amp; U_{z}\\&#10;\end{pmatrix}&#10;\\\\&#10;(2:x\bar{y}\bar{z})&#10;&amp; \Rightarrow &amp;&#10;\begin{pmatrix}&#10;U_{x}    &amp; U_{y,1}  &amp; U_{z,1}\\&#10;-U_{x,2} &amp; -U_{y}   &amp; -U_{z,2}\\&#10;-U_{x,3} &amp; -U_{y,3} &amp; -U_{z}\\&#10;\end{pmatrix}&#10;\\\\&#10;(3:\bar{x}y\bar{z})&#10;&amp; \Rightarrow &amp;&#10;\begin{pmatrix}&#10;-U_{x}   &amp; -U_{y,1} &amp; -U_{z,1}\\&#10; U_{x,2} &amp;  U_{y}   &amp;  U_{z,2}\\&#10;-U_{x,3} &amp; -U_{y,3} &amp; -U_{z}\\&#10;\end{pmatrix}&#10;\\\\&#10;(4: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/>
  <p:tag name="IGUANATEXSIZE" val="12"/>
  <p:tag name="IGUANATEXCURSOR" val="856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329.959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9:zxy)&#10;&amp; \Rightarrow &amp;&#10;\begin{pmatrix}&#10;U_{x,3} &amp; U_{y,3} &amp; U_{z}\\&#10;U_{x} &amp; U_{y,1} &amp; U_{z,1}\\&#10;U_{x,2} &amp; U_{y} &amp; U_{z,2}\\&#10;\end{pmatrix}&#10;\\\\&#10;(10:\bar{z}x\bar{y})&#10;&amp; \Rightarrow &amp;&#10;\begin{pmatrix}&#10;-U_{x,3} &amp; -U_{y,3} &amp; -U_{z}\\&#10; U_{x}   &amp;  U_{y,1} &amp;  U_{z,1}\\&#10;-U_{x,2} &amp; -U_{y}   &amp; -U_{z,2}\\&#10;\end{pmatrix}&#10;\\\\&#10;(11:\bar{z}\bar{x}y)&#10;&amp; \Rightarrow &amp;&#10;\begin{pmatrix}&#10;-U_{x,3} &amp; -U_{y,3} &amp; -U_{z}\\&#10;-U_{x}   &amp; -U_{y,1} &amp; -U_{z,1}\\&#10; U_{x,2} &amp;  U_{y}   &amp;  U_{z,2}\\&#10;\end{pmatrix}&#10;\\\\&#10;(12: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/>
  <p:tag name="IGUANATEXSIZE" val="12"/>
  <p:tag name="IGUANATEXCURSOR" val="663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6.071"/>
  <p:tag name="ORIGINALWIDTH" val="2425.94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13:xzy)&#10;&amp; \Rightarrow &amp;&#10;\sigma&#10;\begin{pmatrix}&#10;U_{x}   &amp; U_{y,1} &amp; U_{z,1}\\&#10;U_{x,3} &amp; U_{y,3} &amp; U_{z}\\&#10;U_{x,2} &amp; U_{y}   &amp; U_{z,2}\\&#10;\end{pmatrix}&#10;\\\\&#10;(14:x\bar{z}\bar{y})&#10;&amp; \Rightarrow &amp;&#10;\sigma&#10;\begin{pmatrix}&#10; U_{x}   &amp;  U_{y,1} &amp;  U_{z,1}\\&#10;-U_{x,3} &amp; -U_{y,3} &amp; -U_{z}\\&#10;-U_{x,2} &amp; -U_{y}   &amp; -U_{z,2}\\&#10;\end{pmatrix}&#10;\\\\&#10;(15:zyx)&#10;&amp; \Rightarrow &amp;&#10;\sigma&#10;\begin{pmatrix}&#10;U_{x,3} &amp; U_{y,3} &amp; U_{z}\\&#10;U_{x,2} &amp; U_{y}   &amp; U_{z,2}\\&#10;U_{x}   &amp; U_{y,1} &amp; U_{z,1}\\&#10;\end{pmatrix}&#10;\\\\&#10;(16:\bar{z}y\bar{x})&#10;&amp; \Rightarrow &amp;&#10;\sigma&#10;\begin{pmatrix}&#10;-U_{x,3} &amp; -U_{y,3} &amp; -U_{z}\\&#10; U_{x,2} &amp;  U_{y}   &amp;  U_{z,2}\\&#10;-U_{x}   &amp; -U_{y,1} &amp; -U_{z,1}\\&#10;\end{pmatrix}&#10;\\\\&#10;(17:yxz)&#10;&amp; \Rightarrow &amp;&#10;\sigma&#10;\begin{pmatrix}&#10;U_{x,2} &amp; U_{y}   &amp; U_{z,2}\\&#10;U_{x}   &amp; U_{y,1} &amp; U_{z,1}\\&#10;U_{x,3} &amp; U_{y,3} &amp; U_{z}\\&#10;\end{pmatrix}&#10;\\\\&#10;(18:\bar{y}\bar{x}z)&#10;&amp; \Rightarrow &amp;&#10;\sigma&#10;\begin{pmatrix}&#10;-U_{x,2} &amp; -U_{y,2} &amp; -U_{z,2}\\&#10;-U_{x,1} &amp; -U_{y,1} &amp; -U_{z,1}\\&#10; U_{x,3} &amp;  U_{y,3} &amp;  U_{z}\\&#10;\end{pmatrix}&#10;\\&#10;\end{tabular}&#10;\end{equation*}&#10;&#10;&#10;\end{document}"/>
  <p:tag name="IGUANATEXSIZE" val="12"/>
  <p:tag name="IGUANATEXCURSOR" val="124"/>
  <p:tag name="TRANSPARENCY" val="True"/>
  <p:tag name="FILENAME" val=""/>
  <p:tag name="LATEXENGINEID" val="0"/>
  <p:tag name="TEMPFOLDER" val="C:\iguanatex\"/>
  <p:tag name="LATEXFORMHEIGHT" val="446.25"/>
  <p:tag name="LATEXFORMWIDTH" val="1018.5"/>
  <p:tag name="LATEXFORMWRAP" val="Fals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6.071"/>
  <p:tag name="ORIGINALWIDTH" val="2425.94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19:\bar{x}\bar{z}y)&#10;&amp; \Rightarrow &amp;&#10;\sigma&#10;\begin{pmatrix}&#10;-U_{x}   &amp; -U_{y,1} &amp; -U_{z,1}\\&#10;-U_{x,3} &amp; -U_{y,3} &amp; -U_{z}\\&#10; U_{x,2} &amp;  U_{y}   &amp;  U_{z,2}\\&#10;\end{pmatrix}&#10;\\\\&#10;(20:\bar{x}z\bar{y})&#10;&amp; \Rightarrow &amp;&#10;\sigma&#10;\begin{pmatrix}&#10;-U_{x,1} &amp; -U_{y,1} &amp; -U_{z,1}\\&#10; U_{x,3} &amp;  U_{y,3} &amp;  U_{z,3}\\&#10;-U_{x,2} &amp; -U_{y,2} &amp; -U_{z,2}\\&#10;\end{pmatrix}&#10;\\\\&#10;(21:z\bar{y}\bar{x})&#10;&amp; \Rightarrow &amp;&#10;\sigma&#10;\begin{pmatrix}&#10; U_{x,3} &amp;  U_{y,3} &amp;  U_{z}\\&#10;-U_{x,2} &amp; -U_{y}   &amp; -U_{z,2}\\&#10;-U_{x}   &amp; -U_{y,1} &amp; -U_{z,1}\\&#10;\end{pmatrix}&#10;\\\\&#10;(22:\bar{z}\bar{y}x)&#10;&amp; \Rightarrow &amp;&#10;\sigma&#10;\begin{pmatrix}&#10;-U_{x,3} &amp; -U_{y,3} &amp; -U_{z}\\&#10;-U_{x,2} &amp; -U_{y}   &amp; -U_{z,2}\\&#10; U_{x}   &amp;  U_{y,1} &amp;  U_{z,1}\\&#10;\end{pmatrix}&#10;\\\\&#10;(23:\bar{y}x\bar{z})&#10;&amp; \Rightarrow &amp;&#10;\sigma&#10;\begin{pmatrix}&#10;-U_{x,2} &amp; -U_{y}   &amp; -U_{z,2}\\&#10; U_{x,1} &amp;  U_{y,1} &amp;  U_{z,1}\\&#10;-U_{x,3} &amp; -U_{y,3} &amp; -U_{z}\\&#10;\end{pmatrix}&#10;\\\\&#10;(24:y\bar{x}\bar{z})&#10;&amp; \Rightarrow &amp;&#10;\sigma&#10;\begin{pmatrix}&#10; U_{x,2} &amp;  U_{y}   &amp;  U_{z,2}\\&#10;-U_{x}   &amp; -U_{y,1} &amp; -U_{z,1}\\&#10;-U_{x,3} &amp; -U_{y,3} &amp; -U_{z}\\&#10;\end{pmatrix}&#10;\\&#10;\end{tabular}&#10;\end{equation*}&#10;&#10;&#10;\end{document}"/>
  <p:tag name="IGUANATEXSIZE" val="12"/>
  <p:tag name="IGUANATEXCURSOR" val="1063"/>
  <p:tag name="TRANSPARENCY" val="True"/>
  <p:tag name="FILENAME" val=""/>
  <p:tag name="LATEXENGINEID" val="0"/>
  <p:tag name="TEMPFOLDER" val="C:\iguanatex\"/>
  <p:tag name="LATEXFORMHEIGHT" val="570.75"/>
  <p:tag name="LATEXFORMWIDTH" val="1018.5"/>
  <p:tag name="LATEXFORMWRAP" val="Fals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79703</TotalTime>
  <Words>309</Words>
  <Application>Microsoft Office PowerPoint</Application>
  <PresentationFormat>Widescreen</PresentationFormat>
  <Paragraphs>64</Paragraphs>
  <Slides>32</Slides>
  <Notes>27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Georgia</vt:lpstr>
      <vt:lpstr>Gill Sans MT</vt:lpstr>
      <vt:lpstr>LucidaGrande</vt:lpstr>
      <vt:lpstr>UB Powerpoint Template</vt:lpstr>
      <vt:lpstr>Our REPRESENTATION OF TD</vt:lpstr>
      <vt:lpstr>Matrix representation of Td – A1, A2, and E</vt:lpstr>
      <vt:lpstr>Matrix representation of Td – T1</vt:lpstr>
      <vt:lpstr>Matrix representation of Td – T2</vt:lpstr>
      <vt:lpstr>GROUP THEORY</vt:lpstr>
      <vt:lpstr>Function projected onto symmetries of Td</vt:lpstr>
      <vt:lpstr>Symmetrized potential – A1, A2, and E</vt:lpstr>
      <vt:lpstr>Symmetrized potential – T1 and T2</vt:lpstr>
      <vt:lpstr>Effect of coordinate transformations on Td states</vt:lpstr>
      <vt:lpstr>Effect of coordinate transformations on Td states</vt:lpstr>
      <vt:lpstr>Effect of coordinate transformations on Td states</vt:lpstr>
      <vt:lpstr>Products of representations expressed as sums of representations</vt:lpstr>
      <vt:lpstr>Matrix representation of Td – A(σ), and E</vt:lpstr>
      <vt:lpstr>Matrix representation of Td – T(σ)</vt:lpstr>
      <vt:lpstr>Matrix representation of Td – T(σ)</vt:lpstr>
      <vt:lpstr>Function projected onto symmetries of Td</vt:lpstr>
      <vt:lpstr>Effect of Td operations on solid angle coordinates</vt:lpstr>
      <vt:lpstr>Function projected onto symmetries of Td</vt:lpstr>
      <vt:lpstr>Multiplication table of Td</vt:lpstr>
      <vt:lpstr>Multiplication table for Td by coordinate transformations</vt:lpstr>
      <vt:lpstr>Multiplication table for Td by operator index</vt:lpstr>
      <vt:lpstr>GROUP THEORY</vt:lpstr>
      <vt:lpstr>Function projected onto symmetries of Td</vt:lpstr>
      <vt:lpstr>Symmetrized potential – A1, A2, and E</vt:lpstr>
      <vt:lpstr>Symmetrized potential – T1 and T2</vt:lpstr>
      <vt:lpstr>Transformation of symmetrized potential – E</vt:lpstr>
      <vt:lpstr>Transformation of symmetrized potential – T1</vt:lpstr>
      <vt:lpstr>Transformation of symmetrized potential – T2</vt:lpstr>
      <vt:lpstr>GROUP OPERATIONS</vt:lpstr>
      <vt:lpstr>Matrix representation of Td – A(σ), and E</vt:lpstr>
      <vt:lpstr>Matrix representation of Td – T(σ)</vt:lpstr>
      <vt:lpstr>Matrix representation of Td – T(σ)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3476</cp:revision>
  <cp:lastPrinted>2016-07-18T17:32:49Z</cp:lastPrinted>
  <dcterms:created xsi:type="dcterms:W3CDTF">2016-06-28T14:05:07Z</dcterms:created>
  <dcterms:modified xsi:type="dcterms:W3CDTF">2023-04-05T02:51:53Z</dcterms:modified>
  <cp:category/>
</cp:coreProperties>
</file>