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3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4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5.xml" ContentType="application/vnd.openxmlformats-officedocument.presentationml.notesSlide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9"/>
  </p:notesMasterIdLst>
  <p:handoutMasterIdLst>
    <p:handoutMasterId r:id="rId10"/>
  </p:handoutMasterIdLst>
  <p:sldIdLst>
    <p:sldId id="495" r:id="rId2"/>
    <p:sldId id="843" r:id="rId3"/>
    <p:sldId id="646" r:id="rId4"/>
    <p:sldId id="489" r:id="rId5"/>
    <p:sldId id="474" r:id="rId6"/>
    <p:sldId id="509" r:id="rId7"/>
    <p:sldId id="490" r:id="rId8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2A3A8"/>
    <a:srgbClr val="FF7F7F"/>
    <a:srgbClr val="005961"/>
    <a:srgbClr val="7FD7A7"/>
    <a:srgbClr val="00B050"/>
    <a:srgbClr val="FF0000"/>
    <a:srgbClr val="33A366"/>
    <a:srgbClr val="B797CF"/>
    <a:srgbClr val="7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56" autoAdjust="0"/>
    <p:restoredTop sz="94847" autoAdjust="0"/>
  </p:normalViewPr>
  <p:slideViewPr>
    <p:cSldViewPr snapToGrid="0" snapToObjects="1">
      <p:cViewPr varScale="1">
        <p:scale>
          <a:sx n="113" d="100"/>
          <a:sy n="113" d="100"/>
        </p:scale>
        <p:origin x="330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5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4/29/2023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4/29/2023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14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127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669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881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373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892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6638544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15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0"/>
            <a:ext cx="12188952" cy="6857999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2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6638544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6" y="366636"/>
            <a:ext cx="4800588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9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470" y="2007221"/>
            <a:ext cx="10513060" cy="39725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300472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 baseline="0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825265" y="2185416"/>
            <a:ext cx="9678987" cy="3848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FontTx/>
              <a:buNone/>
              <a:defRPr sz="1800" b="1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3660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1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700" y="11430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6928" y="2185166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626100" y="12954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699" y="1143001"/>
            <a:ext cx="6718301" cy="28552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473699" y="3998296"/>
            <a:ext cx="3429001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902701" y="3998296"/>
            <a:ext cx="3289300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6927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8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1143001"/>
            <a:ext cx="121920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41682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950" cy="68579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838200" y="2039400"/>
            <a:ext cx="10515600" cy="4094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0255504" y="6240989"/>
            <a:ext cx="725424" cy="534516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6" r:id="rId2"/>
    <p:sldLayoutId id="2147483894" r:id="rId3"/>
    <p:sldLayoutId id="2147483909" r:id="rId4"/>
    <p:sldLayoutId id="2147483895" r:id="rId5"/>
    <p:sldLayoutId id="2147483897" r:id="rId6"/>
    <p:sldLayoutId id="2147483907" r:id="rId7"/>
    <p:sldLayoutId id="2147483898" r:id="rId8"/>
    <p:sldLayoutId id="2147483900" r:id="rId9"/>
    <p:sldLayoutId id="2147483906" r:id="rId10"/>
    <p:sldLayoutId id="2147483902" r:id="rId11"/>
    <p:sldLayoutId id="2147483910" r:id="rId12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LucidaGrande" charset="0"/>
        <a:buChar char="-"/>
        <a:defRPr sz="16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12" Type="http://schemas.openxmlformats.org/officeDocument/2006/relationships/image" Target="../media/image1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11.png"/><Relationship Id="rId5" Type="http://schemas.openxmlformats.org/officeDocument/2006/relationships/tags" Target="../tags/tag5.xml"/><Relationship Id="rId10" Type="http://schemas.openxmlformats.org/officeDocument/2006/relationships/image" Target="../media/image10.png"/><Relationship Id="rId4" Type="http://schemas.openxmlformats.org/officeDocument/2006/relationships/tags" Target="../tags/tag4.xml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13" Type="http://schemas.openxmlformats.org/officeDocument/2006/relationships/image" Target="../media/image17.png"/><Relationship Id="rId3" Type="http://schemas.openxmlformats.org/officeDocument/2006/relationships/tags" Target="../tags/tag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16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15.png"/><Relationship Id="rId5" Type="http://schemas.openxmlformats.org/officeDocument/2006/relationships/tags" Target="../tags/tag10.xml"/><Relationship Id="rId10" Type="http://schemas.openxmlformats.org/officeDocument/2006/relationships/image" Target="../media/image14.png"/><Relationship Id="rId4" Type="http://schemas.openxmlformats.org/officeDocument/2006/relationships/tags" Target="../tags/tag9.xml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24.xml"/><Relationship Id="rId18" Type="http://schemas.openxmlformats.org/officeDocument/2006/relationships/tags" Target="../tags/tag29.xml"/><Relationship Id="rId26" Type="http://schemas.openxmlformats.org/officeDocument/2006/relationships/image" Target="../media/image23.png"/><Relationship Id="rId3" Type="http://schemas.openxmlformats.org/officeDocument/2006/relationships/tags" Target="../tags/tag14.xml"/><Relationship Id="rId21" Type="http://schemas.openxmlformats.org/officeDocument/2006/relationships/notesSlide" Target="../notesSlides/notesSlide3.xml"/><Relationship Id="rId34" Type="http://schemas.openxmlformats.org/officeDocument/2006/relationships/image" Target="../media/image31.png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tags" Target="../tags/tag28.xml"/><Relationship Id="rId25" Type="http://schemas.openxmlformats.org/officeDocument/2006/relationships/image" Target="../media/image22.png"/><Relationship Id="rId33" Type="http://schemas.openxmlformats.org/officeDocument/2006/relationships/image" Target="../media/image30.png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20" Type="http://schemas.openxmlformats.org/officeDocument/2006/relationships/slideLayout" Target="../slideLayouts/slideLayout12.xml"/><Relationship Id="rId29" Type="http://schemas.openxmlformats.org/officeDocument/2006/relationships/image" Target="../media/image26.png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24" Type="http://schemas.openxmlformats.org/officeDocument/2006/relationships/image" Target="../media/image21.png"/><Relationship Id="rId32" Type="http://schemas.openxmlformats.org/officeDocument/2006/relationships/image" Target="../media/image29.png"/><Relationship Id="rId5" Type="http://schemas.openxmlformats.org/officeDocument/2006/relationships/tags" Target="../tags/tag16.xml"/><Relationship Id="rId15" Type="http://schemas.openxmlformats.org/officeDocument/2006/relationships/tags" Target="../tags/tag26.xml"/><Relationship Id="rId23" Type="http://schemas.openxmlformats.org/officeDocument/2006/relationships/image" Target="../media/image20.png"/><Relationship Id="rId28" Type="http://schemas.openxmlformats.org/officeDocument/2006/relationships/image" Target="../media/image25.png"/><Relationship Id="rId10" Type="http://schemas.openxmlformats.org/officeDocument/2006/relationships/tags" Target="../tags/tag21.xml"/><Relationship Id="rId19" Type="http://schemas.openxmlformats.org/officeDocument/2006/relationships/tags" Target="../tags/tag30.xml"/><Relationship Id="rId31" Type="http://schemas.openxmlformats.org/officeDocument/2006/relationships/image" Target="../media/image28.png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tags" Target="../tags/tag25.xml"/><Relationship Id="rId22" Type="http://schemas.openxmlformats.org/officeDocument/2006/relationships/image" Target="../media/image19.png"/><Relationship Id="rId27" Type="http://schemas.openxmlformats.org/officeDocument/2006/relationships/image" Target="../media/image24.png"/><Relationship Id="rId30" Type="http://schemas.openxmlformats.org/officeDocument/2006/relationships/image" Target="../media/image27.png"/><Relationship Id="rId35" Type="http://schemas.openxmlformats.org/officeDocument/2006/relationships/image" Target="../media/image32.png"/><Relationship Id="rId8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43.xml"/><Relationship Id="rId18" Type="http://schemas.openxmlformats.org/officeDocument/2006/relationships/tags" Target="../tags/tag48.xml"/><Relationship Id="rId26" Type="http://schemas.openxmlformats.org/officeDocument/2006/relationships/tags" Target="../tags/tag56.xml"/><Relationship Id="rId39" Type="http://schemas.openxmlformats.org/officeDocument/2006/relationships/image" Target="../media/image22.png"/><Relationship Id="rId21" Type="http://schemas.openxmlformats.org/officeDocument/2006/relationships/tags" Target="../tags/tag51.xml"/><Relationship Id="rId34" Type="http://schemas.openxmlformats.org/officeDocument/2006/relationships/notesSlide" Target="../notesSlides/notesSlide4.xml"/><Relationship Id="rId42" Type="http://schemas.openxmlformats.org/officeDocument/2006/relationships/image" Target="../media/image27.png"/><Relationship Id="rId47" Type="http://schemas.openxmlformats.org/officeDocument/2006/relationships/image" Target="../media/image23.png"/><Relationship Id="rId50" Type="http://schemas.openxmlformats.org/officeDocument/2006/relationships/image" Target="../media/image40.png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6" Type="http://schemas.openxmlformats.org/officeDocument/2006/relationships/tags" Target="../tags/tag46.xml"/><Relationship Id="rId29" Type="http://schemas.openxmlformats.org/officeDocument/2006/relationships/tags" Target="../tags/tag59.xml"/><Relationship Id="rId11" Type="http://schemas.openxmlformats.org/officeDocument/2006/relationships/tags" Target="../tags/tag41.xml"/><Relationship Id="rId24" Type="http://schemas.openxmlformats.org/officeDocument/2006/relationships/tags" Target="../tags/tag54.xml"/><Relationship Id="rId32" Type="http://schemas.openxmlformats.org/officeDocument/2006/relationships/tags" Target="../tags/tag62.xml"/><Relationship Id="rId37" Type="http://schemas.openxmlformats.org/officeDocument/2006/relationships/image" Target="../media/image21.png"/><Relationship Id="rId40" Type="http://schemas.openxmlformats.org/officeDocument/2006/relationships/image" Target="../media/image35.png"/><Relationship Id="rId45" Type="http://schemas.openxmlformats.org/officeDocument/2006/relationships/image" Target="../media/image30.png"/><Relationship Id="rId5" Type="http://schemas.openxmlformats.org/officeDocument/2006/relationships/tags" Target="../tags/tag35.xml"/><Relationship Id="rId15" Type="http://schemas.openxmlformats.org/officeDocument/2006/relationships/tags" Target="../tags/tag45.xml"/><Relationship Id="rId23" Type="http://schemas.openxmlformats.org/officeDocument/2006/relationships/tags" Target="../tags/tag53.xml"/><Relationship Id="rId28" Type="http://schemas.openxmlformats.org/officeDocument/2006/relationships/tags" Target="../tags/tag58.xml"/><Relationship Id="rId36" Type="http://schemas.openxmlformats.org/officeDocument/2006/relationships/image" Target="../media/image33.png"/><Relationship Id="rId49" Type="http://schemas.openxmlformats.org/officeDocument/2006/relationships/image" Target="../media/image25.png"/><Relationship Id="rId10" Type="http://schemas.openxmlformats.org/officeDocument/2006/relationships/tags" Target="../tags/tag40.xml"/><Relationship Id="rId19" Type="http://schemas.openxmlformats.org/officeDocument/2006/relationships/tags" Target="../tags/tag49.xml"/><Relationship Id="rId31" Type="http://schemas.openxmlformats.org/officeDocument/2006/relationships/tags" Target="../tags/tag61.xml"/><Relationship Id="rId44" Type="http://schemas.openxmlformats.org/officeDocument/2006/relationships/image" Target="../media/image37.png"/><Relationship Id="rId52" Type="http://schemas.openxmlformats.org/officeDocument/2006/relationships/image" Target="../media/image41.png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tags" Target="../tags/tag44.xml"/><Relationship Id="rId22" Type="http://schemas.openxmlformats.org/officeDocument/2006/relationships/tags" Target="../tags/tag52.xml"/><Relationship Id="rId27" Type="http://schemas.openxmlformats.org/officeDocument/2006/relationships/tags" Target="../tags/tag57.xml"/><Relationship Id="rId30" Type="http://schemas.openxmlformats.org/officeDocument/2006/relationships/tags" Target="../tags/tag60.xml"/><Relationship Id="rId35" Type="http://schemas.openxmlformats.org/officeDocument/2006/relationships/image" Target="../media/image19.png"/><Relationship Id="rId43" Type="http://schemas.openxmlformats.org/officeDocument/2006/relationships/image" Target="../media/image29.png"/><Relationship Id="rId48" Type="http://schemas.openxmlformats.org/officeDocument/2006/relationships/image" Target="../media/image39.png"/><Relationship Id="rId8" Type="http://schemas.openxmlformats.org/officeDocument/2006/relationships/tags" Target="../tags/tag38.xml"/><Relationship Id="rId51" Type="http://schemas.openxmlformats.org/officeDocument/2006/relationships/image" Target="../media/image26.png"/><Relationship Id="rId3" Type="http://schemas.openxmlformats.org/officeDocument/2006/relationships/tags" Target="../tags/tag33.xml"/><Relationship Id="rId12" Type="http://schemas.openxmlformats.org/officeDocument/2006/relationships/tags" Target="../tags/tag42.xml"/><Relationship Id="rId17" Type="http://schemas.openxmlformats.org/officeDocument/2006/relationships/tags" Target="../tags/tag47.xml"/><Relationship Id="rId25" Type="http://schemas.openxmlformats.org/officeDocument/2006/relationships/tags" Target="../tags/tag55.xml"/><Relationship Id="rId33" Type="http://schemas.openxmlformats.org/officeDocument/2006/relationships/slideLayout" Target="../slideLayouts/slideLayout12.xml"/><Relationship Id="rId38" Type="http://schemas.openxmlformats.org/officeDocument/2006/relationships/image" Target="../media/image34.png"/><Relationship Id="rId46" Type="http://schemas.openxmlformats.org/officeDocument/2006/relationships/image" Target="../media/image38.png"/><Relationship Id="rId20" Type="http://schemas.openxmlformats.org/officeDocument/2006/relationships/tags" Target="../tags/tag50.xml"/><Relationship Id="rId41" Type="http://schemas.openxmlformats.org/officeDocument/2006/relationships/image" Target="../media/image36.png"/><Relationship Id="rId1" Type="http://schemas.openxmlformats.org/officeDocument/2006/relationships/tags" Target="../tags/tag31.xml"/><Relationship Id="rId6" Type="http://schemas.openxmlformats.org/officeDocument/2006/relationships/tags" Target="../tags/tag36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75.xml"/><Relationship Id="rId18" Type="http://schemas.openxmlformats.org/officeDocument/2006/relationships/tags" Target="../tags/tag80.xml"/><Relationship Id="rId26" Type="http://schemas.openxmlformats.org/officeDocument/2006/relationships/tags" Target="../tags/tag88.xml"/><Relationship Id="rId39" Type="http://schemas.openxmlformats.org/officeDocument/2006/relationships/image" Target="../media/image19.png"/><Relationship Id="rId21" Type="http://schemas.openxmlformats.org/officeDocument/2006/relationships/tags" Target="../tags/tag83.xml"/><Relationship Id="rId34" Type="http://schemas.openxmlformats.org/officeDocument/2006/relationships/image" Target="../media/image26.png"/><Relationship Id="rId42" Type="http://schemas.openxmlformats.org/officeDocument/2006/relationships/image" Target="../media/image22.png"/><Relationship Id="rId7" Type="http://schemas.openxmlformats.org/officeDocument/2006/relationships/tags" Target="../tags/tag69.xml"/><Relationship Id="rId2" Type="http://schemas.openxmlformats.org/officeDocument/2006/relationships/tags" Target="../tags/tag64.xml"/><Relationship Id="rId16" Type="http://schemas.openxmlformats.org/officeDocument/2006/relationships/tags" Target="../tags/tag78.xml"/><Relationship Id="rId20" Type="http://schemas.openxmlformats.org/officeDocument/2006/relationships/tags" Target="../tags/tag82.xml"/><Relationship Id="rId29" Type="http://schemas.openxmlformats.org/officeDocument/2006/relationships/notesSlide" Target="../notesSlides/notesSlide5.xml"/><Relationship Id="rId41" Type="http://schemas.openxmlformats.org/officeDocument/2006/relationships/image" Target="../media/image21.png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24" Type="http://schemas.openxmlformats.org/officeDocument/2006/relationships/tags" Target="../tags/tag86.xml"/><Relationship Id="rId32" Type="http://schemas.openxmlformats.org/officeDocument/2006/relationships/image" Target="../media/image43.png"/><Relationship Id="rId37" Type="http://schemas.openxmlformats.org/officeDocument/2006/relationships/image" Target="../media/image46.png"/><Relationship Id="rId40" Type="http://schemas.openxmlformats.org/officeDocument/2006/relationships/image" Target="../media/image48.png"/><Relationship Id="rId5" Type="http://schemas.openxmlformats.org/officeDocument/2006/relationships/tags" Target="../tags/tag67.xml"/><Relationship Id="rId15" Type="http://schemas.openxmlformats.org/officeDocument/2006/relationships/tags" Target="../tags/tag77.xml"/><Relationship Id="rId23" Type="http://schemas.openxmlformats.org/officeDocument/2006/relationships/tags" Target="../tags/tag85.xml"/><Relationship Id="rId28" Type="http://schemas.openxmlformats.org/officeDocument/2006/relationships/slideLayout" Target="../slideLayouts/slideLayout12.xml"/><Relationship Id="rId36" Type="http://schemas.openxmlformats.org/officeDocument/2006/relationships/image" Target="../media/image45.png"/><Relationship Id="rId10" Type="http://schemas.openxmlformats.org/officeDocument/2006/relationships/tags" Target="../tags/tag72.xml"/><Relationship Id="rId19" Type="http://schemas.openxmlformats.org/officeDocument/2006/relationships/tags" Target="../tags/tag81.xml"/><Relationship Id="rId31" Type="http://schemas.openxmlformats.org/officeDocument/2006/relationships/image" Target="../media/image23.png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tags" Target="../tags/tag76.xml"/><Relationship Id="rId22" Type="http://schemas.openxmlformats.org/officeDocument/2006/relationships/tags" Target="../tags/tag84.xml"/><Relationship Id="rId27" Type="http://schemas.openxmlformats.org/officeDocument/2006/relationships/tags" Target="../tags/tag89.xml"/><Relationship Id="rId30" Type="http://schemas.openxmlformats.org/officeDocument/2006/relationships/image" Target="../media/image42.png"/><Relationship Id="rId35" Type="http://schemas.openxmlformats.org/officeDocument/2006/relationships/image" Target="../media/image44.png"/><Relationship Id="rId43" Type="http://schemas.openxmlformats.org/officeDocument/2006/relationships/image" Target="../media/image49.png"/><Relationship Id="rId8" Type="http://schemas.openxmlformats.org/officeDocument/2006/relationships/tags" Target="../tags/tag70.xml"/><Relationship Id="rId3" Type="http://schemas.openxmlformats.org/officeDocument/2006/relationships/tags" Target="../tags/tag65.xml"/><Relationship Id="rId12" Type="http://schemas.openxmlformats.org/officeDocument/2006/relationships/tags" Target="../tags/tag74.xml"/><Relationship Id="rId17" Type="http://schemas.openxmlformats.org/officeDocument/2006/relationships/tags" Target="../tags/tag79.xml"/><Relationship Id="rId25" Type="http://schemas.openxmlformats.org/officeDocument/2006/relationships/tags" Target="../tags/tag87.xml"/><Relationship Id="rId33" Type="http://schemas.openxmlformats.org/officeDocument/2006/relationships/image" Target="../media/image25.png"/><Relationship Id="rId38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102.xml"/><Relationship Id="rId18" Type="http://schemas.openxmlformats.org/officeDocument/2006/relationships/tags" Target="../tags/tag107.xml"/><Relationship Id="rId26" Type="http://schemas.openxmlformats.org/officeDocument/2006/relationships/image" Target="../media/image29.png"/><Relationship Id="rId21" Type="http://schemas.openxmlformats.org/officeDocument/2006/relationships/tags" Target="../tags/tag110.xml"/><Relationship Id="rId34" Type="http://schemas.openxmlformats.org/officeDocument/2006/relationships/image" Target="../media/image51.png"/><Relationship Id="rId7" Type="http://schemas.openxmlformats.org/officeDocument/2006/relationships/tags" Target="../tags/tag96.xml"/><Relationship Id="rId12" Type="http://schemas.openxmlformats.org/officeDocument/2006/relationships/tags" Target="../tags/tag101.xml"/><Relationship Id="rId17" Type="http://schemas.openxmlformats.org/officeDocument/2006/relationships/tags" Target="../tags/tag106.xml"/><Relationship Id="rId25" Type="http://schemas.openxmlformats.org/officeDocument/2006/relationships/image" Target="../media/image50.png"/><Relationship Id="rId33" Type="http://schemas.openxmlformats.org/officeDocument/2006/relationships/image" Target="../media/image22.png"/><Relationship Id="rId38" Type="http://schemas.openxmlformats.org/officeDocument/2006/relationships/image" Target="../media/image55.png"/><Relationship Id="rId2" Type="http://schemas.openxmlformats.org/officeDocument/2006/relationships/tags" Target="../tags/tag91.xml"/><Relationship Id="rId16" Type="http://schemas.openxmlformats.org/officeDocument/2006/relationships/tags" Target="../tags/tag105.xml"/><Relationship Id="rId20" Type="http://schemas.openxmlformats.org/officeDocument/2006/relationships/tags" Target="../tags/tag109.xml"/><Relationship Id="rId29" Type="http://schemas.openxmlformats.org/officeDocument/2006/relationships/image" Target="../media/image25.png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1" Type="http://schemas.openxmlformats.org/officeDocument/2006/relationships/tags" Target="../tags/tag100.xml"/><Relationship Id="rId24" Type="http://schemas.openxmlformats.org/officeDocument/2006/relationships/image" Target="../media/image27.png"/><Relationship Id="rId32" Type="http://schemas.openxmlformats.org/officeDocument/2006/relationships/image" Target="../media/image21.png"/><Relationship Id="rId37" Type="http://schemas.openxmlformats.org/officeDocument/2006/relationships/image" Target="../media/image54.png"/><Relationship Id="rId5" Type="http://schemas.openxmlformats.org/officeDocument/2006/relationships/tags" Target="../tags/tag94.xml"/><Relationship Id="rId15" Type="http://schemas.openxmlformats.org/officeDocument/2006/relationships/tags" Target="../tags/tag104.xml"/><Relationship Id="rId23" Type="http://schemas.openxmlformats.org/officeDocument/2006/relationships/notesSlide" Target="../notesSlides/notesSlide6.xml"/><Relationship Id="rId28" Type="http://schemas.openxmlformats.org/officeDocument/2006/relationships/image" Target="../media/image23.png"/><Relationship Id="rId36" Type="http://schemas.openxmlformats.org/officeDocument/2006/relationships/image" Target="../media/image53.png"/><Relationship Id="rId10" Type="http://schemas.openxmlformats.org/officeDocument/2006/relationships/tags" Target="../tags/tag99.xml"/><Relationship Id="rId19" Type="http://schemas.openxmlformats.org/officeDocument/2006/relationships/tags" Target="../tags/tag108.xml"/><Relationship Id="rId31" Type="http://schemas.openxmlformats.org/officeDocument/2006/relationships/image" Target="../media/image19.png"/><Relationship Id="rId4" Type="http://schemas.openxmlformats.org/officeDocument/2006/relationships/tags" Target="../tags/tag93.xml"/><Relationship Id="rId9" Type="http://schemas.openxmlformats.org/officeDocument/2006/relationships/tags" Target="../tags/tag98.xml"/><Relationship Id="rId14" Type="http://schemas.openxmlformats.org/officeDocument/2006/relationships/tags" Target="../tags/tag103.xml"/><Relationship Id="rId22" Type="http://schemas.openxmlformats.org/officeDocument/2006/relationships/slideLayout" Target="../slideLayouts/slideLayout12.xml"/><Relationship Id="rId27" Type="http://schemas.openxmlformats.org/officeDocument/2006/relationships/image" Target="../media/image30.png"/><Relationship Id="rId30" Type="http://schemas.openxmlformats.org/officeDocument/2006/relationships/image" Target="../media/image26.png"/><Relationship Id="rId35" Type="http://schemas.openxmlformats.org/officeDocument/2006/relationships/image" Target="../media/image52.png"/><Relationship Id="rId8" Type="http://schemas.openxmlformats.org/officeDocument/2006/relationships/tags" Target="../tags/tag97.xml"/><Relationship Id="rId3" Type="http://schemas.openxmlformats.org/officeDocument/2006/relationships/tags" Target="../tags/tag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Symmetry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How the basis is impacted by symmetries of the system.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35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\documentclass{article}&#10;\usepackage{amsmath,amssymb,bm}&#10;\pagestyle{empty}&#10;\begin{document}&#10;&#10;\begin{align*}&#10;\mathcal{R}&#10;_{\eta;kl,s\left\{r\right\}}&#10;^{\left(W\kappa\right)}&#10;&amp; =&#10;\left(\frac{2}{Wa_{\perp}\eta}\right)^{\frac{3}{2}}&#10;\left[&#10;\sqrt{W}&#10;\rho^{\frac{l}{W}-\kappa\delta_{W1}-\delta_{s\bar{1}}}\mathrm{e}^{-\rho/2}&#10;\sum_{v=-2\kappa}^{\kappa+\delta_{s\bar{1}}}&#10;\mathfrak{h}_{lk,v}^{(\kappa s)}&#10;\hat{L}_{\left(k+v\right)\left\{\rho\right\}}^{\left(\frac{2l+3-W}{W}+\kappa-\delta_{s\bar{1}}\right)}&#10;\right|_{\rho \rightarrow \left(\frac{2r}{Wa_\perp\eta}\right)^{W}}&#10;\\&#10;\end{align*}&#10;&#10;\end{document}" title="IguanaTex Bitmap Display">
            <a:extLst>
              <a:ext uri="{FF2B5EF4-FFF2-40B4-BE49-F238E27FC236}">
                <a16:creationId xmlns:a16="http://schemas.microsoft.com/office/drawing/2014/main" id="{BC560A69-33E2-4FA5-AE35-C54F2079291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54288" y="5525854"/>
            <a:ext cx="9883425" cy="93104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</a:t>
            </a:r>
            <a:r>
              <a:rPr lang="en-US"/>
              <a:t>basis states -- I</a:t>
            </a:r>
            <a:endParaRPr lang="en-US" dirty="0"/>
          </a:p>
        </p:txBody>
      </p:sp>
      <p:pic>
        <p:nvPicPr>
          <p:cNvPr id="17" name="Picture 16" descr="\documentclass{article}&#10;\usepackage{amsmath,bm,eufrak}&#10;\pagestyle{empty}&#10;\begin{document}&#10;&#10;\begin{equation*}&#10;\Phi_{m\zeta lk;\lambda\eta}^{(W\kappa q)}&#10;= &#10;\left(\frac{\hbar^{2}}{2m_{0}a_{\perp}^{2}\eta^{2}}\right)^{\kappa}&#10;\hat{Q}_{m\zeta}^{(q)}&#10;\sum_{s=-\kappa}^{+\kappa}&#10;\mathfrak{H}^{(\kappa)}_{\lambda;lm,s}&#10;\hat{\mathcal{P}}_{\lambda;(l+2s)m}^{(q)}&#10;\mathcal{R} _{\left(\eta/\vartheta_{\lambda\left\{\chi_{q}\right\}}\right);kl,s\left\{r\right\}} ^{\left(W\kappa\right)}&#10;\\&#10;\end{equation*}&#10;&#10;\end{document}" title="IguanaTex Bitmap Display">
            <a:extLst>
              <a:ext uri="{FF2B5EF4-FFF2-40B4-BE49-F238E27FC236}">
                <a16:creationId xmlns:a16="http://schemas.microsoft.com/office/drawing/2014/main" id="{1DBF5996-F51C-4011-9BDA-3CF848474EC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147051" y="1857139"/>
            <a:ext cx="7897898" cy="717714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0C605298-DE69-4711-BAEF-64F6E2D0AAEF}"/>
              </a:ext>
            </a:extLst>
          </p:cNvPr>
          <p:cNvGrpSpPr/>
          <p:nvPr/>
        </p:nvGrpSpPr>
        <p:grpSpPr>
          <a:xfrm>
            <a:off x="689315" y="2909021"/>
            <a:ext cx="10813370" cy="2282664"/>
            <a:chOff x="689315" y="3187399"/>
            <a:chExt cx="10813370" cy="228266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0250C51-F8E1-45A4-86D4-A6841A9B2222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689315" y="3187399"/>
              <a:ext cx="5504000" cy="2282664"/>
            </a:xfrm>
            <a:prstGeom prst="rect">
              <a:avLst/>
            </a:prstGeom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8C51ABE5-50DA-42F9-9D7D-746C5EFFA2D3}"/>
                </a:ext>
              </a:extLst>
            </p:cNvPr>
            <p:cNvGrpSpPr/>
            <p:nvPr/>
          </p:nvGrpSpPr>
          <p:grpSpPr>
            <a:xfrm>
              <a:off x="7018249" y="3352731"/>
              <a:ext cx="4484436" cy="1952000"/>
              <a:chOff x="6808836" y="3100269"/>
              <a:chExt cx="4484436" cy="1952000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4249CE76-A88C-4487-89DB-79F5FC40B2A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1"/>
              <a:stretch>
                <a:fillRect/>
              </a:stretch>
            </p:blipFill>
            <p:spPr>
              <a:xfrm>
                <a:off x="6808836" y="3100269"/>
                <a:ext cx="2558476" cy="1952000"/>
              </a:xfrm>
              <a:prstGeom prst="rect">
                <a:avLst/>
              </a:prstGeom>
            </p:spPr>
          </p:pic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0209C886-60C8-48AA-9803-1DBF5239F77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2"/>
              <a:stretch>
                <a:fillRect/>
              </a:stretch>
            </p:blipFill>
            <p:spPr>
              <a:xfrm>
                <a:off x="9702415" y="3536384"/>
                <a:ext cx="1590857" cy="122514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21143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basis states -- II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655930D-EFAF-45C2-9C5E-9BDA174E90DB}"/>
              </a:ext>
            </a:extLst>
          </p:cNvPr>
          <p:cNvGrpSpPr/>
          <p:nvPr/>
        </p:nvGrpSpPr>
        <p:grpSpPr>
          <a:xfrm>
            <a:off x="202610" y="4589237"/>
            <a:ext cx="11786779" cy="1481752"/>
            <a:chOff x="202610" y="4589237"/>
            <a:chExt cx="11786779" cy="1481752"/>
          </a:xfrm>
        </p:grpSpPr>
        <p:pic>
          <p:nvPicPr>
            <p:cNvPr id="29" name="Picture 28" descr="\documentclass{article}&#10;\usepackage{amsmath,bm,eufrak}&#10;\pagestyle{empty}&#10;\begin{document}&#10;&#10;\begin{gather*}&#10;\mathfrak{g}_{lk,-2}^{(+1)}&#10;=&#10;-\sqrt{(k-1)k(k+\alpha)}&#10;\\&#10;\mathfrak{g}_{lk,-1}^{(+1)}&#10;=&#10;-\sqrt{k}\left(k+2\alpha+5-2\delta_{W,2}\right)&#10;\\&#10;\mathfrak{g}_{lk,0}^{(+1)}&#10;=&#10;\sqrt{k+\alpha+1}&#10;\left(k-\alpha-4+2\delta_{W,2}\right)&#10;\\&#10;\mathfrak{g}_{lk,+1}^{(+1)}&#10;=&#10;\sqrt{(k+1)(k+1+\alpha)(k+2+\alpha)}&#10;\\&#10;\end{gather*}&#10;&#10;\end{document}" title="IguanaTex Bitmap Display">
              <a:extLst>
                <a:ext uri="{FF2B5EF4-FFF2-40B4-BE49-F238E27FC236}">
                  <a16:creationId xmlns:a16="http://schemas.microsoft.com/office/drawing/2014/main" id="{D69CBFEC-10D5-4DD0-8569-AFF737884244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9077390" y="4744247"/>
              <a:ext cx="2911999" cy="1171733"/>
            </a:xfrm>
            <a:prstGeom prst="rect">
              <a:avLst/>
            </a:prstGeom>
            <a:solidFill>
              <a:srgbClr val="FFFFFF"/>
            </a:solidFill>
          </p:spPr>
        </p:pic>
        <p:pic>
          <p:nvPicPr>
            <p:cNvPr id="24" name="Picture 23" descr="\documentclass{article}&#10;\usepackage{amsmath,bm,eufrak}&#10;\pagestyle{empty}&#10;\begin{document}&#10;&#10;\begin{gather*}&#10;\mathfrak{g}_{lk,-2}^{(0)}&#10;=&#10;-\sqrt{(k-1)k(k+\alpha)}&#10;\\&#10;\mathfrak{g}_{lk,-1}^{(0)}&#10;=&#10;-\sqrt{k}\left(k+3-2\delta_{W,2}\right)&#10;\\&#10;\mathfrak{g}_{lk,0}^{(0)}&#10;=&#10;\sqrt{k+\alpha+1}&#10;\left(k+\alpha-2+2\delta_{W,2}\right)&#10;\\&#10;\mathfrak{g}_{lk,+1}^{(0)}&#10;=&#10;\sqrt{(k+1)(k+1+\alpha)(k+2+\alpha)}&#10;\\&#10;\end{gather*}&#10;&#10;\end{document}" title="IguanaTex Bitmap Display">
              <a:extLst>
                <a:ext uri="{FF2B5EF4-FFF2-40B4-BE49-F238E27FC236}">
                  <a16:creationId xmlns:a16="http://schemas.microsoft.com/office/drawing/2014/main" id="{F49E9B3A-862A-4AEC-9EDD-21FA0BFFCC0C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5962781" y="4744247"/>
              <a:ext cx="2911999" cy="1171733"/>
            </a:xfrm>
            <a:prstGeom prst="rect">
              <a:avLst/>
            </a:prstGeom>
          </p:spPr>
        </p:pic>
        <p:pic>
          <p:nvPicPr>
            <p:cNvPr id="19" name="Picture 18" descr="\documentclass{article}&#10;\usepackage{amsmath,bm,eufrak}&#10;\pagestyle{empty}&#10;\begin{document}&#10;&#10;\begin{gather*}&#10;\mathfrak{g}_{lk,-2}^{(-1)}&#10;=&#10;-\sqrt{(k-1)k(k-1+\alpha)(k+\alpha)}&#10;\\&#10;\mathfrak{g}_{lk,-1}^{(-1)}&#10;=&#10;2\sqrt{k(k+\alpha)}\left(\alpha-2-3\delta_{W,2}\right)&#10;\\&#10;\mathfrak{g}_{lk,0}^{(-1)}&#10;=&#10;2k^{2}-4\left(\alpha-1+\delta_{W,2}\right)\left(\alpha-3+2\delta_{W,2}\right)+(\alpha+1)(2k+3\alpha-8+6\delta_{W,2})&#10;\\&#10;\mathfrak{g}_{lk,+1}^{(-1)}&#10;=&#10;-2\sqrt{(k+1)(k+1+\alpha)}\left(\alpha-5+3\delta_{W,2}\right)&#10;\\&#10;\mathfrak{g}_{lk,+2}^{(-1)}&#10;=&#10;-\sqrt{(k+1)(k+2)(k+1+\alpha)(k+2+\alpha)}&#10;\end{gather*}&#10;&#10;\end{document}" title="IguanaTex Bitmap Display">
              <a:extLst>
                <a:ext uri="{FF2B5EF4-FFF2-40B4-BE49-F238E27FC236}">
                  <a16:creationId xmlns:a16="http://schemas.microsoft.com/office/drawing/2014/main" id="{76026E40-AA9A-481F-B0E1-5F32260D3077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202610" y="4589237"/>
              <a:ext cx="5557561" cy="1481752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0725DD0-F929-465B-A9A2-5DE4543C0A4F}"/>
              </a:ext>
            </a:extLst>
          </p:cNvPr>
          <p:cNvGrpSpPr/>
          <p:nvPr/>
        </p:nvGrpSpPr>
        <p:grpSpPr>
          <a:xfrm>
            <a:off x="1388702" y="1956317"/>
            <a:ext cx="9414596" cy="2357336"/>
            <a:chOff x="1399368" y="1956317"/>
            <a:chExt cx="9414596" cy="2357336"/>
          </a:xfrm>
        </p:grpSpPr>
        <p:pic>
          <p:nvPicPr>
            <p:cNvPr id="14" name="Picture 13" descr="\documentclass{article}&#10;\usepackage{amsmath,amssymb,bm}&#10;\pagestyle{empty}&#10;\begin{document}&#10;&#10;\begin{align*}&#10;\mathfrak{Y}^{(0)}_{lm}&#10;&amp; =&#10;\frac{&#10;2l^2-2m^2+2l-1&#10;}{&#10;(2l-1)(2l+3)&#10;}  \\&#10;\mathfrak{Y}^{(-1)}_{lm}&#10;&amp; =&#10;\sqrt{\frac{&#10;\left((l-1)^2-m^2\right)&#10;\left(l^2-m^2\right)&#10;}{&#10;(2l-3)(2l-1)^{2}(2l+1)&#10;}}&#10;\\&#10;\mathfrak{Y}^{(+1)}_{lm}&#10;&amp; =&#10;\sqrt{\frac{&#10;\left((l+1)^2-m^2\right)&#10;\left((l+2)^2-m^2\right)&#10;}{&#10;(2l+1)(2l+3)^{2}(2l+5)&#10;}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FC0D1E48-33ED-485E-A230-B565D07503C5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6151113" y="1956317"/>
              <a:ext cx="4662851" cy="235733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" name="Picture 9" descr="\documentclass{article}&#10;\usepackage{amsmath,amssymb,bm}&#10;\pagestyle{empty}&#10;\begin{document}&#10;&#10;\begin{equation*}&#10;\mathfrak{H}^{(\kappa s)}_{lm}&#10;= &#10;\delta_{s,0}-\kappa\left(1-\gamma\lambda^{2}\right)\mathfrak{Y}_{lm}^{(s)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4728DDA0-9E41-44FE-93EF-8AD9BABBE136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399368" y="2958984"/>
              <a:ext cx="3349329" cy="352000"/>
            </a:xfrm>
            <a:prstGeom prst="rect">
              <a:avLst/>
            </a:prstGeom>
          </p:spPr>
        </p:pic>
      </p:grpSp>
      <p:pic>
        <p:nvPicPr>
          <p:cNvPr id="33" name="Picture 32" descr="\documentclass{article}&#10;\usepackage{amsmath,amssymb,bm}&#10;\pagestyle{empty}&#10;\begin{document}&#10;&#10;\begin{align*}&#10;\mathfrak{h}_{lk,v}^{(\kappa s)}&#10;&amp; =&#10;\left(1-\kappa\right)\delta_{s0}\delta_{v0} + \kappa \mathfrak{g}_{lk,v}^{(s)}&#10;\\&#10;\end{align*}&#10;&#10;\end{document}" title="IguanaTex Bitmap Display">
            <a:extLst>
              <a:ext uri="{FF2B5EF4-FFF2-40B4-BE49-F238E27FC236}">
                <a16:creationId xmlns:a16="http://schemas.microsoft.com/office/drawing/2014/main" id="{25A86B4C-5330-4569-B27E-E0F540E6CCC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483049" y="6346573"/>
            <a:ext cx="3225903" cy="37485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1672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Effect of Td operations on naïve states</a:t>
            </a:r>
          </a:p>
        </p:txBody>
      </p: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3356762F-19F6-435C-9C90-69F0211BC4CC}"/>
              </a:ext>
            </a:extLst>
          </p:cNvPr>
          <p:cNvGrpSpPr/>
          <p:nvPr/>
        </p:nvGrpSpPr>
        <p:grpSpPr>
          <a:xfrm>
            <a:off x="4959300" y="3428963"/>
            <a:ext cx="4297680" cy="1188720"/>
            <a:chOff x="4959300" y="3428963"/>
            <a:chExt cx="4297680" cy="1188720"/>
          </a:xfrm>
        </p:grpSpPr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7C8C0340-250B-4274-8637-5D1D31A0BA00}"/>
                </a:ext>
              </a:extLst>
            </p:cNvPr>
            <p:cNvGrpSpPr/>
            <p:nvPr/>
          </p:nvGrpSpPr>
          <p:grpSpPr>
            <a:xfrm>
              <a:off x="4959300" y="3428963"/>
              <a:ext cx="4297680" cy="1188720"/>
              <a:chOff x="4495800" y="4333838"/>
              <a:chExt cx="4297680" cy="1188720"/>
            </a:xfrm>
          </p:grpSpPr>
          <p:sp>
            <p:nvSpPr>
              <p:cNvPr id="53" name="Rounded Rectangle 52"/>
              <p:cNvSpPr/>
              <p:nvPr/>
            </p:nvSpPr>
            <p:spPr>
              <a:xfrm>
                <a:off x="4495800" y="4333838"/>
                <a:ext cx="4297680" cy="1188720"/>
              </a:xfrm>
              <a:prstGeom prst="roundRect">
                <a:avLst>
                  <a:gd name="adj" fmla="val 5873"/>
                </a:avLst>
              </a:prstGeom>
              <a:solidFill>
                <a:schemeClr val="bg1"/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" name="Text Placeholder 1 5 2 2 2 2 2 1"/>
              <p:cNvSpPr txBox="1">
                <a:spLocks/>
              </p:cNvSpPr>
              <p:nvPr/>
            </p:nvSpPr>
            <p:spPr>
              <a:xfrm>
                <a:off x="5455920" y="4399759"/>
                <a:ext cx="2377440" cy="36933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Char char="-"/>
                  <a:defRPr sz="18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srgbClr val="00B0F0"/>
                    </a:solidFill>
                    <a:latin typeface="+mn-lt"/>
                    <a:cs typeface="Arial" panose="020B0604020202020204" pitchFamily="34" charset="0"/>
                  </a:rPr>
                  <a:t>Double inversion</a:t>
                </a:r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3687F74D-3B2C-405F-B8B4-29DA5BE73C80}"/>
                </a:ext>
              </a:extLst>
            </p:cNvPr>
            <p:cNvGrpSpPr/>
            <p:nvPr>
              <p:custDataLst>
                <p:tags r:id="rId14"/>
              </p:custDataLst>
            </p:nvPr>
          </p:nvGrpSpPr>
          <p:grpSpPr>
            <a:xfrm>
              <a:off x="5399567" y="3980523"/>
              <a:ext cx="3417146" cy="555618"/>
              <a:chOff x="5399567" y="3980523"/>
              <a:chExt cx="3417146" cy="555618"/>
            </a:xfrm>
          </p:grpSpPr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F2579F5F-4F6E-43F4-BA2E-9F7B5C1FD22F}"/>
                  </a:ext>
                </a:extLst>
              </p:cNvPr>
              <p:cNvGrpSpPr/>
              <p:nvPr>
                <p:custDataLst>
                  <p:tags r:id="rId15"/>
                </p:custDataLst>
              </p:nvPr>
            </p:nvGrpSpPr>
            <p:grpSpPr>
              <a:xfrm>
                <a:off x="5399567" y="3989594"/>
                <a:ext cx="3417146" cy="546547"/>
                <a:chOff x="5399567" y="3989594"/>
                <a:chExt cx="3417146" cy="546547"/>
              </a:xfrm>
            </p:grpSpPr>
            <p:pic>
              <p:nvPicPr>
                <p:cNvPr id="250" name="Picture 249"/>
                <p:cNvPicPr>
                  <a:picLocks noChangeAspect="1"/>
                </p:cNvPicPr>
                <p:nvPr>
                  <p:custDataLst>
                    <p:tags r:id="rId18"/>
                  </p:custDataLst>
                </p:nvPr>
              </p:nvPicPr>
              <p:blipFill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53160" y="3989594"/>
                  <a:ext cx="394286" cy="199999"/>
                </a:xfrm>
                <a:prstGeom prst="rect">
                  <a:avLst/>
                </a:prstGeom>
              </p:spPr>
            </p:pic>
            <p:pic>
              <p:nvPicPr>
                <p:cNvPr id="181" name="Picture 180" descr="\documentclass{article}&#10;\usepackage{amsmath,bm}&#10;\pagestyle{empty}&#10;\begin{document}&#10;&#10;\begin{equation*}&#10;(-1)^{m}\Phi_{m\xi l}^{(1)}&#10;\quad&#10;\xi(-1)^{l+m}\Phi_{m\xi l}^{(1)}&#10;\quad&#10;\xi(-1)^{l}\Phi_{m\xi l}^{(1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70360FAE-971F-4F3B-842B-023B62BE80E4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9"/>
                  </p:custDataLst>
                </p:nvPr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399567" y="4253856"/>
                  <a:ext cx="3417146" cy="282285"/>
                </a:xfrm>
                <a:prstGeom prst="rect">
                  <a:avLst/>
                </a:prstGeom>
              </p:spPr>
            </p:pic>
          </p:grpSp>
          <p:pic>
            <p:nvPicPr>
              <p:cNvPr id="247" name="Picture 246"/>
              <p:cNvPicPr>
                <a:picLocks noChangeAspect="1"/>
              </p:cNvPicPr>
              <p:nvPr>
                <p:custDataLst>
                  <p:tags r:id="rId16"/>
                </p:custDataLst>
              </p:nvPr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94218" y="3996265"/>
                <a:ext cx="394286" cy="199999"/>
              </a:xfrm>
              <a:prstGeom prst="rect">
                <a:avLst/>
              </a:prstGeom>
            </p:spPr>
          </p:pic>
          <p:pic>
            <p:nvPicPr>
              <p:cNvPr id="275" name="Picture 274"/>
              <p:cNvPicPr>
                <a:picLocks noChangeAspect="1"/>
              </p:cNvPicPr>
              <p:nvPr>
                <p:custDataLst>
                  <p:tags r:id="rId17"/>
                </p:custDataLst>
              </p:nvPr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87845" y="3980523"/>
                <a:ext cx="394286" cy="199999"/>
              </a:xfrm>
              <a:prstGeom prst="rect">
                <a:avLst/>
              </a:prstGeom>
            </p:spPr>
          </p:pic>
        </p:grp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8314DF8E-4EDA-4B36-97C5-98DBC2EB1CC5}"/>
              </a:ext>
            </a:extLst>
          </p:cNvPr>
          <p:cNvGrpSpPr/>
          <p:nvPr/>
        </p:nvGrpSpPr>
        <p:grpSpPr>
          <a:xfrm>
            <a:off x="361950" y="5063993"/>
            <a:ext cx="5340151" cy="1188720"/>
            <a:chOff x="361950" y="5063993"/>
            <a:chExt cx="5340151" cy="1188720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60E3162C-BE9F-428E-A75F-6A2634C5B917}"/>
                </a:ext>
              </a:extLst>
            </p:cNvPr>
            <p:cNvGrpSpPr/>
            <p:nvPr/>
          </p:nvGrpSpPr>
          <p:grpSpPr>
            <a:xfrm>
              <a:off x="361950" y="5063993"/>
              <a:ext cx="5340151" cy="1188720"/>
              <a:chOff x="504825" y="5063993"/>
              <a:chExt cx="5340151" cy="1188720"/>
            </a:xfrm>
          </p:grpSpPr>
          <p:sp>
            <p:nvSpPr>
              <p:cNvPr id="135" name="Rounded Rectangle 93">
                <a:extLst>
                  <a:ext uri="{FF2B5EF4-FFF2-40B4-BE49-F238E27FC236}">
                    <a16:creationId xmlns:a16="http://schemas.microsoft.com/office/drawing/2014/main" id="{127430AA-7B76-4BF0-BAEF-40E548BA327A}"/>
                  </a:ext>
                </a:extLst>
              </p:cNvPr>
              <p:cNvSpPr/>
              <p:nvPr/>
            </p:nvSpPr>
            <p:spPr>
              <a:xfrm>
                <a:off x="504825" y="5063993"/>
                <a:ext cx="5340151" cy="1188720"/>
              </a:xfrm>
              <a:prstGeom prst="roundRect">
                <a:avLst>
                  <a:gd name="adj" fmla="val 5873"/>
                </a:avLst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Text Placeholder 1 5 2 2 1 2 2">
                <a:extLst>
                  <a:ext uri="{FF2B5EF4-FFF2-40B4-BE49-F238E27FC236}">
                    <a16:creationId xmlns:a16="http://schemas.microsoft.com/office/drawing/2014/main" id="{1447FF81-EF05-4F99-96BF-2A27685E2E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57169" y="5114914"/>
                <a:ext cx="2435462" cy="36933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Char char="-"/>
                  <a:defRPr sz="18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srgbClr val="FF0000"/>
                    </a:solidFill>
                    <a:latin typeface="+mn-lt"/>
                    <a:cs typeface="Arial" panose="020B0604020202020204" pitchFamily="34" charset="0"/>
                  </a:rPr>
                  <a:t>Acyclic permutations</a:t>
                </a:r>
              </a:p>
            </p:txBody>
          </p: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80F9CF78-ADA3-4316-8D0E-FA23147D3184}"/>
                </a:ext>
              </a:extLst>
            </p:cNvPr>
            <p:cNvGrpSpPr/>
            <p:nvPr>
              <p:custDataLst>
                <p:tags r:id="rId9"/>
              </p:custDataLst>
            </p:nvPr>
          </p:nvGrpSpPr>
          <p:grpSpPr>
            <a:xfrm>
              <a:off x="801740" y="5583619"/>
              <a:ext cx="4460570" cy="609589"/>
              <a:chOff x="801740" y="5583619"/>
              <a:chExt cx="4460570" cy="609589"/>
            </a:xfrm>
          </p:grpSpPr>
          <p:pic>
            <p:nvPicPr>
              <p:cNvPr id="145" name="Picture 144">
                <a:extLst>
                  <a:ext uri="{FF2B5EF4-FFF2-40B4-BE49-F238E27FC236}">
                    <a16:creationId xmlns:a16="http://schemas.microsoft.com/office/drawing/2014/main" id="{D34E8711-1705-4520-A3DB-BF5E4EBD068E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2"/>
                </p:custDataLst>
              </p:nvPr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7381" y="5583619"/>
                <a:ext cx="394286" cy="188571"/>
              </a:xfrm>
              <a:prstGeom prst="rect">
                <a:avLst/>
              </a:prstGeom>
            </p:spPr>
          </p:pic>
          <p:pic>
            <p:nvPicPr>
              <p:cNvPr id="173" name="Picture 172" descr="\documentclass{article}&#10;\usepackage{amsmath,bm}&#10;\pagestyle{empty}&#10;\begin{document}&#10;&#10;\begin{equation*}&#10;\xi\mathrm{i}^{-m}\Phi_{m\left(\left(-1\right)^{m}\xi\right)l}^{(1)}&#10;\quad&#10;\xi\mathrm{i}^{-m}\Phi_{m\left(\left(-1\right)^{m}\xi\right)l}^{(3)}&#10;\quad&#10;\xi\mathrm{i}^{-m}\Phi_{m\left(\left(-1\right)^{m}\xi\right)l}^{(2)}&#10;\end{equation*}&#10;&#10;\end{document}" title="IguanaTex Bitmap Display">
                <a:extLst>
                  <a:ext uri="{FF2B5EF4-FFF2-40B4-BE49-F238E27FC236}">
                    <a16:creationId xmlns:a16="http://schemas.microsoft.com/office/drawing/2014/main" id="{82F10F37-CAEE-4364-A611-61618F7F94C2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3"/>
                </p:custDataLst>
              </p:nvPr>
            </p:nvPicPr>
            <p:blipFill>
              <a:blip r:embed="rId27"/>
              <a:stretch>
                <a:fillRect/>
              </a:stretch>
            </p:blipFill>
            <p:spPr>
              <a:xfrm>
                <a:off x="801740" y="5897209"/>
                <a:ext cx="4460570" cy="295999"/>
              </a:xfrm>
              <a:prstGeom prst="rect">
                <a:avLst/>
              </a:prstGeom>
            </p:spPr>
          </p:pic>
        </p:grpSp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7E9E5DFC-F239-421A-B710-6C43C975F8C9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3351" y="5583619"/>
              <a:ext cx="394286" cy="188571"/>
            </a:xfrm>
            <a:prstGeom prst="rect">
              <a:avLst/>
            </a:prstGeom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4F38341A-64DD-4857-A6E8-C7ECA2A4D151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99320" y="5583619"/>
              <a:ext cx="394286" cy="188571"/>
            </a:xfrm>
            <a:prstGeom prst="rect">
              <a:avLst/>
            </a:prstGeom>
          </p:spPr>
        </p:pic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C4E36F0E-9891-4E43-BFA9-A9C476FA40F2}"/>
              </a:ext>
            </a:extLst>
          </p:cNvPr>
          <p:cNvGrpSpPr/>
          <p:nvPr/>
        </p:nvGrpSpPr>
        <p:grpSpPr>
          <a:xfrm>
            <a:off x="1477545" y="3455607"/>
            <a:ext cx="3108960" cy="1188720"/>
            <a:chOff x="1477545" y="3455607"/>
            <a:chExt cx="3108960" cy="118872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A78E9B01-259D-48F0-859A-D3C3FFE1EA29}"/>
                </a:ext>
              </a:extLst>
            </p:cNvPr>
            <p:cNvGrpSpPr/>
            <p:nvPr/>
          </p:nvGrpSpPr>
          <p:grpSpPr>
            <a:xfrm>
              <a:off x="1477545" y="3455607"/>
              <a:ext cx="3108960" cy="1188720"/>
              <a:chOff x="693420" y="3455607"/>
              <a:chExt cx="3108960" cy="1188720"/>
            </a:xfrm>
          </p:grpSpPr>
          <p:sp>
            <p:nvSpPr>
              <p:cNvPr id="169" name="Rounded Rectangle 168"/>
              <p:cNvSpPr/>
              <p:nvPr/>
            </p:nvSpPr>
            <p:spPr>
              <a:xfrm>
                <a:off x="693420" y="3455607"/>
                <a:ext cx="3108960" cy="1188720"/>
              </a:xfrm>
              <a:prstGeom prst="roundRect">
                <a:avLst>
                  <a:gd name="adj" fmla="val 5873"/>
                </a:avLst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Text Placeholder 1 5 2 2 1 2 1"/>
              <p:cNvSpPr txBox="1">
                <a:spLocks/>
              </p:cNvSpPr>
              <p:nvPr/>
            </p:nvSpPr>
            <p:spPr>
              <a:xfrm>
                <a:off x="1104900" y="3506528"/>
                <a:ext cx="2286000" cy="36933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Char char="-"/>
                  <a:defRPr sz="18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srgbClr val="00B050"/>
                    </a:solidFill>
                    <a:latin typeface="+mn-lt"/>
                    <a:cs typeface="Arial" panose="020B0604020202020204" pitchFamily="34" charset="0"/>
                  </a:rPr>
                  <a:t>Cyclic permutations</a:t>
                </a:r>
              </a:p>
            </p:txBody>
          </p:sp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3327019C-4F1C-457C-B831-89685BED02DB}"/>
                </a:ext>
              </a:extLst>
            </p:cNvPr>
            <p:cNvGrpSpPr/>
            <p:nvPr>
              <p:custDataLst>
                <p:tags r:id="rId3"/>
              </p:custDataLst>
            </p:nvPr>
          </p:nvGrpSpPr>
          <p:grpSpPr>
            <a:xfrm>
              <a:off x="1832920" y="3975233"/>
              <a:ext cx="2287925" cy="595875"/>
              <a:chOff x="1832920" y="3975233"/>
              <a:chExt cx="2287925" cy="595875"/>
            </a:xfrm>
          </p:grpSpPr>
          <p:grpSp>
            <p:nvGrpSpPr>
              <p:cNvPr id="155" name="Group 154">
                <a:extLst>
                  <a:ext uri="{FF2B5EF4-FFF2-40B4-BE49-F238E27FC236}">
                    <a16:creationId xmlns:a16="http://schemas.microsoft.com/office/drawing/2014/main" id="{0769F91D-8574-48C4-BD16-21F090DE5951}"/>
                  </a:ext>
                </a:extLst>
              </p:cNvPr>
              <p:cNvGrpSpPr/>
              <p:nvPr>
                <p:custDataLst>
                  <p:tags r:id="rId4"/>
                </p:custDataLst>
              </p:nvPr>
            </p:nvGrpSpPr>
            <p:grpSpPr>
              <a:xfrm>
                <a:off x="1832920" y="3975233"/>
                <a:ext cx="2168818" cy="595875"/>
                <a:chOff x="1832920" y="3975233"/>
                <a:chExt cx="2168818" cy="595875"/>
              </a:xfrm>
            </p:grpSpPr>
            <p:pic>
              <p:nvPicPr>
                <p:cNvPr id="179" name="Picture 178"/>
                <p:cNvPicPr>
                  <a:picLocks noChangeAspect="1"/>
                </p:cNvPicPr>
                <p:nvPr>
                  <p:custDataLst>
                    <p:tags r:id="rId7"/>
                  </p:custDataLst>
                </p:nvPr>
              </p:nvPicPr>
              <p:blipFill>
                <a:blip r:embed="rId3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32920" y="3975233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154" name="Picture 153" descr="\documentclass{article}&#10;\usepackage{amsmath,bm}&#10;\pagestyle{empty}&#10;\begin{document}&#10;&#10;\begin{equation*}&#10;\Phi_{m\xi l}^{(1)}&#10;\quad\quad&#10;\Phi_{m\xi l}^{(3)}&#10;\quad\quad&#10;\Phi_{m\xi l}^{(2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633EB33A-53C3-4231-AFA1-A9E3B02FF0E6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8"/>
                  </p:custDataLst>
                </p:nvPr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62312" y="4288823"/>
                  <a:ext cx="1939426" cy="282285"/>
                </a:xfrm>
                <a:prstGeom prst="rect">
                  <a:avLst/>
                </a:prstGeom>
              </p:spPr>
            </p:pic>
          </p:grpSp>
          <p:pic>
            <p:nvPicPr>
              <p:cNvPr id="177" name="Picture 176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3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79739" y="3975233"/>
                <a:ext cx="394286" cy="188571"/>
              </a:xfrm>
              <a:prstGeom prst="rect">
                <a:avLst/>
              </a:prstGeom>
            </p:spPr>
          </p:pic>
          <p:pic>
            <p:nvPicPr>
              <p:cNvPr id="175" name="Picture 174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3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26559" y="3975233"/>
                <a:ext cx="394286" cy="188571"/>
              </a:xfrm>
              <a:prstGeom prst="rect">
                <a:avLst/>
              </a:prstGeom>
            </p:spPr>
          </p:pic>
        </p:grp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E2549059-F15B-4B9F-BDDE-54D6CCE9BD5D}"/>
              </a:ext>
            </a:extLst>
          </p:cNvPr>
          <p:cNvGrpSpPr/>
          <p:nvPr/>
        </p:nvGrpSpPr>
        <p:grpSpPr>
          <a:xfrm>
            <a:off x="9629775" y="4470998"/>
            <a:ext cx="2011680" cy="914400"/>
            <a:chOff x="9629775" y="4470998"/>
            <a:chExt cx="2011680" cy="914400"/>
          </a:xfrm>
        </p:grpSpPr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4241D42F-F0F0-43D2-984A-88CE81903D04}"/>
                </a:ext>
              </a:extLst>
            </p:cNvPr>
            <p:cNvGrpSpPr/>
            <p:nvPr/>
          </p:nvGrpSpPr>
          <p:grpSpPr>
            <a:xfrm>
              <a:off x="9629775" y="4470998"/>
              <a:ext cx="2011680" cy="914400"/>
              <a:chOff x="9629775" y="4470998"/>
              <a:chExt cx="2011680" cy="914400"/>
            </a:xfrm>
          </p:grpSpPr>
          <p:sp>
            <p:nvSpPr>
              <p:cNvPr id="69" name="Rounded Rectangle 68"/>
              <p:cNvSpPr/>
              <p:nvPr/>
            </p:nvSpPr>
            <p:spPr>
              <a:xfrm>
                <a:off x="9629775" y="4470998"/>
                <a:ext cx="2011680" cy="914400"/>
              </a:xfrm>
              <a:prstGeom prst="roundRect">
                <a:avLst>
                  <a:gd name="adj" fmla="val 5873"/>
                </a:avLst>
              </a:prstGeom>
              <a:solidFill>
                <a:schemeClr val="bg1"/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Text Placeholder 1 5 2 2 2 2 2 2"/>
              <p:cNvSpPr txBox="1">
                <a:spLocks/>
              </p:cNvSpPr>
              <p:nvPr/>
            </p:nvSpPr>
            <p:spPr>
              <a:xfrm>
                <a:off x="9812655" y="4568856"/>
                <a:ext cx="1645920" cy="36933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Char char="-"/>
                  <a:defRPr sz="18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  <a:cs typeface="Arial" panose="020B0604020202020204" pitchFamily="34" charset="0"/>
                  </a:rPr>
                  <a:t>Time-reversal</a:t>
                </a:r>
              </a:p>
            </p:txBody>
          </p:sp>
        </p:grpSp>
        <p:pic>
          <p:nvPicPr>
            <p:cNvPr id="160" name="Picture 159" descr="\documentclass{article}&#10;\usepackage{amsmath,bm}&#10;\pagestyle{empty}&#10;\begin{document}&#10;&#10;\begin{equation*}&#10;\xi\Phi_{m\xi l}^{(q)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D1F7C8C2-DDA5-4351-A74F-E38DD03774D6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4"/>
            <a:stretch>
              <a:fillRect/>
            </a:stretch>
          </p:blipFill>
          <p:spPr>
            <a:xfrm>
              <a:off x="10399615" y="4938188"/>
              <a:ext cx="472000" cy="282285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534B6BE-5D85-45AB-8638-526B1AFD3E5E}"/>
              </a:ext>
            </a:extLst>
          </p:cNvPr>
          <p:cNvGrpSpPr/>
          <p:nvPr/>
        </p:nvGrpSpPr>
        <p:grpSpPr>
          <a:xfrm>
            <a:off x="4953000" y="2256039"/>
            <a:ext cx="2286000" cy="548640"/>
            <a:chOff x="4953000" y="2256039"/>
            <a:chExt cx="2286000" cy="548640"/>
          </a:xfrm>
        </p:grpSpPr>
        <p:pic>
          <p:nvPicPr>
            <p:cNvPr id="7" name="Picture 6" descr="\documentclass{article}&#10;\usepackage{amsmath,bm,eufrak}&#10;\pagestyle{empty}&#10;\begin{document}&#10;&#10;\begin{equation*}&#10;\Phi_{m\xi l}^{(q)}&#10;=&#10;\hat{Q}_{m\xi}^{(q)}&#10;\hat{\mathcal{P}}_{lm}^{(q)}&#10;\hat{\mathcal{R}}^{(q)}&#10;\end{equation*}&#10;&#10;\end{document} " title="IguanaTex Bitmap Display">
              <a:extLst>
                <a:ext uri="{FF2B5EF4-FFF2-40B4-BE49-F238E27FC236}">
                  <a16:creationId xmlns:a16="http://schemas.microsoft.com/office/drawing/2014/main" id="{540EA86A-8626-4B03-8E23-52A5837E1399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5"/>
            <a:stretch>
              <a:fillRect/>
            </a:stretch>
          </p:blipFill>
          <p:spPr>
            <a:xfrm>
              <a:off x="5074972" y="2376759"/>
              <a:ext cx="2042056" cy="338743"/>
            </a:xfrm>
            <a:prstGeom prst="rect">
              <a:avLst/>
            </a:prstGeom>
          </p:spPr>
        </p:pic>
        <p:sp>
          <p:nvSpPr>
            <p:cNvPr id="49" name="Rounded Rectangle 48"/>
            <p:cNvSpPr/>
            <p:nvPr/>
          </p:nvSpPr>
          <p:spPr>
            <a:xfrm>
              <a:off x="4953000" y="2256039"/>
              <a:ext cx="2286000" cy="548640"/>
            </a:xfrm>
            <a:prstGeom prst="roundRect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27035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C423E067-66A3-4BBA-8C0A-B33EE98E64E6}"/>
              </a:ext>
            </a:extLst>
          </p:cNvPr>
          <p:cNvGrpSpPr/>
          <p:nvPr/>
        </p:nvGrpSpPr>
        <p:grpSpPr>
          <a:xfrm>
            <a:off x="4495801" y="4333838"/>
            <a:ext cx="4297680" cy="1188720"/>
            <a:chOff x="4495801" y="4333838"/>
            <a:chExt cx="4297680" cy="1188720"/>
          </a:xfrm>
        </p:grpSpPr>
        <p:sp>
          <p:nvSpPr>
            <p:cNvPr id="239" name="Rounded Rectangle 238"/>
            <p:cNvSpPr/>
            <p:nvPr/>
          </p:nvSpPr>
          <p:spPr>
            <a:xfrm>
              <a:off x="4495801" y="4333838"/>
              <a:ext cx="4297680" cy="1188720"/>
            </a:xfrm>
            <a:prstGeom prst="roundRect">
              <a:avLst>
                <a:gd name="adj" fmla="val 5873"/>
              </a:avLst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Text Placeholder 1 5 2 2 2 2 2 1"/>
            <p:cNvSpPr txBox="1">
              <a:spLocks/>
            </p:cNvSpPr>
            <p:nvPr/>
          </p:nvSpPr>
          <p:spPr>
            <a:xfrm>
              <a:off x="5455921" y="4400933"/>
              <a:ext cx="2377440" cy="3693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Char char="-"/>
                <a:defRPr sz="18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buNone/>
              </a:pPr>
              <a:r>
                <a:rPr lang="en-US" dirty="0">
                  <a:solidFill>
                    <a:srgbClr val="00B0F0"/>
                  </a:solidFill>
                  <a:latin typeface="+mn-lt"/>
                  <a:cs typeface="Arial" panose="020B0604020202020204" pitchFamily="34" charset="0"/>
                </a:rPr>
                <a:t>Double inversion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B739BDD-2A3A-4F9D-924F-DF22901CFA41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978427" y="4863994"/>
            <a:ext cx="3332429" cy="563545"/>
            <a:chOff x="4891713" y="4863994"/>
            <a:chExt cx="3332429" cy="563545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34833D9-73A6-473D-9CCB-82C2A5495CA7}"/>
                </a:ext>
              </a:extLst>
            </p:cNvPr>
            <p:cNvGrpSpPr/>
            <p:nvPr>
              <p:custDataLst>
                <p:tags r:id="rId24"/>
              </p:custDataLst>
            </p:nvPr>
          </p:nvGrpSpPr>
          <p:grpSpPr>
            <a:xfrm>
              <a:off x="4891713" y="4863994"/>
              <a:ext cx="548571" cy="545404"/>
              <a:chOff x="4891713" y="4863994"/>
              <a:chExt cx="548571" cy="545404"/>
            </a:xfrm>
          </p:grpSpPr>
          <p:pic>
            <p:nvPicPr>
              <p:cNvPr id="250" name="Picture 249"/>
              <p:cNvPicPr>
                <a:picLocks noChangeAspect="1"/>
              </p:cNvPicPr>
              <p:nvPr>
                <p:custDataLst>
                  <p:tags r:id="rId31"/>
                </p:custDataLst>
              </p:nvPr>
            </p:nvPicPr>
            <p:blipFill>
              <a:blip r:embed="rId3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68855" y="4863994"/>
                <a:ext cx="394286" cy="199999"/>
              </a:xfrm>
              <a:prstGeom prst="rect">
                <a:avLst/>
              </a:prstGeom>
            </p:spPr>
          </p:pic>
          <p:pic>
            <p:nvPicPr>
              <p:cNvPr id="45" name="Picture 44" descr="\documentclass{article}&#10;\usepackage{amsmath,bm}&#10;\pagestyle{empty}&#10;\begin{document}&#10;&#10;\begin{equation*}&#10;\Psi_{ml;\sigma\omega}^{(1)}&#10;\end{equation*}&#10;&#10;\end{document}" title="IguanaTex Bitmap Display">
                <a:extLst>
                  <a:ext uri="{FF2B5EF4-FFF2-40B4-BE49-F238E27FC236}">
                    <a16:creationId xmlns:a16="http://schemas.microsoft.com/office/drawing/2014/main" id="{233B6380-CE6A-48F7-839B-832737A28C63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2"/>
                </p:custDataLst>
              </p:nvPr>
            </p:nvPicPr>
            <p:blipFill>
              <a:blip r:embed="rId36"/>
              <a:stretch>
                <a:fillRect/>
              </a:stretch>
            </p:blipFill>
            <p:spPr>
              <a:xfrm>
                <a:off x="4891713" y="5128256"/>
                <a:ext cx="548571" cy="281142"/>
              </a:xfrm>
              <a:prstGeom prst="rect">
                <a:avLst/>
              </a:prstGeom>
            </p:spPr>
          </p:pic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40BDBBC2-F0AC-450A-830F-6F6A03523506}"/>
                </a:ext>
              </a:extLst>
            </p:cNvPr>
            <p:cNvGrpSpPr/>
            <p:nvPr>
              <p:custDataLst>
                <p:tags r:id="rId25"/>
              </p:custDataLst>
            </p:nvPr>
          </p:nvGrpSpPr>
          <p:grpSpPr>
            <a:xfrm>
              <a:off x="6149785" y="4863994"/>
              <a:ext cx="681142" cy="545286"/>
              <a:chOff x="6149785" y="4863994"/>
              <a:chExt cx="681142" cy="545286"/>
            </a:xfrm>
          </p:grpSpPr>
          <p:pic>
            <p:nvPicPr>
              <p:cNvPr id="247" name="Picture 246"/>
              <p:cNvPicPr>
                <a:picLocks noChangeAspect="1"/>
              </p:cNvPicPr>
              <p:nvPr>
                <p:custDataLst>
                  <p:tags r:id="rId29"/>
                </p:custDataLst>
              </p:nvPr>
            </p:nvPicPr>
            <p:blipFill>
              <a:blip r:embed="rId3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93213" y="4863994"/>
                <a:ext cx="394286" cy="199999"/>
              </a:xfrm>
              <a:prstGeom prst="rect">
                <a:avLst/>
              </a:prstGeom>
            </p:spPr>
          </p:pic>
          <p:pic>
            <p:nvPicPr>
              <p:cNvPr id="55" name="Picture 54" descr="\documentclass{article}&#10;\usepackage{amsmath,bm}&#10;\pagestyle{empty}&#10;\begin{document}&#10;&#10;\begin{equation*}&#10;\omega\Psi_{ml;\sigma\omega}^{(1)}&#10;\end{equation*}&#10;&#10;\end{document}" title="IguanaTex Bitmap Display">
                <a:extLst>
                  <a:ext uri="{FF2B5EF4-FFF2-40B4-BE49-F238E27FC236}">
                    <a16:creationId xmlns:a16="http://schemas.microsoft.com/office/drawing/2014/main" id="{5BE8E528-1C04-4CAF-8976-B978E656EADB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0"/>
                </p:custDataLst>
              </p:nvPr>
            </p:nvPicPr>
            <p:blipFill>
              <a:blip r:embed="rId38"/>
              <a:stretch>
                <a:fillRect/>
              </a:stretch>
            </p:blipFill>
            <p:spPr>
              <a:xfrm>
                <a:off x="6149785" y="5128138"/>
                <a:ext cx="681142" cy="281142"/>
              </a:xfrm>
              <a:prstGeom prst="rect">
                <a:avLst/>
              </a:prstGeom>
            </p:spPr>
          </p:pic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16882F16-20FD-4B48-A2AC-8AF2E3ACEA66}"/>
                </a:ext>
              </a:extLst>
            </p:cNvPr>
            <p:cNvGrpSpPr/>
            <p:nvPr>
              <p:custDataLst>
                <p:tags r:id="rId26"/>
              </p:custDataLst>
            </p:nvPr>
          </p:nvGrpSpPr>
          <p:grpSpPr>
            <a:xfrm>
              <a:off x="7543000" y="4863994"/>
              <a:ext cx="681142" cy="563545"/>
              <a:chOff x="7543000" y="4863994"/>
              <a:chExt cx="681142" cy="563545"/>
            </a:xfrm>
          </p:grpSpPr>
          <p:pic>
            <p:nvPicPr>
              <p:cNvPr id="275" name="Picture 274"/>
              <p:cNvPicPr>
                <a:picLocks noChangeAspect="1"/>
              </p:cNvPicPr>
              <p:nvPr>
                <p:custDataLst>
                  <p:tags r:id="rId27"/>
                </p:custDataLst>
              </p:nvPr>
            </p:nvPicPr>
            <p:blipFill>
              <a:blip r:embed="rId3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86428" y="4863994"/>
                <a:ext cx="394286" cy="199999"/>
              </a:xfrm>
              <a:prstGeom prst="rect">
                <a:avLst/>
              </a:prstGeom>
            </p:spPr>
          </p:pic>
          <p:pic>
            <p:nvPicPr>
              <p:cNvPr id="71" name="Picture 70" descr="\documentclass{article}&#10;\usepackage{amsmath,bm}&#10;\pagestyle{empty}&#10;\begin{document}&#10;&#10;\begin{equation*}&#10;\omega\Psi_{ml;\sigma\omega}^{(1)}&#10;\end{equation*}&#10;&#10;\end{document}" title="IguanaTex Bitmap Display">
                <a:extLst>
                  <a:ext uri="{FF2B5EF4-FFF2-40B4-BE49-F238E27FC236}">
                    <a16:creationId xmlns:a16="http://schemas.microsoft.com/office/drawing/2014/main" id="{53572786-8AA4-428D-B607-29E88B9732A9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8"/>
                </p:custDataLst>
              </p:nvPr>
            </p:nvPicPr>
            <p:blipFill>
              <a:blip r:embed="rId38"/>
              <a:stretch>
                <a:fillRect/>
              </a:stretch>
            </p:blipFill>
            <p:spPr>
              <a:xfrm>
                <a:off x="7543000" y="5146397"/>
                <a:ext cx="681142" cy="281142"/>
              </a:xfrm>
              <a:prstGeom prst="rect">
                <a:avLst/>
              </a:prstGeom>
            </p:spPr>
          </p:pic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D8F4249-AFD4-46D0-A254-0F0EF7CB2463}"/>
              </a:ext>
            </a:extLst>
          </p:cNvPr>
          <p:cNvGrpSpPr/>
          <p:nvPr/>
        </p:nvGrpSpPr>
        <p:grpSpPr>
          <a:xfrm>
            <a:off x="9486901" y="4470998"/>
            <a:ext cx="2011680" cy="914400"/>
            <a:chOff x="9486901" y="4470998"/>
            <a:chExt cx="2011680" cy="914400"/>
          </a:xfrm>
        </p:grpSpPr>
        <p:sp>
          <p:nvSpPr>
            <p:cNvPr id="69" name="Rounded Rectangle 68"/>
            <p:cNvSpPr/>
            <p:nvPr/>
          </p:nvSpPr>
          <p:spPr>
            <a:xfrm>
              <a:off x="9486901" y="4470998"/>
              <a:ext cx="2011680" cy="914400"/>
            </a:xfrm>
            <a:prstGeom prst="roundRect">
              <a:avLst>
                <a:gd name="adj" fmla="val 5873"/>
              </a:avLst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 Placeholder 1 5 2 2 2 2 2 2"/>
            <p:cNvSpPr txBox="1">
              <a:spLocks/>
            </p:cNvSpPr>
            <p:nvPr/>
          </p:nvSpPr>
          <p:spPr>
            <a:xfrm>
              <a:off x="9669781" y="4568856"/>
              <a:ext cx="1645920" cy="3693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Char char="-"/>
                <a:defRPr sz="18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buNone/>
              </a:pPr>
              <a:r>
                <a:rPr lang="en-US" dirty="0">
                  <a:solidFill>
                    <a:schemeClr val="accent3">
                      <a:lumMod val="75000"/>
                    </a:schemeClr>
                  </a:solidFill>
                  <a:cs typeface="Arial" panose="020B0604020202020204" pitchFamily="34" charset="0"/>
                </a:rPr>
                <a:t>Time-reversal</a:t>
              </a:r>
            </a:p>
          </p:txBody>
        </p:sp>
        <p:pic>
          <p:nvPicPr>
            <p:cNvPr id="89" name="Picture 88" descr="\documentclass{article}&#10;\usepackage{amsmath,bm}&#10;\pagestyle{empty}&#10;\begin{document}&#10;&#10;\begin{equation*}&#10;\omega(-1)^{l}\Psi_{ml;\sigma\omega}^{(1)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DEACD7D7-4B38-4545-9026-B8BA969DB833}"/>
                </a:ext>
              </a:extLst>
            </p:cNvPr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40"/>
            <a:stretch>
              <a:fillRect/>
            </a:stretch>
          </p:blipFill>
          <p:spPr>
            <a:xfrm>
              <a:off x="9928171" y="4938188"/>
              <a:ext cx="1129141" cy="281142"/>
            </a:xfrm>
            <a:prstGeom prst="rect">
              <a:avLst/>
            </a:prstGeom>
          </p:spPr>
        </p:pic>
      </p:grpSp>
      <p:sp>
        <p:nvSpPr>
          <p:cNvPr id="138" name="Text Placeholder 1 5 1 1 1"/>
          <p:cNvSpPr txBox="1">
            <a:spLocks/>
          </p:cNvSpPr>
          <p:nvPr/>
        </p:nvSpPr>
        <p:spPr>
          <a:xfrm>
            <a:off x="1393751" y="1910550"/>
            <a:ext cx="9404498" cy="369332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Char char="-"/>
              <a:defRPr sz="18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+mn-lt"/>
                <a:cs typeface="Arial" panose="020B0604020202020204" pitchFamily="34" charset="0"/>
              </a:rPr>
              <a:t>States indexed by </a:t>
            </a:r>
            <a:r>
              <a:rPr lang="en-US" dirty="0">
                <a:solidFill>
                  <a:srgbClr val="00B0F0"/>
                </a:solidFill>
                <a:latin typeface="+mn-lt"/>
                <a:cs typeface="Arial" panose="020B0604020202020204" pitchFamily="34" charset="0"/>
              </a:rPr>
              <a:t>inversion</a:t>
            </a:r>
            <a:r>
              <a:rPr lang="en-US" dirty="0">
                <a:latin typeface="+mn-lt"/>
                <a:cs typeface="Arial" panose="020B0604020202020204" pitchFamily="34" charset="0"/>
              </a:rPr>
              <a:t> (</a:t>
            </a:r>
            <a:r>
              <a:rPr lang="el-GR" i="1" dirty="0">
                <a:cs typeface="Arial" panose="020B0604020202020204" pitchFamily="34" charset="0"/>
              </a:rPr>
              <a:t>ω</a:t>
            </a:r>
            <a:r>
              <a:rPr lang="en-US" i="1" dirty="0">
                <a:cs typeface="Arial" panose="020B0604020202020204" pitchFamily="34" charset="0"/>
              </a:rPr>
              <a:t>)</a:t>
            </a:r>
            <a:r>
              <a:rPr lang="en-US" dirty="0">
                <a:latin typeface="+mn-lt"/>
                <a:cs typeface="Arial" panose="020B0604020202020204" pitchFamily="34" charset="0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acyclic</a:t>
            </a:r>
            <a:r>
              <a:rPr lang="en-US" dirty="0">
                <a:latin typeface="+mn-lt"/>
                <a:cs typeface="Arial" panose="020B0604020202020204" pitchFamily="34" charset="0"/>
              </a:rPr>
              <a:t> (</a:t>
            </a:r>
            <a:r>
              <a:rPr lang="el-GR" i="1" dirty="0">
                <a:cs typeface="Arial" panose="020B0604020202020204" pitchFamily="34" charset="0"/>
              </a:rPr>
              <a:t>σ</a:t>
            </a:r>
            <a:r>
              <a:rPr lang="en-US" dirty="0">
                <a:latin typeface="+mn-lt"/>
                <a:cs typeface="Arial" panose="020B0604020202020204" pitchFamily="34" charset="0"/>
              </a:rPr>
              <a:t>) symmetry as either even (+1) or odd (-1) </a:t>
            </a:r>
          </a:p>
        </p:txBody>
      </p:sp>
      <p:sp>
        <p:nvSpPr>
          <p:cNvPr id="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Td operations, including Bloch functions, m even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792FA70-2ADA-4FFE-B402-B7A0666965FB}"/>
              </a:ext>
            </a:extLst>
          </p:cNvPr>
          <p:cNvGrpSpPr/>
          <p:nvPr/>
        </p:nvGrpSpPr>
        <p:grpSpPr>
          <a:xfrm>
            <a:off x="2937510" y="2402441"/>
            <a:ext cx="6316981" cy="914400"/>
            <a:chOff x="2937510" y="2402441"/>
            <a:chExt cx="6316981" cy="914400"/>
          </a:xfrm>
        </p:grpSpPr>
        <p:pic>
          <p:nvPicPr>
            <p:cNvPr id="10" name="Picture 9" descr="\documentclass{article}&#10;\usepackage{amsmath,bm}&#10;\pagestyle{empty}&#10;\begin{document}&#10;&#10;\begin{equation*}&#10;\Psi_{ml;\omega\sigma}^{(q)}&#10;=&#10;\Phi_{m\left(\sigma\mathrm{i}^{m}\right)l}^{(q)}&#10;\left(\frac&#10;{\mathrm{e}^{\mathrm{i}\bm{k}_q\cdot \bm{r}}u_{\bm{k}_q}&#10;+\omega\sigma\mathrm{i}^{m}(-1)^{l}\mathrm{e}^{-\mathrm{i}\bm{k}_q\cdot \bm{r}}u_{-\bm{k}_q}}&#10;{\sqrt{2}}&#10;\right)&#10;\end{equation*}&#10;&#10;\end{document}" title="IguanaTex Bitmap Display">
              <a:extLst>
                <a:ext uri="{FF2B5EF4-FFF2-40B4-BE49-F238E27FC236}">
                  <a16:creationId xmlns:a16="http://schemas.microsoft.com/office/drawing/2014/main" id="{9469A521-E3FE-42FC-B61A-B0125DCD5787}"/>
                </a:ext>
              </a:extLst>
            </p:cNvPr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41"/>
            <a:stretch>
              <a:fillRect/>
            </a:stretch>
          </p:blipFill>
          <p:spPr>
            <a:xfrm>
              <a:off x="3040649" y="2485976"/>
              <a:ext cx="6110702" cy="747330"/>
            </a:xfrm>
            <a:prstGeom prst="rect">
              <a:avLst/>
            </a:prstGeom>
          </p:spPr>
        </p:pic>
        <p:sp>
          <p:nvSpPr>
            <p:cNvPr id="49" name="Rounded Rectangle 48"/>
            <p:cNvSpPr/>
            <p:nvPr/>
          </p:nvSpPr>
          <p:spPr>
            <a:xfrm>
              <a:off x="2937510" y="2402441"/>
              <a:ext cx="6316981" cy="914400"/>
            </a:xfrm>
            <a:prstGeom prst="roundRect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4DD8EDC-E2F9-4DAF-A828-BE20265E9F08}"/>
              </a:ext>
            </a:extLst>
          </p:cNvPr>
          <p:cNvGrpSpPr/>
          <p:nvPr/>
        </p:nvGrpSpPr>
        <p:grpSpPr>
          <a:xfrm>
            <a:off x="693421" y="3455607"/>
            <a:ext cx="3108960" cy="1188720"/>
            <a:chOff x="693421" y="3455607"/>
            <a:chExt cx="3108960" cy="1188720"/>
          </a:xfrm>
        </p:grpSpPr>
        <p:sp>
          <p:nvSpPr>
            <p:cNvPr id="81" name="Rounded Rectangle 168">
              <a:extLst>
                <a:ext uri="{FF2B5EF4-FFF2-40B4-BE49-F238E27FC236}">
                  <a16:creationId xmlns:a16="http://schemas.microsoft.com/office/drawing/2014/main" id="{1A079198-99AA-42F7-B4CC-5B98E746C9A5}"/>
                </a:ext>
              </a:extLst>
            </p:cNvPr>
            <p:cNvSpPr/>
            <p:nvPr/>
          </p:nvSpPr>
          <p:spPr>
            <a:xfrm>
              <a:off x="693421" y="3455607"/>
              <a:ext cx="3108960" cy="1188720"/>
            </a:xfrm>
            <a:prstGeom prst="roundRect">
              <a:avLst>
                <a:gd name="adj" fmla="val 5873"/>
              </a:avLst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Text Placeholder 1 5 2 2 1 2 1">
              <a:extLst>
                <a:ext uri="{FF2B5EF4-FFF2-40B4-BE49-F238E27FC236}">
                  <a16:creationId xmlns:a16="http://schemas.microsoft.com/office/drawing/2014/main" id="{1388B069-33C3-418D-BBA9-C528AEBE7A1E}"/>
                </a:ext>
              </a:extLst>
            </p:cNvPr>
            <p:cNvSpPr txBox="1">
              <a:spLocks/>
            </p:cNvSpPr>
            <p:nvPr/>
          </p:nvSpPr>
          <p:spPr>
            <a:xfrm>
              <a:off x="1104901" y="3506528"/>
              <a:ext cx="2286000" cy="3693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Char char="-"/>
                <a:defRPr sz="18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buNone/>
              </a:pPr>
              <a:r>
                <a:rPr lang="en-US" dirty="0">
                  <a:solidFill>
                    <a:srgbClr val="00B050"/>
                  </a:solidFill>
                  <a:latin typeface="+mn-lt"/>
                  <a:cs typeface="Arial" panose="020B0604020202020204" pitchFamily="34" charset="0"/>
                </a:rPr>
                <a:t>Cyclic permutations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05DEE19-3F95-44D8-BD77-FDF0C6CC1080}"/>
                </a:ext>
              </a:extLst>
            </p:cNvPr>
            <p:cNvGrpSpPr/>
            <p:nvPr>
              <p:custDataLst>
                <p:tags r:id="rId12"/>
              </p:custDataLst>
            </p:nvPr>
          </p:nvGrpSpPr>
          <p:grpSpPr>
            <a:xfrm>
              <a:off x="867695" y="3975233"/>
              <a:ext cx="2589556" cy="594732"/>
              <a:chOff x="867695" y="3975233"/>
              <a:chExt cx="2589556" cy="594732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01461AA2-AA27-4C37-8C1A-0CD1C88CEC8D}"/>
                  </a:ext>
                </a:extLst>
              </p:cNvPr>
              <p:cNvGrpSpPr/>
              <p:nvPr>
                <p:custDataLst>
                  <p:tags r:id="rId13"/>
                </p:custDataLst>
              </p:nvPr>
            </p:nvGrpSpPr>
            <p:grpSpPr>
              <a:xfrm>
                <a:off x="867695" y="3975233"/>
                <a:ext cx="565141" cy="594732"/>
                <a:chOff x="867695" y="3975233"/>
                <a:chExt cx="565141" cy="594732"/>
              </a:xfrm>
            </p:grpSpPr>
            <p:pic>
              <p:nvPicPr>
                <p:cNvPr id="93" name="Picture 92">
                  <a:extLst>
                    <a:ext uri="{FF2B5EF4-FFF2-40B4-BE49-F238E27FC236}">
                      <a16:creationId xmlns:a16="http://schemas.microsoft.com/office/drawing/2014/main" id="{BC3482E0-2407-4548-AB36-13321E1CC267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0"/>
                  </p:custDataLst>
                </p:nvPr>
              </p:nvPicPr>
              <p:blipFill>
                <a:blip r:embed="rId4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550" y="3975233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6" name="Picture 5" descr="\documentclass{article}&#10;\usepackage{amsmath,bm}&#10;\pagestyle{empty}&#10;\begin{document}&#10;&#10;\begin{equation*}&#10;\Psi_{ml;\sigma\omega}^{(1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EB108D8D-0E09-4E09-B245-EEA43BEE4AEC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1"/>
                  </p:custDataLst>
                </p:nvPr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67695" y="4288823"/>
                  <a:ext cx="548571" cy="281142"/>
                </a:xfrm>
                <a:prstGeom prst="rect">
                  <a:avLst/>
                </a:prstGeom>
              </p:spPr>
            </p:pic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6BEBE545-9998-4634-B1AF-AD31BE10A250}"/>
                  </a:ext>
                </a:extLst>
              </p:cNvPr>
              <p:cNvGrpSpPr/>
              <p:nvPr>
                <p:custDataLst>
                  <p:tags r:id="rId14"/>
                </p:custDataLst>
              </p:nvPr>
            </p:nvGrpSpPr>
            <p:grpSpPr>
              <a:xfrm>
                <a:off x="1879902" y="3975233"/>
                <a:ext cx="565142" cy="594732"/>
                <a:chOff x="1879902" y="3975233"/>
                <a:chExt cx="565142" cy="594732"/>
              </a:xfrm>
            </p:grpSpPr>
            <p:pic>
              <p:nvPicPr>
                <p:cNvPr id="91" name="Picture 90">
                  <a:extLst>
                    <a:ext uri="{FF2B5EF4-FFF2-40B4-BE49-F238E27FC236}">
                      <a16:creationId xmlns:a16="http://schemas.microsoft.com/office/drawing/2014/main" id="{223224B5-1711-43FE-ABDD-C5C75C762644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8"/>
                  </p:custDataLst>
                </p:nvPr>
              </p:nvPicPr>
              <p:blipFill>
                <a:blip r:embed="rId4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50758" y="3975233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14" name="Picture 13" descr="\documentclass{article}&#10;\usepackage{amsmath,bm}&#10;\pagestyle{empty}&#10;\begin{document}&#10;&#10;\begin{equation*}&#10;\Psi_{ml;\sigma\omega}^{(3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F54EB061-1D09-49BF-A481-FEAEB6F7A2F1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9"/>
                  </p:custDataLst>
                </p:nvPr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879902" y="4288823"/>
                  <a:ext cx="548572" cy="281142"/>
                </a:xfrm>
                <a:prstGeom prst="rect">
                  <a:avLst/>
                </a:prstGeom>
              </p:spPr>
            </p:pic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4ABCA719-6085-491D-A167-D5F64C5361D4}"/>
                  </a:ext>
                </a:extLst>
              </p:cNvPr>
              <p:cNvGrpSpPr/>
              <p:nvPr>
                <p:custDataLst>
                  <p:tags r:id="rId15"/>
                </p:custDataLst>
              </p:nvPr>
            </p:nvGrpSpPr>
            <p:grpSpPr>
              <a:xfrm>
                <a:off x="2892109" y="3975233"/>
                <a:ext cx="565142" cy="594732"/>
                <a:chOff x="2892109" y="3975233"/>
                <a:chExt cx="565142" cy="594732"/>
              </a:xfrm>
            </p:grpSpPr>
            <p:pic>
              <p:nvPicPr>
                <p:cNvPr id="87" name="Picture 86">
                  <a:extLst>
                    <a:ext uri="{FF2B5EF4-FFF2-40B4-BE49-F238E27FC236}">
                      <a16:creationId xmlns:a16="http://schemas.microsoft.com/office/drawing/2014/main" id="{FE31E6DA-F1F6-4D4A-B52D-15B022062FD7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6"/>
                  </p:custDataLst>
                </p:nvPr>
              </p:nvPicPr>
              <p:blipFill>
                <a:blip r:embed="rId4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062965" y="3975233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22" name="Picture 21" descr="\documentclass{article}&#10;\usepackage{amsmath,bm}&#10;\pagestyle{empty}&#10;\begin{document}&#10;&#10;\begin{equation*}&#10;\Psi_{ml;\sigma\omega}^{(2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F0C97909-00E6-4A84-92C9-5A785B582C98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7"/>
                  </p:custDataLst>
                </p:nvPr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892109" y="4288823"/>
                  <a:ext cx="548572" cy="281142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1662C55-EDA1-442A-A33E-C8A6C9E106A6}"/>
              </a:ext>
            </a:extLst>
          </p:cNvPr>
          <p:cNvGrpSpPr/>
          <p:nvPr/>
        </p:nvGrpSpPr>
        <p:grpSpPr>
          <a:xfrm>
            <a:off x="693420" y="5063993"/>
            <a:ext cx="3108960" cy="1188720"/>
            <a:chOff x="693420" y="5063993"/>
            <a:chExt cx="3108960" cy="118872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934A5A4-B353-4080-A5EE-3BC9CEA886DC}"/>
                </a:ext>
              </a:extLst>
            </p:cNvPr>
            <p:cNvGrpSpPr/>
            <p:nvPr/>
          </p:nvGrpSpPr>
          <p:grpSpPr>
            <a:xfrm>
              <a:off x="693420" y="5063993"/>
              <a:ext cx="3108960" cy="1188720"/>
              <a:chOff x="693420" y="5063993"/>
              <a:chExt cx="3108960" cy="1188720"/>
            </a:xfrm>
          </p:grpSpPr>
          <p:sp>
            <p:nvSpPr>
              <p:cNvPr id="67" name="Rounded Rectangle 93">
                <a:extLst>
                  <a:ext uri="{FF2B5EF4-FFF2-40B4-BE49-F238E27FC236}">
                    <a16:creationId xmlns:a16="http://schemas.microsoft.com/office/drawing/2014/main" id="{77C49ED1-7386-41AD-AFCD-E5D80C21B67A}"/>
                  </a:ext>
                </a:extLst>
              </p:cNvPr>
              <p:cNvSpPr/>
              <p:nvPr/>
            </p:nvSpPr>
            <p:spPr>
              <a:xfrm>
                <a:off x="693420" y="5063993"/>
                <a:ext cx="3108960" cy="1188720"/>
              </a:xfrm>
              <a:prstGeom prst="roundRect">
                <a:avLst>
                  <a:gd name="adj" fmla="val 5873"/>
                </a:avLst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Text Placeholder 1 5 2 2 1 2 2">
                <a:extLst>
                  <a:ext uri="{FF2B5EF4-FFF2-40B4-BE49-F238E27FC236}">
                    <a16:creationId xmlns:a16="http://schemas.microsoft.com/office/drawing/2014/main" id="{E6583737-86FC-4E8D-AE3B-BE0BB1AB63D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30169" y="5114914"/>
                <a:ext cx="2435462" cy="36933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Char char="-"/>
                  <a:defRPr sz="18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srgbClr val="FF0000"/>
                    </a:solidFill>
                    <a:latin typeface="+mn-lt"/>
                    <a:cs typeface="Arial" panose="020B0604020202020204" pitchFamily="34" charset="0"/>
                  </a:rPr>
                  <a:t>Acyclic permutations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96A46A0-01E5-452C-B101-1C82C58AE955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915541" y="5583619"/>
              <a:ext cx="2664718" cy="594732"/>
              <a:chOff x="824686" y="5583619"/>
              <a:chExt cx="2664718" cy="594732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8E1E44F-ADE0-4E1F-8555-B511D156004C}"/>
                  </a:ext>
                </a:extLst>
              </p:cNvPr>
              <p:cNvGrpSpPr/>
              <p:nvPr>
                <p:custDataLst>
                  <p:tags r:id="rId3"/>
                </p:custDataLst>
              </p:nvPr>
            </p:nvGrpSpPr>
            <p:grpSpPr>
              <a:xfrm>
                <a:off x="824686" y="5583619"/>
                <a:ext cx="666285" cy="594732"/>
                <a:chOff x="824686" y="5583619"/>
                <a:chExt cx="666285" cy="594732"/>
              </a:xfrm>
            </p:grpSpPr>
            <p:pic>
              <p:nvPicPr>
                <p:cNvPr id="79" name="Picture 78">
                  <a:extLst>
                    <a:ext uri="{FF2B5EF4-FFF2-40B4-BE49-F238E27FC236}">
                      <a16:creationId xmlns:a16="http://schemas.microsoft.com/office/drawing/2014/main" id="{9933FDEC-C63B-4A80-87EE-B99AF8251980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0"/>
                  </p:custDataLst>
                </p:nvPr>
              </p:nvPicPr>
              <p:blipFill>
                <a:blip r:embed="rId4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0685" y="5583619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8" name="Picture 7" descr="\documentclass{article}&#10;\usepackage{amsmath,bm}&#10;\pagestyle{empty}&#10;\begin{document}&#10;&#10;\begin{equation*}&#10;\sigma\Psi_{ml;\sigma\omega}^{(1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145EBB3C-1153-401F-BAAE-D04184447354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1"/>
                  </p:custDataLst>
                </p:nvPr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24686" y="5897209"/>
                  <a:ext cx="666285" cy="281142"/>
                </a:xfrm>
                <a:prstGeom prst="rect">
                  <a:avLst/>
                </a:prstGeom>
              </p:spPr>
            </p:pic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BE97C105-4CB6-4602-8C85-BB6E74CC2C78}"/>
                  </a:ext>
                </a:extLst>
              </p:cNvPr>
              <p:cNvGrpSpPr/>
              <p:nvPr>
                <p:custDataLst>
                  <p:tags r:id="rId4"/>
                </p:custDataLst>
              </p:nvPr>
            </p:nvGrpSpPr>
            <p:grpSpPr>
              <a:xfrm>
                <a:off x="1823900" y="5583619"/>
                <a:ext cx="666286" cy="594732"/>
                <a:chOff x="1823900" y="5583619"/>
                <a:chExt cx="666286" cy="594732"/>
              </a:xfrm>
            </p:grpSpPr>
            <p:pic>
              <p:nvPicPr>
                <p:cNvPr id="77" name="Picture 76">
                  <a:extLst>
                    <a:ext uri="{FF2B5EF4-FFF2-40B4-BE49-F238E27FC236}">
                      <a16:creationId xmlns:a16="http://schemas.microsoft.com/office/drawing/2014/main" id="{C13DAAD2-A3AA-40F6-AEB0-093122FBE9BE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8"/>
                  </p:custDataLst>
                </p:nvPr>
              </p:nvPicPr>
              <p:blipFill>
                <a:blip r:embed="rId4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59900" y="5583619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17" name="Picture 16" descr="\documentclass{article}&#10;\usepackage{amsmath,bm}&#10;\pagestyle{empty}&#10;\begin{document}&#10;&#10;\begin{equation*}&#10;\sigma\Psi_{ml;\sigma\omega}^{(3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3D6A79AC-1F97-446D-83BB-6A2C358F611C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9"/>
                  </p:custDataLst>
                </p:nvPr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823900" y="5897209"/>
                  <a:ext cx="666286" cy="281142"/>
                </a:xfrm>
                <a:prstGeom prst="rect">
                  <a:avLst/>
                </a:prstGeom>
              </p:spPr>
            </p:pic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43017A37-60C2-4668-9A15-383B39DB3109}"/>
                  </a:ext>
                </a:extLst>
              </p:cNvPr>
              <p:cNvGrpSpPr/>
              <p:nvPr>
                <p:custDataLst>
                  <p:tags r:id="rId5"/>
                </p:custDataLst>
              </p:nvPr>
            </p:nvGrpSpPr>
            <p:grpSpPr>
              <a:xfrm>
                <a:off x="2823118" y="5583619"/>
                <a:ext cx="666286" cy="594732"/>
                <a:chOff x="2823118" y="5583619"/>
                <a:chExt cx="666286" cy="594732"/>
              </a:xfrm>
            </p:grpSpPr>
            <p:pic>
              <p:nvPicPr>
                <p:cNvPr id="75" name="Picture 74">
                  <a:extLst>
                    <a:ext uri="{FF2B5EF4-FFF2-40B4-BE49-F238E27FC236}">
                      <a16:creationId xmlns:a16="http://schemas.microsoft.com/office/drawing/2014/main" id="{80129E08-E849-4582-ACC8-9C25134850E1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6"/>
                  </p:custDataLst>
                </p:nvPr>
              </p:nvPicPr>
              <p:blipFill>
                <a:blip r:embed="rId5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59118" y="5583619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28" name="Picture 27" descr="\documentclass{article}&#10;\usepackage{amsmath,bm}&#10;\pagestyle{empty}&#10;\begin{document}&#10;&#10;\begin{equation*}&#10;\sigma\Psi_{ml;\sigma\omega}^{(2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9B9DE8C8-515A-4B58-8324-78730E319170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7"/>
                  </p:custDataLst>
                </p:nvPr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823118" y="5897209"/>
                  <a:ext cx="666286" cy="281142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3456736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Td operations, including Bloch functions, m odd</a:t>
            </a:r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1131B04F-3EEF-475B-BCA9-E768E31E9FB5}"/>
              </a:ext>
            </a:extLst>
          </p:cNvPr>
          <p:cNvGrpSpPr/>
          <p:nvPr/>
        </p:nvGrpSpPr>
        <p:grpSpPr>
          <a:xfrm>
            <a:off x="2037789" y="3592565"/>
            <a:ext cx="8116423" cy="2653163"/>
            <a:chOff x="2037789" y="3592565"/>
            <a:chExt cx="8116423" cy="2653163"/>
          </a:xfrm>
        </p:grpSpPr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CE926D99-E996-41E8-B02D-B9E46EE92A19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2037789" y="5057008"/>
              <a:ext cx="8116423" cy="1188720"/>
              <a:chOff x="2037789" y="5057008"/>
              <a:chExt cx="8116423" cy="118872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637638A6-1F72-4F65-8B9C-CE4E9951465B}"/>
                  </a:ext>
                </a:extLst>
              </p:cNvPr>
              <p:cNvGrpSpPr/>
              <p:nvPr>
                <p:custDataLst>
                  <p:tags r:id="rId18"/>
                </p:custDataLst>
              </p:nvPr>
            </p:nvGrpSpPr>
            <p:grpSpPr>
              <a:xfrm>
                <a:off x="8142532" y="5194168"/>
                <a:ext cx="2011680" cy="914400"/>
                <a:chOff x="8142532" y="5194168"/>
                <a:chExt cx="2011680" cy="914400"/>
              </a:xfrm>
            </p:grpSpPr>
            <p:sp>
              <p:nvSpPr>
                <p:cNvPr id="69" name="Rounded Rectangle 68"/>
                <p:cNvSpPr/>
                <p:nvPr/>
              </p:nvSpPr>
              <p:spPr>
                <a:xfrm>
                  <a:off x="8142532" y="5194168"/>
                  <a:ext cx="2011680" cy="914400"/>
                </a:xfrm>
                <a:prstGeom prst="roundRect">
                  <a:avLst>
                    <a:gd name="adj" fmla="val 5873"/>
                  </a:avLst>
                </a:prstGeom>
                <a:solidFill>
                  <a:schemeClr val="bg1"/>
                </a:solidFill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95" name="Group 194">
                  <a:extLst>
                    <a:ext uri="{FF2B5EF4-FFF2-40B4-BE49-F238E27FC236}">
                      <a16:creationId xmlns:a16="http://schemas.microsoft.com/office/drawing/2014/main" id="{F01083A8-A13D-451B-B3B0-A44439931E48}"/>
                    </a:ext>
                  </a:extLst>
                </p:cNvPr>
                <p:cNvGrpSpPr/>
                <p:nvPr>
                  <p:custDataLst>
                    <p:tags r:id="rId26"/>
                  </p:custDataLst>
                </p:nvPr>
              </p:nvGrpSpPr>
              <p:grpSpPr>
                <a:xfrm>
                  <a:off x="8325412" y="5292026"/>
                  <a:ext cx="1645920" cy="625331"/>
                  <a:chOff x="8325412" y="5292026"/>
                  <a:chExt cx="1645920" cy="625331"/>
                </a:xfrm>
              </p:grpSpPr>
              <p:sp>
                <p:nvSpPr>
                  <p:cNvPr id="70" name="Text Placeholder 1 5 2 2 2 2 2 2"/>
                  <p:cNvSpPr txBox="1">
                    <a:spLocks/>
                  </p:cNvSpPr>
                  <p:nvPr/>
                </p:nvSpPr>
                <p:spPr>
                  <a:xfrm>
                    <a:off x="8325412" y="5292026"/>
                    <a:ext cx="1645920" cy="369332"/>
                  </a:xfrm>
                  <a:prstGeom prst="rect">
                    <a:avLst/>
                  </a:prstGeom>
                </p:spPr>
                <p:txBody>
                  <a:bodyPr vert="horz" wrap="square" lIns="91440" tIns="45720" rIns="91440" bIns="45720" rtlCol="0">
                    <a:spAutoFit/>
                  </a:bodyPr>
                  <a:lstStyle>
                    <a:lvl1pPr marL="228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Clr>
                        <a:srgbClr val="005BBB"/>
                      </a:buClr>
                      <a:buFont typeface="Arial" panose="020B0604020202020204" pitchFamily="34" charset="0"/>
                      <a:buChar char="•"/>
                      <a:defRPr sz="2000" kern="1200" baseline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Gill Sans MT" panose="020B0502020104020203" pitchFamily="34" charset="0"/>
                        <a:cs typeface="Arial" charset="0"/>
                      </a:defRPr>
                    </a:lvl1pPr>
                    <a:lvl2pPr marL="685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rgbClr val="005BBB"/>
                      </a:buClr>
                      <a:buFont typeface="Arial" panose="020B0604020202020204" pitchFamily="34" charset="0"/>
                      <a:buChar char="•"/>
                      <a:defRPr sz="2000" kern="1200" baseline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Gill Sans MT" panose="020B0502020104020203" pitchFamily="34" charset="0"/>
                        <a:cs typeface="Arial" charset="0"/>
                      </a:defRPr>
                    </a:lvl2pPr>
                    <a:lvl3pPr marL="1143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rgbClr val="005BBB"/>
                      </a:buClr>
                      <a:buFont typeface="LucidaGrande" charset="0"/>
                      <a:buChar char="-"/>
                      <a:defRPr sz="1800" kern="1200" baseline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Gill Sans MT" panose="020B0502020104020203" pitchFamily="34" charset="0"/>
                        <a:cs typeface="Arial" charset="0"/>
                      </a:defRPr>
                    </a:lvl3pPr>
                    <a:lvl4pPr marL="1600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rgbClr val="005BBB"/>
                      </a:buClr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defRPr>
                    </a:lvl4pPr>
                    <a:lvl5pPr marL="20574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rgbClr val="005BBB"/>
                      </a:buClr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indent="0" algn="ctr">
                      <a:spcBef>
                        <a:spcPts val="0"/>
                      </a:spcBef>
                      <a:buNone/>
                    </a:pPr>
                    <a:r>
                      <a:rPr lang="en-US" dirty="0">
                        <a:solidFill>
                          <a:schemeClr val="accent3">
                            <a:lumMod val="75000"/>
                          </a:schemeClr>
                        </a:solidFill>
                        <a:cs typeface="Arial" panose="020B0604020202020204" pitchFamily="34" charset="0"/>
                      </a:rPr>
                      <a:t>Time-reversal</a:t>
                    </a:r>
                  </a:p>
                </p:txBody>
              </p:sp>
              <p:pic>
                <p:nvPicPr>
                  <p:cNvPr id="194" name="Picture 193" descr="\documentclass{article}&#10;\usepackage{amsmath,bm}&#10;\pagestyle{empty}&#10;\begin{document}&#10;&#10;\begin{equation*}&#10;\mp\left(-1\right)^{l}\Psi_{mhl}^{(\pm 1)}&#10;\end{equation*}&#10;&#10;\end{document}" title="IguanaTex Bitmap Display">
                    <a:extLst>
                      <a:ext uri="{FF2B5EF4-FFF2-40B4-BE49-F238E27FC236}">
                        <a16:creationId xmlns:a16="http://schemas.microsoft.com/office/drawing/2014/main" id="{C21ACBA7-0EC6-4E08-8B71-56F936B5984A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27"/>
                    </p:custDataLst>
                  </p:nvPr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8601515" y="5661358"/>
                    <a:ext cx="1093714" cy="255999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204" name="Group 203">
                <a:extLst>
                  <a:ext uri="{FF2B5EF4-FFF2-40B4-BE49-F238E27FC236}">
                    <a16:creationId xmlns:a16="http://schemas.microsoft.com/office/drawing/2014/main" id="{9477C252-9381-4641-BC61-7A4035397D34}"/>
                  </a:ext>
                </a:extLst>
              </p:cNvPr>
              <p:cNvGrpSpPr/>
              <p:nvPr>
                <p:custDataLst>
                  <p:tags r:id="rId19"/>
                </p:custDataLst>
              </p:nvPr>
            </p:nvGrpSpPr>
            <p:grpSpPr>
              <a:xfrm>
                <a:off x="2037789" y="5057008"/>
                <a:ext cx="5029200" cy="1188720"/>
                <a:chOff x="2037789" y="5057008"/>
                <a:chExt cx="5029200" cy="1188720"/>
              </a:xfrm>
            </p:grpSpPr>
            <p:sp>
              <p:nvSpPr>
                <p:cNvPr id="94" name="Rounded Rectangle 93"/>
                <p:cNvSpPr/>
                <p:nvPr/>
              </p:nvSpPr>
              <p:spPr>
                <a:xfrm>
                  <a:off x="2037789" y="5057008"/>
                  <a:ext cx="5029200" cy="1188720"/>
                </a:xfrm>
                <a:prstGeom prst="roundRect">
                  <a:avLst>
                    <a:gd name="adj" fmla="val 5873"/>
                  </a:avLst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Text Placeholder 1 5 2 2 1 2 2 2"/>
                <p:cNvSpPr txBox="1">
                  <a:spLocks/>
                </p:cNvSpPr>
                <p:nvPr/>
              </p:nvSpPr>
              <p:spPr>
                <a:xfrm>
                  <a:off x="3334658" y="5107929"/>
                  <a:ext cx="2435462" cy="369332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2000" kern="1200" baseline="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Gill Sans MT" panose="020B0502020104020203" pitchFamily="34" charset="0"/>
                      <a:cs typeface="Arial" charset="0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2000" kern="1200" baseline="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Gill Sans MT" panose="020B0502020104020203" pitchFamily="34" charset="0"/>
                      <a:cs typeface="Arial" charset="0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LucidaGrande" charset="0"/>
                    <a:buChar char="-"/>
                    <a:defRPr sz="1800" kern="1200" baseline="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Gill Sans MT" panose="020B0502020104020203" pitchFamily="34" charset="0"/>
                      <a:cs typeface="Arial" charset="0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charset="0"/>
                      <a:ea typeface="Arial" charset="0"/>
                      <a:cs typeface="Arial" charset="0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charset="0"/>
                      <a:ea typeface="Arial" charset="0"/>
                      <a:cs typeface="Arial" charset="0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spcBef>
                      <a:spcPts val="0"/>
                    </a:spcBef>
                    <a:buNone/>
                  </a:pPr>
                  <a:r>
                    <a:rPr lang="en-US" dirty="0">
                      <a:solidFill>
                        <a:srgbClr val="FF0000"/>
                      </a:solidFill>
                      <a:latin typeface="+mn-lt"/>
                      <a:cs typeface="Arial" panose="020B0604020202020204" pitchFamily="34" charset="0"/>
                    </a:rPr>
                    <a:t>Acyclic permutations</a:t>
                  </a:r>
                </a:p>
              </p:txBody>
            </p:sp>
            <p:grpSp>
              <p:nvGrpSpPr>
                <p:cNvPr id="203" name="Group 202">
                  <a:extLst>
                    <a:ext uri="{FF2B5EF4-FFF2-40B4-BE49-F238E27FC236}">
                      <a16:creationId xmlns:a16="http://schemas.microsoft.com/office/drawing/2014/main" id="{E65F1DDC-4025-418F-A41D-EE58B6A92F1E}"/>
                    </a:ext>
                  </a:extLst>
                </p:cNvPr>
                <p:cNvGrpSpPr/>
                <p:nvPr>
                  <p:custDataLst>
                    <p:tags r:id="rId20"/>
                  </p:custDataLst>
                </p:nvPr>
              </p:nvGrpSpPr>
              <p:grpSpPr>
                <a:xfrm>
                  <a:off x="2169593" y="5576634"/>
                  <a:ext cx="4216456" cy="572551"/>
                  <a:chOff x="2169593" y="5576634"/>
                  <a:chExt cx="4216456" cy="572551"/>
                </a:xfrm>
              </p:grpSpPr>
              <p:grpSp>
                <p:nvGrpSpPr>
                  <p:cNvPr id="202" name="Group 201">
                    <a:extLst>
                      <a:ext uri="{FF2B5EF4-FFF2-40B4-BE49-F238E27FC236}">
                        <a16:creationId xmlns:a16="http://schemas.microsoft.com/office/drawing/2014/main" id="{BE9AD2B9-CA45-46D9-8766-ACE52F468991}"/>
                      </a:ext>
                    </a:extLst>
                  </p:cNvPr>
                  <p:cNvGrpSpPr/>
                  <p:nvPr>
                    <p:custDataLst>
                      <p:tags r:id="rId21"/>
                    </p:custDataLst>
                  </p:nvPr>
                </p:nvGrpSpPr>
                <p:grpSpPr>
                  <a:xfrm>
                    <a:off x="2169593" y="5577171"/>
                    <a:ext cx="3283427" cy="572014"/>
                    <a:chOff x="2169593" y="5577171"/>
                    <a:chExt cx="3283427" cy="572014"/>
                  </a:xfrm>
                </p:grpSpPr>
                <p:pic>
                  <p:nvPicPr>
                    <p:cNvPr id="46" name="Picture 45"/>
                    <p:cNvPicPr>
                      <a:picLocks noChangeAspect="1"/>
                    </p:cNvPicPr>
                    <p:nvPr>
                      <p:custDataLst>
                        <p:tags r:id="rId24"/>
                      </p:custDataLst>
                    </p:nvPr>
                  </p:nvPicPr>
                  <p:blipFill>
                    <a:blip r:embed="rId31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718729" y="5577171"/>
                      <a:ext cx="394286" cy="188571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01" name="Picture 200" descr="\documentclass{article}&#10;\usepackage{amsmath,bm}&#10;\pagestyle{empty}&#10;\begin{document}&#10;&#10;\begin{equation*}&#10;\pm h\mathrm{i}^{m}\Psi_{mhl}^{(\mp 1)}&#10;\quad&#10;\pm h\mathrm{i}^{m}\Psi_{mhl}^{(\mp 3)}&#10;\quad&#10;\pm h\mathrm{i}^{m}\Psi_{mhl}^{(\mp 2)}&#10;\end{equation*}&#10;&#10;\end{document}" title="IguanaTex Bitmap Display">
                      <a:extLst>
                        <a:ext uri="{FF2B5EF4-FFF2-40B4-BE49-F238E27FC236}">
                          <a16:creationId xmlns:a16="http://schemas.microsoft.com/office/drawing/2014/main" id="{76AF1D21-3325-4B5C-B67A-5D4B44778FBC}"/>
                        </a:ext>
                      </a:extLst>
                    </p:cNvPr>
                    <p:cNvPicPr>
                      <a:picLocks noChangeAspect="1"/>
                    </p:cNvPicPr>
                    <p:nvPr>
                      <p:custDataLst>
                        <p:tags r:id="rId25"/>
                      </p:custDataLst>
                    </p:nvPr>
                  </p:nvPicPr>
                  <p:blipFill>
                    <a:blip r:embed="rId32"/>
                    <a:stretch>
                      <a:fillRect/>
                    </a:stretch>
                  </p:blipFill>
                  <p:spPr>
                    <a:xfrm>
                      <a:off x="2169593" y="5893186"/>
                      <a:ext cx="3283427" cy="255999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52" name="Picture 51"/>
                  <p:cNvPicPr>
                    <a:picLocks noChangeAspect="1"/>
                  </p:cNvPicPr>
                  <p:nvPr>
                    <p:custDataLst>
                      <p:tags r:id="rId22"/>
                    </p:custDataLst>
                  </p:nvPr>
                </p:nvPicPr>
                <p:blipFill>
                  <a:blip r:embed="rId3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55246" y="5577312"/>
                    <a:ext cx="394286" cy="188571"/>
                  </a:xfrm>
                  <a:prstGeom prst="rect">
                    <a:avLst/>
                  </a:prstGeom>
                </p:spPr>
              </p:pic>
              <p:pic>
                <p:nvPicPr>
                  <p:cNvPr id="58" name="Picture 57"/>
                  <p:cNvPicPr>
                    <a:picLocks noChangeAspect="1"/>
                  </p:cNvPicPr>
                  <p:nvPr>
                    <p:custDataLst>
                      <p:tags r:id="rId23"/>
                    </p:custDataLst>
                  </p:nvPr>
                </p:nvPicPr>
                <p:blipFill>
                  <a:blip r:embed="rId3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991763" y="5576634"/>
                    <a:ext cx="394286" cy="188571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E93B07C6-CC38-4A60-B621-79B2B3E4D62A}"/>
                </a:ext>
              </a:extLst>
            </p:cNvPr>
            <p:cNvGrpSpPr/>
            <p:nvPr>
              <p:custDataLst>
                <p:tags r:id="rId3"/>
              </p:custDataLst>
            </p:nvPr>
          </p:nvGrpSpPr>
          <p:grpSpPr>
            <a:xfrm>
              <a:off x="2037789" y="3592565"/>
              <a:ext cx="8116423" cy="1188720"/>
              <a:chOff x="2037789" y="3592565"/>
              <a:chExt cx="8116423" cy="1188720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B80DDA4B-7064-4760-93AD-4DC94B16BC47}"/>
                  </a:ext>
                </a:extLst>
              </p:cNvPr>
              <p:cNvGrpSpPr/>
              <p:nvPr>
                <p:custDataLst>
                  <p:tags r:id="rId4"/>
                </p:custDataLst>
              </p:nvPr>
            </p:nvGrpSpPr>
            <p:grpSpPr>
              <a:xfrm>
                <a:off x="2037789" y="3592565"/>
                <a:ext cx="3657600" cy="1188720"/>
                <a:chOff x="2037789" y="3592565"/>
                <a:chExt cx="3657600" cy="1188720"/>
              </a:xfrm>
            </p:grpSpPr>
            <p:sp>
              <p:nvSpPr>
                <p:cNvPr id="66" name="Rounded Rectangle 65"/>
                <p:cNvSpPr/>
                <p:nvPr/>
              </p:nvSpPr>
              <p:spPr>
                <a:xfrm>
                  <a:off x="2037789" y="3592565"/>
                  <a:ext cx="3657600" cy="1188720"/>
                </a:xfrm>
                <a:prstGeom prst="roundRect">
                  <a:avLst>
                    <a:gd name="adj" fmla="val 5873"/>
                  </a:avLst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Text Placeholder 1 5 2 2 1 2 1"/>
                <p:cNvSpPr txBox="1">
                  <a:spLocks/>
                </p:cNvSpPr>
                <p:nvPr/>
              </p:nvSpPr>
              <p:spPr>
                <a:xfrm>
                  <a:off x="2723589" y="3643486"/>
                  <a:ext cx="2286000" cy="369332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2000" kern="1200" baseline="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Gill Sans MT" panose="020B0502020104020203" pitchFamily="34" charset="0"/>
                      <a:cs typeface="Arial" charset="0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2000" kern="1200" baseline="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Gill Sans MT" panose="020B0502020104020203" pitchFamily="34" charset="0"/>
                      <a:cs typeface="Arial" charset="0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LucidaGrande" charset="0"/>
                    <a:buChar char="-"/>
                    <a:defRPr sz="1800" kern="1200" baseline="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Gill Sans MT" panose="020B0502020104020203" pitchFamily="34" charset="0"/>
                      <a:cs typeface="Arial" charset="0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charset="0"/>
                      <a:ea typeface="Arial" charset="0"/>
                      <a:cs typeface="Arial" charset="0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charset="0"/>
                      <a:ea typeface="Arial" charset="0"/>
                      <a:cs typeface="Arial" charset="0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spcBef>
                      <a:spcPts val="0"/>
                    </a:spcBef>
                    <a:buNone/>
                  </a:pPr>
                  <a:r>
                    <a:rPr lang="en-US" dirty="0">
                      <a:solidFill>
                        <a:srgbClr val="00B050"/>
                      </a:solidFill>
                      <a:latin typeface="+mn-lt"/>
                      <a:cs typeface="Arial" panose="020B0604020202020204" pitchFamily="34" charset="0"/>
                    </a:rPr>
                    <a:t>Cyclic permutations</a:t>
                  </a:r>
                </a:p>
              </p:txBody>
            </p:sp>
            <p:grpSp>
              <p:nvGrpSpPr>
                <p:cNvPr id="145" name="Group 144">
                  <a:extLst>
                    <a:ext uri="{FF2B5EF4-FFF2-40B4-BE49-F238E27FC236}">
                      <a16:creationId xmlns:a16="http://schemas.microsoft.com/office/drawing/2014/main" id="{D5808BCB-E300-4CEC-A2E0-20731D3635AF}"/>
                    </a:ext>
                  </a:extLst>
                </p:cNvPr>
                <p:cNvGrpSpPr/>
                <p:nvPr>
                  <p:custDataLst>
                    <p:tags r:id="rId12"/>
                  </p:custDataLst>
                </p:nvPr>
              </p:nvGrpSpPr>
              <p:grpSpPr>
                <a:xfrm>
                  <a:off x="2177566" y="4112192"/>
                  <a:ext cx="2936334" cy="570125"/>
                  <a:chOff x="2177566" y="4112192"/>
                  <a:chExt cx="2936334" cy="570125"/>
                </a:xfrm>
              </p:grpSpPr>
              <p:grpSp>
                <p:nvGrpSpPr>
                  <p:cNvPr id="144" name="Group 143">
                    <a:extLst>
                      <a:ext uri="{FF2B5EF4-FFF2-40B4-BE49-F238E27FC236}">
                        <a16:creationId xmlns:a16="http://schemas.microsoft.com/office/drawing/2014/main" id="{407DC23E-4150-4669-A7D8-0BF41DF2BBD0}"/>
                      </a:ext>
                    </a:extLst>
                  </p:cNvPr>
                  <p:cNvGrpSpPr/>
                  <p:nvPr>
                    <p:custDataLst>
                      <p:tags r:id="rId13"/>
                    </p:custDataLst>
                  </p:nvPr>
                </p:nvGrpSpPr>
                <p:grpSpPr>
                  <a:xfrm>
                    <a:off x="2177566" y="4112729"/>
                    <a:ext cx="2133711" cy="569588"/>
                    <a:chOff x="2177566" y="4112729"/>
                    <a:chExt cx="2133711" cy="569588"/>
                  </a:xfrm>
                </p:grpSpPr>
                <p:pic>
                  <p:nvPicPr>
                    <p:cNvPr id="9" name="Picture 8"/>
                    <p:cNvPicPr>
                      <a:picLocks noChangeAspect="1"/>
                    </p:cNvPicPr>
                    <p:nvPr>
                      <p:custDataLst>
                        <p:tags r:id="rId16"/>
                      </p:custDataLst>
                    </p:nvPr>
                  </p:nvPicPr>
                  <p:blipFill>
                    <a:blip r:embed="rId35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380421" y="4112729"/>
                      <a:ext cx="394286" cy="19085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3" name="Picture 142" descr="\documentclass{article}&#10;\usepackage{amsmath,bm}&#10;\pagestyle{empty}&#10;\begin{document}&#10;&#10;\begin{equation*}&#10;\Psi_{mhl}^{(\pm 1)}&#10;\quad\quad&#10;\Psi_{mhl}^{(\pm 3)}&#10;\quad\quad&#10;\Psi_{mhl}^{(\pm 2)}&#10;\end{equation*}&#10;&#10;\end{document}" title="IguanaTex Bitmap Display">
                      <a:extLst>
                        <a:ext uri="{FF2B5EF4-FFF2-40B4-BE49-F238E27FC236}">
                          <a16:creationId xmlns:a16="http://schemas.microsoft.com/office/drawing/2014/main" id="{F057910E-0508-469C-B335-E77900EF0537}"/>
                        </a:ext>
                      </a:extLst>
                    </p:cNvPr>
                    <p:cNvPicPr>
                      <a:picLocks noChangeAspect="1"/>
                    </p:cNvPicPr>
                    <p:nvPr>
                      <p:custDataLst>
                        <p:tags r:id="rId17"/>
                      </p:custDataLst>
                    </p:nvPr>
                  </p:nvPicPr>
                  <p:blipFill>
                    <a:blip r:embed="rId36"/>
                    <a:stretch>
                      <a:fillRect/>
                    </a:stretch>
                  </p:blipFill>
                  <p:spPr>
                    <a:xfrm>
                      <a:off x="2177566" y="4426317"/>
                      <a:ext cx="2133711" cy="256000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1" name="Picture 10"/>
                  <p:cNvPicPr>
                    <a:picLocks noChangeAspect="1"/>
                  </p:cNvPicPr>
                  <p:nvPr>
                    <p:custDataLst>
                      <p:tags r:id="rId14"/>
                    </p:custDataLst>
                  </p:nvPr>
                </p:nvPicPr>
                <p:blipFill>
                  <a:blip r:embed="rId3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50017" y="4112870"/>
                    <a:ext cx="394286" cy="190857"/>
                  </a:xfrm>
                  <a:prstGeom prst="rect">
                    <a:avLst/>
                  </a:prstGeom>
                </p:spPr>
              </p:pic>
              <p:pic>
                <p:nvPicPr>
                  <p:cNvPr id="12" name="Picture 11"/>
                  <p:cNvPicPr>
                    <a:picLocks noChangeAspect="1"/>
                  </p:cNvPicPr>
                  <p:nvPr>
                    <p:custDataLst>
                      <p:tags r:id="rId15"/>
                    </p:custDataLst>
                  </p:nvPr>
                </p:nvPicPr>
                <p:blipFill>
                  <a:blip r:embed="rId3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719614" y="4112192"/>
                    <a:ext cx="394286" cy="190857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263F3A9E-66A6-4D55-9C20-052A6E14F4BA}"/>
                  </a:ext>
                </a:extLst>
              </p:cNvPr>
              <p:cNvGrpSpPr/>
              <p:nvPr>
                <p:custDataLst>
                  <p:tags r:id="rId5"/>
                </p:custDataLst>
              </p:nvPr>
            </p:nvGrpSpPr>
            <p:grpSpPr>
              <a:xfrm>
                <a:off x="5856532" y="3592565"/>
                <a:ext cx="4297680" cy="1188720"/>
                <a:chOff x="5856532" y="3592565"/>
                <a:chExt cx="4297680" cy="1188720"/>
              </a:xfrm>
            </p:grpSpPr>
            <p:sp>
              <p:nvSpPr>
                <p:cNvPr id="75" name="Rounded Rectangle 74"/>
                <p:cNvSpPr/>
                <p:nvPr/>
              </p:nvSpPr>
              <p:spPr>
                <a:xfrm>
                  <a:off x="5856532" y="3592565"/>
                  <a:ext cx="4297680" cy="1188720"/>
                </a:xfrm>
                <a:prstGeom prst="roundRect">
                  <a:avLst>
                    <a:gd name="adj" fmla="val 5873"/>
                  </a:avLst>
                </a:prstGeom>
                <a:solidFill>
                  <a:schemeClr val="bg1"/>
                </a:solidFill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Text Placeholder 1 5 2 2 2 2 2 1"/>
                <p:cNvSpPr txBox="1">
                  <a:spLocks/>
                </p:cNvSpPr>
                <p:nvPr/>
              </p:nvSpPr>
              <p:spPr>
                <a:xfrm>
                  <a:off x="6816652" y="3686194"/>
                  <a:ext cx="2377440" cy="369332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2000" kern="1200" baseline="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Gill Sans MT" panose="020B0502020104020203" pitchFamily="34" charset="0"/>
                      <a:cs typeface="Arial" charset="0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2000" kern="1200" baseline="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Gill Sans MT" panose="020B0502020104020203" pitchFamily="34" charset="0"/>
                      <a:cs typeface="Arial" charset="0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LucidaGrande" charset="0"/>
                    <a:buChar char="-"/>
                    <a:defRPr sz="1800" kern="1200" baseline="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Gill Sans MT" panose="020B0502020104020203" pitchFamily="34" charset="0"/>
                      <a:cs typeface="Arial" charset="0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charset="0"/>
                      <a:ea typeface="Arial" charset="0"/>
                      <a:cs typeface="Arial" charset="0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charset="0"/>
                      <a:ea typeface="Arial" charset="0"/>
                      <a:cs typeface="Arial" charset="0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spcBef>
                      <a:spcPts val="0"/>
                    </a:spcBef>
                    <a:buNone/>
                  </a:pPr>
                  <a:r>
                    <a:rPr lang="en-US" dirty="0">
                      <a:solidFill>
                        <a:srgbClr val="00B0F0"/>
                      </a:solidFill>
                      <a:latin typeface="+mn-lt"/>
                      <a:cs typeface="Arial" panose="020B0604020202020204" pitchFamily="34" charset="0"/>
                    </a:rPr>
                    <a:t>Double inversion</a:t>
                  </a:r>
                </a:p>
              </p:txBody>
            </p:sp>
            <p:grpSp>
              <p:nvGrpSpPr>
                <p:cNvPr id="184" name="Group 183">
                  <a:extLst>
                    <a:ext uri="{FF2B5EF4-FFF2-40B4-BE49-F238E27FC236}">
                      <a16:creationId xmlns:a16="http://schemas.microsoft.com/office/drawing/2014/main" id="{1DAA168A-896F-4A57-A05C-92B4CC4AEB2A}"/>
                    </a:ext>
                  </a:extLst>
                </p:cNvPr>
                <p:cNvGrpSpPr/>
                <p:nvPr>
                  <p:custDataLst>
                    <p:tags r:id="rId6"/>
                  </p:custDataLst>
                </p:nvPr>
              </p:nvGrpSpPr>
              <p:grpSpPr>
                <a:xfrm>
                  <a:off x="6007114" y="4149255"/>
                  <a:ext cx="3600521" cy="522661"/>
                  <a:chOff x="6007114" y="4149255"/>
                  <a:chExt cx="3600521" cy="522661"/>
                </a:xfrm>
              </p:grpSpPr>
              <p:grpSp>
                <p:nvGrpSpPr>
                  <p:cNvPr id="183" name="Group 182">
                    <a:extLst>
                      <a:ext uri="{FF2B5EF4-FFF2-40B4-BE49-F238E27FC236}">
                        <a16:creationId xmlns:a16="http://schemas.microsoft.com/office/drawing/2014/main" id="{BB3A6A74-B8C8-4236-B5CF-FE095BA230B7}"/>
                      </a:ext>
                    </a:extLst>
                  </p:cNvPr>
                  <p:cNvGrpSpPr/>
                  <p:nvPr>
                    <p:custDataLst>
                      <p:tags r:id="rId7"/>
                    </p:custDataLst>
                  </p:nvPr>
                </p:nvGrpSpPr>
                <p:grpSpPr>
                  <a:xfrm>
                    <a:off x="6007114" y="4149255"/>
                    <a:ext cx="2361141" cy="522661"/>
                    <a:chOff x="6007114" y="4149255"/>
                    <a:chExt cx="2361141" cy="522661"/>
                  </a:xfrm>
                </p:grpSpPr>
                <p:pic>
                  <p:nvPicPr>
                    <p:cNvPr id="86" name="Picture 85"/>
                    <p:cNvPicPr>
                      <a:picLocks noChangeAspect="1"/>
                    </p:cNvPicPr>
                    <p:nvPr>
                      <p:custDataLst>
                        <p:tags r:id="rId10"/>
                      </p:custDataLst>
                    </p:nvPr>
                  </p:nvPicPr>
                  <p:blipFill>
                    <a:blip r:embed="rId39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400824" y="4149255"/>
                      <a:ext cx="394286" cy="19999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82" name="Picture 181" descr="\documentclass{article}&#10;\usepackage{amsmath,bm}&#10;\pagestyle{empty}&#10;\begin{document}&#10;&#10;\begin{equation*}&#10;-\Psi_{mhl}^{(\pm 1)}&#10;\quad&#10;\pm\Psi_{mhl}^{(\pm 1)}&#10;\quad&#10;\mp\Psi_{mhl}^{(\pm 1)}&#10;\end{equation*}&#10;&#10;\end{document}" title="IguanaTex Bitmap Display">
                      <a:extLst>
                        <a:ext uri="{FF2B5EF4-FFF2-40B4-BE49-F238E27FC236}">
                          <a16:creationId xmlns:a16="http://schemas.microsoft.com/office/drawing/2014/main" id="{3315BDF1-2E3B-4922-88C2-8138D977E890}"/>
                        </a:ext>
                      </a:extLst>
                    </p:cNvPr>
                    <p:cNvPicPr>
                      <a:picLocks noChangeAspect="1"/>
                    </p:cNvPicPr>
                    <p:nvPr>
                      <p:custDataLst>
                        <p:tags r:id="rId11"/>
                      </p:custDataLst>
                    </p:nvPr>
                  </p:nvPicPr>
                  <p:blipFill>
                    <a:blip r:embed="rId40"/>
                    <a:stretch>
                      <a:fillRect/>
                    </a:stretch>
                  </p:blipFill>
                  <p:spPr>
                    <a:xfrm>
                      <a:off x="6007114" y="4415917"/>
                      <a:ext cx="2361141" cy="255999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84" name="Picture 83"/>
                  <p:cNvPicPr>
                    <a:picLocks noChangeAspect="1"/>
                  </p:cNvPicPr>
                  <p:nvPr>
                    <p:custDataLst>
                      <p:tags r:id="rId8"/>
                    </p:custDataLst>
                  </p:nvPr>
                </p:nvPicPr>
                <p:blipFill>
                  <a:blip r:embed="rId4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805944" y="4149255"/>
                    <a:ext cx="394286" cy="199999"/>
                  </a:xfrm>
                  <a:prstGeom prst="rect">
                    <a:avLst/>
                  </a:prstGeom>
                </p:spPr>
              </p:pic>
              <p:pic>
                <p:nvPicPr>
                  <p:cNvPr id="82" name="Picture 81"/>
                  <p:cNvPicPr>
                    <a:picLocks noChangeAspect="1"/>
                  </p:cNvPicPr>
                  <p:nvPr>
                    <p:custDataLst>
                      <p:tags r:id="rId9"/>
                    </p:custDataLst>
                  </p:nvPr>
                </p:nvPicPr>
                <p:blipFill>
                  <a:blip r:embed="rId4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13349" y="4149255"/>
                    <a:ext cx="394286" cy="199999"/>
                  </a:xfrm>
                  <a:prstGeom prst="rect">
                    <a:avLst/>
                  </a:prstGeom>
                </p:spPr>
              </p:pic>
            </p:grpSp>
          </p:grpSp>
        </p:grp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FDC29116-D2B4-43C7-A155-292C98712F5C}"/>
              </a:ext>
            </a:extLst>
          </p:cNvPr>
          <p:cNvGrpSpPr/>
          <p:nvPr/>
        </p:nvGrpSpPr>
        <p:grpSpPr>
          <a:xfrm>
            <a:off x="3066545" y="2402441"/>
            <a:ext cx="6058910" cy="914400"/>
            <a:chOff x="3066545" y="2402441"/>
            <a:chExt cx="6058910" cy="914400"/>
          </a:xfrm>
        </p:grpSpPr>
        <p:pic>
          <p:nvPicPr>
            <p:cNvPr id="190" name="Picture 189" descr="\documentclass{article}&#10;\usepackage{amsmath,bm}&#10;\pagestyle{empty}&#10;\begin{document}&#10;&#10;\begin{equation*}&#10;\Psi_{mhl}^{(\pm q)}&#10;=&#10;\Phi_{m(\mp h)l}^{(q)}&#10;\left(\frac&#10;{\mathrm{e}^{\mathrm{i}\bm{k}_q\cdot \bm{r}}u_{\bm{k}_q}&#10;+ h(-1)^{l}\mathrm{e}^{-\mathrm{i}\bm{k}_q\cdot \bm{r}}u_{-\bm{k}_q}}&#10;{\sqrt{2}}&#10;\right)&#10;\end{equation*}&#10;&#10;\end{document}" title="IguanaTex Bitmap Display">
              <a:extLst>
                <a:ext uri="{FF2B5EF4-FFF2-40B4-BE49-F238E27FC236}">
                  <a16:creationId xmlns:a16="http://schemas.microsoft.com/office/drawing/2014/main" id="{5BEF1416-6BF6-4F5F-9F4D-56403D233A97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3"/>
            <a:stretch>
              <a:fillRect/>
            </a:stretch>
          </p:blipFill>
          <p:spPr>
            <a:xfrm>
              <a:off x="3361789" y="2485976"/>
              <a:ext cx="5468422" cy="747330"/>
            </a:xfrm>
            <a:prstGeom prst="rect">
              <a:avLst/>
            </a:prstGeom>
          </p:spPr>
        </p:pic>
        <p:sp>
          <p:nvSpPr>
            <p:cNvPr id="62" name="Rounded Rectangle 61"/>
            <p:cNvSpPr/>
            <p:nvPr/>
          </p:nvSpPr>
          <p:spPr>
            <a:xfrm>
              <a:off x="3066545" y="2402441"/>
              <a:ext cx="6058910" cy="914400"/>
            </a:xfrm>
            <a:prstGeom prst="roundRect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3" name="Text Placeholder 1 5 1 1 1"/>
          <p:cNvSpPr txBox="1">
            <a:spLocks/>
          </p:cNvSpPr>
          <p:nvPr/>
        </p:nvSpPr>
        <p:spPr>
          <a:xfrm>
            <a:off x="1393751" y="1910550"/>
            <a:ext cx="9404498" cy="369332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Char char="-"/>
              <a:defRPr sz="18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+mn-lt"/>
                <a:cs typeface="Arial" panose="020B0604020202020204" pitchFamily="34" charset="0"/>
              </a:rPr>
              <a:t>States indexed by </a:t>
            </a:r>
            <a:r>
              <a:rPr lang="en-US" dirty="0">
                <a:solidFill>
                  <a:srgbClr val="00B0F0"/>
                </a:solidFill>
                <a:latin typeface="+mn-lt"/>
                <a:cs typeface="Arial" panose="020B0604020202020204" pitchFamily="34" charset="0"/>
              </a:rPr>
              <a:t>inversion</a:t>
            </a:r>
            <a:r>
              <a:rPr lang="en-US" dirty="0">
                <a:latin typeface="+mn-lt"/>
                <a:cs typeface="Arial" panose="020B0604020202020204" pitchFamily="34" charset="0"/>
              </a:rPr>
              <a:t> (</a:t>
            </a:r>
            <a:r>
              <a:rPr lang="el-GR" i="1" dirty="0">
                <a:cs typeface="Arial" panose="020B0604020202020204" pitchFamily="34" charset="0"/>
              </a:rPr>
              <a:t>ω</a:t>
            </a:r>
            <a:r>
              <a:rPr lang="en-US" i="1" dirty="0">
                <a:cs typeface="Arial" panose="020B0604020202020204" pitchFamily="34" charset="0"/>
              </a:rPr>
              <a:t>)</a:t>
            </a:r>
            <a:r>
              <a:rPr lang="en-US" dirty="0">
                <a:latin typeface="+mn-lt"/>
                <a:cs typeface="Arial" panose="020B0604020202020204" pitchFamily="34" charset="0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acyclic</a:t>
            </a:r>
            <a:r>
              <a:rPr lang="en-US" dirty="0">
                <a:latin typeface="+mn-lt"/>
                <a:cs typeface="Arial" panose="020B0604020202020204" pitchFamily="34" charset="0"/>
              </a:rPr>
              <a:t> (</a:t>
            </a:r>
            <a:r>
              <a:rPr lang="el-GR" i="1" dirty="0">
                <a:cs typeface="Arial" panose="020B0604020202020204" pitchFamily="34" charset="0"/>
              </a:rPr>
              <a:t>σ</a:t>
            </a:r>
            <a:r>
              <a:rPr lang="en-US" dirty="0">
                <a:latin typeface="+mn-lt"/>
                <a:cs typeface="Arial" panose="020B0604020202020204" pitchFamily="34" charset="0"/>
              </a:rPr>
              <a:t>) symmetry as either even (+1) or odd (-1) </a:t>
            </a:r>
          </a:p>
        </p:txBody>
      </p:sp>
    </p:spTree>
    <p:extLst>
      <p:ext uri="{BB962C8B-B14F-4D97-AF65-F5344CB8AC3E}">
        <p14:creationId xmlns:p14="http://schemas.microsoft.com/office/powerpoint/2010/main" val="2554311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Td operations, including Bloch functions, m odd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529E04A-CB66-4A5D-9B0F-8AA38F31CCA1}"/>
              </a:ext>
            </a:extLst>
          </p:cNvPr>
          <p:cNvGrpSpPr/>
          <p:nvPr/>
        </p:nvGrpSpPr>
        <p:grpSpPr>
          <a:xfrm>
            <a:off x="478949" y="3443884"/>
            <a:ext cx="3017520" cy="2797106"/>
            <a:chOff x="478949" y="3443884"/>
            <a:chExt cx="3017520" cy="279710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A7178BD-673E-44BC-B8F2-60E4A1D8D30F}"/>
                </a:ext>
              </a:extLst>
            </p:cNvPr>
            <p:cNvGrpSpPr/>
            <p:nvPr>
              <p:custDataLst>
                <p:tags r:id="rId10"/>
              </p:custDataLst>
            </p:nvPr>
          </p:nvGrpSpPr>
          <p:grpSpPr>
            <a:xfrm>
              <a:off x="478949" y="3443884"/>
              <a:ext cx="3017519" cy="1188720"/>
              <a:chOff x="478949" y="3443884"/>
              <a:chExt cx="3017519" cy="1188720"/>
            </a:xfrm>
          </p:grpSpPr>
          <p:sp>
            <p:nvSpPr>
              <p:cNvPr id="169" name="Rounded Rectangle 168"/>
              <p:cNvSpPr/>
              <p:nvPr/>
            </p:nvSpPr>
            <p:spPr>
              <a:xfrm>
                <a:off x="478949" y="3443884"/>
                <a:ext cx="3017519" cy="1188720"/>
              </a:xfrm>
              <a:prstGeom prst="roundRect">
                <a:avLst>
                  <a:gd name="adj" fmla="val 5873"/>
                </a:avLst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Text Placeholder 1 5 2 2 1 2 1"/>
              <p:cNvSpPr txBox="1">
                <a:spLocks/>
              </p:cNvSpPr>
              <p:nvPr/>
            </p:nvSpPr>
            <p:spPr>
              <a:xfrm>
                <a:off x="844708" y="3494805"/>
                <a:ext cx="2286000" cy="36933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Char char="-"/>
                  <a:defRPr sz="18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srgbClr val="00B050"/>
                    </a:solidFill>
                    <a:latin typeface="+mn-lt"/>
                    <a:cs typeface="Arial" panose="020B0604020202020204" pitchFamily="34" charset="0"/>
                  </a:rPr>
                  <a:t>Cyclic permutations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3B8A01B-3987-41AC-861A-863BAB22030D}"/>
                  </a:ext>
                </a:extLst>
              </p:cNvPr>
              <p:cNvGrpSpPr/>
              <p:nvPr>
                <p:custDataLst>
                  <p:tags r:id="rId16"/>
                </p:custDataLst>
              </p:nvPr>
            </p:nvGrpSpPr>
            <p:grpSpPr>
              <a:xfrm>
                <a:off x="689509" y="3963510"/>
                <a:ext cx="2535257" cy="594732"/>
                <a:chOff x="689509" y="3963510"/>
                <a:chExt cx="2535257" cy="594732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9B6D7948-8BE4-40DD-B477-93A6D825D806}"/>
                    </a:ext>
                  </a:extLst>
                </p:cNvPr>
                <p:cNvGrpSpPr/>
                <p:nvPr>
                  <p:custDataLst>
                    <p:tags r:id="rId17"/>
                  </p:custDataLst>
                </p:nvPr>
              </p:nvGrpSpPr>
              <p:grpSpPr>
                <a:xfrm>
                  <a:off x="689509" y="3963510"/>
                  <a:ext cx="2047996" cy="594732"/>
                  <a:chOff x="689509" y="3963510"/>
                  <a:chExt cx="2047996" cy="594732"/>
                </a:xfrm>
              </p:grpSpPr>
              <p:pic>
                <p:nvPicPr>
                  <p:cNvPr id="179" name="Picture 178"/>
                  <p:cNvPicPr>
                    <a:picLocks noChangeAspect="1"/>
                  </p:cNvPicPr>
                  <p:nvPr>
                    <p:custDataLst>
                      <p:tags r:id="rId20"/>
                    </p:custDataLst>
                  </p:nvPr>
                </p:nvPicPr>
                <p:blipFill>
                  <a:blip r:embed="rId2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50649" y="3963510"/>
                    <a:ext cx="394286" cy="188571"/>
                  </a:xfrm>
                  <a:prstGeom prst="rect">
                    <a:avLst/>
                  </a:prstGeom>
                </p:spPr>
              </p:pic>
              <p:pic>
                <p:nvPicPr>
                  <p:cNvPr id="19" name="Picture 18" descr="\documentclass{article}&#10;\usepackage{amsmath,bm}&#10;\pagestyle{empty}&#10;\begin{document}&#10;&#10;\begin{equation*}&#10;\Psi_{mlh;\sigma}^{(1)}&#10;\quad&#10;\Psi_{mlh;\sigma}^{(3)}&#10;\quad&#10;\Psi_{mlh;\sigma}^{(2)}&#10;\end{equation*}&#10;&#10;\end{document}" title="IguanaTex Bitmap Display">
                    <a:extLst>
                      <a:ext uri="{FF2B5EF4-FFF2-40B4-BE49-F238E27FC236}">
                        <a16:creationId xmlns:a16="http://schemas.microsoft.com/office/drawing/2014/main" id="{6E5D4599-376D-4010-9B82-DA29FBDA19A3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21"/>
                    </p:custDataLst>
                  </p:nvPr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689509" y="4277100"/>
                    <a:ext cx="2047996" cy="281142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77" name="Picture 176"/>
                <p:cNvPicPr>
                  <a:picLocks noChangeAspect="1"/>
                </p:cNvPicPr>
                <p:nvPr>
                  <p:custDataLst>
                    <p:tags r:id="rId18"/>
                  </p:custDataLst>
                </p:nvPr>
              </p:nvPicPr>
              <p:blipFill>
                <a:blip r:embed="rId2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90565" y="3963510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175" name="Picture 174"/>
                <p:cNvPicPr>
                  <a:picLocks noChangeAspect="1"/>
                </p:cNvPicPr>
                <p:nvPr>
                  <p:custDataLst>
                    <p:tags r:id="rId19"/>
                  </p:custDataLst>
                </p:nvPr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30480" y="3963510"/>
                  <a:ext cx="394286" cy="18857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B4E0D0BC-EF6D-4A54-9D7B-059DEB2F05D7}"/>
                </a:ext>
              </a:extLst>
            </p:cNvPr>
            <p:cNvGrpSpPr/>
            <p:nvPr>
              <p:custDataLst>
                <p:tags r:id="rId11"/>
              </p:custDataLst>
            </p:nvPr>
          </p:nvGrpSpPr>
          <p:grpSpPr>
            <a:xfrm>
              <a:off x="478949" y="5052270"/>
              <a:ext cx="3017520" cy="1188720"/>
              <a:chOff x="478949" y="5052270"/>
              <a:chExt cx="3017520" cy="1188720"/>
            </a:xfrm>
          </p:grpSpPr>
          <p:sp>
            <p:nvSpPr>
              <p:cNvPr id="94" name="Rounded Rectangle 93"/>
              <p:cNvSpPr/>
              <p:nvPr/>
            </p:nvSpPr>
            <p:spPr>
              <a:xfrm>
                <a:off x="478949" y="5052270"/>
                <a:ext cx="3017520" cy="1188720"/>
              </a:xfrm>
              <a:prstGeom prst="roundRect">
                <a:avLst>
                  <a:gd name="adj" fmla="val 5873"/>
                </a:avLst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Text Placeholder 1 5 2 2 1 2 2"/>
              <p:cNvSpPr txBox="1">
                <a:spLocks/>
              </p:cNvSpPr>
              <p:nvPr/>
            </p:nvSpPr>
            <p:spPr>
              <a:xfrm>
                <a:off x="769978" y="5103191"/>
                <a:ext cx="2435462" cy="36933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Char char="-"/>
                  <a:defRPr sz="18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srgbClr val="FF0000"/>
                    </a:solidFill>
                    <a:latin typeface="+mn-lt"/>
                    <a:cs typeface="Arial" panose="020B0604020202020204" pitchFamily="34" charset="0"/>
                  </a:rPr>
                  <a:t>Acyclic permutations</a:t>
                </a:r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6270D662-6872-4446-87DD-92BC0AE4BDA2}"/>
                  </a:ext>
                </a:extLst>
              </p:cNvPr>
              <p:cNvGrpSpPr/>
              <p:nvPr>
                <p:custDataLst>
                  <p:tags r:id="rId12"/>
                </p:custDataLst>
              </p:nvPr>
            </p:nvGrpSpPr>
            <p:grpSpPr>
              <a:xfrm>
                <a:off x="791349" y="5571896"/>
                <a:ext cx="2392720" cy="188571"/>
                <a:chOff x="791349" y="5571896"/>
                <a:chExt cx="2392720" cy="188571"/>
              </a:xfrm>
            </p:grpSpPr>
            <p:pic>
              <p:nvPicPr>
                <p:cNvPr id="46" name="Picture 45"/>
                <p:cNvPicPr>
                  <a:picLocks noChangeAspect="1"/>
                </p:cNvPicPr>
                <p:nvPr>
                  <p:custDataLst>
                    <p:tags r:id="rId13"/>
                  </p:custDataLst>
                </p:nvPr>
              </p:nvPicPr>
              <p:blipFill>
                <a:blip r:embed="rId2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1349" y="5571896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52" name="Picture 51"/>
                <p:cNvPicPr>
                  <a:picLocks noChangeAspect="1"/>
                </p:cNvPicPr>
                <p:nvPr>
                  <p:custDataLst>
                    <p:tags r:id="rId14"/>
                  </p:custDataLst>
                </p:nvPr>
              </p:nvPicPr>
              <p:blipFill>
                <a:blip r:embed="rId2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90566" y="5571896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58" name="Picture 57"/>
                <p:cNvPicPr>
                  <a:picLocks noChangeAspect="1"/>
                </p:cNvPicPr>
                <p:nvPr>
                  <p:custDataLst>
                    <p:tags r:id="rId15"/>
                  </p:custDataLst>
                </p:nvPr>
              </p:nvPicPr>
              <p:blipFill>
                <a:blip r:embed="rId3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89783" y="5571896"/>
                  <a:ext cx="394286" cy="188571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59" name="Group 58"/>
          <p:cNvGrpSpPr/>
          <p:nvPr/>
        </p:nvGrpSpPr>
        <p:grpSpPr>
          <a:xfrm>
            <a:off x="4109574" y="4322115"/>
            <a:ext cx="4297680" cy="1188720"/>
            <a:chOff x="4071471" y="3864918"/>
            <a:chExt cx="4297680" cy="1188720"/>
          </a:xfrm>
        </p:grpSpPr>
        <p:sp>
          <p:nvSpPr>
            <p:cNvPr id="239" name="Rounded Rectangle 238"/>
            <p:cNvSpPr/>
            <p:nvPr/>
          </p:nvSpPr>
          <p:spPr>
            <a:xfrm>
              <a:off x="4071471" y="3864918"/>
              <a:ext cx="4297680" cy="1188720"/>
            </a:xfrm>
            <a:prstGeom prst="roundRect">
              <a:avLst>
                <a:gd name="adj" fmla="val 5873"/>
              </a:avLst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Text Placeholder 1 5 2 2 2 2 2 1"/>
            <p:cNvSpPr txBox="1">
              <a:spLocks/>
            </p:cNvSpPr>
            <p:nvPr/>
          </p:nvSpPr>
          <p:spPr>
            <a:xfrm>
              <a:off x="5031591" y="3932013"/>
              <a:ext cx="2377440" cy="3693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Char char="-"/>
                <a:defRPr sz="18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buNone/>
              </a:pPr>
              <a:r>
                <a:rPr lang="en-US" dirty="0">
                  <a:solidFill>
                    <a:srgbClr val="00B0F0"/>
                  </a:solidFill>
                  <a:latin typeface="+mn-lt"/>
                  <a:cs typeface="Arial" panose="020B0604020202020204" pitchFamily="34" charset="0"/>
                </a:rPr>
                <a:t>Double inversion</a:t>
              </a:r>
            </a:p>
          </p:txBody>
        </p:sp>
        <p:grpSp>
          <p:nvGrpSpPr>
            <p:cNvPr id="57" name="Group 56"/>
            <p:cNvGrpSpPr/>
            <p:nvPr/>
          </p:nvGrpSpPr>
          <p:grpSpPr>
            <a:xfrm>
              <a:off x="4676784" y="4395074"/>
              <a:ext cx="3203870" cy="199999"/>
              <a:chOff x="4618376" y="4395074"/>
              <a:chExt cx="3203870" cy="199999"/>
            </a:xfrm>
          </p:grpSpPr>
          <p:pic>
            <p:nvPicPr>
              <p:cNvPr id="250" name="Picture 249"/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3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18376" y="4395074"/>
                <a:ext cx="394286" cy="199999"/>
              </a:xfrm>
              <a:prstGeom prst="rect">
                <a:avLst/>
              </a:prstGeom>
            </p:spPr>
          </p:pic>
          <p:pic>
            <p:nvPicPr>
              <p:cNvPr id="247" name="Picture 246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3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23168" y="4395074"/>
                <a:ext cx="394286" cy="199999"/>
              </a:xfrm>
              <a:prstGeom prst="rect">
                <a:avLst/>
              </a:prstGeom>
            </p:spPr>
          </p:pic>
          <p:pic>
            <p:nvPicPr>
              <p:cNvPr id="275" name="Picture 274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3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27960" y="4395074"/>
                <a:ext cx="394286" cy="199999"/>
              </a:xfrm>
              <a:prstGeom prst="rect">
                <a:avLst/>
              </a:prstGeom>
            </p:spPr>
          </p:pic>
        </p:grpSp>
      </p:grpSp>
      <p:pic>
        <p:nvPicPr>
          <p:cNvPr id="63" name="Picture 62" descr="\documentclass{article}&#10;\usepackage{amsmath,bm}&#10;\pagestyle{empty}&#10;\begin{document}&#10;&#10;\begin{equation*}&#10;\Psi_{mlh}^{(1\sigma)}&#10;\end{equation*}&#10;&#10;\end{document}" title="IguanaTex Bitmap Display">
            <a:extLst>
              <a:ext uri="{FF2B5EF4-FFF2-40B4-BE49-F238E27FC236}">
                <a16:creationId xmlns:a16="http://schemas.microsoft.com/office/drawing/2014/main" id="{5FBE167A-9A7D-4751-B73E-2D7DADE612C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4544033" y="5116533"/>
            <a:ext cx="410285" cy="255999"/>
          </a:xfrm>
          <a:prstGeom prst="rect">
            <a:avLst/>
          </a:prstGeom>
        </p:spPr>
      </p:pic>
      <p:pic>
        <p:nvPicPr>
          <p:cNvPr id="67" name="Picture 66" descr="\documentclass{article}&#10;\usepackage{amsmath,bm}&#10;\pagestyle{empty}&#10;\begin{document}&#10;&#10;\begin{equation*}&#10;-\Psi_{mlh}^{(1\sigma)}&#10;\end{equation*}&#10;&#10;\end{document}" title="IguanaTex Bitmap Display">
            <a:extLst>
              <a:ext uri="{FF2B5EF4-FFF2-40B4-BE49-F238E27FC236}">
                <a16:creationId xmlns:a16="http://schemas.microsoft.com/office/drawing/2014/main" id="{C12A2FB3-EAA6-4ACC-983E-FBBA40F5CC6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5"/>
          <a:stretch>
            <a:fillRect/>
          </a:stretch>
        </p:blipFill>
        <p:spPr>
          <a:xfrm>
            <a:off x="6033149" y="5116415"/>
            <a:ext cx="551999" cy="255999"/>
          </a:xfrm>
          <a:prstGeom prst="rect">
            <a:avLst/>
          </a:prstGeom>
        </p:spPr>
      </p:pic>
      <p:pic>
        <p:nvPicPr>
          <p:cNvPr id="71" name="Picture 70" descr="\documentclass{article}&#10;\usepackage{amsmath,bm}&#10;\pagestyle{empty}&#10;\begin{document}&#10;&#10;\begin{equation*}&#10;-\Psi_{mlh}^{(1\sigma)}&#10;\end{equation*}&#10;&#10;\end{document}" title="IguanaTex Bitmap Display">
            <a:extLst>
              <a:ext uri="{FF2B5EF4-FFF2-40B4-BE49-F238E27FC236}">
                <a16:creationId xmlns:a16="http://schemas.microsoft.com/office/drawing/2014/main" id="{40663150-D877-4F84-8EC5-99C80D731F4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35"/>
          <a:stretch>
            <a:fillRect/>
          </a:stretch>
        </p:blipFill>
        <p:spPr>
          <a:xfrm>
            <a:off x="7203604" y="5134674"/>
            <a:ext cx="551999" cy="255999"/>
          </a:xfrm>
          <a:prstGeom prst="rect">
            <a:avLst/>
          </a:prstGeom>
        </p:spPr>
      </p:pic>
      <p:grpSp>
        <p:nvGrpSpPr>
          <p:cNvPr id="108" name="Group 107"/>
          <p:cNvGrpSpPr/>
          <p:nvPr/>
        </p:nvGrpSpPr>
        <p:grpSpPr>
          <a:xfrm>
            <a:off x="8833827" y="4459275"/>
            <a:ext cx="2011680" cy="914400"/>
            <a:chOff x="8195019" y="3870561"/>
            <a:chExt cx="2011680" cy="914400"/>
          </a:xfrm>
        </p:grpSpPr>
        <p:sp>
          <p:nvSpPr>
            <p:cNvPr id="69" name="Rounded Rectangle 68"/>
            <p:cNvSpPr/>
            <p:nvPr/>
          </p:nvSpPr>
          <p:spPr>
            <a:xfrm>
              <a:off x="8195019" y="3870561"/>
              <a:ext cx="2011680" cy="914400"/>
            </a:xfrm>
            <a:prstGeom prst="roundRect">
              <a:avLst>
                <a:gd name="adj" fmla="val 5873"/>
              </a:avLst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 Placeholder 1 5 2 2 2 2 2 2"/>
            <p:cNvSpPr txBox="1">
              <a:spLocks/>
            </p:cNvSpPr>
            <p:nvPr/>
          </p:nvSpPr>
          <p:spPr>
            <a:xfrm>
              <a:off x="8377899" y="3968419"/>
              <a:ext cx="1645920" cy="3693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Char char="-"/>
                <a:defRPr sz="18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buNone/>
              </a:pPr>
              <a:r>
                <a:rPr lang="en-US" dirty="0">
                  <a:solidFill>
                    <a:schemeClr val="accent3">
                      <a:lumMod val="75000"/>
                    </a:schemeClr>
                  </a:solidFill>
                  <a:cs typeface="Arial" panose="020B0604020202020204" pitchFamily="34" charset="0"/>
                </a:rPr>
                <a:t>Time-reversal</a:t>
              </a:r>
            </a:p>
          </p:txBody>
        </p:sp>
      </p:grpSp>
      <p:pic>
        <p:nvPicPr>
          <p:cNvPr id="33" name="Picture 32" descr="\documentclass{article}&#10;\usepackage{amsmath,bm}&#10;\pagestyle{empty}&#10;\begin{document}&#10;&#10;\begin{equation*}&#10;(-1)^{l}\Psi_{mlh}^{(1\sigma)}&#10;\end{equation*}&#10;&#10;\end{document}" title="IguanaTex Bitmap Display">
            <a:extLst>
              <a:ext uri="{FF2B5EF4-FFF2-40B4-BE49-F238E27FC236}">
                <a16:creationId xmlns:a16="http://schemas.microsoft.com/office/drawing/2014/main" id="{F96E7CE2-A857-4089-A0F2-2142BCEB96E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9348048" y="4926465"/>
            <a:ext cx="850285" cy="255999"/>
          </a:xfrm>
          <a:prstGeom prst="rect">
            <a:avLst/>
          </a:prstGeom>
        </p:spPr>
      </p:pic>
      <p:sp>
        <p:nvSpPr>
          <p:cNvPr id="138" name="Text Placeholder 1 5 1 1 1"/>
          <p:cNvSpPr txBox="1">
            <a:spLocks/>
          </p:cNvSpPr>
          <p:nvPr/>
        </p:nvSpPr>
        <p:spPr>
          <a:xfrm>
            <a:off x="252894" y="2033965"/>
            <a:ext cx="11686212" cy="369332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Char char="-"/>
              <a:defRPr sz="18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+mn-lt"/>
                <a:cs typeface="Arial" panose="020B0604020202020204" pitchFamily="34" charset="0"/>
              </a:rPr>
              <a:t>States indexed by </a:t>
            </a:r>
            <a:r>
              <a:rPr lang="en-US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acyclic</a:t>
            </a:r>
            <a:r>
              <a:rPr lang="en-US" dirty="0">
                <a:latin typeface="+mn-lt"/>
                <a:cs typeface="Arial" panose="020B0604020202020204" pitchFamily="34" charset="0"/>
              </a:rPr>
              <a:t> (</a:t>
            </a:r>
            <a:r>
              <a:rPr lang="el-GR" i="1" dirty="0">
                <a:latin typeface="+mn-lt"/>
                <a:cs typeface="Arial" panose="020B0604020202020204" pitchFamily="34" charset="0"/>
              </a:rPr>
              <a:t>σ</a:t>
            </a:r>
            <a:r>
              <a:rPr lang="en-US" dirty="0">
                <a:latin typeface="+mn-lt"/>
                <a:cs typeface="Arial" panose="020B0604020202020204" pitchFamily="34" charset="0"/>
              </a:rPr>
              <a:t>) symmetry as either even (+1) or odd (-1). </a:t>
            </a:r>
            <a:r>
              <a:rPr lang="en-US" i="1" dirty="0">
                <a:latin typeface="+mn-lt"/>
                <a:cs typeface="Arial" panose="020B0604020202020204" pitchFamily="34" charset="0"/>
              </a:rPr>
              <a:t>m</a:t>
            </a:r>
            <a:r>
              <a:rPr lang="en-US" dirty="0">
                <a:latin typeface="+mn-lt"/>
                <a:cs typeface="Arial" panose="020B0604020202020204" pitchFamily="34" charset="0"/>
              </a:rPr>
              <a:t> odd states have odd </a:t>
            </a:r>
            <a:r>
              <a:rPr lang="en-US" dirty="0">
                <a:solidFill>
                  <a:srgbClr val="00B0F0"/>
                </a:solidFill>
                <a:latin typeface="+mn-lt"/>
                <a:cs typeface="Arial" panose="020B0604020202020204" pitchFamily="34" charset="0"/>
              </a:rPr>
              <a:t>inversion</a:t>
            </a:r>
            <a:r>
              <a:rPr lang="en-US" dirty="0">
                <a:latin typeface="+mn-lt"/>
                <a:cs typeface="Arial" panose="020B0604020202020204" pitchFamily="34" charset="0"/>
              </a:rPr>
              <a:t> (</a:t>
            </a:r>
            <a:r>
              <a:rPr lang="el-GR" i="1" dirty="0">
                <a:latin typeface="+mn-lt"/>
                <a:cs typeface="Arial" panose="020B0604020202020204" pitchFamily="34" charset="0"/>
              </a:rPr>
              <a:t>ω</a:t>
            </a:r>
            <a:r>
              <a:rPr lang="en-US" i="1" dirty="0">
                <a:latin typeface="+mn-lt"/>
                <a:cs typeface="Arial" panose="020B0604020202020204" pitchFamily="34" charset="0"/>
              </a:rPr>
              <a:t> </a:t>
            </a:r>
            <a:r>
              <a:rPr lang="en-US" dirty="0">
                <a:latin typeface="+mn-lt"/>
                <a:cs typeface="Arial" panose="020B0604020202020204" pitchFamily="34" charset="0"/>
              </a:rPr>
              <a:t>= -1).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1822484-81BE-47D1-836E-61EFB2BF5F63}"/>
              </a:ext>
            </a:extLst>
          </p:cNvPr>
          <p:cNvGrpSpPr/>
          <p:nvPr/>
        </p:nvGrpSpPr>
        <p:grpSpPr>
          <a:xfrm>
            <a:off x="3915868" y="2649271"/>
            <a:ext cx="4360264" cy="548640"/>
            <a:chOff x="3915868" y="2649271"/>
            <a:chExt cx="4360264" cy="548640"/>
          </a:xfrm>
        </p:grpSpPr>
        <p:pic>
          <p:nvPicPr>
            <p:cNvPr id="13" name="Picture 12" descr="\documentclass{article}&#10;\usepackage{amsmath,bm}&#10;\pagestyle{empty}&#10;\begin{document}&#10;&#10;\begin{equation*}&#10;\Psi_{mlh;\sigma}^{(q_{1})}&#10;=&#10;\Psi_{mhl}^{(-q_{2})}&#10;-h\sigma\mathrm{i}^{m}\Psi_{mhl}^{(+q_{3})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535483D0-E9CF-4D84-8309-09510259B24C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37"/>
            <a:stretch>
              <a:fillRect/>
            </a:stretch>
          </p:blipFill>
          <p:spPr>
            <a:xfrm>
              <a:off x="4447518" y="2755517"/>
              <a:ext cx="3296965" cy="369162"/>
            </a:xfrm>
            <a:prstGeom prst="rect">
              <a:avLst/>
            </a:prstGeom>
          </p:spPr>
        </p:pic>
        <p:sp>
          <p:nvSpPr>
            <p:cNvPr id="47" name="Rounded Rectangle 46"/>
            <p:cNvSpPr/>
            <p:nvPr/>
          </p:nvSpPr>
          <p:spPr>
            <a:xfrm>
              <a:off x="3915868" y="2649271"/>
              <a:ext cx="4360264" cy="548640"/>
            </a:xfrm>
            <a:prstGeom prst="roundRect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5" name="Picture 34" descr="\documentclass{article}&#10;\usepackage{amsmath,bm}&#10;\pagestyle{empty}&#10;\begin{document}&#10;&#10;\begin{equation*}&#10;\sigma\Psi_{mlh;\sigma}^{(1)}&#10;\quad&#10;\sigma\Psi_{mlh;\sigma}^{(3)}&#10;\quad&#10;\sigma\Psi_{mlh;\sigma}^{(2)}&#10;\end{equation*}&#10;&#10;\end{document}" title="IguanaTex Bitmap Display">
            <a:extLst>
              <a:ext uri="{FF2B5EF4-FFF2-40B4-BE49-F238E27FC236}">
                <a16:creationId xmlns:a16="http://schemas.microsoft.com/office/drawing/2014/main" id="{626F8318-6D55-41F3-8CCB-C756D9207E9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788855" y="5840783"/>
            <a:ext cx="2397709" cy="28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6151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8.1927"/>
  <p:tag name="ORIGINALWIDTH" val="4863.892"/>
  <p:tag name="OUTPUTTYPE" val="PNG"/>
  <p:tag name="IGUANATEXVERSION" val="159"/>
  <p:tag name="LATEXADDIN" val="\documentclass{article}&#10;\usepackage{amsmath,amssymb,bm}&#10;\pagestyle{empty}&#10;\begin{document}&#10;&#10;\begin{align*}&#10;\mathcal{R}&#10;_{\eta;kl,s\left\{r\right\}}&#10;^{\left(W\kappa\right)}&#10;&amp; =&#10;\left(\frac{2}{Wa_{\perp}\eta}\right)^{\frac{3}{2}}&#10;\left[&#10;\sqrt{W}&#10;\rho^{\frac{l}{W}-\kappa\delta_{W1}-\delta_{s\bar{1}}}\mathrm{e}^{-\rho/2}&#10;\sum_{v=-2\kappa}^{\kappa+\delta_{s\bar{1}}}&#10;\mathfrak{h}_{lk,v}^{(\kappa s)}&#10;\hat{L}_{\left(k+v\right)\left\{\rho\right\}}^{\left(\frac{2l+3-W}{W}+\kappa-\delta_{s\bar{1}}\right)}&#10;\right|_{\rho \rightarrow \left(\frac{2r}{Wa_\perp\eta}\right)^{W}}&#10;\\&#10;\end{align*}&#10;&#10;\end{document}"/>
  <p:tag name="IGUANATEXSIZE" val="20"/>
  <p:tag name="IGUANATEXCURSOR" val="52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3.2058"/>
  <p:tag name="ORIGINALWIDTH" val="3886.764"/>
  <p:tag name="OUTPUTTYPE" val="PNG"/>
  <p:tag name="IGUANATEXVERSION" val="159"/>
  <p:tag name="LATEXADDIN" val="\documentclass{article}&#10;\usepackage{amsmath,bm,eufrak}&#10;\pagestyle{empty}&#10;\begin{document}&#10;&#10;\begin{equation*}&#10;\Phi_{m\zeta lk;\lambda\eta}^{(W\kappa q)}&#10;= &#10;\left(\frac{\hbar^{2}}{2m_{0}a_{\perp}^{2}\eta^{2}}\right)^{\kappa}&#10;\hat{Q}_{m\zeta}^{(q)}&#10;\sum_{s=-\kappa}^{+\kappa}&#10;\mathfrak{H}^{(\kappa)}_{\lambda;lm,s}&#10;\hat{\mathcal{P}}_{\lambda;(l+2s)m}^{(q)}&#10;\mathcal{R} _{\left(\eta/\vartheta_{\lambda\left\{\chi_{q}\right\}}\right);kl,s\left\{r\right\}} ^{\left(W\kappa\right)}&#10;\\&#10;\end{equation*}&#10;&#10;\end{document}"/>
  <p:tag name="IGUANATEXSIZE" val="20"/>
  <p:tag name="IGUANATEXCURSOR" val="46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3.36"/>
  <p:tag name="ORIGINALWIDTH" val="2708.661"/>
  <p:tag name="LATEXADDIN" val="\documentclass{article}&#10;\usepackage{amsmath,bm,eufrak}&#10;\pagestyle{empty}&#10;\begin{document}&#10;&#10;\begin{align*}&#10;\vartheta_{\lambda}^{(q)}&#10;&amp; =&#10;\sqrt{1 + \left(\lambda^2-1\right)\chi_{q}^2}&#10;\\&#10;\hat{\mathcal{P}}_{lm;\lambda}^{(q)}&#10;&amp; = &#10;\sqrt{\frac{\lambda}{\left(\vartheta_{q}^{(\lambda)}\right)^{3}}}&#10;\sqrt{\frac{(2l+1)\left(l-m\right)!}{2\left(l+m\right)!}}&#10;P_{lm}\left(\frac{\lambda \chi_{q}}{\vartheta_{q}^{(\lambda)}}\right)&#10;\\&#10;\hat{Q}_{m}^{(q\xi)}&#10;&amp; = &#10;\frac{1}{\sqrt{2\pi}}&#10;\left(\frac{\mathrm{e}^{\mathrm{i}m \phi_{q}}+ \xi\mathrm{i}^{m}\mathrm{e}^{-\mathrm{i}m \phi_{q}}}&#10;{2\delta_{m0} + \sqrt{2}\left(1-\delta_{m0}\right)}\right)&#10;\end{align*}&#10;&#10;\end{document} "/>
  <p:tag name="IGUANATEXSIZE" val="20"/>
  <p:tag name="IGUANATEXCURSOR" val="22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0.6299"/>
  <p:tag name="ORIGINALWIDTH" val="1259.093"/>
  <p:tag name="LATEXADDIN" val="\documentclass{article}&#10;\usepackage{amsmath,bm,eufrak}&#10;\pagestyle{empty}&#10;\begin{document}&#10;&#10;\begin{align*}&#10;\chi_{x}   &amp;= \frac{x}{r} = \sin(\theta)\cos(\phi) \\&#10;\chi_{y}   &amp;= \frac{y}{r} = \sin(\theta)\sin(\phi) \\&#10;\chi_{z}   &amp;= \frac{z}{r} = \cos(\theta) \\&#10;\phi_{q_1} &amp;= \operatorname{Arg}\left(\chi_{q_2} \pm \mathrm{i}\chi_{q_3}\right)&#10;\end{align*}&#10;&#10;\end{document} "/>
  <p:tag name="IGUANATEXSIZE" val="20"/>
  <p:tag name="IGUANATEXCURSOR" val="27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2.9246"/>
  <p:tag name="ORIGINALWIDTH" val="782.9021"/>
  <p:tag name="LATEXADDIN" val="\documentclass{article}&#10;\usepackage{amsmath,bm}&#10;\pagestyle{empty}&#10;\begin{document}&#10;&#10;\begin{tabular}{c|cc}&#10;$q_1$ &amp; $q_2$ &amp; $q_3$ \\ \hline&#10;$x$   &amp; $y$   &amp; $z$ \\&#10;$y$   &amp; $z$   &amp; $x$ \\&#10;$z$   &amp; $x$   &amp; $y$ \\&#10;\end{tabular}&#10;&#10;\end{document}"/>
  <p:tag name="IGUANATEXSIZE" val="20"/>
  <p:tag name="IGUANATEXCURSOR" val="20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587.552"/>
  <p:tag name="OUTPUTTYPE" val="PNG"/>
  <p:tag name="IGUANATEXVERSION" val="159"/>
  <p:tag name="LATEXADDIN" val="\documentclass{article}&#10;\usepackage{amsmath,amssymb,bm}&#10;\pagestyle{empty}&#10;\begin{document}&#10;&#10;\begin{align*}&#10;\mathfrak{h}_{lk,v}^{(\kappa s)}&#10;&amp; =&#10;\left(1-\kappa\right)\delta_{s0}\delta_{v0} + \kappa \mathfrak{g}_{lk,v}^{(s)}&#10;\\&#10;\end{align*}&#10;&#10;\end{document}"/>
  <p:tag name="IGUANATEXSIZE" val="20"/>
  <p:tag name="IGUANATEXCURSOR" val="52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0.105"/>
  <p:tag name="ORIGINALWIDTH" val="2294.713"/>
  <p:tag name="OUTPUTTYPE" val="PNG"/>
  <p:tag name="IGUANATEXVERSION" val="159"/>
  <p:tag name="LATEXADDIN" val="\documentclass{article}&#10;\usepackage{amsmath,amssymb,bm}&#10;\pagestyle{empty}&#10;\begin{document}&#10;&#10;\begin{align*}&#10;\mathfrak{Y}^{(0)}_{lm}&#10;&amp; =&#10;\frac{&#10;2l^2-2m^2+2l-1&#10;}{&#10;(2l-1)(2l+3)&#10;}  \\&#10;\mathfrak{Y}^{(-1)}_{lm}&#10;&amp; =&#10;\sqrt{\frac{&#10;\left((l-1)^2-m^2\right)&#10;\left(l^2-m^2\right)&#10;}{&#10;(2l-3)(2l-1)^{2}(2l+1)&#10;}}&#10;\\&#10;\mathfrak{Y}^{(+1)}_{lm}&#10;&amp; =&#10;\sqrt{\frac{&#10;\left((l+1)^2-m^2\right)&#10;\left((l+2)^2-m^2\right)&#10;}{&#10;(2l+1)(2l+3)^{2}(2l+5)&#10;}}&#10;\\&#10;\end{align*}&#10;&#10;\end{document}"/>
  <p:tag name="IGUANATEXSIZE" val="20"/>
  <p:tag name="IGUANATEXCURSOR" val="5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3.2283"/>
  <p:tag name="ORIGINALWIDTH" val="1648.294"/>
  <p:tag name="OUTPUTTYPE" val="PNG"/>
  <p:tag name="IGUANATEXVERSION" val="159"/>
  <p:tag name="LATEXADDIN" val="\documentclass{article}&#10;\usepackage{amsmath,amssymb,bm}&#10;\pagestyle{empty}&#10;\begin{document}&#10;&#10;\begin{equation*}&#10;\mathfrak{H}^{(\kappa s)}_{lm}&#10;= &#10;\delta_{s,0}-\kappa\left(1-\gamma\lambda^{2}\right)\mathfrak{Y}_{lm}^{(s)}&#10;\end{equation*}&#10;&#10;\end{document}"/>
  <p:tag name="IGUANATEXSIZE" val="20"/>
  <p:tag name="IGUANATEXCURSOR" val="20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7.1392"/>
  <p:tag name="ORIGINALWIDTH" val="2204.724"/>
  <p:tag name="OUTPUTTYPE" val="PNG"/>
  <p:tag name="IGUANATEXVERSION" val="159"/>
  <p:tag name="LATEXADDIN" val="\documentclass{article}&#10;\usepackage{amsmath,bm,eufrak}&#10;\pagestyle{empty}&#10;\begin{document}&#10;&#10;\begin{gather*}&#10;\mathfrak{g}_{lk,-2}^{(+1)}&#10;=&#10;-\sqrt{(k-1)k(k+\alpha)}&#10;\\&#10;\mathfrak{g}_{lk,-1}^{(+1)}&#10;=&#10;-\sqrt{k}\left(k+2\alpha+5-2\delta_{W,2}\right)&#10;\\&#10;\mathfrak{g}_{lk,0}^{(+1)}&#10;=&#10;\sqrt{k+\alpha+1}&#10;\left(k-\alpha-4+2\delta_{W,2}\right)&#10;\\&#10;\mathfrak{g}_{lk,+1}^{(+1)}&#10;=&#10;\sqrt{(k+1)(k+1+\alpha)(k+2+\alpha)}&#10;\\&#10;\end{gather*}&#10;&#10;\end{document}"/>
  <p:tag name="IGUANATEXSIZE" val="13"/>
  <p:tag name="IGUANATEXCURSOR" val="346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7.1392"/>
  <p:tag name="ORIGINALWIDTH" val="2204.724"/>
  <p:tag name="OUTPUTTYPE" val="PNG"/>
  <p:tag name="IGUANATEXVERSION" val="159"/>
  <p:tag name="LATEXADDIN" val="\documentclass{article}&#10;\usepackage{amsmath,bm,eufrak}&#10;\pagestyle{empty}&#10;\begin{document}&#10;&#10;\begin{gather*}&#10;\mathfrak{g}_{lk,-2}^{(0)}&#10;=&#10;-\sqrt{(k-1)k(k+\alpha)}&#10;\\&#10;\mathfrak{g}_{lk,-1}^{(0)}&#10;=&#10;-\sqrt{k}\left(k+3-2\delta_{W,2}\right)&#10;\\&#10;\mathfrak{g}_{lk,0}^{(0)}&#10;=&#10;\sqrt{k+\alpha+1}&#10;\left(k+\alpha-2+2\delta_{W,2}\right)&#10;\\&#10;\mathfrak{g}_{lk,+1}^{(0)}&#10;=&#10;\sqrt{(k+1)(k+1+\alpha)(k+2+\alpha)}&#10;\\&#10;\end{gather*}&#10;&#10;\end{document}"/>
  <p:tag name="IGUANATEXSIZE" val="13"/>
  <p:tag name="IGUANATEXCURSOR" val="335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1.86"/>
  <p:tag name="ORIGINALWIDTH" val="4207.724"/>
  <p:tag name="OUTPUTTYPE" val="PNG"/>
  <p:tag name="IGUANATEXVERSION" val="159"/>
  <p:tag name="LATEXADDIN" val="\documentclass{article}&#10;\usepackage{amsmath,bm,eufrak}&#10;\pagestyle{empty}&#10;\begin{document}&#10;&#10;\begin{gather*}&#10;\mathfrak{g}_{lk,-2}^{(-1)}&#10;=&#10;-\sqrt{(k-1)k(k-1+\alpha)(k+\alpha)}&#10;\\&#10;\mathfrak{g}_{lk,-1}^{(-1)}&#10;=&#10;2\sqrt{k(k+\alpha)}\left(\alpha-2-3\delta_{W,2}\right)&#10;\\&#10;\mathfrak{g}_{lk,0}^{(-1)}&#10;=&#10;2k^{2}-4\left(\alpha-1+\delta_{W,2}\right)\left(\alpha-3+2\delta_{W,2}\right)+(\alpha+1)(2k+3\alpha-8+6\delta_{W,2})&#10;\\&#10;\mathfrak{g}_{lk,+1}^{(-1)}&#10;=&#10;-2\sqrt{(k+1)(k+1+\alpha)}\left(\alpha-5+3\delta_{W,2}\right)&#10;\\&#10;\mathfrak{g}_{lk,+2}^{(-1)}&#10;=&#10;-\sqrt{(k+1)(k+2)(k+1+\alpha)(k+2+\alpha)}&#10;\end{gather*}&#10;&#10;\end{document}"/>
  <p:tag name="IGUANATEXSIZE" val="13"/>
  <p:tag name="IGUANATEXCURSOR" val="59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2269"/>
  <p:tag name="ORIGINALWIDTH" val="1116.61"/>
  <p:tag name="OUTPUTTYPE" val="PNG"/>
  <p:tag name="IGUANATEXVERSION" val="159"/>
  <p:tag name="LATEXADDIN" val="\documentclass{article}&#10;\usepackage{amsmath,bm,eufrak}&#10;\pagestyle{empty}&#10;\begin{document}&#10;&#10;\begin{equation*}&#10;\Phi_{m\xi l}^{(q)}&#10;=&#10;\hat{Q}_{m\xi}^{(q)}&#10;\hat{\mathcal{P}}_{lm}^{(q)}&#10;\hat{\mathcal{R}}^{(q)}&#10;\end{equation*}&#10;&#10;\end{document} "/>
  <p:tag name="IGUANATEXSIZE" val="18"/>
  <p:tag name="IGUANATEXCURSOR" val="14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2269"/>
  <p:tag name="ORIGINALWIDTH" val="309.7113"/>
  <p:tag name="OUTPUTTYPE" val="PNG"/>
  <p:tag name="IGUANATEXVERSION" val="159"/>
  <p:tag name="LATEXADDIN" val="\documentclass{article}&#10;\usepackage{amsmath,bm}&#10;\pagestyle{empty}&#10;\begin{document}&#10;&#10;\begin{equation*}&#10;\xi\Phi_{m\xi l}^{(q)}&#10;\end{equation*}&#10;&#10;\end{document}"/>
  <p:tag name="IGUANATEXSIZE" val="15"/>
  <p:tag name="IGUANATEXCURSOR" val="11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55"/>
  <p:tag name="LAYER" val="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54"/>
  <p:tag name="LAYER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312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231\right)&#10;\end{equation*}&#10;&#10;\end{document}"/>
  <p:tag name="IGUANATEXSIZE" val="15"/>
  <p:tag name="IGUANATEXCURSOR" val="109"/>
  <p:tag name="TRANSPARENCY" val="True"/>
  <p:tag name="FILENAME" val=""/>
  <p:tag name="INPUTTYPE" val="0"/>
  <p:tag name="LATEXENGINEID" val="0"/>
  <p:tag name="TEMPFOLDER" val="D:\Temp\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123\right)&#10;\end{equation*}&#10;&#10;\end{document}"/>
  <p:tag name="IGUANATEXSIZE" val="15"/>
  <p:tag name="IGUANATEXCURSOR" val="118"/>
  <p:tag name="TRANSPARENCY" val="True"/>
  <p:tag name="FILENAME" val=""/>
  <p:tag name="INPUTTYPE" val="0"/>
  <p:tag name="LATEXENGINEID" val="0"/>
  <p:tag name="TEMPFOLDER" val="D:\Temp\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2269"/>
  <p:tag name="ORIGINALWIDTH" val="1272.591"/>
  <p:tag name="OUTPUTTYPE" val="PNG"/>
  <p:tag name="IGUANATEXVERSION" val="159"/>
  <p:tag name="LATEXADDIN" val="\documentclass{article}&#10;\usepackage{amsmath,bm}&#10;\pagestyle{empty}&#10;\begin{document}&#10;&#10;\begin{equation*}&#10;\Phi_{m\xi l}^{(1)}&#10;\quad\quad&#10;\Phi_{m\xi l}^{(3)}&#10;\quad\quad&#10;\Phi_{m\xi l}^{(2)}&#10;\end{equation*}&#10;&#10;\end{document}"/>
  <p:tag name="IGUANATEXSIZE" val="15"/>
  <p:tag name="IGUANATEXCURSOR" val="17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73"/>
  <p:tag name="LAYER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321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213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132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2258"/>
  <p:tag name="ORIGINALWIDTH" val="2926.884"/>
  <p:tag name="OUTPUTTYPE" val="PNG"/>
  <p:tag name="IGUANATEXVERSION" val="159"/>
  <p:tag name="LATEXADDIN" val="\documentclass{article}&#10;\usepackage{amsmath,bm}&#10;\pagestyle{empty}&#10;\begin{document}&#10;&#10;\begin{equation*}&#10;\xi\mathrm{i}^{-m}\Phi_{m\left(\left(-1\right)^{m}\xi\right)l}^{(1)}&#10;\quad&#10;\xi\mathrm{i}^{-m}\Phi_{m\left(\left(-1\right)^{m}\xi\right)l}^{(3)}&#10;\quad&#10;\xi\mathrm{i}^{-m}\Phi_{m\left(\left(-1\right)^{m}\xi\right)l}^{(2)}&#10;\end{equation*}&#10;&#10;\end{document}"/>
  <p:tag name="IGUANATEXSIZE" val="15"/>
  <p:tag name="IGUANATEXCURSOR" val="27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82"/>
  <p:tag name="LAYER" val="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81"/>
  <p:tag name="LAYER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\bar{1}2\bar{3}\right)&#10;\end{equation*}&#10;&#10;\end{document}"/>
  <p:tag name="IGUANATEXSIZE" val="15"/>
  <p:tag name="IGUANATEXCURSOR" val="123"/>
  <p:tag name="TRANSPARENCY" val="True"/>
  <p:tag name="FILENAME" val=""/>
  <p:tag name="INPUTTYPE" val="0"/>
  <p:tag name="LATEXENGINEID" val="0"/>
  <p:tag name="TEMPFOLDER" val="D:\Temp\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\bar{1}\bar{2}3\right)&#10;\end{equation*}&#10;&#10;\end{document}"/>
  <p:tag name="IGUANATEXSIZE" val="15"/>
  <p:tag name="IGUANATEXCURSOR" val="122"/>
  <p:tag name="TRANSPARENCY" val="True"/>
  <p:tag name="FILENAME" val=""/>
  <p:tag name="INPUTTYPE" val="0"/>
  <p:tag name="LATEXENGINEID" val="0"/>
  <p:tag name="TEMPFOLDER" val="D:\Temp\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1\bar{2}\bar{3}\right)&#10;\end{equation*}&#10;&#10;\end{document}"/>
  <p:tag name="IGUANATEXSIZE" val="15"/>
  <p:tag name="IGUANATEXCURSOR" val="123"/>
  <p:tag name="TRANSPARENCY" val="True"/>
  <p:tag name="FILENAME" val=""/>
  <p:tag name="INPUTTYPE" val="0"/>
  <p:tag name="LATEXENGINEID" val="0"/>
  <p:tag name="TEMPFOLDER" val="D:\Temp\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2269"/>
  <p:tag name="ORIGINALWIDTH" val="2242.22"/>
  <p:tag name="OUTPUTTYPE" val="PNG"/>
  <p:tag name="IGUANATEXVERSION" val="159"/>
  <p:tag name="LATEXADDIN" val="\documentclass{article}&#10;\usepackage{amsmath,bm}&#10;\pagestyle{empty}&#10;\begin{document}&#10;&#10;\begin{equation*}&#10;(-1)^{m}\Phi_{m\xi l}^{(1)}&#10;\quad&#10;\xi(-1)^{l+m}\Phi_{m\xi l}^{(1)}&#10;\quad&#10;\xi(-1)^{l}\Phi_{m\xi l}^{(1)}&#10;\end{equation*}&#10;&#10;\end{document}"/>
  <p:tag name="IGUANATEXSIZE" val="15"/>
  <p:tag name="IGUANATEXCURSOR" val="185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72"/>
  <p:tag name="LAYER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33"/>
  <p:tag name="LAYER" val="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8"/>
  <p:tag name="LAYER" val="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9"/>
  <p:tag name="LAYER" val="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8"/>
  <p:tag name="LAYER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213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437.1953"/>
  <p:tag name="OUTPUTTYPE" val="PNG"/>
  <p:tag name="IGUANATEXVERSION" val="159"/>
  <p:tag name="LATEXADDIN" val="\documentclass{article}&#10;\usepackage{amsmath,bm}&#10;\pagestyle{empty}&#10;\begin{document}&#10;&#10;\begin{equation*}&#10;\sigma\Psi_{ml;\sigma\omega}^{(2)}&#10;\end{equation*}&#10;&#10;\end{document}"/>
  <p:tag name="IGUANATEXSIZE" val="15"/>
  <p:tag name="IGUANATEXCURSOR" val="13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321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437.1953"/>
  <p:tag name="OUTPUTTYPE" val="PNG"/>
  <p:tag name="IGUANATEXVERSION" val="159"/>
  <p:tag name="LATEXADDIN" val="\documentclass{article}&#10;\usepackage{amsmath,bm}&#10;\pagestyle{empty}&#10;\begin{document}&#10;&#10;\begin{equation*}&#10;\sigma\Psi_{ml;\sigma\omega}^{(3)}&#10;\end{equation*}&#10;&#10;\end{document}"/>
  <p:tag name="IGUANATEXSIZE" val="15"/>
  <p:tag name="IGUANATEXCURSOR" val="13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132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437.1953"/>
  <p:tag name="OUTPUTTYPE" val="PNG"/>
  <p:tag name="IGUANATEXVERSION" val="159"/>
  <p:tag name="LATEXADDIN" val="\documentclass{article}&#10;\usepackage{amsmath,bm}&#10;\pagestyle{empty}&#10;\begin{document}&#10;&#10;\begin{equation*}&#10;\sigma\Psi_{ml;\sigma\omega}^{(1)}&#10;\end{equation*}&#10;&#10;\end{document}"/>
  <p:tag name="IGUANATEXSIZE" val="15"/>
  <p:tag name="IGUANATEXCURSOR" val="11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3"/>
  <p:tag name="LAYER" val="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6"/>
  <p:tag name="LAYER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4"/>
  <p:tag name="LAYER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2"/>
  <p:tag name="LAYER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231\right)&#10;\end{equation*}&#10;&#10;\end{document}"/>
  <p:tag name="IGUANATEXSIZE" val="15"/>
  <p:tag name="IGUANATEXCURSOR" val="109"/>
  <p:tag name="TRANSPARENCY" val="True"/>
  <p:tag name="FILENAME" val=""/>
  <p:tag name="INPUTTYPE" val="0"/>
  <p:tag name="LATEXENGINEID" val="0"/>
  <p:tag name="TEMPFOLDER" val="D:\Temp\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359.955"/>
  <p:tag name="OUTPUTTYPE" val="PNG"/>
  <p:tag name="IGUANATEXVERSION" val="159"/>
  <p:tag name="LATEXADDIN" val="\documentclass{article}&#10;\usepackage{amsmath,bm}&#10;\pagestyle{empty}&#10;\begin{document}&#10;&#10;\begin{equation*}&#10;\Psi_{ml;\sigma\omega}^{(2)}&#10;\end{equation*}&#10;&#10;\end{document}"/>
  <p:tag name="IGUANATEXSIZE" val="15"/>
  <p:tag name="IGUANATEXCURSOR" val="16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312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359.955"/>
  <p:tag name="OUTPUTTYPE" val="PNG"/>
  <p:tag name="IGUANATEXVERSION" val="159"/>
  <p:tag name="LATEXADDIN" val="\documentclass{article}&#10;\usepackage{amsmath,bm}&#10;\pagestyle{empty}&#10;\begin{document}&#10;&#10;\begin{equation*}&#10;\Psi_{ml;\sigma\omega}^{(3)}&#10;\end{equation*}&#10;&#10;\end{document}"/>
  <p:tag name="IGUANATEXSIZE" val="15"/>
  <p:tag name="IGUANATEXCURSOR" val="12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123\right)&#10;\end{equation*}&#10;&#10;\end{document}"/>
  <p:tag name="IGUANATEXSIZE" val="15"/>
  <p:tag name="IGUANATEXCURSOR" val="118"/>
  <p:tag name="TRANSPARENCY" val="True"/>
  <p:tag name="FILENAME" val=""/>
  <p:tag name="INPUTTYPE" val="0"/>
  <p:tag name="LATEXENGINEID" val="0"/>
  <p:tag name="TEMPFOLDER" val="D:\Temp\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359.955"/>
  <p:tag name="OUTPUTTYPE" val="PNG"/>
  <p:tag name="IGUANATEXVERSION" val="159"/>
  <p:tag name="LATEXADDIN" val="\documentclass{article}&#10;\usepackage{amsmath,bm}&#10;\pagestyle{empty}&#10;\begin{document}&#10;&#10;\begin{equation*}&#10;\Psi_{ml;\sigma\omega}^{(1)}&#10;\end{equation*}&#10;&#10;\end{document}"/>
  <p:tag name="IGUANATEXSIZE" val="15"/>
  <p:tag name="IGUANATEXCURSOR" val="12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3053.618"/>
  <p:tag name="LATEXADDIN" val="\documentclass{article}&#10;\usepackage{amsmath,bm}&#10;\pagestyle{empty}&#10;\begin{document}&#10;&#10;\begin{equation*}&#10;\Psi_{ml;\omega\sigma}^{(q)}&#10;=&#10;\Phi_{m\left(\sigma\mathrm{i}^{m}\right)l}^{(q)}&#10;\left(\frac&#10;{\mathrm{e}^{\mathrm{i}\bm{k}_q\cdot \bm{r}}u_{\bm{k}_q}&#10;+\omega\sigma\mathrm{i}^{m}(-1)^{l}\mathrm{e}^{-\mathrm{i}\bm{k}_q\cdot \bm{r}}u_{-\bm{k}_q}}&#10;{\sqrt{2}}&#10;\right)&#10;\end{equation*}&#10;&#10;\end{document}"/>
  <p:tag name="IGUANATEXSIZE" val="15"/>
  <p:tag name="IGUANATEXCURSOR" val="179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740.9074"/>
  <p:tag name="OUTPUTTYPE" val="PNG"/>
  <p:tag name="IGUANATEXVERSION" val="159"/>
  <p:tag name="LATEXADDIN" val="\documentclass{article}&#10;\usepackage{amsmath,bm}&#10;\pagestyle{empty}&#10;\begin{document}&#10;&#10;\begin{equation*}&#10;\omega(-1)^{l}\Psi_{ml;\sigma\omega}^{(1)}&#10;\end{equation*}&#10;&#10;\end{document}"/>
  <p:tag name="IGUANATEXSIZE" val="15"/>
  <p:tag name="IGUANATEXCURSOR" val="14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45"/>
  <p:tag name="LAYER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55"/>
  <p:tag name="LAYER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71"/>
  <p:tag name="LAYER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\bar{1}\bar{2}3\right)&#10;\end{equation*}&#10;&#10;\end{document}"/>
  <p:tag name="IGUANATEXSIZE" val="15"/>
  <p:tag name="IGUANATEXCURSOR" val="122"/>
  <p:tag name="TRANSPARENCY" val="True"/>
  <p:tag name="FILENAME" val=""/>
  <p:tag name="INPUTTYPE" val="0"/>
  <p:tag name="LATEXENGINEID" val="0"/>
  <p:tag name="TEMPFOLDER" val="D:\Temp\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446.9441"/>
  <p:tag name="OUTPUTTYPE" val="PNG"/>
  <p:tag name="IGUANATEXVERSION" val="159"/>
  <p:tag name="LATEXADDIN" val="\documentclass{article}&#10;\usepackage{amsmath,bm}&#10;\pagestyle{empty}&#10;\begin{document}&#10;&#10;\begin{equation*}&#10;\omega\Psi_{ml;\sigma\omega}^{(1)}&#10;\end{equation*}&#10;&#10;\end{document}"/>
  <p:tag name="IGUANATEXSIZE" val="15"/>
  <p:tag name="IGUANATEXCURSOR" val="13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\bar{1}2\bar{3}\right)&#10;\end{equation*}&#10;&#10;\end{document}"/>
  <p:tag name="IGUANATEXSIZE" val="15"/>
  <p:tag name="IGUANATEXCURSOR" val="123"/>
  <p:tag name="TRANSPARENCY" val="True"/>
  <p:tag name="FILENAME" val=""/>
  <p:tag name="INPUTTYPE" val="0"/>
  <p:tag name="LATEXENGINEID" val="0"/>
  <p:tag name="TEMPFOLDER" val="D:\Temp\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446.9441"/>
  <p:tag name="OUTPUTTYPE" val="PNG"/>
  <p:tag name="IGUANATEXVERSION" val="159"/>
  <p:tag name="LATEXADDIN" val="\documentclass{article}&#10;\usepackage{amsmath,bm}&#10;\pagestyle{empty}&#10;\begin{document}&#10;&#10;\begin{equation*}&#10;\omega\Psi_{ml;\sigma\omega}^{(1)}&#10;\end{equation*}&#10;&#10;\end{document}"/>
  <p:tag name="IGUANATEXSIZE" val="15"/>
  <p:tag name="IGUANATEXCURSOR" val="13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1\bar{2}\bar{3}\right)&#10;\end{equation*}&#10;&#10;\end{document}"/>
  <p:tag name="IGUANATEXSIZE" val="15"/>
  <p:tag name="IGUANATEXCURSOR" val="123"/>
  <p:tag name="TRANSPARENCY" val="True"/>
  <p:tag name="FILENAME" val=""/>
  <p:tag name="INPUTTYPE" val="0"/>
  <p:tag name="LATEXENGINEID" val="0"/>
  <p:tag name="TEMPFOLDER" val="D:\Temp\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359.955"/>
  <p:tag name="OUTPUTTYPE" val="PNG"/>
  <p:tag name="IGUANATEXVERSION" val="159"/>
  <p:tag name="LATEXADDIN" val="\documentclass{article}&#10;\usepackage{amsmath,bm}&#10;\pagestyle{empty}&#10;\begin{document}&#10;&#10;\begin{equation*}&#10;\Psi_{ml;\sigma\omega}^{(1)}&#10;\end{equation*}&#10;&#10;\end{document}"/>
  <p:tag name="IGUANATEXSIZE" val="15"/>
  <p:tag name="IGUANATEXCURSOR" val="12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2732.658"/>
  <p:tag name="OUTPUTTYPE" val="PNG"/>
  <p:tag name="IGUANATEXVERSION" val="159"/>
  <p:tag name="LATEXADDIN" val="\documentclass{article}&#10;\usepackage{amsmath,bm}&#10;\pagestyle{empty}&#10;\begin{document}&#10;&#10;\begin{equation*}&#10;\Psi_{mhl}^{(\pm q)}&#10;=&#10;\Phi_{m(\mp h)l}^{(q)}&#10;\left(\frac&#10;{\mathrm{e}^{\mathrm{i}\bm{k}_q\cdot \bm{r}}u_{\bm{k}_q}&#10;+ h(-1)^{l}\mathrm{e}^{-\mathrm{i}\bm{k}_q\cdot \bm{r}}u_{-\bm{k}_q}}&#10;{\sqrt{2}}&#10;\right)&#10;\end{equation*}&#10;&#10;\end{document}"/>
  <p:tag name="IGUANATEXSIZE" val="15"/>
  <p:tag name="IGUANATEXCURSOR" val="13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04"/>
  <p:tag name="LAYER" val="5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85"/>
  <p:tag name="LAYER" val="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45"/>
  <p:tag name="LAYER" val="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84"/>
  <p:tag name="LAYER" val="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83"/>
  <p:tag name="LAYER" val="3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82"/>
  <p:tag name="LAYER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\bar{1}2\bar{3}\right)&#10;\end{equation*}&#10;&#10;\end{document}"/>
  <p:tag name="IGUANATEXSIZE" val="15"/>
  <p:tag name="IGUANATEXCURSOR" val="123"/>
  <p:tag name="TRANSPARENCY" val="True"/>
  <p:tag name="FILENAME" val=""/>
  <p:tag name="INPUTTYPE" val="0"/>
  <p:tag name="LATEXENGINEID" val="0"/>
  <p:tag name="TEMPFOLDER" val="D:\Temp\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\bar{1}\bar{2}3\right)&#10;\end{equation*}&#10;&#10;\end{document}"/>
  <p:tag name="IGUANATEXSIZE" val="15"/>
  <p:tag name="IGUANATEXCURSOR" val="122"/>
  <p:tag name="TRANSPARENCY" val="True"/>
  <p:tag name="FILENAME" val=""/>
  <p:tag name="INPUTTYPE" val="0"/>
  <p:tag name="LATEXENGINEID" val="0"/>
  <p:tag name="TEMPFOLDER" val="D:\Temp\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1\bar{2}\bar{3}\right)&#10;\end{equation*}&#10;&#10;\end{document}"/>
  <p:tag name="IGUANATEXSIZE" val="15"/>
  <p:tag name="IGUANATEXCURSOR" val="123"/>
  <p:tag name="TRANSPARENCY" val="True"/>
  <p:tag name="FILENAME" val=""/>
  <p:tag name="INPUTTYPE" val="0"/>
  <p:tag name="LATEXENGINEID" val="0"/>
  <p:tag name="TEMPFOLDER" val="D:\Temp\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1549.306"/>
  <p:tag name="OUTPUTTYPE" val="PNG"/>
  <p:tag name="IGUANATEXVERSION" val="159"/>
  <p:tag name="LATEXADDIN" val="\documentclass{article}&#10;\usepackage{amsmath,bm}&#10;\pagestyle{empty}&#10;\begin{document}&#10;&#10;\begin{equation*}&#10;-\Psi_{mhl}^{(\pm 1)}&#10;\quad&#10;\pm\Psi_{mhl}^{(\pm 1)}&#10;\quad&#10;\mp\Psi_{mhl}^{(\pm 1)}&#10;\end{equation*}&#10;&#10;\end{document}"/>
  <p:tag name="IGUANATEXSIZE" val="15"/>
  <p:tag name="IGUANATEXCURSOR" val="16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44"/>
  <p:tag name="LAYER" val="3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43"/>
  <p:tag name="LAYER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58.7177"/>
  <p:tag name="LATEXADDIN" val="\documentclass{article}&#10;\usepackage{amsmath,bm}&#10;\pagestyle{empty}&#10;\begin{document}&#10;&#10;\begin{equation*}&#10;\left(312\right)&#10;\end{equation*}&#10;&#10;\end{document}"/>
  <p:tag name="IGUANATEXSIZE" val="15"/>
  <p:tag name="IGUANATEXCURSOR" val="111"/>
  <p:tag name="TRANSPARENCY" val="True"/>
  <p:tag name="FILENAME" val=""/>
  <p:tag name="LATEXENGINEID" val="0"/>
  <p:tag name="TEMPFOLDER" val="D:\Temp\"/>
  <p:tag name="LATEXFORMHEIGHT" val="323.25"/>
  <p:tag name="LATEXFORMWIDTH" val="390"/>
  <p:tag name="LATEXFORMWRAP" val="True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58.7177"/>
  <p:tag name="LATEXADDIN" val="\documentclass{article}&#10;\usepackage{amsmath,bm}&#10;\pagestyle{empty}&#10;\begin{document}&#10;&#10;\begin{equation*}&#10;\left(231\right)&#10;\end{equation*}&#10;&#10;\end{document}"/>
  <p:tag name="IGUANATEXSIZE" val="15"/>
  <p:tag name="IGUANATEXCURSOR" val="109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58.7177"/>
  <p:tag name="LATEXADDIN" val="\documentclass{article}&#10;\usepackage{amsmath,bm}&#10;\pagestyle{empty}&#10;\begin{document}&#10;&#10;\begin{equation*}&#10;\left(123\right)&#10;\end{equation*}&#10;&#10;\end{document}"/>
  <p:tag name="IGUANATEXSIZE" val="15"/>
  <p:tag name="IGUANATEXCURSOR" val="118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1400.075"/>
  <p:tag name="OUTPUTTYPE" val="PNG"/>
  <p:tag name="IGUANATEXVERSION" val="159"/>
  <p:tag name="LATEXADDIN" val="\documentclass{article}&#10;\usepackage{amsmath,bm}&#10;\pagestyle{empty}&#10;\begin{document}&#10;&#10;\begin{equation*}&#10;\Psi_{mhl}^{(\pm 1)}&#10;\quad\quad&#10;\Psi_{mhl}^{(\pm 3)}&#10;\quad\quad&#10;\Psi_{mhl}^{(\pm 2)}&#10;\end{equation*}&#10;&#10;\end{document}"/>
  <p:tag name="IGUANATEXSIZE" val="15"/>
  <p:tag name="IGUANATEXCURSOR" val="165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95"/>
  <p:tag name="LAYER" val="3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03"/>
  <p:tag name="LAYER" val="4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02"/>
  <p:tag name="LAYER" val="3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01"/>
  <p:tag name="LAYER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321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213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132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2154.481"/>
  <p:tag name="OUTPUTTYPE" val="PNG"/>
  <p:tag name="IGUANATEXVERSION" val="159"/>
  <p:tag name="LATEXADDIN" val="\documentclass{article}&#10;\usepackage{amsmath,bm}&#10;\pagestyle{empty}&#10;\begin{document}&#10;&#10;\begin{equation*}&#10;\pm h\mathrm{i}^{m}\Psi_{mhl}^{(\mp 1)}&#10;\quad&#10;\pm h\mathrm{i}^{m}\Psi_{mhl}^{(\mp 3)}&#10;\quad&#10;\pm h\mathrm{i}^{m}\Psi_{mhl}^{(\mp 2)}&#10;\end{equation*}&#10;&#10;\end{document}"/>
  <p:tag name="IGUANATEXSIZE" val="15"/>
  <p:tag name="IGUANATEXCURSOR" val="19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94"/>
  <p:tag name="LAYER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717.6603"/>
  <p:tag name="OUTPUTTYPE" val="PNG"/>
  <p:tag name="IGUANATEXVERSION" val="159"/>
  <p:tag name="LATEXADDIN" val="\documentclass{article}&#10;\usepackage{amsmath,bm}&#10;\pagestyle{empty}&#10;\begin{document}&#10;&#10;\begin{equation*}&#10;\mp\left(-1\right)^{l}\Psi_{mhl}^{(\pm 1)}&#10;\end{equation*}&#10;&#10;\end{document}"/>
  <p:tag name="IGUANATEXSIZE" val="15"/>
  <p:tag name="IGUANATEXCURSOR" val="105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269.2164"/>
  <p:tag name="LATEXADDIN" val="\documentclass{article}&#10;\usepackage{amsmath,bm}&#10;\pagestyle{empty}&#10;\begin{document}&#10;&#10;\begin{equation*}&#10;\Psi_{mlh}^{(1\sigma)}&#10;\end{equation*}&#10;&#10;\end{document}"/>
  <p:tag name="IGUANATEXSIZE" val="15"/>
  <p:tag name="IGUANATEXCURSOR" val="10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362.2047"/>
  <p:tag name="LATEXADDIN" val="\documentclass{article}&#10;\usepackage{amsmath,bm}&#10;\pagestyle{empty}&#10;\begin{document}&#10;&#10;\begin{equation*}&#10;-\Psi_{mlh}^{(1\sigma)}&#10;\end{equation*}&#10;&#10;\end{document}"/>
  <p:tag name="IGUANATEXSIZE" val="15"/>
  <p:tag name="IGUANATEXCURSOR" val="12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362.2047"/>
  <p:tag name="LATEXADDIN" val="\documentclass{article}&#10;\usepackage{amsmath,bm}&#10;\pagestyle{empty}&#10;\begin{document}&#10;&#10;\begin{equation*}&#10;-\Psi_{mlh}^{(1\sigma)}&#10;\end{equation*}&#10;&#10;\end{document}"/>
  <p:tag name="IGUANATEXSIZE" val="15"/>
  <p:tag name="IGUANATEXCURSOR" val="12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557.9302"/>
  <p:tag name="OUTPUTTYPE" val="PNG"/>
  <p:tag name="IGUANATEXVERSION" val="159"/>
  <p:tag name="LATEXADDIN" val="\documentclass{article}&#10;\usepackage{amsmath,bm}&#10;\pagestyle{empty}&#10;\begin{document}&#10;&#10;\begin{equation*}&#10;(-1)^{l}\Psi_{mlh}^{(1\sigma)}&#10;\end{equation*}&#10;&#10;\end{document}"/>
  <p:tag name="IGUANATEXSIZE" val="15"/>
  <p:tag name="IGUANATEXCURSOR" val="10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573.303"/>
  <p:tag name="OUTPUTTYPE" val="PNG"/>
  <p:tag name="IGUANATEXVERSION" val="159"/>
  <p:tag name="LATEXADDIN" val="\documentclass{article}&#10;\usepackage{amsmath,bm}&#10;\pagestyle{empty}&#10;\begin{document}&#10;&#10;\begin{equation*}&#10;\sigma\Psi_{mlh;\sigma}^{(1)}&#10;\quad&#10;\sigma\Psi_{mlh;\sigma}^{(3)}&#10;\quad&#10;\sigma\Psi_{mlh;\sigma}^{(2)}&#10;\end{equation*}&#10;&#10;\end{document}"/>
  <p:tag name="IGUANATEXSIZE" val="15"/>
  <p:tag name="IGUANATEXCURSOR" val="180"/>
  <p:tag name="TRANSPARENCY" val="True"/>
  <p:tag name="FILENAME" val=""/>
  <p:tag name="LATEXENGINEID" val="0"/>
  <p:tag name="TEMPFOLDER" val="C:\iguanatex\"/>
  <p:tag name="LATEXFORMHEIGHT" val="462.75"/>
  <p:tag name="LATEXFORMWIDTH" val="717.75"/>
  <p:tag name="LATEXFORMWRAP" val="True"/>
  <p:tag name="BITMAPVECTOR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647.544"/>
  <p:tag name="OUTPUTTYPE" val="PNG"/>
  <p:tag name="IGUANATEXVERSION" val="159"/>
  <p:tag name="LATEXADDIN" val="\documentclass{article}&#10;\usepackage{amsmath,bm}&#10;\pagestyle{empty}&#10;\begin{document}&#10;&#10;\begin{equation*}&#10;\Psi_{mlh;\sigma}^{(q_{1})}&#10;=&#10;\Psi_{mhl}^{(-q_{2})}&#10;-h\sigma\mathrm{i}^{m}\Psi_{mhl}^{(+q_{3})}&#10;\end{equation*}&#10;&#10;\end{document}"/>
  <p:tag name="IGUANATEXSIZE" val="15"/>
  <p:tag name="IGUANATEXCURSOR" val="11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1\bar{2}\bar{3}\right)&#10;\end{equation*}&#10;&#10;\end{document}"/>
  <p:tag name="IGUANATEXSIZE" val="15"/>
  <p:tag name="IGUANATEXCURSOR" val="123"/>
  <p:tag name="TRANSPARENCY" val="True"/>
  <p:tag name="FILENAME" val=""/>
  <p:tag name="INPUTTYPE" val="0"/>
  <p:tag name="LATEXENGINEID" val="0"/>
  <p:tag name="TEMPFOLDER" val="D:\Temp\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\bar{1}2\bar{3}\right)&#10;\end{equation*}&#10;&#10;\end{document}"/>
  <p:tag name="IGUANATEXSIZE" val="15"/>
  <p:tag name="IGUANATEXCURSOR" val="123"/>
  <p:tag name="TRANSPARENCY" val="True"/>
  <p:tag name="FILENAME" val=""/>
  <p:tag name="INPUTTYPE" val="0"/>
  <p:tag name="LATEXENGINEID" val="0"/>
  <p:tag name="TEMPFOLDER" val="D:\Temp\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\bar{1}\bar{2}3\right)&#10;\end{equation*}&#10;&#10;\end{document}"/>
  <p:tag name="IGUANATEXSIZE" val="15"/>
  <p:tag name="IGUANATEXCURSOR" val="122"/>
  <p:tag name="TRANSPARENCY" val="True"/>
  <p:tag name="FILENAME" val=""/>
  <p:tag name="INPUTTYPE" val="0"/>
  <p:tag name="LATEXENGINEID" val="0"/>
  <p:tag name="TEMPFOLDER" val="D:\Temp\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5"/>
  <p:tag name="LAYER" val="4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52"/>
  <p:tag name="LAYER" val="4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50"/>
  <p:tag name="LAYER" val="3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132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321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213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0"/>
  <p:tag name="LAYER" val="3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9"/>
  <p:tag name="LAYER" val="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312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231\right)&#10;\end{equation*}&#10;&#10;\end{document}"/>
  <p:tag name="IGUANATEXSIZE" val="15"/>
  <p:tag name="IGUANATEXCURSOR" val="109"/>
  <p:tag name="TRANSPARENCY" val="True"/>
  <p:tag name="FILENAME" val=""/>
  <p:tag name="INPUTTYPE" val="0"/>
  <p:tag name="LATEXENGINEID" val="0"/>
  <p:tag name="TEMPFOLDER" val="D:\Temp\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123\right)&#10;\end{equation*}&#10;&#10;\end{document}"/>
  <p:tag name="IGUANATEXSIZE" val="15"/>
  <p:tag name="IGUANATEXCURSOR" val="118"/>
  <p:tag name="TRANSPARENCY" val="True"/>
  <p:tag name="FILENAME" val=""/>
  <p:tag name="INPUTTYPE" val="0"/>
  <p:tag name="LATEXENGINEID" val="0"/>
  <p:tag name="TEMPFOLDER" val="D:\Temp\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343.832"/>
  <p:tag name="OUTPUTTYPE" val="PNG"/>
  <p:tag name="IGUANATEXVERSION" val="159"/>
  <p:tag name="LATEXADDIN" val="\documentclass{article}&#10;\usepackage{amsmath,bm}&#10;\pagestyle{empty}&#10;\begin{document}&#10;&#10;\begin{equation*}&#10;\Psi_{mlh;\sigma}^{(1)}&#10;\quad&#10;\Psi_{mlh;\sigma}^{(3)}&#10;\quad&#10;\Psi_{mlh;\sigma}^{(2)}&#10;\end{equation*}&#10;&#10;\end{document}"/>
  <p:tag name="IGUANATEXSIZE" val="15"/>
  <p:tag name="IGUANATEXCURSOR" val="183"/>
  <p:tag name="TRANSPARENCY" val="True"/>
  <p:tag name="FILENAME" val=""/>
  <p:tag name="LATEXENGINEID" val="0"/>
  <p:tag name="TEMPFOLDER" val="C:\iguanatex\"/>
  <p:tag name="LATEXFORMHEIGHT" val="462.75"/>
  <p:tag name="LATEXFORMWIDTH" val="717.75"/>
  <p:tag name="LATEXFORMWRAP" val="True"/>
  <p:tag name="BITMAPVECTOR" val="0"/>
</p:tagLst>
</file>

<file path=ppt/theme/theme1.xml><?xml version="1.0" encoding="utf-8"?>
<a:theme xmlns:a="http://schemas.openxmlformats.org/drawingml/2006/main" name="UB Powerpoint Template">
  <a:themeElements>
    <a:clrScheme name="Custom 2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42493</TotalTime>
  <Words>175</Words>
  <Application>Microsoft Office PowerPoint</Application>
  <PresentationFormat>Widescreen</PresentationFormat>
  <Paragraphs>33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Georgia</vt:lpstr>
      <vt:lpstr>Gill Sans MT</vt:lpstr>
      <vt:lpstr>LucidaGrande</vt:lpstr>
      <vt:lpstr>UB Powerpoint Template</vt:lpstr>
      <vt:lpstr>Symmetry</vt:lpstr>
      <vt:lpstr>Generalized basis states -- I</vt:lpstr>
      <vt:lpstr>Generalized basis states -- II</vt:lpstr>
      <vt:lpstr>Effect of Td operations on naïve states</vt:lpstr>
      <vt:lpstr>Effect of Td operations, including Bloch functions, m even</vt:lpstr>
      <vt:lpstr>Effect of Td operations, including Bloch functions, m odd</vt:lpstr>
      <vt:lpstr>Effect of Td operations, including Bloch functions, m odd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Luke Pendo</cp:lastModifiedBy>
  <cp:revision>1823</cp:revision>
  <cp:lastPrinted>2016-07-18T17:32:49Z</cp:lastPrinted>
  <dcterms:created xsi:type="dcterms:W3CDTF">2016-06-28T14:05:07Z</dcterms:created>
  <dcterms:modified xsi:type="dcterms:W3CDTF">2023-04-29T15:17:55Z</dcterms:modified>
  <cp:category/>
</cp:coreProperties>
</file>