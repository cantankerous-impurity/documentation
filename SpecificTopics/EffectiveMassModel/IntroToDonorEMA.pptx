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7.xml" ContentType="application/vnd.openxmlformats-officedocument.presentationml.notesSlide+xml"/>
  <Override PartName="/ppt/tags/tag36.xml" ContentType="application/vnd.openxmlformats-officedocument.presentationml.tags+xml"/>
  <Override PartName="/ppt/notesSlides/notesSlide8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9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0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1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15"/>
  </p:notesMasterIdLst>
  <p:handoutMasterIdLst>
    <p:handoutMasterId r:id="rId16"/>
  </p:handoutMasterIdLst>
  <p:sldIdLst>
    <p:sldId id="424" r:id="rId2"/>
    <p:sldId id="524" r:id="rId3"/>
    <p:sldId id="527" r:id="rId4"/>
    <p:sldId id="525" r:id="rId5"/>
    <p:sldId id="531" r:id="rId6"/>
    <p:sldId id="530" r:id="rId7"/>
    <p:sldId id="532" r:id="rId8"/>
    <p:sldId id="511" r:id="rId9"/>
    <p:sldId id="494" r:id="rId10"/>
    <p:sldId id="509" r:id="rId11"/>
    <p:sldId id="510" r:id="rId12"/>
    <p:sldId id="523" r:id="rId13"/>
    <p:sldId id="522" r:id="rId14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75AD38"/>
    <a:srgbClr val="FFC11F"/>
    <a:srgbClr val="FF7F7F"/>
    <a:srgbClr val="0000FF"/>
    <a:srgbClr val="00CC00"/>
    <a:srgbClr val="00B050"/>
    <a:srgbClr val="33A366"/>
    <a:srgbClr val="005AC0"/>
    <a:srgbClr val="72A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01" autoAdjust="0"/>
    <p:restoredTop sz="94780" autoAdjust="0"/>
  </p:normalViewPr>
  <p:slideViewPr>
    <p:cSldViewPr snapToGrid="0" snapToObjects="1">
      <p:cViewPr varScale="1">
        <p:scale>
          <a:sx n="158" d="100"/>
          <a:sy n="158" d="100"/>
        </p:scale>
        <p:origin x="180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10/2/2020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10/2/2020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385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222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195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7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187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15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374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2011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277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4330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1413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26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300472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 baseline="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825265" y="2185416"/>
            <a:ext cx="9678987" cy="3848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Tx/>
              <a:buNone/>
              <a:defRPr sz="18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8" y="2185166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7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18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0255504" y="6240989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  <p:sldLayoutId id="2147483911" r:id="rId1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LucidaGrande" charset="0"/>
        <a:buChar char="-"/>
        <a:defRPr sz="16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12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0.png"/><Relationship Id="rId5" Type="http://schemas.openxmlformats.org/officeDocument/2006/relationships/tags" Target="../tags/tag5.xml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tags" Target="../tags/tag4.xml"/><Relationship Id="rId9" Type="http://schemas.openxmlformats.org/officeDocument/2006/relationships/notesSlide" Target="../notesSlides/notesSlide2.xml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10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2.xml"/><Relationship Id="rId10" Type="http://schemas.openxmlformats.org/officeDocument/2006/relationships/image" Target="../media/image17.png"/><Relationship Id="rId4" Type="http://schemas.openxmlformats.org/officeDocument/2006/relationships/tags" Target="../tags/tag11.xml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image" Target="../media/image20.png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tags" Target="../tags/tag14.xml"/><Relationship Id="rId16" Type="http://schemas.openxmlformats.org/officeDocument/2006/relationships/image" Target="../media/image23.png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18.png"/><Relationship Id="rId5" Type="http://schemas.openxmlformats.org/officeDocument/2006/relationships/tags" Target="../tags/tag17.xml"/><Relationship Id="rId15" Type="http://schemas.openxmlformats.org/officeDocument/2006/relationships/image" Target="../media/image22.png"/><Relationship Id="rId10" Type="http://schemas.openxmlformats.org/officeDocument/2006/relationships/notesSlide" Target="../notesSlides/notesSlide4.xml"/><Relationship Id="rId4" Type="http://schemas.openxmlformats.org/officeDocument/2006/relationships/tags" Target="../tags/tag16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notesSlide" Target="../notesSlides/notesSlide5.xml"/><Relationship Id="rId18" Type="http://schemas.openxmlformats.org/officeDocument/2006/relationships/image" Target="../media/image29.png"/><Relationship Id="rId3" Type="http://schemas.openxmlformats.org/officeDocument/2006/relationships/tags" Target="../tags/tag23.xml"/><Relationship Id="rId21" Type="http://schemas.openxmlformats.org/officeDocument/2006/relationships/image" Target="../media/image32.png"/><Relationship Id="rId7" Type="http://schemas.openxmlformats.org/officeDocument/2006/relationships/tags" Target="../tags/tag2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8.png"/><Relationship Id="rId2" Type="http://schemas.openxmlformats.org/officeDocument/2006/relationships/tags" Target="../tags/tag22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24" Type="http://schemas.openxmlformats.org/officeDocument/2006/relationships/image" Target="../media/image35.png"/><Relationship Id="rId5" Type="http://schemas.openxmlformats.org/officeDocument/2006/relationships/tags" Target="../tags/tag25.xml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10" Type="http://schemas.openxmlformats.org/officeDocument/2006/relationships/tags" Target="../tags/tag30.xml"/><Relationship Id="rId19" Type="http://schemas.openxmlformats.org/officeDocument/2006/relationships/image" Target="../media/image30.png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34.xml"/><Relationship Id="rId7" Type="http://schemas.openxmlformats.org/officeDocument/2006/relationships/image" Target="../media/image37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0.png"/><Relationship Id="rId4" Type="http://schemas.openxmlformats.org/officeDocument/2006/relationships/tags" Target="../tags/tag35.xml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6.xml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image" Target="../media/image44.png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tags" Target="../tags/tag38.xml"/><Relationship Id="rId16" Type="http://schemas.openxmlformats.org/officeDocument/2006/relationships/image" Target="../media/image47.png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image" Target="../media/image42.png"/><Relationship Id="rId5" Type="http://schemas.openxmlformats.org/officeDocument/2006/relationships/tags" Target="../tags/tag41.xml"/><Relationship Id="rId15" Type="http://schemas.openxmlformats.org/officeDocument/2006/relationships/image" Target="../media/image46.png"/><Relationship Id="rId10" Type="http://schemas.openxmlformats.org/officeDocument/2006/relationships/notesSlide" Target="../notesSlides/notesSlide9.xml"/><Relationship Id="rId4" Type="http://schemas.openxmlformats.org/officeDocument/2006/relationships/tags" Target="../tags/tag40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52.png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image" Target="../media/image51.png"/><Relationship Id="rId2" Type="http://schemas.openxmlformats.org/officeDocument/2006/relationships/tags" Target="../tags/tag46.xml"/><Relationship Id="rId16" Type="http://schemas.openxmlformats.org/officeDocument/2006/relationships/image" Target="../media/image47.png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image" Target="../media/image50.png"/><Relationship Id="rId5" Type="http://schemas.openxmlformats.org/officeDocument/2006/relationships/tags" Target="../tags/tag49.xml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tags" Target="../tags/tag48.xml"/><Relationship Id="rId9" Type="http://schemas.openxmlformats.org/officeDocument/2006/relationships/notesSlide" Target="../notesSlides/notesSlide10.xml"/><Relationship Id="rId1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13" Type="http://schemas.openxmlformats.org/officeDocument/2006/relationships/image" Target="../media/image59.png"/><Relationship Id="rId3" Type="http://schemas.openxmlformats.org/officeDocument/2006/relationships/tags" Target="../tags/tag54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58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image" Target="../media/image57.png"/><Relationship Id="rId5" Type="http://schemas.openxmlformats.org/officeDocument/2006/relationships/tags" Target="../tags/tag56.xml"/><Relationship Id="rId10" Type="http://schemas.openxmlformats.org/officeDocument/2006/relationships/image" Target="../media/image56.png"/><Relationship Id="rId4" Type="http://schemas.openxmlformats.org/officeDocument/2006/relationships/tags" Target="../tags/tag55.xml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tags" Target="../tags/tag60.xml"/><Relationship Id="rId7" Type="http://schemas.openxmlformats.org/officeDocument/2006/relationships/image" Target="../media/image62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61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764583" y="5144429"/>
            <a:ext cx="46628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Picture modified by L. Pendo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Original crystal structure picture by Ben Mills, public domain. </a:t>
            </a:r>
          </a:p>
          <a:p>
            <a:pPr algn="ctr"/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https://commons.wikimedia.org/w/index.php?curid=2722584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809018-FBA5-4CB6-AE04-5CDD93B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System description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B03C00-2683-4AC6-A551-429FDB2D3F5F}"/>
              </a:ext>
            </a:extLst>
          </p:cNvPr>
          <p:cNvGrpSpPr/>
          <p:nvPr/>
        </p:nvGrpSpPr>
        <p:grpSpPr>
          <a:xfrm>
            <a:off x="526645" y="2119688"/>
            <a:ext cx="11138711" cy="2769989"/>
            <a:chOff x="526645" y="2119688"/>
            <a:chExt cx="11138711" cy="2769989"/>
          </a:xfrm>
        </p:grpSpPr>
        <p:sp>
          <p:nvSpPr>
            <p:cNvPr id="26" name="Text Placeholder 1 1 1"/>
            <p:cNvSpPr txBox="1">
              <a:spLocks/>
            </p:cNvSpPr>
            <p:nvPr/>
          </p:nvSpPr>
          <p:spPr>
            <a:xfrm>
              <a:off x="3592791" y="2119688"/>
              <a:ext cx="8072565" cy="276998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Infinite silicon crystal bulk.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Silicon replaced by an isolated pnictogen (Group V/Group 15) impurity.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pnictogen we consider most often is </a:t>
              </a:r>
              <a:r>
                <a:rPr lang="en-US" dirty="0">
                  <a:solidFill>
                    <a:srgbClr val="75AD3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phosphorous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endParaRPr lang="en-US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System is symmetric about the impurity under </a:t>
              </a:r>
              <a:r>
                <a:rPr lang="en-US" dirty="0">
                  <a:solidFill>
                    <a:schemeClr val="accent6">
                      <a:lumMod val="90000"/>
                      <a:lumOff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operations of point group </a:t>
              </a:r>
              <a:r>
                <a:rPr lang="en-US" i="1" dirty="0">
                  <a:solidFill>
                    <a:schemeClr val="accent6">
                      <a:lumMod val="90000"/>
                      <a:lumOff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r>
                <a:rPr lang="en-US" i="1" baseline="-25000" dirty="0">
                  <a:solidFill>
                    <a:schemeClr val="accent6">
                      <a:lumMod val="90000"/>
                      <a:lumOff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Excess proton of pnictogen attracts an </a:t>
              </a:r>
              <a:r>
                <a:rPr lang="en-US" dirty="0">
                  <a:solidFill>
                    <a:schemeClr val="accent6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excess electron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accent6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Excess electron 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affected by</a:t>
              </a:r>
              <a:r>
                <a:rPr lang="en-US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periodic crystal potential</a:t>
              </a: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weakly bound to donor potential</a:t>
              </a: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endParaRPr lang="en-US" i="1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42939" lvl="1" indent="-2857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800" i="1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Short-range</a:t>
              </a:r>
              <a:r>
                <a:rPr lang="en-US" sz="1800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: looks like a </a:t>
              </a:r>
              <a:r>
                <a:rPr lang="en-US" sz="1800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Bloch wave</a:t>
              </a:r>
              <a:r>
                <a:rPr lang="en-US" sz="1800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marL="742939" lvl="1" indent="-2857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800" i="1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Long-range:</a:t>
              </a:r>
              <a:r>
                <a:rPr lang="en-US" sz="18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attenuated on scale </a:t>
              </a:r>
              <a:r>
                <a: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longer then </a:t>
              </a:r>
              <a:r>
                <a:rPr lang="en-US" sz="1800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lattice parameter.</a:t>
              </a:r>
              <a:endParaRPr lang="en-US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8E4C0CB-E68B-4518-8186-B5D412936B57}"/>
                </a:ext>
              </a:extLst>
            </p:cNvPr>
            <p:cNvGrpSpPr/>
            <p:nvPr/>
          </p:nvGrpSpPr>
          <p:grpSpPr>
            <a:xfrm>
              <a:off x="526645" y="2292648"/>
              <a:ext cx="2539501" cy="2424069"/>
              <a:chOff x="1818890" y="4316117"/>
              <a:chExt cx="2539501" cy="2424069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5BFB7BC-8D47-4687-8930-F5D182F924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18890" y="4316117"/>
                <a:ext cx="2539501" cy="2424069"/>
              </a:xfrm>
              <a:prstGeom prst="rect">
                <a:avLst/>
              </a:prstGeom>
            </p:spPr>
          </p:pic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7720027-78A5-4834-86B7-EF7D75B3F4D3}"/>
                  </a:ext>
                </a:extLst>
              </p:cNvPr>
              <p:cNvSpPr/>
              <p:nvPr/>
            </p:nvSpPr>
            <p:spPr>
              <a:xfrm>
                <a:off x="2530655" y="4974644"/>
                <a:ext cx="246317" cy="246317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925EBF-E388-4365-A313-61B414B65172}"/>
                  </a:ext>
                </a:extLst>
              </p:cNvPr>
              <p:cNvSpPr txBox="1"/>
              <p:nvPr/>
            </p:nvSpPr>
            <p:spPr>
              <a:xfrm>
                <a:off x="2530655" y="4974644"/>
                <a:ext cx="22405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P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49255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A7B3664-3167-4007-84B3-071F23854AA8}"/>
              </a:ext>
            </a:extLst>
          </p:cNvPr>
          <p:cNvGrpSpPr/>
          <p:nvPr/>
        </p:nvGrpSpPr>
        <p:grpSpPr>
          <a:xfrm>
            <a:off x="155473" y="1632436"/>
            <a:ext cx="4660501" cy="3819397"/>
            <a:chOff x="13099" y="1175235"/>
            <a:chExt cx="4660501" cy="381939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C2AA13F-3ACA-43FB-BA2E-68F8EB11DE5C}"/>
                </a:ext>
              </a:extLst>
            </p:cNvPr>
            <p:cNvSpPr txBox="1"/>
            <p:nvPr/>
          </p:nvSpPr>
          <p:spPr>
            <a:xfrm>
              <a:off x="13099" y="4255968"/>
              <a:ext cx="466050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Band structure picture from J. Ghosh.</a:t>
              </a:r>
            </a:p>
            <a:p>
              <a:pPr algn="ctr"/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Dr.techn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. Thesis, Vienna University of Technology, 2016. </a:t>
              </a:r>
            </a:p>
            <a:p>
              <a:pPr algn="ctr"/>
              <a:r>
                <a:rPr lang="en-US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https://www.iue.tuwien.ac.at/phd/ghosh/diss_htmse10.html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4BE7DAC-513D-4D2C-82A6-4943F198D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63896" y="1175235"/>
              <a:ext cx="2958907" cy="3082440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86CAA5B-1B19-4163-80F3-1A4DBAAA232F}"/>
              </a:ext>
            </a:extLst>
          </p:cNvPr>
          <p:cNvGrpSpPr/>
          <p:nvPr/>
        </p:nvGrpSpPr>
        <p:grpSpPr>
          <a:xfrm>
            <a:off x="4971447" y="1671567"/>
            <a:ext cx="7065079" cy="3741134"/>
            <a:chOff x="4640965" y="1080349"/>
            <a:chExt cx="7065079" cy="3741134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FE1A1B83-2C1E-4088-B002-D7DC20524662}"/>
                </a:ext>
              </a:extLst>
            </p:cNvPr>
            <p:cNvGrpSpPr/>
            <p:nvPr/>
          </p:nvGrpSpPr>
          <p:grpSpPr>
            <a:xfrm>
              <a:off x="4640965" y="1684056"/>
              <a:ext cx="7065079" cy="2492990"/>
              <a:chOff x="4640965" y="1684056"/>
              <a:chExt cx="7065079" cy="2492990"/>
            </a:xfrm>
          </p:grpSpPr>
          <p:sp>
            <p:nvSpPr>
              <p:cNvPr id="26" name="Text Placeholder 1 1 1 1"/>
              <p:cNvSpPr txBox="1">
                <a:spLocks/>
              </p:cNvSpPr>
              <p:nvPr/>
            </p:nvSpPr>
            <p:spPr>
              <a:xfrm>
                <a:off x="4640965" y="1684056"/>
                <a:ext cx="7065079" cy="249299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0" indent="0" algn="l" defTabSz="914400" rtl="0" eaLnBrk="1" latinLnBrk="0" hangingPunct="1">
                  <a:lnSpc>
                    <a:spcPts val="26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800" b="0" i="0" kern="1200" spc="-50" baseline="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457189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>
                        <a:tint val="75000"/>
                      </a:schemeClr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914377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None/>
                  <a:defRPr sz="1800" kern="1200" baseline="0">
                    <a:solidFill>
                      <a:schemeClr val="tx1">
                        <a:tint val="75000"/>
                      </a:schemeClr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371566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1828754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285943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 the pure silicon crystal be described by the Hamiltonian        .</a:t>
                </a: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50000"/>
                        <a:lumOff val="5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Excess electron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occupies a conduction band </a:t>
                </a:r>
                <a:r>
                  <a:rPr lang="en-US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Bloch state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is an unbounded Hermitian operator; set of           forms complete basis.</a:t>
                </a: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 such, arbitrary states may be expanded in          . </a:t>
                </a:r>
              </a:p>
            </p:txBody>
          </p: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D0FDDE20-24F3-4218-999B-0D52F54246C4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10178601" y="1771301"/>
                <a:ext cx="300190" cy="213333"/>
              </a:xfrm>
              <a:prstGeom prst="rect">
                <a:avLst/>
              </a:prstGeom>
            </p:spPr>
          </p:pic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601B0667-526E-432E-8D35-FA92E4E5849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4991251" y="3545468"/>
                <a:ext cx="270171" cy="192000"/>
              </a:xfrm>
              <a:prstGeom prst="rect">
                <a:avLst/>
              </a:prstGeom>
            </p:spPr>
          </p:pic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DDB586E0-7800-4460-BF8B-28A2EE0074A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9146236" y="3492096"/>
                <a:ext cx="379886" cy="229029"/>
              </a:xfrm>
              <a:prstGeom prst="rect">
                <a:avLst/>
              </a:prstGeom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C7DD0526-531E-47B5-B3CA-C01E232F85B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8918927" y="3879772"/>
                <a:ext cx="379886" cy="229029"/>
              </a:xfrm>
              <a:prstGeom prst="rect">
                <a:avLst/>
              </a:prstGeom>
            </p:spPr>
          </p:pic>
        </p:grpSp>
        <p:sp>
          <p:nvSpPr>
            <p:cNvPr id="25" name="Title 2 2 1 1"/>
            <p:cNvSpPr txBox="1">
              <a:spLocks/>
            </p:cNvSpPr>
            <p:nvPr/>
          </p:nvSpPr>
          <p:spPr>
            <a:xfrm>
              <a:off x="6576382" y="1080349"/>
              <a:ext cx="3194245" cy="507831"/>
            </a:xfrm>
            <a:prstGeom prst="rect">
              <a:avLst/>
            </a:prstGeom>
          </p:spPr>
          <p:txBody>
            <a:bodyPr vert="horz" wrap="square" lIns="91440" tIns="45720" rIns="91440" bIns="45720" rtlCol="0" anchor="b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0" kern="1200">
                  <a:solidFill>
                    <a:schemeClr val="tx2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1pPr>
            </a:lstStyle>
            <a:p>
              <a:pPr algn="ctr"/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Pure crystal theory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22D386A-81B4-4EE9-9957-353A830BCFB7}"/>
                </a:ext>
              </a:extLst>
            </p:cNvPr>
            <p:cNvGrpSpPr/>
            <p:nvPr/>
          </p:nvGrpSpPr>
          <p:grpSpPr>
            <a:xfrm>
              <a:off x="5858837" y="2460076"/>
              <a:ext cx="4629334" cy="950263"/>
              <a:chOff x="5266778" y="2755786"/>
              <a:chExt cx="4629334" cy="950263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A38046B0-3924-4892-8C65-CBC6FFAF87A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6521637" y="2755786"/>
                <a:ext cx="2119617" cy="254476"/>
              </a:xfrm>
              <a:prstGeom prst="rect">
                <a:avLst/>
              </a:prstGeom>
            </p:spPr>
          </p:pic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0B8CE04C-76CB-42B6-8DFF-3987F4C9246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5266778" y="3136145"/>
                <a:ext cx="4629334" cy="569904"/>
              </a:xfrm>
              <a:prstGeom prst="rect">
                <a:avLst/>
              </a:prstGeom>
            </p:spPr>
          </p:pic>
        </p:grp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EE2AE00C-43ED-4A33-A20D-AAB0A90AA01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6761695" y="4184531"/>
              <a:ext cx="2823618" cy="6369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4143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FFE832-BFE0-4140-8FB7-7844E1D898C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617597" y="2047718"/>
            <a:ext cx="144000" cy="16594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54AE0E6-9CF6-4C55-AA6E-BB967284B04D}"/>
              </a:ext>
            </a:extLst>
          </p:cNvPr>
          <p:cNvGrpSpPr/>
          <p:nvPr/>
        </p:nvGrpSpPr>
        <p:grpSpPr>
          <a:xfrm>
            <a:off x="1845823" y="1949621"/>
            <a:ext cx="8500354" cy="1226127"/>
            <a:chOff x="1845823" y="1949621"/>
            <a:chExt cx="8500354" cy="1226127"/>
          </a:xfrm>
        </p:grpSpPr>
        <p:sp>
          <p:nvSpPr>
            <p:cNvPr id="26" name="Text Placeholder 1 1 1 1"/>
            <p:cNvSpPr txBox="1">
              <a:spLocks/>
            </p:cNvSpPr>
            <p:nvPr/>
          </p:nvSpPr>
          <p:spPr>
            <a:xfrm>
              <a:off x="1845823" y="1949621"/>
              <a:ext cx="8500354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Introduce an effective potential term     to include all deviations from a perfect crystal.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3F6BC5F-EF5E-4C01-B36F-ED3FC42A7C5A}"/>
                </a:ext>
              </a:extLst>
            </p:cNvPr>
            <p:cNvGrpSpPr/>
            <p:nvPr/>
          </p:nvGrpSpPr>
          <p:grpSpPr>
            <a:xfrm>
              <a:off x="5349334" y="2640204"/>
              <a:ext cx="1493333" cy="535544"/>
              <a:chOff x="5349334" y="2386201"/>
              <a:chExt cx="1493333" cy="53554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6E136FE-D553-487B-8DF4-2C9652661F66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>
                <a:off x="5420191" y="2386201"/>
                <a:ext cx="1351619" cy="213333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F4C6FA69-A524-4272-93F6-07E31904896C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0"/>
              <a:stretch>
                <a:fillRect/>
              </a:stretch>
            </p:blipFill>
            <p:spPr>
              <a:xfrm>
                <a:off x="5349334" y="2667269"/>
                <a:ext cx="1493333" cy="254476"/>
              </a:xfrm>
              <a:prstGeom prst="rect">
                <a:avLst/>
              </a:prstGeom>
            </p:spPr>
          </p:pic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1928D84-11FE-43F7-A141-724D3643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Introducing  imperfections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A71E903-EC88-45D2-8948-FE7C86DF7D1F}"/>
              </a:ext>
            </a:extLst>
          </p:cNvPr>
          <p:cNvGrpSpPr/>
          <p:nvPr/>
        </p:nvGrpSpPr>
        <p:grpSpPr>
          <a:xfrm>
            <a:off x="2032179" y="3491299"/>
            <a:ext cx="8500354" cy="2139047"/>
            <a:chOff x="2455692" y="1949621"/>
            <a:chExt cx="8500354" cy="2139047"/>
          </a:xfrm>
        </p:grpSpPr>
        <p:sp>
          <p:nvSpPr>
            <p:cNvPr id="58" name="Text Placeholder 1 1 1 1">
              <a:extLst>
                <a:ext uri="{FF2B5EF4-FFF2-40B4-BE49-F238E27FC236}">
                  <a16:creationId xmlns:a16="http://schemas.microsoft.com/office/drawing/2014/main" id="{34F16456-69DD-49CE-B27A-F557E444D186}"/>
                </a:ext>
              </a:extLst>
            </p:cNvPr>
            <p:cNvSpPr txBox="1">
              <a:spLocks/>
            </p:cNvSpPr>
            <p:nvPr/>
          </p:nvSpPr>
          <p:spPr>
            <a:xfrm>
              <a:off x="2455692" y="1949621"/>
              <a:ext cx="8500354" cy="2139047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Features that a candidate     can include might be...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Mismatch between silicon and impurity core and valence electron wavefunctions.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Lattice deformations.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Dynamic dielectric constant, and break down of dielectric in core region.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Exchange interactions between donor excess electron and donor core and valence electrons.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External symmetry breaking fields.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59B41202-659B-414D-9827-19A744D30D8C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6747354" y="2047718"/>
              <a:ext cx="144000" cy="165943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CE06A4E-F348-4293-B143-1CEC83EFD6E3}"/>
              </a:ext>
            </a:extLst>
          </p:cNvPr>
          <p:cNvGrpSpPr/>
          <p:nvPr/>
        </p:nvGrpSpPr>
        <p:grpSpPr>
          <a:xfrm>
            <a:off x="1845823" y="6047499"/>
            <a:ext cx="8500354" cy="369332"/>
            <a:chOff x="1845823" y="4354159"/>
            <a:chExt cx="8500354" cy="369332"/>
          </a:xfrm>
        </p:grpSpPr>
        <p:sp>
          <p:nvSpPr>
            <p:cNvPr id="62" name="Text Placeholder 1 1 1 1">
              <a:extLst>
                <a:ext uri="{FF2B5EF4-FFF2-40B4-BE49-F238E27FC236}">
                  <a16:creationId xmlns:a16="http://schemas.microsoft.com/office/drawing/2014/main" id="{E15FFCE3-1618-4C74-B00B-B5DD5473D675}"/>
                </a:ext>
              </a:extLst>
            </p:cNvPr>
            <p:cNvSpPr txBox="1">
              <a:spLocks/>
            </p:cNvSpPr>
            <p:nvPr/>
          </p:nvSpPr>
          <p:spPr>
            <a:xfrm>
              <a:off x="1845823" y="4354159"/>
              <a:ext cx="8500354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dirty="0">
                  <a:solidFill>
                    <a:schemeClr val="accent3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most useful form of effective potential     is still an open question!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B5F521E-8373-4DEF-87E5-2D7DDE641E94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6826809" y="4455761"/>
              <a:ext cx="144000" cy="1659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8890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 1">
            <a:extLst>
              <a:ext uri="{FF2B5EF4-FFF2-40B4-BE49-F238E27FC236}">
                <a16:creationId xmlns:a16="http://schemas.microsoft.com/office/drawing/2014/main" id="{AADF7560-75EA-4279-9F3D-77A440406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method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C6B6FDD-38F3-4568-920E-7CB8EA7790A2}"/>
              </a:ext>
            </a:extLst>
          </p:cNvPr>
          <p:cNvGrpSpPr/>
          <p:nvPr/>
        </p:nvGrpSpPr>
        <p:grpSpPr>
          <a:xfrm>
            <a:off x="2627058" y="2542911"/>
            <a:ext cx="6937885" cy="758857"/>
            <a:chOff x="3345795" y="2307227"/>
            <a:chExt cx="6937885" cy="758857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535C079-4E80-4AE8-ABB2-3E274F3A2AEF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3345795" y="2387227"/>
              <a:ext cx="2441143" cy="598857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2EA135E-D2AA-40F9-A558-F05789C76CBF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6212063" y="2307227"/>
              <a:ext cx="4071617" cy="758857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6E7C763-D566-48BC-B935-E5B115D92A56}"/>
              </a:ext>
            </a:extLst>
          </p:cNvPr>
          <p:cNvGrpSpPr/>
          <p:nvPr/>
        </p:nvGrpSpPr>
        <p:grpSpPr>
          <a:xfrm>
            <a:off x="3288481" y="3623401"/>
            <a:ext cx="5615039" cy="723275"/>
            <a:chOff x="3288481" y="3623401"/>
            <a:chExt cx="5615039" cy="723275"/>
          </a:xfrm>
        </p:grpSpPr>
        <p:sp>
          <p:nvSpPr>
            <p:cNvPr id="23" name="Text Placeholder 1 1 1 1 2 1">
              <a:extLst>
                <a:ext uri="{FF2B5EF4-FFF2-40B4-BE49-F238E27FC236}">
                  <a16:creationId xmlns:a16="http://schemas.microsoft.com/office/drawing/2014/main" id="{1FED7737-84D4-4A7D-9A85-6C2F82F8F3F3}"/>
                </a:ext>
              </a:extLst>
            </p:cNvPr>
            <p:cNvSpPr txBox="1">
              <a:spLocks/>
            </p:cNvSpPr>
            <p:nvPr/>
          </p:nvSpPr>
          <p:spPr>
            <a:xfrm>
              <a:off x="3288481" y="3623401"/>
              <a:ext cx="5615039" cy="723275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Find an ansatz         </a:t>
              </a:r>
              <a:r>
                <a:rPr lang="en-US" dirty="0" err="1">
                  <a:latin typeface="Calibri" panose="020F0502020204030204" pitchFamily="34" charset="0"/>
                  <a:cs typeface="Calibri" panose="020F0502020204030204" pitchFamily="34" charset="0"/>
                </a:rPr>
                <a:t>s.t.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             and             are minimized.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 err="1">
                  <a:latin typeface="Calibri" panose="020F0502020204030204" pitchFamily="34" charset="0"/>
                  <a:cs typeface="Calibri" panose="020F0502020204030204" pitchFamily="34" charset="0"/>
                </a:rPr>
                <a:t>Iff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        is exactly an eigenstate of                  then                     .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97A4125-9514-42EE-8E96-FF1FF23BF318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4982163" y="3704435"/>
              <a:ext cx="278400" cy="22902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9DE2189-8249-479A-920D-364F9E52FBEB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5655420" y="3704436"/>
              <a:ext cx="449829" cy="229029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92D746F-C014-425B-B35E-F3559C283E0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6597107" y="3687455"/>
              <a:ext cx="493714" cy="254476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CB2FADC-93BB-42DC-8AC7-8857D58A83AE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3921856" y="4068930"/>
              <a:ext cx="278400" cy="229029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6895581-F0EC-4A73-AECE-E6CA68099503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6516510" y="4074530"/>
              <a:ext cx="720000" cy="192000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5E0D845C-0126-4CCA-9F0E-F8AC017AFD64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7758055" y="4062902"/>
              <a:ext cx="880457" cy="229029"/>
            </a:xfrm>
            <a:prstGeom prst="rect">
              <a:avLst/>
            </a:prstGeom>
          </p:spPr>
        </p:pic>
      </p:grpSp>
      <p:sp>
        <p:nvSpPr>
          <p:cNvPr id="64" name="Text Placeholder 1 1 1 1 2 2">
            <a:extLst>
              <a:ext uri="{FF2B5EF4-FFF2-40B4-BE49-F238E27FC236}">
                <a16:creationId xmlns:a16="http://schemas.microsoft.com/office/drawing/2014/main" id="{CB4D9673-7CE2-4E6B-9F2E-8E58206D1540}"/>
              </a:ext>
            </a:extLst>
          </p:cNvPr>
          <p:cNvSpPr txBox="1">
            <a:spLocks/>
          </p:cNvSpPr>
          <p:nvPr/>
        </p:nvSpPr>
        <p:spPr>
          <a:xfrm>
            <a:off x="1644240" y="4668309"/>
            <a:ext cx="8903520" cy="7232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800" b="0" i="0" kern="120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2859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Dramatically reduces problem difficulty, but requires judicious choice of ansatz.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No clear method to refine ansatz to approach exact solution within desired numerical tolerances.</a:t>
            </a:r>
          </a:p>
        </p:txBody>
      </p:sp>
    </p:spTree>
    <p:extLst>
      <p:ext uri="{BB962C8B-B14F-4D97-AF65-F5344CB8AC3E}">
        <p14:creationId xmlns:p14="http://schemas.microsoft.com/office/powerpoint/2010/main" val="3025106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 1">
            <a:extLst>
              <a:ext uri="{FF2B5EF4-FFF2-40B4-BE49-F238E27FC236}">
                <a16:creationId xmlns:a16="http://schemas.microsoft.com/office/drawing/2014/main" id="{AADF7560-75EA-4279-9F3D-77A440406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Ritz method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4C9DF4C-3A2F-434C-BEB0-CB7D841D652F}"/>
              </a:ext>
            </a:extLst>
          </p:cNvPr>
          <p:cNvGrpSpPr/>
          <p:nvPr/>
        </p:nvGrpSpPr>
        <p:grpSpPr>
          <a:xfrm>
            <a:off x="2294157" y="2002202"/>
            <a:ext cx="7603686" cy="723275"/>
            <a:chOff x="1785064" y="2459403"/>
            <a:chExt cx="7603686" cy="723275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6643100-9B0B-4A1C-976F-E43EA0F39005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7788750" y="2533040"/>
              <a:ext cx="1600000" cy="576000"/>
            </a:xfrm>
            <a:prstGeom prst="rect">
              <a:avLst/>
            </a:prstGeom>
          </p:spPr>
        </p:pic>
        <p:sp>
          <p:nvSpPr>
            <p:cNvPr id="20" name="Text Placeholder 1 1 1 1 1 2">
              <a:extLst>
                <a:ext uri="{FF2B5EF4-FFF2-40B4-BE49-F238E27FC236}">
                  <a16:creationId xmlns:a16="http://schemas.microsoft.com/office/drawing/2014/main" id="{33BD7C0A-267B-4B74-AF9F-D4F591C197FB}"/>
                </a:ext>
              </a:extLst>
            </p:cNvPr>
            <p:cNvSpPr txBox="1">
              <a:spLocks/>
            </p:cNvSpPr>
            <p:nvPr/>
          </p:nvSpPr>
          <p:spPr>
            <a:xfrm>
              <a:off x="1785064" y="2459403"/>
              <a:ext cx="5386204" cy="723275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Express ansatz as a summation over a set of basis states.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No guarantee of orthonormality assumed.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8A4D8E-6E7A-43E7-B7A3-714AFAD01B52}"/>
              </a:ext>
            </a:extLst>
          </p:cNvPr>
          <p:cNvGrpSpPr/>
          <p:nvPr/>
        </p:nvGrpSpPr>
        <p:grpSpPr>
          <a:xfrm>
            <a:off x="1037993" y="3194485"/>
            <a:ext cx="10116015" cy="1443301"/>
            <a:chOff x="1037993" y="3287543"/>
            <a:chExt cx="10116015" cy="144330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FA8F040-0D79-48E1-A235-D611868647FB}"/>
                </a:ext>
              </a:extLst>
            </p:cNvPr>
            <p:cNvGrpSpPr/>
            <p:nvPr/>
          </p:nvGrpSpPr>
          <p:grpSpPr>
            <a:xfrm>
              <a:off x="1037993" y="3287543"/>
              <a:ext cx="10116015" cy="758857"/>
              <a:chOff x="1037993" y="3287543"/>
              <a:chExt cx="10116015" cy="758857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D778F2B5-0777-4C4A-A6BA-128AE32E6174}"/>
                  </a:ext>
                </a:extLst>
              </p:cNvPr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15"/>
              <a:stretch>
                <a:fillRect/>
              </a:stretch>
            </p:blipFill>
            <p:spPr>
              <a:xfrm>
                <a:off x="1037993" y="3324113"/>
                <a:ext cx="5418663" cy="685714"/>
              </a:xfrm>
              <a:prstGeom prst="rect">
                <a:avLst/>
              </a:prstGeom>
            </p:spPr>
          </p:pic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1EA06099-8086-4BC3-A2E7-EED3FE07C1C5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6"/>
              <a:stretch>
                <a:fillRect/>
              </a:stretch>
            </p:blipFill>
            <p:spPr>
              <a:xfrm>
                <a:off x="6962011" y="3287543"/>
                <a:ext cx="4191997" cy="758857"/>
              </a:xfrm>
              <a:prstGeom prst="rect">
                <a:avLst/>
              </a:prstGeom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F7DA58-0027-4008-A98D-18E6F3F35A25}"/>
                </a:ext>
              </a:extLst>
            </p:cNvPr>
            <p:cNvGrpSpPr/>
            <p:nvPr/>
          </p:nvGrpSpPr>
          <p:grpSpPr>
            <a:xfrm>
              <a:off x="1433740" y="4226463"/>
              <a:ext cx="9324521" cy="504381"/>
              <a:chOff x="1073906" y="5555732"/>
              <a:chExt cx="9324521" cy="504381"/>
            </a:xfrm>
          </p:grpSpPr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EAD4E56C-3362-41E3-9AE7-DD8D8AD1682D}"/>
                  </a:ext>
                </a:extLst>
              </p:cNvPr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17"/>
              <a:stretch>
                <a:fillRect/>
              </a:stretch>
            </p:blipFill>
            <p:spPr>
              <a:xfrm>
                <a:off x="3544930" y="5656303"/>
                <a:ext cx="2694094" cy="303238"/>
              </a:xfrm>
              <a:prstGeom prst="rect">
                <a:avLst/>
              </a:prstGeom>
            </p:spPr>
          </p:pic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03A9DC15-5DCC-4984-B0F8-E393BD3E8D0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8"/>
              <a:stretch>
                <a:fillRect/>
              </a:stretch>
            </p:blipFill>
            <p:spPr>
              <a:xfrm>
                <a:off x="1073906" y="5656303"/>
                <a:ext cx="1756952" cy="303238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0CA3807-F157-4DFE-A536-68620CCFF193}"/>
                  </a:ext>
                </a:extLst>
              </p:cNvPr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19"/>
              <a:stretch>
                <a:fillRect/>
              </a:stretch>
            </p:blipFill>
            <p:spPr>
              <a:xfrm>
                <a:off x="6953096" y="5555732"/>
                <a:ext cx="3445331" cy="504381"/>
              </a:xfrm>
              <a:prstGeom prst="rect">
                <a:avLst/>
              </a:prstGeom>
            </p:spPr>
          </p:pic>
        </p:grp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661ECB82-1774-4BE2-9D4B-3C761DC860C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8905239" y="6473715"/>
            <a:ext cx="106971" cy="104229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06B08FAC-A280-4175-8D04-A8EBBE9BDDDF}"/>
              </a:ext>
            </a:extLst>
          </p:cNvPr>
          <p:cNvGrpSpPr/>
          <p:nvPr/>
        </p:nvGrpSpPr>
        <p:grpSpPr>
          <a:xfrm>
            <a:off x="2013257" y="5106795"/>
            <a:ext cx="8165486" cy="1518553"/>
            <a:chOff x="2013257" y="5106795"/>
            <a:chExt cx="8165486" cy="1518553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76650148-71CD-48BD-BE37-2468632A0A5D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4517486" y="5106795"/>
              <a:ext cx="3157029" cy="171429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82E2833-FE39-4673-8B7F-598C980A15C3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2100343" y="5494122"/>
              <a:ext cx="7991315" cy="229029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C0B1466-B0B5-46FF-8B00-F966EC95581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3316800" y="6383976"/>
              <a:ext cx="5558400" cy="241372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7D19EE4C-53D3-4CAC-AFAC-7632A87FFBDF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2013257" y="5939049"/>
              <a:ext cx="8165486" cy="2290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6925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46B75EA-AB80-4C5A-B5DA-5FA6ED3EC3C7}"/>
              </a:ext>
            </a:extLst>
          </p:cNvPr>
          <p:cNvSpPr txBox="1"/>
          <p:nvPr/>
        </p:nvSpPr>
        <p:spPr>
          <a:xfrm>
            <a:off x="251506" y="2035158"/>
            <a:ext cx="1168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accent3">
                    <a:lumMod val="75000"/>
                  </a:schemeClr>
                </a:solidFill>
              </a:rPr>
              <a:t>EMA-1</a:t>
            </a:r>
            <a:r>
              <a:rPr lang="en-US" b="1" dirty="0"/>
              <a:t>:</a:t>
            </a:r>
            <a:r>
              <a:rPr lang="en-US" dirty="0"/>
              <a:t> Assume in </a:t>
            </a:r>
            <a:r>
              <a:rPr lang="en-US" b="1" i="1" dirty="0"/>
              <a:t>k</a:t>
            </a:r>
            <a:r>
              <a:rPr lang="en-US" dirty="0"/>
              <a:t>-space the donor electron is localized at the </a:t>
            </a:r>
            <a:r>
              <a:rPr lang="en-US" dirty="0">
                <a:solidFill>
                  <a:srgbClr val="0000FF"/>
                </a:solidFill>
              </a:rPr>
              <a:t>six-fold degenerate minima</a:t>
            </a:r>
            <a:r>
              <a:rPr lang="en-US" dirty="0"/>
              <a:t> of the silicon conduction band.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7E6BEC-79C1-4C02-9BCE-C7FD2B7597FC}"/>
              </a:ext>
            </a:extLst>
          </p:cNvPr>
          <p:cNvGrpSpPr/>
          <p:nvPr/>
        </p:nvGrpSpPr>
        <p:grpSpPr>
          <a:xfrm>
            <a:off x="2082041" y="2894820"/>
            <a:ext cx="8027918" cy="3656828"/>
            <a:chOff x="2734504" y="2894820"/>
            <a:chExt cx="8027918" cy="365682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A717B26-BCC3-494C-8776-63A24F9C44A1}"/>
                </a:ext>
              </a:extLst>
            </p:cNvPr>
            <p:cNvGrpSpPr/>
            <p:nvPr/>
          </p:nvGrpSpPr>
          <p:grpSpPr>
            <a:xfrm>
              <a:off x="2734504" y="2894820"/>
              <a:ext cx="4334333" cy="3656828"/>
              <a:chOff x="13099" y="1343445"/>
              <a:chExt cx="4334333" cy="3656828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87179E21-0E3F-4488-9AA3-890AC9600B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1043" y="1343445"/>
                <a:ext cx="2738445" cy="2857508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2AA13F-3ACA-43FB-BA2E-68F8EB11DE5C}"/>
                  </a:ext>
                </a:extLst>
              </p:cNvPr>
              <p:cNvSpPr txBox="1"/>
              <p:nvPr/>
            </p:nvSpPr>
            <p:spPr>
              <a:xfrm>
                <a:off x="13099" y="4261609"/>
                <a:ext cx="4334333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Minima picture from S. </a:t>
                </a:r>
                <a:r>
                  <a:rPr lang="en-US" sz="1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Dhar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algn="ctr"/>
                <a:r>
                  <a:rPr lang="en-US" sz="1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Dr.techn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Thesis, Vienna University of Technology, 2007. </a:t>
                </a:r>
              </a:p>
              <a:p>
                <a:pPr algn="ctr"/>
                <a:r>
                  <a:rPr lang="en-US" sz="1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http://www.iue.tuwien.ac.at/phd/dhar/node18.html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A92BD10-70D4-4B82-9EC8-4758E3538323}"/>
                </a:ext>
              </a:extLst>
            </p:cNvPr>
            <p:cNvGrpSpPr/>
            <p:nvPr/>
          </p:nvGrpSpPr>
          <p:grpSpPr>
            <a:xfrm>
              <a:off x="7803515" y="3182014"/>
              <a:ext cx="2958907" cy="3082440"/>
              <a:chOff x="6862130" y="1632436"/>
              <a:chExt cx="2958907" cy="3082440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E97347D-05E9-4CC1-922D-09AAA066DE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2130" y="1632436"/>
                <a:ext cx="2958907" cy="3082440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2B17CA96-9D94-4106-9FBE-552D76607B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70904" y="2324102"/>
                <a:ext cx="176070" cy="58690"/>
              </a:xfrm>
              <a:prstGeom prst="ellipse">
                <a:avLst/>
              </a:prstGeom>
              <a:solidFill>
                <a:srgbClr val="0000FF">
                  <a:alpha val="6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CDA8726D-F123-4124-9120-5823F5EA0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Introducing the effective mass approximations -- I</a:t>
            </a:r>
          </a:p>
        </p:txBody>
      </p:sp>
    </p:spTree>
    <p:extLst>
      <p:ext uri="{BB962C8B-B14F-4D97-AF65-F5344CB8AC3E}">
        <p14:creationId xmlns:p14="http://schemas.microsoft.com/office/powerpoint/2010/main" val="609258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443646E3-9480-456D-957B-8117E24E8AD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822096" y="2953552"/>
            <a:ext cx="6547809" cy="6704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7B79EB9-D877-43C7-A7D6-3E0EF4EDDBA3}"/>
              </a:ext>
            </a:extLst>
          </p:cNvPr>
          <p:cNvSpPr txBox="1"/>
          <p:nvPr/>
        </p:nvSpPr>
        <p:spPr>
          <a:xfrm>
            <a:off x="251506" y="2035158"/>
            <a:ext cx="1168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accent3">
                    <a:lumMod val="75000"/>
                  </a:schemeClr>
                </a:solidFill>
              </a:rPr>
              <a:t>EMA-1</a:t>
            </a:r>
            <a:r>
              <a:rPr lang="en-US" b="1" dirty="0"/>
              <a:t>:</a:t>
            </a:r>
            <a:r>
              <a:rPr lang="en-US" dirty="0"/>
              <a:t> Assume in </a:t>
            </a:r>
            <a:r>
              <a:rPr lang="en-US" b="1" i="1" dirty="0"/>
              <a:t>k</a:t>
            </a:r>
            <a:r>
              <a:rPr lang="en-US" dirty="0"/>
              <a:t>-space the donor electron is localized at the </a:t>
            </a:r>
            <a:r>
              <a:rPr lang="en-US" dirty="0">
                <a:solidFill>
                  <a:srgbClr val="0000FF"/>
                </a:solidFill>
              </a:rPr>
              <a:t>six-fold degenerate minima</a:t>
            </a:r>
            <a:r>
              <a:rPr lang="en-US" dirty="0"/>
              <a:t> of the silicon conduction band.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DCDF3E-6452-463A-A9D8-8D913260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the effective mass approximations -- II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6F6C38-813B-4367-85C3-F21751580C4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576457" y="4046323"/>
            <a:ext cx="9039086" cy="2304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4584F2-F99A-459E-A0DE-915B41074F0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139657" y="4624387"/>
            <a:ext cx="3912686" cy="27017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EC09C85-7556-41CC-ABDF-F908ADBB315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572114" y="5242221"/>
            <a:ext cx="7047773" cy="23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01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effective mass approximation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21429" y="1767026"/>
            <a:ext cx="11549142" cy="646331"/>
            <a:chOff x="321429" y="1767026"/>
            <a:chExt cx="11549142" cy="646331"/>
          </a:xfrm>
        </p:grpSpPr>
        <p:sp>
          <p:nvSpPr>
            <p:cNvPr id="7" name="TextBox 6"/>
            <p:cNvSpPr txBox="1"/>
            <p:nvPr/>
          </p:nvSpPr>
          <p:spPr>
            <a:xfrm>
              <a:off x="321429" y="1767026"/>
              <a:ext cx="5943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EMA:</a:t>
              </a:r>
              <a:r>
                <a:rPr lang="en-US" dirty="0"/>
                <a:t> Assume in </a:t>
              </a:r>
              <a:r>
                <a:rPr lang="en-US" b="1" i="1" dirty="0"/>
                <a:t>k</a:t>
              </a:r>
              <a:r>
                <a:rPr lang="en-US" dirty="0"/>
                <a:t>-space the donor electron is localized at the </a:t>
              </a:r>
              <a:r>
                <a:rPr lang="en-US" dirty="0">
                  <a:solidFill>
                    <a:srgbClr val="0000FF"/>
                  </a:solidFill>
                </a:rPr>
                <a:t>six-fold degenerate minima</a:t>
              </a:r>
              <a:r>
                <a:rPr lang="en-US" dirty="0"/>
                <a:t> of the silicon conduction band.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6458" y="1788477"/>
              <a:ext cx="5284113" cy="603428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>
            <a:off x="394379" y="2418390"/>
            <a:ext cx="11403243" cy="1569660"/>
            <a:chOff x="623517" y="2418390"/>
            <a:chExt cx="11403243" cy="1569660"/>
          </a:xfrm>
        </p:grpSpPr>
        <p:sp>
          <p:nvSpPr>
            <p:cNvPr id="4" name="TextBox 3"/>
            <p:cNvSpPr txBox="1"/>
            <p:nvPr/>
          </p:nvSpPr>
          <p:spPr>
            <a:xfrm>
              <a:off x="4041422" y="2418390"/>
              <a:ext cx="798533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[1] A.L. </a:t>
              </a:r>
              <a:r>
                <a:rPr lang="en-US" sz="1600" dirty="0" err="1"/>
                <a:t>Saraiva</a:t>
              </a:r>
              <a:r>
                <a:rPr lang="en-US" sz="1600" dirty="0"/>
                <a:t>, A. </a:t>
              </a:r>
              <a:r>
                <a:rPr lang="en-US" sz="1600" dirty="0" err="1"/>
                <a:t>Baena</a:t>
              </a:r>
              <a:r>
                <a:rPr lang="en-US" sz="1600" dirty="0"/>
                <a:t>, M.J. </a:t>
              </a:r>
              <a:r>
                <a:rPr lang="en-US" sz="1600" dirty="0" err="1"/>
                <a:t>Calderón</a:t>
              </a:r>
              <a:r>
                <a:rPr lang="en-US" sz="1600" dirty="0"/>
                <a:t>, B. </a:t>
              </a:r>
              <a:r>
                <a:rPr lang="en-US" sz="1600" dirty="0" err="1"/>
                <a:t>Koiller</a:t>
              </a:r>
              <a:r>
                <a:rPr lang="en-US" sz="1600" dirty="0"/>
                <a:t>, J. </a:t>
              </a:r>
              <a:r>
                <a:rPr lang="en-US" sz="1600" dirty="0" err="1"/>
                <a:t>Phys</a:t>
              </a:r>
              <a:r>
                <a:rPr lang="en-US" sz="1600" dirty="0"/>
                <a:t>: </a:t>
              </a:r>
              <a:r>
                <a:rPr lang="en-US" sz="1600" dirty="0" err="1"/>
                <a:t>Condens</a:t>
              </a:r>
              <a:r>
                <a:rPr lang="en-US" sz="1600" dirty="0"/>
                <a:t>. Matter </a:t>
              </a:r>
              <a:r>
                <a:rPr lang="en-US" sz="1600" b="1" dirty="0"/>
                <a:t>27</a:t>
              </a:r>
              <a:r>
                <a:rPr lang="en-US" sz="1600" dirty="0"/>
                <a:t>, 154208 (2015)</a:t>
              </a:r>
              <a:r>
                <a:rPr lang="en-US" sz="1600" b="1" dirty="0"/>
                <a:t> </a:t>
              </a:r>
            </a:p>
            <a:p>
              <a:r>
                <a:rPr lang="en-US" sz="1600" dirty="0"/>
                <a:t>[2] H.T Hui,  Solid State </a:t>
              </a:r>
              <a:r>
                <a:rPr lang="en-US" sz="1600" dirty="0" err="1"/>
                <a:t>Commun</a:t>
              </a:r>
              <a:r>
                <a:rPr lang="en-US" sz="1600" dirty="0"/>
                <a:t>. </a:t>
              </a:r>
              <a:r>
                <a:rPr lang="en-US" sz="1600" b="1" dirty="0"/>
                <a:t>154</a:t>
              </a:r>
              <a:r>
                <a:rPr lang="en-US" sz="1600" dirty="0"/>
                <a:t>, 19 (2013)</a:t>
              </a:r>
            </a:p>
            <a:p>
              <a:r>
                <a:rPr lang="it-IT" sz="1600" dirty="0"/>
                <a:t>[3] A. Debernardi, A. Baldereschi, M. Fanciulli, Phys. Rev. B </a:t>
              </a:r>
              <a:r>
                <a:rPr lang="it-IT" sz="1600" b="1" dirty="0"/>
                <a:t>74</a:t>
              </a:r>
              <a:r>
                <a:rPr lang="it-IT" sz="1600" dirty="0"/>
                <a:t>, 035202 (2006)</a:t>
              </a:r>
            </a:p>
            <a:p>
              <a:r>
                <a:rPr lang="it-IT" sz="1600" dirty="0"/>
                <a:t>[4] C.J. Wellard, L.C.L. Hollenberg, Phys. Rev. B </a:t>
              </a:r>
              <a:r>
                <a:rPr lang="it-IT" sz="1600" b="1" dirty="0"/>
                <a:t>72</a:t>
              </a:r>
              <a:r>
                <a:rPr lang="it-IT" sz="1600" dirty="0"/>
                <a:t>, 085202 (2005)</a:t>
              </a:r>
            </a:p>
            <a:p>
              <a:r>
                <a:rPr lang="it-IT" sz="1600" dirty="0"/>
                <a:t>[5] </a:t>
              </a:r>
              <a:r>
                <a:rPr lang="en-US" sz="1600" dirty="0"/>
                <a:t>K. </a:t>
              </a:r>
              <a:r>
                <a:rPr lang="en-US" sz="1600" dirty="0" err="1"/>
                <a:t>Shindo</a:t>
              </a:r>
              <a:r>
                <a:rPr lang="en-US" sz="1600" dirty="0"/>
                <a:t> and H. Nara, J. Phys. Soc. </a:t>
              </a:r>
              <a:r>
                <a:rPr lang="en-US" sz="1600" dirty="0" err="1"/>
                <a:t>Jpn</a:t>
              </a:r>
              <a:r>
                <a:rPr lang="en-US" sz="1600" dirty="0"/>
                <a:t>. </a:t>
              </a:r>
              <a:r>
                <a:rPr lang="en-US" sz="1600" b="1" dirty="0"/>
                <a:t>40</a:t>
              </a:r>
              <a:r>
                <a:rPr lang="en-US" sz="1600" dirty="0"/>
                <a:t>, 1640 (1970)</a:t>
              </a:r>
            </a:p>
            <a:p>
              <a:r>
                <a:rPr lang="en-US" sz="1600" dirty="0"/>
                <a:t>[6] </a:t>
              </a:r>
              <a:r>
                <a:rPr lang="fr-FR" sz="1600" dirty="0"/>
                <a:t>R.A. Faulkner, Phys. </a:t>
              </a:r>
              <a:r>
                <a:rPr lang="fr-FR" sz="1600" dirty="0" err="1"/>
                <a:t>Rev</a:t>
              </a:r>
              <a:r>
                <a:rPr lang="fr-FR" sz="1600" dirty="0"/>
                <a:t>. </a:t>
              </a:r>
              <a:r>
                <a:rPr lang="fr-FR" sz="1600" b="1" dirty="0"/>
                <a:t>184</a:t>
              </a:r>
              <a:r>
                <a:rPr lang="fr-FR" sz="1600" dirty="0"/>
                <a:t>, 713 (1969)</a:t>
              </a:r>
              <a:endParaRPr lang="en-US" sz="1600" dirty="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623517" y="2880055"/>
              <a:ext cx="30569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 of a multitude of effective mass models, a short list [1-6].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65239" y="3975885"/>
            <a:ext cx="11861521" cy="646331"/>
            <a:chOff x="165239" y="4222559"/>
            <a:chExt cx="11861521" cy="646331"/>
          </a:xfrm>
        </p:grpSpPr>
        <p:sp>
          <p:nvSpPr>
            <p:cNvPr id="5" name="TextBox 4"/>
            <p:cNvSpPr txBox="1"/>
            <p:nvPr/>
          </p:nvSpPr>
          <p:spPr>
            <a:xfrm>
              <a:off x="2900401" y="4222559"/>
              <a:ext cx="43891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Few agreed upon criteria for refutability (beyond agreement with energy spectrum).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54760" y="4222559"/>
              <a:ext cx="4572000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Lots of freedom to generate different schemes through reasonable but ad hoc assumptions.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5239" y="4345669"/>
              <a:ext cx="25699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/>
                <a:t>Why so many models?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35443" y="4623227"/>
            <a:ext cx="9533811" cy="2222804"/>
            <a:chOff x="935443" y="5674108"/>
            <a:chExt cx="9533811" cy="2222804"/>
          </a:xfrm>
        </p:grpSpPr>
        <p:sp>
          <p:nvSpPr>
            <p:cNvPr id="21" name="TextBox 20"/>
            <p:cNvSpPr txBox="1"/>
            <p:nvPr/>
          </p:nvSpPr>
          <p:spPr>
            <a:xfrm>
              <a:off x="2611727" y="5674108"/>
              <a:ext cx="69685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Is further improvement of effective mass methods possible?</a:t>
              </a: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935443" y="6432140"/>
              <a:ext cx="4692678" cy="1108980"/>
              <a:chOff x="935443" y="4656351"/>
              <a:chExt cx="4692678" cy="1108980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935443" y="5088223"/>
                <a:ext cx="4692678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i="1" dirty="0">
                    <a:solidFill>
                      <a:srgbClr val="7030A0"/>
                    </a:solidFill>
                  </a:rPr>
                  <a:t>Verisimilitude</a:t>
                </a:r>
              </a:p>
              <a:p>
                <a:pPr algn="ctr"/>
                <a:r>
                  <a:rPr lang="en-US" dirty="0"/>
                  <a:t>How well does the model </a:t>
                </a:r>
                <a:r>
                  <a:rPr lang="en-US" dirty="0">
                    <a:solidFill>
                      <a:srgbClr val="7030A0"/>
                    </a:solidFill>
                  </a:rPr>
                  <a:t>resemble reality</a:t>
                </a:r>
                <a:r>
                  <a:rPr lang="en-US" dirty="0"/>
                  <a:t>?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2368554" y="4656351"/>
                <a:ext cx="18264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Out of model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5776260" y="6076348"/>
              <a:ext cx="4692994" cy="1820564"/>
              <a:chOff x="6563564" y="4656351"/>
              <a:chExt cx="4692994" cy="1820564"/>
            </a:xfrm>
          </p:grpSpPr>
          <p:grpSp>
            <p:nvGrpSpPr>
              <p:cNvPr id="26" name="Group 25"/>
              <p:cNvGrpSpPr/>
              <p:nvPr/>
            </p:nvGrpSpPr>
            <p:grpSpPr>
              <a:xfrm>
                <a:off x="6563564" y="5088223"/>
                <a:ext cx="4692994" cy="1388692"/>
                <a:chOff x="6698499" y="5088223"/>
                <a:chExt cx="4692994" cy="1388692"/>
              </a:xfrm>
            </p:grpSpPr>
            <p:sp>
              <p:nvSpPr>
                <p:cNvPr id="28" name="TextBox 27"/>
                <p:cNvSpPr txBox="1"/>
                <p:nvPr/>
              </p:nvSpPr>
              <p:spPr>
                <a:xfrm>
                  <a:off x="6698499" y="5088223"/>
                  <a:ext cx="4692994" cy="67710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i="1" dirty="0">
                      <a:solidFill>
                        <a:srgbClr val="FFC11F"/>
                      </a:solidFill>
                    </a:rPr>
                    <a:t>Consistency</a:t>
                  </a:r>
                  <a:r>
                    <a:rPr lang="en-US" dirty="0">
                      <a:solidFill>
                        <a:srgbClr val="FFC11F"/>
                      </a:solidFill>
                    </a:rPr>
                    <a:t> </a:t>
                  </a:r>
                </a:p>
                <a:p>
                  <a:pPr algn="ctr"/>
                  <a:r>
                    <a:rPr lang="en-US" dirty="0"/>
                    <a:t>How well does the model </a:t>
                  </a:r>
                  <a:r>
                    <a:rPr lang="en-US" dirty="0">
                      <a:solidFill>
                        <a:srgbClr val="FFC11F"/>
                      </a:solidFill>
                    </a:rPr>
                    <a:t>play by its own rules</a:t>
                  </a:r>
                  <a:r>
                    <a:rPr lang="en-US" dirty="0"/>
                    <a:t>?</a:t>
                  </a: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6814080" y="5799807"/>
                  <a:ext cx="4461832" cy="67710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i="1" dirty="0">
                      <a:solidFill>
                        <a:srgbClr val="0000FF"/>
                      </a:solidFill>
                    </a:rPr>
                    <a:t>Completeness</a:t>
                  </a:r>
                </a:p>
                <a:p>
                  <a:pPr algn="ctr"/>
                  <a:r>
                    <a:rPr lang="en-US" dirty="0"/>
                    <a:t>Can the model </a:t>
                  </a:r>
                  <a:r>
                    <a:rPr lang="en-US" dirty="0">
                      <a:solidFill>
                        <a:srgbClr val="0000FF"/>
                      </a:solidFill>
                    </a:rPr>
                    <a:t>answer questions </a:t>
                  </a:r>
                  <a:r>
                    <a:rPr lang="en-US" dirty="0"/>
                    <a:t>posed to it? </a:t>
                  </a:r>
                </a:p>
              </p:txBody>
            </p:sp>
          </p:grpSp>
          <p:sp>
            <p:nvSpPr>
              <p:cNvPr id="27" name="TextBox 26"/>
              <p:cNvSpPr txBox="1"/>
              <p:nvPr/>
            </p:nvSpPr>
            <p:spPr>
              <a:xfrm>
                <a:off x="8184048" y="4656351"/>
                <a:ext cx="14520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In-model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3417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 1 1 2 1"/>
          <p:cNvSpPr txBox="1">
            <a:spLocks/>
          </p:cNvSpPr>
          <p:nvPr/>
        </p:nvSpPr>
        <p:spPr>
          <a:xfrm>
            <a:off x="1566710" y="1759539"/>
            <a:ext cx="9436288" cy="40011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b="1" i="1" dirty="0" err="1">
                <a:latin typeface="+mn-lt"/>
                <a:cs typeface="Calibri" panose="020F0502020204030204" pitchFamily="34" charset="0"/>
              </a:rPr>
              <a:t>Shindo</a:t>
            </a:r>
            <a:r>
              <a:rPr lang="en-US" b="1" i="1" dirty="0">
                <a:latin typeface="+mn-lt"/>
                <a:cs typeface="Calibri" panose="020F0502020204030204" pitchFamily="34" charset="0"/>
              </a:rPr>
              <a:t>-Nara effective mass equation</a:t>
            </a:r>
            <a:r>
              <a:rPr lang="en-US" dirty="0">
                <a:latin typeface="+mn-lt"/>
                <a:cs typeface="Calibri" panose="020F0502020204030204" pitchFamily="34" charset="0"/>
              </a:rPr>
              <a:t>[1]</a:t>
            </a:r>
            <a:r>
              <a:rPr lang="en-US" b="1" i="1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dirty="0">
                <a:latin typeface="+mn-lt"/>
                <a:cs typeface="Calibri" panose="020F0502020204030204" pitchFamily="34" charset="0"/>
              </a:rPr>
              <a:t>cast as a </a:t>
            </a:r>
            <a:r>
              <a:rPr lang="en-US" b="1" i="1" dirty="0">
                <a:latin typeface="+mn-lt"/>
                <a:cs typeface="Calibri" panose="020F0502020204030204" pitchFamily="34" charset="0"/>
              </a:rPr>
              <a:t>generalized eigenvalue problem</a:t>
            </a:r>
            <a:r>
              <a:rPr lang="en-US" dirty="0">
                <a:latin typeface="+mn-lt"/>
                <a:cs typeface="Calibri" panose="020F0502020204030204" pitchFamily="34" charset="0"/>
              </a:rPr>
              <a:t>[2].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The Generalized Eigenvalue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3069" y="175883"/>
            <a:ext cx="4490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[1] K. </a:t>
            </a:r>
            <a:r>
              <a:rPr lang="en-US" sz="1400" dirty="0" err="1"/>
              <a:t>Shindo</a:t>
            </a:r>
            <a:r>
              <a:rPr lang="en-US" sz="1400" dirty="0"/>
              <a:t> and H. Nara, J. Phys. Soc. </a:t>
            </a:r>
            <a:r>
              <a:rPr lang="en-US" sz="1400" dirty="0" err="1"/>
              <a:t>Jpn</a:t>
            </a:r>
            <a:r>
              <a:rPr lang="en-US" sz="1400" dirty="0"/>
              <a:t>. </a:t>
            </a:r>
            <a:r>
              <a:rPr lang="en-US" sz="1400" b="1" dirty="0"/>
              <a:t>40</a:t>
            </a:r>
            <a:r>
              <a:rPr lang="en-US" sz="1400" dirty="0"/>
              <a:t>, 1640 (1970)</a:t>
            </a:r>
          </a:p>
          <a:p>
            <a:r>
              <a:rPr lang="en-US" sz="1400" dirty="0"/>
              <a:t>[2] J. K. Gamble et al., Phys. Rev. B </a:t>
            </a:r>
            <a:r>
              <a:rPr lang="en-US" sz="1400" b="1" dirty="0"/>
              <a:t>91</a:t>
            </a:r>
            <a:r>
              <a:rPr lang="en-US" sz="1400" dirty="0"/>
              <a:t>, 235318 (2015)</a:t>
            </a:r>
          </a:p>
        </p:txBody>
      </p:sp>
      <p:grpSp>
        <p:nvGrpSpPr>
          <p:cNvPr id="75" name="Group 74"/>
          <p:cNvGrpSpPr/>
          <p:nvPr/>
        </p:nvGrpSpPr>
        <p:grpSpPr>
          <a:xfrm>
            <a:off x="6131989" y="5048446"/>
            <a:ext cx="5633330" cy="1085976"/>
            <a:chOff x="5412813" y="5048446"/>
            <a:chExt cx="5633330" cy="1085976"/>
          </a:xfrm>
        </p:grpSpPr>
        <p:sp>
          <p:nvSpPr>
            <p:cNvPr id="16" name="Text Placeholder 1 2 2 1"/>
            <p:cNvSpPr txBox="1">
              <a:spLocks/>
            </p:cNvSpPr>
            <p:nvPr/>
          </p:nvSpPr>
          <p:spPr>
            <a:xfrm>
              <a:off x="5412813" y="5708664"/>
              <a:ext cx="5633330" cy="42575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>
                  <a:latin typeface="+mn-lt"/>
                </a:rPr>
                <a:t>U(r) is intended to include </a:t>
              </a:r>
              <a:r>
                <a:rPr lang="en-US" sz="1600" b="1" i="1" dirty="0">
                  <a:latin typeface="+mn-lt"/>
                </a:rPr>
                <a:t>all</a:t>
              </a:r>
              <a:r>
                <a:rPr lang="en-US" sz="1600" dirty="0">
                  <a:latin typeface="+mn-lt"/>
                </a:rPr>
                <a:t> deviations from the pure silicon potential. </a:t>
              </a:r>
            </a:p>
          </p:txBody>
        </p:sp>
        <p:pic>
          <p:nvPicPr>
            <p:cNvPr id="74" name="Picture 7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5479" y="5048446"/>
              <a:ext cx="5087999" cy="648686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7ED5BCB-F788-45FA-8B3A-4608D40531AD}"/>
              </a:ext>
            </a:extLst>
          </p:cNvPr>
          <p:cNvGrpSpPr/>
          <p:nvPr/>
        </p:nvGrpSpPr>
        <p:grpSpPr>
          <a:xfrm>
            <a:off x="426681" y="5574893"/>
            <a:ext cx="5278627" cy="1134391"/>
            <a:chOff x="495898" y="5035635"/>
            <a:chExt cx="5278627" cy="1134391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A039D4F-D41E-4E2A-9307-E14BC9FE726F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95898" y="5035635"/>
              <a:ext cx="5278627" cy="64868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6" name="Picture 4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0430" y="5637302"/>
              <a:ext cx="3709562" cy="532724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" name="Group 4"/>
          <p:cNvGrpSpPr/>
          <p:nvPr/>
        </p:nvGrpSpPr>
        <p:grpSpPr>
          <a:xfrm>
            <a:off x="1718615" y="2336776"/>
            <a:ext cx="7308107" cy="2286572"/>
            <a:chOff x="2441947" y="2336776"/>
            <a:chExt cx="7308107" cy="2286572"/>
          </a:xfrm>
        </p:grpSpPr>
        <p:grpSp>
          <p:nvGrpSpPr>
            <p:cNvPr id="131" name="Group 130"/>
            <p:cNvGrpSpPr/>
            <p:nvPr/>
          </p:nvGrpSpPr>
          <p:grpSpPr>
            <a:xfrm>
              <a:off x="2441947" y="2886007"/>
              <a:ext cx="2194560" cy="822960"/>
              <a:chOff x="4998720" y="4507404"/>
              <a:chExt cx="2194560" cy="822960"/>
            </a:xfrm>
          </p:grpSpPr>
          <p:sp>
            <p:nvSpPr>
              <p:cNvPr id="110" name="Rounded Rectangle 109"/>
              <p:cNvSpPr/>
              <p:nvPr/>
            </p:nvSpPr>
            <p:spPr>
              <a:xfrm>
                <a:off x="4998720" y="4507404"/>
                <a:ext cx="2194560" cy="822960"/>
              </a:xfrm>
              <a:prstGeom prst="round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0" name="Group 129"/>
              <p:cNvGrpSpPr/>
              <p:nvPr>
                <p:custDataLst>
                  <p:tags r:id="rId3"/>
                </p:custDataLst>
              </p:nvPr>
            </p:nvGrpSpPr>
            <p:grpSpPr>
              <a:xfrm>
                <a:off x="5147461" y="4622329"/>
                <a:ext cx="1897081" cy="593111"/>
                <a:chOff x="5147461" y="4622329"/>
                <a:chExt cx="1897081" cy="593111"/>
              </a:xfrm>
            </p:grpSpPr>
            <p:pic>
              <p:nvPicPr>
                <p:cNvPr id="125" name="Picture 124"/>
                <p:cNvPicPr>
                  <a:picLocks noChangeAspect="1"/>
                </p:cNvPicPr>
                <p:nvPr>
                  <p:custDataLst>
                    <p:tags r:id="rId4"/>
                  </p:custDataLst>
                </p:nvPr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47461" y="4622329"/>
                  <a:ext cx="1897081" cy="260536"/>
                </a:xfrm>
                <a:prstGeom prst="rect">
                  <a:avLst/>
                </a:prstGeom>
              </p:spPr>
            </p:pic>
            <p:pic>
              <p:nvPicPr>
                <p:cNvPr id="129" name="Picture 128"/>
                <p:cNvPicPr>
                  <a:picLocks noChangeAspect="1"/>
                </p:cNvPicPr>
                <p:nvPr>
                  <p:custDataLst>
                    <p:tags r:id="rId5"/>
                  </p:custDataLst>
                </p:nvPr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98329" y="4973625"/>
                  <a:ext cx="993783" cy="24181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" name="Group 1"/>
            <p:cNvGrpSpPr/>
            <p:nvPr/>
          </p:nvGrpSpPr>
          <p:grpSpPr>
            <a:xfrm>
              <a:off x="4452299" y="2336776"/>
              <a:ext cx="5297755" cy="2286572"/>
              <a:chOff x="4452299" y="2336776"/>
              <a:chExt cx="5297755" cy="2286572"/>
            </a:xfrm>
          </p:grpSpPr>
          <p:grpSp>
            <p:nvGrpSpPr>
              <p:cNvPr id="70" name="Group 69"/>
              <p:cNvGrpSpPr/>
              <p:nvPr/>
            </p:nvGrpSpPr>
            <p:grpSpPr>
              <a:xfrm>
                <a:off x="5455256" y="2708330"/>
                <a:ext cx="3291840" cy="1097280"/>
                <a:chOff x="5041276" y="2538644"/>
                <a:chExt cx="3291840" cy="1097280"/>
              </a:xfrm>
            </p:grpSpPr>
            <p:pic>
              <p:nvPicPr>
                <p:cNvPr id="69" name="Picture 68"/>
                <p:cNvPicPr>
                  <a:picLocks noChangeAspect="1"/>
                </p:cNvPicPr>
                <p:nvPr>
                  <p:custDataLst>
                    <p:tags r:id="rId2"/>
                  </p:custDataLst>
                </p:nvPr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32911" y="2631665"/>
                  <a:ext cx="3108571" cy="911238"/>
                </a:xfrm>
                <a:prstGeom prst="rect">
                  <a:avLst/>
                </a:prstGeom>
              </p:spPr>
            </p:pic>
            <p:sp>
              <p:nvSpPr>
                <p:cNvPr id="42" name="Rounded Rectangle 41"/>
                <p:cNvSpPr/>
                <p:nvPr/>
              </p:nvSpPr>
              <p:spPr>
                <a:xfrm>
                  <a:off x="5041276" y="2538644"/>
                  <a:ext cx="3291840" cy="1097280"/>
                </a:xfrm>
                <a:prstGeom prst="roundRect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3" name="Text Placeholder 1 1 1 2 2 1"/>
              <p:cNvSpPr txBox="1">
                <a:spLocks/>
              </p:cNvSpPr>
              <p:nvPr/>
            </p:nvSpPr>
            <p:spPr>
              <a:xfrm>
                <a:off x="5447520" y="2336776"/>
                <a:ext cx="3307312" cy="33855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1600" b="1" i="1" dirty="0">
                    <a:solidFill>
                      <a:srgbClr val="33A366"/>
                    </a:solidFill>
                    <a:latin typeface="+mn-lt"/>
                    <a:cs typeface="Calibri" panose="020F0502020204030204" pitchFamily="34" charset="0"/>
                  </a:rPr>
                  <a:t>symmetrized</a:t>
                </a:r>
                <a:r>
                  <a:rPr lang="en-US" sz="1600" i="1" dirty="0">
                    <a:solidFill>
                      <a:srgbClr val="33A366"/>
                    </a:solidFill>
                    <a:latin typeface="+mn-lt"/>
                    <a:cs typeface="Calibri" panose="020F0502020204030204" pitchFamily="34" charset="0"/>
                  </a:rPr>
                  <a:t> anisotropic </a:t>
                </a:r>
                <a:r>
                  <a:rPr lang="en-US" sz="1600" dirty="0">
                    <a:solidFill>
                      <a:srgbClr val="33A366"/>
                    </a:solidFill>
                    <a:latin typeface="+mn-lt"/>
                    <a:cs typeface="Calibri" panose="020F0502020204030204" pitchFamily="34" charset="0"/>
                  </a:rPr>
                  <a:t>basis states</a:t>
                </a:r>
                <a:endParaRPr lang="en-US" sz="1600" dirty="0">
                  <a:latin typeface="+mn-lt"/>
                  <a:cs typeface="Calibri" panose="020F0502020204030204" pitchFamily="34" charset="0"/>
                </a:endParaRPr>
              </a:p>
            </p:txBody>
          </p:sp>
          <p:sp>
            <p:nvSpPr>
              <p:cNvPr id="56" name="Text Placeholder 1 1 1 2 2 2"/>
              <p:cNvSpPr txBox="1">
                <a:spLocks/>
              </p:cNvSpPr>
              <p:nvPr/>
            </p:nvSpPr>
            <p:spPr>
              <a:xfrm>
                <a:off x="5042269" y="3884067"/>
                <a:ext cx="4117815" cy="33855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1600" i="1" dirty="0">
                    <a:solidFill>
                      <a:srgbClr val="C00000"/>
                    </a:solidFill>
                    <a:latin typeface="+mn-lt"/>
                    <a:cs typeface="Calibri" panose="020F0502020204030204" pitchFamily="34" charset="0"/>
                  </a:rPr>
                  <a:t>F</a:t>
                </a:r>
                <a:r>
                  <a:rPr lang="en-US" sz="1600" i="1" baseline="-25000" dirty="0">
                    <a:solidFill>
                      <a:srgbClr val="C00000"/>
                    </a:solidFill>
                    <a:cs typeface="Calibri" panose="020F0502020204030204" pitchFamily="34" charset="0"/>
                  </a:rPr>
                  <a:t>j</a:t>
                </a:r>
                <a:r>
                  <a:rPr lang="en-US" sz="1600" i="1" baseline="30000" dirty="0">
                    <a:solidFill>
                      <a:srgbClr val="C00000"/>
                    </a:solidFill>
                    <a:latin typeface="+mn-lt"/>
                    <a:cs typeface="Calibri" panose="020F0502020204030204" pitchFamily="34" charset="0"/>
                  </a:rPr>
                  <a:t> (</a:t>
                </a:r>
                <a:r>
                  <a:rPr lang="en-US" sz="1600" i="1" baseline="30000" dirty="0">
                    <a:solidFill>
                      <a:srgbClr val="C00000"/>
                    </a:solidFill>
                    <a:cs typeface="Calibri" panose="020F0502020204030204" pitchFamily="34" charset="0"/>
                  </a:rPr>
                  <a:t>q</a:t>
                </a:r>
                <a:r>
                  <a:rPr lang="en-US" sz="1600" i="1" baseline="30000" dirty="0">
                    <a:solidFill>
                      <a:srgbClr val="C00000"/>
                    </a:solidFill>
                    <a:latin typeface="+mn-lt"/>
                    <a:cs typeface="Calibri" panose="020F0502020204030204" pitchFamily="34" charset="0"/>
                  </a:rPr>
                  <a:t>)</a:t>
                </a:r>
                <a:r>
                  <a:rPr lang="en-US" sz="1600" i="1" dirty="0">
                    <a:solidFill>
                      <a:srgbClr val="C00000"/>
                    </a:solidFill>
                    <a:latin typeface="+mn-lt"/>
                    <a:cs typeface="Calibri" panose="020F0502020204030204" pitchFamily="34" charset="0"/>
                  </a:rPr>
                  <a:t>  -- </a:t>
                </a:r>
                <a:r>
                  <a:rPr lang="en-US" sz="1600" i="1" dirty="0">
                    <a:latin typeface="+mn-lt"/>
                    <a:cs typeface="Calibri" panose="020F0502020204030204" pitchFamily="34" charset="0"/>
                  </a:rPr>
                  <a:t>longitudinally scaled </a:t>
                </a:r>
                <a:r>
                  <a:rPr lang="en-US" sz="1600" dirty="0">
                    <a:solidFill>
                      <a:srgbClr val="C00000"/>
                    </a:solidFill>
                    <a:latin typeface="+mn-lt"/>
                    <a:cs typeface="Calibri" panose="020F0502020204030204" pitchFamily="34" charset="0"/>
                  </a:rPr>
                  <a:t>envelope function</a:t>
                </a:r>
                <a:endParaRPr lang="en-US" sz="1600" dirty="0">
                  <a:latin typeface="+mn-lt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Text Placeholder 1 1 1 2 2 3"/>
              <p:cNvSpPr txBox="1">
                <a:spLocks/>
              </p:cNvSpPr>
              <p:nvPr/>
            </p:nvSpPr>
            <p:spPr>
              <a:xfrm>
                <a:off x="4452299" y="4284794"/>
                <a:ext cx="5297755" cy="33855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l-GR" sz="1600" dirty="0">
                    <a:solidFill>
                      <a:srgbClr val="0000FF"/>
                    </a:solidFill>
                    <a:latin typeface="+mn-lt"/>
                    <a:cs typeface="Calibri" panose="020F0502020204030204" pitchFamily="34" charset="0"/>
                  </a:rPr>
                  <a:t>η</a:t>
                </a:r>
                <a:r>
                  <a:rPr lang="en-US" sz="1600" baseline="30000" dirty="0">
                    <a:solidFill>
                      <a:srgbClr val="0000FF"/>
                    </a:solidFill>
                    <a:latin typeface="+mn-lt"/>
                    <a:cs typeface="Calibri" panose="020F0502020204030204" pitchFamily="34" charset="0"/>
                  </a:rPr>
                  <a:t>(q)</a:t>
                </a:r>
                <a:r>
                  <a:rPr lang="en-US" sz="1600" dirty="0">
                    <a:solidFill>
                      <a:srgbClr val="0000FF"/>
                    </a:solidFill>
                    <a:cs typeface="Calibri" panose="020F0502020204030204" pitchFamily="34" charset="0"/>
                  </a:rPr>
                  <a:t> -- </a:t>
                </a:r>
                <a:r>
                  <a:rPr lang="en-US" sz="1600" dirty="0">
                    <a:solidFill>
                      <a:srgbClr val="0000FF"/>
                    </a:solidFill>
                    <a:latin typeface="+mn-lt"/>
                    <a:cs typeface="Calibri" panose="020F0502020204030204" pitchFamily="34" charset="0"/>
                  </a:rPr>
                  <a:t>Bloch function </a:t>
                </a:r>
                <a:r>
                  <a:rPr lang="en-US" sz="1600" dirty="0">
                    <a:latin typeface="+mn-lt"/>
                    <a:cs typeface="Calibri" panose="020F0502020204030204" pitchFamily="34" charset="0"/>
                  </a:rPr>
                  <a:t>located at the </a:t>
                </a:r>
                <a:r>
                  <a:rPr lang="en-US" sz="1600" i="1" dirty="0" err="1">
                    <a:latin typeface="+mn-lt"/>
                    <a:cs typeface="Calibri" panose="020F0502020204030204" pitchFamily="34" charset="0"/>
                  </a:rPr>
                  <a:t>q</a:t>
                </a:r>
                <a:r>
                  <a:rPr lang="en-US" sz="1600" dirty="0" err="1">
                    <a:latin typeface="+mn-lt"/>
                    <a:cs typeface="Calibri" panose="020F0502020204030204" pitchFamily="34" charset="0"/>
                  </a:rPr>
                  <a:t>th</a:t>
                </a:r>
                <a:r>
                  <a:rPr lang="en-US" sz="1600" dirty="0">
                    <a:latin typeface="+mn-lt"/>
                    <a:cs typeface="Calibri" panose="020F0502020204030204" pitchFamily="34" charset="0"/>
                  </a:rPr>
                  <a:t> </a:t>
                </a:r>
                <a:r>
                  <a:rPr lang="en-US" sz="1600" dirty="0">
                    <a:solidFill>
                      <a:srgbClr val="0000FF"/>
                    </a:solidFill>
                    <a:latin typeface="+mn-lt"/>
                    <a:cs typeface="Calibri" panose="020F0502020204030204" pitchFamily="34" charset="0"/>
                  </a:rPr>
                  <a:t>band-structure valley</a:t>
                </a:r>
                <a:endParaRPr lang="en-US" sz="1600" dirty="0">
                  <a:latin typeface="+mn-lt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25" name="Text Placeholder 1 2 2 2"/>
          <p:cNvSpPr txBox="1">
            <a:spLocks/>
          </p:cNvSpPr>
          <p:nvPr/>
        </p:nvSpPr>
        <p:spPr>
          <a:xfrm>
            <a:off x="8645981" y="3445691"/>
            <a:ext cx="3102032" cy="75918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800" b="0" i="0" kern="120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2859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latin typeface="+mn-lt"/>
              </a:rPr>
              <a:t>Anisotropy introduced by scaling along valley longitudinal coordinate. </a:t>
            </a:r>
          </a:p>
        </p:txBody>
      </p:sp>
      <p:sp>
        <p:nvSpPr>
          <p:cNvPr id="26" name="Text Placeholder 1 2 2 3"/>
          <p:cNvSpPr txBox="1">
            <a:spLocks/>
          </p:cNvSpPr>
          <p:nvPr/>
        </p:nvSpPr>
        <p:spPr>
          <a:xfrm>
            <a:off x="8241323" y="2901451"/>
            <a:ext cx="3801873" cy="39651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800" b="0" i="0" kern="120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2859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latin typeface="+mn-lt"/>
              </a:rPr>
              <a:t>Envelopes have Slater or Gaussian radial decay.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28B600-7D89-4B25-93FE-5A7C153B9C6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676966" y="4761879"/>
            <a:ext cx="4778056" cy="64868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2573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Checking the completeness with the variance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11046D7-6FE8-4862-850E-2227E137F9F5}"/>
              </a:ext>
            </a:extLst>
          </p:cNvPr>
          <p:cNvGrpSpPr/>
          <p:nvPr/>
        </p:nvGrpSpPr>
        <p:grpSpPr>
          <a:xfrm>
            <a:off x="6180114" y="4863168"/>
            <a:ext cx="5864228" cy="1463693"/>
            <a:chOff x="6180114" y="4863168"/>
            <a:chExt cx="5864228" cy="1463693"/>
          </a:xfrm>
        </p:grpSpPr>
        <p:pic>
          <p:nvPicPr>
            <p:cNvPr id="40" name="Picture 39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0114" y="5678175"/>
              <a:ext cx="5864228" cy="64868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1" name="Picture 40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7143" y="4863168"/>
              <a:ext cx="5550171" cy="648686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7F6EFB4-6A38-4F0A-9446-53A03F5879F5}"/>
              </a:ext>
            </a:extLst>
          </p:cNvPr>
          <p:cNvGrpSpPr/>
          <p:nvPr/>
        </p:nvGrpSpPr>
        <p:grpSpPr>
          <a:xfrm>
            <a:off x="147657" y="4863168"/>
            <a:ext cx="5884800" cy="1463693"/>
            <a:chOff x="147657" y="4863168"/>
            <a:chExt cx="5884800" cy="146369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1A136BE-F81D-4517-8D8D-406AD5EAF84F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657" y="4863168"/>
              <a:ext cx="5884800" cy="64868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3" name="Picture 42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954" y="5678175"/>
              <a:ext cx="5185371" cy="648686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0" name="Text Placeholder 1 2 2 1"/>
          <p:cNvSpPr txBox="1">
            <a:spLocks/>
          </p:cNvSpPr>
          <p:nvPr/>
        </p:nvSpPr>
        <p:spPr>
          <a:xfrm>
            <a:off x="2408067" y="4120009"/>
            <a:ext cx="7375866" cy="4033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800" b="0" i="0" kern="120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2859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+mn-lt"/>
              </a:rPr>
              <a:t>Variance formulae are derived similarly as to the </a:t>
            </a:r>
            <a:r>
              <a:rPr lang="en-US" dirty="0" err="1">
                <a:latin typeface="+mn-lt"/>
              </a:rPr>
              <a:t>Shindo</a:t>
            </a:r>
            <a:r>
              <a:rPr lang="en-US" dirty="0">
                <a:latin typeface="+mn-lt"/>
              </a:rPr>
              <a:t>-Nara equation.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179594" y="1967833"/>
            <a:ext cx="9832812" cy="1726281"/>
            <a:chOff x="1179594" y="1967833"/>
            <a:chExt cx="9832812" cy="1726281"/>
          </a:xfrm>
        </p:grpSpPr>
        <p:grpSp>
          <p:nvGrpSpPr>
            <p:cNvPr id="37" name="Group 36"/>
            <p:cNvGrpSpPr/>
            <p:nvPr/>
          </p:nvGrpSpPr>
          <p:grpSpPr>
            <a:xfrm>
              <a:off x="6806166" y="2145173"/>
              <a:ext cx="4206240" cy="1371600"/>
              <a:chOff x="3947160" y="1849613"/>
              <a:chExt cx="4206240" cy="1371600"/>
            </a:xfrm>
          </p:grpSpPr>
          <p:sp>
            <p:nvSpPr>
              <p:cNvPr id="110" name="Rounded Rectangle 109"/>
              <p:cNvSpPr/>
              <p:nvPr/>
            </p:nvSpPr>
            <p:spPr>
              <a:xfrm>
                <a:off x="3947160" y="1849613"/>
                <a:ext cx="4206240" cy="1371600"/>
              </a:xfrm>
              <a:prstGeom prst="round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4" name="Picture 33"/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57137" y="2526781"/>
                <a:ext cx="3986286" cy="583619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97328" y="1916986"/>
                <a:ext cx="2105905" cy="455619"/>
              </a:xfrm>
              <a:prstGeom prst="rect">
                <a:avLst/>
              </a:prstGeom>
            </p:spPr>
          </p:pic>
        </p:grpSp>
        <p:grpSp>
          <p:nvGrpSpPr>
            <p:cNvPr id="38" name="Group 37"/>
            <p:cNvGrpSpPr/>
            <p:nvPr/>
          </p:nvGrpSpPr>
          <p:grpSpPr>
            <a:xfrm>
              <a:off x="1179594" y="1967833"/>
              <a:ext cx="4446978" cy="1726281"/>
              <a:chOff x="838200" y="1828768"/>
              <a:chExt cx="4446978" cy="1726281"/>
            </a:xfrm>
          </p:grpSpPr>
          <p:pic>
            <p:nvPicPr>
              <p:cNvPr id="17" name="Picture 16"/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7404" y="2643811"/>
                <a:ext cx="3108571" cy="911238"/>
              </a:xfrm>
              <a:prstGeom prst="rect">
                <a:avLst/>
              </a:prstGeom>
            </p:spPr>
          </p:pic>
          <p:sp>
            <p:nvSpPr>
              <p:cNvPr id="39" name="Text Placeholder 1 2 2 2"/>
              <p:cNvSpPr txBox="1">
                <a:spLocks/>
              </p:cNvSpPr>
              <p:nvPr/>
            </p:nvSpPr>
            <p:spPr>
              <a:xfrm>
                <a:off x="838200" y="1828768"/>
                <a:ext cx="4446978" cy="677108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>
                <a:spAutoFit/>
              </a:bodyPr>
              <a:lstStyle>
                <a:lvl1pPr marL="0" indent="0" algn="l" defTabSz="914400" rtl="0" eaLnBrk="1" latinLnBrk="0" hangingPunct="1">
                  <a:lnSpc>
                    <a:spcPts val="26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800" b="0" i="0" kern="1200" spc="-50" baseline="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457189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>
                        <a:tint val="75000"/>
                      </a:schemeClr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914377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None/>
                  <a:defRPr sz="1800" kern="1200" baseline="0">
                    <a:solidFill>
                      <a:schemeClr val="tx1">
                        <a:tint val="75000"/>
                      </a:schemeClr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371566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1828754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285943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i="1" dirty="0">
                    <a:solidFill>
                      <a:srgbClr val="0000FF"/>
                    </a:solidFill>
                    <a:latin typeface="+mn-lt"/>
                  </a:rPr>
                  <a:t>Completeness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dirty="0">
                    <a:latin typeface="+mn-lt"/>
                  </a:rPr>
                  <a:t>Is the basis </a:t>
                </a:r>
                <a:r>
                  <a:rPr lang="en-US" b="1" dirty="0">
                    <a:solidFill>
                      <a:srgbClr val="0000FF"/>
                    </a:solidFill>
                    <a:latin typeface="+mn-lt"/>
                  </a:rPr>
                  <a:t>well-converged</a:t>
                </a:r>
                <a:r>
                  <a:rPr lang="en-US" dirty="0">
                    <a:latin typeface="+mn-lt"/>
                  </a:rPr>
                  <a:t> to an eigenstate?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9565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A problem with the </a:t>
            </a:r>
            <a:r>
              <a:rPr lang="en-US" dirty="0" err="1"/>
              <a:t>Shindo</a:t>
            </a:r>
            <a:r>
              <a:rPr lang="en-US" dirty="0"/>
              <a:t>-Nara equation?</a:t>
            </a:r>
          </a:p>
        </p:txBody>
      </p:sp>
      <p:pic>
        <p:nvPicPr>
          <p:cNvPr id="43" name="Picture 4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830" y="1983569"/>
            <a:ext cx="5484340" cy="614400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448786" y="2769770"/>
            <a:ext cx="11294429" cy="646331"/>
            <a:chOff x="308900" y="2769770"/>
            <a:chExt cx="11294429" cy="646331"/>
          </a:xfrm>
        </p:grpSpPr>
        <p:pic>
          <p:nvPicPr>
            <p:cNvPr id="48" name="Picture 47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4189" y="2790532"/>
              <a:ext cx="6569140" cy="6048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308900" y="2769770"/>
              <a:ext cx="45442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It is a reasonable assumption for </a:t>
              </a:r>
              <a:r>
                <a:rPr lang="en-US" dirty="0">
                  <a:solidFill>
                    <a:srgbClr val="7030A0"/>
                  </a:solidFill>
                </a:rPr>
                <a:t>verisimilitude</a:t>
              </a:r>
              <a:r>
                <a:rPr lang="en-US" dirty="0"/>
                <a:t> that the kinetic term </a:t>
              </a:r>
              <a:r>
                <a:rPr lang="en-US" dirty="0">
                  <a:solidFill>
                    <a:srgbClr val="7030A0"/>
                  </a:solidFill>
                </a:rPr>
                <a:t>doesn’t mix the valleys</a:t>
              </a:r>
              <a:r>
                <a:rPr lang="en-US" dirty="0"/>
                <a:t>.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290325" y="3885825"/>
            <a:ext cx="961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However, to ensure that the variance is </a:t>
            </a:r>
            <a:r>
              <a:rPr lang="en-US" dirty="0">
                <a:solidFill>
                  <a:srgbClr val="0000FF"/>
                </a:solidFill>
              </a:rPr>
              <a:t>positive definite</a:t>
            </a:r>
            <a:r>
              <a:rPr lang="en-US" dirty="0"/>
              <a:t>, the previously dropped terms </a:t>
            </a:r>
            <a:r>
              <a:rPr lang="en-US" dirty="0">
                <a:solidFill>
                  <a:srgbClr val="0000FF"/>
                </a:solidFill>
              </a:rPr>
              <a:t>must be kept</a:t>
            </a:r>
            <a:r>
              <a:rPr lang="en-US" dirty="0"/>
              <a:t>.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412059" y="4368699"/>
            <a:ext cx="11367883" cy="2110371"/>
            <a:chOff x="476916" y="4188075"/>
            <a:chExt cx="11367883" cy="2110371"/>
          </a:xfrm>
        </p:grpSpPr>
        <p:pic>
          <p:nvPicPr>
            <p:cNvPr id="41" name="Picture 40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4749" y="5679932"/>
              <a:ext cx="8439773" cy="618514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916" y="4358132"/>
              <a:ext cx="994286" cy="274286"/>
            </a:xfrm>
            <a:prstGeom prst="rect">
              <a:avLst/>
            </a:prstGeom>
          </p:spPr>
        </p:pic>
        <p:pic>
          <p:nvPicPr>
            <p:cNvPr id="39" name="Picture 3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1371" y="4915489"/>
              <a:ext cx="9963428" cy="651429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4749" y="4188075"/>
              <a:ext cx="4391313" cy="6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4396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1554550"/>
            <a:ext cx="6744967" cy="2323713"/>
          </a:xfrm>
        </p:spPr>
        <p:txBody>
          <a:bodyPr/>
          <a:lstStyle/>
          <a:p>
            <a:r>
              <a:rPr lang="en-US" dirty="0" err="1"/>
              <a:t>MoDIFIED</a:t>
            </a:r>
            <a:r>
              <a:rPr lang="en-US" dirty="0"/>
              <a:t> EFFECTIVE MASS FORMULAE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844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Losing verisimilitude for a more consistent approach</a:t>
            </a:r>
          </a:p>
        </p:txBody>
      </p:sp>
      <p:pic>
        <p:nvPicPr>
          <p:cNvPr id="60" name="Picture 5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459" y="3203986"/>
            <a:ext cx="7887083" cy="648687"/>
          </a:xfrm>
          <a:prstGeom prst="rect">
            <a:avLst/>
          </a:prstGeom>
          <a:ln>
            <a:noFill/>
          </a:ln>
        </p:spPr>
      </p:pic>
      <p:pic>
        <p:nvPicPr>
          <p:cNvPr id="57" name="Picture 5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744" y="1930590"/>
            <a:ext cx="7002512" cy="648686"/>
          </a:xfrm>
          <a:prstGeom prst="rect">
            <a:avLst/>
          </a:prstGeom>
          <a:ln>
            <a:noFill/>
          </a:ln>
        </p:spPr>
      </p:pic>
      <p:pic>
        <p:nvPicPr>
          <p:cNvPr id="63" name="Picture 6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029" y="4477382"/>
            <a:ext cx="8757942" cy="64868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28221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3.4608"/>
  <p:tag name="ORIGINALWIDTH" val="1389.576"/>
  <p:tag name="LATEXADDIN" val="\documentclass{article}&#10;\usepackage{amsmath,braket,bm}&#10;\pagestyle{empty}&#10;\begin{document}&#10;&#10;\begin{equation*}&#10;\ket{\Psi}&#10;=&#10;\sum_{n}\int_{\text{BZ}}\mathrm{d}\bm{k}\,&#10;A_{n\bm{k}}\ket{n\bm{k}}&#10;\end{equation*}&#10;&#10;\end{document}"/>
  <p:tag name="IGUANATEXSIZE" val="20"/>
  <p:tag name="IGUANATEXCURSOR" val="17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043.12"/>
  <p:tag name="LATEXADDIN" val="\documentclass{article}&#10;\usepackage{amsmath,braket,bm}&#10;\pagestyle{empty}&#10;\begin{document}&#10;&#10;\begin{equation*}&#10;\mathcal{H}_{0}\ket{n\bm{k}} = E_{n\bm{k}}\ket{n\bm{k}}&#10;\end{equation*}&#10;&#10;\end{document}"/>
  <p:tag name="IGUANATEXSIZE" val="20"/>
  <p:tag name="IGUANATEXCURSOR" val="14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0.465"/>
  <p:tag name="ORIGINALWIDTH" val="2278.215"/>
  <p:tag name="LATEXADDIN" val="\documentclass{article}&#10;\usepackage{amsmath,braket,bm}&#10;\pagestyle{empty}&#10;\begin{document}&#10;&#10;\begin{equation*}&#10;\braket{\bm{r}|n\bm{k}}&#10;=&#10;\mathrm{e}^{\mathrm{i}\bm{k}\cdot\bm{r}}&#10;u_{n\bm{k}}\left(\bm{r}\right)&#10;=&#10;\sum_{\bm{G}}C_{\bm{k}+\bm{G}}^{(n)}\mathrm{e}^{\mathrm{i}\left(\bm{k}+\bm{G}\right)\cdot\bm{r}}&#10;\end{equation*}&#10;&#10;\end{document}"/>
  <p:tag name="IGUANATEXSIZE" val="20"/>
  <p:tag name="IGUANATEXCURSOR" val="245"/>
  <p:tag name="TRANSPARENCY" val="True"/>
  <p:tag name="FILENAME" val=""/>
  <p:tag name="LATEXENGINEID" val="0"/>
  <p:tag name="TEMPFOLDER" val="c:\temp\"/>
  <p:tag name="LATEXFORMHEIGHT" val="312"/>
  <p:tag name="LATEXFORMWIDTH" val="1201.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147.7315"/>
  <p:tag name="LATEXADDIN" val="\documentclass{article}&#10;\usepackage{amsmath,braket,bm}&#10;\pagestyle{empty}&#10;\begin{document}&#10;&#10;\begin{equation*}&#10;\mathcal{H}_{0}&#10;\end{equation*}&#10;&#10;\end{document}"/>
  <p:tag name="IGUANATEXSIZE" val="20"/>
  <p:tag name="IGUANATEXCURSOR" val="12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147.7315"/>
  <p:tag name="LATEXADDIN" val="\documentclass{article}&#10;\usepackage{amsmath,braket,bm}&#10;\pagestyle{empty}&#10;\begin{document}&#10;&#10;\begin{equation*}&#10;\mathcal{H}_{0}&#10;\end{equation*}&#10;&#10;\end{document}"/>
  <p:tag name="IGUANATEXSIZE" val="18"/>
  <p:tag name="IGUANATEXCURSOR" val="12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07.724"/>
  <p:tag name="LATEXADDIN" val="\documentclass{article}&#10;\usepackage{amsmath,braket,bm}&#10;\pagestyle{empty}&#10;\begin{document}&#10;&#10;\begin{equation*}&#10;\ket{n\bm{k}}&#10;\end{equation*}&#10;&#10;\end{document}"/>
  <p:tag name="IGUANATEXSIZE" val="18"/>
  <p:tag name="IGUANATEXCURSOR" val="10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07.724"/>
  <p:tag name="LATEXADDIN" val="\documentclass{article}&#10;\usepackage{amsmath,braket,bm}&#10;\pagestyle{empty}&#10;\begin{document}&#10;&#10;\begin{equation*}&#10;\ket{n\bm{k}}&#10;\end{equation*}&#10;&#10;\end{document}"/>
  <p:tag name="IGUANATEXSIZE" val="18"/>
  <p:tag name="IGUANATEXCURSOR" val="10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78.74016"/>
  <p:tag name="LATEXADDIN" val="\documentclass{article}&#10;\usepackage{amsmath,braket,bm}&#10;\pagestyle{empty}&#10;\begin{document}&#10;&#10;\begin{equation*}&#10;\mathcal{V}&#10;\end{equation*}&#10;&#10;\end{document}"/>
  <p:tag name="IGUANATEXSIZE" val="18"/>
  <p:tag name="IGUANATEXCURSOR" val="10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78.74016"/>
  <p:tag name="LATEXADDIN" val="\documentclass{article}&#10;\usepackage{amsmath,braket,bm}&#10;\pagestyle{empty}&#10;\begin{document}&#10;&#10;\begin{equation*}&#10;\mathcal{V}&#10;\end{equation*}&#10;&#10;\end{document}"/>
  <p:tag name="IGUANATEXSIZE" val="18"/>
  <p:tag name="IGUANATEXCURSOR" val="10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78.74016"/>
  <p:tag name="LATEXADDIN" val="\documentclass{article}&#10;\usepackage{amsmath,braket,bm}&#10;\pagestyle{empty}&#10;\begin{document}&#10;&#10;\begin{equation*}&#10;\mathcal{V}&#10;\end{equation*}&#10;&#10;\end{document}"/>
  <p:tag name="IGUANATEXSIZE" val="18"/>
  <p:tag name="IGUANATEXCURSOR" val="10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665.1669"/>
  <p:tag name="LATEXADDIN" val="\documentclass{article}&#10;\usepackage{amsmath,braket,bm}&#10;\pagestyle{empty}&#10;\begin{document}&#10;&#10;\begin{equation*}&#10;\mathcal{H}&#10;=&#10;\mathcal{H}_{0}&#10;+&#10;\mathcal{V}&#10;\end{equation*}&#10;&#10;\end{document}"/>
  <p:tag name="IGUANATEXSIZE" val="20"/>
  <p:tag name="IGUANATEXCURSOR" val="15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734.9081"/>
  <p:tag name="LATEXADDIN" val="\documentclass{article}&#10;\usepackage{amsmath,braket,bm}&#10;\pagestyle{empty}&#10;\begin{document}&#10;&#10;\begin{equation*}&#10;\mathcal{H}\ket{\Psi}&#10;=&#10;\mathcal{E}\ket{\Psi}&#10;\end{equation*}&#10;&#10;\end{document}"/>
  <p:tag name="IGUANATEXSIZE" val="20"/>
  <p:tag name="IGUANATEXCURSOR" val="14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52.2309"/>
  <p:tag name="LATEXADDIN" val="\documentclass{article}&#10;\usepackage{amsmath,braket,bm}&#10;\pagestyle{empty}&#10;\begin{document}&#10;&#10;\begin{equation*}&#10;\ket{\Psi}&#10;\end{equation*}&#10;&#10;\end{document}"/>
  <p:tag name="IGUANATEXSIZE" val="18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5.9692"/>
  <p:tag name="LATEXADDIN" val="\documentclass{article}&#10;\usepackage{amsmath,braket,bm}&#10;\pagestyle{empty}&#10;\begin{document}&#10;&#10;\begin{equation*}&#10;\mathcal{E}\left[\Psi\right]&#10;\end{equation*}&#10;&#10;\end{document}"/>
  <p:tag name="IGUANATEXSIZE" val="18"/>
  <p:tag name="IGUANATEXCURSOR" val="12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2.9696"/>
  <p:tag name="LATEXADDIN" val="\documentclass{article}&#10;\usepackage{amsmath,braket,bm}&#10;\pagestyle{empty}&#10;\begin{document}&#10;&#10;\begin{equation*}&#10;\sigma\left[\Psi\right]&#10;\end{equation*}&#10;&#10;\end{document}"/>
  <p:tag name="IGUANATEXSIZE" val="20"/>
  <p:tag name="IGUANATEXCURSOR" val="132"/>
  <p:tag name="TRANSPARENCY" val="True"/>
  <p:tag name="FILENAME" val=""/>
  <p:tag name="LATEXENGINEID" val="0"/>
  <p:tag name="TEMPFOLDER" val="c:\temp\"/>
  <p:tag name="LATEXFORMHEIGHT" val="312"/>
  <p:tag name="LATEXFORMWIDTH" val="8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52.2309"/>
  <p:tag name="LATEXADDIN" val="\documentclass{article}&#10;\usepackage{amsmath,braket,bm}&#10;\pagestyle{empty}&#10;\begin{document}&#10;&#10;\begin{equation*}&#10;\ket{\Psi}&#10;\end{equation*}&#10;&#10;\end{document}"/>
  <p:tag name="IGUANATEXSIZE" val="18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393.7008"/>
  <p:tag name="LATEXADDIN" val="\documentclass{article}&#10;\usepackage{amsmath,braket,bm}&#10;\pagestyle{empty}&#10;\begin{document}&#10;&#10;\begin{equation*}&#10;\mathcal{H}_0+\mathcal{V}&#10;\end{equation*}&#10;&#10;\end{document}"/>
  <p:tag name="IGUANATEXSIZE" val="18"/>
  <p:tag name="IGUANATEXCURSOR" val="1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81.4398"/>
  <p:tag name="LATEXADDIN" val="\documentclass{article}&#10;\usepackage{amsmath,braket,bm}&#10;\pagestyle{empty}&#10;\begin{document}&#10;&#10;\begin{equation*}&#10;\sigma\left[\Psi\right] = 0&#10;\end{equation*}&#10;&#10;\end{document}"/>
  <p:tag name="IGUANATEXSIZE" val="18"/>
  <p:tag name="IGUANATEXCURSOR" val="133"/>
  <p:tag name="TRANSPARENCY" val="True"/>
  <p:tag name="FILENAME" val=""/>
  <p:tag name="LATEXENGINEID" val="0"/>
  <p:tag name="TEMPFOLDER" val="c:\temp\"/>
  <p:tag name="LATEXFORMHEIGHT" val="312"/>
  <p:tag name="LATEXFORMWIDTH" val="8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1201.35"/>
  <p:tag name="LATEXADDIN" val="\documentclass{article}&#10;\usepackage{amsmath,braket,bm}&#10;\pagestyle{empty}&#10;\begin{document}&#10;&#10;\begin{equation*}&#10;\mathcal{E}\left[\Psi\right]&#10;=&#10;\frac&#10;{\braket{\Psi|\mathcal{H}_0+\mathcal{V}|\Psi}}&#10;{\braket{\Psi|\Psi}}&#10;\end{equation*}&#10;&#10;\end{document}"/>
  <p:tag name="IGUANATEXSIZE" val="20"/>
  <p:tag name="IGUANATEXCURSOR" val="10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2003.75"/>
  <p:tag name="LATEXADDIN" val="\documentclass{article}&#10;\usepackage{amsmath,braket,bm}&#10;\pagestyle{empty}&#10;\begin{document}&#10;&#10;\begin{equation*}&#10;\sigma\left[\Psi\right]&#10;=&#10;\sqrt{&#10;\frac&#10;{\braket{\Psi|\left(\mathcal{H}_0+\mathcal{V}\right)^{2}|\Psi}}&#10;{\braket{\Psi|\Psi}}&#10;-\mathcal{E}\left[\Psi\right]^{2}&#10;}&#10;\end{equation*}&#10;&#10;\end{document}"/>
  <p:tag name="IGUANATEXSIZE" val="20"/>
  <p:tag name="IGUANATEXCURSOR" val="245"/>
  <p:tag name="TRANSPARENCY" val="True"/>
  <p:tag name="FILENAME" val=""/>
  <p:tag name="LATEXENGINEID" val="0"/>
  <p:tag name="TEMPFOLDER" val="c:\temp\"/>
  <p:tag name="LATEXFORMHEIGHT" val="312"/>
  <p:tag name="LATEXFORMWIDTH" val="8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99291"/>
  <p:tag name="ORIGINALWIDTH" val="58.49268"/>
  <p:tag name="LATEXADDIN" val="\documentclass{article}&#10;\usepackage{amsmath,braket,bm}&#10;\pagestyle{empty}&#10;\begin{document}&#10;&#10;\begin{equation*}&#10;\bm{c}&#10;\end{equation*}&#10;&#10;\end{document}"/>
  <p:tag name="IGUANATEXSIZE" val="18"/>
  <p:tag name="IGUANATEXCURSOR" val="116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3.73827"/>
  <p:tag name="ORIGINALWIDTH" val="1726.284"/>
  <p:tag name="LATEXADDIN" val="\documentclass{article}&#10;\usepackage{amsmath,braket,bm}&#10;\pagestyle{empty}&#10;\begin{document}&#10;&#10;We find $\bm{c}$ such that $\bm{\mathcal{H}}\bm{c} = \lambda\bm{\mathcal{S}}\bm{c}$.&#10;&#10;\end{document}"/>
  <p:tag name="IGUANATEXSIZE" val="18"/>
  <p:tag name="IGUANATEXCURSOR" val="175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369.704"/>
  <p:tag name="LATEXADDIN" val="\documentclass{article}&#10;&#10;\usepackage[a0paper]{geometry}&#10;&#10;\usepackage{amsmath,braket,bm}&#10;\pagestyle{empty}&#10;\begin{document}&#10;&#10;If so, $\mathcal{E}\left[\bm{c},\left\{\ket{j}\right\}\right] = \lambda$ and $\mathcal{E}\left[\bm{c},\left\{\ket{j}\right\}\right]$ is minimized with respect to variations in $\bm{c}$.&#10;&#10;\end{document}"/>
  <p:tag name="IGUANATEXSIZE" val="18"/>
  <p:tag name="IGUANATEXCURSOR" val="55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1.9835"/>
  <p:tag name="ORIGINALWIDTH" val="3039.37"/>
  <p:tag name="LATEXADDIN" val="\documentclass{article}&#10;&#10;\usepackage[a0paper]{geometry}&#10;&#10;\usepackage{amsmath,braket,bm}&#10;\pagestyle{empty}&#10;\begin{document}&#10;&#10;Without loss of generality, we can assert that $\bm{c}^{\dag}\bm{\mathcal{S}}\bm{c} = 1$.&#10;&#10;\end{document}"/>
  <p:tag name="IGUANATEXSIZE" val="18"/>
  <p:tag name="IGUANATEXCURSOR" val="212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464.942"/>
  <p:tag name="LATEXADDIN" val="\documentclass{article}&#10;&#10;\usepackage[a0paper]{geometry}&#10;&#10;\usepackage{amsmath,braket,bm}&#10;\pagestyle{empty}&#10;\begin{document}&#10;&#10;We can further vary the basis set $\left\{\ket{j}\right\}$ to further lower $\mathcal{E}\left[\bm{c},\left\{\ket{j}\right\}\right]$ and $\sigma\left[\bm{c},\left\{\ket{j}\right\}\right]$.&#10;&#10;\end{document}"/>
  <p:tag name="IGUANATEXSIZE" val="18"/>
  <p:tag name="IGUANATEXCURSOR" val="267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1325.834"/>
  <p:tag name="LATEXADDIN" val="\documentclass{article}&#10;\usepackage{amsmath,braket,bm}&#10;\pagestyle{empty}&#10;\begin{document}&#10;&#10;\begin{equation*}&#10;\left(\bm{\mathcal{H}}\right)_{j_{1}j_{2}}&#10;=&#10;\braket{j_{1}|\mathcal{H}_{0}+\mathcal{V}|j_{2}}&#10;\end{equation*}&#10;&#10;\end{document}"/>
  <p:tag name="IGUANATEXSIZE" val="20"/>
  <p:tag name="IGUANATEXCURSOR" val="138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864.6419"/>
  <p:tag name="LATEXADDIN" val="\documentclass{article}&#10;\usepackage{amsmath,braket,bm}&#10;\pagestyle{empty}&#10;\begin{document}&#10;&#10;\begin{equation*}&#10;\left(\bm{\mathcal{S}}\right)_{j_{1}j_{2}}&#10;=&#10;\braket{j_{1}|j_{2}}&#10;\end{equation*}&#10;&#10;\end{document}"/>
  <p:tag name="IGUANATEXSIZE" val="20"/>
  <p:tag name="IGUANATEXCURSOR" val="168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8.219"/>
  <p:tag name="ORIGINALWIDTH" val="1695.538"/>
  <p:tag name="LATEXADDIN" val="\documentclass{article}&#10;\usepackage{amsmath,braket,bm}&#10;\pagestyle{empty}&#10;\begin{document}&#10;&#10;\begin{equation*}&#10;\left(\bm{\mathcal{H}}^{(2)}\right)_{j_{1}j_{2}}&#10;=&#10;\braket{j_{1}|\left(\mathcal{H}_{0}+\mathcal{V}\right)^{2}|j_{2}}&#10;\end{equation*}&#10;&#10;\end{document}"/>
  <p:tag name="IGUANATEXSIZE" val="20"/>
  <p:tag name="IGUANATEXCURSOR" val="136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7.4578"/>
  <p:tag name="ORIGINALWIDTH" val="2666.667"/>
  <p:tag name="LATEXADDIN" val="\documentclass{article}&#10;\usepackage{amsmath,braket,bm}&#10;\pagestyle{empty}&#10;\begin{document}&#10;&#10;\begin{equation*}&#10;\mathcal{E}\left[\bm{c},\left\{\ket{j}\right\}\right]&#10;=&#10;\frac&#10;{\sum_{j_{1}j_{2}}c_{j_{1}}^{*}c_{j_{2}}\braket{j_{1}|\mathcal{H}_0+\mathcal{V}|j_{2}}}&#10;{\sum_{j_{1}j_{2}}c_{j_{1}}^{*}c_{j_{2}}\braket{j_{1}|j_{2}}}&#10;=&#10;\frac&#10;{\bm{c}^{\dag}\bm{\mathcal{H}}\bm{c}}&#10;{\bm{c}^{\dag}\bm{\mathcal{S}}\bm{c}}&#10;\end{equation*}&#10;&#10;\end{document}"/>
  <p:tag name="IGUANATEXSIZE" val="20"/>
  <p:tag name="IGUANATEXCURSOR" val="133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2062.992"/>
  <p:tag name="LATEXADDIN" val="\documentclass{article}&#10;\usepackage{amsmath,braket,bm}&#10;\pagestyle{empty}&#10;\begin{document}&#10;&#10;\begin{equation*}&#10;\sigma\left[\bm{c},\left\{\ket{j}\right\}\right]&#10;=&#10;\sqrt{&#10;\frac&#10;{\bm{c}^{\dag}\bm{\mathcal{H}}^{(2)}\bm{c}}&#10;{\bm{c}^{\dag}\bm{\mathcal{S}}\bm{c}}&#10;-\mathcal{E}\left[\bm{c},\left\{\ket{j}\right\}\right]^{2}&#10;}&#10;\end{equation*}&#10;&#10;\end{document}"/>
  <p:tag name="IGUANATEXSIZE" val="20"/>
  <p:tag name="IGUANATEXCURSOR" val="309"/>
  <p:tag name="TRANSPARENCY" val="True"/>
  <p:tag name="FILENAME" val=""/>
  <p:tag name="LATEXENGINEID" val="0"/>
  <p:tag name="TEMPFOLDER" val="c:\temp\"/>
  <p:tag name="LATEXFORMHEIGHT" val="312"/>
  <p:tag name="LATEXFORMWIDTH" val="88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787.4016"/>
  <p:tag name="LATEXADDIN" val="\documentclass{article}&#10;\usepackage{amsmath,braket,bm}&#10;\pagestyle{empty}&#10;\begin{document}&#10;&#10;\begin{equation*}&#10;\ket{\Psi}&#10;=&#10;\sum_{j} c_{j}\ket{j}&#10;\end{equation*}&#10;&#10;\end{document}"/>
  <p:tag name="IGUANATEXSIZE" val="20"/>
  <p:tag name="IGUANATEXCURSOR" val="14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9587"/>
  <p:tag name="ORIGINALWIDTH" val="3222.347"/>
  <p:tag name="LATEXADDIN" val="\documentclass{article}&#10;\usepackage{amsmath,braket,bm}&#10;\pagestyle{empty}&#10;\begin{document}&#10;&#10;\begin{equation*}&#10;\ket{j}&#10;=&#10;\sum_{n}\int_{\text{BZ}}\mathrm{d}\bm{k}\,&#10;A_{jn\bm{k}}\ket{n\bm{k}}&#10;\longrightarrow&#10;\ket{j}&#10;=&#10;\sum_{q}\alpha_{q}\int_{\text{BZ}}\mathrm{d}\bm{k}\,&#10;A_{jq\bm{k}}\ket{0\bm{k}}&#10;\end{equation*}&#10;&#10;\end{document}"/>
  <p:tag name="IGUANATEXSIZE" val="20"/>
  <p:tag name="IGUANATEXCURSOR" val="21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9843"/>
  <p:tag name="ORIGINALWIDTH" val="4942.632"/>
  <p:tag name="LATEXADDIN" val="\documentclass{article}&#10;&#10;\usepackage[a0paper]{geometry}&#10;&#10;\usepackage{amsmath,braket,bm}&#10;\pagestyle{empty}&#10;\begin{document}&#10;&#10;We neglect contributions from bands above the conduction minima, so $A_{jn\bm{k}} = 0$ for $n \ne 0$.&#10;&#10;\end{document}"/>
  <p:tag name="IGUANATEXSIZE" val="18"/>
  <p:tag name="IGUANATEXCURSOR" val="225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7.7315"/>
  <p:tag name="ORIGINALWIDTH" val="2139.482"/>
  <p:tag name="LATEXADDIN" val="\documentclass{article}&#10;&#10;\usepackage[a0paper]{geometry}&#10;&#10;\usepackage{amsmath,braket,bm}&#10;\pagestyle{empty}&#10;\begin{document}&#10;&#10;We express $A_{j0\bm{k}}$ as $A_{j0\bm{k}} = \sum_{q} \alpha_{q} A_{jq\bm{k}}$.&#10;&#10;\end{document}"/>
  <p:tag name="IGUANATEXSIZE" val="18"/>
  <p:tag name="IGUANATEXCURSOR" val="203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9843"/>
  <p:tag name="ORIGINALWIDTH" val="3853.768"/>
  <p:tag name="LATEXADDIN" val="\documentclass{article}&#10;&#10;\usepackage[a0paper]{geometry}&#10;&#10;\usepackage{amsmath,braket,bm}&#10;\pagestyle{empty}&#10;\begin{document}&#10;&#10;We assume that the $A_{jq\bm{k}}$ are sharply peaked at $\bm{k} = \bm{k}_{q}$ with $\bm{k}_{q} = k_{0}\hat{\bm{q}}$.&#10;&#10;\end{document}"/>
  <p:tag name="IGUANATEXSIZE" val="18"/>
  <p:tag name="IGUANATEXCURSOR" val="240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9587"/>
  <p:tag name="ORIGINALWIDTH" val="2889.389"/>
  <p:tag name="LATEXADDIN" val="\documentclass{article}&#10;\usepackage{amsmath,bm, physics}&#10;\pagestyle{empty}&#10;\begin{document}&#10;&#10;\begin{equation*}&#10;\Psi = \sum_{n} \int_{BZ} \dd\vb{k}\, A\left(\vb{k}\right) \ket{n\vb{k}} \rightarrow \int_{BZ} \dd\vb{k}\, &#10;\sum_{q} A^{(q)}\left(\vb{k}\right)\ket{0\vb{k}}&#10;\end{equation*}&#10;&#10;\end{document}"/>
  <p:tag name="IGUANATEXSIZE" val="18"/>
  <p:tag name="IGUANATEXCURSOR" val="267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2612.673"/>
  <p:tag name="LATEXADDIN" val="\documentclass{article}&#10;\usepackage{amsmath,bm}&#10;\pagestyle{empty}&#10;\begin{document}&#10;&#10;\begin{equation*}&#10;\mathcal{S}_{ii^\prime}&#10;=&#10;\int\mathrm{d}\bm{r}\, &#10;\sum_{\bm{k}_{q},\bm{k}_{q^\prime}}&#10;\alpha_{q}^{*}\alpha_{q^\prime}&#10;\mathrm{e}^{\mathrm{i}\left(\bm{k}_{q^\prime}-\bm{k}_{q}\right)\cdot\bm{r}}&#10;\left(F_{i}^{(q)}\right)^{*}&#10;F_{i^\prime}^{(q^\prime)}&#10;\end{equation*}&#10;&#10;\end{document}"/>
  <p:tag name="IGUANATEXSIZE" val="18"/>
  <p:tag name="IGUANATEXCURSOR" val="16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1529.809"/>
  <p:tag name="LATEXADDIN" val="\documentclass{article}&#10;\usepackage{amsmath,bm,physics}&#10;\pagestyle{empty}&#10;\begin{document}&#10;&#10;\begin{equation*}&#10;\Psi&#10;\approx &#10;\sum_{j} c_{j}&#10;\left(&#10;\sum_{\bm{k}_q} \alpha_q &#10;F_{j}^{(q)}&#10;\eta^{(q)}&#10;\right)&#10;\end{equation*}&#10;&#10;\end{document}"/>
  <p:tag name="IGUANATEXSIZE" val="20"/>
  <p:tag name="IGUANATEXCURSOR" val="193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29"/>
  <p:tag name="LAYER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911.886"/>
  <p:tag name="LATEXADDIN" val="\documentclass{article}&#10;\usepackage{amsmath,bm}&#10;\pagestyle{empty}&#10;\begin{document}&#10;&#10;\begin{equation*}&#10;E \mathcal{S}\bm{c} = (\mathcal{T} + \mathcal{U})\bm{c}&#10;\end{equation*}&#10;&#10;\end{document}"/>
  <p:tag name="IGUANATEXSIZE" val="15"/>
  <p:tag name="IGUANATEXCURSOR" val="156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.2354"/>
  <p:tag name="ORIGINALWIDTH" val="477.6903"/>
  <p:tag name="LATEXADDIN" val="\documentclass{article}&#10;\usepackage{amsmath,bm}&#10;\pagestyle{empty}&#10;\begin{document}&#10;&#10;\begin{equation*}&#10;\bm{c}^{\dag}\mathcal{S}\bm{c} = 1&#10;\end{equation*}&#10;&#10;\end{document}"/>
  <p:tag name="IGUANATEXSIZE" val="15"/>
  <p:tag name="IGUANATEXCURSOR" val="131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2886.389"/>
  <p:tag name="LATEXADDIN" val="\documentclass{article}&#10;\usepackage{amsmath,bm}&#10;\pagestyle{empty}&#10;\begin{document}&#10;&#10;\begin{equation*}&#10;\mathcal{T}_{ii^\prime}&#10;=&#10;\int\mathrm{d}\bm{r}\,&#10;\sum_{\bm{k}_{q},\bm{k}_{q^\prime}}&#10;\alpha_{q}^{*}\alpha_{q^\prime}&#10;\mathrm{e}^{\mathrm{i}\left(\bm{k}_{q^\prime}-\bm{k}_{q}\right)\cdot\bm{r}}&#10;\left(F_{i}^{(q)}\right)^{*}&#10;\left[&#10;\hat{T}^{q^\prime}&#10;F_{i^\prime}^{(q^\prime)}&#10;\right]&#10;\end{equation*}&#10;&#10;\end{document}"/>
  <p:tag name="IGUANATEXSIZE" val="18"/>
  <p:tag name="IGUANATEXCURSOR" val="12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7.709"/>
  <p:tag name="ORIGINALWIDTH" val="2281.965"/>
  <p:tag name="LATEXADDIN" val="\documentclass{article}&#10;\usepackage{amsmath,bm,physics}&#10;\pagestyle{empty}&#10;\begin{document}&#10;&#10;\begin{equation*}&#10;\hat{T}^{(z)}&#10;=&#10;-\frac{\hbar^2}{2m_{\perp}}\pdv[2]{x} -\frac{\hbar^2}{2m_{\perp}}\pdv[2]{y}&#10;-\frac{\hbar^2}{2m_{\parallel}}\pdv[2]{z}&#10;\end{equation*}&#10;&#10;\end{document}"/>
  <p:tag name="IGUANATEXSIZE" val="16"/>
  <p:tag name="IGUANATEXCURSOR" val="126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2782.152"/>
  <p:tag name="LATEXADDIN" val="\documentclass{article}&#10;\usepackage{amsmath,bm}&#10;\pagestyle{empty}&#10;\begin{document}&#10;&#10;\begin{equation*}&#10;\mathcal{U}_{ii^\prime}&#10;= &#10;\int \mathrm{d}\bm{r}\,&#10;\sum_{\bm{k}_{q}\bm{k}_{q^\prime}}&#10;\alpha_{q}^{*}\alpha_{q^\prime}&#10;\eta^{(-q)}\eta^{(q^\prime)}&#10;\left\{F_{i}^{(q)}\right\}^{*}&#10;F_{i^\prime}^{(q^\prime)}&#10;U(\bm{r})&#10;\end{equation*}&#10;&#10;\end{document}"/>
  <p:tag name="IGUANATEXSIZE" val="18"/>
  <p:tag name="IGUANATEXCURSOR" val="247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1529.809"/>
  <p:tag name="LATEXADDIN" val="\documentclass{article}&#10;\usepackage{amsmath,bm,physics}&#10;\pagestyle{empty}&#10;\begin{document}&#10;&#10;\begin{equation*}&#10;\Psi&#10;\approx &#10;\sum_{j} c_{j}&#10;\left(&#10;\sum_{\bm{k}_q} \alpha_q &#10;F_{j}^{(q)}&#10;\eta^{(q)}&#10;\right)&#10;\end{equation*}&#10;&#10;\end{document}"/>
  <p:tag name="IGUANATEXSIZE" val="20"/>
  <p:tag name="IGUANATEXCURSOR" val="193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7.2141"/>
  <p:tag name="ORIGINALWIDTH" val="1961.755"/>
  <p:tag name="LATEXADDIN" val="\documentclass{article}&#10;\usepackage{amsmath,bm}&#10;\pagestyle{empty}&#10;\begin{document}&#10;&#10;\begin{equation*}&#10;\left\langle \hat{H}^2 \right\rangle &#10;= &#10;\frac{&#10;\bm{c}^{\dag}\left(\mathcal{T}^2 + \mathcal{T}\mathcal{U} + \mathcal{U}\mathcal{T} + \mathcal{U}^2\right)\bm{c}&#10;}{&#10;\bm{c}^{\dag}\mathcal{S}\bm{c}&#10;}&#10;\end{equation*}&#10;&#10;\end{document}"/>
  <p:tag name="IGUANATEXSIZE" val="20"/>
  <p:tag name="IGUANATEXCURSOR" val="12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1036.37"/>
  <p:tag name="LATEXADDIN" val="\documentclass{article}&#10;\usepackage{amsmath,bm,physics}&#10;\pagestyle{empty}&#10;\begin{document}&#10;&#10;\begin{equation*}&#10;\Delta E^2 = \expval{\hat{H}^{2}} - E^{2}&#10;\end{equation*}&#10;&#10;\end{document}"/>
  <p:tag name="IGUANATEXSIZE" val="20"/>
  <p:tag name="IGUANATEXCURSOR" val="147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3217.848"/>
  <p:tag name="LATEXADDIN" val="\documentclass{article}&#10;\usepackage{amsmath,bm}&#10;\pagestyle{empty}&#10;\begin{document}&#10;&#10;\begin{equation*}&#10;\left(\mathcal{T}^{2}\right)_{ii^\prime}&#10;=&#10;\int\mathrm{d}\bm{r}\,&#10;\sum_{\bm{k}_{q},\bm{k}_{q^\prime}}&#10;\alpha_{q}^{*}\alpha_{q^\prime}&#10;\mathrm{e}^{\mathrm{i}\left(\bm{k}_{q^\prime}-\bm{k}_{q}\right)\cdot\bm{r}}&#10;\left(\hat{T}^{q}F_{i}^{(q)}\right)^{*}&#10;\left[\hat{T}^{q^\prime}&#10;F_{i^\prime}^{(q^\prime)}&#10;\right]&#10;\end{equation*}&#10;&#10;\end{document}"/>
  <p:tag name="IGUANATEXSIZE" val="18"/>
  <p:tag name="IGUANATEXCURSOR" val="18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2835.396"/>
  <p:tag name="LATEXADDIN" val="\documentclass{article}&#10;\usepackage{amsmath,bm}&#10;\pagestyle{empty}&#10;\begin{document}&#10;&#10;\begin{equation*}&#10;\left(\mathcal{U}^{2}\right)_{ii^\prime}&#10;= &#10;\int \mathrm{d}\bm{r}\,&#10;\sum_{\bm{k}_{q}\bm{k}_{q^\prime}}&#10;\alpha_{q}^{*}\alpha_{q^\prime}&#10;\eta_{-q}\eta_{q^\prime}&#10;\left\{F_{i}^{(q)}\right\}^{*}&#10;F_{i^\prime}^{(q^\prime)}&#10;U(\bm{r})^{2}&#10;\end{equation*}&#10;&#10;\end{document}"/>
  <p:tag name="IGUANATEXSIZE" val="18"/>
  <p:tag name="IGUANATEXCURSOR" val="332"/>
  <p:tag name="TRANSPARENCY" val="Fals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3206.599"/>
  <p:tag name="LATEXADDIN" val="\documentclass{article}&#10;\usepackage{amsmath,bm}&#10;\pagestyle{empty}&#10;\begin{document}&#10;&#10;\begin{equation*}&#10;\left(\mathcal{U}\mathcal{T}\right)_{ii^\prime}&#10;= &#10;\int \mathrm{d}\bm{r}\,&#10;\sum_{\bm{k}_{q}\bm{k}_{q^\prime}}&#10;\alpha_{q}^{*}\alpha_{q^\prime}&#10;\eta_{-q}\eta_{q^\prime}&#10;\left\{F_{i}^{(q)}\right\}^{*}&#10;\left[\hat{T}^{(q^\prime)}F_{i^\prime}^{(q^\prime)}\right]&#10;U(\bm{r})&#10;\end{equation*}&#10;&#10;\end{document}"/>
  <p:tag name="IGUANATEXSIZE" val="18"/>
  <p:tag name="IGUANATEXCURSOR" val="326"/>
  <p:tag name="TRANSPARENCY" val="Fals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3034.871"/>
  <p:tag name="LATEXADDIN" val="\documentclass{article}&#10;\usepackage{amsmath,bm}&#10;\pagestyle{empty}&#10;\begin{document}&#10;&#10;\begin{equation*}&#10;\left(\mathcal{T}\mathcal{U}\right)_{ii^\prime}&#10;= &#10;\int \mathrm{d}\bm{r}\,&#10;\sum_{\bm{k}_{q}\bm{k}_{q^\prime}}&#10;\alpha_{q}^{*}\alpha_{q^\prime}&#10;\eta_{-q}\eta_{q^\prime}&#10;\left\{\hat{T}^{(q)}F_{i}^{(q)}\right\}^{*}&#10;F_{i^\prime}^{(q^\prime)}&#10;U(\bm{r})&#10;\end{equation*}&#10;&#10;\end{document}"/>
  <p:tag name="IGUANATEXSIZE" val="18"/>
  <p:tag name="IGUANATEXCURSOR" val="289"/>
  <p:tag name="TRANSPARENCY" val="Fals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5.958"/>
  <p:tag name="ORIGINALWIDTH" val="2998.875"/>
  <p:tag name="LATEXADDIN" val="\documentclass{article}&#10;\usepackage{amsmath,bm,physics}&#10;\pagestyle{empty}&#10;\begin{document}&#10;&#10;\begin{equation*}&#10;\bra{\Psi}\hat{H}_{0}^{2}\ket{\Psi} &#10;= \int_{BZ} \dd\vb{k}\, E_{0}\left(\vb{k}\right)^2\sum_{qq^{\prime}}\alpha_{q}^{*}\alpha_{q^\prime}A^{(q)}\left(\vb{k}\right)^{*}A^{(q^\prime)}\left(\vb{k}\right)&#10;\end{equation*}&#10;&#10;\end{document}"/>
  <p:tag name="IGUANATEXSIZE" val="18"/>
  <p:tag name="IGUANATEXCURSOR" val="135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8.2077"/>
  <p:tag name="ORIGINALWIDTH" val="4614.923"/>
  <p:tag name="LATEXADDIN" val="\documentclass{article}&#10;\usepackage{amsmath,bm,physics}&#10;\pagestyle{empty}&#10;\begin{document}&#10;&#10;\begin{equation*}&#10;= &#10;\int \dd\vb{r}\, &#10;\left(\hat{T}^{(z)}F^{(z)}\right)^{*}\left(\hat{T}^{(z)}F^{(z)}\right)&#10;+&#10;\int \dd\vb{r}\, &#10;\sum_{q\ne q^{\prime}}\alpha_{q}^{*}\alpha_{q^\prime}&#10;\mathrm{e}^{\mathrm{i}\left(\vb{k}_{q^\prime}-\vb{k}_{q}\right)\cdot\vb{r}}&#10;\left(\hat{T}^{(q)}F^{(q)}\right)^{*}\left(\hat{T}^{(q^\prime)}F^{(q^\prime)}\right)&#10;\end{equation*}&#10;&#10;\end{document}"/>
  <p:tag name="IGUANATEXSIZE" val="18"/>
  <p:tag name="IGUANATEXCURSOR" val="369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9813"/>
  <p:tag name="ORIGINALWIDTH" val="543.6821"/>
  <p:tag name="LATEXADDIN" val="\documentclass{article}&#10;\usepackage{amsmath,bm,physics}&#10;\pagestyle{empty}&#10;\begin{document}&#10;&#10;\begin{equation*}&#10;\bra{\Psi}\hat{H}_{0}^{2}\ket{\Psi} &#10;\end{equation*}&#10;&#10;\end{document}"/>
  <p:tag name="IGUANATEXSIZE" val="18"/>
  <p:tag name="IGUANATEXCURSOR" val="135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6.2054"/>
  <p:tag name="ORIGINALWIDTH" val="5448.069"/>
  <p:tag name="LATEXADDIN" val="\documentclass{article}&#10;\usepackage{amsmath,bm,physics}&#10;\pagestyle{empty}&#10;\begin{document}&#10;&#10;\begin{equation*}&#10;= &#10;\int \dd\vb{r}\,&#10;\sum_{qq^{\prime}}\alpha_{q}^{*}\alpha_{q^\prime}&#10;\mathrm{e}^{\mathrm{i}\left(\vb{k}_{q^\prime}-\vb{k}_{q}\right)\cdot\vb{r}}&#10;\left(&#10;\int_{BZ} \dd\vb{k}\,&#10;E_{0}\left(\vb{k}\right)&#10;A^{(q)}\left(\vb{k}\right)&#10;\mathrm{e}^{\mathrm{i}\left(\vb{k}-\vb{k}_{q}\right)\cdot\vb{r}}&#10;\right)^{*}&#10;\int_{BZ} \dd\vb{k}^{\prime}\, &#10;E_{0}\left(\vb{k}^{\prime}\right)&#10;A^{(q^\prime)}\left(\vb{k}^{\prime}\right)&#10;\mathrm{e}^{\mathrm{i}\left(\vb{k}^{\prime}-\vb{k}_{q^{\prime}}\right)\cdot\vb{r}}&#10;\end{equation*}&#10;&#10;\end{document}"/>
  <p:tag name="IGUANATEXSIZE" val="18"/>
  <p:tag name="IGUANATEXCURSOR" val="30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5.958"/>
  <p:tag name="ORIGINALWIDTH" val="2401.2"/>
  <p:tag name="LATEXADDIN" val="\documentclass{article}&#10;\usepackage{amsmath,bm,physics}&#10;\pagestyle{empty}&#10;\begin{document}&#10;&#10;\begin{equation*}&#10;=&#10;\int_{BZ} \dd\vb{k}\, E_{0}\left(\vb{k}\right)^{2}\sum_{qq^{\prime}}\alpha_{q}^{*}\alpha_{q^\prime}A^{(q)}\left(\vb{k}\right)^{*}A^{(q^\prime)}\left(\vb{k}\right)&#10;\end{equation*}&#10;&#10;\end{document}"/>
  <p:tag name="IGUANATEXSIZE" val="18"/>
  <p:tag name="IGUANATEXCURSOR" val="16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0.7086"/>
  <p:tag name="ORIGINALWIDTH" val="3592.051"/>
  <p:tag name="LATEXADDIN" val="\documentclass{article}&#10;\usepackage{amsmath,bm,physics}&#10;\pagestyle{empty}&#10;\begin{document}&#10;&#10;\begin{equation*}&#10;\rightarrow \int_{BZ} \dd\vb{k}\, \sum_{q}\left|\alpha_{q}E_{0}\left(\vb{k}\right)A^{(q)}\left(\vb{k}\right)\right|^{2}&#10;= \int \dd\vb{r}\, &#10;\left(\hat{T}^{(z)}F^{(z)}\right)^{*}\left(\hat{T}^{(z)}F^{(z)}\right)&#10;\end{equation*}&#10;&#10;\end{document}"/>
  <p:tag name="IGUANATEXSIZE" val="18"/>
  <p:tag name="IGUANATEXCURSOR" val="269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4312.711"/>
  <p:tag name="LATEXADDIN" val="\documentclass{article}&#10;\usepackage{amsmath,bm}&#10;\pagestyle{empty}&#10;\begin{document}&#10;&#10;\begin{equation*}&#10;\mathcal{T}_{ii^\prime}&#10;=&#10;\int\mathrm{d}\bm{r}\,&#10;\left(F_{i}^{(z)}\right)^{*}&#10;\left[&#10;\hat{T}^{z}&#10;F_{i^\prime}^{(z)}&#10;\right]&#10;+&#10;\int\mathrm{d}\bm{r}\,&#10;\sum_{\bm{k}_{q}\ne\bm{k}_{q^\prime}}&#10;\alpha_{q}^{*}\alpha_{q^\prime}&#10;\mathrm{e}^{\mathrm{i}\left(\bm{k}_{q^\prime}-\bm{k}_{q}\right)\cdot\bm{r}}&#10;\left(F_{i}^{(q)}\right)^{*}&#10;\left[&#10;\hat{T}^{q^\prime}&#10;F_{i^\prime}^{(q^\prime)}&#10;\right]&#10;\end{equation*}&#10;&#10;\end{document}"/>
  <p:tag name="IGUANATEXSIZE" val="18"/>
  <p:tag name="IGUANATEXCURSOR" val="215"/>
  <p:tag name="TRANSPARENCY" val="Fals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3829.021"/>
  <p:tag name="LATEXADDIN" val="\documentclass{article}&#10;\usepackage{amsmath,bm}&#10;\pagestyle{empty}&#10;\begin{document}&#10;&#10;\begin{equation*}&#10;\mathcal{S}_{ii^\prime}&#10;=&#10;\int\mathrm{d}\bm{r}\, &#10;\left(F_{i}^{(z)}\right)^{*}&#10;F_{i^\prime}^{(z)}&#10;+&#10;\int\mathrm{d}\bm{r}\, &#10;\sum_{\bm{k}_{q} \ne \bm{k}_{q^\prime}}&#10;\alpha_{q}^{*}\alpha_{q^\prime}&#10;\mathrm{e}^{\mathrm{i}\left(\bm{k}_{q^\prime}-\bm{k}_{q}\right)\cdot\bm{r}}&#10;\left(F_{i}^{(q)}\right)^{*}&#10;F_{i^\prime}^{(q^\prime)}&#10;\end{equation*}&#10;&#10;\end{document}"/>
  <p:tag name="IGUANATEXSIZE" val="18"/>
  <p:tag name="IGUANATEXCURSOR" val="15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4788.901"/>
  <p:tag name="LATEXADDIN" val="\documentclass{article}&#10;\usepackage{amsmath,bm}&#10;\pagestyle{empty}&#10;\begin{document}&#10;&#10;\begin{equation*}&#10;\left(\mathcal{T}^{2}\right)_{ii^\prime}&#10;=&#10;\int\mathrm{d}\bm{r}\,&#10;\left(\hat{T}^{z}F_{i}^{(q)}\right)^{*}&#10;\left[\hat{T}^{z}&#10;F_{i^\prime}^{(z)}&#10;\right]&#10;+&#10;\int\mathrm{d}\bm{r}\,&#10;\sum_{\bm{k}_{q}\ne\bm{k}_{q^\prime}}&#10;\alpha_{q}^{*}\alpha_{q^\prime}&#10;\mathrm{e}^{\mathrm{i}\left(\bm{k}_{q^\prime}-\bm{k}_{q}\right)\cdot\bm{r}}&#10;\left(\hat{T}^{q}F_{i}^{(q)}\right)^{*}&#10;\left[\hat{T}^{q^\prime}&#10;F_{i^\prime}^{(q^\prime)}&#10;\right]&#10;\end{equation*}&#10;&#10;\end{document}"/>
  <p:tag name="IGUANATEXSIZE" val="18"/>
  <p:tag name="IGUANATEXCURSOR" val="242"/>
  <p:tag name="TRANSPARENCY" val="Fals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39426</TotalTime>
  <Words>940</Words>
  <Application>Microsoft Office PowerPoint</Application>
  <PresentationFormat>Widescreen</PresentationFormat>
  <Paragraphs>100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Georgia</vt:lpstr>
      <vt:lpstr>Gill Sans MT</vt:lpstr>
      <vt:lpstr>LucidaGrande</vt:lpstr>
      <vt:lpstr>UB Powerpoint Template</vt:lpstr>
      <vt:lpstr>System description</vt:lpstr>
      <vt:lpstr>PowerPoint Presentation</vt:lpstr>
      <vt:lpstr>Introducing  imperfections</vt:lpstr>
      <vt:lpstr>Variational method</vt:lpstr>
      <vt:lpstr>Ritz method</vt:lpstr>
      <vt:lpstr>Introducing the effective mass approximations -- I</vt:lpstr>
      <vt:lpstr>Introducing the effective mass approximations -- II</vt:lpstr>
      <vt:lpstr>The effective mass approximation</vt:lpstr>
      <vt:lpstr>The Generalized Eigenvalue Problem</vt:lpstr>
      <vt:lpstr>Checking the completeness with the variance</vt:lpstr>
      <vt:lpstr>A problem with the Shindo-Nara equation?</vt:lpstr>
      <vt:lpstr>MoDIFIED EFFECTIVE MASS FORMULAE</vt:lpstr>
      <vt:lpstr>Losing verisimilitude for a more consistent approach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1893</cp:revision>
  <cp:lastPrinted>2016-07-18T17:32:49Z</cp:lastPrinted>
  <dcterms:created xsi:type="dcterms:W3CDTF">2016-06-28T14:05:07Z</dcterms:created>
  <dcterms:modified xsi:type="dcterms:W3CDTF">2020-10-02T19:06:17Z</dcterms:modified>
  <cp:category/>
</cp:coreProperties>
</file>