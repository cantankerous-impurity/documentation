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4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1"/>
  </p:notesMasterIdLst>
  <p:handoutMasterIdLst>
    <p:handoutMasterId r:id="rId12"/>
  </p:handoutMasterIdLst>
  <p:sldIdLst>
    <p:sldId id="613" r:id="rId2"/>
    <p:sldId id="555" r:id="rId3"/>
    <p:sldId id="819" r:id="rId4"/>
    <p:sldId id="789" r:id="rId5"/>
    <p:sldId id="826" r:id="rId6"/>
    <p:sldId id="828" r:id="rId7"/>
    <p:sldId id="811" r:id="rId8"/>
    <p:sldId id="829" r:id="rId9"/>
    <p:sldId id="827" r:id="rId10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961"/>
    <a:srgbClr val="FF7F7F"/>
    <a:srgbClr val="7FD7A7"/>
    <a:srgbClr val="00B050"/>
    <a:srgbClr val="FF0000"/>
    <a:srgbClr val="33A366"/>
    <a:srgbClr val="B797CF"/>
    <a:srgbClr val="7A0000"/>
    <a:srgbClr val="005AC0"/>
    <a:srgbClr val="2F71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76" autoAdjust="0"/>
    <p:restoredTop sz="94847" autoAdjust="0"/>
  </p:normalViewPr>
  <p:slideViewPr>
    <p:cSldViewPr snapToGrid="0" snapToObjects="1">
      <p:cViewPr varScale="1">
        <p:scale>
          <a:sx n="113" d="100"/>
          <a:sy n="113" d="100"/>
        </p:scale>
        <p:origin x="426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251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9/29/2023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9/29/2023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7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772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7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147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79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83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30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097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62279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1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62279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0"/>
            <a:ext cx="12188952" cy="6857999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8485632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8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6046265"/>
            <a:ext cx="4650699" cy="344912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2279952"/>
            <a:ext cx="8485632" cy="159710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9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37895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37895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8950" cy="6857998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3024952"/>
            <a:ext cx="8866632" cy="853311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5800"/>
              </a:lnSpc>
              <a:defRPr sz="6000" b="1" i="0" cap="all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68" y="3970337"/>
            <a:ext cx="8866632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800" b="0" i="1" baseline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6" y="366636"/>
            <a:ext cx="4800588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9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470" y="2007221"/>
            <a:ext cx="10513060" cy="39725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5029200" y="2185416"/>
            <a:ext cx="4179753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838200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ts val="26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20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9678987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buClr>
                <a:srgbClr val="005BBB"/>
              </a:buClr>
              <a:buFontTx/>
              <a:buNone/>
              <a:defRPr sz="1700" b="1">
                <a:solidFill>
                  <a:srgbClr val="005BB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36600" indent="-279400">
              <a:lnSpc>
                <a:spcPts val="2300"/>
              </a:lnSpc>
              <a:buClr>
                <a:srgbClr val="005BBB"/>
              </a:buClr>
              <a:buFont typeface="Arial" charset="0"/>
              <a:buChar char="•"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700" y="11430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b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626100" y="1295401"/>
            <a:ext cx="67183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473699" y="1143001"/>
            <a:ext cx="6718301" cy="285529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5473699" y="3998296"/>
            <a:ext cx="3429001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902701" y="3998296"/>
            <a:ext cx="3289300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69469" y="2189263"/>
            <a:ext cx="4002532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2600"/>
              </a:lnSpc>
              <a:buNone/>
              <a:defRPr sz="1800" b="0" i="0" spc="-5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8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4531638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1143001"/>
            <a:ext cx="12192000" cy="571817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</p:spPr>
        <p:txBody>
          <a:bodyPr>
            <a:spAutoFit/>
          </a:bodyPr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9416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68638" y="0"/>
            <a:ext cx="1169605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24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2045778" y="1023929"/>
            <a:ext cx="8557756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48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2045778" y="2555888"/>
            <a:ext cx="8557756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950" cy="68579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838200" y="2039400"/>
            <a:ext cx="10515600" cy="409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838200" y="1280160"/>
            <a:ext cx="10515600" cy="507831"/>
          </a:xfrm>
          <a:prstGeom prst="rect">
            <a:avLst/>
          </a:prstGeom>
        </p:spPr>
        <p:txBody>
          <a:bodyPr vert="horz" lIns="91440" tIns="45720" rIns="91440" bIns="45720" rtlCol="0" anchor="b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1353800" y="199638"/>
            <a:ext cx="731520" cy="45720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 algn="ctr"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366636"/>
            <a:ext cx="4800600" cy="3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6" r:id="rId2"/>
    <p:sldLayoutId id="2147483894" r:id="rId3"/>
    <p:sldLayoutId id="2147483909" r:id="rId4"/>
    <p:sldLayoutId id="2147483895" r:id="rId5"/>
    <p:sldLayoutId id="2147483897" r:id="rId6"/>
    <p:sldLayoutId id="2147483907" r:id="rId7"/>
    <p:sldLayoutId id="2147483898" r:id="rId8"/>
    <p:sldLayoutId id="2147483900" r:id="rId9"/>
    <p:sldLayoutId id="2147483906" r:id="rId10"/>
    <p:sldLayoutId id="2147483902" r:id="rId11"/>
    <p:sldLayoutId id="214748391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0" kern="1200">
          <a:solidFill>
            <a:schemeClr val="tx2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LucidaGrande" charset="0"/>
        <a:buChar char="-"/>
        <a:defRPr sz="1800" kern="1200" baseline="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>
          <p15:clr>
            <a:srgbClr val="F26B43"/>
          </p15:clr>
        </p15:guide>
        <p15:guide id="2" pos="416">
          <p15:clr>
            <a:srgbClr val="F26B43"/>
          </p15:clr>
        </p15:guide>
        <p15:guide id="3" orient="horz" pos="4016">
          <p15:clr>
            <a:srgbClr val="F26B43"/>
          </p15:clr>
        </p15:guide>
        <p15:guide id="4" pos="7392">
          <p15:clr>
            <a:srgbClr val="F26B43"/>
          </p15:clr>
        </p15:guide>
        <p15:guide id="5" pos="288">
          <p15:clr>
            <a:srgbClr val="F26B43"/>
          </p15:clr>
        </p15:guide>
        <p15:guide id="6" pos="4464">
          <p15:clr>
            <a:srgbClr val="F26B43"/>
          </p15:clr>
        </p15:guide>
        <p15:guide id="7" pos="4704">
          <p15:clr>
            <a:srgbClr val="F26B43"/>
          </p15:clr>
        </p15:guide>
        <p15:guide id="8" pos="4512">
          <p15:clr>
            <a:srgbClr val="F26B43"/>
          </p15:clr>
        </p15:guide>
        <p15:guide id="9" orient="horz" pos="1848">
          <p15:clr>
            <a:srgbClr val="F26B43"/>
          </p15:clr>
        </p15:guide>
        <p15:guide id="10" orient="horz" pos="1896">
          <p15:clr>
            <a:srgbClr val="F26B43"/>
          </p15:clr>
        </p15:guide>
        <p15:guide id="11" orient="horz" pos="2880">
          <p15:clr>
            <a:srgbClr val="F26B43"/>
          </p15:clr>
        </p15:guide>
        <p15:guide id="1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8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7.xml"/><Relationship Id="rId7" Type="http://schemas.openxmlformats.org/officeDocument/2006/relationships/notesSlide" Target="../notesSlides/notesSlide3.xml"/><Relationship Id="rId12" Type="http://schemas.openxmlformats.org/officeDocument/2006/relationships/image" Target="../media/image16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5.png"/><Relationship Id="rId5" Type="http://schemas.openxmlformats.org/officeDocument/2006/relationships/tags" Target="../tags/tag9.xml"/><Relationship Id="rId10" Type="http://schemas.openxmlformats.org/officeDocument/2006/relationships/image" Target="../media/image14.png"/><Relationship Id="rId4" Type="http://schemas.openxmlformats.org/officeDocument/2006/relationships/tags" Target="../tags/tag8.xml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3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8.xml"/><Relationship Id="rId7" Type="http://schemas.openxmlformats.org/officeDocument/2006/relationships/image" Target="../media/image25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27.png"/><Relationship Id="rId4" Type="http://schemas.openxmlformats.org/officeDocument/2006/relationships/tags" Target="../tags/tag19.xml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tags" Target="../tags/tag22.xml"/><Relationship Id="rId7" Type="http://schemas.openxmlformats.org/officeDocument/2006/relationships/image" Target="../media/image2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8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Single-Valley BASIS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Picking a basis to describe the donor electron state of a particular valley.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The unscaled basis functions defined</a:t>
            </a:r>
          </a:p>
        </p:txBody>
      </p:sp>
      <p:pic>
        <p:nvPicPr>
          <p:cNvPr id="10" name="Picture 9" descr="\documentclass{article}&#10;\usepackage{amsmath,bm,eufrak}&#10;\pagestyle{empty}&#10;\begin{document}&#10;&#10;\begin{equation*}&#10;\Phi_{ml\beta}^{(W\xi)}&#10;= &#10;\hat{Y}_{lm}^{(\xi)}\left(\chi,\phi\right)&#10;f_{\beta}^{(W)}\left(r\right)&#10;\end{equation*}&#10;&#10;\end{document} " title="IguanaTex Bitmap Display">
            <a:extLst>
              <a:ext uri="{FF2B5EF4-FFF2-40B4-BE49-F238E27FC236}">
                <a16:creationId xmlns:a16="http://schemas.microsoft.com/office/drawing/2014/main" id="{9EDD3EF9-EB77-4FBE-8AE1-41DFC8CB31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347122" y="2904761"/>
            <a:ext cx="3497756" cy="431086"/>
          </a:xfrm>
          <a:prstGeom prst="rect">
            <a:avLst/>
          </a:prstGeom>
        </p:spPr>
      </p:pic>
      <p:pic>
        <p:nvPicPr>
          <p:cNvPr id="24" name="Picture 23" descr="\documentclass{article}&#10;\usepackage{amsmath,bm,eufrak}&#10;\pagestyle{empty}&#10;\begin{document}&#10;&#10;\begin{equation*}&#10;\hat{Y}_{lm}^{(\xi)}\left(\chi,\phi\right)&#10;= &#10;\hat{P}_{lm}\left(\chi\right)&#10;\frac{1}{\sqrt{2\pi}}&#10;\left(\frac{\mathrm{e}^{\mathrm{i}m \phi}+ \xi\mathrm{i}^{m}\mathrm{e}^{-\mathrm{i}m \phi}}&#10;{2\delta_{m0} + \sqrt{2}\left(1-\delta_{m0}\right)}\right)&#10;\quad&#10;\xi\mathrm{i}^{m}=\left\{+1,-1\right\}&#10;\end{equation*}&#10;&#10;\end{document} " title="IguanaTex Bitmap Display">
            <a:extLst>
              <a:ext uri="{FF2B5EF4-FFF2-40B4-BE49-F238E27FC236}">
                <a16:creationId xmlns:a16="http://schemas.microsoft.com/office/drawing/2014/main" id="{830BB6E4-0EC6-4959-BEE9-77CABDAF80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716799" y="4199126"/>
            <a:ext cx="8758403" cy="7500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D9FB8C-B0D6-48BC-82B5-2D19E14F289D}"/>
              </a:ext>
            </a:extLst>
          </p:cNvPr>
          <p:cNvSpPr txBox="1"/>
          <p:nvPr/>
        </p:nvSpPr>
        <p:spPr>
          <a:xfrm>
            <a:off x="4366281" y="6062220"/>
            <a:ext cx="3459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parameter to guarantee orthonormality and integrability.</a:t>
            </a:r>
            <a:endParaRPr lang="en-US" dirty="0"/>
          </a:p>
        </p:txBody>
      </p:sp>
      <p:pic>
        <p:nvPicPr>
          <p:cNvPr id="8" name="Picture 7" descr="\documentclass{article}&#10;\usepackage{amsmath,bm,eufrak}&#10;\pagestyle{empty}&#10;\begin{document}&#10;&#10;\begin{equation*}&#10;f_{\beta}^{(W)}\left(r\right)&#10;=&#10;\sqrt{W}&#10;r^{\beta}&#10;\exp\left(-\frac{r^{W}}{2}\right)&#10;g\left(r^{W}\right)&#10;\end{equation*}&#10;&#10;\end{document} " title="IguanaTex Bitmap Display">
            <a:extLst>
              <a:ext uri="{FF2B5EF4-FFF2-40B4-BE49-F238E27FC236}">
                <a16:creationId xmlns:a16="http://schemas.microsoft.com/office/drawing/2014/main" id="{04A282C0-7595-41FF-A611-B0ADBFB2945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4006857" y="5208925"/>
            <a:ext cx="4178286" cy="62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61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The scaled basis functions defined</a:t>
            </a:r>
          </a:p>
        </p:txBody>
      </p:sp>
      <p:pic>
        <p:nvPicPr>
          <p:cNvPr id="6" name="Picture 5" descr="\documentclass{article}&#10;\usepackage{amsmath,bm}&#10;\pagestyle{empty}&#10;\begin{document}&#10;&#10;\begin{equation*}&#10;\Phi_{ml\beta;\lambda\eta}^{(Wq\xi)}&#10;=&#10;\sqrt{\lambda\left(\frac{2}{Wa_{\perp}\eta}\right)^{3}}&#10;\left(&#10;\Phi_{ml\beta}^{(W\xi)}&#10;\right|_{\substack{r \rightarrow 2r/Wa_\perp\eta \\ z \rightarrow \lambda z \\ (zxy) \rightarrow (qrs)}}&#10;\end{equation*}&#10;&#10;\end{document}" title="IguanaTex Bitmap Display">
            <a:extLst>
              <a:ext uri="{FF2B5EF4-FFF2-40B4-BE49-F238E27FC236}">
                <a16:creationId xmlns:a16="http://schemas.microsoft.com/office/drawing/2014/main" id="{14160E21-A1D0-49F3-9F17-0EC1B80D187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217717" y="2965496"/>
            <a:ext cx="5756567" cy="10742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31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An equivalent basis function defined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6FFE49-4511-44CD-981B-F0C17111892C}"/>
              </a:ext>
            </a:extLst>
          </p:cNvPr>
          <p:cNvGrpSpPr/>
          <p:nvPr/>
        </p:nvGrpSpPr>
        <p:grpSpPr>
          <a:xfrm>
            <a:off x="734522" y="3273662"/>
            <a:ext cx="5504001" cy="3359372"/>
            <a:chOff x="734522" y="3273662"/>
            <a:chExt cx="5504001" cy="3359372"/>
          </a:xfrm>
        </p:grpSpPr>
        <p:pic>
          <p:nvPicPr>
            <p:cNvPr id="6" name="Picture 5" descr="\documentclass{article}&#10;\usepackage{amsmath,bm}&#10;\pagestyle{empty}&#10;\begin{document}&#10;&#10;\begin{align*}&#10;\hat{\mathcal{R}}_{\beta;\lambda\eta}^{(Wq)}&#10;&amp; =&#10;\left(\frac{2\vartheta_{\lambda}^{(q)}}{Wa_{\perp}\eta}\right)^{\frac{3}{2}}&#10;\left[&#10;f_{\beta}^{(W)}\left(r\right)&#10;\right|_{r \rightarrow 2r\vartheta_{\lambda}^{(q)}/Wa_\perp\eta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B6734C37-A836-4B86-A5AD-84E3E6D5EEF6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962331" y="5785796"/>
              <a:ext cx="5056003" cy="84723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1" name="Picture 50" descr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\xi}^{(q)}&#10;&amp; = &#10;\frac{1}{\sqrt{2\pi}}&#10;\left(\frac{\mathrm{e}^{\mathrm{i}m \phi_{q}}+ \xi\mathrm{i}^{m}\mathrm{e}^{-\mathrm{i}m \phi_{q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BFE05BCB-AF01-4485-A0F9-5A55400D4763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734522" y="3273662"/>
              <a:ext cx="5504001" cy="2282662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C51ABE5-50DA-42F9-9D7D-746C5EFFA2D3}"/>
              </a:ext>
            </a:extLst>
          </p:cNvPr>
          <p:cNvGrpSpPr/>
          <p:nvPr/>
        </p:nvGrpSpPr>
        <p:grpSpPr>
          <a:xfrm>
            <a:off x="6973042" y="3438994"/>
            <a:ext cx="4484436" cy="1952000"/>
            <a:chOff x="6808836" y="3100269"/>
            <a:chExt cx="4484436" cy="1952000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249CE76-A88C-4487-89DB-79F5FC40B2A1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6808836" y="3100269"/>
              <a:ext cx="2558476" cy="19520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209C886-60C8-48AA-9803-1DBF5239F771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9702415" y="3536384"/>
              <a:ext cx="1590857" cy="1225143"/>
            </a:xfrm>
            <a:prstGeom prst="rect">
              <a:avLst/>
            </a:prstGeom>
          </p:spPr>
        </p:pic>
      </p:grpSp>
      <p:pic>
        <p:nvPicPr>
          <p:cNvPr id="3" name="Picture 2" descr="\documentclass{article}&#10;\usepackage{amsmath,bm,eufrak}&#10;\pagestyle{empty}&#10;\begin{document}&#10;&#10;\begin{equation*}&#10;\Phi_{ml\beta;\lambda\eta}^{(Wq\xi)}&#10;= &#10;\hat{Q}_{m\xi}^{(q)}&#10;\hat{\mathcal{P}}_{lm;\lambda}^{(q)}&#10;\hat{\mathcal{R}}_{\beta;\lambda\eta}^{(Wq)}&#10;\end{equation*}&#10;&#10;\end{document}" title="IguanaTex Bitmap Display">
            <a:extLst>
              <a:ext uri="{FF2B5EF4-FFF2-40B4-BE49-F238E27FC236}">
                <a16:creationId xmlns:a16="http://schemas.microsoft.com/office/drawing/2014/main" id="{CD2BC9BA-4F1D-4913-A6D2-EF99B5CFEF5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623238" y="1973600"/>
            <a:ext cx="2945524" cy="37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42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4a. Orthonormality condition</a:t>
            </a:r>
          </a:p>
        </p:txBody>
      </p:sp>
      <p:pic>
        <p:nvPicPr>
          <p:cNvPr id="34" name="Picture 33" descr="\documentclass{article}&#10;\usepackage{amsmath,bm,eufrak}&#10;\usepackage{braket}&#10;\pagestyle{empty}&#10;\begin{document}&#10;&#10;\begin{align*}&#10;\bm{S}_{m_{0}l_{0}\beta_{0}\xi_{0};\lambda_{0}\eta_{0},m_{1}l_{1}\beta_{1}\xi_{1};\lambda_{1}\eta_{1}}&#10;&amp; =&#10;\int&#10;\left(\Phi_{m_{0}l_{0}\beta_{0};\lambda_{0}\eta_{0}}^{(Wq\xi_{0})}\right)^{*}\Phi_{m_{1}l_{1}\beta_{1};\lambda_{1}\eta_{1}}^{(Wq\xi_{1})}&#10;\,r^{2}&#10;\, \mathrm{d}r\, \mathrm{d}\Omega&#10;\\&#10;&amp; =&#10;\int&#10;\left(\Phi_{m_{0}l_{0}\beta_{0};\lambda_{0}\eta_{0}}^{(Wz\xi_{0})}\right)^{*}\Phi_{m_{1}l_{1}\beta_{1};\lambda_{1}\eta_{1}}^{(Wz\xi_{1})}&#10;\,r^{2}&#10;\, \mathrm{d}r\, \mathrm{d}\Omega&#10;\\&#10;\end{align*}&#10;&#10;\end{document} " title="IguanaTex Bitmap Display">
            <a:extLst>
              <a:ext uri="{FF2B5EF4-FFF2-40B4-BE49-F238E27FC236}">
                <a16:creationId xmlns:a16="http://schemas.microsoft.com/office/drawing/2014/main" id="{4BC16A08-9998-4896-AB3C-9DCBDDB9B9A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745710" y="1881209"/>
            <a:ext cx="8700581" cy="1410672"/>
          </a:xfrm>
          <a:prstGeom prst="rect">
            <a:avLst/>
          </a:prstGeom>
        </p:spPr>
      </p:pic>
      <p:pic>
        <p:nvPicPr>
          <p:cNvPr id="36" name="Picture 35" descr="\documentclass{article}&#10;\usepackage{amsmath,bm,eufrak}&#10;\usepackage{braket}&#10;\pagestyle{empty}&#10;\begin{document}&#10;&#10;\begin{align*}&#10;\bm{S}_{m_{0}l_{0}\beta_{0}\xi_{0};\lambda_{0}\eta_{0},m_{1}l_{1}\beta_{1}\xi_{1};\lambda_{1}\eta_{1}}&#10;&amp; =&#10;\int_{\phi=0}^{2\pi}&#10;\left(\hat{Q}_{m_{0}\xi_{0}}^{(z)}\right)^{*}&#10;\hat{Q}_{m_{1}\xi_{1}}^{(z)}&#10;\mathrm{d}\phi&#10;\int_{\chi=-1}^{1}&#10;\hat{\mathcal{P}}_{l_{0}m_{0};\lambda_{0}}^{(z)}&#10;\hat{\mathcal{P}}_{l_{1}m_{1};\lambda_{1}}^{(z)}&#10;\mathrm{d}\chi&#10;\int_{r=0}^{\infty}&#10;\hat{\mathcal{R}}_{\beta_{0};\lambda_{0}\eta_{0}}^{(Wq)}&#10;\hat{\mathcal{R}}_{\beta_{1};\lambda_{1}\eta_{1}}^{(Wq)}&#10;\,r^{2}&#10;\, \mathrm{d}r\&#10;\\&#10;&amp; =&#10;\delta_{\xi_{0}\xi_{1}}&#10;\delta_{m_{0}m_{1}}&#10;\int_{\chi=-1}^{1}&#10;\hat{\mathcal{P}}_{l_{0}m_{0};\lambda_{0}}^{(z)}&#10;\hat{\mathcal{P}}_{l_{1}m_{1};\lambda_{1}}^{(z)}&#10;\mathrm{d}\chi&#10;\int_{r=0}^{\infty}&#10;\hat{\mathcal{R}}_{\beta_{0};\lambda_{0}\eta_{0}}^{(Wq)}&#10;\hat{\mathcal{R}}_{\beta_{1};\lambda_{1}\eta_{1}}^{(Wq)}&#10;\,r^{2}&#10;\, \mathrm{d}r\&#10;\\&#10;&amp; =&#10;\delta_{\xi_{0}\xi_{1}}&#10;\delta_{m_{0}m_{1}}&#10;\delta_{l_{0}l_{1}}&#10;\int_{r=0}^{\infty}&#10;\hat{\mathcal{R}}_{\beta_{0};\lambda_{m}\eta_{0}}^{(Wq)}&#10;\hat{\mathcal{R}}_{\beta_{1};\lambda_{m}\eta_{1}}^{(Wq)}&#10;\,r^{2}&#10;\, \mathrm{d}r&#10;\quad\text{if $\lambda :\rightarrow \lambda_{m}$}&#10;\\&#10;\end{align*}&#10;&#10;\end{document} " title="IguanaTex Bitmap Display">
            <a:extLst>
              <a:ext uri="{FF2B5EF4-FFF2-40B4-BE49-F238E27FC236}">
                <a16:creationId xmlns:a16="http://schemas.microsoft.com/office/drawing/2014/main" id="{BF7D9F38-4242-40C0-AB97-7BF5DB1B9E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98096" y="3701587"/>
            <a:ext cx="11795808" cy="2119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3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4b. Orthonormality condition</a:t>
            </a:r>
          </a:p>
        </p:txBody>
      </p:sp>
      <p:pic>
        <p:nvPicPr>
          <p:cNvPr id="41" name="Picture 40" descr="\documentclass{article}&#10;\usepackage{amsmath,bm,eufrak}&#10;\usepackage{braket}&#10;\pagestyle{empty}&#10;\begin{document}&#10;&#10;\begin{align*}&#10;\bm{S}_{ml\beta_{0}\xi;\lambda\eta_{0},ml\beta_{1}\xi;\lambda\eta_{1}}&#10;&amp; =&#10;\int_{r=0}^{\infty}&#10;\hat{\mathcal{R}}_{\beta_{0};\lambda_{m}\eta_{0}}^{(Wq)}&#10;\hat{\mathcal{R}}_{\beta_{1};\lambda_{m}\eta_{1}}^{(Wq)}&#10;\,r^{2}&#10;\, \mathrm{d}r&#10;\\&#10;&amp; =&#10;\int_{r=0}^{\infty}&#10;f_{\beta_{0}}^{(W)}\left(r\right)&#10;f_{\beta_{1}}^{(W)}\left(r\right)&#10;\,r^{2}&#10;\, \mathrm{d}r&#10;\quad\text{if $\eta :\rightarrow \eta_{ml}$}&#10;\\&#10;&amp; =&#10;W&#10;\int  &#10;r^{\beta_{1}+\beta_{2}+2}&#10;\exp\left(-r^{W}\right)&#10;g_{0}\left(r^{W}\right)g_{1}\left(r^{W}\right)&#10;\,\mathrm{d}r&#10;\\&#10;&amp; =&#10;W&#10;\int  &#10;\rho^{\frac{\beta_{1}+\beta_{2}+2}{W}}&#10;\exp\left(-\rho\right)&#10;g_{0}\left(\rho\right)g_{1}\left(\rho\right)&#10;\,\frac{1}{W}\rho^{\frac{1}{W}-1}\mathrm{d}\rho&#10;\\&#10;&amp; =&#10;\int  &#10;\rho^{\alpha}&#10;\exp\left(-\rho\right)&#10;g_{0}\left(\rho\right)g_{1}\left(\rho\right)&#10;\mathrm{d}\rho&#10;\quad\text{if $\beta_{0}=\beta_{1} :\rightarrow \frac{W\left(\alpha+1\right)-3}{2}$}&#10;\\&#10;\end{align*}&#10;&#10;\end{document} " title="IguanaTex Bitmap Display">
            <a:extLst>
              <a:ext uri="{FF2B5EF4-FFF2-40B4-BE49-F238E27FC236}">
                <a16:creationId xmlns:a16="http://schemas.microsoft.com/office/drawing/2014/main" id="{5FDC7F5D-A1D7-446A-9BAD-CC6ED4E54F4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600766" y="2118317"/>
            <a:ext cx="8990468" cy="3288374"/>
          </a:xfrm>
          <a:prstGeom prst="rect">
            <a:avLst/>
          </a:prstGeom>
        </p:spPr>
      </p:pic>
      <p:pic>
        <p:nvPicPr>
          <p:cNvPr id="54" name="Picture 53" descr="\documentclass{article}&#10;\usepackage{amsmath,bm,eufrak}&#10;\usepackage{braket}&#10;\pagestyle{empty}&#10;\begin{document}&#10;&#10;\begin{equation*}&#10;\int  &#10;\rho^{\alpha}&#10;\exp\left(-\rho\right)&#10;g_{k_{0}}^{(\alpha)}\left(\rho\right)g_{k_{1}}^{(\alpha)}\left(\rho\right)&#10;\mathrm{d}\rho&#10;=&#10;\delta_{k_{0}k_{1}}&#10;\\&#10;\end{equation*}&#10;&#10;\end{document} " title="IguanaTex Bitmap Display">
            <a:extLst>
              <a:ext uri="{FF2B5EF4-FFF2-40B4-BE49-F238E27FC236}">
                <a16:creationId xmlns:a16="http://schemas.microsoft.com/office/drawing/2014/main" id="{093ADD13-0C30-4C9C-950D-E8B94549B61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573447" y="5892801"/>
            <a:ext cx="5045106" cy="64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8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/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</p:spPr>
            <p:txBody>
              <a:bodyPr/>
              <a:lstStyle/>
              <a:p>
                <a:r>
                  <a:rPr lang="en-US" dirty="0"/>
                  <a:t>4c. Using orthogonal polynomials to express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280160"/>
                <a:ext cx="10515600" cy="507831"/>
              </a:xfrm>
              <a:blipFill>
                <a:blip r:embed="rId5"/>
                <a:stretch>
                  <a:fillRect l="-1391" t="-22892" b="-38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/>
              <p:nvPr/>
            </p:nvSpPr>
            <p:spPr>
              <a:xfrm>
                <a:off x="1497467" y="3129406"/>
                <a:ext cx="91970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We don’t know the exact forms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. However, we can expand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in orthogonal polynomials. The form most consistent with the hydrogenic system is the Laguerre polynomials.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6D13E11-8ECF-47C0-A4AE-646FDA8A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67" y="3129406"/>
                <a:ext cx="9197067" cy="646331"/>
              </a:xfrm>
              <a:prstGeom prst="rect">
                <a:avLst/>
              </a:prstGeom>
              <a:blipFill>
                <a:blip r:embed="rId6"/>
                <a:stretch>
                  <a:fillRect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\documentclass{article}&#10;\usepackage{amsmath,bm,eufrak}&#10;\usepackage{braket}&#10;\pagestyle{empty}&#10;\begin{document}&#10;&#10;\begin{align*}&#10;\bm{S}_{ml\beta\xi;\lambda\eta,ml\beta\xi;\lambda\eta}&#10;&amp; =&#10;\int  &#10;\rho^{\alpha}&#10;\exp\left(-\rho\right)&#10;\left(\sum_{k_{0}=0}^{\infty}\left(c_{0}\right)_{k_{0}}\hat{L}_{k_{0}}^{(\alpha)}\right)&#10;\left(\sum_{k_{1}=0}^{\infty}\left(c_{1}\right)_{k_{1}}\hat{L}_{k_{1}}^{(\alpha)}\right)&#10;\mathrm{d}\rho&#10;\\&#10;&amp; =&#10;\sum_{k_{0}=0}^{\infty}&#10;\sum_{k_{1}=0}^{\infty}&#10;\left(c_{0}\right)_{k_{0}}\left(c_{1}\right)_{k_{1}}&#10;\int  &#10;\rho^{\alpha}&#10;\exp\left(-\rho\right)&#10;\hat{L}_{k_{0}}^{(\alpha)}&#10;\hat{L}_{k_{1}}^{(\alpha)}&#10;\mathrm{d}\rho&#10;\\&#10;&amp; =&#10;\sum_{k_{0}=0}^{\infty}&#10;\left(c_{0}\right)_{k_{0}}^{2}&#10;\\&#10;\end{align*}&#10;&#10;\end{document} " title="IguanaTex Bitmap Display">
            <a:extLst>
              <a:ext uri="{FF2B5EF4-FFF2-40B4-BE49-F238E27FC236}">
                <a16:creationId xmlns:a16="http://schemas.microsoft.com/office/drawing/2014/main" id="{8B2F4B2E-9F27-4EBF-B570-91A12B9719F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2016765" y="3952333"/>
            <a:ext cx="8158471" cy="2523420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usepackage{braket}&#10;\pagestyle{empty}&#10;\begin{document}&#10;&#10;\begin{align*}&#10;\bm{S}_{ml\beta_{0}\xi;\lambda\eta_{0},ml\beta_{1}\xi;\lambda\eta_{1}}&#10;&amp; =&#10;\int  &#10;\rho^{\alpha}&#10;\exp\left(-\rho\right)&#10;g_{0}\left(\rho\right)g_{1}\left(\rho\right)&#10;\mathrm{d}\rho&#10;\\&#10;\end{align*}&#10;&#10;\end{document} " title="IguanaTex Bitmap Display">
            <a:extLst>
              <a:ext uri="{FF2B5EF4-FFF2-40B4-BE49-F238E27FC236}">
                <a16:creationId xmlns:a16="http://schemas.microsoft.com/office/drawing/2014/main" id="{430A5887-1938-454D-816C-9F801AB8AE8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291431" y="2219915"/>
            <a:ext cx="5609138" cy="56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669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The final naïve basis functions defined</a:t>
            </a:r>
          </a:p>
        </p:txBody>
      </p:sp>
      <p:pic>
        <p:nvPicPr>
          <p:cNvPr id="17" name="Picture 16" descr="\documentclass{article}&#10;\usepackage{amsmath,bm,eufrak}&#10;\pagestyle{empty}&#10;\begin{document}&#10;&#10;\begin{equation*}&#10;\Phi_{mlk\alpha}^{(W\xi)}&#10;= &#10;\hat{Y}_{lm}^{(\xi)}\left(\chi,\phi\right)&#10;f_{k\alpha}^{(W)}\left(r\right)&#10;\end{equation*}&#10;&#10;\end{document} " title="IguanaTex Bitmap Display">
            <a:extLst>
              <a:ext uri="{FF2B5EF4-FFF2-40B4-BE49-F238E27FC236}">
                <a16:creationId xmlns:a16="http://schemas.microsoft.com/office/drawing/2014/main" id="{EF39DB7D-D0EC-49D9-ACCB-2403C1F0E70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339237" y="2075026"/>
            <a:ext cx="3513527" cy="392534"/>
          </a:xfrm>
          <a:prstGeom prst="rect">
            <a:avLst/>
          </a:prstGeom>
        </p:spPr>
      </p:pic>
      <p:pic>
        <p:nvPicPr>
          <p:cNvPr id="24" name="Picture 23" descr="\documentclass{article}&#10;\usepackage{amsmath,bm,eufrak}&#10;\pagestyle{empty}&#10;\begin{document}&#10;&#10;\begin{equation*}&#10;\hat{Y}_{lm}^{(\xi)}\left(\chi,\phi\right)&#10;= &#10;\hat{P}_{lm}\left(\chi\right)&#10;\frac{1}{\sqrt{2\pi}}&#10;\left(\frac{\mathrm{e}^{\mathrm{i}m \phi}+ \xi\mathrm{i}^{m}\mathrm{e}^{-\mathrm{i}m \phi}}&#10;{2\delta_{m0} + \sqrt{2}\left(1-\delta_{m0}\right)}\right)&#10;\quad&#10;\xi\mathrm{i}^{m}=\left\{+1,-1\right\}&#10;\end{equation*}&#10;&#10;\end{document} " title="IguanaTex Bitmap Display">
            <a:extLst>
              <a:ext uri="{FF2B5EF4-FFF2-40B4-BE49-F238E27FC236}">
                <a16:creationId xmlns:a16="http://schemas.microsoft.com/office/drawing/2014/main" id="{830BB6E4-0EC6-4959-BEE9-77CABDAF80C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716799" y="4199126"/>
            <a:ext cx="8758403" cy="75001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AD9FB8C-B0D6-48BC-82B5-2D19E14F289D}"/>
              </a:ext>
            </a:extLst>
          </p:cNvPr>
          <p:cNvSpPr txBox="1"/>
          <p:nvPr/>
        </p:nvSpPr>
        <p:spPr>
          <a:xfrm>
            <a:off x="4366281" y="6062220"/>
            <a:ext cx="3459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 parameter to guarantee orthonormality and integrability.</a:t>
            </a:r>
            <a:endParaRPr lang="en-US" dirty="0"/>
          </a:p>
        </p:txBody>
      </p:sp>
      <p:pic>
        <p:nvPicPr>
          <p:cNvPr id="25" name="Picture 24" descr="\documentclass{article}&#10;\usepackage{amsmath,bm,eufrak}&#10;\pagestyle{empty}&#10;\begin{document}&#10;&#10;\begin{equation*}&#10;f_{k\alpha}^{(W)}\left(r\right)&#10;=&#10;\sqrt{W}&#10;r^{\frac{W\left(\alpha+1\right)-3}{2}}&#10;\exp\left(-\frac{r^{W}}{2}\right)&#10;L_{k}^{(\alpha)}\left(r^{W}\right)&#10;\end{equation*}&#10;&#10;\end{document} " title="IguanaTex Bitmap Display">
            <a:extLst>
              <a:ext uri="{FF2B5EF4-FFF2-40B4-BE49-F238E27FC236}">
                <a16:creationId xmlns:a16="http://schemas.microsoft.com/office/drawing/2014/main" id="{278F2F31-7967-4C68-8EA8-3E28AF735A2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3449905" y="5208923"/>
            <a:ext cx="5334858" cy="623238"/>
          </a:xfrm>
          <a:prstGeom prst="rect">
            <a:avLst/>
          </a:prstGeom>
        </p:spPr>
      </p:pic>
      <p:pic>
        <p:nvPicPr>
          <p:cNvPr id="21" name="Picture 20" descr="\documentclass{article}&#10;\usepackage{amsmath,bm}&#10;\pagestyle{empty}&#10;\begin{document}&#10;&#10;\begin{equation*}&#10;\Phi_{mlk\alpha;\lambda\eta}^{(Wq\xi)}&#10;=&#10;\sqrt{\lambda\left(\frac{2}{Wa_{\perp}\eta}\right)^{3}}&#10;\left(&#10;\Phi_{mlk\alpha}^{(W\xi)}&#10;\right|_{\substack{r \rightarrow 2r/Wa_\perp\eta \\ z \rightarrow \lambda z \\ (zxy) \rightarrow (qrs)}}&#10;\end{equation*}&#10;&#10;\end{document}" title="IguanaTex Bitmap Display">
            <a:extLst>
              <a:ext uri="{FF2B5EF4-FFF2-40B4-BE49-F238E27FC236}">
                <a16:creationId xmlns:a16="http://schemas.microsoft.com/office/drawing/2014/main" id="{850CB6E1-CE92-4D22-9B11-F74957CE655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140611" y="2965496"/>
            <a:ext cx="5910778" cy="10742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9809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An equivalent basis function defined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6F306EC-7F62-42F1-8764-31ADD5089F8D}"/>
              </a:ext>
            </a:extLst>
          </p:cNvPr>
          <p:cNvGrpSpPr/>
          <p:nvPr/>
        </p:nvGrpSpPr>
        <p:grpSpPr>
          <a:xfrm>
            <a:off x="2485332" y="3273662"/>
            <a:ext cx="7221337" cy="3359371"/>
            <a:chOff x="2485332" y="3273662"/>
            <a:chExt cx="7221337" cy="3359371"/>
          </a:xfrm>
        </p:grpSpPr>
        <p:pic>
          <p:nvPicPr>
            <p:cNvPr id="8" name="Picture 7" descr="\documentclass{article}&#10;\usepackage{amsmath,bm}&#10;\pagestyle{empty}&#10;\begin{document}&#10;&#10;\begin{align*}&#10;\hat{\mathcal{R}}_{k\alpha;\lambda\eta}^{(W)}&#10;&amp; =&#10;\left(\frac{2\vartheta_{\lambda}^{(q)}}{Wa_{\perp}\eta}\right)^{\frac{3}{2}}&#10;\left[&#10;\sqrt{W}&#10;\rho^{\frac{\alpha+1}{2}-\frac{3}{2W}}&#10;\mathrm{e}^{-\rho/2}&#10;L_{k}^{(\alpha)}&#10;\right|_{\rho \rightarrow \left(2r\vartheta_{\lambda}^{(q)}/Wa_\perp\eta\right)^{W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D74360BF-C7B4-4887-A5DB-16076F21D8F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2485332" y="5785795"/>
              <a:ext cx="7221337" cy="84723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4" name="Picture 3" descr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\lambda}^{(q)}\right)^{3}}}&#10;\sqrt{\frac{(2l+1)\left(l-m\right)!}{2\left(l+m\right)!}}&#10;P_{lm}\left(\frac{\lambda \chi_{q}}{\vartheta_{\lambda}^{(q)}}\right)&#10;\\&#10;\hat{Q}_{m\xi}^{(q)}&#10;&amp; = &#10;\frac{1}{\sqrt{2\pi}}&#10;\left(\frac{\mathrm{e}^{\mathrm{i}m \phi_{q}}+ \xi\mathrm{i}^{m}\mathrm{e}^{-\mathrm{i}m \phi_{q}}}&#10;{2\delta_{m0} + \sqrt{2}\left(1-\delta_{m0}\right)}\right)&#10;\end{align*}&#10;&#10;\end{document} " title="IguanaTex Bitmap Display">
              <a:extLst>
                <a:ext uri="{FF2B5EF4-FFF2-40B4-BE49-F238E27FC236}">
                  <a16:creationId xmlns:a16="http://schemas.microsoft.com/office/drawing/2014/main" id="{BAA815EA-BD99-464A-807B-2B14DBCC5CCB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363809" y="3273662"/>
              <a:ext cx="5464383" cy="2282661"/>
            </a:xfrm>
            <a:prstGeom prst="rect">
              <a:avLst/>
            </a:prstGeom>
          </p:spPr>
        </p:pic>
      </p:grpSp>
      <p:pic>
        <p:nvPicPr>
          <p:cNvPr id="50" name="Picture 49" descr="\documentclass{article}&#10;\usepackage{amsmath,bm,eufrak}&#10;\pagestyle{empty}&#10;\begin{document}&#10;&#10;\begin{equation*}&#10;\Phi_{mlk\alpha;\lambda\eta}^{(Wq\xi)}&#10;= &#10;\hat{Q}_{m\xi}^{(q)}&#10;\hat{\mathcal{P}}_{lm;\lambda}^{(q)}&#10;\left[&#10;\hat{\mathcal{R}}_{k\alpha;\lambda\eta}^{(W)}&#10;\right|_{(zxy) \rightarrow (qrs)}&#10;\end{equation*}&#10;&#10;\end{document}" title="IguanaTex Bitmap Display">
            <a:extLst>
              <a:ext uri="{FF2B5EF4-FFF2-40B4-BE49-F238E27FC236}">
                <a16:creationId xmlns:a16="http://schemas.microsoft.com/office/drawing/2014/main" id="{DBBB97D9-3010-46EC-8D8D-A52D34481C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836191" y="2151402"/>
            <a:ext cx="4519619" cy="51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654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496.813"/>
  <p:tag name="LATEXADDIN" val="\documentclass{article}&#10;\usepackage{amsmath,bm,eufrak}&#10;\pagestyle{empty}&#10;\begin{document}&#10;&#10;\begin{equation*}&#10;\Phi_{ml\beta}^{(W\xi)}&#10;= &#10;\hat{Y}_{lm}^{(\xi)}\left(\chi,\phi\right)&#10;f_{\beta}^{(W)}\left(r\right)&#10;\end{equation*}&#10;&#10;\end{document} "/>
  <p:tag name="IGUANATEXSIZE" val="23"/>
  <p:tag name="IGUANATEXCURSOR" val="18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3748.031"/>
  <p:tag name="LATEXADDIN" val="\documentclass{article}&#10;\usepackage{amsmath,bm,eufrak}&#10;\pagestyle{empty}&#10;\begin{document}&#10;&#10;\begin{equation*}&#10;\hat{Y}_{lm}^{(\xi)}\left(\chi,\phi\right)&#10;= &#10;\hat{P}_{lm}\left(\chi\right)&#10;\frac{1}{\sqrt{2\pi}}&#10;\left(\frac{\mathrm{e}^{\mathrm{i}m \phi}+ \xi\mathrm{i}^{m}\mathrm{e}^{-\mathrm{i}m \phi}}&#10;{2\delta_{m0} + \sqrt{2}\left(1-\delta_{m0}\right)}\right)&#10;\quad&#10;\xi\mathrm{i}^{m}=\left\{+1,-1\right\}&#10;\end{equation*}&#10;&#10;\end{document} "/>
  <p:tag name="IGUANATEXSIZE" val="23"/>
  <p:tag name="IGUANATEXCURSOR" val="382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2056.243"/>
  <p:tag name="LATEXADDIN" val="\documentclass{article}&#10;\usepackage{amsmath,bm,eufrak}&#10;\pagestyle{empty}&#10;\begin{document}&#10;&#10;\begin{equation*}&#10;f_{\beta}^{(W)}\left(r\right)&#10;=&#10;\sqrt{W}&#10;r^{\beta}&#10;\exp\left(-\frac{r^{W}}{2}\right)&#10;g\left(r^{W}\right)&#10;\end{equation*}&#10;&#10;\end{document} "/>
  <p:tag name="IGUANATEXSIZE" val="20"/>
  <p:tag name="IGUANATEXCURSOR" val="15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2463.442"/>
  <p:tag name="LATEXADDIN" val="\documentclass{article}&#10;\usepackage{amsmath,bm}&#10;\pagestyle{empty}&#10;\begin{document}&#10;&#10;\begin{equation*}&#10;\Phi_{ml\beta;\lambda\eta}^{(Wq\xi)}&#10;=&#10;\sqrt{\lambda\left(\frac{2}{Wa_{\perp}\eta}\right)^{3}}&#10;\left(&#10;\Phi_{ml\beta}^{(W\xi)}&#10;\right|_{\substack{r \rightarrow 2r/Wa_\perp\eta \\ z \rightarrow \lambda z \\ (zxy) \rightarrow (qrs)}}&#10;\end{equation*}&#10;&#10;\end{document}"/>
  <p:tag name="IGUANATEXSIZE" val="23"/>
  <p:tag name="IGUANATEXCURSOR" val="330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.9768"/>
  <p:tag name="ORIGINALWIDTH" val="1449.569"/>
  <p:tag name="LATEXADDIN" val="\documentclass{article}&#10;\usepackage{amsmath,bm,eufrak}&#10;\pagestyle{empty}&#10;\begin{document}&#10;&#10;\begin{equation*}&#10;\Phi_{ml\beta;\lambda\eta}^{(Wq\xi)}&#10;= &#10;\hat{Q}_{m\xi}^{(q)}&#10;\hat{\mathcal{P}}_{lm;\lambda}^{(q)}&#10;\hat{\mathcal{R}}_{\beta;\lambda\eta}^{(Wq)}&#10;\end{equation*}&#10;&#10;\end{document}"/>
  <p:tag name="IGUANATEXSIZE" val="20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6.9479"/>
  <p:tag name="ORIGINALWIDTH" val="2488.189"/>
  <p:tag name="LATEXADDIN" val="\documentclass{article}&#10;\usepackage{amsmath,bm}&#10;\pagestyle{empty}&#10;\begin{document}&#10;&#10;\begin{align*}&#10;\hat{\mathcal{R}}_{\beta;\lambda\eta}^{(Wq)}&#10;&amp; =&#10;\left(\frac{2\vartheta_{\lambda}^{(q)}}{Wa_{\perp}\eta}\right)^{\frac{3}{2}}&#10;\left[&#10;f_{\beta}^{(W)}\left(r\right)&#10;\right|_{r \rightarrow 2r\vartheta_{\lambda}^{(q)}/Wa_\perp\eta}&#10;\\&#10;\end{align*}&#10;&#10;\end{document}"/>
  <p:tag name="IGUANATEXSIZE" val="20"/>
  <p:tag name="IGUANATEXCURSOR" val="240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708.661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q}^{(\lambda)}\right)^{3}}}&#10;\sqrt{\frac{(2l+1)\left(l-m\right)!}{2\left(l+m\right)!}}&#10;P_{lm}\left(\frac{\lambda \chi_{q}}{\vartheta_{q}^{(\lambda)}}\right)&#10;\\&#10;\hat{Q}_{m\xi}^{(q)}&#10;&amp; = &#10;\frac{1}{\sqrt{2\pi}}&#10;\left(\frac{\mathrm{e}^{\mathrm{i}m \phi_{q}}+ \xi\mathrm{i}^{m}\mathrm{e}^{-\mathrm{i}m \phi_{q}}}&#10;{2\delta_{m0} + \sqrt{2}\left(1-\delta_{m0}\right)}\right)&#10;\end{align*}&#10;&#10;\end{document} "/>
  <p:tag name="IGUANATEXSIZE" val="20"/>
  <p:tag name="IGUANATEXCURSOR" val="19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3.6746"/>
  <p:tag name="ORIGINALWIDTH" val="3723.284"/>
  <p:tag name="LATEXADDIN" val="\documentclass{article}&#10;\usepackage{amsmath,bm,eufrak}&#10;\usepackage{braket}&#10;\pagestyle{empty}&#10;\begin{document}&#10;&#10;\begin{align*}&#10;\bm{S}_{m_{0}l_{0}\beta_{0}\xi_{0};\lambda_{0}\eta_{0},m_{1}l_{1}\beta_{1}\xi_{1};\lambda_{1}\eta_{1}}&#10;&amp; =&#10;\int&#10;\left(\Phi_{m_{0}l_{0}\beta_{0};\lambda_{0}\eta_{0}}^{(Wq\xi_{0})}\right)^{*}\Phi_{m_{1}l_{1}\beta_{1};\lambda_{1}\eta_{1}}^{(Wq\xi_{1})}&#10;\,r^{2}&#10;\, \mathrm{d}r\, \mathrm{d}\Omega&#10;\\&#10;&amp; =&#10;\int&#10;\left(\Phi_{m_{0}l_{0}\beta_{0};\lambda_{0}\eta_{0}}^{(Wz\xi_{0})}\right)^{*}\Phi_{m_{1}l_{1}\beta_{1};\lambda_{1}\eta_{1}}^{(Wz\xi_{1})}&#10;\,r^{2}&#10;\, \mathrm{d}r\, \mathrm{d}\Omega&#10;\\&#10;\end{align*}&#10;&#10;\end{document} "/>
  <p:tag name="IGUANATEXSIZE" val="23"/>
  <p:tag name="IGUANATEXCURSOR" val="52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3.12"/>
  <p:tag name="ORIGINALWIDTH" val="5805.024"/>
  <p:tag name="LATEXADDIN" val="\documentclass{article}&#10;\usepackage{amsmath,bm,eufrak}&#10;\usepackage{braket}&#10;\pagestyle{empty}&#10;\begin{document}&#10;&#10;\begin{align*}&#10;\bm{S}_{m_{0}l_{0}\beta_{0}\xi_{0};\lambda_{0}\eta_{0},m_{1}l_{1}\beta_{1}\xi_{1};\lambda_{1}\eta_{1}}&#10;&amp; =&#10;\int_{\phi=0}^{2\pi}&#10;\left(\hat{Q}_{m_{0}\xi_{0}}^{(z)}\right)^{*}&#10;\hat{Q}_{m_{1}\xi_{1}}^{(z)}&#10;\mathrm{d}\phi&#10;\int_{\chi=-1}^{1}&#10;\hat{\mathcal{P}}_{l_{0}m_{0};\lambda_{0}}^{(z)}&#10;\hat{\mathcal{P}}_{l_{1}m_{1};\lambda_{1}}^{(z)}&#10;\mathrm{d}\chi&#10;\int_{r=0}^{\infty}&#10;\hat{\mathcal{R}}_{\beta_{0};\lambda_{0}\eta_{0}}^{(Wq)}&#10;\hat{\mathcal{R}}_{\beta_{1};\lambda_{1}\eta_{1}}^{(Wq)}&#10;\,r^{2}&#10;\, \mathrm{d}r\&#10;\\&#10;&amp; =&#10;\delta_{\xi_{0}\xi_{1}}&#10;\delta_{m_{0}m_{1}}&#10;\int_{\chi=-1}^{1}&#10;\hat{\mathcal{P}}_{l_{0}m_{0};\lambda_{0}}^{(z)}&#10;\hat{\mathcal{P}}_{l_{1}m_{1};\lambda_{1}}^{(z)}&#10;\mathrm{d}\chi&#10;\int_{r=0}^{\infty}&#10;\hat{\mathcal{R}}_{\beta_{0};\lambda_{0}\eta_{0}}^{(Wq)}&#10;\hat{\mathcal{R}}_{\beta_{1};\lambda_{1}\eta_{1}}^{(Wq)}&#10;\,r^{2}&#10;\, \mathrm{d}r\&#10;\\&#10;&amp; =&#10;\delta_{\xi_{0}\xi_{1}}&#10;\delta_{m_{0}m_{1}}&#10;\delta_{l_{0}l_{1}}&#10;\int_{r=0}^{\infty}&#10;\hat{\mathcal{R}}_{\beta_{0};\lambda_{m}\eta_{0}}^{(Wq)}&#10;\hat{\mathcal{R}}_{\beta_{1};\lambda_{m}\eta_{1}}^{(Wq)}&#10;\,r^{2}&#10;\, \mathrm{d}r&#10;\quad\text{if $\lambda :\rightarrow \lambda_{m}$}&#10;\\&#10;\end{align*}&#10;&#10;\end{document} "/>
  <p:tag name="IGUANATEXSIZE" val="20"/>
  <p:tag name="IGUANATEXCURSOR" val="1285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8.298"/>
  <p:tag name="ORIGINALWIDTH" val="4424.447"/>
  <p:tag name="LATEXADDIN" val="\documentclass{article}&#10;\usepackage{amsmath,bm,eufrak}&#10;\usepackage{braket}&#10;\pagestyle{empty}&#10;\begin{document}&#10;&#10;\begin{align*}&#10;\bm{S}_{ml\beta_{0}\xi;\lambda\eta_{0},ml\beta_{1}\xi;\lambda\eta_{1}}&#10;&amp; =&#10;\int_{r=0}^{\infty}&#10;\hat{\mathcal{R}}_{\beta_{0};\lambda_{m}\eta_{0}}^{(Wq)}&#10;\hat{\mathcal{R}}_{\beta_{1};\lambda_{m}\eta_{1}}^{(Wq)}&#10;\,r^{2}&#10;\, \mathrm{d}r&#10;\\&#10;&amp; =&#10;\int_{r=0}^{\infty}&#10;f_{\beta_{0}}^{(W)}\left(r\right)&#10;f_{\beta_{1}}^{(W)}\left(r\right)&#10;\,r^{2}&#10;\, \mathrm{d}r&#10;\quad\text{if $\eta :\rightarrow \eta_{ml}$}&#10;\\&#10;&amp; =&#10;W&#10;\int  &#10;r^{\beta_{1}+\beta_{2}+2}&#10;\exp\left(-r^{W}\right)&#10;g_{0}\left(r^{W}\right)g_{1}\left(r^{W}\right)&#10;\,\mathrm{d}r&#10;\\&#10;&amp; =&#10;W&#10;\int  &#10;\rho^{\frac{\beta_{1}+\beta_{2}+2}{W}}&#10;\exp\left(-\rho\right)&#10;g_{0}\left(\rho\right)g_{1}\left(\rho\right)&#10;\,\frac{1}{W}\rho^{\frac{1}{W}-1}\mathrm{d}\rho&#10;\\&#10;&amp; =&#10;\int  &#10;\rho^{\alpha}&#10;\exp\left(-\rho\right)&#10;g_{0}\left(\rho\right)g_{1}\left(\rho\right)&#10;\mathrm{d}\rho&#10;\quad\text{if $\beta_{0}=\beta_{1} :\rightarrow \frac{W\left(\alpha+1\right)-3}{2}$}&#10;\\&#10;\end{align*}&#10;&#10;\end{document} "/>
  <p:tag name="IGUANATEXSIZE" val="20"/>
  <p:tag name="IGUANATEXCURSOR" val="101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2158.98"/>
  <p:tag name="LATEXADDIN" val="\documentclass{article}&#10;\usepackage{amsmath,bm,eufrak}&#10;\usepackage{braket}&#10;\pagestyle{empty}&#10;\begin{document}&#10;&#10;\begin{equation*}&#10;\int  &#10;\rho^{\alpha}&#10;\exp\left(-\rho\right)&#10;g_{k_{0}}^{(\alpha)}\left(\rho\right)g_{k_{1}}^{(\alpha)}\left(\rho\right)&#10;\mathrm{d}\rho&#10;=&#10;\delta_{k_{0}k_{1}}&#10;\\&#10;\end{equation*}&#10;&#10;\end{document} "/>
  <p:tag name="IGUANATEXSIZE" val="23"/>
  <p:tag name="IGUANATEXCURSOR" val="23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41.845"/>
  <p:tag name="ORIGINALWIDTH" val="4014.998"/>
  <p:tag name="LATEXADDIN" val="\documentclass{article}&#10;\usepackage{amsmath,bm,eufrak}&#10;\usepackage{braket}&#10;\pagestyle{empty}&#10;\begin{document}&#10;&#10;\begin{align*}&#10;\bm{S}_{ml\beta\xi;\lambda\eta,ml\beta\xi;\lambda\eta}&#10;&amp; =&#10;\int  &#10;\rho^{\alpha}&#10;\exp\left(-\rho\right)&#10;\left(\sum_{k_{0}=0}^{\infty}\left(c_{0}\right)_{k_{0}}\hat{L}_{k_{0}}^{(\alpha)}\right)&#10;\left(\sum_{k_{1}=0}^{\infty}\left(c_{1}\right)_{k_{1}}\hat{L}_{k_{1}}^{(\alpha)}\right)&#10;\mathrm{d}\rho&#10;\\&#10;&amp; =&#10;\sum_{k_{0}=0}^{\infty}&#10;\sum_{k_{1}=0}^{\infty}&#10;\left(c_{0}\right)_{k_{0}}\left(c_{1}\right)_{k_{1}}&#10;\int  &#10;\rho^{\alpha}&#10;\exp\left(-\rho\right)&#10;\hat{L}_{k_{0}}^{(\alpha)}&#10;\hat{L}_{k_{1}}^{(\alpha)}&#10;\mathrm{d}\rho&#10;\\&#10;&amp; =&#10;\sum_{k_{0}=0}^{\infty}&#10;\left(c_{0}\right)_{k_{0}}^{2}&#10;\\&#10;\end{align*}&#10;&#10;\end{document} "/>
  <p:tag name="IGUANATEXSIZE" val="20"/>
  <p:tag name="IGUANATEXCURSOR" val="70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76.7154"/>
  <p:tag name="ORIGINALWIDTH" val="2760.405"/>
  <p:tag name="LATEXADDIN" val="\documentclass{article}&#10;\usepackage{amsmath,bm,eufrak}&#10;\usepackage{braket}&#10;\pagestyle{empty}&#10;\begin{document}&#10;&#10;\begin{align*}&#10;\bm{S}_{ml\beta_{0}\xi;\lambda\eta_{0},ml\beta_{1}\xi;\lambda\eta_{1}}&#10;&amp; =&#10;\int  &#10;\rho^{\alpha}&#10;\exp\left(-\rho\right)&#10;g_{0}\left(\rho\right)g_{1}\left(\rho\right)&#10;\mathrm{d}\rho&#10;\\&#10;\end{align*}&#10;&#10;\end{document} "/>
  <p:tag name="IGUANATEXSIZE" val="20"/>
  <p:tag name="IGUANATEXCURSOR" val="30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.979"/>
  <p:tag name="ORIGINALWIDTH" val="1503.562"/>
  <p:tag name="LATEXADDIN" val="\documentclass{article}&#10;\usepackage{amsmath,bm,eufrak}&#10;\pagestyle{empty}&#10;\begin{document}&#10;&#10;\begin{equation*}&#10;\Phi_{mlk\alpha}^{(W\xi)}&#10;= &#10;\hat{Y}_{lm}^{(\xi)}\left(\chi,\phi\right)&#10;f_{k\alpha}^{(W)}\left(r\right)&#10;\end{equation*}&#10;&#10;\end{document} "/>
  <p:tag name="IGUANATEXSIZE" val="23"/>
  <p:tag name="IGUANATEXCURSOR" val="11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20.9598"/>
  <p:tag name="ORIGINALWIDTH" val="3748.031"/>
  <p:tag name="LATEXADDIN" val="\documentclass{article}&#10;\usepackage{amsmath,bm,eufrak}&#10;\pagestyle{empty}&#10;\begin{document}&#10;&#10;\begin{equation*}&#10;\hat{Y}_{lm}^{(\xi)}\left(\chi,\phi\right)&#10;= &#10;\hat{P}_{lm}\left(\chi\right)&#10;\frac{1}{\sqrt{2\pi}}&#10;\left(\frac{\mathrm{e}^{\mathrm{i}m \phi}+ \xi\mathrm{i}^{m}\mathrm{e}^{-\mathrm{i}m \phi}}&#10;{2\delta_{m0} + \sqrt{2}\left(1-\delta_{m0}\right)}\right)&#10;\quad&#10;\xi\mathrm{i}^{m}=\left\{+1,-1\right\}&#10;\end{equation*}&#10;&#10;\end{document} "/>
  <p:tag name="IGUANATEXSIZE" val="23"/>
  <p:tag name="IGUANATEXCURSOR" val="382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06.7116"/>
  <p:tag name="ORIGINALWIDTH" val="2625.422"/>
  <p:tag name="LATEXADDIN" val="\documentclass{article}&#10;\usepackage{amsmath,bm,eufrak}&#10;\pagestyle{empty}&#10;\begin{document}&#10;&#10;\begin{equation*}&#10;f_{k\alpha}^{(W)}\left(r\right)&#10;=&#10;\sqrt{W}&#10;r^{\frac{W\left(\alpha+1\right)-3}{2}}&#10;\exp\left(-\frac{r^{W}}{2}\right)&#10;L_{k}^{(\alpha)}\left(r^{W}\right)&#10;\end{equation*}&#10;&#10;\end{document} "/>
  <p:tag name="IGUANATEXSIZE" val="20"/>
  <p:tag name="IGUANATEXCURSOR" val="226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9.6925"/>
  <p:tag name="ORIGINALWIDTH" val="2529.434"/>
  <p:tag name="LATEXADDIN" val="\documentclass{article}&#10;\usepackage{amsmath,bm}&#10;\pagestyle{empty}&#10;\begin{document}&#10;&#10;\begin{equation*}&#10;\Phi_{mlk\alpha;\lambda\eta}^{(Wq\xi)}&#10;=&#10;\sqrt{\lambda\left(\frac{2}{Wa_{\perp}\eta}\right)^{3}}&#10;\left(&#10;\Phi_{mlk\alpha}^{(W\xi)}&#10;\right|_{\substack{r \rightarrow 2r/Wa_\perp\eta \\ z \rightarrow \lambda z \\ (zxy) \rightarrow (qrs)}}&#10;\end{equation*}&#10;&#10;\end{document}"/>
  <p:tag name="IGUANATEXSIZE" val="23"/>
  <p:tag name="IGUANATEXCURSOR" val="334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54.9681"/>
  <p:tag name="ORIGINALWIDTH" val="2224.222"/>
  <p:tag name="LATEXADDIN" val="\documentclass{article}&#10;\usepackage{amsmath,bm,eufrak}&#10;\pagestyle{empty}&#10;\begin{document}&#10;&#10;\begin{equation*}&#10;\Phi_{mlk\alpha;\lambda\eta}^{(Wq\xi)}&#10;= &#10;\hat{Q}_{m\xi}^{(q)}&#10;\hat{\mathcal{P}}_{lm;\lambda}^{(q)}&#10;\left[&#10;\hat{\mathcal{R}}_{k\alpha;\lambda\eta}^{(W)}&#10;\right|_{(zxy) \rightarrow (qrs)}&#10;\end{equation*}&#10;&#10;\end{document}"/>
  <p:tag name="IGUANATEXSIZE" val="20"/>
  <p:tag name="IGUANATEXCURSOR" val="27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16.9479"/>
  <p:tag name="ORIGINALWIDTH" val="3553.806"/>
  <p:tag name="LATEXADDIN" val="\documentclass{article}&#10;\usepackage{amsmath,bm}&#10;\pagestyle{empty}&#10;\begin{document}&#10;&#10;\begin{align*}&#10;\hat{\mathcal{R}}_{k\alpha;\lambda\eta}^{(W)}&#10;&amp; =&#10;\left(\frac{2\vartheta_{\lambda}^{(q)}}{Wa_{\perp}\eta}\right)^{\frac{3}{2}}&#10;\left[&#10;\sqrt{W}&#10;\rho^{\frac{\alpha+1}{2}-\frac{3}{2W}}&#10;\mathrm{e}^{-\rho/2}&#10;L_{k}^{(\alpha)}&#10;\right|_{\rho \rightarrow \left(2r\vartheta_{\lambda}^{(q)}/Wa_\perp\eta\right)^{W}}&#10;\\&#10;\end{align*}&#10;&#10;\end{document}"/>
  <p:tag name="IGUANATEXSIZE" val="20"/>
  <p:tag name="IGUANATEXCURSOR" val="378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3.36"/>
  <p:tag name="ORIGINALWIDTH" val="2689.164"/>
  <p:tag name="LATEXADDIN" val="\documentclass{article}&#10;\usepackage{amsmath,bm,eufrak}&#10;\pagestyle{empty}&#10;\begin{document}&#10;&#10;\begin{align*}&#10;\vartheta_{\lambda}^{(q)}&#10;&amp; =&#10;\sqrt{1 + \left(\lambda^2-1\right)\chi_{q}^2}&#10;\\&#10;\hat{\mathcal{P}}_{lm;\lambda}^{(q)}&#10;&amp; = &#10;\sqrt{\frac{\lambda}{\left(\vartheta_{\lambda}^{(q)}\right)^{3}}}&#10;\sqrt{\frac{(2l+1)\left(l-m\right)!}{2\left(l+m\right)!}}&#10;P_{lm}\left(\frac{\lambda \chi_{q}}{\vartheta_{\lambda}^{(q)}}\right)&#10;\\&#10;\hat{Q}_{m\xi}^{(q)}&#10;&amp; = &#10;\frac{1}{\sqrt{2\pi}}&#10;\left(\frac{\mathrm{e}^{\mathrm{i}m \phi_{q}}+ \xi\mathrm{i}^{m}\mathrm{e}^{-\mathrm{i}m \phi_{q}}}&#10;{2\delta_{m0} + \sqrt{2}\left(1-\delta_{m0}\right)}\right)&#10;\end{align*}&#10;&#10;\end{document} "/>
  <p:tag name="IGUANATEXSIZE" val="20"/>
  <p:tag name="IGUANATEXCURSOR" val="444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UB Powerpoint Template">
  <a:themeElements>
    <a:clrScheme name="Custom 2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84383</TotalTime>
  <Words>134</Words>
  <Application>Microsoft Office PowerPoint</Application>
  <PresentationFormat>Widescreen</PresentationFormat>
  <Paragraphs>21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 Math</vt:lpstr>
      <vt:lpstr>Georgia</vt:lpstr>
      <vt:lpstr>LucidaGrande</vt:lpstr>
      <vt:lpstr>UB Powerpoint Template</vt:lpstr>
      <vt:lpstr>Single-Valley BASIS</vt:lpstr>
      <vt:lpstr>1. The unscaled basis functions defined</vt:lpstr>
      <vt:lpstr>2. The scaled basis functions defined</vt:lpstr>
      <vt:lpstr>3. An equivalent basis function defined</vt:lpstr>
      <vt:lpstr>4a. Orthonormality condition</vt:lpstr>
      <vt:lpstr>4b. Orthonormality condition</vt:lpstr>
      <vt:lpstr>4c. Using orthogonal polynomials to express g(ρ)</vt:lpstr>
      <vt:lpstr>5. The final naïve basis functions defined</vt:lpstr>
      <vt:lpstr>6. An equivalent basis function defined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Luke Pendo</cp:lastModifiedBy>
  <cp:revision>3065</cp:revision>
  <cp:lastPrinted>2016-07-18T17:32:49Z</cp:lastPrinted>
  <dcterms:created xsi:type="dcterms:W3CDTF">2016-06-28T14:05:07Z</dcterms:created>
  <dcterms:modified xsi:type="dcterms:W3CDTF">2023-10-08T05:03:24Z</dcterms:modified>
  <cp:category/>
</cp:coreProperties>
</file>