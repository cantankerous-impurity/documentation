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3.xml" ContentType="application/vnd.openxmlformats-officedocument.presentationml.notesSlide+xml"/>
  <Override PartName="/ppt/tags/tag21.xml" ContentType="application/vnd.openxmlformats-officedocument.presentationml.tags+xml"/>
  <Override PartName="/ppt/notesSlides/notesSlide4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5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6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7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9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0.xml" ContentType="application/vnd.openxmlformats-officedocument.presentationml.notesSlide+xml"/>
  <Override PartName="/ppt/tags/tag36.xml" ContentType="application/vnd.openxmlformats-officedocument.presentationml.tags+xml"/>
  <Override PartName="/ppt/notesSlides/notesSlide11.xml" ContentType="application/vnd.openxmlformats-officedocument.presentationml.notesSlide+xml"/>
  <Override PartName="/ppt/tags/tag37.xml" ContentType="application/vnd.openxmlformats-officedocument.presentationml.tags+xml"/>
  <Override PartName="/ppt/notesSlides/notesSlide12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13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14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15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16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17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18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19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20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21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22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23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24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25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26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notesSlides/notesSlide27.xml" ContentType="application/vnd.openxmlformats-officedocument.presentationml.notesSlide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notesSlides/notesSlide28.xml" ContentType="application/vnd.openxmlformats-officedocument.presentationml.notesSlide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notesSlides/notesSlide29.xml" ContentType="application/vnd.openxmlformats-officedocument.presentationml.notesSlide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notesSlides/notesSlide30.xml" ContentType="application/vnd.openxmlformats-officedocument.presentationml.notesSlide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notesSlides/notesSlide31.xml" ContentType="application/vnd.openxmlformats-officedocument.presentationml.notesSlide+xml"/>
  <Override PartName="/ppt/tags/tag131.xml" ContentType="application/vnd.openxmlformats-officedocument.presentationml.tags+xml"/>
  <Override PartName="/ppt/notesSlides/notesSlide32.xml" ContentType="application/vnd.openxmlformats-officedocument.presentationml.notesSlide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notesSlides/notesSlide33.xml" ContentType="application/vnd.openxmlformats-officedocument.presentationml.notesSlide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notesSlides/notesSlide34.xml" ContentType="application/vnd.openxmlformats-officedocument.presentationml.notesSlide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notesSlides/notesSlide35.xml" ContentType="application/vnd.openxmlformats-officedocument.presentationml.notesSlide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notesSlides/notesSlide36.xml" ContentType="application/vnd.openxmlformats-officedocument.presentationml.notesSlide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notesSlides/notesSlide37.xml" ContentType="application/vnd.openxmlformats-officedocument.presentationml.notesSlide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notesSlides/notesSlide38.xml" ContentType="application/vnd.openxmlformats-officedocument.presentationml.notesSlide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notesSlides/notesSlide39.xml" ContentType="application/vnd.openxmlformats-officedocument.presentationml.notesSlide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notesSlides/notesSlide40.xml" ContentType="application/vnd.openxmlformats-officedocument.presentationml.notesSlide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notesSlides/notesSlide41.xml" ContentType="application/vnd.openxmlformats-officedocument.presentationml.notesSlide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notesSlides/notesSlide42.xml" ContentType="application/vnd.openxmlformats-officedocument.presentationml.notesSlide+xml"/>
  <Override PartName="/ppt/tags/tag155.xml" ContentType="application/vnd.openxmlformats-officedocument.presentationml.tags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57"/>
  </p:notesMasterIdLst>
  <p:handoutMasterIdLst>
    <p:handoutMasterId r:id="rId58"/>
  </p:handoutMasterIdLst>
  <p:sldIdLst>
    <p:sldId id="845" r:id="rId2"/>
    <p:sldId id="1361" r:id="rId3"/>
    <p:sldId id="844" r:id="rId4"/>
    <p:sldId id="848" r:id="rId5"/>
    <p:sldId id="847" r:id="rId6"/>
    <p:sldId id="544" r:id="rId7"/>
    <p:sldId id="1362" r:id="rId8"/>
    <p:sldId id="1211" r:id="rId9"/>
    <p:sldId id="1363" r:id="rId10"/>
    <p:sldId id="1227" r:id="rId11"/>
    <p:sldId id="1226" r:id="rId12"/>
    <p:sldId id="1366" r:id="rId13"/>
    <p:sldId id="1367" r:id="rId14"/>
    <p:sldId id="878" r:id="rId15"/>
    <p:sldId id="704" r:id="rId16"/>
    <p:sldId id="1368" r:id="rId17"/>
    <p:sldId id="1121" r:id="rId18"/>
    <p:sldId id="1228" r:id="rId19"/>
    <p:sldId id="1159" r:id="rId20"/>
    <p:sldId id="1122" r:id="rId21"/>
    <p:sldId id="1123" r:id="rId22"/>
    <p:sldId id="1229" r:id="rId23"/>
    <p:sldId id="1241" r:id="rId24"/>
    <p:sldId id="1214" r:id="rId25"/>
    <p:sldId id="1234" r:id="rId26"/>
    <p:sldId id="1124" r:id="rId27"/>
    <p:sldId id="1125" r:id="rId28"/>
    <p:sldId id="1230" r:id="rId29"/>
    <p:sldId id="1126" r:id="rId30"/>
    <p:sldId id="1127" r:id="rId31"/>
    <p:sldId id="1128" r:id="rId32"/>
    <p:sldId id="1129" r:id="rId33"/>
    <p:sldId id="1130" r:id="rId34"/>
    <p:sldId id="1131" r:id="rId35"/>
    <p:sldId id="1132" r:id="rId36"/>
    <p:sldId id="442" r:id="rId37"/>
    <p:sldId id="723" r:id="rId38"/>
    <p:sldId id="729" r:id="rId39"/>
    <p:sldId id="881" r:id="rId40"/>
    <p:sldId id="882" r:id="rId41"/>
    <p:sldId id="883" r:id="rId42"/>
    <p:sldId id="1112" r:id="rId43"/>
    <p:sldId id="1369" r:id="rId44"/>
    <p:sldId id="1370" r:id="rId45"/>
    <p:sldId id="1371" r:id="rId46"/>
    <p:sldId id="1372" r:id="rId47"/>
    <p:sldId id="1373" r:id="rId48"/>
    <p:sldId id="1374" r:id="rId49"/>
    <p:sldId id="1375" r:id="rId50"/>
    <p:sldId id="1376" r:id="rId51"/>
    <p:sldId id="1377" r:id="rId52"/>
    <p:sldId id="1378" r:id="rId53"/>
    <p:sldId id="1379" r:id="rId54"/>
    <p:sldId id="1380" r:id="rId55"/>
    <p:sldId id="1106" r:id="rId56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961"/>
    <a:srgbClr val="FF7F7F"/>
    <a:srgbClr val="7FD7A7"/>
    <a:srgbClr val="00B050"/>
    <a:srgbClr val="FF0000"/>
    <a:srgbClr val="33A366"/>
    <a:srgbClr val="B797CF"/>
    <a:srgbClr val="7A0000"/>
    <a:srgbClr val="005AC0"/>
    <a:srgbClr val="2F71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1939" autoAdjust="0"/>
  </p:normalViewPr>
  <p:slideViewPr>
    <p:cSldViewPr snapToGrid="0" snapToObjects="1">
      <p:cViewPr varScale="1">
        <p:scale>
          <a:sx n="110" d="100"/>
          <a:sy n="110" d="100"/>
        </p:scale>
        <p:origin x="312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251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t>9/6/2022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9/6/2022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14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127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1545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4585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741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3339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0959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0958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7983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2322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0889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497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6873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6659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8227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3977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0959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1156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9394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8074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4805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649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5569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6313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5314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1517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8891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6462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1489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47934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5032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31541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3153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1263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44578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17465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12368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10359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06906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04839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52593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41698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043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88950" cy="6857998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+mj-lt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1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81152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0"/>
            <a:ext cx="12188952" cy="6857999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+mj-lt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2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663"/>
            <a:ext cx="6638544" cy="238760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baseline="0">
                <a:solidFill>
                  <a:schemeClr val="tx1"/>
                </a:solidFill>
                <a:latin typeface="+mj-lt"/>
                <a:ea typeface="Georgia" charset="0"/>
                <a:cs typeface="Georgi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38544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6" y="366636"/>
            <a:ext cx="4800588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9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470" y="2007221"/>
            <a:ext cx="10513060" cy="39725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6930" y="122010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66928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029200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10515600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ts val="2600"/>
              </a:lnSpc>
              <a:spcBef>
                <a:spcPts val="100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566928" y="2185416"/>
            <a:ext cx="9678987" cy="38481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300"/>
              </a:lnSpc>
              <a:buClr>
                <a:srgbClr val="005BBB"/>
              </a:buClr>
              <a:buFontTx/>
              <a:buNone/>
              <a:defRPr sz="1700" b="1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36600" indent="-279400">
              <a:lnSpc>
                <a:spcPts val="2300"/>
              </a:lnSpc>
              <a:buClr>
                <a:srgbClr val="005BBB"/>
              </a:buClr>
              <a:buFont typeface="Arial" charset="0"/>
              <a:buChar char="•"/>
              <a:tabLst/>
              <a:defRPr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700" y="11430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626100" y="12954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699" y="1143001"/>
            <a:ext cx="6718301" cy="285529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473699" y="3998296"/>
            <a:ext cx="3429001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902701" y="3998296"/>
            <a:ext cx="3289300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8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1143001"/>
            <a:ext cx="121920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>
            <a:sp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41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68638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2400" dirty="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2045778" y="1023929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48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2045778" y="2555888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950" cy="6857998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838200" y="2039400"/>
            <a:ext cx="10515600" cy="4094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1353800" y="199638"/>
            <a:ext cx="731520" cy="457200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 algn="ctr"/>
              <a:t>‹#›</a:t>
            </a:fld>
            <a:endParaRPr lang="en-US" sz="16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896" r:id="rId2"/>
    <p:sldLayoutId id="2147483894" r:id="rId3"/>
    <p:sldLayoutId id="2147483909" r:id="rId4"/>
    <p:sldLayoutId id="2147483895" r:id="rId5"/>
    <p:sldLayoutId id="2147483897" r:id="rId6"/>
    <p:sldLayoutId id="2147483907" r:id="rId7"/>
    <p:sldLayoutId id="2147483898" r:id="rId8"/>
    <p:sldLayoutId id="2147483900" r:id="rId9"/>
    <p:sldLayoutId id="2147483906" r:id="rId10"/>
    <p:sldLayoutId id="2147483902" r:id="rId11"/>
    <p:sldLayoutId id="214748391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kern="1200">
          <a:solidFill>
            <a:schemeClr val="tx2"/>
          </a:solidFill>
          <a:latin typeface="Gill Sans MT" panose="020B0502020104020203" pitchFamily="34" charset="0"/>
          <a:ea typeface="Gill Sans MT" panose="020B0502020104020203" pitchFamily="34" charset="0"/>
          <a:cs typeface="Gill Sans MT" panose="020B05020201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Gill Sans MT" panose="020B0502020104020203" pitchFamily="34" charset="0"/>
          <a:ea typeface="Gill Sans MT" panose="020B0502020104020203" pitchFamily="34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Gill Sans MT" panose="020B0502020104020203" pitchFamily="34" charset="0"/>
          <a:ea typeface="Gill Sans MT" panose="020B0502020104020203" pitchFamily="34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LucidaGrande" charset="0"/>
        <a:buChar char="-"/>
        <a:defRPr sz="1800" kern="1200" baseline="0">
          <a:solidFill>
            <a:schemeClr val="tx1"/>
          </a:solidFill>
          <a:latin typeface="Gill Sans MT" panose="020B0502020104020203" pitchFamily="34" charset="0"/>
          <a:ea typeface="Gill Sans MT" panose="020B0502020104020203" pitchFamily="34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80">
          <p15:clr>
            <a:srgbClr val="F26B43"/>
          </p15:clr>
        </p15:guide>
        <p15:guide id="2" pos="416">
          <p15:clr>
            <a:srgbClr val="F26B43"/>
          </p15:clr>
        </p15:guide>
        <p15:guide id="3" orient="horz" pos="4016">
          <p15:clr>
            <a:srgbClr val="F26B43"/>
          </p15:clr>
        </p15:guide>
        <p15:guide id="4" pos="7392">
          <p15:clr>
            <a:srgbClr val="F26B43"/>
          </p15:clr>
        </p15:guide>
        <p15:guide id="5" pos="288">
          <p15:clr>
            <a:srgbClr val="F26B43"/>
          </p15:clr>
        </p15:guide>
        <p15:guide id="6" pos="4464">
          <p15:clr>
            <a:srgbClr val="F26B43"/>
          </p15:clr>
        </p15:guide>
        <p15:guide id="7" pos="4704">
          <p15:clr>
            <a:srgbClr val="F26B43"/>
          </p15:clr>
        </p15:guide>
        <p15:guide id="8" pos="4512">
          <p15:clr>
            <a:srgbClr val="F26B43"/>
          </p15:clr>
        </p15:guide>
        <p15:guide id="9" orient="horz" pos="1848">
          <p15:clr>
            <a:srgbClr val="F26B43"/>
          </p15:clr>
        </p15:guide>
        <p15:guide id="10" orient="horz" pos="1896">
          <p15:clr>
            <a:srgbClr val="F26B43"/>
          </p15:clr>
        </p15:guide>
        <p15:guide id="11" orient="horz" pos="2880">
          <p15:clr>
            <a:srgbClr val="F26B43"/>
          </p15:clr>
        </p15:guide>
        <p15:guide id="1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12" Type="http://schemas.openxmlformats.org/officeDocument/2006/relationships/image" Target="../media/image1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11.png"/><Relationship Id="rId5" Type="http://schemas.openxmlformats.org/officeDocument/2006/relationships/tags" Target="../tags/tag5.xml"/><Relationship Id="rId10" Type="http://schemas.openxmlformats.org/officeDocument/2006/relationships/image" Target="../media/image10.png"/><Relationship Id="rId4" Type="http://schemas.openxmlformats.org/officeDocument/2006/relationships/tags" Target="../tags/tag4.xml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16.png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image" Target="../media/image15.png"/><Relationship Id="rId2" Type="http://schemas.openxmlformats.org/officeDocument/2006/relationships/tags" Target="../tags/tag7.xml"/><Relationship Id="rId16" Type="http://schemas.openxmlformats.org/officeDocument/2006/relationships/image" Target="../media/image19.png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image" Target="../media/image14.png"/><Relationship Id="rId5" Type="http://schemas.openxmlformats.org/officeDocument/2006/relationships/tags" Target="../tags/tag10.xml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tags" Target="../tags/tag9.xml"/><Relationship Id="rId9" Type="http://schemas.openxmlformats.org/officeDocument/2006/relationships/notesSlide" Target="../notesSlides/notesSlide2.xml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image" Target="../media/image22.png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tags" Target="../tags/tag14.xml"/><Relationship Id="rId16" Type="http://schemas.openxmlformats.org/officeDocument/2006/relationships/image" Target="../media/image25.png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image" Target="../media/image20.png"/><Relationship Id="rId5" Type="http://schemas.openxmlformats.org/officeDocument/2006/relationships/tags" Target="../tags/tag17.xml"/><Relationship Id="rId15" Type="http://schemas.openxmlformats.org/officeDocument/2006/relationships/image" Target="../media/image24.png"/><Relationship Id="rId10" Type="http://schemas.openxmlformats.org/officeDocument/2006/relationships/notesSlide" Target="../notesSlides/notesSlide3.xml"/><Relationship Id="rId4" Type="http://schemas.openxmlformats.org/officeDocument/2006/relationships/tags" Target="../tags/tag16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1.xml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notesSlide" Target="../notesSlides/notes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notesSlide" Target="../notesSlides/notesSlid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notesSlide" Target="../notesSlides/notesSlid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notesSlide" Target="../notesSlides/notesSlide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tags" Target="../tags/tag33.xml"/><Relationship Id="rId7" Type="http://schemas.openxmlformats.org/officeDocument/2006/relationships/image" Target="../media/image38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37.png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38.png"/><Relationship Id="rId5" Type="http://schemas.openxmlformats.org/officeDocument/2006/relationships/image" Target="../media/image40.png"/><Relationship Id="rId4" Type="http://schemas.openxmlformats.org/officeDocument/2006/relationships/notesSlide" Target="../notesSlides/notesSlide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6.xml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7.xml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38.png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12" Type="http://schemas.openxmlformats.org/officeDocument/2006/relationships/image" Target="../media/image45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image" Target="../media/image44.png"/><Relationship Id="rId5" Type="http://schemas.openxmlformats.org/officeDocument/2006/relationships/tags" Target="../tags/tag42.xml"/><Relationship Id="rId15" Type="http://schemas.openxmlformats.org/officeDocument/2006/relationships/image" Target="../media/image30.png"/><Relationship Id="rId10" Type="http://schemas.openxmlformats.org/officeDocument/2006/relationships/image" Target="../media/image43.png"/><Relationship Id="rId4" Type="http://schemas.openxmlformats.org/officeDocument/2006/relationships/tags" Target="../tags/tag41.xml"/><Relationship Id="rId9" Type="http://schemas.openxmlformats.org/officeDocument/2006/relationships/notesSlide" Target="../notesSlides/notesSlide13.xml"/><Relationship Id="rId1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tags" Target="../tags/tag47.xml"/><Relationship Id="rId7" Type="http://schemas.openxmlformats.org/officeDocument/2006/relationships/image" Target="../media/image46.png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49.png"/><Relationship Id="rId4" Type="http://schemas.openxmlformats.org/officeDocument/2006/relationships/tags" Target="../tags/tag48.xml"/><Relationship Id="rId9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tags" Target="../tags/tag51.xml"/><Relationship Id="rId7" Type="http://schemas.openxmlformats.org/officeDocument/2006/relationships/image" Target="../media/image51.png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image" Target="../media/image50.png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tags" Target="../tags/tag54.xml"/><Relationship Id="rId7" Type="http://schemas.openxmlformats.org/officeDocument/2006/relationships/notesSlide" Target="../notesSlides/notesSlide16.xml"/><Relationship Id="rId12" Type="http://schemas.openxmlformats.org/officeDocument/2006/relationships/image" Target="../media/image30.png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39.png"/><Relationship Id="rId5" Type="http://schemas.openxmlformats.org/officeDocument/2006/relationships/tags" Target="../tags/tag56.xml"/><Relationship Id="rId10" Type="http://schemas.openxmlformats.org/officeDocument/2006/relationships/image" Target="../media/image38.png"/><Relationship Id="rId4" Type="http://schemas.openxmlformats.org/officeDocument/2006/relationships/tags" Target="../tags/tag55.xml"/><Relationship Id="rId9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notesSlide" Target="../notesSlides/notesSlide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image" Target="../media/image32.png"/><Relationship Id="rId5" Type="http://schemas.openxmlformats.org/officeDocument/2006/relationships/image" Target="../media/image56.png"/><Relationship Id="rId4" Type="http://schemas.openxmlformats.org/officeDocument/2006/relationships/notesSlide" Target="../notesSlides/notesSlide18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tags" Target="../tags/tag63.xml"/><Relationship Id="rId7" Type="http://schemas.openxmlformats.org/officeDocument/2006/relationships/notesSlide" Target="../notesSlides/notesSlide19.xml"/><Relationship Id="rId12" Type="http://schemas.openxmlformats.org/officeDocument/2006/relationships/image" Target="../media/image61.png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60.png"/><Relationship Id="rId5" Type="http://schemas.openxmlformats.org/officeDocument/2006/relationships/tags" Target="../tags/tag65.xml"/><Relationship Id="rId10" Type="http://schemas.openxmlformats.org/officeDocument/2006/relationships/image" Target="../media/image59.png"/><Relationship Id="rId4" Type="http://schemas.openxmlformats.org/officeDocument/2006/relationships/tags" Target="../tags/tag64.xml"/><Relationship Id="rId9" Type="http://schemas.openxmlformats.org/officeDocument/2006/relationships/image" Target="../media/image5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tags" Target="../tags/tag68.xml"/><Relationship Id="rId7" Type="http://schemas.openxmlformats.org/officeDocument/2006/relationships/image" Target="../media/image63.png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image" Target="../media/image62.png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tags" Target="../tags/tag71.xml"/><Relationship Id="rId7" Type="http://schemas.openxmlformats.org/officeDocument/2006/relationships/notesSlide" Target="../notesSlides/notesSlide21.xml"/><Relationship Id="rId12" Type="http://schemas.openxmlformats.org/officeDocument/2006/relationships/image" Target="../media/image68.png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67.png"/><Relationship Id="rId5" Type="http://schemas.openxmlformats.org/officeDocument/2006/relationships/tags" Target="../tags/tag73.xml"/><Relationship Id="rId10" Type="http://schemas.openxmlformats.org/officeDocument/2006/relationships/image" Target="../media/image66.png"/><Relationship Id="rId4" Type="http://schemas.openxmlformats.org/officeDocument/2006/relationships/tags" Target="../tags/tag72.xml"/><Relationship Id="rId9" Type="http://schemas.openxmlformats.org/officeDocument/2006/relationships/image" Target="../media/image6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tags" Target="../tags/tag76.xml"/><Relationship Id="rId7" Type="http://schemas.openxmlformats.org/officeDocument/2006/relationships/image" Target="../media/image70.png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image" Target="../media/image69.png"/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notesSlide" Target="../notesSlides/notesSlide2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tags" Target="../tags/tag81.xml"/><Relationship Id="rId7" Type="http://schemas.openxmlformats.org/officeDocument/2006/relationships/image" Target="../media/image74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image" Target="../media/image73.png"/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tags" Target="../tags/tag84.xml"/><Relationship Id="rId7" Type="http://schemas.openxmlformats.org/officeDocument/2006/relationships/image" Target="../media/image76.png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79.png"/><Relationship Id="rId4" Type="http://schemas.openxmlformats.org/officeDocument/2006/relationships/tags" Target="../tags/tag85.xml"/><Relationship Id="rId9" Type="http://schemas.openxmlformats.org/officeDocument/2006/relationships/image" Target="../media/image78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tags" Target="../tags/tag88.xml"/><Relationship Id="rId7" Type="http://schemas.openxmlformats.org/officeDocument/2006/relationships/image" Target="../media/image81.png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image" Target="../media/image80.png"/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tags" Target="../tags/tag101.xml"/><Relationship Id="rId18" Type="http://schemas.openxmlformats.org/officeDocument/2006/relationships/tags" Target="../tags/tag106.xml"/><Relationship Id="rId26" Type="http://schemas.openxmlformats.org/officeDocument/2006/relationships/tags" Target="../tags/tag114.xml"/><Relationship Id="rId39" Type="http://schemas.openxmlformats.org/officeDocument/2006/relationships/image" Target="../media/image86.png"/><Relationship Id="rId21" Type="http://schemas.openxmlformats.org/officeDocument/2006/relationships/tags" Target="../tags/tag109.xml"/><Relationship Id="rId34" Type="http://schemas.openxmlformats.org/officeDocument/2006/relationships/slideLayout" Target="../slideLayouts/slideLayout12.xml"/><Relationship Id="rId42" Type="http://schemas.openxmlformats.org/officeDocument/2006/relationships/image" Target="../media/image89.png"/><Relationship Id="rId47" Type="http://schemas.openxmlformats.org/officeDocument/2006/relationships/image" Target="../media/image94.png"/><Relationship Id="rId50" Type="http://schemas.openxmlformats.org/officeDocument/2006/relationships/image" Target="../media/image97.png"/><Relationship Id="rId55" Type="http://schemas.openxmlformats.org/officeDocument/2006/relationships/image" Target="../media/image102.png"/><Relationship Id="rId7" Type="http://schemas.openxmlformats.org/officeDocument/2006/relationships/tags" Target="../tags/tag95.xml"/><Relationship Id="rId2" Type="http://schemas.openxmlformats.org/officeDocument/2006/relationships/tags" Target="../tags/tag90.xml"/><Relationship Id="rId16" Type="http://schemas.openxmlformats.org/officeDocument/2006/relationships/tags" Target="../tags/tag104.xml"/><Relationship Id="rId29" Type="http://schemas.openxmlformats.org/officeDocument/2006/relationships/tags" Target="../tags/tag117.xml"/><Relationship Id="rId11" Type="http://schemas.openxmlformats.org/officeDocument/2006/relationships/tags" Target="../tags/tag99.xml"/><Relationship Id="rId24" Type="http://schemas.openxmlformats.org/officeDocument/2006/relationships/tags" Target="../tags/tag112.xml"/><Relationship Id="rId32" Type="http://schemas.openxmlformats.org/officeDocument/2006/relationships/tags" Target="../tags/tag120.xml"/><Relationship Id="rId37" Type="http://schemas.openxmlformats.org/officeDocument/2006/relationships/image" Target="../media/image84.png"/><Relationship Id="rId40" Type="http://schemas.openxmlformats.org/officeDocument/2006/relationships/image" Target="../media/image87.png"/><Relationship Id="rId45" Type="http://schemas.openxmlformats.org/officeDocument/2006/relationships/image" Target="../media/image92.png"/><Relationship Id="rId53" Type="http://schemas.openxmlformats.org/officeDocument/2006/relationships/image" Target="../media/image100.png"/><Relationship Id="rId5" Type="http://schemas.openxmlformats.org/officeDocument/2006/relationships/tags" Target="../tags/tag93.xml"/><Relationship Id="rId10" Type="http://schemas.openxmlformats.org/officeDocument/2006/relationships/tags" Target="../tags/tag98.xml"/><Relationship Id="rId19" Type="http://schemas.openxmlformats.org/officeDocument/2006/relationships/tags" Target="../tags/tag107.xml"/><Relationship Id="rId31" Type="http://schemas.openxmlformats.org/officeDocument/2006/relationships/tags" Target="../tags/tag119.xml"/><Relationship Id="rId44" Type="http://schemas.openxmlformats.org/officeDocument/2006/relationships/image" Target="../media/image91.png"/><Relationship Id="rId52" Type="http://schemas.openxmlformats.org/officeDocument/2006/relationships/image" Target="../media/image99.png"/><Relationship Id="rId4" Type="http://schemas.openxmlformats.org/officeDocument/2006/relationships/tags" Target="../tags/tag92.xml"/><Relationship Id="rId9" Type="http://schemas.openxmlformats.org/officeDocument/2006/relationships/tags" Target="../tags/tag97.xml"/><Relationship Id="rId14" Type="http://schemas.openxmlformats.org/officeDocument/2006/relationships/tags" Target="../tags/tag102.xml"/><Relationship Id="rId22" Type="http://schemas.openxmlformats.org/officeDocument/2006/relationships/tags" Target="../tags/tag110.xml"/><Relationship Id="rId27" Type="http://schemas.openxmlformats.org/officeDocument/2006/relationships/tags" Target="../tags/tag115.xml"/><Relationship Id="rId30" Type="http://schemas.openxmlformats.org/officeDocument/2006/relationships/tags" Target="../tags/tag118.xml"/><Relationship Id="rId35" Type="http://schemas.openxmlformats.org/officeDocument/2006/relationships/notesSlide" Target="../notesSlides/notesSlide27.xml"/><Relationship Id="rId43" Type="http://schemas.openxmlformats.org/officeDocument/2006/relationships/image" Target="../media/image90.png"/><Relationship Id="rId48" Type="http://schemas.openxmlformats.org/officeDocument/2006/relationships/image" Target="../media/image95.png"/><Relationship Id="rId8" Type="http://schemas.openxmlformats.org/officeDocument/2006/relationships/tags" Target="../tags/tag96.xml"/><Relationship Id="rId51" Type="http://schemas.openxmlformats.org/officeDocument/2006/relationships/image" Target="../media/image98.png"/><Relationship Id="rId3" Type="http://schemas.openxmlformats.org/officeDocument/2006/relationships/tags" Target="../tags/tag91.xml"/><Relationship Id="rId12" Type="http://schemas.openxmlformats.org/officeDocument/2006/relationships/tags" Target="../tags/tag100.xml"/><Relationship Id="rId17" Type="http://schemas.openxmlformats.org/officeDocument/2006/relationships/tags" Target="../tags/tag105.xml"/><Relationship Id="rId25" Type="http://schemas.openxmlformats.org/officeDocument/2006/relationships/tags" Target="../tags/tag113.xml"/><Relationship Id="rId33" Type="http://schemas.openxmlformats.org/officeDocument/2006/relationships/tags" Target="../tags/tag121.xml"/><Relationship Id="rId38" Type="http://schemas.openxmlformats.org/officeDocument/2006/relationships/image" Target="../media/image85.png"/><Relationship Id="rId46" Type="http://schemas.openxmlformats.org/officeDocument/2006/relationships/image" Target="../media/image93.png"/><Relationship Id="rId20" Type="http://schemas.openxmlformats.org/officeDocument/2006/relationships/tags" Target="../tags/tag108.xml"/><Relationship Id="rId41" Type="http://schemas.openxmlformats.org/officeDocument/2006/relationships/image" Target="../media/image88.png"/><Relationship Id="rId54" Type="http://schemas.openxmlformats.org/officeDocument/2006/relationships/image" Target="../media/image101.png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5" Type="http://schemas.openxmlformats.org/officeDocument/2006/relationships/tags" Target="../tags/tag103.xml"/><Relationship Id="rId23" Type="http://schemas.openxmlformats.org/officeDocument/2006/relationships/tags" Target="../tags/tag111.xml"/><Relationship Id="rId28" Type="http://schemas.openxmlformats.org/officeDocument/2006/relationships/tags" Target="../tags/tag116.xml"/><Relationship Id="rId36" Type="http://schemas.openxmlformats.org/officeDocument/2006/relationships/image" Target="../media/image83.png"/><Relationship Id="rId49" Type="http://schemas.openxmlformats.org/officeDocument/2006/relationships/image" Target="../media/image9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notesSlide" Target="../notesSlides/notesSlide28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tags" Target="../tags/tag126.xml"/><Relationship Id="rId7" Type="http://schemas.openxmlformats.org/officeDocument/2006/relationships/image" Target="../media/image106.png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image" Target="../media/image105.png"/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notesSlide" Target="../notesSlides/notesSlide3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notesSlide" Target="../notesSlides/notesSlide3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1.xml"/><Relationship Id="rId4" Type="http://schemas.openxmlformats.org/officeDocument/2006/relationships/image" Target="../media/image4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image" Target="../media/image30.png"/><Relationship Id="rId5" Type="http://schemas.openxmlformats.org/officeDocument/2006/relationships/image" Target="../media/image112.png"/><Relationship Id="rId4" Type="http://schemas.openxmlformats.org/officeDocument/2006/relationships/notesSlide" Target="../notesSlides/notesSlide3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36.xml"/><Relationship Id="rId1" Type="http://schemas.openxmlformats.org/officeDocument/2006/relationships/tags" Target="../tags/tag135.xml"/><Relationship Id="rId6" Type="http://schemas.openxmlformats.org/officeDocument/2006/relationships/image" Target="../media/image32.png"/><Relationship Id="rId5" Type="http://schemas.openxmlformats.org/officeDocument/2006/relationships/image" Target="../media/image113.png"/><Relationship Id="rId4" Type="http://schemas.openxmlformats.org/officeDocument/2006/relationships/notesSlide" Target="../notesSlides/notesSlide3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notesSlide" Target="../notesSlides/notesSlide3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image" Target="../media/image36.png"/><Relationship Id="rId5" Type="http://schemas.openxmlformats.org/officeDocument/2006/relationships/image" Target="../media/image114.png"/><Relationship Id="rId4" Type="http://schemas.openxmlformats.org/officeDocument/2006/relationships/notesSlide" Target="../notesSlides/notesSlide36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tags" Target="../tags/tag143.xml"/><Relationship Id="rId7" Type="http://schemas.openxmlformats.org/officeDocument/2006/relationships/image" Target="../media/image38.png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6" Type="http://schemas.openxmlformats.org/officeDocument/2006/relationships/image" Target="../media/image115.png"/><Relationship Id="rId5" Type="http://schemas.openxmlformats.org/officeDocument/2006/relationships/notesSlide" Target="../notesSlides/notesSlide37.xml"/><Relationship Id="rId4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6" Type="http://schemas.openxmlformats.org/officeDocument/2006/relationships/image" Target="../media/image38.png"/><Relationship Id="rId5" Type="http://schemas.openxmlformats.org/officeDocument/2006/relationships/image" Target="../media/image116.png"/><Relationship Id="rId4" Type="http://schemas.openxmlformats.org/officeDocument/2006/relationships/notesSlide" Target="../notesSlides/notesSlide3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notesSlide" Target="../notesSlides/notesSlide39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tags" Target="../tags/tag150.xml"/><Relationship Id="rId7" Type="http://schemas.openxmlformats.org/officeDocument/2006/relationships/image" Target="../media/image119.png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image" Target="../media/image105.png"/><Relationship Id="rId5" Type="http://schemas.openxmlformats.org/officeDocument/2006/relationships/notesSlide" Target="../notesSlides/notesSlide40.xml"/><Relationship Id="rId4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6" Type="http://schemas.openxmlformats.org/officeDocument/2006/relationships/image" Target="../media/image120.png"/><Relationship Id="rId5" Type="http://schemas.openxmlformats.org/officeDocument/2006/relationships/image" Target="../media/image107.png"/><Relationship Id="rId4" Type="http://schemas.openxmlformats.org/officeDocument/2006/relationships/notesSlide" Target="../notesSlides/notesSlide4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54.xml"/><Relationship Id="rId1" Type="http://schemas.openxmlformats.org/officeDocument/2006/relationships/tags" Target="../tags/tag153.xml"/><Relationship Id="rId6" Type="http://schemas.openxmlformats.org/officeDocument/2006/relationships/image" Target="../media/image110.png"/><Relationship Id="rId5" Type="http://schemas.openxmlformats.org/officeDocument/2006/relationships/image" Target="../media/image121.png"/><Relationship Id="rId4" Type="http://schemas.openxmlformats.org/officeDocument/2006/relationships/notesSlide" Target="../notesSlides/notesSlide4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55.xml"/><Relationship Id="rId4" Type="http://schemas.openxmlformats.org/officeDocument/2006/relationships/image" Target="../media/image1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7" y="3024952"/>
            <a:ext cx="9569366" cy="853311"/>
          </a:xfrm>
          <a:solidFill>
            <a:srgbClr val="005AC0"/>
          </a:solidFill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Full State Description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702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\documentclass{article}&#10;\usepackage{amsmath,bm}&#10;\pagestyle{empty}&#10;\begin{document}&#10;&#10;\begin{align*}&#10;\hat{\mathcal{R}}_{\eta\lambda;lk,s}^{(W\kappa p)}&#10;&amp; =&#10;\left(\frac{2\vartheta_{\lambda\left\{\chi_{p}\right\}}}{Wa_{0}\eta}\right)^{\frac{3}{2}}&#10;\left[&#10;\sqrt{W}&#10;\rho^{\frac{l}{W}-\kappa\delta_{W,1}-\delta_{s,-1}}\mathrm{e}^{-\rho/2}&#10;\sum_{v=-2\kappa}^{\kappa+\delta_{s,-1}}&#10;h_{lk,sv}^{(\kappa)}&#10;\hat{L}_{k+v}^{\left(\frac{2}{W}\left(l+\frac{1}{W}\right)+\kappa-\delta_{s,-1}\right)}&#10;\right|_{\rho \rightarrow \left(\frac{2r\vartheta_{\lambda\left\{\chi_{p}\right\}}}{Wa_{0}\eta}\right)^{W}}&#10;\\&#10;\end{align*}&#10;&#10;\end{document}" title="IguanaTex Bitmap Display">
            <a:extLst>
              <a:ext uri="{FF2B5EF4-FFF2-40B4-BE49-F238E27FC236}">
                <a16:creationId xmlns:a16="http://schemas.microsoft.com/office/drawing/2014/main" id="{002F0E53-9459-4033-997B-97BE0360805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10291" y="5525850"/>
            <a:ext cx="10971418" cy="109714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single-valley basis states</a:t>
            </a:r>
          </a:p>
        </p:txBody>
      </p:sp>
      <p:pic>
        <p:nvPicPr>
          <p:cNvPr id="3" name="Picture 2" descr="\documentclass{article}&#10;\usepackage{amsmath,bm,eufrak}&#10;\pagestyle{empty}&#10;\begin{document}&#10;&#10;\begin{equation*}&#10;\Phi_{m\zeta lk;\eta\lambda}^{(W\kappa p)}&#10;= &#10;\left(\frac{\hbar^{2}}{2m_{0}a_{0}^{2}\eta^{2}}\right)^{\kappa}&#10;\hat{Q}_{m\zeta}^{(p)}&#10;\sum_{s=-\kappa}^{+\kappa}&#10;\mathfrak{H}^{(\kappa)}_{\lambda;lm,s}&#10;\hat{\mathcal{P}}_{\lambda;(l+2s)m}^{(p)}&#10;\hat{\mathcal{R}}_{\eta\lambda;lk,s}^{(W\kappa p)}&#10;\end{equation*}&#10;&#10;\end{document}" title="IguanaTex Bitmap Display">
            <a:extLst>
              <a:ext uri="{FF2B5EF4-FFF2-40B4-BE49-F238E27FC236}">
                <a16:creationId xmlns:a16="http://schemas.microsoft.com/office/drawing/2014/main" id="{8E2F229D-D361-4ECC-BE37-0484A7EC5E3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769527" y="1857129"/>
            <a:ext cx="6652947" cy="71771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6683DAA-00F8-42A7-BF38-1789524766A2}"/>
              </a:ext>
            </a:extLst>
          </p:cNvPr>
          <p:cNvGrpSpPr/>
          <p:nvPr/>
        </p:nvGrpSpPr>
        <p:grpSpPr>
          <a:xfrm>
            <a:off x="732997" y="3053777"/>
            <a:ext cx="10726005" cy="1993139"/>
            <a:chOff x="732997" y="3153437"/>
            <a:chExt cx="10726005" cy="1993139"/>
          </a:xfrm>
        </p:grpSpPr>
        <p:pic>
          <p:nvPicPr>
            <p:cNvPr id="6" name="Picture 5" descr="\documentclass{article}&#10;\usepackage{amsmath,bm,eufrak}&#10;\pagestyle{empty}&#10;\begin{document}&#10;&#10;\begin{align*}&#10;\vartheta_{\lambda\left\{\chi\right\}}&#10;&amp; =&#10;\sqrt{1 + \left(\lambda^2-1\right)\chi^2}&#10;\\&#10;\hat{\mathcal{P}}_{\lambda;lm}^{(p)}&#10;&amp; = &#10;\sqrt{\frac{\lambda}{\vartheta_{\lambda\left\{\chi\right\}}^{3}}}&#10;\sqrt{\frac{(2l+1)\left(l-m\right)!}{2\left(l+m\right)!}}&#10;P_{lm}\left(\frac{\lambda \chi_{q}}{\vartheta_{\lambda\left\{\chi_{q}\right\}}}\right)&#10;\\&#10;\hat{Q}_{m\xi}^{(p)}&#10;&amp; = &#10;\frac{1}{\sqrt{2\pi}}&#10;\left(\frac{\mathrm{e}^{\mathrm{i}m \phi_{p}}+ \xi\mathrm{e}^{-\mathrm{i}m \phi_{p}}}&#10;{2\delta_{m0} + \sqrt{2}\left(1-\delta_{m0}\right)}\right)&#10;\end{align*}&#10;&#10;\end{document} " title="IguanaTex Bitmap Display">
              <a:extLst>
                <a:ext uri="{FF2B5EF4-FFF2-40B4-BE49-F238E27FC236}">
                  <a16:creationId xmlns:a16="http://schemas.microsoft.com/office/drawing/2014/main" id="{B48107FF-899F-4D5D-BCEA-0404DD1E5BF8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732997" y="3153437"/>
              <a:ext cx="5508572" cy="1993139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A2F2EB0-46F7-4B56-86AC-CB3C342BEFA8}"/>
                </a:ext>
              </a:extLst>
            </p:cNvPr>
            <p:cNvGrpSpPr/>
            <p:nvPr/>
          </p:nvGrpSpPr>
          <p:grpSpPr>
            <a:xfrm>
              <a:off x="6974566" y="3174006"/>
              <a:ext cx="4484436" cy="1952000"/>
              <a:chOff x="6808836" y="3100269"/>
              <a:chExt cx="4484436" cy="1952000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D55AD485-277A-4F77-852B-72367E0DAB0B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11"/>
              <a:stretch>
                <a:fillRect/>
              </a:stretch>
            </p:blipFill>
            <p:spPr>
              <a:xfrm>
                <a:off x="6808836" y="3100269"/>
                <a:ext cx="2558476" cy="195200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E736506-322B-436B-900E-0C4FA105DC6F}"/>
                  </a:ext>
                </a:extLst>
              </p:cNvPr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12"/>
              <a:stretch>
                <a:fillRect/>
              </a:stretch>
            </p:blipFill>
            <p:spPr>
              <a:xfrm>
                <a:off x="9702415" y="3536384"/>
                <a:ext cx="1590857" cy="122514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428352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single-valley basis states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C0F3515-17F9-4681-A9FB-0FDCA6D61439}"/>
              </a:ext>
            </a:extLst>
          </p:cNvPr>
          <p:cNvGrpSpPr/>
          <p:nvPr/>
        </p:nvGrpSpPr>
        <p:grpSpPr>
          <a:xfrm>
            <a:off x="204095" y="4589237"/>
            <a:ext cx="11783809" cy="1481752"/>
            <a:chOff x="204095" y="4789306"/>
            <a:chExt cx="11783809" cy="1481752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69CBA83-12E1-4375-B802-81E8C1344FD8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9079866" y="4944316"/>
              <a:ext cx="2908038" cy="1171733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44115AF-3F51-4DD0-9D13-E2A0368D408E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5967733" y="4944316"/>
              <a:ext cx="2908038" cy="1171733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9AEEA1CC-A15C-487E-88BB-443E42311D45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204095" y="4789306"/>
              <a:ext cx="5559542" cy="1481752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F164DCF-FB5C-485A-A8BB-99EFF5F11408}"/>
              </a:ext>
            </a:extLst>
          </p:cNvPr>
          <p:cNvGrpSpPr/>
          <p:nvPr/>
        </p:nvGrpSpPr>
        <p:grpSpPr>
          <a:xfrm>
            <a:off x="1388703" y="1956317"/>
            <a:ext cx="9414595" cy="2357336"/>
            <a:chOff x="1388703" y="1956317"/>
            <a:chExt cx="9414595" cy="2357336"/>
          </a:xfrm>
        </p:grpSpPr>
        <p:pic>
          <p:nvPicPr>
            <p:cNvPr id="15" name="Picture 14" descr="\documentclass{article}&#10;\usepackage{amsmath,bm,amssymb}&#10;\pagestyle{empty}&#10;\begin{document}&#10;&#10;\begin{align*}&#10;\mathfrak{Y}^{(0)}_{lm}&#10;&amp; =&#10;\frac{&#10;2l^2-2m^2+2l-1&#10;}{&#10;(2l-1)(2l+3)&#10;}  \\&#10;\mathfrak{Y}^{(-1)}_{lm}&#10;&amp; =&#10;\sqrt{\frac{&#10;\left((l-1)^2-m^2\right)&#10;\left(l^2-m^2\right)&#10;}{&#10;(2l-3)(2l-1)^{2}(2l+1)&#10;}}&#10;\\&#10;\mathfrak{Y}^{(+1)}_{lm}&#10;&amp; =&#10;\sqrt{\frac{&#10;\left((l+1)^2-m^2\right)&#10;\left((l+2)^2-m^2\right)&#10;}{&#10;(2l+1)(2l+3)^{2}(2l+5)&#10;}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E5037CFE-29E3-4898-A815-9F927E063B8D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6140447" y="1956317"/>
              <a:ext cx="4662851" cy="235733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8" name="Picture 17" descr="\documentclass{article}&#10;\usepackage{amsmath,bm,eufrak}&#10;\pagestyle{empty}&#10;\begin{document}&#10;&#10;\begin{equation*}&#10;\mathfrak{H}^{(\kappa)}_{\lambda;lm,s}&#10;= &#10;\delta_{s,0}-\kappa\left(1-\gamma\lambda^{2}\right)\mathfrak{Y}_{lm}^{(s)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4B188044-A71E-4846-B6E8-018BE08A7490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1388703" y="2958984"/>
              <a:ext cx="3553519" cy="374857"/>
            </a:xfrm>
            <a:prstGeom prst="rect">
              <a:avLst/>
            </a:prstGeom>
          </p:spPr>
        </p:pic>
      </p:grpSp>
      <p:pic>
        <p:nvPicPr>
          <p:cNvPr id="12" name="Picture 11" descr="\documentclass{article}&#10;\usepackage{amsmath,bm}&#10;\pagestyle{empty}&#10;\begin{document}&#10;&#10;\begin{align*}&#10;h_{lk,v}^{(\kappa s)}&#10;&amp; =&#10;\left(1-\kappa\right)\delta_{s0}\delta_{v0} + \kappa g_{lk,v}^{(s)}&#10;\\&#10;\end{align*}&#10;&#10;\end{document}" title="IguanaTex Bitmap Display">
            <a:extLst>
              <a:ext uri="{FF2B5EF4-FFF2-40B4-BE49-F238E27FC236}">
                <a16:creationId xmlns:a16="http://schemas.microsoft.com/office/drawing/2014/main" id="{395329E3-A470-4732-9C92-A0084982F83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6416510" y="6308136"/>
            <a:ext cx="3236569" cy="37485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7" name="Picture 6" descr="\documentclass{article}&#10;\usepackage{amsmath,bm,eufrak}&#10;\pagestyle{empty}&#10;\begin{document}&#10;&#10;\begin{align*}&#10;\alpha&#10;=&#10;\frac{2}{W}\left(l+\frac{1}{W}\right)&#10;\end{align*}&#10;&#10;\end{document}" title="IguanaTex Bitmap Display">
            <a:extLst>
              <a:ext uri="{FF2B5EF4-FFF2-40B4-BE49-F238E27FC236}">
                <a16:creationId xmlns:a16="http://schemas.microsoft.com/office/drawing/2014/main" id="{182D8744-FB25-410F-B932-3F2B4604029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2538922" y="6282764"/>
            <a:ext cx="1338666" cy="4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318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Symmetrized States, </a:t>
            </a:r>
            <a:r>
              <a:rPr lang="en-US" i="1" dirty="0"/>
              <a:t>m</a:t>
            </a:r>
            <a:r>
              <a:rPr lang="en-US" dirty="0"/>
              <a:t> even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5B99B60-7557-435C-ACAD-8E353225E6F1}"/>
              </a:ext>
            </a:extLst>
          </p:cNvPr>
          <p:cNvGrpSpPr/>
          <p:nvPr/>
        </p:nvGrpSpPr>
        <p:grpSpPr>
          <a:xfrm>
            <a:off x="285220" y="2187935"/>
            <a:ext cx="5595317" cy="793294"/>
            <a:chOff x="285220" y="2187935"/>
            <a:chExt cx="5595317" cy="793294"/>
          </a:xfrm>
        </p:grpSpPr>
        <p:pic>
          <p:nvPicPr>
            <p:cNvPr id="25" name="Picture 24" descr="\documentclass{article}&#10;\usepackage{amsmath,bm}&#10;\pagestyle{empty}&#10;\begin{document}&#10;&#10;\begin{equation*}&#10;\Psi_{m_{e}lkA^{(\sigma)};\lambda\eta}^{\left(W\kappa\right)}&#10;=&#10;\sum_{q = x,y,z} &#10;\left(\frac{1}{\sqrt{3}}\right)&#10;\Phi_{m_{e}(\sigma\mathrm{i}^{m_{e}})lk;\lambda\eta}^{(W\kappa q)}&#10;\Theta^{(q)}_{\sigma\mathrm{i}^{m_{e}}(-1)^{l}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D0170A23-4DB4-44B3-B2FC-50EF846B6875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431906" y="2271897"/>
              <a:ext cx="5301943" cy="625371"/>
            </a:xfrm>
            <a:prstGeom prst="rect">
              <a:avLst/>
            </a:prstGeom>
          </p:spPr>
        </p:pic>
        <p:sp>
          <p:nvSpPr>
            <p:cNvPr id="29" name="Rounded Rectangle 28"/>
            <p:cNvSpPr/>
            <p:nvPr/>
          </p:nvSpPr>
          <p:spPr>
            <a:xfrm>
              <a:off x="285220" y="2187935"/>
              <a:ext cx="5595317" cy="793294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813A32E-FEBA-4B10-95F5-FC28E486B1A2}"/>
              </a:ext>
            </a:extLst>
          </p:cNvPr>
          <p:cNvGrpSpPr/>
          <p:nvPr/>
        </p:nvGrpSpPr>
        <p:grpSpPr>
          <a:xfrm>
            <a:off x="285220" y="5561193"/>
            <a:ext cx="4286779" cy="746474"/>
            <a:chOff x="285220" y="5561193"/>
            <a:chExt cx="4286779" cy="746474"/>
          </a:xfrm>
        </p:grpSpPr>
        <p:sp>
          <p:nvSpPr>
            <p:cNvPr id="36" name="Rounded Rectangle 35"/>
            <p:cNvSpPr/>
            <p:nvPr/>
          </p:nvSpPr>
          <p:spPr>
            <a:xfrm>
              <a:off x="285220" y="5561193"/>
              <a:ext cx="4286779" cy="746474"/>
            </a:xfrm>
            <a:prstGeom prst="round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\documentclass{article}&#10;\usepackage{amsmath,bm}&#10;\pagestyle{empty}&#10;\begin{document}&#10;&#10;\begin{align*}&#10;\Psi_{m_{e}lkT_{q}^{(\sigma)};\lambda\eta}^{\left(W\kappa\right)}&#10;=&#10;\Phi_{m_{e}(\sigma\mathrm{i}^{m_{e}})lk;\lambda\eta}^{(W\kappa q)}&#10;\Theta_{-\sigma\mathrm{i}^{m_{e}}(-1)^{l}}^{(q)}&#10;\end{align*}&#10;&#10;\end{document}" title="IguanaTex Bitmap Display">
              <a:extLst>
                <a:ext uri="{FF2B5EF4-FFF2-40B4-BE49-F238E27FC236}">
                  <a16:creationId xmlns:a16="http://schemas.microsoft.com/office/drawing/2014/main" id="{1F991F44-564B-48ED-843E-456E29266F4D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09870" y="5719802"/>
              <a:ext cx="4037478" cy="411429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E7AB225-74A8-4544-A7B6-2E9A33EAA0CD}"/>
              </a:ext>
            </a:extLst>
          </p:cNvPr>
          <p:cNvGrpSpPr/>
          <p:nvPr/>
        </p:nvGrpSpPr>
        <p:grpSpPr>
          <a:xfrm>
            <a:off x="285221" y="3874564"/>
            <a:ext cx="5570506" cy="793294"/>
            <a:chOff x="285221" y="3874564"/>
            <a:chExt cx="5570506" cy="793294"/>
          </a:xfrm>
        </p:grpSpPr>
        <p:pic>
          <p:nvPicPr>
            <p:cNvPr id="4" name="Picture 3" descr="\documentclass{article}&#10;\usepackage{amsmath,bm}&#10;\pagestyle{empty}&#10;\begin{document}&#10;&#10;\begin{equation*}&#10;\Psi_{m_{e}lk E_{i}^{\sigma};\lambda\eta}^{\left(W\kappa\right)}&#10;=&#10;\sum_{q = x,y,z}&#10;\left(\beta_{E_{i}}^{(\sigma)}\right)_{q}&#10;\Phi_{m_{e}(\sigma\mathrm{i}^{m_{e}})lk;\lambda\eta}^{(W\kappa q)}&#10;\Theta^{(q)}_{\sigma\mathrm{i}^{m_{e}}(-1)^{l}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2F4E90DB-A53A-4085-8D4F-06A767253616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435963" y="3992811"/>
              <a:ext cx="5269023" cy="556800"/>
            </a:xfrm>
            <a:prstGeom prst="rect">
              <a:avLst/>
            </a:prstGeom>
          </p:spPr>
        </p:pic>
        <p:sp>
          <p:nvSpPr>
            <p:cNvPr id="33" name="Rounded Rectangle 32"/>
            <p:cNvSpPr/>
            <p:nvPr/>
          </p:nvSpPr>
          <p:spPr>
            <a:xfrm>
              <a:off x="285221" y="3874564"/>
              <a:ext cx="5570506" cy="793294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80F15C3-D595-41CB-B6AB-8CADA7AC6D83}"/>
              </a:ext>
            </a:extLst>
          </p:cNvPr>
          <p:cNvGrpSpPr/>
          <p:nvPr/>
        </p:nvGrpSpPr>
        <p:grpSpPr>
          <a:xfrm>
            <a:off x="6964171" y="3904230"/>
            <a:ext cx="4048787" cy="763628"/>
            <a:chOff x="6964171" y="3838118"/>
            <a:chExt cx="4048787" cy="763628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6FFD8E46-B34A-4FF7-86CB-79EDE9D46181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6964171" y="3838118"/>
              <a:ext cx="2171123" cy="763628"/>
              <a:chOff x="6964171" y="3838118"/>
              <a:chExt cx="2171123" cy="763628"/>
            </a:xfrm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1F407A43-AF9D-49DE-8682-E6D93E3DA979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14"/>
              <a:stretch>
                <a:fillRect/>
              </a:stretch>
            </p:blipFill>
            <p:spPr>
              <a:xfrm>
                <a:off x="6964171" y="3838118"/>
                <a:ext cx="2171123" cy="460800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43257" y="4383536"/>
                <a:ext cx="1178819" cy="218210"/>
              </a:xfrm>
              <a:prstGeom prst="rect">
                <a:avLst/>
              </a:prstGeom>
            </p:spPr>
          </p:pic>
        </p:grpSp>
        <p:pic>
          <p:nvPicPr>
            <p:cNvPr id="21" name="Picture 20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30520" y="3994408"/>
              <a:ext cx="1282438" cy="451048"/>
            </a:xfrm>
            <a:prstGeom prst="rect">
              <a:avLst/>
            </a:prstGeom>
          </p:spPr>
        </p:pic>
      </p:grpSp>
      <p:pic>
        <p:nvPicPr>
          <p:cNvPr id="7" name="Picture 6" descr="\documentclass{article}&#10;\usepackage{amsmath,bm}&#10;\pagestyle{empty}&#10;\begin{document}&#10;&#10;\begin{align*}&#10;\Theta^{(q)}&#10;&amp; =&#10;\mathrm{e}^{\mathrm{i}\bm{k}_q\cdot \bm{r}}u_{\bm{k}_q}&#10;\\&#10;\Theta_{\Omega}^{(q)}&#10;&amp; =&#10;\frac&#10;{&#10;\Theta^{(q)}&#10;+&#10;\Omega\Theta^{(-q)}&#10;}&#10;{\sqrt{2}}&#10;\\&#10;\end{align*}&#10;&#10;\end{document}" title="IguanaTex Bitmap Display">
            <a:extLst>
              <a:ext uri="{FF2B5EF4-FFF2-40B4-BE49-F238E27FC236}">
                <a16:creationId xmlns:a16="http://schemas.microsoft.com/office/drawing/2014/main" id="{9E46659B-01EA-4988-B004-C6B953A3CE8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8386568" y="2037422"/>
            <a:ext cx="2162743" cy="95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309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Symmetrized States, </a:t>
            </a:r>
            <a:r>
              <a:rPr lang="en-US" i="1" dirty="0"/>
              <a:t>m</a:t>
            </a:r>
            <a:r>
              <a:rPr lang="en-US" dirty="0"/>
              <a:t> odd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7692755-B2BF-43D1-AC60-934F4FBA4A6B}"/>
              </a:ext>
            </a:extLst>
          </p:cNvPr>
          <p:cNvGrpSpPr/>
          <p:nvPr/>
        </p:nvGrpSpPr>
        <p:grpSpPr>
          <a:xfrm>
            <a:off x="3029651" y="2966863"/>
            <a:ext cx="6132699" cy="924274"/>
            <a:chOff x="3029651" y="2966863"/>
            <a:chExt cx="6132699" cy="924274"/>
          </a:xfrm>
        </p:grpSpPr>
        <p:sp>
          <p:nvSpPr>
            <p:cNvPr id="36" name="Rounded Rectangle 35"/>
            <p:cNvSpPr/>
            <p:nvPr/>
          </p:nvSpPr>
          <p:spPr>
            <a:xfrm>
              <a:off x="3029651" y="2966863"/>
              <a:ext cx="6132699" cy="924274"/>
            </a:xfrm>
            <a:prstGeom prst="round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" name="Picture 9" descr="\documentclass{article}&#10;\usepackage{amsmath,bm}&#10;\pagestyle{empty}&#10;\begin{document}&#10;&#10;\begin{align*}&#10;\Psi_{m_{o}lkhT_{q_{1}}^{(\sigma)};\lambda\eta}^{\left(W\kappa\right)}&#10;=&#10;\frac&#10;{&#10;\Phi_{m_{o}hlk;\lambda\eta}^{\left(W\kappa q_{2}\right)}\Theta_{h(-1)^{l}}^{(q_{2})}&#10;- h\sigma\mathrm{i}^{m_{o}}\Phi_{m_{o}\bar{h}lk;\lambda\eta}^{\left(W\kappa q_{3}\right)}\Theta_{h(-1)^{l}}^{(q_{3})}&#10;}&#10;{\sqrt{2}}&#10;\end{align*}&#10;&#10;\end{document}" title="IguanaTex Bitmap Display">
              <a:extLst>
                <a:ext uri="{FF2B5EF4-FFF2-40B4-BE49-F238E27FC236}">
                  <a16:creationId xmlns:a16="http://schemas.microsoft.com/office/drawing/2014/main" id="{F62DAD86-9FF6-4CD2-BDCB-4D9C5DE1882B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3144004" y="3098484"/>
              <a:ext cx="5903994" cy="6610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87250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7" y="3024952"/>
            <a:ext cx="10258773" cy="853311"/>
          </a:xfrm>
          <a:solidFill>
            <a:schemeClr val="tx2"/>
          </a:solidFill>
        </p:spPr>
        <p:txBody>
          <a:bodyPr>
            <a:spAutoFit/>
          </a:bodyPr>
          <a:lstStyle/>
          <a:p>
            <a:r>
              <a:rPr lang="en-US" dirty="0"/>
              <a:t>Integrable Potential Forms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Forms that might be used</a:t>
            </a:r>
          </a:p>
        </p:txBody>
      </p:sp>
    </p:spTree>
    <p:extLst>
      <p:ext uri="{BB962C8B-B14F-4D97-AF65-F5344CB8AC3E}">
        <p14:creationId xmlns:p14="http://schemas.microsoft.com/office/powerpoint/2010/main" val="1881712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Raw potential</a:t>
            </a:r>
          </a:p>
        </p:txBody>
      </p:sp>
      <p:pic>
        <p:nvPicPr>
          <p:cNvPr id="30" name="Picture 29" descr="\documentclass{article}&#10;\usepackage{amsmath,bm,eufrak}&#10;\pagestyle{empty}&#10;\begin{document}&#10;&#10;\begin{align*}&#10;U_{\left\{\bm{r}\right\}}&#10;&amp; =&#10;U_{0}&#10;\left(\frac{r}{a_{\perp}}\right)^{d}&#10;\mathcal{U}_{\left\{\chi,\phi\right\}}&#10;\mathrm{e}^{-\alpha_{\left\{\chi,\phi\right\}}\left(\frac{r}{a_\perp}\right)}&#10;\mathrm{e}^{-\beta_{\left\{\chi,\phi\right\}}\left(\frac{r}{a_\perp}\right)^{2}}&#10;\\&#10;&amp; =&#10;U_{0}&#10;\left(\frac{r}{a_{\perp}}\right)^{d}&#10;\sum_{j \in \Gamma\left(T_{d}\right)}&#10;\sum_{\kappa = 1}^{l_{j}}&#10;U^{(j)}_{\kappa\kappa}&#10;\\&#10;U^{(j)}_{\mu\kappa}&#10;&amp; \equiv&#10;\sum_{\hat{R}\in\subseteq T_{d}}&#10;\tilde{\mathfrak{U}}_{\mu\kappa;\hat{R}}^{\left(j\right)}&#10;\mathcal{U}_{\hat{R}}&#10;\mathrm{e}^{-\alpha_{\hat{R}}\left(\frac{r}{a_\perp}\right)}\mathrm{e}^{-\beta_{\hat{R}}\left(\frac{r}{a_\perp}\right)^{2}}&#10;\\&#10;\tilde{\mathfrak{U}}_{\mu\kappa;\hat{R}}^{\left(j\right)}&#10;&amp; \equiv&#10;\frac{l_{j}}{h}&#10;\left(\Gamma_{\hat{R}}^{(j)}\right)_{\mu\kappa}^{*}&#10;\end{align*}&#10;&#10;\end{document}" title="IguanaTex Bitmap Display">
            <a:extLst>
              <a:ext uri="{FF2B5EF4-FFF2-40B4-BE49-F238E27FC236}">
                <a16:creationId xmlns:a16="http://schemas.microsoft.com/office/drawing/2014/main" id="{8016C156-5EDE-4B78-87DA-C4C05ACC37A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190100" y="2519117"/>
            <a:ext cx="5811801" cy="318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134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Filtered potential involving parallel valleys</a:t>
            </a:r>
          </a:p>
        </p:txBody>
      </p:sp>
      <p:pic>
        <p:nvPicPr>
          <p:cNvPr id="14" name="Picture 13" descr="\documentclass{article}&#10;\usepackage{amsmath,bm,eufrak}&#10;\pagestyle{empty}&#10;\begin{document}&#10;&#10;\begin{equation*}&#10;V_{\parallel}^{\left(A^{\left(\sigma\right)}\right)(\mathcal{W}_{0}\mathcal{W}_{1})}&#10;=&#10;\begin{pmatrix}&#10;\delta_{\sigma_{0}\sigma_{1}}^{\sigma} &amp;                           0 &amp;                          0 &amp;                          0 &amp;                             &amp; 0 &amp; 0 &amp; 0 \\&#10;                                     0 &amp;            \delta_{\sigma+} &amp; \mathrm{i}\delta_{\sigma-} &amp;                          0 &amp;                             &amp; 0 &amp; 0 &amp; 0 \\&#10;                                     0 &amp; -\mathrm{i}\delta_{\sigma-} &amp;           \delta_{\sigma+} &amp;                          0 &amp;                             &amp; 0 &amp; 0 &amp; 0 \\&#10;                                     0 &amp;                           0 &amp;                          0 &amp;           \delta_{\sigma+} &amp; -\mathrm{i}\delta_{\sigma-} &amp; 0 &amp; 0 &amp; 0 \\&#10;                                     0 &amp;                           0 &amp;                          0 &amp; \mathrm{i}\delta_{\sigma-} &amp;            \delta_{\sigma+} &amp; 0 &amp; 0 &amp; 0 \\&#10;&#10;0 &amp; 0 &amp; 0 &amp; 0 &amp; 0 &amp; \delta_{\sigma_{0}\sigma_{1}}^{\sigma} &amp;                                      0 &amp;                                      0 \\&#10;0 &amp; 0 &amp; 0 &amp; 0 &amp; 0 &amp;                                      0 &amp; \delta_{\sigma_{0}\sigma_{1}}^{\sigma} &amp;                                      0 \\&#10;0 &amp; 0 &amp; 0 &amp; 0 &amp; 0 &amp;                                      0 &amp;                                      0 &amp; \delta_{\sigma_{0}\sigma_{1}}^{\sigma} \\&#10;\end{pmatrix}&#10;U^{\left(A^{\left(\sigma\right)}\right)}&#10;\end{equation*}&#10;&#10;\end{document}" title="IguanaTex Bitmap Display">
            <a:extLst>
              <a:ext uri="{FF2B5EF4-FFF2-40B4-BE49-F238E27FC236}">
                <a16:creationId xmlns:a16="http://schemas.microsoft.com/office/drawing/2014/main" id="{01384A0A-E5A0-4210-AFC2-215C4FBD3BE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360764" y="2390067"/>
            <a:ext cx="9470472" cy="2428921"/>
          </a:xfrm>
          <a:prstGeom prst="rect">
            <a:avLst/>
          </a:prstGeom>
          <a:ln>
            <a:noFill/>
          </a:ln>
        </p:spPr>
      </p:pic>
      <p:pic>
        <p:nvPicPr>
          <p:cNvPr id="18" name="Picture 17" descr="\documentclass{article}&#10;\usepackage{amsmath,bm,eufrak}&#10;\pagestyle{empty}&#10;\begin{document}&#10;&#10;\begin{align*}&#10;\delta_{s}^{\sigma}  &amp; = \frac{1 + \sigma s}{2} \\&#10;\end{align*}&#10;&#10;\end{document}" title="IguanaTex Bitmap Display">
            <a:extLst>
              <a:ext uri="{FF2B5EF4-FFF2-40B4-BE49-F238E27FC236}">
                <a16:creationId xmlns:a16="http://schemas.microsoft.com/office/drawing/2014/main" id="{8AC3894F-F9F5-41BA-8F36-AB1C774B3D2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565715" y="5347068"/>
            <a:ext cx="1060570" cy="41081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1683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Filtered potential involving perpendicular valleys</a:t>
            </a:r>
          </a:p>
        </p:txBody>
      </p:sp>
      <p:pic>
        <p:nvPicPr>
          <p:cNvPr id="7" name="Picture 6" descr="\documentclass{article}&#10;\usepackage{amsmath,bm,eufrak}&#10;\pagestyle{empty}&#10;\begin{document}&#10;&#10;\begin{equation*}&#10;V_{\perp}^{\left(A^{\left(\sigma\right)}\right)(\mathcal{W}_{0}\mathcal{W}_{1})}&#10;=&#10;\begin{pmatrix}&#10;2\delta_{\sigma_{0}\sigma_{1}}^{\sigma} &amp;                              0 &amp;                              0 &amp;                              0 &amp;                                0 &amp; 0 &amp; 0 &amp; 0 \\&#10;                                      0 &amp;            \phi_{+}^{(\sigma)} &amp;  \mathrm{i}\phi_{-}^{(\sigma)} &amp;                              0 &amp;                                0 &amp; 0 &amp; 0 &amp; 0 \\&#10;                                      0 &amp; -\mathrm{i}\phi_{-}^{(\sigma)} &amp;            \phi_{+}^{(\sigma)} &amp;                              0 &amp;                                0 &amp; 0 &amp; 0 &amp; 0 \\&#10;                                      0 &amp;                              0 &amp;                              0 &amp;           \phi_{+}^{(\sigma)*} &amp;  -\mathrm{i}\phi_{-}^{(\sigma)*} &amp; 0 &amp; 0 &amp; 0 \\&#10;                                      0 &amp;                              0 &amp;                              0 &amp; \mathrm{i}\phi_{-}^{(\sigma)*} &amp;             \phi_{s}^{(\sigma)*} &amp; 0 &amp; 0 &amp; 0 \\&#10;&#10;0 &amp; 0 &amp; 0 &amp; 0 &amp; 0 &amp; 0 &amp; 0 &amp; 0 \\&#10;0 &amp; 0 &amp; 0 &amp; 0 &amp; 0 &amp; 0 &amp; 0 &amp; 0 \\&#10;0 &amp; 0 &amp; 0 &amp; 0 &amp; 0 &amp; 0 &amp; 0 &amp; 0 \\&#10;\end{pmatrix}&#10;U^{\left(A^{\left(\sigma\right)}\right)}&#10;\end{equation*}&#10;&#10;\end{document}" title="IguanaTex Bitmap Display">
            <a:extLst>
              <a:ext uri="{FF2B5EF4-FFF2-40B4-BE49-F238E27FC236}">
                <a16:creationId xmlns:a16="http://schemas.microsoft.com/office/drawing/2014/main" id="{A5AF85A6-C4FA-430D-BA23-C93BF9B8899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763051" y="2139105"/>
            <a:ext cx="8665898" cy="2579790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\documentclass{article}&#10;\usepackage{amsmath,bm,eufrak}&#10;\pagestyle{empty}&#10;\begin{document}&#10;&#10;\begin{align*}&#10;\delta_{s}^{\sigma}  &amp; = \frac{1 + \sigma s}{2} \\&#10;                   \phi_{s}^{(\sigma)}  &amp; = \tau^{2} + \sigma s\tau = -\left(\frac{1+\sigma s}{2}\right) -\mathrm{i}\sqrt{3}\left(\frac{1-\sigma s}{2}\right) \\&#10;\end{align*}&#10;&#10;\end{document}" title="IguanaTex Bitmap Display">
            <a:extLst>
              <a:ext uri="{FF2B5EF4-FFF2-40B4-BE49-F238E27FC236}">
                <a16:creationId xmlns:a16="http://schemas.microsoft.com/office/drawing/2014/main" id="{A0702188-1DDE-4C72-A110-4CA43A8D8AA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973033" y="5347063"/>
            <a:ext cx="4245935" cy="977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8458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Filtered potential involving parallel valleys</a:t>
            </a:r>
          </a:p>
        </p:txBody>
      </p:sp>
      <p:pic>
        <p:nvPicPr>
          <p:cNvPr id="15" name="Picture 14" descr="\documentclass{article}&#10;\usepackage{amsmath,bm,eufrak}&#10;\pagestyle{empty}&#10;\begin{document}&#10;&#10;\begin{equation*}&#10;V_{\parallel}^{\left(T^{\left(\sigma\right)}\right)(\mathcal{W})_{01}}&#10;=&#10;\frac{1}{\sqrt{3}}&#10;\begin{pmatrix}&#10;0 &amp; 0 &amp; 0 &amp; 0 &amp; 0 &amp;           \delta_{\sigma_{0}\sigma_{1}}^{\sigma}U_{(x)} &amp;          \delta_{\sigma_{0}\sigma_{1}}^{\sigma}U_{(y)} &amp;   \delta_{\sigma_{0}\sigma_{1}}^{\sigma}U_{(z)} \\&#10;0 &amp; 0 &amp; 0 &amp; 0 &amp; 0 &amp;            \delta_{+\sigma_{1}}^{\sigma}\tau^{2}U_{(x)} &amp;              \delta_{+\sigma_{1}}^{\sigma}\tau U_{(y)} &amp;            \delta_{+\sigma_{1}}^{\sigma}U_{(z)} \\&#10;0 &amp; 0 &amp; 0 &amp; 0 &amp; 0 &amp; -\mathrm{i}\delta_{-\sigma_{1}}^{\sigma}\tau^{2}U_{(x)} &amp;   -\mathrm{i}\delta_{-\sigma_{1}}^{\sigma}\tau U_{(y)} &amp; -\mathrm{i}\delta_{-\sigma_{1}}^{\sigma}U_{(z)} \\&#10;0 &amp; 0 &amp; 0 &amp; 0 &amp; 0 &amp;               \delta_{+\sigma_{1}}^{\sigma}\tau U_{(x)} &amp;           \delta_{+\sigma_{1}}^{\sigma}\tau^{2}U_{(y)} &amp;            \delta_{+\sigma_{1}}^{\sigma}U_{(z)} \\&#10;0 &amp; 0 &amp; 0 &amp; 0 &amp; 0 &amp;     \mathrm{i}\delta_{-\sigma_{1}}^{\sigma}\tau U_{(x)} &amp; \mathrm{i}\delta_{-\sigma_{1}}^{\sigma}\tau^{2}U_{(y)} &amp;  \mathrm{i}\delta_{-\sigma_{1}}^{\sigma}U_{(z)} \\&#10;&#10;\delta_{\sigma_{0}\sigma_{1}}^{\sigma}U_{(x)} &amp;    \delta_{\sigma_{0}+}^{\sigma}\tau U_{(x)} &amp;    \mathrm{i}\delta_{\sigma_{0}-}^{\sigma}\tau U_{(x)} &amp; \delta_{\sigma_{0}+}^{\sigma}\tau^{2}U_{(x)} &amp; -\mathrm{i}\delta_{\sigma_{0}-}^{\sigma}\tau^{2}U_{(x)} &amp; 0 &amp; 0 &amp; 0 \\&#10;\delta_{\sigma_{0}\sigma_{1}}^{\sigma}U_{(y)} &amp; \delta_{\sigma_{0}+}^{\sigma}\tau^{2}U_{(y)} &amp; \mathrm{i}\delta_{\sigma_{0}-}^{\sigma}\tau^{2}U_{(y)} &amp;    \delta_{\sigma_{0}+}^{\sigma}\tau U_{(y)} &amp;    -\mathrm{i}\delta_{\sigma_{0}-}^{\sigma}\tau U_{(y)} &amp; 0 &amp; 0 &amp; 0 \\&#10;\delta_{\sigma_{0}\sigma_{1}}^{\sigma}U_{(z)} &amp;         \delta_{\sigma_{0}+}^{\sigma}U_{(z)} &amp;         \mathrm{i}\delta_{\sigma_{0}-}^{\sigma}U_{(z)} &amp;         \delta_{\sigma_{0}+}^{\sigma}U_{(z)} &amp;         -\mathrm{i}\delta_{\sigma_{0}-}^{\sigma}U_{(z)} &amp; 0 &amp; 0 &amp; 0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0C9290F7-B46C-4039-AEA4-8C603D88ED3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95162" y="3371847"/>
            <a:ext cx="11601677" cy="194316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4" name="Picture 3" descr="\documentclass{article}&#10;\usepackage{amsmath,bm,eufrak}&#10;\pagestyle{empty}&#10;\begin{document}&#10;&#10;\begin{align*}&#10;            U_{(x)} = U_{x,3}^{\left(T^{(\sigma)}\right)} \quad\quad&#10;            U_{(y)} = U_{y,3}^{\left(T^{(\sigma)}\right)} \quad\quad&#10;            U_{(z)} = U_{z}^{\left(T^{(\sigma)}\right)}   \quad\quad&#10;\delta_{s}^{\sigma} = \frac{1 + \sigma s}{2} \\&#10;\end{align*}&#10;&#10;\end{document}" title="IguanaTex Bitmap Display">
            <a:extLst>
              <a:ext uri="{FF2B5EF4-FFF2-40B4-BE49-F238E27FC236}">
                <a16:creationId xmlns:a16="http://schemas.microsoft.com/office/drawing/2014/main" id="{9EA293BA-BA1F-4CDC-B368-9B20D688F10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807622" y="2008188"/>
            <a:ext cx="6115956" cy="41203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1541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Inversion filtered potential involving perpendicular valleys</a:t>
            </a:r>
          </a:p>
        </p:txBody>
      </p:sp>
      <p:pic>
        <p:nvPicPr>
          <p:cNvPr id="9" name="Picture 8" descr="\documentclass{article}&#10;\usepackage{amsmath,bm,eufrak}&#10;\pagestyle{empty}&#10;\begin{document}&#10;&#10;\begin{equation*}&#10;V_{\perp}^{\left(T^{\left(\sigma\right)}\right)(\mathcal{W}_{0}\mathcal{W}_{1})}&#10;=&#10;\frac{1}{\sqrt{3}}&#10;\begin{pmatrix}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         2\delta_{\sigma_{0}\sigma_{1}}^{\sigma}U_{x} &amp;          2\delta_{\sigma_{0}\sigma_{1}}^{\sigma}U_{y,1} &amp;  2\delta_{\sigma_{0}\sigma_{1}}^{\sigma}U_{z,1} \\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           \tau^{2}\phi_{+\sigma_{1}}^{(\sigma)}U_{x} &amp;               \tau \phi_{+\sigma_{1}}^{(\sigma)}U_{y,1} &amp;            \phi_{+\sigma_{1}}^{(\sigma)}U_{z,1} \\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-\mathrm{i}\tau^{2}\phi_{-\sigma_{1}}^{(\sigma)}U_{x} &amp;    -\mathrm{i}\tau \phi_{-\sigma_{1}}^{(\sigma)}U_{y,1} &amp; -\mathrm{i}\phi_{-\sigma_{1}}^{(\sigma)}U_{z,1} \\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             \tau \phi_{+\sigma_{1}}^{(\sigma)*}U_{x} &amp;           \tau^{2}\phi_{+\sigma_{1}}^{(\sigma)*}U_{y,1} &amp;           \phi_{+\sigma_{1}}^{(\sigma)*}U_{z,1} \\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   \mathrm{i}\tau \phi_{-\sigma_{1}}^{(\sigma)*}U_{x} &amp; \mathrm{i}\tau^{2}\phi_{-\sigma_{1}}^{(\sigma)*}U_{y,1} &amp; \mathrm{i}\phi_{-\sigma_{1}}^{(\sigma)*}U_{z,1} \\&#10;2\delta_{\sigma_{0}\sigma_{1}}^{\sigma}U_{x,2} &amp;   \tau\phi_{\sigma_{0}+}^{(\sigma)}U_{x,2} &amp;   \tau\mathrm{i}\phi_{\sigma_{0}-}^{(\sigma)}U_{x,2} &amp; \tau^{2}\phi_{\sigma_{0}+}^{(\sigma)*}U_{x,2} &amp; -\mathrm{i}\tau^{2}\phi_{\sigma_{0}-}^{(\sigma)*}U_{x,2} &amp;                                                     0 &amp;                         \sigma\sigma_{0}\sigma_{1}U_{z} &amp;                                         U_{y,3} \\&#10;  2\delta_{\sigma_{0}\sigma_{1}}^{\sigma}U_{y} &amp; \tau^{2}\phi_{\sigma_{0}+}^{(\sigma)}U_{y} &amp; \tau^{2}\mathrm{i}\phi_{\sigma_{0}-}^{(\sigma)}U_{y} &amp;       \tau\phi_{\sigma_{0}+}^{(\sigma)*}U_{y} &amp;       -\mathrm{i}\tau\phi_{\sigma_{0}-}^{(\sigma)*}U_{y} &amp;                                                 U_{z} &amp;                                                       0 &amp;               \sigma\sigma_{0}\sigma_{1}U_{x,3} \\&#10;2\delta_{\sigma_{0}\sigma_{1}}^{\sigma}U_{z,2} &amp;       \phi_{\sigma_{0}+}^{(\sigma)}U_{z,2} &amp;       \mathrm{i}\phi_{\sigma_{0}-}^{(\sigma)}U_{z,2} &amp;         \phi_{\sigma_{0}+}^{(\sigma)*}U_{z,2} &amp;         -\mathrm{i}\phi_{\sigma_{0}-}^{(\sigma)*}U_{z,2} &amp;                     \sigma\sigma_{0}\sigma_{1}U_{y,3} &amp;                                               U_{x,3} &amp;                                                 0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C25C2A27-773B-42CB-9CCE-F5FF947C15B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89105" y="2425872"/>
            <a:ext cx="11813791" cy="2210132"/>
          </a:xfrm>
          <a:prstGeom prst="rect">
            <a:avLst/>
          </a:prstGeom>
          <a:ln>
            <a:noFill/>
          </a:ln>
        </p:spPr>
      </p:pic>
      <p:pic>
        <p:nvPicPr>
          <p:cNvPr id="5" name="Picture 4" descr="\documentclass{article}&#10;\usepackage{amsmath,bm,eufrak}&#10;\pagestyle{empty}&#10;\begin{document}&#10;&#10;\begin{align*}&#10;\delta_{s}^{\sigma} &amp; = \frac{1 + \sigma s}{2} \\&#10;\phi_{s}^{(\sigma)} &amp; = \tau^{2} + \sigma s\tau = -\left(\frac{1+\sigma s}{2}\right) -\mathrm{i}\sqrt{3}\left(\frac{1-\sigma s}{2}\right) \\&#10;\end{align*}&#10;&#10;\end{document}" title="IguanaTex Bitmap Display">
            <a:extLst>
              <a:ext uri="{FF2B5EF4-FFF2-40B4-BE49-F238E27FC236}">
                <a16:creationId xmlns:a16="http://schemas.microsoft.com/office/drawing/2014/main" id="{05C76FC8-FE5B-4AC0-9A57-2C5D3A7A38F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973033" y="5230521"/>
            <a:ext cx="4245934" cy="977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32740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Filtered potential involving parallel valleys</a:t>
            </a:r>
          </a:p>
        </p:txBody>
      </p:sp>
      <p:pic>
        <p:nvPicPr>
          <p:cNvPr id="31" name="Picture 30" descr="\documentclass{article}&#10;\usepackage{amsmath,bm,eufrak}&#10;\pagestyle{empty}&#10;\begin{document}&#10;&#10;\begin{equation*}&#10;V_{\parallel}^{\left(E\right)(\mathcal{W}_{0}\mathcal{W}_{1})}&#10;=&#10;\begin{pmatrix}&#10;0                           &amp; W_{2\sigma_{0}+}  &amp; \mathrm{i}W_{2\sigma_{0}-} &amp; W_{1\sigma_{0}+}            &amp; -\mathrm{i}W_{1\sigma_{0}-} &amp; 0 &amp; 0 &amp; 0 \\&#10;W_{1+\sigma_{1}}            &amp; 0                 &amp; 0                          &amp; W_{2++}                     &amp; -\mathrm{i}W_{2+-} &amp; 0 &amp; 0 &amp; 0 \\&#10;-\mathrm{i}W_{1-\sigma_{1}} &amp; 0                 &amp; 0                          &amp; -\mathrm{i}W_{2-+}          &amp; -W_{2--}           &amp; 0 &amp; 0 &amp; 0 \\&#10;W_{2+\sigma_{1}}            &amp; W_{1++}           &amp; \mathrm{i}W_{1+-}          &amp; 0                           &amp; 0                  &amp; 0 &amp; 0 &amp; 0 \\&#10;\mathrm{i}W_{2-\sigma_{1}}  &amp; \mathrm{i}W_{1-+} &amp; -W_{1--}                   &amp; 0                           &amp; 0                  &amp; 0 &amp; 0 &amp; 0 \\&#10;&#10;0 &amp; 0 &amp; 0 &amp; 0 &amp; 0 &amp; W_{x\sigma_{0}\sigma_{1}} &amp;                         0 &amp; 0                         \\&#10;0 &amp; 0 &amp; 0 &amp; 0 &amp; 0 &amp;                         0 &amp; W_{y\sigma_{0}\sigma_{1}} &amp; 0                         \\&#10;0 &amp; 0 &amp; 0 &amp; 0 &amp; 0 &amp;                         0 &amp;                         0 &amp; W_{z\sigma_{0}\sigma_{1}}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9FEC4412-9644-4F5D-8BC5-4F967D87802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69527" y="2364671"/>
            <a:ext cx="10652946" cy="2428917"/>
          </a:xfrm>
          <a:prstGeom prst="rect">
            <a:avLst/>
          </a:prstGeom>
          <a:ln>
            <a:noFill/>
          </a:ln>
        </p:spPr>
      </p:pic>
      <p:pic>
        <p:nvPicPr>
          <p:cNvPr id="33" name="Picture 32" descr="\documentclass{article}&#10;\usepackage{amsmath,bm,eufrak}&#10;\pagestyle{empty}&#10;\begin{document}&#10;&#10;\begin{align*}&#10;W_{1\sigma_{0}\sigma_{1}} &amp; = \frac{ U_{11} + \sigma_{0}\sigma_{1}U_{21} }{ 2 } \\&#10;W_{2\sigma_{0}\sigma_{1}} &amp; = \frac{ U_{22} + \sigma_{0}\sigma_{1}U_{12} }{ 2 } \\&#10;\end{align*}&#10;&#10;\end{document}" title="IguanaTex Bitmap Display">
            <a:extLst>
              <a:ext uri="{FF2B5EF4-FFF2-40B4-BE49-F238E27FC236}">
                <a16:creationId xmlns:a16="http://schemas.microsoft.com/office/drawing/2014/main" id="{93E5A01D-6A9E-42F3-A546-1DCD8C2315B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440234" y="5337105"/>
            <a:ext cx="2190621" cy="908190"/>
          </a:xfrm>
          <a:prstGeom prst="rect">
            <a:avLst/>
          </a:prstGeom>
          <a:ln>
            <a:noFill/>
          </a:ln>
        </p:spPr>
      </p:pic>
      <p:pic>
        <p:nvPicPr>
          <p:cNvPr id="27" name="Picture 26" descr="\documentclass{article}&#10;\usepackage{amsmath,bm,eufrak}&#10;\pagestyle{empty}&#10;\begin{document}&#10;&#10;\begin{align*}&#10;W_{x\sigma_{0}\sigma_{1}} &amp; = \tau W_{1\sigma_{0}\sigma_{1}} + \tau^{2}W_{2\sigma_{0}\sigma_{1}} \\&#10;W_{y\sigma_{0}\sigma_{1}} &amp; = \tau^{2}W_{1\sigma_{0}\sigma_{1}} + \tau W_{2\sigma_{0}\sigma_{1}} \\&#10;W_{z\sigma_{0}\sigma_{1}} &amp; = W_{1\sigma_{0}\sigma_{1}} + W_{2\sigma_{0}\sigma_{1}}              \\&#10;\end{align*}&#10;&#10;\end{document}" title="IguanaTex Bitmap Display">
            <a:extLst>
              <a:ext uri="{FF2B5EF4-FFF2-40B4-BE49-F238E27FC236}">
                <a16:creationId xmlns:a16="http://schemas.microsoft.com/office/drawing/2014/main" id="{DB363AF3-6695-476B-9FF4-A30E08672B6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071089" y="5359657"/>
            <a:ext cx="2680676" cy="86308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3632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Filtered potential involving perpendicular valleys</a:t>
            </a:r>
          </a:p>
        </p:txBody>
      </p:sp>
      <p:pic>
        <p:nvPicPr>
          <p:cNvPr id="41" name="Picture 40" descr="\documentclass{article}&#10;\usepackage{amsmath,bm,eufrak}&#10;\pagestyle{empty}&#10;\begin{document}&#10;&#10;\begin{equation*}&#10;V_{\perp}^{\left(E\right)(\mathcal{W}_{0}\mathcal{W}_{1})}&#10;=&#10;\begin{pmatrix}&#10;                          0 &amp;  -W_{2\sigma_{0}+} &amp; -\mathrm{i}W_{2\sigma_{0}-} &amp;   -W_{1\sigma_{0}+} &amp; \mathrm{i}W_{1\sigma_{0}-} &amp; 0 &amp; 0 &amp; 0 \\&#10;          -W_{1+\sigma_{1}} &amp;                  0 &amp;                           0 &amp;            2W_{2++} &amp;        -2\mathrm{i}W_{2+-} &amp; 0 &amp; 0 &amp; 0 \\&#10; \mathrm{i}W_{1-\sigma_{1}} &amp;                  0 &amp;                           0 &amp; -2\mathrm{i}W_{2+-} &amp;                  -2W_{2--} &amp; 0 &amp; 0 &amp; 0 \\&#10;          -W_{2+\sigma_{1}} &amp;           2W_{1++} &amp;          2\mathrm{i}W_{1+-} &amp;                   0 &amp;                          0 &amp; 0 &amp; 0 &amp; 0 \\&#10;-\mathrm{i}W_{2-\sigma_{1}} &amp; 2\mathrm{i}W_{1-+} &amp;                   -2W_{1--} &amp;                   0 &amp;                          0 &amp; 0 &amp; 0 &amp; 0 \\&#10;                          0 &amp;                  0 &amp;                           0 &amp;                   0 &amp;                          0 &amp; 0 &amp; 0 &amp; 0 \\&#10;                          0 &amp;                  0 &amp;                           0 &amp;                   0 &amp;                          0 &amp; 0 &amp; 0 &amp; 0 \\&#10;                          0 &amp;                  0 &amp;                           0 &amp;                   0 &amp;                          0 &amp; 0 &amp; 0 &amp; 0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010A2460-535C-4182-A050-6D1BB129EFA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516200" y="2214534"/>
            <a:ext cx="9159601" cy="2428923"/>
          </a:xfrm>
          <a:prstGeom prst="rect">
            <a:avLst/>
          </a:prstGeom>
          <a:ln>
            <a:noFill/>
          </a:ln>
        </p:spPr>
      </p:pic>
      <p:pic>
        <p:nvPicPr>
          <p:cNvPr id="29" name="Picture 28" descr="\documentclass{article}&#10;\usepackage{amsmath,bm,eufrak}&#10;\pagestyle{empty}&#10;\begin{document}&#10;&#10;\begin{align*}&#10;W_{1\sigma_{0}\sigma_{1}} &amp; = \frac{ U_{11} + \sigma_{0}\sigma_{1}U_{21} }{ 2 } \\&#10;W_{2\sigma_{0}\sigma_{1}} &amp; = \frac{ U_{22} + \sigma_{0}\sigma_{1}U_{12} }{ 2 } \\&#10;\end{align*}&#10;&#10;\end{document}" title="IguanaTex Bitmap Display">
            <a:extLst>
              <a:ext uri="{FF2B5EF4-FFF2-40B4-BE49-F238E27FC236}">
                <a16:creationId xmlns:a16="http://schemas.microsoft.com/office/drawing/2014/main" id="{4029B753-7004-4951-98C6-0BD9BF66339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000690" y="5121872"/>
            <a:ext cx="2190621" cy="90819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88515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8" y="2281159"/>
            <a:ext cx="8866632" cy="1597104"/>
          </a:xfrm>
        </p:spPr>
        <p:txBody>
          <a:bodyPr/>
          <a:lstStyle/>
          <a:p>
            <a:r>
              <a:rPr lang="en-US" dirty="0"/>
              <a:t>GENERAL MATRIX ELEMENT FORMULA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Finding a general form for the matrix element</a:t>
            </a:r>
          </a:p>
        </p:txBody>
      </p:sp>
    </p:spTree>
    <p:extLst>
      <p:ext uri="{BB962C8B-B14F-4D97-AF65-F5344CB8AC3E}">
        <p14:creationId xmlns:p14="http://schemas.microsoft.com/office/powerpoint/2010/main" val="2249009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General matrix element formula</a:t>
            </a:r>
          </a:p>
        </p:txBody>
      </p:sp>
      <p:pic>
        <p:nvPicPr>
          <p:cNvPr id="20" name="Picture 19" descr="\documentclass{article}&#10;\usepackage{amsmath,amssymb,bm}&#10;\pagestyle{empty}&#10;\begin{document}&#10;&#10;\begin{align*}&#10;\left(\bm{\mathcal{M}}\right)_{\left(mlkh\mathcal{W};\lambda\eta\right)_{01}}&#10;&amp; =&#10;\int \mathrm{d}\bm{r}\,&#10;U_{\left\{\bm{r}\right\}}&#10;\Psi_{\left(mlkh;\lambda\eta\right)_{1}}^{\left(\mathcal{W}_{1}W\kappa\right)*}&#10;\Psi_{\left(mlkh;\lambda\eta\right)_{2}}^{\left(\mathcal{W}_{2}W\kappa\right)}&#10;\\&#10;&amp; =&#10;\sum_{j}&#10;\left(&#10;\bm{\mathcal{M}}_{\parallel}&#10;+&#10;\bm{\mathcal{M}}_{\perp}&#10;\right)_{\left(mlkh\mathcal{W};\lambda\eta\right)_{01}}^{(j)}&#10;\\&#10;\left(\bm{\mathcal{M}}\right)_{\parallel\slash\perp\left(mlkh\mathcal{W};\lambda\eta\right)_{01}}^{(j)}&#10;&amp; =&#10;\int \mathrm{d}\bm{r}\,&#10;V_{\parallel\slash\perp,xyz}^{(j)(\mathcal{W})_{01}}\,&#10;\Psi_{\left(mlkh\mathcal{W};\lambda\eta\right)_{0}}^{\left(W\kappa\right)*}&#10;\Psi_{\left(mlkh\mathcal{W};\lambda\eta\right)_{1}}^{\left(W\kappa\right)}&#10;\\&#10;\end{align*}&#10;&#10;\end{document}" title="IguanaTex Bitmap Display">
            <a:extLst>
              <a:ext uri="{FF2B5EF4-FFF2-40B4-BE49-F238E27FC236}">
                <a16:creationId xmlns:a16="http://schemas.microsoft.com/office/drawing/2014/main" id="{0C0BDDCC-BF68-4420-B43E-2DF428DCD70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8570" y="2709750"/>
            <a:ext cx="7094860" cy="197029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734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Simplifying expressions using cyclic and acyclic symmetries</a:t>
            </a:r>
          </a:p>
        </p:txBody>
      </p:sp>
      <p:pic>
        <p:nvPicPr>
          <p:cNvPr id="18" name="Picture 17" descr="\documentclass{article}&#10;\usepackage{amsmath,amssymb,bm}&#10;\pagestyle{empty}&#10;\begin{document}&#10;&#10;\begin{align*}&#10;\left(\bm{\mathcal{M}}\right)_{\left(mlkh\mathcal{W};\lambda\eta\right)_{01}}&#10;&amp; =&#10;\int \mathrm{d}\bm{r}\,&#10;U_{\left\{\bm{r}\right\}}&#10;\Psi_{\left(mlkh;\lambda\eta\right)_{1}}^{\left(\mathcal{W}_{1}W\kappa\right)*}&#10;\Psi_{\left(mlkh;\lambda\eta\right)_{2}}^{\left(\mathcal{W}_{2}W\kappa\right)}&#10;\\&#10;&amp; =&#10;\sum_{j}&#10;\left(&#10;\bm{\mathcal{M}}_{\parallel}&#10;+&#10;\bm{\mathcal{M}}_{\perp}&#10;\right)_{\left(mlkh\mathcal{W};\lambda\eta\right)_{01}}^{(j)}&#10;\\&#10;\left(\bm{\mathcal{M}}\right)_{\parallel\slash\perp\left(mlkh\mathcal{W};\lambda\eta\right)_{01}}^{(j)}&#10;&amp; =&#10;\int \mathrm{d}\bm{r}\,&#10;V_{\parallel\slash\perp,xyz}^{(j)(\mathcal{W})_{01}}\,&#10;\Psi_{\left(mlkh\mathcal{W};\lambda\eta\right)_{0}}^{\left(W\kappa\right)*}&#10;\Psi_{\left(mlkh\mathcal{W};\lambda\eta\right)_{1}}^{\left(W\kappa\right)}&#10;\\&#10;&amp; =&#10;\sum_{j \in \Gamma\left(T_{d}\right)}&#10;\sum_{\kappa = 1}^{l_{j}}&#10;\sum_{\mu = 1}^{l_{j}}&#10;\mathfrak{q}_{\parallel\slash\perp,\mu\kappa}^{(j)(\mathcal{W})_{01}}&#10;\left(\bm{\mathcal{M}}\right)_{\mu\kappa\left(mlkh\mathcal{W};\lambda\eta\right)_{01}}^{(j)}&#10;\\&#10;\left(\bm{\mathcal{M}}\right)_{\mu\kappa\left(mlkh\mathcal{W};\lambda\eta\right)_{01}}^{(j)}&#10;&amp; = &#10;\int \mathrm{d}\bm{r}\,&#10;U^{(j)}_{\mu\kappa}&#10;\Psi_{\left(mlkh\mathcal{W};\lambda\eta\right)_{0}}^{\left(W\kappa\right)*}&#10;\Psi_{\left(mlkh\mathcal{W};\lambda\eta\right)_{1}}^{\left(W\kappa\right)}&#10;\\&#10;\end{align*}&#10;&#10;\end{document}" title="IguanaTex Bitmap Display">
            <a:extLst>
              <a:ext uri="{FF2B5EF4-FFF2-40B4-BE49-F238E27FC236}">
                <a16:creationId xmlns:a16="http://schemas.microsoft.com/office/drawing/2014/main" id="{714374DD-5741-4C74-8257-CCA9034C71C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473904" y="2091441"/>
            <a:ext cx="7244193" cy="361143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1270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7" y="3042137"/>
            <a:ext cx="9569366" cy="836126"/>
          </a:xfrm>
          <a:solidFill>
            <a:srgbClr val="005AC0"/>
          </a:solidFill>
        </p:spPr>
        <p:txBody>
          <a:bodyPr/>
          <a:lstStyle/>
          <a:p>
            <a:r>
              <a:rPr lang="en-US" dirty="0"/>
              <a:t>ODD </a:t>
            </a:r>
            <a:r>
              <a:rPr lang="en-US" dirty="0" err="1"/>
              <a:t>WaveFunctions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Integrals involving </a:t>
            </a:r>
            <a:r>
              <a:rPr lang="en-US" i="1" dirty="0" err="1"/>
              <a:t>wavefunctions</a:t>
            </a:r>
            <a:r>
              <a:rPr lang="en-US" i="1" dirty="0"/>
              <a:t> with m odd can be simplified</a:t>
            </a:r>
          </a:p>
        </p:txBody>
      </p:sp>
    </p:spTree>
    <p:extLst>
      <p:ext uri="{BB962C8B-B14F-4D97-AF65-F5344CB8AC3E}">
        <p14:creationId xmlns:p14="http://schemas.microsoft.com/office/powerpoint/2010/main" val="3766351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800F5-0CC5-49B0-86DA-A4E447BBB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42137"/>
            <a:ext cx="6638544" cy="836126"/>
          </a:xfrm>
        </p:spPr>
        <p:txBody>
          <a:bodyPr/>
          <a:lstStyle/>
          <a:p>
            <a:r>
              <a:rPr lang="en-US" dirty="0"/>
              <a:t>ODD, ODD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1826DF-A202-4E22-B1B1-ABFD8C5CCD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805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Filtered potential</a:t>
            </a:r>
          </a:p>
        </p:txBody>
      </p:sp>
      <p:pic>
        <p:nvPicPr>
          <p:cNvPr id="9" name="Picture 8" descr="\documentclass{article}&#10;\usepackage{amsmath,bm,eufrak}&#10;\pagestyle{empty}&#10;\begin{document}&#10;&#10;\begin{equation*}&#10;V_{\parallel}^{\left(A^{\left(\sigma\right)}\right)(\mathcal{W}_{0}\mathcal{W}_{1})}&#10;=&#10;\delta_{\sigma_{0}\sigma_{1}}^{\sigma}&#10;\begin{pmatrix}&#10;1 &amp; 0 &amp; 0 \\&#10;0 &amp; 1 &amp; 0 \\&#10;0 &amp; 0 &amp; 1 \\&#10;\end{pmatrix}&#10;U^{\left(A^{\left(\sigma\right)}\right)}&#10;\end{equation*}&#10;&#10;\end{document}" title="IguanaTex Bitmap Display">
            <a:extLst>
              <a:ext uri="{FF2B5EF4-FFF2-40B4-BE49-F238E27FC236}">
                <a16:creationId xmlns:a16="http://schemas.microsoft.com/office/drawing/2014/main" id="{A4983DEA-5838-40CF-BE83-622E9E07A32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769144" y="2016845"/>
            <a:ext cx="4653713" cy="911227"/>
          </a:xfrm>
          <a:prstGeom prst="rect">
            <a:avLst/>
          </a:prstGeom>
          <a:ln>
            <a:noFill/>
          </a:ln>
        </p:spPr>
      </p:pic>
      <p:pic>
        <p:nvPicPr>
          <p:cNvPr id="11" name="Picture 10" descr="\documentclass{article}&#10;\usepackage{amsmath,bm,eufrak}&#10;\pagestyle{empty}&#10;\begin{document}&#10;&#10;\begin{equation*}&#10;V_{\perp}^{\left(T^{\left(\sigma\right)}\right)(\mathcal{W}_{0}\mathcal{W}_{1})}&#10;=&#10;\frac{1}{\sqrt{3}}&#10;\begin{pmatrix}&#10;                                0 &amp;         \sigma\sigma_{0}\sigma_{1}U_{z} &amp;                           U_{y,3} \\&#10;                            U_{z} &amp;                                       0 &amp; \sigma\sigma_{0}\sigma_{1}U_{x,3} \\&#10;\sigma\sigma_{0}\sigma_{1}U_{y,3} &amp;                                 U_{x,3} &amp;                                 0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82274FAC-5A5E-44ED-A3D6-BF6634E3EBB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882286" y="5612452"/>
            <a:ext cx="6427428" cy="911238"/>
          </a:xfrm>
          <a:prstGeom prst="rect">
            <a:avLst/>
          </a:prstGeom>
          <a:ln>
            <a:noFill/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8E26748-57FE-4E4C-9D92-E3669BBE1D7B}"/>
              </a:ext>
            </a:extLst>
          </p:cNvPr>
          <p:cNvGrpSpPr/>
          <p:nvPr/>
        </p:nvGrpSpPr>
        <p:grpSpPr>
          <a:xfrm>
            <a:off x="613416" y="4247113"/>
            <a:ext cx="10965169" cy="911228"/>
            <a:chOff x="613415" y="3668597"/>
            <a:chExt cx="10965169" cy="911228"/>
          </a:xfrm>
        </p:grpSpPr>
        <p:pic>
          <p:nvPicPr>
            <p:cNvPr id="19" name="Picture 18" descr="\documentclass{article}&#10;\usepackage{amsmath,amssymb,bm}&#10;\pagestyle{empty}&#10;\begin{document}&#10;&#10;\begin{equation*}&#10;V_{\parallel}^{\left(E\right)(\mathcal{W}_{0}\mathcal{W}_{1})}&#10;=&#10;\begin{pmatrix}&#10;W_{x\sigma_{0}\sigma_{1}} &amp;                         0 &amp; 0                         \\&#10;                        0 &amp; W_{y\sigma_{0}\sigma_{1}} &amp; 0                         \\&#10;                        0 &amp;                         0 &amp; W_{z\sigma_{0}\sigma_{1}} \\&#10;\end{pmatrix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8FFA78D6-91D3-4DCB-9447-7652ADCA016F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613415" y="3668597"/>
              <a:ext cx="4867042" cy="91122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4" name="Picture 13" descr="\documentclass{article}&#10;\usepackage{amsmath,bm,eufrak}&#10;\pagestyle{empty}&#10;\begin{document}&#10;&#10;\begin{align*}&#10;W_{1\sigma_{0}\sigma_{1}} &amp; = \frac{ U_{11} + \sigma_{0}\sigma_{1}U_{21} }{ 2 } \\&#10;W_{2\sigma_{0}\sigma_{1}} &amp; = \frac{ U_{22} + \sigma_{0}\sigma_{1}U_{12} }{ 2 } \\&#10;\end{align*}&#10;&#10;\end{document}" title="IguanaTex Bitmap Display">
              <a:extLst>
                <a:ext uri="{FF2B5EF4-FFF2-40B4-BE49-F238E27FC236}">
                  <a16:creationId xmlns:a16="http://schemas.microsoft.com/office/drawing/2014/main" id="{2BCEC483-C3C3-4E0C-AAEE-F42C5F5A6042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9387963" y="3670116"/>
              <a:ext cx="2190621" cy="90819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6" name="Picture 15" descr="\documentclass{article}&#10;\usepackage{amsmath,bm,eufrak}&#10;\pagestyle{empty}&#10;\begin{document}&#10;&#10;\begin{align*}&#10;W_{x\sigma_{0}\sigma_{1}} &amp; = \tau W_{1\sigma_{0}\sigma_{1}} + \tau^{2}W_{2\sigma_{0}\sigma_{1}} \\&#10;W_{y\sigma_{0}\sigma_{1}} &amp; = \tau^{2}W_{1\sigma_{0}\sigma_{1}} + \tau W_{2\sigma_{0}\sigma_{1}} \\&#10;W_{z\sigma_{0}\sigma_{1}} &amp; = W_{1\sigma_{0}\sigma_{1}} + W_{2\sigma_{0}\sigma_{1}}              \\&#10;\end{align*}&#10;&#10;\end{document}" title="IguanaTex Bitmap Display">
              <a:extLst>
                <a:ext uri="{FF2B5EF4-FFF2-40B4-BE49-F238E27FC236}">
                  <a16:creationId xmlns:a16="http://schemas.microsoft.com/office/drawing/2014/main" id="{EC316FB5-397C-44BB-9C14-C908CC2A520B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6093872" y="3692668"/>
              <a:ext cx="2680676" cy="863086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5" name="Picture 4" descr="\documentclass{article}&#10;\usepackage{amsmath,bm,eufrak}&#10;\pagestyle{empty}&#10;\begin{document}&#10;&#10;\begin{align*}&#10;\delta_{s}^{\sigma}  &amp; = \frac{1 + \sigma s}{2} \\&#10;\end{align*}&#10;&#10;\end{document}" title="IguanaTex Bitmap Display">
            <a:extLst>
              <a:ext uri="{FF2B5EF4-FFF2-40B4-BE49-F238E27FC236}">
                <a16:creationId xmlns:a16="http://schemas.microsoft.com/office/drawing/2014/main" id="{04E096CB-5026-4CC7-BD95-7F2DC0F3981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5565715" y="3382184"/>
            <a:ext cx="1060570" cy="410819"/>
          </a:xfrm>
          <a:prstGeom prst="rect">
            <a:avLst/>
          </a:prstGeom>
          <a:ln>
            <a:noFill/>
          </a:ln>
        </p:spPr>
      </p:pic>
      <p:pic>
        <p:nvPicPr>
          <p:cNvPr id="10" name="Picture 9" descr="\documentclass{article}&#10;\usepackage{amsmath,bm,eufrak}&#10;\pagestyle{empty}&#10;\begin{document}&#10;&#10;\begin{align*}&#10;\delta_{s}^{\sigma}  &amp; = \frac{1 + \sigma s}{2} \\&#10;\end{align*}&#10;&#10;\end{document}" title="IguanaTex Bitmap Display">
            <a:extLst>
              <a:ext uri="{FF2B5EF4-FFF2-40B4-BE49-F238E27FC236}">
                <a16:creationId xmlns:a16="http://schemas.microsoft.com/office/drawing/2014/main" id="{0E01B1D8-73B3-4CA2-B387-C65D99472EC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5794896" y="-2196732"/>
            <a:ext cx="1060570" cy="41081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54337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i="1" dirty="0"/>
              <a:t>m</a:t>
            </a:r>
            <a:r>
              <a:rPr lang="en-US" i="1" baseline="-25000" dirty="0"/>
              <a:t>0</a:t>
            </a:r>
            <a:r>
              <a:rPr lang="en-US" dirty="0"/>
              <a:t> odd, </a:t>
            </a:r>
            <a:r>
              <a:rPr lang="en-US" i="1" dirty="0"/>
              <a:t>m</a:t>
            </a:r>
            <a:r>
              <a:rPr lang="en-US" i="1" baseline="-25000" dirty="0"/>
              <a:t>1</a:t>
            </a:r>
            <a:r>
              <a:rPr lang="en-US" dirty="0"/>
              <a:t> odd – Expanding odd wavefunction</a:t>
            </a:r>
          </a:p>
        </p:txBody>
      </p:sp>
      <p:pic>
        <p:nvPicPr>
          <p:cNvPr id="19" name="Picture 18" descr="\documentclass{article}&#10;\usepackage{amsmath,bm,eufrak}&#10;\pagestyle{empty}&#10;\begin{document}&#10;&#10;\begin{align*}&#10;(\bm{\mathcal{M}})_{\perp\left(mhlkT_{q}^{(\sigma)}\right)_{01}}^{(j)}&#10;&amp; =&#10;\int\mathrm{d}\bm{r}\,&#10;V^{(j)\left(T_{q}^{(\sigma)}\right)_{01}}_{\perp}\,&#10;\Psi_{\left(mlkhT_{q}^{(\sigma)};\lambda\eta\right)_{0}}^{\left(W\kappa_{0}y\right)*}&#10;\Psi_{\left(mlkhT_{q}^{(\sigma)};\lambda\eta\right)_{1}}^{\left(W\kappa_{1}x\right)}&#10;\\&#10;&amp; =&#10;\int\mathrm{d}\bm{r}\,&#10;V^{(j)\left(T_{q}^{(\sigma)}\right)_{01}}_{\perp}\,&#10;\left(\frac{&#10;\Phi_{(mhlk)_{0}}^{\left(W\kappa_{0}z\right)}\Theta_{\Omega_{0}}^{(z)}&#10;- \zeta_{0}\Phi_{(m\bar{h}lk)_{0}}^{\left(W\kappa_{0}x\right)}\Theta_{\Omega_{0}}^{(x)}&#10;}{\sqrt{2}}&#10;\right)^{*}&#10;\left(\frac{&#10;\Phi_{(mhlk)_{1}}^{\left(W\kappa_{1}y\right)}\Theta_{\Omega_{1}}^{(y)}&#10;- \zeta_{1}\Phi_{(m\bar{h}lk)_{1}}^{\left(W\kappa_{1}z\right)}\Theta_{\Omega_{1}}^{(z)}&#10;}{\sqrt{2}}&#10;\right)&#10;\\&#10;&amp; =&#10;\frac{1}{2}\left(&#10;\bm{\mathcal{M}}^{(-z,-y)}&#10;+\zeta_{0}^{*}\zeta_{1}\bm{\mathcal{M}}^{(+x,+z)}&#10;-\zeta_{0}^{*}\bm{\mathcal{M}}^{(+x,-y)}&#10;-\zeta_{1}\bm{\mathcal{M}}^{(-z,+z)}&#10;\right)&#10;^{(j)\left(T_{q}^{(\sigma)}\right)_{01}}&#10;_{\perp\left(mhlk\right)_{01}}&#10;\end{align*}&#10;&#10;\end{document}" title="IguanaTex Bitmap Display">
            <a:extLst>
              <a:ext uri="{FF2B5EF4-FFF2-40B4-BE49-F238E27FC236}">
                <a16:creationId xmlns:a16="http://schemas.microsoft.com/office/drawing/2014/main" id="{1DDF9735-60AE-4C8F-8401-55B61ED96AF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271006" y="4008357"/>
            <a:ext cx="9649989" cy="192610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3" name="Picture 12" descr="\documentclass{article}&#10;\usepackage{amsmath,bm,eufrak}&#10;\pagestyle{empty}&#10;\begin{document}&#10;&#10;\begin{align*}&#10;(\bm{\mathcal{M}})_{\parallel\left(mhlkT_{q}^{(\sigma)}\right)_{01}}^{(j)}&#10;&amp; =&#10;\int\mathrm{d}\bm{r}\,&#10;V^{(j)\left(T_{q}^{(\sigma)}\right)_{01}}_{\parallel}&#10;\Psi_{\left(mhlkT_{q}^{(\sigma)};\lambda\eta\right)_{0}}^{\left(W\kappa z\right)*}&#10;\Psi_{\left(mhlkT_{q}^{(\sigma)};\lambda\eta\right)_{1}}^{\left(W\kappa z\right)}&#10;\\&#10;&amp; =&#10;\int\mathrm{d}\bm{r}\,&#10;V^{(j)\left(T_{q}^{(\sigma)}\right)_{01}}_{\parallel}&#10;\left(\frac{&#10;\Phi_{(mhlk)_{0}}^{\left(W\kappa_{0}x\right)}\Theta_{\Omega_{0}}^{(x)}&#10;- \zeta_{0}\Phi_{(m\bar{h}lk)_{0}}^{\left(W\kappa_{1}y\right)}\Theta_{\Omega_{0}}^{(y)}&#10;}{\sqrt{2}}&#10;\right)^{*}&#10;\left(\frac{&#10;\Phi_{(mhlk)_{1}}^{\left(W\kappa_{1}x\right)}\Theta_{\Omega_{1}}^{(x)}&#10;- \zeta_{1}\Phi_{(m\bar{h}lk)_{1}}^{\left(W\kappa_{1}y\right)}\Theta_{\Omega_{1}}^{(y)}&#10;}{\sqrt{2}}&#10;\right)&#10;\\&#10;&amp; =&#10;\frac{1}{2}\left(&#10;\bm{\mathcal{M}}^{(-x,-x)}&#10;+\zeta_{0}^{*}\zeta_{1}\bm{\mathcal{M}}^{(+y,+y)}&#10;-\zeta_{0}^{*}\bm{\mathcal{M}}^{(+y,-x)}&#10;-\zeta_{1}\bm{\mathcal{M}}^{(-x,+y)}&#10;\right)&#10;^{(j)\left(T_{q}^{(\sigma)}\right)_{01}}&#10;_{\parallel\left(mhlk\right)_{01}}&#10;\\&#10;\end{align*}&#10;&#10;\end{document}" title="IguanaTex Bitmap Display">
            <a:extLst>
              <a:ext uri="{FF2B5EF4-FFF2-40B4-BE49-F238E27FC236}">
                <a16:creationId xmlns:a16="http://schemas.microsoft.com/office/drawing/2014/main" id="{F4F438EA-D4A6-434F-8525-D1C9EB14F8E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303314" y="1905369"/>
            <a:ext cx="9585373" cy="1926102"/>
          </a:xfrm>
          <a:prstGeom prst="rect">
            <a:avLst/>
          </a:prstGeom>
          <a:ln>
            <a:noFill/>
          </a:ln>
        </p:spPr>
      </p:pic>
      <p:pic>
        <p:nvPicPr>
          <p:cNvPr id="45" name="Picture 44" descr="\documentclass{article}&#10;\usepackage{amsmath,amssymb,bm}&#10;\pagestyle{empty}&#10;\begin{document}&#10;&#10;\begin{equation*}&#10;\zeta = h\sigma\mathrm{i}^{m} \quad\quad \Omega = h\left(-1\right)^{l}&#10;\end{equation*}&#10;&#10;\end{document}" title="IguanaTex Bitmap Display">
            <a:extLst>
              <a:ext uri="{FF2B5EF4-FFF2-40B4-BE49-F238E27FC236}">
                <a16:creationId xmlns:a16="http://schemas.microsoft.com/office/drawing/2014/main" id="{73DBC6AE-A827-4B3E-8189-CD444418873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034295" y="1408513"/>
            <a:ext cx="2241829" cy="251124"/>
          </a:xfrm>
          <a:prstGeom prst="rect">
            <a:avLst/>
          </a:prstGeom>
          <a:ln>
            <a:noFill/>
          </a:ln>
        </p:spPr>
      </p:pic>
      <p:pic>
        <p:nvPicPr>
          <p:cNvPr id="7" name="Picture 6" descr="\documentclass{article}&#10;\usepackage{amsmath,bm,eufrak}&#10;\pagestyle{empty}&#10;\begin{document}&#10;&#10;\begin{align*}&#10;\left(\bm{\mathcal{M}}\right)&#10;^{(j)\left(T_{q}^{(\sigma)}\right)_{01}(s_{0}p_{0},s_{1}p_{1})}&#10;_{\parallel\slash\perp,\hat{R}(mhlk)_{01}}&#10;&amp; =&#10;\int\mathrm{d}\bm{r}\,&#10;V^{(j)\left(T_{q}^{(\sigma)}\right)_{01}}_{\parallel\slash\perp,\hat{R}}&#10;\left(\Phi_{(m(-s_{0}h_{0})lk)_{0}}^{\left(W\kappa_{0}p_{0}\right)}&#10;\Theta_{h_{0}\left(-1\right)^{l_{0}}}^{(p_{0})}\right)^{*}&#10;\Phi_{(m(-s_{1}h_{1})lk)_{1}}^{\left(W\kappa_{1}p_{1}\right)}&#10;\Theta_{h_{1}\left(-1\right)^{l_{1}}}^{(p_{1})}&#10;\\&#10;\end{align*}&#10;&#10;\end{document}" title="IguanaTex Bitmap Display">
            <a:extLst>
              <a:ext uri="{FF2B5EF4-FFF2-40B4-BE49-F238E27FC236}">
                <a16:creationId xmlns:a16="http://schemas.microsoft.com/office/drawing/2014/main" id="{43E6ED46-F83C-42AC-A9D5-C1A3F8CC3D0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957332" y="6111364"/>
            <a:ext cx="8277339" cy="457143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67825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i="1" dirty="0"/>
              <a:t>m</a:t>
            </a:r>
            <a:r>
              <a:rPr lang="en-US" i="1" baseline="-25000" dirty="0"/>
              <a:t>0</a:t>
            </a:r>
            <a:r>
              <a:rPr lang="en-US" dirty="0"/>
              <a:t> odd, </a:t>
            </a:r>
            <a:r>
              <a:rPr lang="en-US" i="1" dirty="0"/>
              <a:t>m</a:t>
            </a:r>
            <a:r>
              <a:rPr lang="en-US" i="1" baseline="-25000" dirty="0"/>
              <a:t>1</a:t>
            </a:r>
            <a:r>
              <a:rPr lang="en-US" dirty="0"/>
              <a:t> odd – Simplifying using symmetry transformations</a:t>
            </a:r>
          </a:p>
        </p:txBody>
      </p:sp>
      <p:pic>
        <p:nvPicPr>
          <p:cNvPr id="23" name="Picture 22" descr="\documentclass{article}&#10;\usepackage{amsmath,bm,eufrak}&#10;\pagestyle{empty}&#10;\begin{document}&#10;&#10;\begin{align*}&#10;(\bm{\mathcal{M}})_{\parallel\left(mhlkT_{q}^{(\sigma)}\right)_{01}}^{(j)}&#10;&amp; =&#10;\frac{1}{2}\left(&#10;\bm{\mathcal{M}}^{(-x,-x)}&#10;+\zeta_{0}^{*}\zeta_{1}\bm{\mathcal{M}}^{(+y,+y)}&#10;-\zeta_{0}^{*}\bm{\mathcal{M}}^{(+y,-x)}&#10;-\zeta_{1}\bm{\mathcal{M}}^{(-x,+y)}&#10;\right)&#10;_{\parallel(mhlk)_{01}}&#10;^{(j)\left(T_{q}^{(\sigma)}\right)_{01}}&#10;\\&#10;&amp; =&#10;\frac{1}{2}\left(&#10;\bm{\mathcal{M}}^{(-z,-z)}_{zxy}&#10;+&#10;\left(+\zeta_{0}^{*}\sigma_{0}\right)&#10;\left(+\zeta_{1}\sigma_{1}\right)&#10;\zeta_{0}^{*}\zeta_{1}&#10;\bm{\mathcal{M}}^{(-z,-z)}_{xzy}&#10;-&#10;\zeta_{0}^{*}&#10;\bm{\mathcal{M}}^{(+y,-x)}_{xyz}&#10;-&#10;\left(-\zeta_{0}^{*}\sigma_{0}\right)&#10;\left(+\zeta_{1}\sigma_{1}\right)&#10;\zeta_{1}&#10;\bm{\mathcal{M}}^{(+y,-x)}_{yxz}&#10;\right)&#10;_{\parallel(mhlk)_{01}}&#10;^{(j)\left(T_{q}^{(\sigma)}\right)_{01}}&#10;\\&#10;&amp; =&#10;\frac{1}{2}\left(&#10;\bm{\mathcal{M}}^{(-z,-z)}_{zxy}&#10;+&#10;\left(\sigma_{0}\sigma_{1}\right)&#10;\sigma_{0}\sigma_{1}&#10;\bm{\mathcal{M}}^{(-z,-z)}_{zxy}&#10;-&#10;\zeta_{0}^{*}&#10;\bm{\mathcal{M}}^{(+y,-x)}_{xyz}&#10;-&#10;\left(\sigma_{0}\sigma_{1}\right)&#10;\zeta_{0}^{*}\sigma_{0}\sigma_{1}&#10;\bm{\mathcal{M}}^{(+y,-x)}_{xyz}&#10;\right)&#10;_{\parallel(mhlk)_{01}}&#10;^{(j)\left(T_{q}^{(\sigma)}\right)_{01}}&#10;\\&#10;&amp; =&#10;\left(&#10;\bm{\mathcal{M}}^{(-z,-z)}_{zxy}&#10;+&#10;\zeta_{0}\bm{\mathcal{M}}^{(+y,-x)}_{xyz}&#10;\right)&#10;_{\parallel(mhlk)_{01}}&#10;^{(j)\left(T_{q}^{(\sigma)}\right)_{01}}&#10;\\&#10;\end{align*}&#10;&#10;\end{document}" title="IguanaTex Bitmap Display">
            <a:extLst>
              <a:ext uri="{FF2B5EF4-FFF2-40B4-BE49-F238E27FC236}">
                <a16:creationId xmlns:a16="http://schemas.microsoft.com/office/drawing/2014/main" id="{01E7CEB0-8EF6-495F-878B-4AFC9985016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04572" y="1765480"/>
            <a:ext cx="10382857" cy="2138289"/>
          </a:xfrm>
          <a:prstGeom prst="rect">
            <a:avLst/>
          </a:prstGeom>
          <a:ln>
            <a:noFill/>
          </a:ln>
        </p:spPr>
      </p:pic>
      <p:pic>
        <p:nvPicPr>
          <p:cNvPr id="29" name="Picture 28" descr="\documentclass{article}&#10;\usepackage{amsmath,bm,eufrak}&#10;\pagestyle{empty}&#10;\begin{document}&#10;&#10;\begin{align*}&#10;(\bm{\mathcal{M}})_{\perp\left(mhlkT_{q}^{(\sigma)}\right)_{01}}^{(j)}&#10;&amp; =&#10;\frac{1}{2}\left(&#10;\bm{\mathcal{M}}^{(-z,-y)}_{xyz}&#10;+\zeta_{0}^{*}\zeta_{1}\bm{\mathcal{M}}^{(+x,+z)}_{xyz}&#10;-\zeta_{0}^{*}\bm{\mathcal{M}}^{(+x,-y)}_{xyz}&#10;-\zeta_{1}\bm{\mathcal{M}}^{(-z,+z)}_{xyz}&#10;\right)&#10;_{\perp(mlkh)_{01}}&#10;^{(j)\left(T_{q}^{(\sigma)}\right)_{01}}&#10;\\&#10;&amp; =&#10;\frac{1}{2}\left(&#10;\bm{\mathcal{M}}^{(-y,-x)}_{zxy}&#10;+&#10;\zeta_{0}^{*}\zeta_{1}\bm{\mathcal{M}}^{(+y,+x)}_{yzx}&#10;-&#10;\left(+\zeta_{0}^{*}\sigma_{0}\right)&#10;\left(-\zeta_{1}\sigma_{1}\right)&#10;\zeta_{0}^{*}&#10;\bm{\mathcal{M}}^{(-y,+x)}_{yxz}&#10;-&#10;\left(-\zeta_{0}^{*}\sigma_{0}\right)&#10;\left(+\zeta_{1}\sigma_{1}\right)&#10;\zeta_{1}&#10;\bm{\mathcal{M}}^{(+z,-z)}_{yxz}&#10;\right)&#10;_{\perp(mlkh)_{01}}&#10;^{(j)\left(T_{q}^{(\sigma)}\right)_{01}}&#10;\\&#10;&amp; =&#10;\frac{1}{2}\left(&#10;\bm{\mathcal{M}}^{(-y,-x)}_{zxy}&#10;-&#10;\zeta_{0}\zeta_{1}\bm{\mathcal{M}}^{(+y,+x)}_{yzx}&#10;+&#10;\zeta_{0}\sigma_{0}\sigma_{1}\left(\sigma_{0}\sigma_{1}\right)\bm{\mathcal{M}}^{(+z,-z)}_{xyz}&#10;-&#10;\zeta_{1}\sigma_{0}\sigma_{1}\left(\sigma_{0}\sigma_{1}\right)\bm{\mathcal{M}}^{(-y,+x)}_{xyz}&#10;\right)&#10;_{\perp(mlkh)_{01}}&#10;^{(j)\left(T_{q}^{(\sigma)}\right)_{01}}&#10;\\&#10;&amp; =&#10;\frac{1}{2}\left(&#10;\bm{\mathcal{M}}^{(-y,-x)}_{zxy}&#10;-&#10;\zeta_{0}\zeta_{1}\bm{\mathcal{M}}^{(+y,+x)}_{yzx}&#10;+&#10;\zeta_{0}\bm{\mathcal{M}}^{(+z,-z)}_{xyz}&#10;-&#10;\zeta_{1}\bm{\mathcal{M}}^{(-y,+x)}_{xyz}&#10;\right)&#10;_{\perp(mlkh)_{01}}&#10;^{(j)\left(T_{q}^{(\sigma)}\right)_{01}}&#10;\\&#10;\end{align*}&#10;\end{document}" title="IguanaTex Bitmap Display">
            <a:extLst>
              <a:ext uri="{FF2B5EF4-FFF2-40B4-BE49-F238E27FC236}">
                <a16:creationId xmlns:a16="http://schemas.microsoft.com/office/drawing/2014/main" id="{7999E013-1355-4EC4-B3E7-38618E67B3E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228272" y="4059471"/>
            <a:ext cx="9735457" cy="1995733"/>
          </a:xfrm>
          <a:prstGeom prst="rect">
            <a:avLst/>
          </a:prstGeom>
          <a:ln>
            <a:noFill/>
          </a:ln>
        </p:spPr>
      </p:pic>
      <p:pic>
        <p:nvPicPr>
          <p:cNvPr id="4" name="Picture 3" descr="\documentclass{article}&#10;\usepackage{amsmath,bm,eufrak}&#10;\pagestyle{empty}&#10;\begin{document}&#10;&#10;\begin{align*}&#10;\left(\bm{\mathcal{M}}\right)&#10;^{(j)\left(T_{q}^{(\sigma)}\right)_{01}(s_{0}p_{0},s_{1}p_{1})}&#10;_{\parallel\slash\perp,\hat{R}(mhlk)_{01}}&#10;&amp; =&#10;\int\mathrm{d}\bm{r}\,&#10;V^{(j)\left(T_{q}^{(\sigma)}\right)_{01}}_{\parallel\slash\perp,\hat{R}}&#10;\left(\Phi_{(m(-s_{0}h_{0})lk)_{0}}^{\left(W\kappa_{0}p_{0}\right)}&#10;\Theta_{h_{0}\left(-1\right)^{l_{0}}}^{(p_{0})}\right)^{*}&#10;\Phi_{(m(-s_{1}h_{1})lk)_{1}}^{\left(W\kappa_{1}p_{1}\right)}&#10;\Theta_{h_{1}\left(-1\right)^{l_{1}}}^{(p_{1})}&#10;\\&#10;\end{align*}&#10;&#10;\end{document}" title="IguanaTex Bitmap Display">
            <a:extLst>
              <a:ext uri="{FF2B5EF4-FFF2-40B4-BE49-F238E27FC236}">
                <a16:creationId xmlns:a16="http://schemas.microsoft.com/office/drawing/2014/main" id="{7F8D90A1-39D7-4C0F-A88F-81BC81087D7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957332" y="6111364"/>
            <a:ext cx="8277339" cy="457143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11606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800F5-0CC5-49B0-86DA-A4E447BBB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42137"/>
            <a:ext cx="6638544" cy="836126"/>
          </a:xfrm>
        </p:spPr>
        <p:txBody>
          <a:bodyPr/>
          <a:lstStyle/>
          <a:p>
            <a:r>
              <a:rPr lang="en-US" dirty="0"/>
              <a:t>EVEN, ODD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1826DF-A202-4E22-B1B1-ABFD8C5CCD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6068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Filtered potential</a:t>
            </a:r>
          </a:p>
        </p:txBody>
      </p:sp>
      <p:pic>
        <p:nvPicPr>
          <p:cNvPr id="9" name="Picture 8" descr="\documentclass{article}&#10;\usepackage{amsmath,bm,eufrak}&#10;\pagestyle{empty}&#10;\begin{document}&#10;&#10;\begin{equation*}&#10;V_{\parallel}^{\left(A^{\left(\sigma\right)}\right)(\mathcal{W})_{01}}&#10;=&#10;\delta_{\sigma_{0}\sigma_{1}}^{\sigma}\delta_{\mathcal{W}_{0}T}\delta_{\mathcal{W}_{1}T}&#10;\begin{pmatrix}&#10;1 &amp; 0 &amp; 0 \\&#10;0 &amp; 1 &amp; 0 \\&#10;0 &amp; 0 &amp; 1 \\&#10;\end{pmatrix}&#10;U^{\left(A^{\left(\sigma\right)}\right)}&#10;\end{equation*}&#10;&#10;\end{document}" title="IguanaTex Bitmap Display">
            <a:extLst>
              <a:ext uri="{FF2B5EF4-FFF2-40B4-BE49-F238E27FC236}">
                <a16:creationId xmlns:a16="http://schemas.microsoft.com/office/drawing/2014/main" id="{E21AE454-ADF5-47EB-8E6F-4238D7836F5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197717" y="2016847"/>
            <a:ext cx="5598471" cy="911227"/>
          </a:xfrm>
          <a:prstGeom prst="rect">
            <a:avLst/>
          </a:prstGeom>
          <a:ln>
            <a:noFill/>
          </a:ln>
        </p:spPr>
      </p:pic>
      <p:pic>
        <p:nvPicPr>
          <p:cNvPr id="11" name="Picture 10" descr="\documentclass{article}&#10;\usepackage{amsmath,amssymb,bm}&#10;\pagestyle{empty}&#10;\begin{document}&#10;&#10;\begin{equation*}&#10;V_{\parallel}^{\left(E\right)(\mathcal{W}_{0}\mathcal{W}_{1})}&#10;=&#10;\delta_{\mathcal{W}_{0}T}\delta_{\mathcal{W}_{1}T}&#10;\begin{pmatrix}&#10;W_{x\sigma_{0}\sigma_{1}} &amp;                         0 &amp; 0                         \\&#10;                        0 &amp; W_{y\sigma_{0}\sigma_{1}} &amp; 0                         \\&#10;                        0 &amp;                         0 &amp; W_{z\sigma_{0}\sigma_{1}}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CEFB89B3-3032-4A64-9255-61872F88526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080385" y="4226899"/>
            <a:ext cx="6052564" cy="911228"/>
          </a:xfrm>
          <a:prstGeom prst="rect">
            <a:avLst/>
          </a:prstGeom>
          <a:ln>
            <a:noFill/>
          </a:ln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A3FD2E52-B37C-4AF1-B9B3-6A3B49B7E7D1}"/>
              </a:ext>
            </a:extLst>
          </p:cNvPr>
          <p:cNvGrpSpPr/>
          <p:nvPr/>
        </p:nvGrpSpPr>
        <p:grpSpPr>
          <a:xfrm>
            <a:off x="3353644" y="5582132"/>
            <a:ext cx="5484712" cy="908190"/>
            <a:chOff x="6093873" y="4248632"/>
            <a:chExt cx="5484712" cy="908190"/>
          </a:xfrm>
        </p:grpSpPr>
        <p:pic>
          <p:nvPicPr>
            <p:cNvPr id="14" name="Picture 13" descr="\documentclass{article}&#10;\usepackage{amsmath,bm,eufrak}&#10;\pagestyle{empty}&#10;\begin{document}&#10;&#10;\begin{align*}&#10;W_{1\sigma_{0}\sigma_{1}} &amp; = \frac{ U_{11} + \sigma_{0}\sigma_{1}U_{21} }{ 2 } \\&#10;W_{2\sigma_{0}\sigma_{1}} &amp; = \frac{ U_{22} + \sigma_{0}\sigma_{1}U_{12} }{ 2 } \\&#10;\end{align*}&#10;&#10;\end{document}" title="IguanaTex Bitmap Display">
              <a:extLst>
                <a:ext uri="{FF2B5EF4-FFF2-40B4-BE49-F238E27FC236}">
                  <a16:creationId xmlns:a16="http://schemas.microsoft.com/office/drawing/2014/main" id="{2BCEC483-C3C3-4E0C-AAEE-F42C5F5A6042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9387964" y="4248632"/>
              <a:ext cx="2190621" cy="90819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6" name="Picture 15" descr="\documentclass{article}&#10;\usepackage{amsmath,bm,eufrak}&#10;\pagestyle{empty}&#10;\begin{document}&#10;&#10;\begin{align*}&#10;W_{x\sigma_{0}\sigma_{1}} &amp; = \tau W_{1\sigma_{0}\sigma_{1}} + \tau^{2}W_{2\sigma_{0}\sigma_{1}} \\&#10;W_{y\sigma_{0}\sigma_{1}} &amp; = \tau^{2}W_{1\sigma_{0}\sigma_{1}} + \tau W_{2\sigma_{0}\sigma_{1}} \\&#10;W_{z\sigma_{0}\sigma_{1}} &amp; = W_{1\sigma_{0}\sigma_{1}} + W_{2\sigma_{0}\sigma_{1}}              \\&#10;\end{align*}&#10;&#10;\end{document}" title="IguanaTex Bitmap Display">
              <a:extLst>
                <a:ext uri="{FF2B5EF4-FFF2-40B4-BE49-F238E27FC236}">
                  <a16:creationId xmlns:a16="http://schemas.microsoft.com/office/drawing/2014/main" id="{EC316FB5-397C-44BB-9C14-C908CC2A520B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6093873" y="4271184"/>
              <a:ext cx="2680676" cy="863086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5" name="Picture 4" descr="\documentclass{article}&#10;\usepackage{amsmath,bm,eufrak}&#10;\pagestyle{empty}&#10;\begin{document}&#10;&#10;\begin{align*}&#10;\delta_{s}^{\sigma}  &amp; = \frac{1 + \sigma s}{2} \\&#10;\end{align*}&#10;&#10;\end{document}" title="IguanaTex Bitmap Display">
            <a:extLst>
              <a:ext uri="{FF2B5EF4-FFF2-40B4-BE49-F238E27FC236}">
                <a16:creationId xmlns:a16="http://schemas.microsoft.com/office/drawing/2014/main" id="{04E096CB-5026-4CC7-BD95-7F2DC0F3981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5565715" y="3372077"/>
            <a:ext cx="1060570" cy="41081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61676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Filtered potential involving parallel valleys</a:t>
            </a:r>
          </a:p>
        </p:txBody>
      </p:sp>
      <p:pic>
        <p:nvPicPr>
          <p:cNvPr id="4" name="Picture 3" descr="\documentclass{article}&#10;\usepackage{amsmath,bm,eufrak}&#10;\pagestyle{empty}&#10;\begin{document}&#10;&#10;\begin{equation*}&#10;V_{\parallel}^{\left(T^{\left(\sigma\right)}\right)(\mathcal{W}_{0}\mathcal{W}_{1})}&#10;=&#10;\frac{1}{\sqrt{3}}&#10;\left(1-\delta_{\mathcal{W}_{0}T}\right)\delta_{\mathcal{W}_{1}T}&#10;\begin{pmatrix}&#10;          \delta_{\sigma_{0}\sigma_{1}}^{\sigma}U_{(x)} &amp;          \delta_{\sigma_{0}\sigma_{1}}^{\sigma}U_{(y)} &amp;   \delta_{\sigma_{0}\sigma_{1}}^{\sigma}U_{(z)} \\&#10;           \delta_{+\sigma_{1}}^{\sigma}\tau^{2}U_{(x)} &amp;              \delta_{+\sigma_{1}}^{\sigma}\tau U_{(y)} &amp;            \delta_{+\sigma_{1}}^{\sigma}U_{(z)} \\&#10;-\mathrm{i}\delta_{-\sigma_{1}}^{\sigma}\tau^{2}U_{(x)} &amp;   -\mathrm{i}\delta_{-\sigma_{1}}^{\sigma}\tau U_{(y)} &amp; -\mathrm{i}\delta_{-\sigma_{1}}^{\sigma}U_{(z)} \\&#10;              \delta_{+\sigma_{1}}^{\sigma}\tau U_{(x)} &amp;           \delta_{+\sigma_{1}}^{\sigma}\tau^{2}U_{(y)} &amp;            \delta_{+\sigma_{1}}^{\sigma}U_{(z)} \\&#10;    \mathrm{i}\delta_{-\sigma_{1}}^{\sigma}\tau U_{(x)} &amp; \mathrm{i}\delta_{-\sigma_{1}}^{\sigma}\tau^{2}U_{(y)} &amp;  \mathrm{i}\delta_{-\sigma_{1}}^{\sigma}U_{(z)}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0CC07AC4-DB7A-4373-9127-28C509F3710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535241" y="2927346"/>
            <a:ext cx="9121518" cy="151769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5" name="Picture 4" descr="\documentclass{article}&#10;\usepackage{amsmath,bm,eufrak}&#10;\pagestyle{empty}&#10;\begin{document}&#10;&#10;\begin{align*}&#10;     U_{(x)} = U_{x,3}^{\left(T^{(\sigma)}\right)} \quad\quad&#10;     U_{(y)} = U_{y,3}^{\left(T^{(\sigma)}\right)} \quad\quad&#10;     U_{(z)} = U_{z}^{\left(T^{(\sigma)}\right)}   \quad\quad&#10;\delta_{(A)} = \frac{1 + \sigma\sigma_{0}\sigma_{1}}{2} \\&#10;\end{align*}&#10;&#10;\end{document}" title="IguanaTex Bitmap Display">
            <a:extLst>
              <a:ext uri="{FF2B5EF4-FFF2-40B4-BE49-F238E27FC236}">
                <a16:creationId xmlns:a16="http://schemas.microsoft.com/office/drawing/2014/main" id="{D1138A44-7FA6-47BF-846D-0E8556ED320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807622" y="2008188"/>
            <a:ext cx="6576756" cy="41203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24498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Inversion filtered potential involving perpendicular valleys</a:t>
            </a:r>
          </a:p>
        </p:txBody>
      </p:sp>
      <p:pic>
        <p:nvPicPr>
          <p:cNvPr id="9" name="Picture 8" descr="\documentclass{article}&#10;\usepackage{amsmath,bm,eufrak}&#10;\pagestyle{empty}&#10;\begin{document}&#10;&#10;\begin{equation*}&#10;V_{\perp}^{\left(T^{\left(\sigma\right)}\right)(\mathcal{W}_{0}\mathcal{W}_{1})}&#10;=&#10;\frac{1}{\sqrt{3}}&#10;\begin{pmatrix}&#10;         2\delta_{\sigma_{0}\sigma_{1}}^{\sigma}U_{x} &amp;          2\delta_{\sigma_{0}\sigma_{1}}^{\sigma}U_{y,1} &amp;  2\delta_{\sigma_{0}\sigma_{1}}^{\sigma}U_{z,1} \\&#10;           \tau^{2}\phi_{+\sigma_{1}}^{(\sigma)}U_{x} &amp;               \tau \phi_{+\sigma_{1}}^{(\sigma)}U_{y,1} &amp;            \phi_{+\sigma_{1}}^{(\sigma)}U_{z,1} \\&#10;-\mathrm{i}\tau^{2}\phi_{-\sigma_{1}}^{(\sigma)}U_{x} &amp;    -\mathrm{i}\tau \phi_{-\sigma_{1}}^{(\sigma)}U_{y,1} &amp; -\mathrm{i}\phi_{-\sigma_{1}}^{(\sigma)}U_{z,1} \\&#10;             \tau \phi_{+\sigma_{1}}^{(\sigma)*}U_{x} &amp;           \tau^{2}\phi_{+\sigma_{1}}^{(\sigma)*}U_{y,1} &amp;           \phi_{+\sigma_{1}}^{(\sigma)*}U_{z,1} \\&#10;   \mathrm{i}\tau \phi_{-\sigma_{1}}^{(\sigma)*}U_{x} &amp; \mathrm{i}\tau^{2}\phi_{-\sigma_{1}}^{(\sigma)*}U_{y,1} &amp; \mathrm{i}\phi_{-\sigma_{1}}^{(\sigma)*}U_{z,1} \\&#10;                                                    0 &amp;                         \sigma\sigma_{0}\sigma_{1}U_{z} &amp;                                         U_{y,3} \\&#10;                                                U_{z} &amp;                                                       0 &amp;               \sigma\sigma_{0}\sigma_{1}U_{x,3} \\&#10;                    \sigma\sigma_{0}\sigma_{1}U_{y,3} &amp;                                                 U_{x,3} &amp;                                               0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CC222584-CAB9-42DE-A302-F6028B115AB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484572" y="2222676"/>
            <a:ext cx="7222856" cy="2591999"/>
          </a:xfrm>
          <a:prstGeom prst="rect">
            <a:avLst/>
          </a:prstGeom>
          <a:ln>
            <a:noFill/>
          </a:ln>
        </p:spPr>
      </p:pic>
      <p:pic>
        <p:nvPicPr>
          <p:cNvPr id="6" name="Picture 5" descr="\documentclass{article}&#10;\usepackage{amsmath,bm,eufrak}&#10;\pagestyle{empty}&#10;\begin{document}&#10;&#10;\begin{align*}&#10;\delta_{s}^{\sigma}  &amp; = \frac{1 + \sigma s}{2} \\&#10; \phi_{s}^{(\sigma)} &amp; = \tau^{2} + \sigma s\tau = -\left(\frac{1+\sigma s}{2}\right) -\mathrm{i}\sqrt{3}\left(\frac{1-\sigma s}{2}\right) \\&#10;\end{align*}&#10;&#10;\end{document}" title="IguanaTex Bitmap Display">
            <a:extLst>
              <a:ext uri="{FF2B5EF4-FFF2-40B4-BE49-F238E27FC236}">
                <a16:creationId xmlns:a16="http://schemas.microsoft.com/office/drawing/2014/main" id="{BFEBA1F0-9ADE-494F-99C7-7ACA873CA65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973033" y="5230521"/>
            <a:ext cx="4245934" cy="977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47647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i="1" dirty="0"/>
              <a:t>m</a:t>
            </a:r>
            <a:r>
              <a:rPr lang="en-US" i="1" baseline="-25000" dirty="0"/>
              <a:t>0</a:t>
            </a:r>
            <a:r>
              <a:rPr lang="en-US" dirty="0"/>
              <a:t> even, </a:t>
            </a:r>
            <a:r>
              <a:rPr lang="en-US" i="1" dirty="0"/>
              <a:t>m</a:t>
            </a:r>
            <a:r>
              <a:rPr lang="en-US" i="1" baseline="-25000" dirty="0"/>
              <a:t>1</a:t>
            </a:r>
            <a:r>
              <a:rPr lang="en-US" dirty="0"/>
              <a:t> odd – Expanding odd wavefunction</a:t>
            </a:r>
          </a:p>
        </p:txBody>
      </p:sp>
      <p:pic>
        <p:nvPicPr>
          <p:cNvPr id="41" name="Picture 40" descr="\documentclass{article}&#10;\usepackage{amsmath,bm,eufrak}&#10;\pagestyle{empty}&#10;\begin{document}&#10;&#10;\begin{align*}&#10;(\bm{\mathcal{M}})_{\perp(mlk)_{01}h_{1}\mathcal{W}^{\sigma_{0}}T_{q}^{\sigma_{1}}}^{(j)}&#10;&amp; =&#10;\int\mathrm{d}\bm{r}\,&#10;V_{\perp,xyz}^{(j)(\mathcal{W}^{\sigma_{0}}T_{q}^{\sigma_{1}})}\,&#10;\Psi_{\left(mhlk\mathcal{W}^{\sigma_{0}};\lambda\eta\right)_{0}}^{\left(W\kappa_{0}y\right)*}&#10;\Psi_{\left(mhlkT_{q}^{(\sigma_{1})};\lambda\eta\right)_{1}}^{\left(W\kappa_{1}x\right)}&#10;\\&#10;&amp; =&#10;\int\mathrm{d}\bm{r}\,&#10;V_{\perp,xyz}^{(j)(\mathcal{W}^{\sigma_{0}}T_{q}^{\sigma_{2}})}\,&#10;\left(\Phi_{\left(m\left(\sigma\mathrm{i}^{m}\right)lk\right)_{0}}^{(W\kappa_{0}y)}\Theta^{(y)}_{\Omega_{0}}\right)^{*}&#10;\left(\frac{&#10;\Phi_{(mhlk)_{1}}^{\left(W\kappa_{1}y\right)}\Theta_{\Omega_{1}}^{(y)}&#10;- \zeta_{1}\Phi_{(m\bar{h}lk)_{1}}^{\left(W\kappa_{1}z\right)}\Theta_{\Omega_{1}}^{(z)}&#10;}{\sqrt{2}}&#10;\right)&#10;\\&#10;&amp; =&#10;\frac{1}{\sqrt{2}}&#10;\left(&#10;\bm{\mathcal{M}}^{(y,-y)}_{xyz}&#10;-\zeta_{1}\bm{\mathcal{M}}^{(y,+z)}_{xyz}&#10;\right)_{\perp(mlk)_{01}h_{1}}^{(j)(\mathcal{W}^{\sigma_{0}}T_{q}^{\sigma_{1}})}&#10;\end{align*}&#10;&#10;\end{document}" title="IguanaTex Bitmap Display">
            <a:extLst>
              <a:ext uri="{FF2B5EF4-FFF2-40B4-BE49-F238E27FC236}">
                <a16:creationId xmlns:a16="http://schemas.microsoft.com/office/drawing/2014/main" id="{97FD2BBA-09AA-40FC-8C53-371DB08CB99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745831" y="3996276"/>
            <a:ext cx="8700338" cy="1872455"/>
          </a:xfrm>
          <a:prstGeom prst="rect">
            <a:avLst/>
          </a:prstGeom>
          <a:ln>
            <a:noFill/>
          </a:ln>
        </p:spPr>
      </p:pic>
      <p:pic>
        <p:nvPicPr>
          <p:cNvPr id="39" name="Picture 38" descr="\documentclass{article}&#10;\usepackage{amsmath,bm,eufrak}&#10;\pagestyle{empty}&#10;\begin{document}&#10;&#10;\begin{align*}&#10;(\bm{\mathcal{M}})_{\parallel(mlk)_{01}h_{1}\mathcal{W}^{\sigma_{0}}T_{q}^{\sigma_{1}}}^{(j)} &#10;&amp; =&#10;\int\mathrm{d}\bm{r}\,&#10;V_{\parallel,xyz}^{(j)(\mathcal{W}^{\sigma_{0}}T_{q}^{\sigma_{1}})}\,&#10;\Psi_{\left(mhlk\mathcal{W}^{\sigma};\lambda\eta\right)_{0}}^{\left(W\kappa_{0}z\right)*}&#10;\Psi_{\left(mhlkT_{q}^{(\sigma)};\lambda\eta\right)_{1}}^{\left(W\kappa_{1}z\right)}&#10;\\&#10;&amp; =&#10;\int\mathrm{d}\bm{r}\,&#10;V_{\parallel,xyz}^{(j)(\mathcal{W}^{\sigma_{0}}T_{q}^{\sigma_{1}})}\,&#10;\left(\Phi_{\left(m\left(\sigma\mathrm{i}^{m}\right)lk\right)_{0}}^{(W\kappa_{0}z)}\Theta^{(z)}_{\Omega_{0}}\right)^{*}&#10;\left(\frac{&#10;\Phi_{(mhlk)_{1}}^{\left(W\kappa_{1}x\right)}\Theta_{\Omega_{1}}^{(x)}&#10;- \zeta_{1}\Phi_{(m\bar{h}lk)_{1}}^{\left(W\kappa_{1}y\right)}\Theta_{\Omega_{1}}^{(y)}&#10;}{\sqrt{2}}&#10;\right)&#10;\\&#10;&amp; =&#10;\frac{1}{\sqrt{2}}&#10;\left(&#10;\bm{\mathcal{M}}^{(z,-x)}_{xyz}&#10;-\zeta_{1}\bm{\mathcal{M}}^{(z,+y)}_{xyz}&#10;\right)&#10;_{\parallel(mlk)_{01}h_{1}}&#10;^{(j)\left(\mathcal{W}^{\sigma_{0}}T_{q}^{\sigma_{1}}\right)}&#10;\\&#10;\end{align*}&#10;&#10;\end{document}" title="IguanaTex Bitmap Display">
            <a:extLst>
              <a:ext uri="{FF2B5EF4-FFF2-40B4-BE49-F238E27FC236}">
                <a16:creationId xmlns:a16="http://schemas.microsoft.com/office/drawing/2014/main" id="{B64A5901-57BC-4A1B-AA22-6EC4A588F6F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765332" y="1855725"/>
            <a:ext cx="8661337" cy="1901712"/>
          </a:xfrm>
          <a:prstGeom prst="rect">
            <a:avLst/>
          </a:prstGeom>
          <a:ln>
            <a:noFill/>
          </a:ln>
        </p:spPr>
      </p:pic>
      <p:pic>
        <p:nvPicPr>
          <p:cNvPr id="22" name="Picture 21" descr="\documentclass{article}&#10;\usepackage{amsmath,amssymb,bm}&#10;\pagestyle{empty}&#10;\begin{document}&#10;&#10;\begin{equation*}&#10;\Omega_{0} = \omega_{0}\sigma_{0}\mathrm{i}^{m_{0}}(-1)^{l_{0}}&#10;\end{equation*}&#10;&#10;\end{document}" title="IguanaTex Bitmap Display">
            <a:extLst>
              <a:ext uri="{FF2B5EF4-FFF2-40B4-BE49-F238E27FC236}">
                <a16:creationId xmlns:a16="http://schemas.microsoft.com/office/drawing/2014/main" id="{433E6691-830E-4EF2-8C69-B5E2F11971A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9478266" y="593929"/>
            <a:ext cx="1738362" cy="234057"/>
          </a:xfrm>
          <a:prstGeom prst="rect">
            <a:avLst/>
          </a:prstGeom>
          <a:ln>
            <a:noFill/>
          </a:ln>
        </p:spPr>
      </p:pic>
      <p:pic>
        <p:nvPicPr>
          <p:cNvPr id="25" name="Picture 24" descr="\documentclass{article}&#10;\usepackage{amsmath,amssymb,bm}&#10;\pagestyle{empty}&#10;\begin{document}&#10;&#10;\begin{equation*}&#10;\zeta_{1} = h_{1}\sigma_{1}\mathrm{i}^{m_{1}} \quad\quad \Omega_{1} = h_{1}\left(-1\right)^{l_{1}}&#10;\end{equation*}&#10;&#10;\end{document}" title="IguanaTex Bitmap Display">
            <a:extLst>
              <a:ext uri="{FF2B5EF4-FFF2-40B4-BE49-F238E27FC236}">
                <a16:creationId xmlns:a16="http://schemas.microsoft.com/office/drawing/2014/main" id="{A872FAFF-14C4-4208-881B-3F81B63EEE0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937619" y="1029036"/>
            <a:ext cx="2819657" cy="251124"/>
          </a:xfrm>
          <a:prstGeom prst="rect">
            <a:avLst/>
          </a:prstGeom>
          <a:ln>
            <a:noFill/>
          </a:ln>
        </p:spPr>
      </p:pic>
      <p:pic>
        <p:nvPicPr>
          <p:cNvPr id="10" name="Picture 9" descr="\documentclass{article}&#10;\usepackage{amsmath,bm,eufrak}&#10;\pagestyle{empty}&#10;\begin{document}&#10;&#10;\begin{align*}&#10;\left(\bm{\mathcal{M}}\right)^{(j)(\mathcal{W}^{\sigma_{0}}T_{q}^{\sigma_{1}})(p_{0},s_{1}p_{1})}&#10;_{\parallel\slash\perp,\hat{R}(mlk)_{01}h_{1}}&#10;&amp; =&#10;\int\mathrm{d}\bm{r}\,&#10;V_{\parallel\slash\perp,\hat{R}}^{(j)(\mathcal{W}^{\sigma_{0}}T_{q}^{\sigma_{1}})}\,&#10;\left(\Phi_{(m\left(\sigma_{0}\mathrm{i}^{m}\right)lk)_{0}}^{(W\kappa_{0}p_{0})}\Theta^{(p_{0})}_{\omega_{0}\sigma_{0}\mathrm{i}^{m_{0}}(-1)^{l_{0}}}\right)^{*}&#10;\Phi_{(m(-s_{1}h_{1})lk)_{1}}^{\left(W\kappa_{1}p_{1}\right)}&#10;\Theta_{h_{1}\left(-1\right)^{l_{1}}}^{(p_{1})}&#10;\\&#10;\end{align*}&#10;&#10;\end{document}" title="IguanaTex Bitmap Display">
            <a:extLst>
              <a:ext uri="{FF2B5EF4-FFF2-40B4-BE49-F238E27FC236}">
                <a16:creationId xmlns:a16="http://schemas.microsoft.com/office/drawing/2014/main" id="{6C71BB0A-0769-4ED7-85ED-54BC6EE6B39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718399" y="6136840"/>
            <a:ext cx="8755202" cy="4498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43930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i="1" dirty="0"/>
              <a:t>m</a:t>
            </a:r>
            <a:r>
              <a:rPr lang="en-US" i="1" baseline="-25000" dirty="0"/>
              <a:t>0</a:t>
            </a:r>
            <a:r>
              <a:rPr lang="en-US" dirty="0"/>
              <a:t> even, </a:t>
            </a:r>
            <a:r>
              <a:rPr lang="en-US" i="1" dirty="0"/>
              <a:t>m</a:t>
            </a:r>
            <a:r>
              <a:rPr lang="en-US" i="1" baseline="-25000" dirty="0"/>
              <a:t>1</a:t>
            </a:r>
            <a:r>
              <a:rPr lang="en-US" dirty="0"/>
              <a:t> odd – Simplifying using symmetry transformations</a:t>
            </a:r>
          </a:p>
        </p:txBody>
      </p:sp>
      <p:pic>
        <p:nvPicPr>
          <p:cNvPr id="11" name="Picture 10" descr="\documentclass{article}&#10;\usepackage{amsmath,bm,eufrak}&#10;\pagestyle{empty}&#10;\begin{document}&#10;&#10;\begin{align*}&#10;(\bm{\mathcal{M}})_{\parallel(mlk)_{01}h_{1}\mathcal{W}^{\sigma_{0}}T_{q}^{\sigma_{1}}}^{(j)}&#10;&amp; =&#10;\frac{1}{\sqrt{2}}&#10;\left(&#10;\bm{\mathcal{M}}^{(z,-x)}_{xyz}&#10;-\zeta_{1}\bm{\mathcal{M}}^{(z,+y)}_{xyz}&#10;\right)&#10;_{\parallel(mlk)_{01}h_{1}}&#10;^{(j)\left(\mathcal{W}^{\sigma_{0}}T_{q}^{\sigma_{1}}\right)}&#10;\\&#10;&amp; =&#10;\frac{1}{\sqrt{2}}&#10;\left(&#10;\left(\sigma_{0}\right)&#10;\left(-\zeta_{1}\sigma_{1}\right)&#10;\bm{\mathcal{M}}^{(y,+x)}_{xzy}&#10;-&#10;\zeta_{1}\bm{\mathcal{M}}^{(y,+x)}_{zxy}&#10;\right)_{\parallel(mlk)_{01}h_{1}}^{(j)(\mathcal{W}^{\sigma_{0}}T_{q}^{\sigma_{1}})}&#10;\\&#10;&amp; =&#10;\frac{1}{\sqrt{2}}&#10;\left(&#10;\left(\sigma_{0}\sigma_{1}\right)&#10;\left(-\zeta_{1}\sigma_{0}\sigma_{1}\right)&#10;\bm{\mathcal{M}}^{(y,+x)}_{zxy}&#10;-&#10;\zeta_{1}&#10;\bm{\mathcal{M}}^{(y,+x)}_{zxy}&#10;\right)_{\parallel(mlk)_{01}h_{1}}^{(j)(\mathcal{W}^{\sigma_{0}}T_{q}^{\sigma_{1}})}&#10;\\&#10;&amp; =&#10;-\sqrt{2}\zeta_{1}&#10;\bm{\mathcal{M}}^{(y,+x)(j)(\mathcal{W}^{\sigma_{0}}T_{q}^{\sigma_{2}})}_{\parallel,zxy(mlk)_{01}h_{1}}&#10;\\&#10;\end{align*}&#10;&#10;\end{document}" title="IguanaTex Bitmap Display">
            <a:extLst>
              <a:ext uri="{FF2B5EF4-FFF2-40B4-BE49-F238E27FC236}">
                <a16:creationId xmlns:a16="http://schemas.microsoft.com/office/drawing/2014/main" id="{923A7924-54BC-4AEF-BB3C-2025C837E3B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501035" y="1828148"/>
            <a:ext cx="7189931" cy="2045560"/>
          </a:xfrm>
          <a:prstGeom prst="rect">
            <a:avLst/>
          </a:prstGeom>
          <a:ln>
            <a:noFill/>
          </a:ln>
        </p:spPr>
      </p:pic>
      <p:pic>
        <p:nvPicPr>
          <p:cNvPr id="13" name="Picture 12" descr="\documentclass{article}&#10;\usepackage{amsmath,bm,eufrak}&#10;\pagestyle{empty}&#10;\begin{document}&#10;&#10;\begin{align*}&#10;(\bm{\mathcal{M}})_{\perp(mlk)_{01}h_{1}\mathcal{W}^{\sigma_{0}}T_{q}^{\sigma_{1}}}^{(j)}&#10;&amp; =&#10;\frac{1}{\sqrt{2}}&#10;\left(&#10;\bm{\mathcal{M}}^{(y,-y)}_{xyz}&#10;-\zeta_{1}\bm{\mathcal{M}}^{(y,+z)}_{xyz}&#10;\right)_{\perp(mlk)_{01}h_{1}}^{(j)(\mathcal{W}^{\sigma_{0}}T_{q}^{\sigma_{1}})}&#10;\\&#10;&amp; =&#10;\frac{1}{\sqrt{2}}&#10;\left(&#10;\bm{\mathcal{M}}^{(z,-z)}_{yzx}&#10;-&#10;\left(\sigma_{0}\right)&#10;\left(\zeta_{1}\sigma_{1}\right)&#10;\zeta_{1}&#10;\bm{\mathcal{M}}^{(y,-x)}_{zyx}&#10;\right)_{\perp(mlk)_{01}h_{1}}^{(j)(\mathcal{W}^{\sigma_{0}}T_{q}^{\sigma_{1}})}&#10;\\&#10;&amp; =&#10;\frac{1}{\sqrt{2}}&#10;\left(&#10;\bm{\mathcal{M}}^{(z,-z)}_{yzx}&#10;+&#10;\sigma_{0}\sigma_{1}&#10;\left(\sigma_{0}\sigma_{1}\right)&#10;\bm{\mathcal{M}}^{(y,-x)}_{yzx}&#10;\right)_{\perp(mlk)_{01}h_{1}}^{(j)(\mathcal{W}^{\sigma_{0}}T_{q}^{\sigma_{1}})}&#10;\\&#10;&amp; =&#10;\frac{1}{\sqrt{2}}&#10;\left(&#10;\bm{\mathcal{M}}^{(z,-z)}_{yzx}&#10;+&#10;\bm{\mathcal{M}}^{(y,-x)}_{yzx}&#10;\right)_{\perp(mlk)_{01}h_{1}}^{(j)(\mathcal{W}^{\sigma_{0}}T_{q}^{\sigma_{1}})}&#10;\\&#10;\end{align*}&#10;&#10;\end{document}" title="IguanaTex Bitmap Display">
            <a:extLst>
              <a:ext uri="{FF2B5EF4-FFF2-40B4-BE49-F238E27FC236}">
                <a16:creationId xmlns:a16="http://schemas.microsoft.com/office/drawing/2014/main" id="{74F60EED-637B-4F5E-AFAC-B41316E1026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768612" y="3929464"/>
            <a:ext cx="6654777" cy="2151615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\documentclass{article}&#10;\usepackage{amsmath,bm,eufrak}&#10;\pagestyle{empty}&#10;\begin{document}&#10;&#10;\begin{align*}&#10;\left(\bm{\mathcal{M}}\right)^{(j)(\mathcal{W}^{\sigma_{0}}T_{q}^{\sigma_{1}})(p_{0},s_{1}p_{1})}&#10;_{\parallel\slash\perp,\hat{R}(mlk)_{01}h_{1}}&#10;&amp; =&#10;\int\mathrm{d}\bm{r}\,&#10;V_{\parallel\slash\perp,\hat{R}}^{(j)(\mathcal{W}^{\sigma_{0}}T_{q}^{\sigma_{1}})}\,&#10;\left(\Phi_{(m\left(\sigma_{0}\mathrm{i}^{m}\right)lk)_{0}}^{(W\kappa_{0}p_{0})}\Theta^{(p_{0})}_{\omega_{0}\sigma_{0}\mathrm{i}^{m_{0}}(-1)^{l_{0}}}\right)^{*}&#10;\Phi_{(m(-s_{1}h_{1})lk)_{1}}^{\left(W\kappa_{1}p_{1}\right)}&#10;\Theta_{h_{1}\left(-1\right)^{l_{1}}}^{(p_{1})}&#10;\\&#10;\end{align*}&#10;&#10;\end{document}" title="IguanaTex Bitmap Display">
            <a:extLst>
              <a:ext uri="{FF2B5EF4-FFF2-40B4-BE49-F238E27FC236}">
                <a16:creationId xmlns:a16="http://schemas.microsoft.com/office/drawing/2014/main" id="{66E12D22-5657-4281-937F-B322EF34A74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718399" y="6136840"/>
            <a:ext cx="8755202" cy="4498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52285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800F5-0CC5-49B0-86DA-A4E447BBB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368" y="3042137"/>
            <a:ext cx="6638544" cy="836126"/>
          </a:xfrm>
        </p:spPr>
        <p:txBody>
          <a:bodyPr/>
          <a:lstStyle/>
          <a:p>
            <a:r>
              <a:rPr lang="en-US" dirty="0"/>
              <a:t>ODD, EVEN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1826DF-A202-4E22-B1B1-ABFD8C5CCD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737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i="1" dirty="0"/>
              <a:t>m</a:t>
            </a:r>
            <a:r>
              <a:rPr lang="en-US" i="1" baseline="-25000" dirty="0"/>
              <a:t>0</a:t>
            </a:r>
            <a:r>
              <a:rPr lang="en-US" dirty="0"/>
              <a:t> odd, </a:t>
            </a:r>
            <a:r>
              <a:rPr lang="en-US" i="1" dirty="0"/>
              <a:t>m</a:t>
            </a:r>
            <a:r>
              <a:rPr lang="en-US" i="1" baseline="-25000" dirty="0"/>
              <a:t>1</a:t>
            </a:r>
            <a:r>
              <a:rPr lang="en-US" dirty="0"/>
              <a:t> even – Expanding odd wavefunction</a:t>
            </a:r>
          </a:p>
        </p:txBody>
      </p:sp>
      <p:pic>
        <p:nvPicPr>
          <p:cNvPr id="6" name="Picture 5" descr="\documentclass{article}&#10;\usepackage{amsmath,bm,eufrak}&#10;\pagestyle{empty}&#10;\begin{document}&#10;&#10;\begin{align*}&#10;(\bm{\mathcal{M}})_{\perp(mlk)_{01}h_{0}T_{q}^{\sigma_{0}}\mathcal{W}^{\sigma_{1}}}^{(j)} &#10;&amp; =&#10;\int\mathrm{d}\bm{r}\,&#10;V_{\perp,xyz}^{(j)\left(T_{q}^{\sigma_{0}}\mathcal{W}^{\sigma_{1}}\right)}\,&#10;\Psi_{\left(mhlkT_{q}^{(\sigma)};\lambda\eta\right)_{0}}^{\left(W\kappa_{0}y\right)*}&#10;\Psi_{\left(mhlk\mathcal{W}^{\sigma};\lambda\eta\right)_{1}}^{\left(W\kappa_{1}x\right)}&#10;\\&#10;&amp; =&#10;\int\mathrm{d}\bm{r}\,&#10;V_{\perp,xyz}^{(j)\left(T_{q}^{\sigma_{0}}\mathcal{W}^{\sigma_{1}}\right)}\,&#10;\left(\frac{&#10;\Phi_{(mhlk)_{0}}^{\left(W\kappa_{0}z\right)}\Theta_{\Omega_{0}}^{(z)}&#10;- \zeta_{0}\Phi_{(m\bar{h}lk)_{0}}^{\left(W\kappa_{0}x\right)}\Theta_{\Omega_{0}}^{(x)}&#10;}{\sqrt{2}}&#10;\right)^{*}&#10;\Phi_{\left(m\left(\sigma\mathrm{i}^{m}\right)lk\right)_{1}}^{(W\kappa_{1}x)}\Theta^{(x)}_{\Omega_{1}}&#10;\\&#10;&amp; =&#10;\frac{1}{\sqrt{2}}&#10;\left(&#10;\bm{\mathcal{M}}^{(-z,x)}_{xyz}&#10;-\zeta_{0}^{*}\bm{\mathcal{M}}^{(+x,x)}_{xyz}&#10;\right)_{\perp(mlk)_{01}h_{0}}^{(j)\left(T_{q}^{\sigma_{0}}\mathcal{W}^{\sigma_{1}}\right)}&#10;\\&#10;\end{align*}&#10;&#10;\end{document}" title="IguanaTex Bitmap Display">
            <a:extLst>
              <a:ext uri="{FF2B5EF4-FFF2-40B4-BE49-F238E27FC236}">
                <a16:creationId xmlns:a16="http://schemas.microsoft.com/office/drawing/2014/main" id="{4A4B53B4-BC99-4CA5-BFAA-B47B5D353AC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829942" y="4106475"/>
            <a:ext cx="8532117" cy="1918781"/>
          </a:xfrm>
          <a:prstGeom prst="rect">
            <a:avLst/>
          </a:prstGeom>
          <a:ln>
            <a:noFill/>
          </a:ln>
        </p:spPr>
      </p:pic>
      <p:pic>
        <p:nvPicPr>
          <p:cNvPr id="65" name="Picture 64" descr="\documentclass{article}&#10;\usepackage{amsmath,bm,eufrak}&#10;\pagestyle{empty}&#10;\begin{document}&#10;&#10;\begin{align*}&#10;(\bm{\mathcal{M}})_{\parallel(mlk)_{01}h_{0}T_{q}^{\sigma_{0}}\mathcal{W}^{\sigma_{1}}}^{(j)}&#10;&amp; =&#10;\int\mathrm{d}\bm{r}\,&#10;V_{\parallel,xyz}^{(j)\left(T_{q}^{\sigma_{0}}\mathcal{W}^{\sigma_{1}}\right)}\,&#10;\Psi_{\left(mhlkT_{q}^{(\sigma)};\lambda\eta\right)_{0}}^{\left(W\kappa_{0}z\right)*}&#10;\Psi_{\left(mhlk\mathcal{W}^{\sigma};\lambda\eta\right)_{1}}^{\left(W\kappa_{1}z\right)}&#10;\\&#10;&amp; =&#10;\int\mathrm{d}\bm{r}\,&#10;V_{\parallel,xyz}^{(j)\left(T_{q}^{\sigma_{0}}\mathcal{W}^{\sigma_{1}}\right)}\,&#10;\left(\frac{&#10;\Phi_{(mhlk)_{0}}^{\left(W\kappa_{0}x\right)}\Theta_{\Omega_{0}}^{(x)}&#10;- \zeta_{0}\Phi_{(m\bar{h}lk)_{0}}^{\left(W\kappa_{0}y\right)}\Theta_{\Omega_{0}}^{(y)}&#10;}{\sqrt{2}}&#10;\right)^{*}&#10;\Phi_{\left(m\left(\sigma\mathrm{i}^{m}\right)lk\right)_{1}}^{(W\kappa_{1}z)}\Theta^{(z)}_{\Omega_{1}}&#10;\\&#10;&amp; =&#10;\frac{1}{\sqrt{2}}&#10;\left(&#10;\bm{\mathcal{M}}^{(-x,z)}_{xyz}&#10;-\zeta_{0}^{*}\bm{\mathcal{M}}^{(+y,z)}_{xyz}&#10;\right)_{\parallel(mlk)_{01}h_{0}}^{(j)\left(T_{q}^{\sigma_{0}}\mathcal{W}^{\sigma_{1}}\right)}&#10;\\&#10;\end{align*}&#10;&#10;\end{document}" title="IguanaTex Bitmap Display">
            <a:extLst>
              <a:ext uri="{FF2B5EF4-FFF2-40B4-BE49-F238E27FC236}">
                <a16:creationId xmlns:a16="http://schemas.microsoft.com/office/drawing/2014/main" id="{841614F1-A50D-4076-A4BC-C6CD90BB63D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853717" y="1942323"/>
            <a:ext cx="8484567" cy="1918776"/>
          </a:xfrm>
          <a:prstGeom prst="rect">
            <a:avLst/>
          </a:prstGeom>
          <a:ln>
            <a:noFill/>
          </a:ln>
        </p:spPr>
      </p:pic>
      <p:pic>
        <p:nvPicPr>
          <p:cNvPr id="23" name="Picture 22" descr="\documentclass{article}&#10;\usepackage{amsmath,amssymb,bm}&#10;\pagestyle{empty}&#10;\begin{document}&#10;&#10;\begin{equation*}&#10;\Omega_{1} = \omega_{1}\sigma_{1}\mathrm{i}^{m_{1}}(-1)^{l_{1}}&#10;\end{equation*}&#10;&#10;\end{document}" title="IguanaTex Bitmap Display">
            <a:extLst>
              <a:ext uri="{FF2B5EF4-FFF2-40B4-BE49-F238E27FC236}">
                <a16:creationId xmlns:a16="http://schemas.microsoft.com/office/drawing/2014/main" id="{D2241578-7D8F-4F5D-AAD4-CDFBABC709C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9483143" y="593929"/>
            <a:ext cx="1733486" cy="234057"/>
          </a:xfrm>
          <a:prstGeom prst="rect">
            <a:avLst/>
          </a:prstGeom>
          <a:ln>
            <a:noFill/>
          </a:ln>
        </p:spPr>
      </p:pic>
      <p:pic>
        <p:nvPicPr>
          <p:cNvPr id="25" name="Picture 24" descr="\documentclass{article}&#10;\usepackage{amsmath,amssymb,bm}&#10;\pagestyle{empty}&#10;\begin{document}&#10;&#10;\begin{equation*}&#10;\zeta_{0} = h_{0}\sigma_{0}\mathrm{i}^{m_{0}} \quad\quad \Omega_{0} = h_{0}\left(-1\right)^{l_{0}}&#10;\end{equation*}&#10;&#10;\end{document}" title="IguanaTex Bitmap Display">
            <a:extLst>
              <a:ext uri="{FF2B5EF4-FFF2-40B4-BE49-F238E27FC236}">
                <a16:creationId xmlns:a16="http://schemas.microsoft.com/office/drawing/2014/main" id="{B7026012-B52A-4AE7-86C3-03D2855D991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937620" y="1029036"/>
            <a:ext cx="2824533" cy="251124"/>
          </a:xfrm>
          <a:prstGeom prst="rect">
            <a:avLst/>
          </a:prstGeom>
          <a:ln>
            <a:noFill/>
          </a:ln>
        </p:spPr>
      </p:pic>
      <p:pic>
        <p:nvPicPr>
          <p:cNvPr id="14" name="Picture 13" descr="\documentclass{article}&#10;\usepackage{amsmath,bm,eufrak}&#10;\pagestyle{empty}&#10;\begin{document}&#10;&#10;\begin{align*}&#10;(\bm{\mathcal{M}})_{\parallel\slash\perp,\hat{R}(mlk)_{01}h_{0}}^{(j)(T_{q}^{\sigma_{0}}\mathcal{W}^{\sigma_{1}})(s_{0}p_{0},p_{1})} &#10;&amp; =&#10;\int\mathrm{d}\bm{r}\,&#10;V_{\parallel\slash\perp,\hat{R}}^{(j)(T_{q}^{\sigma_{0}}\mathcal{W}^{\sigma_{1}})}\,&#10;\left(\Phi_{(m(-sh)lk)_{0}}^{\left(W\kappa_{0}p_{0}\right)}\Theta^{(p_{0})}_{h_{0}\left(-1\right)^{l_{0}}}\right)^{*}&#10;\Phi_{(m\left(\sigma\mathrm{i}^{m}\right)lk)_{1}}^{(W\kappa_{1}p_{1})}\Theta^{(p_{1})}_{\omega_{1}\sigma_{1}\mathrm{i}^{m_{1}}(-1)^{l_{1}}}&#10;\\&#10;\end{align*}&#10;&#10;\end{document}" title="IguanaTex Bitmap Display">
            <a:extLst>
              <a:ext uri="{FF2B5EF4-FFF2-40B4-BE49-F238E27FC236}">
                <a16:creationId xmlns:a16="http://schemas.microsoft.com/office/drawing/2014/main" id="{DE689CD6-D5A1-47BC-93EA-DD393A72D2F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834211" y="6214503"/>
            <a:ext cx="8523578" cy="44982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67068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i="1" dirty="0"/>
              <a:t>m</a:t>
            </a:r>
            <a:r>
              <a:rPr lang="en-US" i="1" baseline="-25000" dirty="0"/>
              <a:t>0</a:t>
            </a:r>
            <a:r>
              <a:rPr lang="en-US" dirty="0"/>
              <a:t> odd, </a:t>
            </a:r>
            <a:r>
              <a:rPr lang="en-US" i="1" dirty="0"/>
              <a:t>m</a:t>
            </a:r>
            <a:r>
              <a:rPr lang="en-US" i="1" baseline="-25000" dirty="0"/>
              <a:t>1</a:t>
            </a:r>
            <a:r>
              <a:rPr lang="en-US" dirty="0"/>
              <a:t> even – Simplifying using symmetry transformations</a:t>
            </a:r>
          </a:p>
        </p:txBody>
      </p:sp>
      <p:pic>
        <p:nvPicPr>
          <p:cNvPr id="40" name="Picture 39" descr="\documentclass{article}&#10;\usepackage{amsmath,bm,eufrak}&#10;\pagestyle{empty}&#10;\begin{document}&#10;&#10;\begin{align*}&#10;(\bm{\mathcal{M}})_{\parallel(mlk)_{01}h_{0}T_{q}^{\sigma_{0}}\mathcal{W}^{\sigma_{1}}}^{(j)} &#10;&amp; =&#10;\frac{1}{\sqrt{2}}&#10;\left(&#10;\bm{\mathcal{M}}^{(-x,z)}_{xyz}&#10;-\zeta_{0}^{*}\bm{\mathcal{M}}^{(+y,z)}_{xyz}&#10;\right)_{\parallel(mlk)_{01}h_{0}}^{(j)(T_{q}^{\sigma_{0}}\mathcal{W}^{\sigma_{1}})}&#10;\\&#10;&amp; =&#10;\frac{1}{\sqrt{2}}&#10;\left(&#10;\bm{\mathcal{M}}^{(-y,x)}_{yzx}&#10;-\zeta_{0}^{*}&#10;\left(\sigma_{0}\sigma_{1}\right)&#10;\left(+\zeta_{0}^{*}\sigma_{0}\right)&#10;\left(\sigma_{1}\right)&#10;\bm{\mathcal{M}}^{(-y,x)}_{yzx}&#10;\right)_{\parallel(mlk)_{01}h_{0}}^{(j)(T_{q}^{\sigma_{0}}\mathcal{W}^{\sigma_{1}})}&#10;\\&#10;&amp; =&#10;\sqrt{2}&#10;\bm{\mathcal{M}}_{\parallel,yzx(mlk)_{01}h_{0}}^{(-y,x)(j)(T_{q}^{\sigma_{0}}\mathcal{W}^{\sigma_{1}})} &#10;\\&#10;\end{align*}&#10;&#10;\end{document}" title="IguanaTex Bitmap Display">
            <a:extLst>
              <a:ext uri="{FF2B5EF4-FFF2-40B4-BE49-F238E27FC236}">
                <a16:creationId xmlns:a16="http://schemas.microsoft.com/office/drawing/2014/main" id="{549F9CDA-EEC0-44E3-9442-CF458DA69D2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369371" y="1876006"/>
            <a:ext cx="7453259" cy="1455540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\documentclass{article}&#10;\usepackage{amsmath,bm,eufrak}&#10;\pagestyle{empty}&#10;\begin{document}&#10;&#10;\begin{align*}&#10;(\bm{\mathcal{M}})_{\perp(mlk)_{01}h_{0}T_{q}^{\sigma_{0}}\mathcal{W}^{\sigma_{1}}}^{(j)} &#10;&amp; =&#10;\frac{1}{\sqrt{2}}&#10;\left(&#10;-\zeta_{0}^{*}\bm{\mathcal{M}}^{(+x,x)}_{xyz}&#10;+\bm{\mathcal{M}}^{(-z,x)}_{xyz}&#10;\right)_{\perp(mlk)_{01}h_{0}}^{(j)(T_{q}^{\sigma_{0}}\mathcal{W}^{\sigma_{1}})}&#10;\\&#10;&amp; =&#10;\frac{1}{\sqrt{2}}&#10;\left(&#10;-\zeta_{0}^{*}&#10;\bm{\mathcal{M}}^{(-z,z)}_{zxy}&#10;+&#10;\left(\sigma_{0}\sigma_{1}\right)&#10;\left(-\zeta_{0}^{*}\sigma_{0}\right)&#10;\left(\sigma_{1}\right)&#10;\bm{\mathcal{M}}^{(+y,x)}_{zxy}&#10;\right)_{\perp(mlk)_{01}h_{0}}^{(j)(T_{q}^{\sigma_{0}}\mathcal{W}^{\sigma_{1}})}&#10;\\&#10;&amp; =&#10;\frac{\zeta_{0}}{\sqrt{2}}&#10;\left(&#10;\bm{\mathcal{M}}^{(-z,z)}_{zxy}&#10;+&#10;\bm{\mathcal{M}}^{(+y,x)}_{zxy}&#10;\right)_{\perp(mlk)_{01}h_{0}}^{(j)(T_{q}^{\sigma_{0}}\mathcal{W}^{\sigma_{1}})}&#10;\\&#10;\end{align*}&#10;&#10;\end{document}" title="IguanaTex Bitmap Display">
            <a:extLst>
              <a:ext uri="{FF2B5EF4-FFF2-40B4-BE49-F238E27FC236}">
                <a16:creationId xmlns:a16="http://schemas.microsoft.com/office/drawing/2014/main" id="{3888937A-9310-4082-972D-9BB33A49D5E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293182" y="3976375"/>
            <a:ext cx="7605637" cy="1593295"/>
          </a:xfrm>
          <a:prstGeom prst="rect">
            <a:avLst/>
          </a:prstGeom>
          <a:ln>
            <a:noFill/>
          </a:ln>
        </p:spPr>
      </p:pic>
      <p:pic>
        <p:nvPicPr>
          <p:cNvPr id="13" name="Picture 12" descr="\documentclass{article}&#10;\usepackage{amsmath,bm,eufrak}&#10;\pagestyle{empty}&#10;\begin{document}&#10;&#10;\begin{align*}&#10;(\bm{\mathcal{M}})_{\parallel\slash\perp,\hat{R}(mlk)_{01}h_{0}}^{(j)(T_{q}^{\sigma_{0}}\mathcal{W}^{\sigma_{1}})(s_{0}p_{0},p_{1})} &#10;&amp; =&#10;\int\mathrm{d}\bm{r}\,&#10;V_{\parallel\slash\perp,\hat{R}}^{(j)(T_{q}^{\sigma_{0}}\mathcal{W}^{\sigma_{1}})}\,&#10;\left(\Phi_{(m(-sh)lk)_{0}}^{\left(W\kappa_{0}p_{0}\right)}\Theta^{(p_{0})}_{h_{0}\left(-1\right)^{l_{0}}}\right)^{*}&#10;\Phi_{(m\left(\sigma\mathrm{i}^{m}\right)lk)_{1}}^{(W\kappa_{1}p_{1})}\Theta^{(p_{1})}_{\omega_{1}\sigma_{1}\mathrm{i}^{m_{1}}(-1)^{l_{1}}}&#10;\\&#10;\end{align*}&#10;&#10;\end{document}" title="IguanaTex Bitmap Display">
            <a:extLst>
              <a:ext uri="{FF2B5EF4-FFF2-40B4-BE49-F238E27FC236}">
                <a16:creationId xmlns:a16="http://schemas.microsoft.com/office/drawing/2014/main" id="{366F8CE7-EECA-4E5A-AE8A-0D06CC5477C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834211" y="6214503"/>
            <a:ext cx="8523578" cy="44982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84560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7" y="3024952"/>
            <a:ext cx="9569366" cy="853311"/>
          </a:xfrm>
          <a:solidFill>
            <a:srgbClr val="005AC0"/>
          </a:solidFill>
        </p:spPr>
        <p:txBody>
          <a:bodyPr/>
          <a:lstStyle/>
          <a:p>
            <a:r>
              <a:rPr lang="en-US" dirty="0"/>
              <a:t>SYMMETRIZED Forms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Collecting together the matrix elements with simplified and symmetrized integrands</a:t>
            </a:r>
          </a:p>
        </p:txBody>
      </p:sp>
    </p:spTree>
    <p:extLst>
      <p:ext uri="{BB962C8B-B14F-4D97-AF65-F5344CB8AC3E}">
        <p14:creationId xmlns:p14="http://schemas.microsoft.com/office/powerpoint/2010/main" val="28398560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i="1" dirty="0"/>
              <a:t>m</a:t>
            </a:r>
            <a:r>
              <a:rPr lang="en-US" i="1" baseline="-25000" dirty="0"/>
              <a:t>0</a:t>
            </a:r>
            <a:r>
              <a:rPr lang="en-US" dirty="0"/>
              <a:t> even, </a:t>
            </a:r>
            <a:r>
              <a:rPr lang="en-US" i="1" dirty="0"/>
              <a:t>m</a:t>
            </a:r>
            <a:r>
              <a:rPr lang="en-US" i="1" baseline="-25000" dirty="0"/>
              <a:t>1</a:t>
            </a:r>
            <a:r>
              <a:rPr lang="en-US" dirty="0"/>
              <a:t> even – Unreduced final form</a:t>
            </a:r>
          </a:p>
        </p:txBody>
      </p:sp>
      <p:pic>
        <p:nvPicPr>
          <p:cNvPr id="29" name="Picture 28" descr="\documentclass{article}&#10;\usepackage{amsmath,bm,eufrak}&#10;\pagestyle{empty}&#10;\begin{document}&#10;&#10;\begin{align*}&#10;(\bm{\mathcal{M}})&#10;_{\parallel\left(mlk\mathcal{W}\right)_{01}}&#10;^{(j)}&#10;&amp; =&#10;(\bm{\mathcal{M}}^{(z,z)}_{\parallel}+\bm{\mathcal{M}}^{(y,x)}_{\perp})&#10;_{\left(mlk\mathcal{W}\right)_{01}}&#10;^{(j)}&#10;\\&#10;\end{align*}&#10;&#10;\end{document}" title="IguanaTex Bitmap Display">
            <a:extLst>
              <a:ext uri="{FF2B5EF4-FFF2-40B4-BE49-F238E27FC236}">
                <a16:creationId xmlns:a16="http://schemas.microsoft.com/office/drawing/2014/main" id="{2CE541CF-F71E-45D5-B31F-4A27499E054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904457" y="3583877"/>
            <a:ext cx="4383087" cy="368915"/>
          </a:xfrm>
          <a:prstGeom prst="rect">
            <a:avLst/>
          </a:prstGeom>
          <a:ln>
            <a:noFill/>
          </a:ln>
        </p:spPr>
      </p:pic>
      <p:pic>
        <p:nvPicPr>
          <p:cNvPr id="31" name="Picture 30" descr="\documentclass{article}&#10;\usepackage{amsmath,bm,eufrak}&#10;\pagestyle{empty}&#10;\begin{document}&#10;&#10;\begin{align*}&#10;(\bm{\mathcal{M}})_{\parallel\slash\perp(mlk\mathcal{W})_{01}}^{(j)(p_{0},p_{1})} &#10;&amp; =&#10;\int\mathrm{d}\bm{r}\,&#10;V_{\parallel\slash\perp}^{(j)(\mathcal{W})_{01}}\,&#10;\left(&#10;\Phi_{(m\left(\sigma\mathrm{i}^{m}\right)lk)_{0}}^{(W\kappa_{0}p_{0})}\Theta^{(p_{0})}_{\omega_{0}\sigma_{0}\mathrm{i}^{m_{0}}(-1)^{l_{0}}}&#10;\right)^{*}&#10;\Phi_{(m\left(\sigma\mathrm{i}^{m}\right)lk)_{1}}^{(W\kappa_{1}p_{1})}\Theta^{(p_{1})}_{\omega_{1}\sigma_{1}\mathrm{i}^{m_{1}}(-1)^{l_{1}}}&#10;\\&#10;\end{align*}&#10;&#10;\end{document}" title="IguanaTex Bitmap Display">
            <a:extLst>
              <a:ext uri="{FF2B5EF4-FFF2-40B4-BE49-F238E27FC236}">
                <a16:creationId xmlns:a16="http://schemas.microsoft.com/office/drawing/2014/main" id="{54055222-5054-4C48-84E3-8AC6EAA2CF3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573717" y="5069610"/>
            <a:ext cx="9044567" cy="50605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99112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i="1" dirty="0"/>
              <a:t>m</a:t>
            </a:r>
            <a:r>
              <a:rPr lang="en-US" i="1" baseline="-25000" dirty="0"/>
              <a:t>0</a:t>
            </a:r>
            <a:r>
              <a:rPr lang="en-US" dirty="0"/>
              <a:t> even, </a:t>
            </a:r>
            <a:r>
              <a:rPr lang="en-US" i="1" dirty="0"/>
              <a:t>m</a:t>
            </a:r>
            <a:r>
              <a:rPr lang="en-US" i="1" baseline="-25000" dirty="0"/>
              <a:t>1</a:t>
            </a:r>
            <a:r>
              <a:rPr lang="en-US" dirty="0"/>
              <a:t> odd – Unreduced final form</a:t>
            </a:r>
          </a:p>
        </p:txBody>
      </p:sp>
      <p:pic>
        <p:nvPicPr>
          <p:cNvPr id="42" name="Picture 41" descr="\documentclass{article}&#10;\usepackage{amsmath,bm,eufrak}&#10;\pagestyle{empty}&#10;\begin{document}&#10;&#10;\begin{align*}&#10;(\bm{\mathcal{M}})_{\parallel(mlk\mathcal{W})_{0}(mhlkT_{q}^{\sigma})_{1}}^{(j)}&#10;&amp; =&#10;-\mathrm{i}\sqrt{2}h_{1}\sigma_{1}\left(-1\right)^{\frac{m_{1}-1}{2}}&#10;\bm{\mathcal{M}}^{(y,+x)(j)}_{\parallel,(zxy)(mlk\mathcal{W})_{0}(mhlkT_{q}^{\sigma})_{1}}&#10;\\&#10;\end{align*}&#10;&#10;\end{document}" title="IguanaTex Bitmap Display">
            <a:extLst>
              <a:ext uri="{FF2B5EF4-FFF2-40B4-BE49-F238E27FC236}">
                <a16:creationId xmlns:a16="http://schemas.microsoft.com/office/drawing/2014/main" id="{304F51F6-FC1A-4381-B7BF-4D811CD09C4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552230" y="2598619"/>
            <a:ext cx="7087540" cy="419658"/>
          </a:xfrm>
          <a:prstGeom prst="rect">
            <a:avLst/>
          </a:prstGeom>
          <a:ln>
            <a:noFill/>
          </a:ln>
        </p:spPr>
      </p:pic>
      <p:pic>
        <p:nvPicPr>
          <p:cNvPr id="35" name="Picture 34" descr="\documentclass{article}&#10;\usepackage{amsmath,bm,eufrak}&#10;\pagestyle{empty}&#10;\begin{document}&#10;&#10;\begin{align*}&#10;(\bm{\mathcal{M}})_{\perp(mlk\mathcal{W})_{0}(mhlkT_{q}^{\sigma})_{1}}^{(j)}&#10;&amp; =&#10;\frac{1}{\sqrt{2}}&#10;\left(&#10;\bm{\mathcal{M}}^{(z,-z)}_{(yzx)}&#10;+&#10;\bm{\mathcal{M}}^{(y,-x)}_{(yzx)}&#10;\right)_{\perp(mlk\mathcal{W})_{0}(mhlkT_{q}^{\sigma})_{1}}&#10;\\&#10;\end{align*}&#10;&#10;\end{document}" title="IguanaTex Bitmap Display">
            <a:extLst>
              <a:ext uri="{FF2B5EF4-FFF2-40B4-BE49-F238E27FC236}">
                <a16:creationId xmlns:a16="http://schemas.microsoft.com/office/drawing/2014/main" id="{32537BCB-6808-4124-98E7-3D647A226B7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598857" y="4123071"/>
            <a:ext cx="6994286" cy="532115"/>
          </a:xfrm>
          <a:prstGeom prst="rect">
            <a:avLst/>
          </a:prstGeom>
          <a:ln>
            <a:noFill/>
          </a:ln>
        </p:spPr>
      </p:pic>
      <p:pic>
        <p:nvPicPr>
          <p:cNvPr id="28" name="Picture 27" descr="\documentclass{article}&#10;\usepackage{amsmath,bm,eufrak}&#10;\pagestyle{empty}&#10;\begin{document}&#10;&#10;\begin{align*}&#10;\left(\bm{\mathcal{M}}\right)^{(j)(p_{0},s_{1}p_{1})}&#10;_{\parallel\slash\perp,\hat{R}(mlk\mathcal{W})_{0}(mhlkT_{q}^{\sigma})_{1}}&#10;&amp; =&#10;\int\mathrm{d}\bm{r}\,&#10;V_{\parallel\slash\perp,\hat{R}}^{(j)(\mathcal{W}_{0}T_{q}^{\sigma_{1}})}\,&#10;\left(\Phi_{(m\left(\sigma_{0}\mathrm{i}^{m}\right)lk)_{0}}^{(W\kappa_{0}p_{0})}\Theta^{(p_{0})}_{\omega_{0}\sigma_{0}\mathrm{i}^{m_{0}}(-1)^{l_{0}}}\right)^{*}&#10;\Phi_{(m(-s_{1}h_{1})lk)_{1}}^{\left(W\kappa_{1}p_{1}\right)}&#10;\Theta_{h_{1}\left(-1\right)^{l_{1}}}^{(p_{1})}&#10;\\&#10;\end{align*}&#10;&#10;\end{document}" title="IguanaTex Bitmap Display">
            <a:extLst>
              <a:ext uri="{FF2B5EF4-FFF2-40B4-BE49-F238E27FC236}">
                <a16:creationId xmlns:a16="http://schemas.microsoft.com/office/drawing/2014/main" id="{4E88A49A-4876-4546-834B-BA5879CB929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615999" y="6136841"/>
            <a:ext cx="8960002" cy="4498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31957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i="1" dirty="0"/>
              <a:t>m</a:t>
            </a:r>
            <a:r>
              <a:rPr lang="en-US" i="1" baseline="-25000" dirty="0"/>
              <a:t>0</a:t>
            </a:r>
            <a:r>
              <a:rPr lang="en-US" dirty="0"/>
              <a:t> odd, </a:t>
            </a:r>
            <a:r>
              <a:rPr lang="en-US" i="1" dirty="0"/>
              <a:t>m</a:t>
            </a:r>
            <a:r>
              <a:rPr lang="en-US" i="1" baseline="-25000" dirty="0"/>
              <a:t>1</a:t>
            </a:r>
            <a:r>
              <a:rPr lang="en-US" dirty="0"/>
              <a:t> even – Unreduced final form</a:t>
            </a:r>
          </a:p>
        </p:txBody>
      </p:sp>
      <p:pic>
        <p:nvPicPr>
          <p:cNvPr id="15" name="Picture 14" descr="\documentclass{article}&#10;\usepackage{amsmath,bm,eufrak}&#10;\pagestyle{empty}&#10;\begin{document}&#10;&#10;\begin{align*}&#10;(\bm{\mathcal{M}})_{\parallel(mhlkT_{q}^{\sigma})_{0}(mlk\mathcal{W})_{1}}^{(j)}&#10;&amp; =&#10;\sqrt{2}&#10;\bm{\mathcal{M}}_{\parallel,(yzx)(mhlkT_{q}^{\sigma})_{0}(mlk\mathcal{W})_{1}}^{(j)(-y,x)} &#10;\\&#10;\end{align*}&#10;&#10;\end{document}" title="IguanaTex Bitmap Display">
            <a:extLst>
              <a:ext uri="{FF2B5EF4-FFF2-40B4-BE49-F238E27FC236}">
                <a16:creationId xmlns:a16="http://schemas.microsoft.com/office/drawing/2014/main" id="{3C896906-5D83-4901-B462-77EF27798FE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424458" y="2417884"/>
            <a:ext cx="5343085" cy="382629"/>
          </a:xfrm>
          <a:prstGeom prst="rect">
            <a:avLst/>
          </a:prstGeom>
          <a:ln>
            <a:noFill/>
          </a:ln>
        </p:spPr>
      </p:pic>
      <p:pic>
        <p:nvPicPr>
          <p:cNvPr id="26" name="Picture 25" descr="\documentclass{article}&#10;\usepackage{amsmath,bm,eufrak}&#10;\pagestyle{empty}&#10;\begin{document}&#10;&#10;\begin{align*}&#10;(\bm{\mathcal{M}})_{\perp(mhlkT_{q}^{\sigma})_{0}(mlk\mathcal{W})_{1}}^{(j)}&#10;&amp; =&#10;\frac{\mathrm{i}}{\sqrt{2}}&#10;h_{0}\sigma_{0}\left(-1\right)^{\frac{m_{0}-1}{2}}&#10;\left(&#10;\bm{\mathcal{M}}^{(-z,z)}_{zxy}&#10;+&#10;\bm{\mathcal{M}}^{(+y,x)}_{zxy}&#10;\right)_{\perp(mhlkT_{q}^{\sigma})_{0}(mlk\mathcal{W})_{1}}^{(j)}&#10;\\&#10;\end{align*}&#10;&#10;\end{document}" title="IguanaTex Bitmap Display">
            <a:extLst>
              <a:ext uri="{FF2B5EF4-FFF2-40B4-BE49-F238E27FC236}">
                <a16:creationId xmlns:a16="http://schemas.microsoft.com/office/drawing/2014/main" id="{58981FC6-7865-43E8-9718-CE94421FD0F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866516" y="4099652"/>
            <a:ext cx="8458968" cy="551315"/>
          </a:xfrm>
          <a:prstGeom prst="rect">
            <a:avLst/>
          </a:prstGeom>
          <a:ln>
            <a:noFill/>
          </a:ln>
        </p:spPr>
      </p:pic>
      <p:pic>
        <p:nvPicPr>
          <p:cNvPr id="13" name="Picture 12" descr="\documentclass{article}&#10;\usepackage{amsmath,bm,eufrak}&#10;\pagestyle{empty}&#10;\begin{document}&#10;&#10;\begin{align*}&#10;(\bm{\mathcal{M}})_{\parallel\slash\perp,\hat{R}(mhlkT_{q}^{\sigma})_{0}(mlk\mathcal{W})_{1}}^{(j)(s_{0}p_{0},p_{1})} &#10;&amp; =&#10;\int\mathrm{d}\bm{r}\,&#10;V_{\parallel\slash\perp,\hat{R}}^{(j)(T_{q}^{\sigma_{0}}\mathcal{W}^{\sigma_{1}})}\,&#10;\left(\Phi_{(m(-sh)lk)_{0}}^{\left(W\kappa_{0}p_{0}\right)}\Theta^{(p_{0})}_{h_{0}\left(-1\right)^{l_{0}}}\right)^{*}&#10;\Phi_{(m\left(\sigma\mathrm{i}^{m}\right)lk)_{1}}^{(W\kappa_{1}p_{1})}\Theta^{(p_{1})}_{\omega_{1}\sigma_{1}\mathrm{i}^{m_{1}}(-1)^{l_{1}}}&#10;\\&#10;\end{align*}&#10;&#10;\end{document}" title="IguanaTex Bitmap Display">
            <a:extLst>
              <a:ext uri="{FF2B5EF4-FFF2-40B4-BE49-F238E27FC236}">
                <a16:creationId xmlns:a16="http://schemas.microsoft.com/office/drawing/2014/main" id="{EF2E1935-C5F9-421A-94CB-ABB261103E2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680002" y="6214503"/>
            <a:ext cx="8831996" cy="449829"/>
          </a:xfrm>
          <a:prstGeom prst="rect">
            <a:avLst/>
          </a:prstGeom>
          <a:ln>
            <a:noFill/>
          </a:ln>
        </p:spPr>
      </p:pic>
      <p:pic>
        <p:nvPicPr>
          <p:cNvPr id="24" name="Picture 23" descr="\documentclass{article}&#10;\usepackage{amsmath,amssymb,bm}&#10;\pagestyle{empty}&#10;\begin{document}&#10;&#10;\begin{equation*}&#10;\zeta_{0} = h_{0}\sigma_{0}\mathrm{i}^{m_{0}}&#10;\end{equation*}&#10;&#10;\end{document}" title="IguanaTex Bitmap Display">
            <a:extLst>
              <a:ext uri="{FF2B5EF4-FFF2-40B4-BE49-F238E27FC236}">
                <a16:creationId xmlns:a16="http://schemas.microsoft.com/office/drawing/2014/main" id="{33981407-0344-4C12-A6E2-AB215E6F89D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159251" y="3331157"/>
            <a:ext cx="1115428" cy="18773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17292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i="1" dirty="0"/>
              <a:t>m</a:t>
            </a:r>
            <a:r>
              <a:rPr lang="en-US" i="1" baseline="-25000" dirty="0"/>
              <a:t>0</a:t>
            </a:r>
            <a:r>
              <a:rPr lang="en-US" dirty="0"/>
              <a:t> odd, </a:t>
            </a:r>
            <a:r>
              <a:rPr lang="en-US" i="1" dirty="0"/>
              <a:t>m</a:t>
            </a:r>
            <a:r>
              <a:rPr lang="en-US" i="1" baseline="-25000" dirty="0"/>
              <a:t>1</a:t>
            </a:r>
            <a:r>
              <a:rPr lang="en-US" dirty="0"/>
              <a:t> odd – Unreduced final form</a:t>
            </a:r>
          </a:p>
        </p:txBody>
      </p:sp>
      <p:pic>
        <p:nvPicPr>
          <p:cNvPr id="25" name="Picture 24" descr="\documentclass{article}&#10;\usepackage{amsmath,bm,eufrak}&#10;\pagestyle{empty}&#10;\begin{document}&#10;&#10;\begin{align*}&#10;(\bm{\mathcal{M}})_{\parallel\left(mhlkT_{q}^{(\sigma)}\right)_{01}}^{(j)}&#10;&amp; =&#10;\left(&#10;\bm{\mathcal{M}}^{(-z,-z)}_{zxy}&#10;+&#10;\mathrm{i}h_{0}\sigma_{0}\left(-1\right)^{\frac{m_{0}-1}{2}}\bm{\mathcal{M}}^{(+y,-x)}_{xyz}&#10;\right)&#10;_{\parallel\left(mhlkT_{q}^{(\sigma)}\right)_{01}}&#10;^{(j)}&#10;\\&#10;\end{align*}&#10;&#10;\end{document}" title="IguanaTex Bitmap Display">
            <a:extLst>
              <a:ext uri="{FF2B5EF4-FFF2-40B4-BE49-F238E27FC236}">
                <a16:creationId xmlns:a16="http://schemas.microsoft.com/office/drawing/2014/main" id="{5E1ECB99-08AB-4F0E-8112-98A39FD2D98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071313" y="2537031"/>
            <a:ext cx="7416691" cy="615772"/>
          </a:xfrm>
          <a:prstGeom prst="rect">
            <a:avLst/>
          </a:prstGeom>
          <a:ln>
            <a:noFill/>
          </a:ln>
        </p:spPr>
      </p:pic>
      <p:pic>
        <p:nvPicPr>
          <p:cNvPr id="29" name="Picture 28" descr="\documentclass{article}&#10;\usepackage{amsmath,bm,eufrak}&#10;\pagestyle{empty}&#10;\begin{document}&#10;&#10;\begin{align*}&#10;(\bm{\mathcal{M}})_{\perp\left(mhlkT_{q}^{(\sigma)}\right)_{01}}^{(j)}&#10;&amp; =&#10;\frac{1}{2}\left(&#10;\bm{\mathcal{M}}^{(-y,-x)}_{zxy}&#10;-&#10;h_{0}h_{1}\sigma_{0}\sigma_{1}&#10;\left(-1\right)^{\frac{m_{0}+m_{1}}{2}}&#10;\bm{\mathcal{M}}^{(+y,+x)}_{yzx}&#10;+&#10;\mathrm{i}\left(&#10;h_{0}\sigma_{0}\left(-1\right)^{\frac{m_{0}-1}{2}}\bm{\mathcal{M}}^{(+z,-z)}_{xyz}&#10;-&#10;h_{1}\sigma_{1}\left(-1\right)^{\frac{m_{1}-1}{2}}\bm{\mathcal{M}}^{(-y,+x)}_{xyz}&#10;\right)&#10;\right)&#10;_{\perp\left(mhlkT_{q}^{(\sigma)}\right)_{01}}&#10;^{(j)}&#10;\\&#10;\end{align*}&#10;\end{document}" title="IguanaTex Bitmap Display">
            <a:extLst>
              <a:ext uri="{FF2B5EF4-FFF2-40B4-BE49-F238E27FC236}">
                <a16:creationId xmlns:a16="http://schemas.microsoft.com/office/drawing/2014/main" id="{4EE3446D-132C-4F07-8C53-A41F0A51206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68534" y="3573622"/>
            <a:ext cx="11054933" cy="478933"/>
          </a:xfrm>
          <a:prstGeom prst="rect">
            <a:avLst/>
          </a:prstGeom>
          <a:ln>
            <a:noFill/>
          </a:ln>
        </p:spPr>
      </p:pic>
      <p:pic>
        <p:nvPicPr>
          <p:cNvPr id="15" name="Picture 14" descr="\documentclass{article}&#10;\usepackage{amsmath,bm,eufrak}&#10;\pagestyle{empty}&#10;\begin{document}&#10;&#10;\begin{align*}&#10;\left(\bm{\mathcal{M}}\right)&#10;^{(j)(s_{0}p_{0},s_{1}p_{1})}&#10;_{\parallel\slash\perp,\hat{R}\left(mhlkT_{q}^{(\sigma)}\right)_{01}}&#10;&amp; =&#10;\int\mathrm{d}\bm{r}\,&#10;V^{(j)\left(T_{q}^{(\sigma)}\right)_{01}}_{\parallel\slash\perp,\hat{R}}&#10;\left(\Phi_{(m(-s_{0}h_{0})lk)_{0}}^{\left(W\kappa_{0}p_{0}\right)}&#10;\Theta_{h_{0}\left(-1\right)^{l_{0}}}^{(p_{0})}\right)^{*}&#10;\Phi_{(m(-s_{1}h_{1})lk)_{1}}^{\left(W\kappa_{1}p_{1}\right)}&#10;\Theta_{h_{1}\left(-1\right)^{l_{1}}}^{(p_{1})}&#10;\\&#10;\end{align*}&#10;&#10;\end{document}" title="IguanaTex Bitmap Display">
            <a:extLst>
              <a:ext uri="{FF2B5EF4-FFF2-40B4-BE49-F238E27FC236}">
                <a16:creationId xmlns:a16="http://schemas.microsoft.com/office/drawing/2014/main" id="{C462E7DA-BAF6-4E11-994E-98D29E48822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021940" y="6111365"/>
            <a:ext cx="8148121" cy="513219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23850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7" y="3042137"/>
            <a:ext cx="9569366" cy="836126"/>
          </a:xfrm>
          <a:solidFill>
            <a:srgbClr val="005AC0"/>
          </a:solidFill>
        </p:spPr>
        <p:txBody>
          <a:bodyPr/>
          <a:lstStyle/>
          <a:p>
            <a:r>
              <a:rPr lang="en-US" dirty="0"/>
              <a:t>INTEGRAL REDUCTION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Reducing integral domain using symmetry operations (with a </a:t>
            </a:r>
            <a:r>
              <a:rPr lang="en-US" i="1" dirty="0" err="1"/>
              <a:t>presymmetrized</a:t>
            </a:r>
            <a:r>
              <a:rPr lang="en-US" i="1" dirty="0"/>
              <a:t> potential)</a:t>
            </a:r>
          </a:p>
        </p:txBody>
      </p:sp>
    </p:spTree>
    <p:extLst>
      <p:ext uri="{BB962C8B-B14F-4D97-AF65-F5344CB8AC3E}">
        <p14:creationId xmlns:p14="http://schemas.microsoft.com/office/powerpoint/2010/main" val="20101410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 Placeholder 1 5 1 1 1"/>
          <p:cNvSpPr txBox="1">
            <a:spLocks/>
          </p:cNvSpPr>
          <p:nvPr/>
        </p:nvSpPr>
        <p:spPr>
          <a:xfrm>
            <a:off x="883973" y="5843860"/>
            <a:ext cx="10424054" cy="92333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Char char="-"/>
              <a:defRPr sz="1800" kern="1200" baseline="0">
                <a:solidFill>
                  <a:schemeClr val="tx1"/>
                </a:solidFill>
                <a:latin typeface="Gill Sans MT" panose="020B0502020104020203" pitchFamily="34" charset="0"/>
                <a:ea typeface="Gill Sans MT" panose="020B0502020104020203" pitchFamily="34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dirty="0">
                <a:latin typeface="+mn-lt"/>
                <a:cs typeface="Arial" panose="020B0604020202020204" pitchFamily="34" charset="0"/>
              </a:rPr>
              <a:t>Integrand has useful symmetry properties.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dirty="0">
                <a:latin typeface="+mn-lt"/>
                <a:cs typeface="Arial" panose="020B0604020202020204" pitchFamily="34" charset="0"/>
              </a:rPr>
              <a:t>Transformations given are applied to different regions of the solid angle.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dirty="0">
                <a:latin typeface="+mn-lt"/>
                <a:cs typeface="Arial" panose="020B0604020202020204" pitchFamily="34" charset="0"/>
              </a:rPr>
              <a:t>Transforming maps an integral over a different region to an integral over the blue region.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Transformed regions and associated symmetry operation</a:t>
            </a:r>
            <a:endParaRPr lang="en-US" baseline="-25000" dirty="0"/>
          </a:p>
        </p:txBody>
      </p:sp>
      <p:grpSp>
        <p:nvGrpSpPr>
          <p:cNvPr id="130" name="Group 129"/>
          <p:cNvGrpSpPr/>
          <p:nvPr/>
        </p:nvGrpSpPr>
        <p:grpSpPr>
          <a:xfrm>
            <a:off x="5846940" y="2944706"/>
            <a:ext cx="575735" cy="2596799"/>
            <a:chOff x="5799067" y="2947087"/>
            <a:chExt cx="575735" cy="2596799"/>
          </a:xfrm>
        </p:grpSpPr>
        <p:pic>
          <p:nvPicPr>
            <p:cNvPr id="154" name="Picture 153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62232" y="5417029"/>
              <a:ext cx="212570" cy="126857"/>
            </a:xfrm>
            <a:prstGeom prst="rect">
              <a:avLst/>
            </a:prstGeom>
          </p:spPr>
        </p:pic>
        <p:pic>
          <p:nvPicPr>
            <p:cNvPr id="155" name="Picture 154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36517" y="2947087"/>
              <a:ext cx="64000" cy="126858"/>
            </a:xfrm>
            <a:prstGeom prst="rect">
              <a:avLst/>
            </a:prstGeom>
          </p:spPr>
        </p:pic>
        <p:pic>
          <p:nvPicPr>
            <p:cNvPr id="156" name="Picture 155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27946" y="4175464"/>
              <a:ext cx="81143" cy="130286"/>
            </a:xfrm>
            <a:prstGeom prst="rect">
              <a:avLst/>
            </a:prstGeom>
          </p:spPr>
        </p:pic>
        <p:cxnSp>
          <p:nvCxnSpPr>
            <p:cNvPr id="157" name="Straight Connector 156"/>
            <p:cNvCxnSpPr/>
            <p:nvPr/>
          </p:nvCxnSpPr>
          <p:spPr>
            <a:xfrm rot="5400000">
              <a:off x="5936227" y="534329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 rot="5400000">
              <a:off x="5936227" y="2873356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/>
          </p:nvCxnSpPr>
          <p:spPr>
            <a:xfrm rot="5400000">
              <a:off x="5936227" y="4108327"/>
              <a:ext cx="0" cy="27432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/>
            <p:nvPr/>
          </p:nvCxnSpPr>
          <p:spPr>
            <a:xfrm rot="5400000">
              <a:off x="4701787" y="4244620"/>
              <a:ext cx="246888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6703051" y="1964972"/>
            <a:ext cx="5208572" cy="3524726"/>
            <a:chOff x="6476403" y="1951951"/>
            <a:chExt cx="5208572" cy="3524726"/>
          </a:xfrm>
        </p:grpSpPr>
        <p:grpSp>
          <p:nvGrpSpPr>
            <p:cNvPr id="24" name="Group 23"/>
            <p:cNvGrpSpPr/>
            <p:nvPr/>
          </p:nvGrpSpPr>
          <p:grpSpPr>
            <a:xfrm>
              <a:off x="6631544" y="3007797"/>
              <a:ext cx="4941423" cy="2468880"/>
              <a:chOff x="6631544" y="3007797"/>
              <a:chExt cx="4941423" cy="2468880"/>
            </a:xfrm>
          </p:grpSpPr>
          <p:sp>
            <p:nvSpPr>
              <p:cNvPr id="161" name="Rectangle 160"/>
              <p:cNvSpPr>
                <a:spLocks/>
              </p:cNvSpPr>
              <p:nvPr/>
            </p:nvSpPr>
            <p:spPr>
              <a:xfrm>
                <a:off x="6631544" y="3007797"/>
                <a:ext cx="4937760" cy="246888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2" name="Rectangle 161"/>
              <p:cNvSpPr>
                <a:spLocks/>
              </p:cNvSpPr>
              <p:nvPr/>
            </p:nvSpPr>
            <p:spPr>
              <a:xfrm>
                <a:off x="6631544" y="3011960"/>
                <a:ext cx="2468880" cy="123444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63" name="Straight Connector 162"/>
              <p:cNvCxnSpPr/>
              <p:nvPr/>
            </p:nvCxnSpPr>
            <p:spPr>
              <a:xfrm rot="5400000">
                <a:off x="5397104" y="4242237"/>
                <a:ext cx="246888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/>
              <p:cNvCxnSpPr/>
              <p:nvPr/>
            </p:nvCxnSpPr>
            <p:spPr>
              <a:xfrm rot="5400000">
                <a:off x="10335455" y="4242237"/>
                <a:ext cx="246888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/>
              <p:cNvCxnSpPr/>
              <p:nvPr/>
            </p:nvCxnSpPr>
            <p:spPr>
              <a:xfrm>
                <a:off x="6631544" y="4242237"/>
                <a:ext cx="493776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/>
              <p:cNvCxnSpPr/>
              <p:nvPr/>
            </p:nvCxnSpPr>
            <p:spPr>
              <a:xfrm rot="5400000">
                <a:off x="7861358" y="4242237"/>
                <a:ext cx="246888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67" name="Picture 166"/>
              <p:cNvPicPr>
                <a:picLocks noChangeAspect="1"/>
              </p:cNvPicPr>
              <p:nvPr>
                <p:custDataLst>
                  <p:tags r:id="rId27"/>
                </p:custDataLst>
              </p:nvPr>
            </p:nvPicPr>
            <p:blipFill>
              <a:blip r:embed="rId3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03" y="3499302"/>
                <a:ext cx="553143" cy="251429"/>
              </a:xfrm>
              <a:prstGeom prst="rect">
                <a:avLst/>
              </a:prstGeom>
            </p:spPr>
          </p:pic>
          <p:pic>
            <p:nvPicPr>
              <p:cNvPr id="168" name="Picture 167"/>
              <p:cNvPicPr>
                <a:picLocks noChangeAspect="1"/>
              </p:cNvPicPr>
              <p:nvPr>
                <p:custDataLst>
                  <p:tags r:id="rId28"/>
                </p:custDataLst>
              </p:nvPr>
            </p:nvPicPr>
            <p:blipFill>
              <a:blip r:embed="rId4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90909" y="3499303"/>
                <a:ext cx="553143" cy="251429"/>
              </a:xfrm>
              <a:prstGeom prst="rect">
                <a:avLst/>
              </a:prstGeom>
            </p:spPr>
          </p:pic>
          <p:pic>
            <p:nvPicPr>
              <p:cNvPr id="169" name="Picture 168"/>
              <p:cNvPicPr>
                <a:picLocks noChangeAspect="1"/>
              </p:cNvPicPr>
              <p:nvPr>
                <p:custDataLst>
                  <p:tags r:id="rId29"/>
                </p:custDataLst>
              </p:nvPr>
            </p:nvPicPr>
            <p:blipFill>
              <a:blip r:embed="rId4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8506" y="4733743"/>
                <a:ext cx="551538" cy="251429"/>
              </a:xfrm>
              <a:prstGeom prst="rect">
                <a:avLst/>
              </a:prstGeom>
            </p:spPr>
          </p:pic>
          <p:pic>
            <p:nvPicPr>
              <p:cNvPr id="170" name="Picture 169"/>
              <p:cNvPicPr>
                <a:picLocks noChangeAspect="1"/>
              </p:cNvPicPr>
              <p:nvPr>
                <p:custDataLst>
                  <p:tags r:id="rId30"/>
                </p:custDataLst>
              </p:nvPr>
            </p:nvPicPr>
            <p:blipFill>
              <a:blip r:embed="rId4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91712" y="4733742"/>
                <a:ext cx="551538" cy="251429"/>
              </a:xfrm>
              <a:prstGeom prst="rect">
                <a:avLst/>
              </a:prstGeom>
            </p:spPr>
          </p:pic>
          <p:cxnSp>
            <p:nvCxnSpPr>
              <p:cNvPr id="171" name="Straight Connector 170"/>
              <p:cNvCxnSpPr/>
              <p:nvPr/>
            </p:nvCxnSpPr>
            <p:spPr>
              <a:xfrm>
                <a:off x="6649534" y="5476677"/>
                <a:ext cx="4923433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/>
              <p:cNvCxnSpPr/>
              <p:nvPr/>
            </p:nvCxnSpPr>
            <p:spPr>
              <a:xfrm>
                <a:off x="6641552" y="3007797"/>
                <a:ext cx="4923433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/>
            <p:cNvGrpSpPr/>
            <p:nvPr/>
          </p:nvGrpSpPr>
          <p:grpSpPr>
            <a:xfrm>
              <a:off x="6476403" y="1951951"/>
              <a:ext cx="5208572" cy="893976"/>
              <a:chOff x="6466976" y="1951951"/>
              <a:chExt cx="5208572" cy="893976"/>
            </a:xfrm>
          </p:grpSpPr>
          <p:grpSp>
            <p:nvGrpSpPr>
              <p:cNvPr id="173" name="Group 172"/>
              <p:cNvGrpSpPr/>
              <p:nvPr/>
            </p:nvGrpSpPr>
            <p:grpSpPr>
              <a:xfrm>
                <a:off x="10260656" y="2125720"/>
                <a:ext cx="119795" cy="720207"/>
                <a:chOff x="10876606" y="2125720"/>
                <a:chExt cx="119795" cy="720207"/>
              </a:xfrm>
            </p:grpSpPr>
            <p:pic>
              <p:nvPicPr>
                <p:cNvPr id="174" name="Picture 173"/>
                <p:cNvPicPr>
                  <a:picLocks noChangeAspect="1"/>
                </p:cNvPicPr>
                <p:nvPr>
                  <p:custDataLst>
                    <p:tags r:id="rId26"/>
                  </p:custDataLst>
                </p:nvPr>
              </p:nvPicPr>
              <p:blipFill>
                <a:blip r:embed="rId4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876606" y="2125720"/>
                  <a:ext cx="119795" cy="96100"/>
                </a:xfrm>
                <a:prstGeom prst="rect">
                  <a:avLst/>
                </a:prstGeom>
              </p:spPr>
            </p:pic>
            <p:cxnSp>
              <p:nvCxnSpPr>
                <p:cNvPr id="175" name="Straight Connector 174"/>
                <p:cNvCxnSpPr/>
                <p:nvPr/>
              </p:nvCxnSpPr>
              <p:spPr>
                <a:xfrm rot="5400000">
                  <a:off x="10753623" y="2663047"/>
                  <a:ext cx="36576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76" name="Straight Connector 175"/>
              <p:cNvCxnSpPr/>
              <p:nvPr/>
            </p:nvCxnSpPr>
            <p:spPr>
              <a:xfrm>
                <a:off x="6620083" y="2663047"/>
                <a:ext cx="493776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7" name="Group 176"/>
              <p:cNvGrpSpPr/>
              <p:nvPr/>
            </p:nvGrpSpPr>
            <p:grpSpPr>
              <a:xfrm>
                <a:off x="6466976" y="1978280"/>
                <a:ext cx="311993" cy="867647"/>
                <a:chOff x="6839219" y="1978280"/>
                <a:chExt cx="311993" cy="867647"/>
              </a:xfrm>
            </p:grpSpPr>
            <p:pic>
              <p:nvPicPr>
                <p:cNvPr id="178" name="Picture 177"/>
                <p:cNvPicPr>
                  <a:picLocks noChangeAspect="1"/>
                </p:cNvPicPr>
                <p:nvPr>
                  <p:custDataLst>
                    <p:tags r:id="rId25"/>
                  </p:custDataLst>
                </p:nvPr>
              </p:nvPicPr>
              <p:blipFill>
                <a:blip r:embed="rId4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839219" y="1978280"/>
                  <a:ext cx="311993" cy="390981"/>
                </a:xfrm>
                <a:prstGeom prst="rect">
                  <a:avLst/>
                </a:prstGeom>
              </p:spPr>
            </p:pic>
            <p:cxnSp>
              <p:nvCxnSpPr>
                <p:cNvPr id="179" name="Straight Connector 178"/>
                <p:cNvCxnSpPr/>
                <p:nvPr/>
              </p:nvCxnSpPr>
              <p:spPr>
                <a:xfrm rot="5400000">
                  <a:off x="6812335" y="2663047"/>
                  <a:ext cx="36576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/>
              <p:cNvGrpSpPr/>
              <p:nvPr/>
            </p:nvGrpSpPr>
            <p:grpSpPr>
              <a:xfrm>
                <a:off x="7083379" y="1978280"/>
                <a:ext cx="311993" cy="867647"/>
                <a:chOff x="7477079" y="1978280"/>
                <a:chExt cx="311993" cy="867647"/>
              </a:xfrm>
            </p:grpSpPr>
            <p:pic>
              <p:nvPicPr>
                <p:cNvPr id="181" name="Picture 180"/>
                <p:cNvPicPr>
                  <a:picLocks noChangeAspect="1"/>
                </p:cNvPicPr>
                <p:nvPr>
                  <p:custDataLst>
                    <p:tags r:id="rId24"/>
                  </p:custDataLst>
                </p:nvPr>
              </p:nvPicPr>
              <p:blipFill>
                <a:blip r:embed="rId4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77079" y="1978280"/>
                  <a:ext cx="311993" cy="390981"/>
                </a:xfrm>
                <a:prstGeom prst="rect">
                  <a:avLst/>
                </a:prstGeom>
              </p:spPr>
            </p:pic>
            <p:cxnSp>
              <p:nvCxnSpPr>
                <p:cNvPr id="182" name="Straight Connector 181"/>
                <p:cNvCxnSpPr/>
                <p:nvPr/>
              </p:nvCxnSpPr>
              <p:spPr>
                <a:xfrm rot="5400000">
                  <a:off x="7450195" y="2663047"/>
                  <a:ext cx="36576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3" name="Group 182"/>
              <p:cNvGrpSpPr/>
              <p:nvPr/>
            </p:nvGrpSpPr>
            <p:grpSpPr>
              <a:xfrm>
                <a:off x="9587592" y="1951951"/>
                <a:ext cx="242222" cy="893976"/>
                <a:chOff x="10203542" y="1951951"/>
                <a:chExt cx="242222" cy="893976"/>
              </a:xfrm>
            </p:grpSpPr>
            <p:pic>
              <p:nvPicPr>
                <p:cNvPr id="184" name="Picture 183"/>
                <p:cNvPicPr>
                  <a:picLocks noChangeAspect="1"/>
                </p:cNvPicPr>
                <p:nvPr>
                  <p:custDataLst>
                    <p:tags r:id="rId23"/>
                  </p:custDataLst>
                </p:nvPr>
              </p:nvPicPr>
              <p:blipFill>
                <a:blip r:embed="rId4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203542" y="1951951"/>
                  <a:ext cx="242222" cy="443639"/>
                </a:xfrm>
                <a:prstGeom prst="rect">
                  <a:avLst/>
                </a:prstGeom>
              </p:spPr>
            </p:pic>
            <p:cxnSp>
              <p:nvCxnSpPr>
                <p:cNvPr id="185" name="Straight Connector 184"/>
                <p:cNvCxnSpPr/>
                <p:nvPr/>
              </p:nvCxnSpPr>
              <p:spPr>
                <a:xfrm rot="5400000">
                  <a:off x="10141773" y="2663047"/>
                  <a:ext cx="36576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6" name="Group 185"/>
              <p:cNvGrpSpPr/>
              <p:nvPr/>
            </p:nvGrpSpPr>
            <p:grpSpPr>
              <a:xfrm>
                <a:off x="9018715" y="1978280"/>
                <a:ext cx="132959" cy="867647"/>
                <a:chOff x="9634665" y="1978280"/>
                <a:chExt cx="132959" cy="867647"/>
              </a:xfrm>
            </p:grpSpPr>
            <p:pic>
              <p:nvPicPr>
                <p:cNvPr id="187" name="Picture 186"/>
                <p:cNvPicPr>
                  <a:picLocks noChangeAspect="1"/>
                </p:cNvPicPr>
                <p:nvPr>
                  <p:custDataLst>
                    <p:tags r:id="rId22"/>
                  </p:custDataLst>
                </p:nvPr>
              </p:nvPicPr>
              <p:blipFill>
                <a:blip r:embed="rId4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34665" y="1978280"/>
                  <a:ext cx="132959" cy="390981"/>
                </a:xfrm>
                <a:prstGeom prst="rect">
                  <a:avLst/>
                </a:prstGeom>
              </p:spPr>
            </p:pic>
            <p:cxnSp>
              <p:nvCxnSpPr>
                <p:cNvPr id="188" name="Straight Connector 187"/>
                <p:cNvCxnSpPr/>
                <p:nvPr/>
              </p:nvCxnSpPr>
              <p:spPr>
                <a:xfrm rot="5400000">
                  <a:off x="9518264" y="2663047"/>
                  <a:ext cx="36576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9" name="Group 188"/>
              <p:cNvGrpSpPr/>
              <p:nvPr/>
            </p:nvGrpSpPr>
            <p:grpSpPr>
              <a:xfrm>
                <a:off x="8403976" y="1978280"/>
                <a:ext cx="132959" cy="867647"/>
                <a:chOff x="9026276" y="1978280"/>
                <a:chExt cx="132959" cy="867647"/>
              </a:xfrm>
            </p:grpSpPr>
            <p:pic>
              <p:nvPicPr>
                <p:cNvPr id="190" name="Picture 189"/>
                <p:cNvPicPr>
                  <a:picLocks noChangeAspect="1"/>
                </p:cNvPicPr>
                <p:nvPr>
                  <p:custDataLst>
                    <p:tags r:id="rId21"/>
                  </p:custDataLst>
                </p:nvPr>
              </p:nvPicPr>
              <p:blipFill>
                <a:blip r:embed="rId4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26276" y="1978280"/>
                  <a:ext cx="132959" cy="390981"/>
                </a:xfrm>
                <a:prstGeom prst="rect">
                  <a:avLst/>
                </a:prstGeom>
              </p:spPr>
            </p:pic>
            <p:cxnSp>
              <p:nvCxnSpPr>
                <p:cNvPr id="191" name="Straight Connector 190"/>
                <p:cNvCxnSpPr/>
                <p:nvPr/>
              </p:nvCxnSpPr>
              <p:spPr>
                <a:xfrm rot="5400000">
                  <a:off x="8909875" y="2663047"/>
                  <a:ext cx="36576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2" name="Group 191"/>
              <p:cNvGrpSpPr/>
              <p:nvPr/>
            </p:nvGrpSpPr>
            <p:grpSpPr>
              <a:xfrm>
                <a:off x="10822759" y="1951951"/>
                <a:ext cx="242222" cy="893976"/>
                <a:chOff x="11121209" y="1951951"/>
                <a:chExt cx="242222" cy="893976"/>
              </a:xfrm>
            </p:grpSpPr>
            <p:pic>
              <p:nvPicPr>
                <p:cNvPr id="193" name="Picture 192"/>
                <p:cNvPicPr>
                  <a:picLocks noChangeAspect="1"/>
                </p:cNvPicPr>
                <p:nvPr>
                  <p:custDataLst>
                    <p:tags r:id="rId20"/>
                  </p:custDataLst>
                </p:nvPr>
              </p:nvPicPr>
              <p:blipFill>
                <a:blip r:embed="rId4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121209" y="1951951"/>
                  <a:ext cx="242222" cy="443639"/>
                </a:xfrm>
                <a:prstGeom prst="rect">
                  <a:avLst/>
                </a:prstGeom>
              </p:spPr>
            </p:pic>
            <p:cxnSp>
              <p:nvCxnSpPr>
                <p:cNvPr id="194" name="Straight Connector 193"/>
                <p:cNvCxnSpPr/>
                <p:nvPr/>
              </p:nvCxnSpPr>
              <p:spPr>
                <a:xfrm rot="5400000">
                  <a:off x="11059440" y="2663047"/>
                  <a:ext cx="36576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5" name="Group 194"/>
              <p:cNvGrpSpPr/>
              <p:nvPr/>
            </p:nvGrpSpPr>
            <p:grpSpPr>
              <a:xfrm>
                <a:off x="7808440" y="2098733"/>
                <a:ext cx="93466" cy="747194"/>
                <a:chOff x="8144990" y="2098733"/>
                <a:chExt cx="93466" cy="747194"/>
              </a:xfrm>
            </p:grpSpPr>
            <p:cxnSp>
              <p:nvCxnSpPr>
                <p:cNvPr id="196" name="Straight Connector 195"/>
                <p:cNvCxnSpPr/>
                <p:nvPr/>
              </p:nvCxnSpPr>
              <p:spPr>
                <a:xfrm rot="5400000">
                  <a:off x="8008843" y="2663047"/>
                  <a:ext cx="36576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197" name="Picture 196"/>
                <p:cNvPicPr>
                  <a:picLocks noChangeAspect="1"/>
                </p:cNvPicPr>
                <p:nvPr>
                  <p:custDataLst>
                    <p:tags r:id="rId19"/>
                  </p:custDataLst>
                </p:nvPr>
              </p:nvPicPr>
              <p:blipFill>
                <a:blip r:embed="rId3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44990" y="2098733"/>
                  <a:ext cx="93466" cy="150074"/>
                </a:xfrm>
                <a:prstGeom prst="rect">
                  <a:avLst/>
                </a:prstGeom>
              </p:spPr>
            </p:pic>
          </p:grpSp>
          <p:grpSp>
            <p:nvGrpSpPr>
              <p:cNvPr id="198" name="Group 197"/>
              <p:cNvGrpSpPr/>
              <p:nvPr/>
            </p:nvGrpSpPr>
            <p:grpSpPr>
              <a:xfrm>
                <a:off x="11433326" y="1968884"/>
                <a:ext cx="242222" cy="877043"/>
                <a:chOff x="11439676" y="1968884"/>
                <a:chExt cx="242222" cy="877043"/>
              </a:xfrm>
            </p:grpSpPr>
            <p:cxnSp>
              <p:nvCxnSpPr>
                <p:cNvPr id="199" name="Straight Connector 198"/>
                <p:cNvCxnSpPr/>
                <p:nvPr/>
              </p:nvCxnSpPr>
              <p:spPr>
                <a:xfrm rot="5400000">
                  <a:off x="11377907" y="2663047"/>
                  <a:ext cx="365760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200" name="Picture 199"/>
                <p:cNvPicPr>
                  <a:picLocks noChangeAspect="1"/>
                </p:cNvPicPr>
                <p:nvPr>
                  <p:custDataLst>
                    <p:tags r:id="rId18"/>
                  </p:custDataLst>
                </p:nvPr>
              </p:nvPicPr>
              <p:blipFill>
                <a:blip r:embed="rId5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439676" y="1968884"/>
                  <a:ext cx="242222" cy="443639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89" name="Group 88"/>
          <p:cNvGrpSpPr/>
          <p:nvPr/>
        </p:nvGrpSpPr>
        <p:grpSpPr>
          <a:xfrm>
            <a:off x="280376" y="1964972"/>
            <a:ext cx="5286188" cy="3524726"/>
            <a:chOff x="6407487" y="1951951"/>
            <a:chExt cx="5286188" cy="3524726"/>
          </a:xfrm>
        </p:grpSpPr>
        <p:sp>
          <p:nvSpPr>
            <p:cNvPr id="90" name="Rectangle 89"/>
            <p:cNvSpPr>
              <a:spLocks/>
            </p:cNvSpPr>
            <p:nvPr/>
          </p:nvSpPr>
          <p:spPr>
            <a:xfrm>
              <a:off x="6625111" y="3007797"/>
              <a:ext cx="4937760" cy="246888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Rectangle 90"/>
            <p:cNvSpPr>
              <a:spLocks/>
            </p:cNvSpPr>
            <p:nvPr/>
          </p:nvSpPr>
          <p:spPr>
            <a:xfrm>
              <a:off x="7863132" y="3011960"/>
              <a:ext cx="1230858" cy="12344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92" name="Straight Connector 91"/>
            <p:cNvCxnSpPr/>
            <p:nvPr/>
          </p:nvCxnSpPr>
          <p:spPr>
            <a:xfrm rot="5400000">
              <a:off x="5390058" y="4242237"/>
              <a:ext cx="246888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/>
          </p:nvCxnSpPr>
          <p:spPr>
            <a:xfrm rot="5400000">
              <a:off x="10327615" y="4242237"/>
              <a:ext cx="246888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 rot="5400000">
              <a:off x="6621072" y="4242237"/>
              <a:ext cx="246888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 rot="5400000">
              <a:off x="9090409" y="4242237"/>
              <a:ext cx="246888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>
              <a:off x="6622117" y="4242237"/>
              <a:ext cx="493776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 rot="5400000">
              <a:off x="7859551" y="4242237"/>
              <a:ext cx="246888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4" name="Picture 103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66881" y="3499302"/>
              <a:ext cx="553143" cy="251429"/>
            </a:xfrm>
            <a:prstGeom prst="rect">
              <a:avLst/>
            </a:prstGeom>
          </p:spPr>
        </p:pic>
        <p:pic>
          <p:nvPicPr>
            <p:cNvPr id="105" name="Picture 104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98180" y="3499303"/>
              <a:ext cx="553143" cy="251429"/>
            </a:xfrm>
            <a:prstGeom prst="rect">
              <a:avLst/>
            </a:prstGeom>
          </p:spPr>
        </p:pic>
        <p:pic>
          <p:nvPicPr>
            <p:cNvPr id="106" name="Picture 105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5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32848" y="3499302"/>
              <a:ext cx="553143" cy="251429"/>
            </a:xfrm>
            <a:prstGeom prst="rect">
              <a:avLst/>
            </a:prstGeom>
          </p:spPr>
        </p:pic>
        <p:pic>
          <p:nvPicPr>
            <p:cNvPr id="107" name="Picture 106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2243" y="3499302"/>
              <a:ext cx="553143" cy="251429"/>
            </a:xfrm>
            <a:prstGeom prst="rect">
              <a:avLst/>
            </a:prstGeom>
          </p:spPr>
        </p:pic>
        <p:pic>
          <p:nvPicPr>
            <p:cNvPr id="112" name="Picture 111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5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33651" y="4733742"/>
              <a:ext cx="551538" cy="251429"/>
            </a:xfrm>
            <a:prstGeom prst="rect">
              <a:avLst/>
            </a:prstGeom>
          </p:spPr>
        </p:pic>
        <p:pic>
          <p:nvPicPr>
            <p:cNvPr id="113" name="Picture 112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5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3045" y="4733742"/>
              <a:ext cx="551538" cy="251429"/>
            </a:xfrm>
            <a:prstGeom prst="rect">
              <a:avLst/>
            </a:prstGeom>
          </p:spPr>
        </p:pic>
        <p:pic>
          <p:nvPicPr>
            <p:cNvPr id="114" name="Picture 113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4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67683" y="4733743"/>
              <a:ext cx="551538" cy="251429"/>
            </a:xfrm>
            <a:prstGeom prst="rect">
              <a:avLst/>
            </a:prstGeom>
          </p:spPr>
        </p:pic>
        <p:pic>
          <p:nvPicPr>
            <p:cNvPr id="115" name="Picture 11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98982" y="4733742"/>
              <a:ext cx="551538" cy="251429"/>
            </a:xfrm>
            <a:prstGeom prst="rect">
              <a:avLst/>
            </a:prstGeom>
          </p:spPr>
        </p:pic>
        <p:cxnSp>
          <p:nvCxnSpPr>
            <p:cNvPr id="116" name="Straight Connector 115"/>
            <p:cNvCxnSpPr/>
            <p:nvPr/>
          </p:nvCxnSpPr>
          <p:spPr>
            <a:xfrm>
              <a:off x="6646457" y="5476677"/>
              <a:ext cx="492343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/>
          </p:nvCxnSpPr>
          <p:spPr>
            <a:xfrm>
              <a:off x="6632125" y="3007797"/>
              <a:ext cx="492343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8" name="Group 117"/>
            <p:cNvGrpSpPr/>
            <p:nvPr/>
          </p:nvGrpSpPr>
          <p:grpSpPr>
            <a:xfrm>
              <a:off x="6407487" y="1951951"/>
              <a:ext cx="5286188" cy="893976"/>
              <a:chOff x="6407487" y="1951951"/>
              <a:chExt cx="5286188" cy="893976"/>
            </a:xfrm>
          </p:grpSpPr>
          <p:pic>
            <p:nvPicPr>
              <p:cNvPr id="119" name="Picture 118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4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451453" y="1951951"/>
                <a:ext cx="242222" cy="443639"/>
              </a:xfrm>
              <a:prstGeom prst="rect">
                <a:avLst/>
              </a:prstGeom>
            </p:spPr>
          </p:pic>
          <p:pic>
            <p:nvPicPr>
              <p:cNvPr id="120" name="Picture 119"/>
              <p:cNvPicPr>
                <a:picLocks noChangeAspect="1"/>
              </p:cNvPicPr>
              <p:nvPr>
                <p:custDataLst>
                  <p:tags r:id="rId10"/>
                </p:custDataLst>
              </p:nvPr>
            </p:nvPicPr>
            <p:blipFill>
              <a:blip r:embed="rId4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884226" y="2125720"/>
                <a:ext cx="119795" cy="96100"/>
              </a:xfrm>
              <a:prstGeom prst="rect">
                <a:avLst/>
              </a:prstGeom>
            </p:spPr>
          </p:pic>
          <p:pic>
            <p:nvPicPr>
              <p:cNvPr id="121" name="Picture 120"/>
              <p:cNvPicPr>
                <a:picLocks noChangeAspect="1"/>
              </p:cNvPicPr>
              <p:nvPr>
                <p:custDataLst>
                  <p:tags r:id="rId11"/>
                </p:custDataLst>
              </p:nvPr>
            </p:nvPicPr>
            <p:blipFill>
              <a:blip r:embed="rId5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07487" y="1951951"/>
                <a:ext cx="421256" cy="443639"/>
              </a:xfrm>
              <a:prstGeom prst="rect">
                <a:avLst/>
              </a:prstGeom>
            </p:spPr>
          </p:pic>
          <p:pic>
            <p:nvPicPr>
              <p:cNvPr id="122" name="Picture 121"/>
              <p:cNvPicPr>
                <a:picLocks noChangeAspect="1"/>
              </p:cNvPicPr>
              <p:nvPr>
                <p:custDataLst>
                  <p:tags r:id="rId12"/>
                </p:custDataLst>
              </p:nvPr>
            </p:nvPicPr>
            <p:blipFill>
              <a:blip r:embed="rId4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6569" y="1978280"/>
                <a:ext cx="311993" cy="390981"/>
              </a:xfrm>
              <a:prstGeom prst="rect">
                <a:avLst/>
              </a:prstGeom>
            </p:spPr>
          </p:pic>
          <p:pic>
            <p:nvPicPr>
              <p:cNvPr id="123" name="Picture 122"/>
              <p:cNvPicPr>
                <a:picLocks noChangeAspect="1"/>
              </p:cNvPicPr>
              <p:nvPr>
                <p:custDataLst>
                  <p:tags r:id="rId13"/>
                </p:custDataLst>
              </p:nvPr>
            </p:nvPicPr>
            <p:blipFill>
              <a:blip r:embed="rId4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3973" y="1978280"/>
                <a:ext cx="311993" cy="390981"/>
              </a:xfrm>
              <a:prstGeom prst="rect">
                <a:avLst/>
              </a:prstGeom>
            </p:spPr>
          </p:pic>
          <p:pic>
            <p:nvPicPr>
              <p:cNvPr id="124" name="Picture 123"/>
              <p:cNvPicPr>
                <a:picLocks noChangeAspect="1"/>
              </p:cNvPicPr>
              <p:nvPr>
                <p:custDataLst>
                  <p:tags r:id="rId14"/>
                </p:custDataLst>
              </p:nvPr>
            </p:nvPicPr>
            <p:blipFill>
              <a:blip r:embed="rId4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203542" y="1951951"/>
                <a:ext cx="242222" cy="443639"/>
              </a:xfrm>
              <a:prstGeom prst="rect">
                <a:avLst/>
              </a:prstGeom>
            </p:spPr>
          </p:pic>
          <p:pic>
            <p:nvPicPr>
              <p:cNvPr id="125" name="Picture 124"/>
              <p:cNvPicPr>
                <a:picLocks noChangeAspect="1"/>
              </p:cNvPicPr>
              <p:nvPr>
                <p:custDataLst>
                  <p:tags r:id="rId15"/>
                </p:custDataLst>
              </p:nvPr>
            </p:nvPicPr>
            <p:blipFill>
              <a:blip r:embed="rId4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42285" y="1978280"/>
                <a:ext cx="132959" cy="390981"/>
              </a:xfrm>
              <a:prstGeom prst="rect">
                <a:avLst/>
              </a:prstGeom>
            </p:spPr>
          </p:pic>
          <p:pic>
            <p:nvPicPr>
              <p:cNvPr id="126" name="Picture 125"/>
              <p:cNvPicPr>
                <a:picLocks noChangeAspect="1"/>
              </p:cNvPicPr>
              <p:nvPr>
                <p:custDataLst>
                  <p:tags r:id="rId16"/>
                </p:custDataLst>
              </p:nvPr>
            </p:nvPicPr>
            <p:blipFill>
              <a:blip r:embed="rId4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26276" y="1978280"/>
                <a:ext cx="132959" cy="390981"/>
              </a:xfrm>
              <a:prstGeom prst="rect">
                <a:avLst/>
              </a:prstGeom>
            </p:spPr>
          </p:pic>
          <p:cxnSp>
            <p:nvCxnSpPr>
              <p:cNvPr id="127" name="Straight Connector 126"/>
              <p:cNvCxnSpPr/>
              <p:nvPr/>
            </p:nvCxnSpPr>
            <p:spPr>
              <a:xfrm rot="5400000">
                <a:off x="11374963" y="2663047"/>
                <a:ext cx="36576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/>
              <p:cNvCxnSpPr/>
              <p:nvPr/>
            </p:nvCxnSpPr>
            <p:spPr>
              <a:xfrm rot="5400000">
                <a:off x="10761243" y="2663047"/>
                <a:ext cx="36576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>
                <a:off x="6620083" y="2663047"/>
                <a:ext cx="493776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>
              <a:xfrm rot="5400000">
                <a:off x="6447935" y="2663047"/>
                <a:ext cx="36576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/>
              <p:cNvCxnSpPr/>
              <p:nvPr/>
            </p:nvCxnSpPr>
            <p:spPr>
              <a:xfrm rot="5400000">
                <a:off x="7059685" y="2663047"/>
                <a:ext cx="36576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/>
              <p:cNvCxnSpPr/>
              <p:nvPr/>
            </p:nvCxnSpPr>
            <p:spPr>
              <a:xfrm rot="5400000">
                <a:off x="7677089" y="2663047"/>
                <a:ext cx="36576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>
              <a:xfrm rot="5400000">
                <a:off x="10141773" y="2663047"/>
                <a:ext cx="36576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>
              <a:xfrm rot="5400000">
                <a:off x="9525884" y="2663047"/>
                <a:ext cx="36576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>
              <a:xfrm rot="5400000">
                <a:off x="8909875" y="2663047"/>
                <a:ext cx="36576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>
              <a:xfrm rot="5400000">
                <a:off x="8293865" y="2663047"/>
                <a:ext cx="36576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07" name="Picture 206"/>
              <p:cNvPicPr>
                <a:picLocks noChangeAspect="1"/>
              </p:cNvPicPr>
              <p:nvPr>
                <p:custDataLst>
                  <p:tags r:id="rId17"/>
                </p:custDataLst>
              </p:nvPr>
            </p:nvPicPr>
            <p:blipFill>
              <a:blip r:embed="rId3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30012" y="2098733"/>
                <a:ext cx="93466" cy="15007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5921241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i="1" dirty="0"/>
              <a:t>m</a:t>
            </a:r>
            <a:r>
              <a:rPr lang="en-US" i="1" baseline="-25000" dirty="0"/>
              <a:t>0</a:t>
            </a:r>
            <a:r>
              <a:rPr lang="en-US" dirty="0"/>
              <a:t> even, </a:t>
            </a:r>
            <a:r>
              <a:rPr lang="en-US" i="1" dirty="0"/>
              <a:t>m</a:t>
            </a:r>
            <a:r>
              <a:rPr lang="en-US" i="1" baseline="-25000" dirty="0"/>
              <a:t>1</a:t>
            </a:r>
            <a:r>
              <a:rPr lang="en-US" dirty="0"/>
              <a:t> even – Final form</a:t>
            </a:r>
          </a:p>
        </p:txBody>
      </p:sp>
      <p:pic>
        <p:nvPicPr>
          <p:cNvPr id="20" name="Picture 19" descr="\documentclass{article}&#10;\usepackage{amsmath,bm,eufrak}&#10;\pagestyle{empty}&#10;\begin{document}&#10;&#10;\begin{align*}&#10;(\bm{\mathcal{M}})^{(j)(z,z)}_{(mlk\mathcal{W})_{01}}&#10;&amp; =&#10;\int_{0}^{1} \mathrm{d}\chi&#10;\int_{-\pi/4}^{+\pi/4} \frac{\mathrm{d}\phi}{\pi/2}&#10;\int_{0}^{\infty} r^2\mathrm{d}r\,&#10;V_{\parallel}^{(j)(\mathcal{W})_{01}}\,&#10;4\pi&#10;\left(&#10;\Phi_{(m\left(\sigma\mathrm{i}^{m}\right)lk)_{0}}^{(W\kappa_{0}z)}\Theta^{(p_{0})}_{\omega_{0}\sigma_{0}\mathrm{i}^{m_{0}}(-1)^{l_{0}}}&#10;\right)^{*}&#10;\Phi_{(m\left(\sigma\mathrm{i}^{m}\right)lk)_{1}}^{(W\kappa_{1}z)}\Theta^{(p_{1})}_{\omega_{1}\sigma_{1}\mathrm{i}^{m_{1}}(-1)^{l_{1}}}&#10;\\&#10;(\bm{\mathcal{M}})^{(j)(y,x)}_{(mlk\mathcal{W})_{01}}&#10;&amp; =&#10;\int_{0}^{1} \mathrm{d}\chi&#10;\int_{-\pi/2}^{+\pi/2} \frac{\mathrm{d}\phi}{\pi}&#10;\int_{0}^{\infty} r^2\mathrm{d}r\,&#10;V_{\perp}^{(j)(\mathcal{W})_{01}}\,&#10;4\pi&#10;\left(&#10;\Phi_{(m\left(\sigma\mathrm{i}^{m}\right)lk)_{0}}^{(W\kappa_{0}y)}\Theta^{(p_{0})}_{\omega_{0}\sigma_{0}\mathrm{i}^{m_{0}}(-1)^{l_{0}}}&#10;\right)^{*}&#10;\Phi_{(m\left(\sigma\mathrm{i}^{m}\right)lk)_{1}}^{(W\kappa_{1}x)}\Theta^{(p_{1})}_{\omega_{1}\sigma_{1}\mathrm{i}^{m_{1}}(-1)^{l_{1}}}&#10;\\&#10;\end{align*}&#10;&#10;\end{document}" title="IguanaTex Bitmap Display">
            <a:extLst>
              <a:ext uri="{FF2B5EF4-FFF2-40B4-BE49-F238E27FC236}">
                <a16:creationId xmlns:a16="http://schemas.microsoft.com/office/drawing/2014/main" id="{FFE9BA2C-BFD3-4030-8683-04F44AF126A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96458" y="4443963"/>
            <a:ext cx="11199084" cy="1330286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\documentclass{article}&#10;\usepackage{amsmath,bm,eufrak}&#10;\pagestyle{empty}&#10;\begin{document}&#10;&#10;\begin{align*}&#10;(\bm{\mathcal{M}})&#10;_{\parallel\left(mlk\mathcal{W}\right)_{01}}^{(j)}&#10;&amp; =&#10;(\bm{\mathcal{M}}^{(z,z)}_{\parallel}+\bm{\mathcal{M}}^{(y,x)}_{\perp})^{(j)}_{(mlk\mathcal{W})_{01}}&#10;\\&#10;\end{align*}&#10;&#10;\end{document}" title="IguanaTex Bitmap Display">
            <a:extLst>
              <a:ext uri="{FF2B5EF4-FFF2-40B4-BE49-F238E27FC236}">
                <a16:creationId xmlns:a16="http://schemas.microsoft.com/office/drawing/2014/main" id="{050AEA55-3810-4B18-9139-2A9F19990AC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904457" y="3566459"/>
            <a:ext cx="4383087" cy="36891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44698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i="1" dirty="0"/>
              <a:t>m</a:t>
            </a:r>
            <a:r>
              <a:rPr lang="en-US" i="1" baseline="-25000" dirty="0"/>
              <a:t>0</a:t>
            </a:r>
            <a:r>
              <a:rPr lang="en-US" dirty="0"/>
              <a:t> even, </a:t>
            </a:r>
            <a:r>
              <a:rPr lang="en-US" i="1" dirty="0"/>
              <a:t>m</a:t>
            </a:r>
            <a:r>
              <a:rPr lang="en-US" i="1" baseline="-25000" dirty="0"/>
              <a:t>1</a:t>
            </a:r>
            <a:r>
              <a:rPr lang="en-US" dirty="0"/>
              <a:t> odd – Final form</a:t>
            </a:r>
          </a:p>
        </p:txBody>
      </p:sp>
      <p:pic>
        <p:nvPicPr>
          <p:cNvPr id="6" name="Picture 5" descr="\documentclass{article}&#10;\usepackage{amsmath,bm,eufrak}&#10;\pagestyle{empty}&#10;\begin{document}&#10;&#10;\begin{align*}&#10;(\bm{\mathcal{M}})_{\parallel(mlk\mathcal{W})_{0}(mhlkT_{q}^{\sigma})_{1}}^{(j)}&#10;&amp; =&#10;-\mathrm{i}\sqrt{2}h_{1}\sigma_{1}\left(-1\right)^{\frac{m_{1}-1}{2}}&#10;\bm{\mathcal{M}}^{(j)(y,+x)}_{\parallel,(zxy)(mlk\mathcal{W})_{0}(mhlkT_{q}^{\sigma})_{1}}&#10;\\&#10;(\bm{\mathcal{M}})_{\perp(mlk\mathcal{W})_{0}(mhlkT_{q}^{\sigma})_{1}}^{(j)}&#10;&amp; =&#10;\frac{1}{\sqrt{2}}&#10;\left(&#10;\bm{\mathcal{M}}^{(z,-z)}_{(yzx)}&#10;+&#10;\bm{\mathcal{M}}^{(y,-x)}_{(yzx)}&#10;\right)_{\perp(mlk\mathcal{W})_{0}(mhlkT_{q}^{\sigma})_{1}}^{(j)}&#10;\\&#10;\end{align*}&#10;&#10;\end{document}" title="IguanaTex Bitmap Display">
            <a:extLst>
              <a:ext uri="{FF2B5EF4-FFF2-40B4-BE49-F238E27FC236}">
                <a16:creationId xmlns:a16="http://schemas.microsoft.com/office/drawing/2014/main" id="{D9436C40-87BA-4DFE-9BEA-4E0921ED1D0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527543" y="2425789"/>
            <a:ext cx="7136915" cy="1062857"/>
          </a:xfrm>
          <a:prstGeom prst="rect">
            <a:avLst/>
          </a:prstGeom>
          <a:ln>
            <a:noFill/>
          </a:ln>
        </p:spPr>
      </p:pic>
      <p:pic>
        <p:nvPicPr>
          <p:cNvPr id="23" name="Picture 22" descr="\documentclass{article}&#10;\usepackage{amsmath,bm,eufrak}&#10;\pagestyle{empty}&#10;\begin{document}&#10;&#10;\begin{align*}&#10;\left(\bm{\mathcal{M}}\right)^{(j)(p_{0},s_{1}p_{1})}&#10;_{\parallel\slash\perp,\hat{R}(mlk\mathcal{W})_{0}(mhlkT_{q}^{\sigma})_{1}}&#10;&amp; =&#10;\int_{0}^{1} \mathrm{d}\chi&#10;\int_{-\pi/2}^{+\pi/2} \frac{\mathrm{d}\phi}{\pi}&#10;\int_{0}^{\infty} r^2\mathrm{d}r\,&#10;V_{\parallel\slash\perp,\hat{R}}^{(j)(\mathcal{W}_{0}T_{q}^{\sigma_{1}})}\,&#10;\left(\Phi_{(m\left(\sigma_{0}\mathrm{i}^{m}\right)lk)_{0}}^{(W\kappa_{0}p_{0})}\Theta^{(p_{0})}_{\omega_{0}\sigma_{0}\mathrm{i}^{m_{0}}(-1)^{l_{0}}}\right)^{*}&#10;\Phi_{(m(-s_{1}h_{1})lk)_{1}}^{\left(W\kappa_{1}p_{1}\right)}&#10;\Theta_{h_{1}\left(-1\right)^{l_{1}}}^{(p_{1})}&#10;\\&#10;\end{align*}&#10;&#10;\end{document}" title="IguanaTex Bitmap Display">
            <a:extLst>
              <a:ext uri="{FF2B5EF4-FFF2-40B4-BE49-F238E27FC236}">
                <a16:creationId xmlns:a16="http://schemas.microsoft.com/office/drawing/2014/main" id="{65AB6632-FA44-4E67-BFF3-4C737BB9CB6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70629" y="4543795"/>
            <a:ext cx="10850742" cy="551009"/>
          </a:xfrm>
          <a:prstGeom prst="rect">
            <a:avLst/>
          </a:prstGeom>
          <a:ln>
            <a:noFill/>
          </a:ln>
        </p:spPr>
      </p:pic>
      <p:pic>
        <p:nvPicPr>
          <p:cNvPr id="7" name="Picture 6" descr="\documentclass{article}&#10;\usepackage{amsmath,bm,eufrak}&#10;\pagestyle{empty}&#10;\begin{document}&#10;&#10;\begin{align*}&#10;(\bm{\mathcal{M}})_{\perp(mlk\mathcal{W})_{0}(mhlkT_{q}^{\sigma})_{1}}^{(j)}&#10;&amp; =&#10;\frac{1}{\sqrt{2}}&#10;\left(&#10;\bm{\mathcal{M}}^{(z,-z)}_{(yzx)}&#10;+&#10;\bm{\mathcal{M}}^{(y,-x)}_{(yzx)}&#10;\right)_{\perp(mlk\mathcal{W})_{0}(mhlkT_{q}^{\sigma})_{1}}&#10;\\&#10;\end{align*}&#10;&#10;\end{document}" title="IguanaTex Bitmap Display">
            <a:extLst>
              <a:ext uri="{FF2B5EF4-FFF2-40B4-BE49-F238E27FC236}">
                <a16:creationId xmlns:a16="http://schemas.microsoft.com/office/drawing/2014/main" id="{D3DAC502-0B49-46A0-A35A-542FBF56568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840396" y="8539796"/>
            <a:ext cx="6994286" cy="53211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75358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i="1" dirty="0"/>
              <a:t>m</a:t>
            </a:r>
            <a:r>
              <a:rPr lang="en-US" i="1" baseline="-25000" dirty="0"/>
              <a:t>0</a:t>
            </a:r>
            <a:r>
              <a:rPr lang="en-US" dirty="0"/>
              <a:t> odd, </a:t>
            </a:r>
            <a:r>
              <a:rPr lang="en-US" i="1" dirty="0"/>
              <a:t>m</a:t>
            </a:r>
            <a:r>
              <a:rPr lang="en-US" i="1" baseline="-25000" dirty="0"/>
              <a:t>1</a:t>
            </a:r>
            <a:r>
              <a:rPr lang="en-US" dirty="0"/>
              <a:t> even – Final form</a:t>
            </a:r>
          </a:p>
        </p:txBody>
      </p:sp>
      <p:pic>
        <p:nvPicPr>
          <p:cNvPr id="19" name="Picture 18" descr="\documentclass{article}&#10;\usepackage{amsmath,bm,eufrak}&#10;\pagestyle{empty}&#10;\begin{document}&#10;&#10;\begin{align*}&#10;(\bm{\mathcal{M}})_{\parallel(mhlkT_{q}^{\sigma})_{0}(mlk\mathcal{W})_{1}}^{(j)}&#10;&amp; =&#10;\sqrt{2}&#10;\bm{\mathcal{M}}_{\parallel,(yzx)(mhlkT_{q}^{\sigma})_{0}(mlk\mathcal{W})_{1}}^{(j)(-y,x)} &#10;\\&#10;(\bm{\mathcal{M}})_{\perp(mhlkT_{q}^{\sigma})_{0}(mlk\mathcal{W})_{1}}^{(j)}&#10;&amp; =&#10;\frac{\mathrm{i}}{\sqrt{2}}&#10;h_{0}\sigma_{0}\left(-1\right)^{\frac{m_{0}-1}{2}}&#10;\left(&#10;\bm{\mathcal{M}}^{(-z,z)}_{(zxy)}&#10;+&#10;\bm{\mathcal{M}}^{(+y,x)}_{(zxy)}&#10;\right)_{\perp(mhlkT_{q}^{\sigma})_{0}(mlk\mathcal{W})_{1}}^{(j)}&#10;\\&#10;\end{align*}&#10;&#10;\end{document}" title="IguanaTex Bitmap Display">
            <a:extLst>
              <a:ext uri="{FF2B5EF4-FFF2-40B4-BE49-F238E27FC236}">
                <a16:creationId xmlns:a16="http://schemas.microsoft.com/office/drawing/2014/main" id="{3076AA11-F0E9-4AB1-BB73-F0CEC7AA9C9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866516" y="2367079"/>
            <a:ext cx="8458968" cy="1025828"/>
          </a:xfrm>
          <a:prstGeom prst="rect">
            <a:avLst/>
          </a:prstGeom>
        </p:spPr>
      </p:pic>
      <p:pic>
        <p:nvPicPr>
          <p:cNvPr id="12" name="Picture 11" descr="\documentclass{article}&#10;\usepackage{amsmath,bm,eufrak}&#10;\pagestyle{empty}&#10;\begin{document}&#10;&#10;\begin{align*}&#10;(\bm{\mathcal{M}})_{\parallel\slash\perp,\hat{R}(mhlkT_{q}^{\sigma})_{0}(mlk\mathcal{W})_{1}}^{(j)(s_{0}p_{0},p_{1})} &#10;&amp; =&#10;\int_{0}^{1} \mathrm{d}\chi&#10;\int_{-\pi/2}^{+\pi/2} \frac{\mathrm{d}\phi}{\pi}&#10;\int_{0}^{\infty} r^2\mathrm{d}r\,&#10;V_{\parallel\slash\perp,\hat{R}}^{(j)(T_{q}^{\sigma_{0}}\mathcal{W}_{1})}\,&#10;\left(\Phi_{(m(-sh)lk)_{0}}^{\left(W\kappa_{0}p_{0}\right)}\Theta^{(p_{0})}_{h_{0}\left(-1\right)^{l_{0}}}\right)^{*}&#10;\Phi_{(m\left(\sigma\mathrm{i}^{m}\right)lk)_{1}}^{(W\kappa_{1}p_{1})}\Theta^{(p_{1})}_{\omega_{1}\sigma_{1}\mathrm{i}^{m_{1}}(-1)^{l_{1}}}&#10;\\&#10;\end{align*}&#10;&#10;\end{document}" title="IguanaTex Bitmap Display">
            <a:extLst>
              <a:ext uri="{FF2B5EF4-FFF2-40B4-BE49-F238E27FC236}">
                <a16:creationId xmlns:a16="http://schemas.microsoft.com/office/drawing/2014/main" id="{9F7088B7-AE44-422F-8A6D-ED225D11CC0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22744" y="4426930"/>
            <a:ext cx="11946512" cy="61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689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i="1" dirty="0"/>
              <a:t>m</a:t>
            </a:r>
            <a:r>
              <a:rPr lang="en-US" i="1" baseline="-25000" dirty="0"/>
              <a:t>1</a:t>
            </a:r>
            <a:r>
              <a:rPr lang="en-US" dirty="0"/>
              <a:t> odd, </a:t>
            </a:r>
            <a:r>
              <a:rPr lang="en-US" i="1" dirty="0"/>
              <a:t>m</a:t>
            </a:r>
            <a:r>
              <a:rPr lang="en-US" i="1" baseline="-25000" dirty="0"/>
              <a:t>2</a:t>
            </a:r>
            <a:r>
              <a:rPr lang="en-US" dirty="0"/>
              <a:t> odd – Final form</a:t>
            </a:r>
          </a:p>
        </p:txBody>
      </p:sp>
      <p:pic>
        <p:nvPicPr>
          <p:cNvPr id="6" name="Picture 5" descr="\documentclass{article}&#10;\usepackage{amsmath,bm,eufrak}&#10;\pagestyle{empty}&#10;\begin{document}&#10;&#10;\begin{align*}&#10;\left(\bm{\mathcal{M}}\right)&#10;^{(s_{1}p_{1},s_{2}p_{2})}&#10;_{\parallel\slash\perp,xyz(mlkhT_{q}^{\sigma})_{01}}&#10;&amp; =&#10;\int_{0}^{1} \mathrm{d}\chi&#10;\int_{-\pi/2}^{+\pi/2} \frac{\mathrm{d}\phi}{\pi}&#10;\int_{0}^{\infty} r^2\mathrm{d}r\,&#10;V^{(j)\left(T_{q}^{(\sigma)}\right)_{01}}_{\parallel\slash\perp,\hat{R}}&#10;\left(\Phi_{(m(-s_{0}h_{0})lk)_{0}}^{\left(W\kappa_{0}p_{0}\right)}&#10;\Theta_{h_{0}\left(-1\right)^{l_{0}}}^{(p_{0})}\right)^{*}&#10;\Phi_{(m(-s_{1}h_{1})lk)_{1}}^{\left(W\kappa_{1}p_{1}\right)}&#10;\Theta_{h_{1}\left(-1\right)^{l_{1}}}^{(p_{1})}&#10;\\&#10;\end{align*}&#10;&#10;\end{document}" title="IguanaTex Bitmap Display">
            <a:extLst>
              <a:ext uri="{FF2B5EF4-FFF2-40B4-BE49-F238E27FC236}">
                <a16:creationId xmlns:a16="http://schemas.microsoft.com/office/drawing/2014/main" id="{4F551FFD-C166-451F-803A-54B73ADD51E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96686" y="4764248"/>
            <a:ext cx="9998628" cy="55101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8" name="Picture 17" descr="\documentclass{article}&#10;\usepackage{amsmath,bm,eufrak}&#10;\pagestyle{empty}&#10;\begin{document}&#10;&#10;\begin{align*}&#10;(\bm{\mathcal{M}})_{\parallel\left(mhlkT_{q}^{(\sigma)}\right)_{01}}^{(j)}&#10;&amp; =&#10;\left(&#10;\bm{\mathcal{M}}^{(-z,-z)}_{(zxy)}&#10;+&#10;\mathrm{i}h_{0}\sigma_{0}\left(-1\right)^{\frac{m_{0}-1}{2}}\bm{\mathcal{M}}^{(+y,-x)}_{(xyz)}&#10;\right)&#10;_{\parallel\left(mhlkT_{q}^{(\sigma)}\right)_{01}}&#10;^{(j)}&#10;\\&#10;(\bm{\mathcal{M}})_{\perp\left(mhlkT_{q}^{(\sigma)}\right)_{01}}^{(j)}&#10;&amp; =&#10;\frac{1}{2}\left(&#10;\bm{\mathcal{M}}^{(-y,-x)}_{(zxy)}&#10;-&#10;h_{0}h_{1}\sigma_{0}\sigma_{1}&#10;\left(-1\right)^{\frac{m_{0}+m_{1}}{2}}&#10;\bm{\mathcal{M}}^{(+y,+x)}_{(yzx)}&#10;+&#10;\mathrm{i}\left(&#10;h_{0}\sigma_{0}\left(-1\right)^{\frac{m_{0}-1}{2}}\bm{\mathcal{M}}^{(+z,-z)}_{(xyz)}&#10;-&#10;h_{1}\sigma_{1}\left(-1\right)^{\frac{m_{1}-1}{2}}\bm{\mathcal{M}}^{(-y,+x)}_{(xyz)}&#10;\right)&#10;\right)&#10;_{\perp\left(mhlkT_{q}^{(\sigma)}\right)_{01}}&#10;^{(j)}&#10;\\&#10;\end{align*}&#10;&#10;\end{document}" title="IguanaTex Bitmap Display">
            <a:extLst>
              <a:ext uri="{FF2B5EF4-FFF2-40B4-BE49-F238E27FC236}">
                <a16:creationId xmlns:a16="http://schemas.microsoft.com/office/drawing/2014/main" id="{ECA9D9DE-DE49-4390-AB60-BDAFDA3C23E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68534" y="2467382"/>
            <a:ext cx="11054933" cy="102613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058730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368" y="2281159"/>
            <a:ext cx="8866632" cy="1597104"/>
          </a:xfrm>
        </p:spPr>
        <p:txBody>
          <a:bodyPr/>
          <a:lstStyle/>
          <a:p>
            <a:r>
              <a:rPr lang="en-US" dirty="0"/>
              <a:t>GENERAL MATRIX ELEMENT </a:t>
            </a:r>
            <a:r>
              <a:rPr lang="en-US" dirty="0" err="1"/>
              <a:t>DeFINITION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Finding a general form for the matrix element</a:t>
            </a:r>
          </a:p>
        </p:txBody>
      </p:sp>
    </p:spTree>
    <p:extLst>
      <p:ext uri="{BB962C8B-B14F-4D97-AF65-F5344CB8AC3E}">
        <p14:creationId xmlns:p14="http://schemas.microsoft.com/office/powerpoint/2010/main" val="25115425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General matrix element formula</a:t>
            </a:r>
          </a:p>
        </p:txBody>
      </p:sp>
      <p:pic>
        <p:nvPicPr>
          <p:cNvPr id="20" name="Picture 19" descr="\documentclass{article}&#10;\usepackage{amsmath,amssymb,bm}&#10;\pagestyle{empty}&#10;\begin{document}&#10;&#10;\begin{align*}&#10;\left(\bm{\mathcal{M}}\right)_{\left(mlkh\mathcal{W};\lambda\eta\right)_{01}}&#10;&amp; =&#10;\int \mathrm{d}\bm{r}\,&#10;U_{\left\{\bm{r}\right\}}&#10;\Psi_{\left(mlkh;\lambda\eta\right)_{1}}^{\left(\mathcal{W}_{1}W\kappa\right)*}&#10;\Psi_{\left(mlkh;\lambda\eta\right)_{2}}^{\left(\mathcal{W}_{2}W\kappa\right)}&#10;\\&#10;&amp; =&#10;\sum_{j}&#10;\left(&#10;\bm{\mathcal{M}}_{\parallel}&#10;+&#10;\bm{\mathcal{M}}_{\perp}&#10;\right)_{\left(mlkh\mathcal{W};\lambda\eta\right)_{01}}^{(j)}&#10;\\&#10;\left(\bm{\mathcal{M}}\right)_{\parallel\slash\perp\left(mlkh\mathcal{W};\lambda\eta\right)_{01}}^{(j)}&#10;&amp; =&#10;\int \mathrm{d}\bm{r}\,&#10;V_{\parallel\slash\perp,xyz}^{(j)(\mathcal{W})_{01}}\,&#10;\Psi_{\left(mlkh\mathcal{W};\lambda\eta\right)_{0}}^{\left(W\kappa\right)*}&#10;\Psi_{\left(mlkh\mathcal{W};\lambda\eta\right)_{1}}^{\left(W\kappa\right)}&#10;\\&#10;\end{align*}&#10;&#10;\end{document}" title="IguanaTex Bitmap Display">
            <a:extLst>
              <a:ext uri="{FF2B5EF4-FFF2-40B4-BE49-F238E27FC236}">
                <a16:creationId xmlns:a16="http://schemas.microsoft.com/office/drawing/2014/main" id="{0C0BDDCC-BF68-4420-B43E-2DF428DCD70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48570" y="2709750"/>
            <a:ext cx="7094860" cy="197029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66661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Raw potential</a:t>
            </a:r>
          </a:p>
        </p:txBody>
      </p:sp>
      <p:pic>
        <p:nvPicPr>
          <p:cNvPr id="6" name="Picture 5" descr="\documentclass{article}&#10;\usepackage{amsmath,bm,eufrak}&#10;\pagestyle{empty}&#10;\begin{document}&#10;&#10;\begin{align*}&#10;\tilde{U}_{\left\{\bm{r}\right\}}&#10;&amp; =&#10;\left(\frac{r}{a_{0}}\right)^{d}&#10;\sum_{i}&#10;\tilde{\mathfrak{U}}_{i}&#10;\mathcal{U}_{i\left\{\chi,\phi\right\}}&#10;\mathrm{e}^{-\tilde{\alpha}_{i\left\{\chi,\phi\right\}}\frac{r}{a_{0}}}&#10;\mathrm{e}^{-\beta_{i\left\{\chi,\phi\right\}}\left(\frac{r}{a_{0}}\right)^{2}}&#10;\\&#10;&amp; =&#10;\left(\frac{r}{a_{\perp}}\right)^{d}&#10;\sum_{j \in \Gamma\left(T_{d}\right)}&#10;\sum_{\kappa = 1}^{l_{j}}&#10;\tilde{U}^{(j)}_{\kappa\kappa}&#10;\\&#10;\tilde{U}^{(j)}_{\mu\kappa}&#10;&amp; \equiv&#10;\sum_{i}&#10;\sum_{\hat{R}\in\subseteq T_{d}}&#10;\tilde{\mathfrak{U}}_{\mu\kappa;i\hat{R}}^{\left(j\right)}&#10;\mathcal{U}_{i\hat{R}}&#10;\mathrm{e}^{-\alpha_{i\hat{R}}\left(\frac{r}{a_\perp}\right)}\mathrm{e}^{-\beta_{i\hat{R}}\left(\frac{r}{a_\perp}\right)^{2}}&#10;\\&#10;\tilde{\mathfrak{U}}_{\mu\kappa;i\hat{R}}^{\left(j\right)}&#10;&amp; \equiv&#10;\frac{l_{j}}{h}&#10;\tilde{\mathfrak{U}}_{i}&#10;\left(\Gamma_{\hat{R}}^{(j)}\right)_{\mu\kappa}^{*}&#10;\end{align*}&#10;&#10;\end{document}" title="IguanaTex Bitmap Display">
            <a:extLst>
              <a:ext uri="{FF2B5EF4-FFF2-40B4-BE49-F238E27FC236}">
                <a16:creationId xmlns:a16="http://schemas.microsoft.com/office/drawing/2014/main" id="{823E9F9C-DE12-45C0-A1E2-2F819F6DEEE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089529" y="2519112"/>
            <a:ext cx="6012943" cy="326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6843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Filtered potential involving parallel valleys</a:t>
            </a:r>
          </a:p>
        </p:txBody>
      </p:sp>
      <p:pic>
        <p:nvPicPr>
          <p:cNvPr id="4" name="Picture 3" descr="\documentclass{article}&#10;\usepackage{amsmath,bm,eufrak}&#10;\pagestyle{empty}&#10;\begin{document}&#10;&#10;\begin{equation*}&#10;V_{\parallel}^{\left(A^{\left(\sigma\right)}\right)(\mathcal{W})_{01}}&#10;=&#10;\begin{pmatrix}&#10;\delta_{\sigma_{0}\sigma_{1}}^{\sigma} &amp;                           0 &amp;                          0 &amp;                          0 &amp;                             &amp; 0 &amp; 0 &amp; 0 \\&#10;                                     0 &amp;            \delta_{\sigma+} &amp; \mathrm{i}\delta_{\sigma-} &amp;                          0 &amp;                             &amp; 0 &amp; 0 &amp; 0 \\&#10;                                     0 &amp; -\mathrm{i}\delta_{\sigma-} &amp;           \delta_{\sigma+} &amp;                          0 &amp;                             &amp; 0 &amp; 0 &amp; 0 \\&#10;                                     0 &amp;                           0 &amp;                          0 &amp;           \delta_{\sigma+} &amp; -\mathrm{i}\delta_{\sigma-} &amp; 0 &amp; 0 &amp; 0 \\&#10;                                     0 &amp;                           0 &amp;                          0 &amp; \mathrm{i}\delta_{\sigma-} &amp;            \delta_{\sigma+} &amp; 0 &amp; 0 &amp; 0 \\&#10;&#10;0 &amp; 0 &amp; 0 &amp; 0 &amp; 0 &amp; \delta_{\sigma_{0}\sigma_{1}}^{\sigma} &amp;                                      0 &amp;                                      0 \\&#10;0 &amp; 0 &amp; 0 &amp; 0 &amp; 0 &amp;                                      0 &amp; \delta_{\sigma_{0}\sigma_{1}}^{\sigma} &amp;                                      0 \\&#10;0 &amp; 0 &amp; 0 &amp; 0 &amp; 0 &amp;                                      0 &amp;                                      0 &amp; \delta_{\sigma_{0}\sigma_{1}}^{\sigma} \\&#10;\end{pmatrix}&#10;U^{\left(A^{\left(\sigma\right)}\right)}&#10;\end{equation*}&#10;&#10;\end{document}" title="IguanaTex Bitmap Display">
            <a:extLst>
              <a:ext uri="{FF2B5EF4-FFF2-40B4-BE49-F238E27FC236}">
                <a16:creationId xmlns:a16="http://schemas.microsoft.com/office/drawing/2014/main" id="{D6FDBBF9-5F3F-4A3C-B729-3A245C5C1C9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460573" y="2390067"/>
            <a:ext cx="9270854" cy="2428920"/>
          </a:xfrm>
          <a:prstGeom prst="rect">
            <a:avLst/>
          </a:prstGeom>
          <a:ln>
            <a:noFill/>
          </a:ln>
        </p:spPr>
      </p:pic>
      <p:pic>
        <p:nvPicPr>
          <p:cNvPr id="18" name="Picture 17" descr="\documentclass{article}&#10;\usepackage{amsmath,bm,eufrak}&#10;\pagestyle{empty}&#10;\begin{document}&#10;&#10;\begin{align*}&#10;\delta_{s}^{\sigma}  &amp; = \frac{1 + \sigma s}{2} \\&#10;\end{align*}&#10;&#10;\end{document}" title="IguanaTex Bitmap Display">
            <a:extLst>
              <a:ext uri="{FF2B5EF4-FFF2-40B4-BE49-F238E27FC236}">
                <a16:creationId xmlns:a16="http://schemas.microsoft.com/office/drawing/2014/main" id="{8AC3894F-F9F5-41BA-8F36-AB1C774B3D2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565715" y="5347068"/>
            <a:ext cx="1060570" cy="41081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46228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Filtered potential involving perpendicular valleys</a:t>
            </a:r>
          </a:p>
        </p:txBody>
      </p:sp>
      <p:pic>
        <p:nvPicPr>
          <p:cNvPr id="4" name="Picture 3" descr="\documentclass{article}&#10;\usepackage{amsmath,bm,eufrak}&#10;\pagestyle{empty}&#10;\begin{document}&#10;&#10;\begin{equation*}&#10;V_{\perp}^{\left(A^{\left(\sigma\right)}\right)(\mathcal{W})_{01}}&#10;=&#10;\begin{pmatrix}&#10;2\delta_{\sigma_{0}\sigma_{1}}^{\sigma} &amp;                              0 &amp;                              0 &amp;                              0 &amp;                                0 &amp; 0 &amp; 0 &amp; 0 \\&#10;                                      0 &amp;            \phi_{+}^{(\sigma)} &amp;  \mathrm{i}\phi_{-}^{(\sigma)} &amp;                              0 &amp;                                0 &amp; 0 &amp; 0 &amp; 0 \\&#10;                                      0 &amp; -\mathrm{i}\phi_{-}^{(\sigma)} &amp;            \phi_{+}^{(\sigma)} &amp;                              0 &amp;                                0 &amp; 0 &amp; 0 &amp; 0 \\&#10;                                      0 &amp;                              0 &amp;                              0 &amp;           \phi_{+}^{(\sigma)*} &amp;  -\mathrm{i}\phi_{-}^{(\sigma)*} &amp; 0 &amp; 0 &amp; 0 \\&#10;                                      0 &amp;                              0 &amp;                              0 &amp; \mathrm{i}\phi_{-}^{(\sigma)*} &amp;             \phi_{s}^{(\sigma)*} &amp; 0 &amp; 0 &amp; 0 \\&#10;&#10;0 &amp; 0 &amp; 0 &amp; 0 &amp; 0 &amp; 0 &amp; 0 &amp; 0 \\&#10;0 &amp; 0 &amp; 0 &amp; 0 &amp; 0 &amp; 0 &amp; 0 &amp; 0 \\&#10;0 &amp; 0 &amp; 0 &amp; 0 &amp; 0 &amp; 0 &amp; 0 &amp; 0 \\&#10;\end{pmatrix}&#10;U^{\left(A^{\left(\sigma\right)}\right)}&#10;\end{equation*}&#10;&#10;\end{document}" title="IguanaTex Bitmap Display">
            <a:extLst>
              <a:ext uri="{FF2B5EF4-FFF2-40B4-BE49-F238E27FC236}">
                <a16:creationId xmlns:a16="http://schemas.microsoft.com/office/drawing/2014/main" id="{6914F172-E2DA-4749-9F45-D74B9F28DE2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862861" y="2139105"/>
            <a:ext cx="8466279" cy="2579791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\documentclass{article}&#10;\usepackage{amsmath,bm,eufrak}&#10;\pagestyle{empty}&#10;\begin{document}&#10;&#10;\begin{align*}&#10;\delta_{s}^{\sigma}  &amp; = \frac{1 + \sigma s}{2} \\&#10;                   \phi_{s}^{(\sigma)}  &amp; = \tau^{2} + \sigma s\tau = -\left(\frac{1+\sigma s}{2}\right) -\mathrm{i}\sqrt{3}\left(\frac{1-\sigma s}{2}\right) \\&#10;\end{align*}&#10;&#10;\end{document}" title="IguanaTex Bitmap Display">
            <a:extLst>
              <a:ext uri="{FF2B5EF4-FFF2-40B4-BE49-F238E27FC236}">
                <a16:creationId xmlns:a16="http://schemas.microsoft.com/office/drawing/2014/main" id="{A0702188-1DDE-4C72-A110-4CA43A8D8AA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973033" y="5347063"/>
            <a:ext cx="4245935" cy="977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86548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Filtered potential involving parallel valleys</a:t>
            </a:r>
          </a:p>
        </p:txBody>
      </p:sp>
      <p:pic>
        <p:nvPicPr>
          <p:cNvPr id="15" name="Picture 14" descr="\documentclass{article}&#10;\usepackage{amsmath,bm,eufrak}&#10;\pagestyle{empty}&#10;\begin{document}&#10;&#10;\begin{equation*}&#10;V_{\parallel}^{\left(T^{\left(\sigma\right)}\right)(\mathcal{W})_{01}}&#10;=&#10;\frac{1}{\sqrt{3}}&#10;\begin{pmatrix}&#10;0 &amp; 0 &amp; 0 &amp; 0 &amp; 0 &amp;           \delta_{\sigma_{0}\sigma_{1}}^{\sigma}U_{(x)} &amp;          \delta_{\sigma_{0}\sigma_{1}}^{\sigma}U_{(y)} &amp;   \delta_{\sigma_{0}\sigma_{1}}^{\sigma}U_{(z)} \\&#10;0 &amp; 0 &amp; 0 &amp; 0 &amp; 0 &amp;            \delta_{+\sigma_{1}}^{\sigma}\tau^{2}U_{(x)} &amp;              \delta_{+\sigma_{1}}^{\sigma}\tau U_{(y)} &amp;            \delta_{+\sigma_{1}}^{\sigma}U_{(z)} \\&#10;0 &amp; 0 &amp; 0 &amp; 0 &amp; 0 &amp; -\mathrm{i}\delta_{-\sigma_{1}}^{\sigma}\tau^{2}U_{(x)} &amp;   -\mathrm{i}\delta_{-\sigma_{1}}^{\sigma}\tau U_{(y)} &amp; -\mathrm{i}\delta_{-\sigma_{1}}^{\sigma}U_{(z)} \\&#10;0 &amp; 0 &amp; 0 &amp; 0 &amp; 0 &amp;               \delta_{+\sigma_{1}}^{\sigma}\tau U_{(x)} &amp;           \delta_{+\sigma_{1}}^{\sigma}\tau^{2}U_{(y)} &amp;            \delta_{+\sigma_{1}}^{\sigma}U_{(z)} \\&#10;0 &amp; 0 &amp; 0 &amp; 0 &amp; 0 &amp;     \mathrm{i}\delta_{-\sigma_{1}}^{\sigma}\tau U_{(x)} &amp; \mathrm{i}\delta_{-\sigma_{1}}^{\sigma}\tau^{2}U_{(y)} &amp;  \mathrm{i}\delta_{-\sigma_{1}}^{\sigma}U_{(z)} \\&#10;&#10;\delta_{\sigma_{0}\sigma_{1}}^{\sigma}U_{(x)} &amp;    \delta_{\sigma_{0}+}^{\sigma}\tau U_{(x)} &amp;    \mathrm{i}\delta_{\sigma_{0}-}^{\sigma}\tau U_{(x)} &amp; \delta_{\sigma_{0}+}^{\sigma}\tau^{2}U_{(x)} &amp; -\mathrm{i}\delta_{\sigma_{0}-}^{\sigma}\tau^{2}U_{(x)} &amp; 0 &amp; 0 &amp; 0 \\&#10;\delta_{\sigma_{0}\sigma_{1}}^{\sigma}U_{(y)} &amp; \delta_{\sigma_{0}+}^{\sigma}\tau^{2}U_{(y)} &amp; \mathrm{i}\delta_{\sigma_{0}-}^{\sigma}\tau^{2}U_{(y)} &amp;    \delta_{\sigma_{0}+}^{\sigma}\tau U_{(y)} &amp;    -\mathrm{i}\delta_{\sigma_{0}-}^{\sigma}\tau U_{(y)} &amp; 0 &amp; 0 &amp; 0 \\&#10;\delta_{\sigma_{0}\sigma_{1}}^{\sigma}U_{(z)} &amp;         \delta_{\sigma_{0}+}^{\sigma}U_{(z)} &amp;         \mathrm{i}\delta_{\sigma_{0}-}^{\sigma}U_{(z)} &amp;         \delta_{\sigma_{0}+}^{\sigma}U_{(z)} &amp;         -\mathrm{i}\delta_{\sigma_{0}-}^{\sigma}U_{(z)} &amp; 0 &amp; 0 &amp; 0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0C9290F7-B46C-4039-AEA4-8C603D88ED3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95162" y="3371847"/>
            <a:ext cx="11601677" cy="194316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4" name="Picture 3" descr="\documentclass{article}&#10;\usepackage{amsmath,bm,eufrak}&#10;\pagestyle{empty}&#10;\begin{document}&#10;&#10;\begin{align*}&#10;            U_{(x)} = U_{x,3}^{\left(T^{(\sigma)}\right)} \quad\quad&#10;            U_{(y)} = U_{y,3}^{\left(T^{(\sigma)}\right)} \quad\quad&#10;            U_{(z)} = U_{z}^{\left(T^{(\sigma)}\right)}   \quad\quad&#10;\delta_{s}^{\sigma} = \frac{1 + \sigma s}{2} \\&#10;\end{align*}&#10;&#10;\end{document}" title="IguanaTex Bitmap Display">
            <a:extLst>
              <a:ext uri="{FF2B5EF4-FFF2-40B4-BE49-F238E27FC236}">
                <a16:creationId xmlns:a16="http://schemas.microsoft.com/office/drawing/2014/main" id="{9EA293BA-BA1F-4CDC-B368-9B20D688F10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807622" y="2008188"/>
            <a:ext cx="6115956" cy="41203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04292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Inversion filtered potential involving perpendicular valleys</a:t>
            </a:r>
          </a:p>
        </p:txBody>
      </p:sp>
      <p:pic>
        <p:nvPicPr>
          <p:cNvPr id="4" name="Picture 3" descr="\documentclass{article}&#10;\usepackage{amsmath,bm,eufrak}&#10;\pagestyle{empty}&#10;\begin{document}&#10;&#10;\begin{equation*}&#10;V_{\perp}^{\left(T^{\left(\sigma\right)}\right)(\mathcal{W})_{01}}&#10;=&#10;\frac{1}{\sqrt{3}}&#10;\begin{pmatrix}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         2\delta_{\sigma_{0}\sigma_{1}}^{\sigma}U_{x} &amp;          2\delta_{\sigma_{0}\sigma_{1}}^{\sigma}U_{y,1} &amp;  2\delta_{\sigma_{0}\sigma_{1}}^{\sigma}U_{z,1} \\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           \tau^{2}\phi_{+\sigma_{1}}^{(\sigma)}U_{x} &amp;               \tau \phi_{+\sigma_{1}}^{(\sigma)}U_{y,1} &amp;            \phi_{+\sigma_{1}}^{(\sigma)}U_{z,1} \\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-\mathrm{i}\tau^{2}\phi_{-\sigma_{1}}^{(\sigma)}U_{x} &amp;    -\mathrm{i}\tau \phi_{-\sigma_{1}}^{(\sigma)}U_{y,1} &amp; -\mathrm{i}\phi_{-\sigma_{1}}^{(\sigma)}U_{z,1} \\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             \tau \phi_{+\sigma_{1}}^{(\sigma)*}U_{x} &amp;           \tau^{2}\phi_{+\sigma_{1}}^{(\sigma)*}U_{y,1} &amp;           \phi_{+\sigma_{1}}^{(\sigma)*}U_{z,1} \\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   \mathrm{i}\tau \phi_{-\sigma_{1}}^{(\sigma)*}U_{x} &amp; \mathrm{i}\tau^{2}\phi_{-\sigma_{1}}^{(\sigma)*}U_{y,1} &amp; \mathrm{i}\phi_{-\sigma_{1}}^{(\sigma)*}U_{z,1} \\&#10;2\delta_{\sigma_{0}\sigma_{1}}^{\sigma}U_{x,2} &amp;   \tau\phi_{\sigma_{0}+}^{(\sigma)}U_{x,2} &amp;   \tau\mathrm{i}\phi_{\sigma_{0}-}^{(\sigma)}U_{x,2} &amp; \tau^{2}\phi_{\sigma_{0}+}^{(\sigma)*}U_{x,2} &amp; -\mathrm{i}\tau^{2}\phi_{\sigma_{0}-}^{(\sigma)*}U_{x,2} &amp;                                                     0 &amp;                         \sigma\sigma_{0}\sigma_{1}U_{z} &amp;                                         U_{y,3} \\&#10;  2\delta_{\sigma_{0}\sigma_{1}}^{\sigma}U_{y} &amp; \tau^{2}\phi_{\sigma_{0}+}^{(\sigma)}U_{y} &amp; \tau^{2}\mathrm{i}\phi_{\sigma_{0}-}^{(\sigma)}U_{y} &amp;       \tau\phi_{\sigma_{0}+}^{(\sigma)*}U_{y} &amp;       -\mathrm{i}\tau\phi_{\sigma_{0}-}^{(\sigma)*}U_{y} &amp;                                                 U_{z} &amp;                                                       0 &amp;               \sigma\sigma_{0}\sigma_{1}U_{x,3} \\&#10;2\delta_{\sigma_{0}\sigma_{1}}^{\sigma}U_{z,2} &amp;       \phi_{\sigma_{0}+}^{(\sigma)}U_{z,2} &amp;       \mathrm{i}\phi_{\sigma_{0}-}^{(\sigma)}U_{z,2} &amp;         \phi_{\sigma_{0}+}^{(\sigma)*}U_{z,2} &amp;         -\mathrm{i}\phi_{\sigma_{0}-}^{(\sigma)*}U_{z,2} &amp;                     \sigma\sigma_{0}\sigma_{1}U_{y,3} &amp;                                               U_{x,3} &amp;                                                 0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6BA4ACCF-00A8-4062-883F-E32E94A991D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68343" y="2425872"/>
            <a:ext cx="11655315" cy="2210132"/>
          </a:xfrm>
          <a:prstGeom prst="rect">
            <a:avLst/>
          </a:prstGeom>
          <a:ln>
            <a:noFill/>
          </a:ln>
        </p:spPr>
      </p:pic>
      <p:pic>
        <p:nvPicPr>
          <p:cNvPr id="5" name="Picture 4" descr="\documentclass{article}&#10;\usepackage{amsmath,bm,eufrak}&#10;\pagestyle{empty}&#10;\begin{document}&#10;&#10;\begin{align*}&#10;\delta_{s}^{\sigma} &amp; = \frac{1 + \sigma s}{2} \\&#10;\phi_{s}^{(\sigma)} &amp; = \tau^{2} + \sigma s\tau = -\left(\frac{1+\sigma s}{2}\right) -\mathrm{i}\sqrt{3}\left(\frac{1-\sigma s}{2}\right) \\&#10;\end{align*}&#10;&#10;\end{document}" title="IguanaTex Bitmap Display">
            <a:extLst>
              <a:ext uri="{FF2B5EF4-FFF2-40B4-BE49-F238E27FC236}">
                <a16:creationId xmlns:a16="http://schemas.microsoft.com/office/drawing/2014/main" id="{05C76FC8-FE5B-4AC0-9A57-2C5D3A7A38F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973033" y="5230521"/>
            <a:ext cx="4245934" cy="977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11763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Filtered potential involving parallel valleys</a:t>
            </a:r>
          </a:p>
        </p:txBody>
      </p:sp>
      <p:pic>
        <p:nvPicPr>
          <p:cNvPr id="4" name="Picture 3" descr="\documentclass{article}&#10;\usepackage{amsmath,bm,eufrak}&#10;\pagestyle{empty}&#10;\begin{document}&#10;&#10;\begin{equation*}&#10;V_{\parallel}^{\left(E\right)(\mathcal{W})_{01}}&#10;=&#10;\begin{pmatrix}&#10;0                           &amp; W_{2\sigma_{0}+}  &amp; \mathrm{i}W_{2\sigma_{0}-} &amp; W_{1\sigma_{0}+}            &amp; -\mathrm{i}W_{1\sigma_{0}-} &amp; 0 &amp; 0 &amp; 0 \\&#10;W_{1+\sigma_{1}}            &amp; 0                 &amp; 0                          &amp; W_{2++}                     &amp; -\mathrm{i}W_{2+-} &amp; 0 &amp; 0 &amp; 0 \\&#10;-\mathrm{i}W_{1-\sigma_{1}} &amp; 0                 &amp; 0                          &amp; -\mathrm{i}W_{2-+}          &amp; -W_{2--}           &amp; 0 &amp; 0 &amp; 0 \\&#10;W_{2+\sigma_{1}}            &amp; W_{1++}           &amp; \mathrm{i}W_{1+-}          &amp; 0                           &amp; 0                  &amp; 0 &amp; 0 &amp; 0 \\&#10;\mathrm{i}W_{2-\sigma_{1}}  &amp; \mathrm{i}W_{1-+} &amp; -W_{1--}                   &amp; 0                           &amp; 0                  &amp; 0 &amp; 0 &amp; 0 \\&#10;&#10;0 &amp; 0 &amp; 0 &amp; 0 &amp; 0 &amp; W_{x\sigma_{0}\sigma_{1}} &amp;                         0 &amp; 0                         \\&#10;0 &amp; 0 &amp; 0 &amp; 0 &amp; 0 &amp;                         0 &amp; W_{y\sigma_{0}\sigma_{1}} &amp; 0                         \\&#10;0 &amp; 0 &amp; 0 &amp; 0 &amp; 0 &amp;                         0 &amp;                         0 &amp; W_{z\sigma_{0}\sigma_{1}}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34F62FC3-7F9F-42F4-BE1A-0B561B60DE2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69337" y="2364671"/>
            <a:ext cx="10453326" cy="2428916"/>
          </a:xfrm>
          <a:prstGeom prst="rect">
            <a:avLst/>
          </a:prstGeom>
          <a:ln>
            <a:noFill/>
          </a:ln>
        </p:spPr>
      </p:pic>
      <p:pic>
        <p:nvPicPr>
          <p:cNvPr id="33" name="Picture 32" descr="\documentclass{article}&#10;\usepackage{amsmath,bm,eufrak}&#10;\pagestyle{empty}&#10;\begin{document}&#10;&#10;\begin{align*}&#10;W_{1\sigma_{0}\sigma_{1}} &amp; = \frac{ U_{11} + \sigma_{0}\sigma_{1}U_{21} }{ 2 } \\&#10;W_{2\sigma_{0}\sigma_{1}} &amp; = \frac{ U_{22} + \sigma_{0}\sigma_{1}U_{12} }{ 2 } \\&#10;\end{align*}&#10;&#10;\end{document}" title="IguanaTex Bitmap Display">
            <a:extLst>
              <a:ext uri="{FF2B5EF4-FFF2-40B4-BE49-F238E27FC236}">
                <a16:creationId xmlns:a16="http://schemas.microsoft.com/office/drawing/2014/main" id="{93E5A01D-6A9E-42F3-A546-1DCD8C2315B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440234" y="5337105"/>
            <a:ext cx="2190621" cy="908190"/>
          </a:xfrm>
          <a:prstGeom prst="rect">
            <a:avLst/>
          </a:prstGeom>
          <a:ln>
            <a:noFill/>
          </a:ln>
        </p:spPr>
      </p:pic>
      <p:pic>
        <p:nvPicPr>
          <p:cNvPr id="27" name="Picture 26" descr="\documentclass{article}&#10;\usepackage{amsmath,bm,eufrak}&#10;\pagestyle{empty}&#10;\begin{document}&#10;&#10;\begin{align*}&#10;W_{x\sigma_{0}\sigma_{1}} &amp; = \tau W_{1\sigma_{0}\sigma_{1}} + \tau^{2}W_{2\sigma_{0}\sigma_{1}} \\&#10;W_{y\sigma_{0}\sigma_{1}} &amp; = \tau^{2}W_{1\sigma_{0}\sigma_{1}} + \tau W_{2\sigma_{0}\sigma_{1}} \\&#10;W_{z\sigma_{0}\sigma_{1}} &amp; = W_{1\sigma_{0}\sigma_{1}} + W_{2\sigma_{0}\sigma_{1}}              \\&#10;\end{align*}&#10;&#10;\end{document}" title="IguanaTex Bitmap Display">
            <a:extLst>
              <a:ext uri="{FF2B5EF4-FFF2-40B4-BE49-F238E27FC236}">
                <a16:creationId xmlns:a16="http://schemas.microsoft.com/office/drawing/2014/main" id="{DB363AF3-6695-476B-9FF4-A30E08672B6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071089" y="5359657"/>
            <a:ext cx="2680676" cy="86308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21942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Filtered potential involving perpendicular valleys</a:t>
            </a:r>
          </a:p>
        </p:txBody>
      </p:sp>
      <p:pic>
        <p:nvPicPr>
          <p:cNvPr id="4" name="Picture 3" descr="\documentclass{article}&#10;\usepackage{amsmath,bm,eufrak}&#10;\pagestyle{empty}&#10;\begin{document}&#10;&#10;\begin{equation*}&#10;V_{\perp}^{\left(E\right)(\mathcal{W})_{01}}&#10;=&#10;\begin{pmatrix}&#10;                          0 &amp;  -W_{2\sigma_{0}+} &amp; -\mathrm{i}W_{2\sigma_{0}-} &amp;   -W_{1\sigma_{0}+} &amp; \mathrm{i}W_{1\sigma_{0}-} &amp; 0 &amp; 0 &amp; 0 \\&#10;          -W_{1+\sigma_{1}} &amp;                  0 &amp;                           0 &amp;            2W_{2++} &amp;        -2\mathrm{i}W_{2+-} &amp; 0 &amp; 0 &amp; 0 \\&#10; \mathrm{i}W_{1-\sigma_{1}} &amp;                  0 &amp;                           0 &amp; -2\mathrm{i}W_{2+-} &amp;                  -2W_{2--} &amp; 0 &amp; 0 &amp; 0 \\&#10;          -W_{2+\sigma_{1}} &amp;           2W_{1++} &amp;          2\mathrm{i}W_{1+-} &amp;                   0 &amp;                          0 &amp; 0 &amp; 0 &amp; 0 \\&#10;-\mathrm{i}W_{2-\sigma_{1}} &amp; 2\mathrm{i}W_{1-+} &amp;                   -2W_{1--} &amp;                   0 &amp;                          0 &amp; 0 &amp; 0 &amp; 0 \\&#10;                          0 &amp;                  0 &amp;                           0 &amp;                   0 &amp;                          0 &amp; 0 &amp; 0 &amp; 0 \\&#10;                          0 &amp;                  0 &amp;                           0 &amp;                   0 &amp;                          0 &amp; 0 &amp; 0 &amp; 0 \\&#10;                          0 &amp;                  0 &amp;                           0 &amp;                   0 &amp;                          0 &amp; 0 &amp; 0 &amp; 0 \\&#10;\end{pmatrix}&#10;\end{equation*}&#10;&#10;\end{document}" title="IguanaTex Bitmap Display">
            <a:extLst>
              <a:ext uri="{FF2B5EF4-FFF2-40B4-BE49-F238E27FC236}">
                <a16:creationId xmlns:a16="http://schemas.microsoft.com/office/drawing/2014/main" id="{303942C5-9960-4787-855D-807E68746B3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616010" y="2214534"/>
            <a:ext cx="8959981" cy="2428922"/>
          </a:xfrm>
          <a:prstGeom prst="rect">
            <a:avLst/>
          </a:prstGeom>
          <a:ln>
            <a:noFill/>
          </a:ln>
        </p:spPr>
      </p:pic>
      <p:pic>
        <p:nvPicPr>
          <p:cNvPr id="29" name="Picture 28" descr="\documentclass{article}&#10;\usepackage{amsmath,bm,eufrak}&#10;\pagestyle{empty}&#10;\begin{document}&#10;&#10;\begin{align*}&#10;W_{1\sigma_{0}\sigma_{1}} &amp; = \frac{ U_{11} + \sigma_{0}\sigma_{1}U_{21} }{ 2 } \\&#10;W_{2\sigma_{0}\sigma_{1}} &amp; = \frac{ U_{22} + \sigma_{0}\sigma_{1}U_{12} }{ 2 } \\&#10;\end{align*}&#10;&#10;\end{document}" title="IguanaTex Bitmap Display">
            <a:extLst>
              <a:ext uri="{FF2B5EF4-FFF2-40B4-BE49-F238E27FC236}">
                <a16:creationId xmlns:a16="http://schemas.microsoft.com/office/drawing/2014/main" id="{4029B753-7004-4951-98C6-0BD9BF66339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000690" y="5121872"/>
            <a:ext cx="2190621" cy="90819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45291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i="1" dirty="0"/>
              <a:t>m</a:t>
            </a:r>
            <a:r>
              <a:rPr lang="en-US" i="1" baseline="-25000" dirty="0"/>
              <a:t>0</a:t>
            </a:r>
            <a:r>
              <a:rPr lang="en-US" dirty="0"/>
              <a:t> even, </a:t>
            </a:r>
            <a:r>
              <a:rPr lang="en-US" i="1" dirty="0"/>
              <a:t>m</a:t>
            </a:r>
            <a:r>
              <a:rPr lang="en-US" i="1" baseline="-25000" dirty="0"/>
              <a:t>1</a:t>
            </a:r>
            <a:r>
              <a:rPr lang="en-US" dirty="0"/>
              <a:t> even – Final form</a:t>
            </a:r>
          </a:p>
        </p:txBody>
      </p:sp>
      <p:pic>
        <p:nvPicPr>
          <p:cNvPr id="24" name="Picture 23" descr="\documentclass{article}&#10;\usepackage{amsmath,bm,eufrak}&#10;\pagestyle{empty}&#10;\begin{document}&#10;&#10;\begin{align*}&#10;(\bm{\mathcal{M}})^{(j)}_{\parallel(mlk\mathcal{W})_{01}}&#10;&amp; =&#10;\left(\bm{\mathcal{M}}\right)&#10;^{(j)(\mathcal{W})_{01}(zz)(\pi/2)}&#10;_{\parallel,\left(m\left(\sigma\mathrm{i}^{m}\right)lk\left(\omega\sigma\mathrm{i}^{m}(-1)^{l}\right)\right)_{01}}&#10;\\&#10;(\bm{\mathcal{M}})^{(j)}_{\perp(mlk\mathcal{W})_{01}}&#10;&amp; =&#10;\left(\bm{\mathcal{M}}\right)&#10;^{(j)(\mathcal{W})_{01}(yx)(\pi)}&#10;_{\perp,\left(m\left(\sigma\mathrm{i}^{m}\right)lk\left(\omega\sigma\mathrm{i}^{m}(-1)^{l}\right)\right)_{01}}&#10;\\&#10;\end{align*}&#10;&#10;\end{document}" title="IguanaTex Bitmap Display">
            <a:extLst>
              <a:ext uri="{FF2B5EF4-FFF2-40B4-BE49-F238E27FC236}">
                <a16:creationId xmlns:a16="http://schemas.microsoft.com/office/drawing/2014/main" id="{C94047F1-1132-49CA-AF8E-7DFE366A82F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839314" y="4443963"/>
            <a:ext cx="4513372" cy="836572"/>
          </a:xfrm>
          <a:prstGeom prst="rect">
            <a:avLst/>
          </a:prstGeom>
          <a:ln>
            <a:noFill/>
          </a:ln>
        </p:spPr>
      </p:pic>
      <p:pic>
        <p:nvPicPr>
          <p:cNvPr id="22" name="Picture 21" descr="\documentclass{article}&#10;\usepackage{amsmath,bm,eufrak}&#10;\pagestyle{empty}&#10;\begin{document}&#10;&#10;\begin{align*}&#10;(\bm{\mathcal{M}})&#10;_{\left(mlk\mathcal{W}\right)_{01}}^{(j)}&#10;&amp; =&#10;(\bm{\mathcal{M}}_{\parallel}+\bm{\mathcal{M}}_{\perp})^{(j)}_{(mlk\mathcal{W})_{01}}&#10;\\&#10;\end{align*}&#10;&#10;\end{document}" title="IguanaTex Bitmap Display">
            <a:extLst>
              <a:ext uri="{FF2B5EF4-FFF2-40B4-BE49-F238E27FC236}">
                <a16:creationId xmlns:a16="http://schemas.microsoft.com/office/drawing/2014/main" id="{F52DCE52-96D8-4DB8-9526-A395B19C7DF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23314" y="3566459"/>
            <a:ext cx="3745372" cy="36891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91169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i="1" dirty="0"/>
              <a:t>m</a:t>
            </a:r>
            <a:r>
              <a:rPr lang="en-US" i="1" baseline="-25000" dirty="0"/>
              <a:t>0</a:t>
            </a:r>
            <a:r>
              <a:rPr lang="en-US" dirty="0"/>
              <a:t> even, </a:t>
            </a:r>
            <a:r>
              <a:rPr lang="en-US" i="1" dirty="0"/>
              <a:t>m</a:t>
            </a:r>
            <a:r>
              <a:rPr lang="en-US" i="1" baseline="-25000" dirty="0"/>
              <a:t>1</a:t>
            </a:r>
            <a:r>
              <a:rPr lang="en-US" dirty="0"/>
              <a:t> odd – Final form</a:t>
            </a:r>
          </a:p>
        </p:txBody>
      </p:sp>
      <p:pic>
        <p:nvPicPr>
          <p:cNvPr id="6" name="Picture 5" descr="\documentclass{article}&#10;\usepackage{amsmath,bm,eufrak}&#10;\pagestyle{empty}&#10;\begin{document}&#10;&#10;\begin{align*}&#10;(\bm{\mathcal{M}})_{\parallel(mlk\mathcal{W})_{0}(mhlkT_{q}^{\sigma})_{1}}^{(j)}&#10;&amp; =&#10;-\mathrm{i}\sqrt{2}h_{1}\sigma_{1}\left(-1\right)^{\frac{m_{1}-1}{2}}&#10;\bm{\mathcal{M}}^{(j)(y,+x)}_{\parallel,(zxy)(mlk\mathcal{W})_{0}(mhlkT_{q}^{\sigma})_{1}}&#10;\\&#10;(\bm{\mathcal{M}})_{\perp(mlk\mathcal{W})_{0}(mhlkT_{q}^{\sigma})_{1}}^{(j)}&#10;&amp; =&#10;\frac{1}{\sqrt{2}}&#10;\left(&#10;\bm{\mathcal{M}}^{(z,-z)}_{(yzx)}&#10;+&#10;\bm{\mathcal{M}}^{(y,-x)}_{(yzx)}&#10;\right)_{\perp(mlk\mathcal{W})_{0}(mhlkT_{q}^{\sigma})_{1}}^{(j)}&#10;\\&#10;\end{align*}&#10;&#10;\end{document}" title="IguanaTex Bitmap Display">
            <a:extLst>
              <a:ext uri="{FF2B5EF4-FFF2-40B4-BE49-F238E27FC236}">
                <a16:creationId xmlns:a16="http://schemas.microsoft.com/office/drawing/2014/main" id="{D9436C40-87BA-4DFE-9BEA-4E0921ED1D0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527543" y="2425789"/>
            <a:ext cx="7136915" cy="1062857"/>
          </a:xfrm>
          <a:prstGeom prst="rect">
            <a:avLst/>
          </a:prstGeom>
          <a:ln>
            <a:noFill/>
          </a:ln>
        </p:spPr>
      </p:pic>
      <p:pic>
        <p:nvPicPr>
          <p:cNvPr id="32" name="Picture 31" descr="\documentclass{article}&#10;\usepackage{amsmath,bm,eufrak}&#10;\pagestyle{empty}&#10;\begin{document}&#10;&#10;\begin{align*}&#10;\left(\bm{\mathcal{M}}\right)^{(j)(p_{0},s_{1}p_{1})}&#10;_{\aleph,\hat{R}(mlk\mathcal{W})_{0}(mhlkT_{q}^{\sigma})_{1}}&#10;&amp; =&#10;\left(\bm{\mathcal{M}}\right)&#10;^{(j)(\mathcal{W}_{0}T_{q_{1}}^{\sigma_{1}})(p_{0}p_{1})(\pi)}&#10;_{&#10;\aleph,\hat{R}&#10;\left(m\left(\sigma\mathrm{i}^{m}\right)lk\left(\omega\sigma\mathrm{i}^{m}(-1)^{l}\right)\right)_{0}&#10;\left(m\left(-sh\right)lk\left(h(-1)^{l}\right)\right)_{1}&#10;}&#10;\end{align*}&#10;&#10;\end{document}" title="IguanaTex Bitmap Display">
            <a:extLst>
              <a:ext uri="{FF2B5EF4-FFF2-40B4-BE49-F238E27FC236}">
                <a16:creationId xmlns:a16="http://schemas.microsoft.com/office/drawing/2014/main" id="{845B4B93-E46C-4AA3-80E6-23F71B70915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874667" y="4543796"/>
            <a:ext cx="6442667" cy="402285"/>
          </a:xfrm>
          <a:prstGeom prst="rect">
            <a:avLst/>
          </a:prstGeom>
          <a:ln>
            <a:noFill/>
          </a:ln>
        </p:spPr>
      </p:pic>
      <p:pic>
        <p:nvPicPr>
          <p:cNvPr id="7" name="Picture 6" descr="\documentclass{article}&#10;\usepackage{amsmath,bm,eufrak}&#10;\pagestyle{empty}&#10;\begin{document}&#10;&#10;\begin{align*}&#10;(\bm{\mathcal{M}})_{\perp(mlk\mathcal{W})_{0}(mhlkT_{q}^{\sigma})_{1}}^{(j)}&#10;&amp; =&#10;\frac{1}{\sqrt{2}}&#10;\left(&#10;\bm{\mathcal{M}}^{(z,-z)}_{(yzx)}&#10;+&#10;\bm{\mathcal{M}}^{(y,-x)}_{(yzx)}&#10;\right)_{\perp(mlk\mathcal{W})_{0}(mhlkT_{q}^{\sigma})_{1}}&#10;\\&#10;\end{align*}&#10;&#10;\end{document}" title="IguanaTex Bitmap Display">
            <a:extLst>
              <a:ext uri="{FF2B5EF4-FFF2-40B4-BE49-F238E27FC236}">
                <a16:creationId xmlns:a16="http://schemas.microsoft.com/office/drawing/2014/main" id="{D3DAC502-0B49-46A0-A35A-542FBF56568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840396" y="8539796"/>
            <a:ext cx="6994286" cy="53211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76098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i="1" dirty="0"/>
              <a:t>m</a:t>
            </a:r>
            <a:r>
              <a:rPr lang="en-US" i="1" baseline="-25000" dirty="0"/>
              <a:t>0</a:t>
            </a:r>
            <a:r>
              <a:rPr lang="en-US" dirty="0"/>
              <a:t> odd, </a:t>
            </a:r>
            <a:r>
              <a:rPr lang="en-US" i="1" dirty="0"/>
              <a:t>m</a:t>
            </a:r>
            <a:r>
              <a:rPr lang="en-US" i="1" baseline="-25000" dirty="0"/>
              <a:t>1</a:t>
            </a:r>
            <a:r>
              <a:rPr lang="en-US" dirty="0"/>
              <a:t> even – Final form</a:t>
            </a:r>
          </a:p>
        </p:txBody>
      </p:sp>
      <p:pic>
        <p:nvPicPr>
          <p:cNvPr id="19" name="Picture 18" descr="\documentclass{article}&#10;\usepackage{amsmath,bm,eufrak}&#10;\pagestyle{empty}&#10;\begin{document}&#10;&#10;\begin{align*}&#10;(\bm{\mathcal{M}})_{\parallel(mhlkT_{q}^{\sigma})_{0}(mlk\mathcal{W})_{1}}^{(j)}&#10;&amp; =&#10;\sqrt{2}&#10;\bm{\mathcal{M}}_{\parallel,(yzx)(mhlkT_{q}^{\sigma})_{0}(mlk\mathcal{W})_{1}}^{(j)(-y,x)} &#10;\\&#10;(\bm{\mathcal{M}})_{\perp(mhlkT_{q}^{\sigma})_{0}(mlk\mathcal{W})_{1}}^{(j)}&#10;&amp; =&#10;\frac{\mathrm{i}}{\sqrt{2}}&#10;h_{0}\sigma_{0}\left(-1\right)^{\frac{m_{0}-1}{2}}&#10;\left(&#10;\bm{\mathcal{M}}^{(-z,z)}_{(zxy)}&#10;+&#10;\bm{\mathcal{M}}^{(+y,x)}_{(zxy)}&#10;\right)_{\perp(mhlkT_{q}^{\sigma})_{0}(mlk\mathcal{W})_{1}}^{(j)}&#10;\\&#10;\end{align*}&#10;&#10;\end{document}" title="IguanaTex Bitmap Display">
            <a:extLst>
              <a:ext uri="{FF2B5EF4-FFF2-40B4-BE49-F238E27FC236}">
                <a16:creationId xmlns:a16="http://schemas.microsoft.com/office/drawing/2014/main" id="{3076AA11-F0E9-4AB1-BB73-F0CEC7AA9C9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866516" y="2367079"/>
            <a:ext cx="8458968" cy="1025828"/>
          </a:xfrm>
          <a:prstGeom prst="rect">
            <a:avLst/>
          </a:prstGeom>
        </p:spPr>
      </p:pic>
      <p:pic>
        <p:nvPicPr>
          <p:cNvPr id="27" name="Picture 26" descr="\documentclass{article}&#10;\usepackage{amsmath,bm,eufrak}&#10;\pagestyle{empty}&#10;\begin{document}&#10;&#10;\begin{align*}&#10;(\bm{\mathcal{M}})_{\aleph,\hat{R}(mhlkT_{q}^{\sigma})_{0}(mlk\mathcal{W})_{1}}^{(j)(s_{0}p_{0},p_{1})} &#10;&amp; =&#10;\left(\bm{\mathcal{M}}\right)&#10;^{(j)(T_{q_{0}}^{\sigma_{0}}\mathcal{W}_{1})(p_{0}p_{1})(\pi)}&#10;_{&#10;\aleph,\hat{R}&#10;\left(m\left(-sh\right)lk\left(h\left(-1\right)^{l}\right)\right)_{0}&#10;\left(m\left(\sigma\mathrm{i}^{m}\right)lk\left(\omega\sigma\mathrm{i}^{m}(-1)^{l}\right)\right)_{1}}&#10;\end{align*}&#10;&#10;\end{document}" title="IguanaTex Bitmap Display">
            <a:extLst>
              <a:ext uri="{FF2B5EF4-FFF2-40B4-BE49-F238E27FC236}">
                <a16:creationId xmlns:a16="http://schemas.microsoft.com/office/drawing/2014/main" id="{0FC40CBA-9A22-4495-BB51-D06961FC396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843583" y="4426928"/>
            <a:ext cx="6504835" cy="42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3569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i="1" dirty="0"/>
              <a:t>m</a:t>
            </a:r>
            <a:r>
              <a:rPr lang="en-US" i="1" baseline="-25000" dirty="0"/>
              <a:t>0</a:t>
            </a:r>
            <a:r>
              <a:rPr lang="en-US" dirty="0"/>
              <a:t> odd, </a:t>
            </a:r>
            <a:r>
              <a:rPr lang="en-US" i="1" dirty="0"/>
              <a:t>m</a:t>
            </a:r>
            <a:r>
              <a:rPr lang="en-US" i="1" baseline="-25000" dirty="0"/>
              <a:t>1</a:t>
            </a:r>
            <a:r>
              <a:rPr lang="en-US" dirty="0"/>
              <a:t> odd – Final form</a:t>
            </a:r>
          </a:p>
        </p:txBody>
      </p:sp>
      <p:pic>
        <p:nvPicPr>
          <p:cNvPr id="22" name="Picture 21" descr="\documentclass{article}&#10;\usepackage{amsmath,bm,eufrak}&#10;\pagestyle{empty}&#10;\begin{document}&#10;&#10;\begin{align*}&#10;\left(\bm{\mathcal{M}}\right)&#10;^{(j)(s_{0}p_{0},s_{1}p_{1})}&#10;_{\aleph,\hat{R}(mlkhT_{q}^{\sigma})_{01}}&#10;&amp; =&#10;\left(\bm{\mathcal{M}}\right)&#10;^{(j)\left(T_{q}^{\sigma}\right)_{01}(p_{0}p_{1})(\pi)}&#10;_{\aleph,\hat{R}\left(m\left(-sh\right)lk\left(h\left(-1\right)^{l}\right)\right)_{01}}&#10;\\&#10;\end{align*}&#10;&#10;\end{document}" title="IguanaTex Bitmap Display">
            <a:extLst>
              <a:ext uri="{FF2B5EF4-FFF2-40B4-BE49-F238E27FC236}">
                <a16:creationId xmlns:a16="http://schemas.microsoft.com/office/drawing/2014/main" id="{CD07EA44-D8F0-4A90-8879-76EE9866490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007163" y="4764245"/>
            <a:ext cx="4177674" cy="46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8" name="Picture 17" descr="\documentclass{article}&#10;\usepackage{amsmath,bm,eufrak}&#10;\pagestyle{empty}&#10;\begin{document}&#10;&#10;\begin{align*}&#10;(\bm{\mathcal{M}})_{\parallel\left(mhlkT_{q}^{(\sigma)}\right)_{01}}^{(j)}&#10;&amp; =&#10;\left(&#10;\bm{\mathcal{M}}^{(-z,-z)}_{(zxy)}&#10;+&#10;\mathrm{i}h_{0}\sigma_{0}\left(-1\right)^{\frac{m_{0}-1}{2}}\bm{\mathcal{M}}^{(+y,-x)}_{(xyz)}&#10;\right)&#10;_{\parallel\left(mhlkT_{q}^{(\sigma)}\right)_{01}}&#10;^{(j)}&#10;\\&#10;(\bm{\mathcal{M}})_{\perp\left(mhlkT_{q}^{(\sigma)}\right)_{01}}^{(j)}&#10;&amp; =&#10;\frac{1}{2}\left(&#10;\bm{\mathcal{M}}^{(-y,-x)}_{(zxy)}&#10;-&#10;h_{0}h_{1}\sigma_{0}\sigma_{1}&#10;\left(-1\right)^{\frac{m_{0}+m_{1}}{2}}&#10;\bm{\mathcal{M}}^{(+y,+x)}_{(yzx)}&#10;+&#10;\mathrm{i}\left(&#10;h_{0}\sigma_{0}\left(-1\right)^{\frac{m_{0}-1}{2}}\bm{\mathcal{M}}^{(+z,-z)}_{(xyz)}&#10;-&#10;h_{1}\sigma_{1}\left(-1\right)^{\frac{m_{1}-1}{2}}\bm{\mathcal{M}}^{(-y,+x)}_{(xyz)}&#10;\right)&#10;\right)&#10;_{\perp\left(mhlkT_{q}^{(\sigma)}\right)_{01}}&#10;^{(j)}&#10;\\&#10;\end{align*}&#10;&#10;\end{document}" title="IguanaTex Bitmap Display">
            <a:extLst>
              <a:ext uri="{FF2B5EF4-FFF2-40B4-BE49-F238E27FC236}">
                <a16:creationId xmlns:a16="http://schemas.microsoft.com/office/drawing/2014/main" id="{ECA9D9DE-DE49-4390-AB60-BDAFDA3C23E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68534" y="2467382"/>
            <a:ext cx="11054933" cy="102613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14189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Base Integration Formula for Matrix Elements</a:t>
            </a:r>
          </a:p>
        </p:txBody>
      </p:sp>
      <p:pic>
        <p:nvPicPr>
          <p:cNvPr id="22" name="Picture 21" descr="\documentclass{article}&#10;\usepackage{amsmath,bm,eufrak}&#10;\pagestyle{empty}&#10;\begin{document}&#10;&#10;\begin{align*}&#10;\left(\bm{\mathcal{M}}\right)&#10;^{(j)(\mathcal{W})_{01}(p_{0}p_{1})(\tau)}&#10;_{\aleph,\hat{R}\left(m\zeta lk\Omega\right)_{01}}&#10;&amp; =&#10;2&#10;\int_{0}^{1} \mathrm{d}\chi&#10;\int_{-\tau/2}^{+\tau/2} \frac{\mathrm{d}\phi}{\tau}&#10;\int_{0}^{\infty} r^2\mathrm{d}r\,&#10;V_{\aleph,\hat{R}}^{(j)(\mathcal{W})_{01}}\,&#10;2\pi&#10;\left(\Phi_{(m\zeta lk)_{0}}^{\left(p_{0}\right)}\right)^{*}&#10;\Phi_{(m\zeta lk)_{1}}^{\left(p_{1}\right)}&#10;\Theta_{\Omega_{0}}^{(p_{0})*}&#10;\Theta_{\Omega_{1}}^{(p_{1})}&#10;\\&#10;\end{align*}&#10;&#10;\end{document}" title="IguanaTex Bitmap Display">
            <a:extLst>
              <a:ext uri="{FF2B5EF4-FFF2-40B4-BE49-F238E27FC236}">
                <a16:creationId xmlns:a16="http://schemas.microsoft.com/office/drawing/2014/main" id="{2BA9D17F-45BC-4F9A-B673-841A22468AC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49484" y="3234921"/>
            <a:ext cx="9493032" cy="6198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01509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39.9325"/>
  <p:tag name="ORIGINALWIDTH" val="5399.325"/>
  <p:tag name="OUTPUTTYPE" val="PNG"/>
  <p:tag name="IGUANATEXVERSION" val="159"/>
  <p:tag name="LATEXADDIN" val="\documentclass{article}&#10;\usepackage{amsmath,bm}&#10;\pagestyle{empty}&#10;\begin{document}&#10;&#10;\begin{align*}&#10;\hat{\mathcal{R}}_{\eta\lambda;lk,s}^{(W\kappa p)}&#10;&amp; =&#10;\left(\frac{2\vartheta_{\lambda\left\{\chi_{p}\right\}}}{Wa_{0}\eta}\right)^{\frac{3}{2}}&#10;\left[&#10;\sqrt{W}&#10;\rho^{\frac{l}{W}-\kappa\delta_{W,1}-\delta_{s,-1}}\mathrm{e}^{-\rho/2}&#10;\sum_{v=-2\kappa}^{\kappa+\delta_{s,-1}}&#10;h_{lk,sv}^{(\kappa)}&#10;\hat{L}_{k+v}^{\left(\frac{2}{W}\left(l+\frac{1}{W}\right)+\kappa-\delta_{s,-1}\right)}&#10;\right|_{\rho \rightarrow \left(\frac{2r\vartheta_{\lambda\left\{\chi_{p}\right\}}}{Wa_{0}\eta}\right)^{W}}&#10;\\&#10;\end{align*}&#10;&#10;\end{document}"/>
  <p:tag name="IGUANATEXSIZE" val="20"/>
  <p:tag name="IGUANATEXCURSOR" val="555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3.2058"/>
  <p:tag name="ORIGINALWIDTH" val="3274.091"/>
  <p:tag name="OUTPUTTYPE" val="PNG"/>
  <p:tag name="IGUANATEXVERSION" val="159"/>
  <p:tag name="LATEXADDIN" val="\documentclass{article}&#10;\usepackage{amsmath,bm,eufrak}&#10;\pagestyle{empty}&#10;\begin{document}&#10;&#10;\begin{equation*}&#10;\Phi_{m\zeta lk;\eta\lambda}^{(W\kappa p)}&#10;= &#10;\left(\frac{\hbar^{2}}{2m_{0}a_{0}^{2}\eta^{2}}\right)^{\kappa}&#10;\hat{Q}_{m\zeta}^{(p)}&#10;\sum_{s=-\kappa}^{+\kappa}&#10;\mathfrak{H}^{(\kappa)}_{\lambda;lm,s}&#10;\hat{\mathcal{P}}_{\lambda;(l+2s)m}^{(p)}&#10;\hat{\mathcal{R}}_{\eta\lambda;lk,s}^{(W\kappa p)}&#10;\end{equation*}&#10;&#10;\end{document}"/>
  <p:tag name="IGUANATEXSIZE" val="20"/>
  <p:tag name="IGUANATEXCURSOR" val="398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80.8774"/>
  <p:tag name="ORIGINALWIDTH" val="2710.911"/>
  <p:tag name="OUTPUTTYPE" val="PNG"/>
  <p:tag name="IGUANATEXVERSION" val="159"/>
  <p:tag name="LATEXADDIN" val="\documentclass{article}&#10;\usepackage{amsmath,bm,eufrak}&#10;\pagestyle{empty}&#10;\begin{document}&#10;&#10;\begin{align*}&#10;\vartheta_{\lambda\left\{\chi\right\}}&#10;&amp; =&#10;\sqrt{1 + \left(\lambda^2-1\right)\chi^2}&#10;\\&#10;\hat{\mathcal{P}}_{\lambda;lm}^{(p)}&#10;&amp; = &#10;\sqrt{\frac{\lambda}{\vartheta_{\lambda\left\{\chi\right\}}^{3}}}&#10;\sqrt{\frac{(2l+1)\left(l-m\right)!}{2\left(l+m\right)!}}&#10;P_{lm}\left(\frac{\lambda \chi_{q}}{\vartheta_{\lambda\left\{\chi_{q}\right\}}}\right)&#10;\\&#10;\hat{Q}_{m\xi}^{(p)}&#10;&amp; = &#10;\frac{1}{\sqrt{2\pi}}&#10;\left(\frac{\mathrm{e}^{\mathrm{i}m \phi_{p}}+ \xi\mathrm{e}^{-\mathrm{i}m \phi_{p}}}&#10;{2\delta_{m0} + \sqrt{2}\left(1-\delta_{m0}\right)}\right)&#10;\end{align*}&#10;&#10;\end{document} "/>
  <p:tag name="IGUANATEXSIZE" val="20"/>
  <p:tag name="IGUANATEXCURSOR" val="581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0.6299"/>
  <p:tag name="ORIGINALWIDTH" val="1259.093"/>
  <p:tag name="LATEXADDIN" val="\documentclass{article}&#10;\usepackage{amsmath,bm,eufrak}&#10;\pagestyle{empty}&#10;\begin{document}&#10;&#10;\begin{align*}&#10;\chi_{x}   &amp;= \frac{x}{r} = \sin(\theta)\cos(\phi) \\&#10;\chi_{y}   &amp;= \frac{y}{r} = \sin(\theta)\sin(\phi) \\&#10;\chi_{z}   &amp;= \frac{z}{r} = \cos(\theta) \\&#10;\phi_{q_1} &amp;= \operatorname{Arg}\left(\chi_{q_2} \pm \mathrm{i}\chi_{q_3}\right)&#10;\end{align*}&#10;&#10;\end{document} "/>
  <p:tag name="IGUANATEXSIZE" val="20"/>
  <p:tag name="IGUANATEXCURSOR" val="27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2.9246"/>
  <p:tag name="ORIGINALWIDTH" val="782.9021"/>
  <p:tag name="LATEXADDIN" val="\documentclass{article}&#10;\usepackage{amsmath,bm}&#10;\pagestyle{empty}&#10;\begin{document}&#10;&#10;\begin{tabular}{c|cc}&#10;$q_1$ &amp; $q_2$ &amp; $q_3$ \\ \hline&#10;$x$   &amp; $y$   &amp; $z$ \\&#10;$y$   &amp; $z$   &amp; $x$ \\&#10;$z$   &amp; $x$   &amp; $y$ \\&#10;\end{tabular}&#10;&#10;\end{document}"/>
  <p:tag name="IGUANATEXSIZE" val="20"/>
  <p:tag name="IGUANATEXCURSOR" val="20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592.801"/>
  <p:tag name="OUTPUTTYPE" val="PNG"/>
  <p:tag name="IGUANATEXVERSION" val="159"/>
  <p:tag name="LATEXADDIN" val="\documentclass{article}&#10;\usepackage{amsmath,bm}&#10;\pagestyle{empty}&#10;\begin{document}&#10;&#10;\begin{align*}&#10;h_{lk,v}^{(\kappa s)}&#10;&amp; =&#10;\left(1-\kappa\right)\delta_{s0}\delta_{v0} + \kappa g_{lk,v}^{(s)}&#10;\\&#10;\end{align*}&#10;&#10;\end{document}"/>
  <p:tag name="IGUANATEXSIZE" val="20"/>
  <p:tag name="IGUANATEXCURSOR" val="166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941.1324"/>
  <p:tag name="LATEXADDIN" val="\documentclass{article}&#10;\usepackage{amsmath,bm,eufrak}&#10;\pagestyle{empty}&#10;\begin{document}&#10;&#10;\begin{align*}&#10;\alpha&#10;=&#10;\frac{2}{W}\left(l+\frac{1}{W}\right)&#10;\end{align*}&#10;&#10;\end{document}"/>
  <p:tag name="IGUANATEXSIZE" val="14"/>
  <p:tag name="IGUANATEXCURSOR" val="13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0.105"/>
  <p:tag name="ORIGINALWIDTH" val="2294.713"/>
  <p:tag name="LATEXADDIN" val="\documentclass{article}&#10;\usepackage{amsmath,bm,amssymb}&#10;\pagestyle{empty}&#10;\begin{document}&#10;&#10;\begin{align*}&#10;\mathfrak{Y}^{(0)}_{lm}&#10;&amp; =&#10;\frac{&#10;2l^2-2m^2+2l-1&#10;}{&#10;(2l-1)(2l+3)&#10;}  \\&#10;\mathfrak{Y}^{(-1)}_{lm}&#10;&amp; =&#10;\sqrt{\frac{&#10;\left((l-1)^2-m^2\right)&#10;\left(l^2-m^2\right)&#10;}{&#10;(2l-3)(2l-1)^{2}(2l+1)&#10;}}&#10;\\&#10;\mathfrak{Y}^{(+1)}_{lm}&#10;&amp; =&#10;\sqrt{\frac{&#10;\left((l+1)^2-m^2\right)&#10;\left((l+2)^2-m^2\right)&#10;}{&#10;(2l+1)(2l+3)^{2}(2l+5)&#10;}}&#10;\\&#10;\end{align*}&#10;&#10;\end{document}"/>
  <p:tag name="IGUANATEXSIZE" val="20"/>
  <p:tag name="IGUANATEXCURSOR" val="47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748.781"/>
  <p:tag name="OUTPUTTYPE" val="PNG"/>
  <p:tag name="IGUANATEXVERSION" val="159"/>
  <p:tag name="LATEXADDIN" val="\documentclass{article}&#10;\usepackage{amsmath,bm,eufrak}&#10;\pagestyle{empty}&#10;\begin{document}&#10;&#10;\begin{equation*}&#10;\mathfrak{H}^{(\kappa)}_{\lambda;lm,s}&#10;= &#10;\delta_{s,0}-\kappa\left(1-\gamma\lambda^{2}\right)\mathfrak{Y}_{lm}^{(s)}&#10;\end{equation*}&#10;&#10;\end{document}"/>
  <p:tag name="IGUANATEXSIZE" val="20"/>
  <p:tag name="IGUANATEXCURSOR" val="130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7.1392"/>
  <p:tag name="ORIGINALWIDTH" val="2201.725"/>
  <p:tag name="LATEXADDIN" val="\documentclass{article}&#10;\usepackage{amsmath,bm,eufrak}&#10;\pagestyle{empty}&#10;\begin{document}&#10;&#10;\begin{gather*}&#10;g_{lk,-2}^{(+1)}&#10;=&#10;-\sqrt{(k-1)k(k+\alpha)}&#10;\\&#10;g_{lk,-1}^{(+1)}&#10;=&#10;-\sqrt{k}\left(k+2\alpha+5-2\delta_{W,2}\right)&#10;\\&#10;g_{lk,0}^{(+1)}&#10;=&#10;\sqrt{k+\alpha+1}&#10;\left(k-\alpha-4+2\delta_{W,2}\right)&#10;\\&#10;g_{lk,+1}^{(+1)}&#10;=&#10;\sqrt{(k+1)(k+1+\alpha)(k+2+\alpha)}&#10;\\&#10;\end{gather*}&#10;&#10;\end{document}"/>
  <p:tag name="IGUANATEXSIZE" val="13"/>
  <p:tag name="IGUANATEXCURSOR" val="289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7.1392"/>
  <p:tag name="ORIGINALWIDTH" val="2201.725"/>
  <p:tag name="LATEXADDIN" val="\documentclass{article}&#10;\usepackage{amsmath,bm,eufrak}&#10;\pagestyle{empty}&#10;\begin{document}&#10;&#10;\begin{gather*}&#10;g_{lk,-2}^{(0)}&#10;=&#10;-\sqrt{(k-1)k(k+\alpha)}&#10;\\&#10;g_{lk,-1}^{(0)}&#10;=&#10;-\sqrt{k}\left(k+3-2\delta_{W,2}\right)&#10;\\&#10;g_{lk,0}^{(0)}&#10;=&#10;\sqrt{k+\alpha+1}&#10;\left(k+\alpha-2+2\delta_{W,2}\right)&#10;\\&#10;g_{lk,+1}^{(0)}&#10;=&#10;\sqrt{(k+1)(k+1+\alpha)(k+2+\alpha)}&#10;\\&#10;\end{gather*}&#10;&#10;\end{document}"/>
  <p:tag name="IGUANATEXSIZE" val="13"/>
  <p:tag name="IGUANATEXCURSOR" val="278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1.86"/>
  <p:tag name="ORIGINALWIDTH" val="4209.224"/>
  <p:tag name="LATEXADDIN" val="\documentclass{article}&#10;\usepackage{amsmath,bm,eufrak}&#10;\pagestyle{empty}&#10;\begin{document}&#10;&#10;\begin{gather*}&#10;g_{lk,-2}^{(-1)}&#10;=&#10;-\sqrt{(k-1)k(k-1+\alpha)(k+\alpha)}&#10;\\&#10;g_{lk,-1}^{(-1)}&#10;=&#10;2\sqrt{k(k+\alpha)}\left(\alpha-2-3\delta_{W,2}\right)&#10;\\&#10;g_{lk,0}^{(-1)}&#10;=&#10;2k^{2}-4\left(\alpha-1+\delta_{W,2}\right)\left(\alpha-3+2\delta_{W,2}\right)+(\alpha+1)(2k+3\alpha-8+6\delta_{W,2})&#10;\\&#10;g_{lk,+1}^{(-1)}&#10;=&#10;-2\sqrt{(k+1)(k+1+\alpha)}\left(\alpha-5+3\delta_{W,2}\right)&#10;\\&#10;g_{lk,+2}^{(-1)}&#10;=&#10;-\sqrt{(k+1)(k+2)(k+1+\alpha)(k+2+\alpha)}&#10;\end{gather*}&#10;&#10;\end{document}"/>
  <p:tag name="IGUANATEXSIZE" val="13"/>
  <p:tag name="IGUANATEXCURSOR" val="23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2.6846"/>
  <p:tag name="ORIGINALWIDTH" val="1182.602"/>
  <p:tag name="OUTPUTTYPE" val="PNG"/>
  <p:tag name="IGUANATEXVERSION" val="159"/>
  <p:tag name="LATEXADDIN" val="\documentclass{article}&#10;\usepackage{amsmath,bm}&#10;\pagestyle{empty}&#10;\begin{document}&#10;&#10;\begin{align*}&#10;\Theta^{(q)}&#10;&amp; =&#10;\mathrm{e}^{\mathrm{i}\bm{k}_q\cdot \bm{r}}u_{\bm{k}_q}&#10;\\&#10;\Theta_{\Omega}^{(q)}&#10;&amp; =&#10;\frac&#10;{&#10;\Theta^{(q)}&#10;+&#10;\Omega\Theta^{(-q)}&#10;}&#10;{\sqrt{2}}&#10;\\&#10;\end{align*}&#10;&#10;\end{document}"/>
  <p:tag name="IGUANATEXSIZE" val="18"/>
  <p:tag name="IGUANATEXCURSOR" val="25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IONNAME" val="Group 44"/>
  <p:tag name="LAYER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7.4653"/>
  <p:tag name="ORIGINALWIDTH" val="788.9014"/>
  <p:tag name="LATEXADDIN" val="\documentclass{article}&#10;\usepackage{amsmath,bm}&#10;\pagestyle{empty}&#10;\begin{document}&#10;&#10;\begin{equation*}&#10;\tau = -\frac{1}{2} + \mathrm{i}\frac{\sqrt{3}}{2}&#10;\end{equation*}&#10;&#10;\end{document}"/>
  <p:tag name="IGUANATEXSIZE" val="16"/>
  <p:tag name="IGUANATEXCURSOR" val="152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3.4646"/>
  <p:tag name="ORIGINALWIDTH" val="1335.583"/>
  <p:tag name="LATEXADDIN" val="\documentclass{article}&#10;\usepackage{amsmath,bm}&#10;\pagestyle{empty}&#10;\begin{document}&#10;&#10;\begin{equation*}&#10;\bm{\beta}_{E_{1}}^{(\sigma)}&#10;=&#10;\mathrm{i}^{\frac{1-\sigma}{2}}&#10;\frac{1}{\sqrt{3}}&#10;\left\{\tau, \tau^{2}, 1\right\}&#10;\end{equation*}&#10;&#10;\end{document}"/>
  <p:tag name="IGUANATEXSIZE" val="16"/>
  <p:tag name="IGUANATEXCURSOR" val="12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.2332"/>
  <p:tag name="ORIGINALWIDTH" val="725.1594"/>
  <p:tag name="LATEXADDIN" val="\documentclass{article}&#10;\usepackage{amsmath,bm}&#10;\pagestyle{empty}&#10;\begin{document}&#10;&#10;\begin{equation*}&#10;\bm{\beta}_{E_{2}}&#10;=&#10;\left(\bm{\beta}_{E_{1}}\right)^{*}&#10;\end{equation*}&#10;&#10;\end{document}"/>
  <p:tag name="IGUANATEXSIZE" val="16"/>
  <p:tag name="IGUANATEXCURSOR" val="138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4.462"/>
  <p:tag name="ORIGINALWIDTH" val="2881.14"/>
  <p:tag name="LATEXADDIN" val="\documentclass{article}&#10;\usepackage{amsmath,bm}&#10;\pagestyle{empty}&#10;\begin{document}&#10;&#10;\begin{equation*}&#10;\Psi_{m_{e}lk E_{i}^{\sigma};\lambda\eta}^{\left(W\kappa\right)}&#10;=&#10;\sum_{q = x,y,z}&#10;\left(\beta_{E_{i}}^{(\sigma)}\right)_{q}&#10;\Phi_{m_{e}(\sigma\mathrm{i}^{m_{e}})lk;\lambda\eta}^{(W\kappa q)}&#10;\Theta^{(q)}_{\sigma\mathrm{i}^{m_{e}}(-1)^{l}}&#10;\end{equation*}&#10;&#10;\end{document}"/>
  <p:tag name="IGUANATEXSIZE" val="18"/>
  <p:tag name="IGUANATEXCURSOR" val="374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.9719"/>
  <p:tag name="ORIGINALWIDTH" val="2207.724"/>
  <p:tag name="OUTPUTTYPE" val="PNG"/>
  <p:tag name="IGUANATEXVERSION" val="159"/>
  <p:tag name="LATEXADDIN" val="\documentclass{article}&#10;\usepackage{amsmath,bm}&#10;\pagestyle{empty}&#10;\begin{document}&#10;&#10;\begin{align*}&#10;\Psi_{m_{e}lkT_{q}^{(\sigma)};\lambda\eta}^{\left(W\kappa\right)}&#10;=&#10;\Phi_{m_{e}(\sigma\mathrm{i}^{m_{e}})lk;\lambda\eta}^{(W\kappa q)}&#10;\Theta_{-\sigma\mathrm{i}^{m_{e}}(-1)^{l}}^{(q)}&#10;\end{align*}&#10;&#10;\end{document}"/>
  <p:tag name="IGUANATEXSIZE" val="18"/>
  <p:tag name="IGUANATEXCURSOR" val="20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1.9572"/>
  <p:tag name="ORIGINALWIDTH" val="2899.138"/>
  <p:tag name="OUTPUTTYPE" val="PNG"/>
  <p:tag name="IGUANATEXVERSION" val="159"/>
  <p:tag name="LATEXADDIN" val="\documentclass{article}&#10;\usepackage{amsmath,bm}&#10;\pagestyle{empty}&#10;\begin{document}&#10;&#10;\begin{equation*}&#10;\Psi_{m_{e}lkA^{(\sigma)};\lambda\eta}^{\left(W\kappa\right)}&#10;=&#10;\sum_{q = x,y,z} &#10;\left(\frac{1}{\sqrt{3}}\right)&#10;\Phi_{m_{e}(\sigma\mathrm{i}^{m_{e}})lk;\lambda\eta}^{(W\kappa q)}&#10;\Theta^{(q)}_{\sigma\mathrm{i}^{m_{e}}(-1)^{l}}&#10;\end{equation*}&#10;&#10;\end{document}"/>
  <p:tag name="IGUANATEXSIZE" val="18"/>
  <p:tag name="IGUANATEXCURSOR" val="253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1.4548"/>
  <p:tag name="ORIGINALWIDTH" val="3228.346"/>
  <p:tag name="OUTPUTTYPE" val="PNG"/>
  <p:tag name="IGUANATEXVERSION" val="159"/>
  <p:tag name="LATEXADDIN" val="\documentclass{article}&#10;\usepackage{amsmath,bm}&#10;\pagestyle{empty}&#10;\begin{document}&#10;&#10;\begin{align*}&#10;\Psi_{m_{o}lkhT_{q_{1}}^{(\sigma)};\lambda\eta}^{\left(W\kappa\right)}&#10;=&#10;\frac&#10;{&#10;\Phi_{m_{o}hlk;\lambda\eta}^{\left(W\kappa q_{2}\right)}\Theta_{h(-1)^{l}}^{(q_{2})}&#10;- h\sigma\mathrm{i}^{m_{o}}\Phi_{m_{o}\bar{h}lk;\lambda\eta}^{\left(W\kappa q_{3}\right)}\Theta_{h(-1)^{l}}^{(q_{3})}&#10;}&#10;{\sqrt{2}}&#10;\end{align*}&#10;&#10;\end{document}"/>
  <p:tag name="IGUANATEXSIZE" val="18"/>
  <p:tag name="IGUANATEXCURSOR" val="310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65.804"/>
  <p:tag name="ORIGINALWIDTH" val="2860.142"/>
  <p:tag name="LATEXADDIN" val="\documentclass{article}&#10;\usepackage{amsmath,bm,eufrak}&#10;\pagestyle{empty}&#10;\begin{document}&#10;&#10;\begin{align*}&#10;U_{\left\{\bm{r}\right\}}&#10;&amp; =&#10;U_{0}&#10;\left(\frac{r}{a_{\perp}}\right)^{d}&#10;\mathcal{U}_{\left\{\chi,\phi\right\}}&#10;\mathrm{e}^{-\alpha_{\left\{\chi,\phi\right\}}\left(\frac{r}{a_\perp}\right)}&#10;\mathrm{e}^{-\beta_{\left\{\chi,\phi\right\}}\left(\frac{r}{a_\perp}\right)^{2}}&#10;\\&#10;&amp; =&#10;U_{0}&#10;\left(\frac{r}{a_{\perp}}\right)^{d}&#10;\sum_{j \in \Gamma\left(T_{d}\right)}&#10;\sum_{\kappa = 1}^{l_{j}}&#10;U^{(j)}_{\kappa\kappa}&#10;\\&#10;U^{(j)}_{\mu\kappa}&#10;&amp; \equiv&#10;\sum_{\hat{R}\in\subseteq T_{d}}&#10;\tilde{\mathfrak{U}}_{\mu\kappa;\hat{R}}^{\left(j\right)}&#10;\mathcal{U}_{\hat{R}}&#10;\mathrm{e}^{-\alpha_{\hat{R}}\left(\frac{r}{a_\perp}\right)}\mathrm{e}^{-\beta_{\hat{R}}\left(\frac{r}{a_\perp}\right)^{2}}&#10;\\&#10;\tilde{\mathfrak{U}}_{\mu\kappa;\hat{R}}^{\left(j\right)}&#10;&amp; \equiv&#10;\frac{l_{j}}{h}&#10;\left(\Gamma_{\hat{R}}^{(j)}\right)_{\mu\kappa}^{*}&#10;\end{align*}&#10;&#10;\end{document}"/>
  <p:tag name="IGUANATEXSIZE" val="20"/>
  <p:tag name="IGUANATEXCURSOR" val="562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95.351"/>
  <p:tag name="ORIGINALWIDTH" val="4660.667"/>
  <p:tag name="OUTPUTTYPE" val="PNG"/>
  <p:tag name="IGUANATEXVERSION" val="159"/>
  <p:tag name="LATEXADDIN" val="\documentclass{article}&#10;\usepackage{amsmath,bm,eufrak}&#10;\pagestyle{empty}&#10;\begin{document}&#10;&#10;\begin{equation*}&#10;V_{\parallel}^{\left(A^{\left(\sigma\right)}\right)(\mathcal{W}_{0}\mathcal{W}_{1})}&#10;=&#10;\begin{pmatrix}&#10;\delta_{\sigma_{0}\sigma_{1}}^{\sigma} &amp;                           0 &amp;                          0 &amp;                          0 &amp;                             &amp; 0 &amp; 0 &amp; 0 \\&#10;                                     0 &amp;            \delta_{\sigma+} &amp; \mathrm{i}\delta_{\sigma-} &amp;                          0 &amp;                             &amp; 0 &amp; 0 &amp; 0 \\&#10;                                     0 &amp; -\mathrm{i}\delta_{\sigma-} &amp;           \delta_{\sigma+} &amp;                          0 &amp;                             &amp; 0 &amp; 0 &amp; 0 \\&#10;                                     0 &amp;                           0 &amp;                          0 &amp;           \delta_{\sigma+} &amp; -\mathrm{i}\delta_{\sigma-} &amp; 0 &amp; 0 &amp; 0 \\&#10;                                     0 &amp;                           0 &amp;                          0 &amp; \mathrm{i}\delta_{\sigma-} &amp;            \delta_{\sigma+} &amp; 0 &amp; 0 &amp; 0 \\&#10;&#10;0 &amp; 0 &amp; 0 &amp; 0 &amp; 0 &amp; \delta_{\sigma_{0}\sigma_{1}}^{\sigma} &amp;                                      0 &amp;                                      0 \\&#10;0 &amp; 0 &amp; 0 &amp; 0 &amp; 0 &amp;                                      0 &amp; \delta_{\sigma_{0}\sigma_{1}}^{\sigma} &amp;                                      0 \\&#10;0 &amp; 0 &amp; 0 &amp; 0 &amp; 0 &amp;                                      0 &amp;                                      0 &amp; \delta_{\sigma_{0}\sigma_{1}}^{\sigma} \\&#10;\end{pmatrix}&#10;U^{\left(A^{\left(\sigma\right)}\right)}&#10;\end{equation*}&#10;&#10;\end{document}"/>
  <p:tag name="IGUANATEXSIZE" val="20"/>
  <p:tag name="IGUANATEXCURSOR" val="1356"/>
  <p:tag name="TRANSPARENCY" val="True"/>
  <p:tag name="FILENAME" val=""/>
  <p:tag name="LATEXENGINEID" val="0"/>
  <p:tag name="TEMPFOLDER" val="C:\iguanatex\"/>
  <p:tag name="LATEXFORMHEIGHT" val="571.5"/>
  <p:tag name="LATEXFORMWIDTH" val="1901.25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2.7184"/>
  <p:tag name="ORIGINALWIDTH" val="652.4184"/>
  <p:tag name="OUTPUTTYPE" val="PNG"/>
  <p:tag name="IGUANATEXVERSION" val="159"/>
  <p:tag name="LATEXADDIN" val="\documentclass{article}&#10;\usepackage{amsmath,bm,eufrak}&#10;\pagestyle{empty}&#10;\begin{document}&#10;&#10;\begin{align*}&#10;\delta_{s}^{\sigma}  &amp; = \frac{1 + \sigma s}{2} \\&#10;\end{align*}&#10;&#10;\end{document}"/>
  <p:tag name="IGUANATEXSIZE" val="16"/>
  <p:tag name="IGUANATEXCURSOR" val="149"/>
  <p:tag name="TRANSPARENCY" val="True"/>
  <p:tag name="FILENAME" val=""/>
  <p:tag name="LATEXENGINEID" val="0"/>
  <p:tag name="TEMPFOLDER" val="C:\iguanatex\"/>
  <p:tag name="LATEXFORMHEIGHT" val="624"/>
  <p:tag name="LATEXFORMWIDTH" val="1913.25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69.591"/>
  <p:tag name="ORIGINALWIDTH" val="4264.717"/>
  <p:tag name="OUTPUTTYPE" val="PNG"/>
  <p:tag name="IGUANATEXVERSION" val="159"/>
  <p:tag name="LATEXADDIN" val="\documentclass{article}&#10;\usepackage{amsmath,bm,eufrak}&#10;\pagestyle{empty}&#10;\begin{document}&#10;&#10;\begin{equation*}&#10;V_{\perp}^{\left(A^{\left(\sigma\right)}\right)(\mathcal{W}_{0}\mathcal{W}_{1})}&#10;=&#10;\begin{pmatrix}&#10;2\delta_{\sigma_{0}\sigma_{1}}^{\sigma} &amp;                              0 &amp;                              0 &amp;                              0 &amp;                                0 &amp; 0 &amp; 0 &amp; 0 \\&#10;                                      0 &amp;            \phi_{+}^{(\sigma)} &amp;  \mathrm{i}\phi_{-}^{(\sigma)} &amp;                              0 &amp;                                0 &amp; 0 &amp; 0 &amp; 0 \\&#10;                                      0 &amp; -\mathrm{i}\phi_{-}^{(\sigma)} &amp;            \phi_{+}^{(\sigma)} &amp;                              0 &amp;                                0 &amp; 0 &amp; 0 &amp; 0 \\&#10;                                      0 &amp;                              0 &amp;                              0 &amp;           \phi_{+}^{(\sigma)*} &amp;  -\mathrm{i}\phi_{-}^{(\sigma)*} &amp; 0 &amp; 0 &amp; 0 \\&#10;                                      0 &amp;                              0 &amp;                              0 &amp; \mathrm{i}\phi_{-}^{(\sigma)*} &amp;             \phi_{s}^{(\sigma)*} &amp; 0 &amp; 0 &amp; 0 \\&#10;&#10;0 &amp; 0 &amp; 0 &amp; 0 &amp; 0 &amp; 0 &amp; 0 &amp; 0 \\&#10;0 &amp; 0 &amp; 0 &amp; 0 &amp; 0 &amp; 0 &amp; 0 &amp; 0 \\&#10;0 &amp; 0 &amp; 0 &amp; 0 &amp; 0 &amp; 0 &amp; 0 &amp; 0 \\&#10;\end{pmatrix}&#10;U^{\left(A^{\left(\sigma\right)}\right)}&#10;\end{equation*}&#10;&#10;\end{document}"/>
  <p:tag name="IGUANATEXSIZE" val="20"/>
  <p:tag name="IGUANATEXCURSOR" val="992"/>
  <p:tag name="TRANSPARENCY" val="True"/>
  <p:tag name="FILENAME" val=""/>
  <p:tag name="LATEXENGINEID" val="0"/>
  <p:tag name="TEMPFOLDER" val="C:\iguanatex\"/>
  <p:tag name="LATEXFORMHEIGHT" val="624"/>
  <p:tag name="LATEXFORMWIDTH" val="1568.25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1.4248"/>
  <p:tag name="ORIGINALWIDTH" val="2611.924"/>
  <p:tag name="OUTPUTTYPE" val="PNG"/>
  <p:tag name="IGUANATEXVERSION" val="159"/>
  <p:tag name="LATEXADDIN" val="\documentclass{article}&#10;\usepackage{amsmath,bm,eufrak}&#10;\pagestyle{empty}&#10;\begin{document}&#10;&#10;\begin{align*}&#10;\delta_{s}^{\sigma}  &amp; = \frac{1 + \sigma s}{2} \\&#10;                   \phi_{s}^{(\sigma)}  &amp; = \tau^{2} + \sigma s\tau = -\left(\frac{1+\sigma s}{2}\right) -\mathrm{i}\sqrt{3}\left(\frac{1-\sigma s}{2}\right) \\&#10;\end{align*}&#10;&#10;\end{document}"/>
  <p:tag name="IGUANATEXSIZE" val="16"/>
  <p:tag name="IGUANATEXCURSOR" val="149"/>
  <p:tag name="TRANSPARENCY" val="True"/>
  <p:tag name="FILENAME" val=""/>
  <p:tag name="LATEXENGINEID" val="0"/>
  <p:tag name="TEMPFOLDER" val="C:\iguanatex\"/>
  <p:tag name="LATEXFORMHEIGHT" val="624"/>
  <p:tag name="LATEXFORMWIDTH" val="1913.25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95.351"/>
  <p:tag name="ORIGINALWIDTH" val="7136.858"/>
  <p:tag name="LATEXADDIN" val="\documentclass{article}&#10;\usepackage{amsmath,bm,eufrak}&#10;\pagestyle{empty}&#10;\begin{document}&#10;&#10;\begin{equation*}&#10;V_{\parallel}^{\left(T^{\left(\sigma\right)}\right)(\mathcal{W})_{01}}&#10;=&#10;\frac{1}{\sqrt{3}}&#10;\begin{pmatrix}&#10;0 &amp; 0 &amp; 0 &amp; 0 &amp; 0 &amp;           \delta_{\sigma_{0}\sigma_{1}}^{\sigma}U_{(x)} &amp;          \delta_{\sigma_{0}\sigma_{1}}^{\sigma}U_{(y)} &amp;   \delta_{\sigma_{0}\sigma_{1}}^{\sigma}U_{(z)} \\&#10;0 &amp; 0 &amp; 0 &amp; 0 &amp; 0 &amp;            \delta_{+\sigma_{1}}^{\sigma}\tau^{2}U_{(x)} &amp;              \delta_{+\sigma_{1}}^{\sigma}\tau U_{(y)} &amp;            \delta_{+\sigma_{1}}^{\sigma}U_{(z)} \\&#10;0 &amp; 0 &amp; 0 &amp; 0 &amp; 0 &amp; -\mathrm{i}\delta_{-\sigma_{1}}^{\sigma}\tau^{2}U_{(x)} &amp;   -\mathrm{i}\delta_{-\sigma_{1}}^{\sigma}\tau U_{(y)} &amp; -\mathrm{i}\delta_{-\sigma_{1}}^{\sigma}U_{(z)} \\&#10;0 &amp; 0 &amp; 0 &amp; 0 &amp; 0 &amp;               \delta_{+\sigma_{1}}^{\sigma}\tau U_{(x)} &amp;           \delta_{+\sigma_{1}}^{\sigma}\tau^{2}U_{(y)} &amp;            \delta_{+\sigma_{1}}^{\sigma}U_{(z)} \\&#10;0 &amp; 0 &amp; 0 &amp; 0 &amp; 0 &amp;     \mathrm{i}\delta_{-\sigma_{1}}^{\sigma}\tau U_{(x)} &amp; \mathrm{i}\delta_{-\sigma_{1}}^{\sigma}\tau^{2}U_{(y)} &amp;  \mathrm{i}\delta_{-\sigma_{1}}^{\sigma}U_{(z)} \\&#10;&#10;\delta_{\sigma_{0}\sigma_{1}}^{\sigma}U_{(x)} &amp;    \delta_{\sigma_{0}+}^{\sigma}\tau U_{(x)} &amp;    \mathrm{i}\delta_{\sigma_{0}-}^{\sigma}\tau U_{(x)} &amp; \delta_{\sigma_{0}+}^{\sigma}\tau^{2}U_{(x)} &amp; -\mathrm{i}\delta_{\sigma_{0}-}^{\sigma}\tau^{2}U_{(x)} &amp; 0 &amp; 0 &amp; 0 \\&#10;\delta_{\sigma_{0}\sigma_{1}}^{\sigma}U_{(y)} &amp; \delta_{\sigma_{0}+}^{\sigma}\tau^{2}U_{(y)} &amp; \mathrm{i}\delta_{\sigma_{0}-}^{\sigma}\tau^{2}U_{(y)} &amp;    \delta_{\sigma_{0}+}^{\sigma}\tau U_{(y)} &amp;    -\mathrm{i}\delta_{\sigma_{0}-}^{\sigma}\tau U_{(y)} &amp; 0 &amp; 0 &amp; 0 \\&#10;\delta_{\sigma_{0}\sigma_{1}}^{\sigma}U_{(z)} &amp;         \delta_{\sigma_{0}+}^{\sigma}U_{(z)} &amp;         \mathrm{i}\delta_{\sigma_{0}-}^{\sigma}U_{(z)} &amp;         \delta_{\sigma_{0}+}^{\sigma}U_{(z)} &amp;         -\mathrm{i}\delta_{\sigma_{0}-}^{\sigma}U_{(z)} &amp; 0 &amp; 0 &amp; 0 \\&#10;\end{pmatrix}&#10;\end{equation*}&#10;&#10;\end{document}"/>
  <p:tag name="IGUANATEXSIZE" val="16"/>
  <p:tag name="IGUANATEXCURSOR" val="354"/>
  <p:tag name="TRANSPARENCY" val="False"/>
  <p:tag name="FILENAME" val=""/>
  <p:tag name="LATEXENGINEID" val="0"/>
  <p:tag name="TEMPFOLDER" val="c:\temp\"/>
  <p:tag name="LATEXFORMHEIGHT" val="642.75"/>
  <p:tag name="LATEXFORMWIDTH" val="1882.5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3.4684"/>
  <p:tag name="ORIGINALWIDTH" val="3762.28"/>
  <p:tag name="LATEXADDIN" val="\documentclass{article}&#10;\usepackage{amsmath,bm,eufrak}&#10;\pagestyle{empty}&#10;\begin{document}&#10;&#10;\begin{align*}&#10;            U_{(x)} = U_{x,3}^{\left(T^{(\sigma)}\right)} \quad\quad&#10;            U_{(y)} = U_{y,3}^{\left(T^{(\sigma)}\right)} \quad\quad&#10;            U_{(z)} = U_{z}^{\left(T^{(\sigma)}\right)}   \quad\quad&#10;\delta_{s}^{\sigma} = \frac{1 + \sigma s}{2} \\&#10;\end{align*}&#10;&#10;\end{document}"/>
  <p:tag name="IGUANATEXSIZE" val="16"/>
  <p:tag name="IGUANATEXCURSOR" val="360"/>
  <p:tag name="TRANSPARENCY" val="True"/>
  <p:tag name="FILENAME" val=""/>
  <p:tag name="LATEXENGINEID" val="0"/>
  <p:tag name="TEMPFOLDER" val="c:\temp\"/>
  <p:tag name="LATEXFORMHEIGHT" val="624"/>
  <p:tag name="LATEXFORMWIDTH" val="1096.5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9.58"/>
  <p:tag name="ORIGINALWIDTH" val="7267.342"/>
  <p:tag name="LATEXADDIN" val="\documentclass{article}&#10;\usepackage{amsmath,bm,eufrak}&#10;\pagestyle{empty}&#10;\begin{document}&#10;&#10;\begin{equation*}&#10;V_{\perp}^{\left(T^{\left(\sigma\right)}\right)(\mathcal{W}_{0}\mathcal{W}_{1})}&#10;=&#10;\frac{1}{\sqrt{3}}&#10;\begin{pmatrix}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         2\delta_{\sigma_{0}\sigma_{1}}^{\sigma}U_{x} &amp;          2\delta_{\sigma_{0}\sigma_{1}}^{\sigma}U_{y,1} &amp;  2\delta_{\sigma_{0}\sigma_{1}}^{\sigma}U_{z,1} \\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           \tau^{2}\phi_{+\sigma_{1}}^{(\sigma)}U_{x} &amp;               \tau \phi_{+\sigma_{1}}^{(\sigma)}U_{y,1} &amp;            \phi_{+\sigma_{1}}^{(\sigma)}U_{z,1} \\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-\mathrm{i}\tau^{2}\phi_{-\sigma_{1}}^{(\sigma)}U_{x} &amp;    -\mathrm{i}\tau \phi_{-\sigma_{1}}^{(\sigma)}U_{y,1} &amp; -\mathrm{i}\phi_{-\sigma_{1}}^{(\sigma)}U_{z,1} \\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             \tau \phi_{+\sigma_{1}}^{(\sigma)*}U_{x} &amp;           \tau^{2}\phi_{+\sigma_{1}}^{(\sigma)*}U_{y,1} &amp;           \phi_{+\sigma_{1}}^{(\sigma)*}U_{z,1} \\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   \mathrm{i}\tau \phi_{-\sigma_{1}}^{(\sigma)*}U_{x} &amp; \mathrm{i}\tau^{2}\phi_{-\sigma_{1}}^{(\sigma)*}U_{y,1} &amp; \mathrm{i}\phi_{-\sigma_{1}}^{(\sigma)*}U_{z,1} \\&#10;2\delta_{\sigma_{0}\sigma_{1}}^{\sigma}U_{x,2} &amp;   \tau\phi_{\sigma_{0}+}^{(\sigma)}U_{x,2} &amp;   \tau\mathrm{i}\phi_{\sigma_{0}-}^{(\sigma)}U_{x,2} &amp; \tau^{2}\phi_{\sigma_{0}+}^{(\sigma)*}U_{x,2} &amp; -\mathrm{i}\tau^{2}\phi_{\sigma_{0}-}^{(\sigma)*}U_{x,2} &amp;                                                     0 &amp;                         \sigma\sigma_{0}\sigma_{1}U_{z} &amp;                                         U_{y,3} \\&#10;  2\delta_{\sigma_{0}\sigma_{1}}^{\sigma}U_{y} &amp; \tau^{2}\phi_{\sigma_{0}+}^{(\sigma)}U_{y} &amp; \tau^{2}\mathrm{i}\phi_{\sigma_{0}-}^{(\sigma)}U_{y} &amp;       \tau\phi_{\sigma_{0}+}^{(\sigma)*}U_{y} &amp;       -\mathrm{i}\tau\phi_{\sigma_{0}-}^{(\sigma)*}U_{y} &amp;                                                 U_{z} &amp;                                                       0 &amp;               \sigma\sigma_{0}\sigma_{1}U_{x,3} \\&#10;2\delta_{\sigma_{0}\sigma_{1}}^{\sigma}U_{z,2} &amp;       \phi_{\sigma_{0}+}^{(\sigma)}U_{z,2} &amp;       \mathrm{i}\phi_{\sigma_{0}-}^{(\sigma)}U_{z,2} &amp;         \phi_{\sigma_{0}+}^{(\sigma)*}U_{z,2} &amp;         -\mathrm{i}\phi_{\sigma_{0}-}^{(\sigma)*}U_{z,2} &amp;                     \sigma\sigma_{0}\sigma_{1}U_{y,3} &amp;                                               U_{x,3} &amp;                                                 0 \\&#10;\end{pmatrix}&#10;\end{equation*}&#10;&#10;\end{document}"/>
  <p:tag name="IGUANATEXSIZE" val="16"/>
  <p:tag name="IGUANATEXCURSOR" val="261"/>
  <p:tag name="TRANSPARENCY" val="True"/>
  <p:tag name="FILENAME" val=""/>
  <p:tag name="LATEXENGINEID" val="0"/>
  <p:tag name="TEMPFOLDER" val="c:\temp\"/>
  <p:tag name="LATEXFORMHEIGHT" val="624"/>
  <p:tag name="LATEXFORMWIDTH" val="1401"/>
  <p:tag name="LATEXFORMWRAP" val="Fals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1.4248"/>
  <p:tag name="ORIGINALWIDTH" val="2611.924"/>
  <p:tag name="LATEXADDIN" val="\documentclass{article}&#10;\usepackage{amsmath,bm,eufrak}&#10;\pagestyle{empty}&#10;\begin{document}&#10;&#10;\begin{align*}&#10;\delta_{s}^{\sigma} &amp; = \frac{1 + \sigma s}{2} \\&#10;\phi_{s}^{(\sigma)} &amp; = \tau^{2} + \sigma s\tau = -\left(\frac{1+\sigma s}{2}\right) -\mathrm{i}\sqrt{3}\left(\frac{1-\sigma s}{2}\right) \\&#10;\end{align*}&#10;&#10;\end{document}"/>
  <p:tag name="IGUANATEXSIZE" val="16"/>
  <p:tag name="IGUANATEXCURSOR" val="105"/>
  <p:tag name="TRANSPARENCY" val="True"/>
  <p:tag name="FILENAME" val=""/>
  <p:tag name="LATEXENGINEID" val="0"/>
  <p:tag name="TEMPFOLDER" val="c:\temp\"/>
  <p:tag name="LATEXFORMHEIGHT" val="624"/>
  <p:tag name="LATEXFORMWIDTH" val="1913.25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95.351"/>
  <p:tag name="ORIGINALWIDTH" val="5242.595"/>
  <p:tag name="OUTPUTTYPE" val="PNG"/>
  <p:tag name="IGUANATEXVERSION" val="159"/>
  <p:tag name="LATEXADDIN" val="\documentclass{article}&#10;\usepackage{amsmath,bm,eufrak}&#10;\pagestyle{empty}&#10;\begin{document}&#10;&#10;\begin{equation*}&#10;V_{\parallel}^{\left(E\right)(\mathcal{W}_{0}\mathcal{W}_{1})}&#10;=&#10;\begin{pmatrix}&#10;0                           &amp; W_{2\sigma_{0}+}  &amp; \mathrm{i}W_{2\sigma_{0}-} &amp; W_{1\sigma_{0}+}            &amp; -\mathrm{i}W_{1\sigma_{0}-} &amp; 0 &amp; 0 &amp; 0 \\&#10;W_{1+\sigma_{1}}            &amp; 0                 &amp; 0                          &amp; W_{2++}                     &amp; -\mathrm{i}W_{2+-} &amp; 0 &amp; 0 &amp; 0 \\&#10;-\mathrm{i}W_{1-\sigma_{1}} &amp; 0                 &amp; 0                          &amp; -\mathrm{i}W_{2-+}          &amp; -W_{2--}           &amp; 0 &amp; 0 &amp; 0 \\&#10;W_{2+\sigma_{1}}            &amp; W_{1++}           &amp; \mathrm{i}W_{1+-}          &amp; 0                           &amp; 0                  &amp; 0 &amp; 0 &amp; 0 \\&#10;\mathrm{i}W_{2-\sigma_{1}}  &amp; \mathrm{i}W_{1-+} &amp; -W_{1--}                   &amp; 0                           &amp; 0                  &amp; 0 &amp; 0 &amp; 0 \\&#10;&#10;0 &amp; 0 &amp; 0 &amp; 0 &amp; 0 &amp; W_{x\sigma_{0}\sigma_{1}} &amp;                         0 &amp; 0                         \\&#10;0 &amp; 0 &amp; 0 &amp; 0 &amp; 0 &amp;                         0 &amp; W_{y\sigma_{0}\sigma_{1}} &amp; 0                         \\&#10;0 &amp; 0 &amp; 0 &amp; 0 &amp; 0 &amp;                         0 &amp;                         0 &amp; W_{z\sigma_{0}\sigma_{1}} \\&#10;\end{pmatrix}&#10;\end{equation*}&#10;&#10;\end{document}"/>
  <p:tag name="IGUANATEXSIZE" val="20"/>
  <p:tag name="IGUANATEXCURSOR" val="878"/>
  <p:tag name="TRANSPARENCY" val="True"/>
  <p:tag name="FILENAME" val=""/>
  <p:tag name="LATEXENGINEID" val="0"/>
  <p:tag name="TEMPFOLDER" val="C:\iguanatex\"/>
  <p:tag name="LATEXFORMHEIGHT" val="642.75"/>
  <p:tag name="LATEXFORMWIDTH" val="1882.5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8.6802"/>
  <p:tag name="ORIGINALWIDTH" val="1347.582"/>
  <p:tag name="OUTPUTTYPE" val="PNG"/>
  <p:tag name="IGUANATEXVERSION" val="159"/>
  <p:tag name="LATEXADDIN" val="\documentclass{article}&#10;\usepackage{amsmath,bm,eufrak}&#10;\pagestyle{empty}&#10;\begin{document}&#10;&#10;\begin{align*}&#10;W_{1\sigma_{0}\sigma_{1}} &amp; = \frac{ U_{11} + \sigma_{0}\sigma_{1}U_{21} }{ 2 } \\&#10;W_{2\sigma_{0}\sigma_{1}} &amp; = \frac{ U_{22} + \sigma_{0}\sigma_{1}U_{12} }{ 2 } \\&#10;\end{align*}&#10;&#10;\end{document}"/>
  <p:tag name="IGUANATEXSIZE" val="16"/>
  <p:tag name="IGUANATEXCURSOR" val="268"/>
  <p:tag name="TRANSPARENCY" val="True"/>
  <p:tag name="FILENAME" val=""/>
  <p:tag name="LATEXENGINEID" val="0"/>
  <p:tag name="TEMPFOLDER" val="C:\iguanatex\"/>
  <p:tag name="LATEXFORMHEIGHT" val="624"/>
  <p:tag name="LATEXFORMWIDTH" val="1096.5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30.9336"/>
  <p:tag name="ORIGINALWIDTH" val="1649.044"/>
  <p:tag name="OUTPUTTYPE" val="PNG"/>
  <p:tag name="IGUANATEXVERSION" val="159"/>
  <p:tag name="LATEXADDIN" val="\documentclass{article}&#10;\usepackage{amsmath,bm,eufrak}&#10;\pagestyle{empty}&#10;\begin{document}&#10;&#10;\begin{align*}&#10;W_{x\sigma_{0}\sigma_{1}} &amp; = \tau W_{1\sigma_{0}\sigma_{1}} + \tau^{2}W_{2\sigma_{0}\sigma_{1}} \\&#10;W_{y\sigma_{0}\sigma_{1}} &amp; = \tau^{2}W_{1\sigma_{0}\sigma_{1}} + \tau W_{2\sigma_{0}\sigma_{1}} \\&#10;W_{z\sigma_{0}\sigma_{1}} &amp; = W_{1\sigma_{0}\sigma_{1}} + W_{2\sigma_{0}\sigma_{1}}              \\&#10;\end{align*}&#10;&#10;\end{document}"/>
  <p:tag name="IGUANATEXSIZE" val="16"/>
  <p:tag name="IGUANATEXCURSOR" val="405"/>
  <p:tag name="TRANSPARENCY" val="True"/>
  <p:tag name="FILENAME" val=""/>
  <p:tag name="LATEXENGINEID" val="0"/>
  <p:tag name="TEMPFOLDER" val="C:\iguanatex\"/>
  <p:tag name="LATEXFORMHEIGHT" val="624"/>
  <p:tag name="LATEXFORMWIDTH" val="1096.5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95.351"/>
  <p:tag name="ORIGINALWIDTH" val="4507.687"/>
  <p:tag name="OUTPUTTYPE" val="PNG"/>
  <p:tag name="IGUANATEXVERSION" val="159"/>
  <p:tag name="LATEXADDIN" val="\documentclass{article}&#10;\usepackage{amsmath,bm,eufrak}&#10;\pagestyle{empty}&#10;\begin{document}&#10;&#10;\begin{equation*}&#10;V_{\perp}^{\left(E\right)(\mathcal{W}_{0}\mathcal{W}_{1})}&#10;=&#10;\begin{pmatrix}&#10;                          0 &amp;  -W_{2\sigma_{0}+} &amp; -\mathrm{i}W_{2\sigma_{0}-} &amp;   -W_{1\sigma_{0}+} &amp; \mathrm{i}W_{1\sigma_{0}-} &amp; 0 &amp; 0 &amp; 0 \\&#10;          -W_{1+\sigma_{1}} &amp;                  0 &amp;                           0 &amp;            2W_{2++} &amp;        -2\mathrm{i}W_{2+-} &amp; 0 &amp; 0 &amp; 0 \\&#10; \mathrm{i}W_{1-\sigma_{1}} &amp;                  0 &amp;                           0 &amp; -2\mathrm{i}W_{2+-} &amp;                  -2W_{2--} &amp; 0 &amp; 0 &amp; 0 \\&#10;          -W_{2+\sigma_{1}} &amp;           2W_{1++} &amp;          2\mathrm{i}W_{1+-} &amp;                   0 &amp;                          0 &amp; 0 &amp; 0 &amp; 0 \\&#10;-\mathrm{i}W_{2-\sigma_{1}} &amp; 2\mathrm{i}W_{1-+} &amp;                   -2W_{1--} &amp;                   0 &amp;                          0 &amp; 0 &amp; 0 &amp; 0 \\&#10;                          0 &amp;                  0 &amp;                           0 &amp;                   0 &amp;                          0 &amp; 0 &amp; 0 &amp; 0 \\&#10;                          0 &amp;                  0 &amp;                           0 &amp;                   0 &amp;                          0 &amp; 0 &amp; 0 &amp; 0 \\&#10;                          0 &amp;                  0 &amp;                           0 &amp;                   0 &amp;                          0 &amp; 0 &amp; 0 &amp; 0 \\&#10;\end{pmatrix}&#10;\end{equation*}&#10;&#10;\end{document}"/>
  <p:tag name="IGUANATEXSIZE" val="20"/>
  <p:tag name="IGUANATEXCURSOR" val="0"/>
  <p:tag name="TRANSPARENCY" val="True"/>
  <p:tag name="FILENAME" val=""/>
  <p:tag name="LATEXENGINEID" val="0"/>
  <p:tag name="TEMPFOLDER" val="C:\iguanatex\"/>
  <p:tag name="LATEXFORMHEIGHT" val="624"/>
  <p:tag name="LATEXFORMWIDTH" val="1921.5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8.6802"/>
  <p:tag name="ORIGINALWIDTH" val="1347.582"/>
  <p:tag name="OUTPUTTYPE" val="PNG"/>
  <p:tag name="IGUANATEXVERSION" val="159"/>
  <p:tag name="LATEXADDIN" val="\documentclass{article}&#10;\usepackage{amsmath,bm,eufrak}&#10;\pagestyle{empty}&#10;\begin{document}&#10;&#10;\begin{align*}&#10;W_{1\sigma_{0}\sigma_{1}} &amp; = \frac{ U_{11} + \sigma_{0}\sigma_{1}U_{21} }{ 2 } \\&#10;W_{2\sigma_{0}\sigma_{1}} &amp; = \frac{ U_{22} + \sigma_{0}\sigma_{1}U_{12} }{ 2 } \\&#10;\end{align*}&#10;&#10;\end{document}"/>
  <p:tag name="IGUANATEXSIZE" val="16"/>
  <p:tag name="IGUANATEXCURSOR" val="268"/>
  <p:tag name="TRANSPARENCY" val="True"/>
  <p:tag name="FILENAME" val=""/>
  <p:tag name="LATEXENGINEID" val="0"/>
  <p:tag name="TEMPFOLDER" val="C:\iguanatex\"/>
  <p:tag name="LATEXFORMHEIGHT" val="624"/>
  <p:tag name="LATEXFORMWIDTH" val="1096.5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9.6288"/>
  <p:tag name="ORIGINALWIDTH" val="3491.563"/>
  <p:tag name="LATEXADDIN" val="\documentclass{article}&#10;\usepackage{amsmath,amssymb,bm}&#10;\pagestyle{empty}&#10;\begin{document}&#10;&#10;\begin{align*}&#10;\left(\bm{\mathcal{M}}\right)_{\left(mlkh\mathcal{W};\lambda\eta\right)_{01}}&#10;&amp; =&#10;\int \mathrm{d}\bm{r}\,&#10;U_{\left\{\bm{r}\right\}}&#10;\Psi_{\left(mlkh;\lambda\eta\right)_{1}}^{\left(\mathcal{W}_{1}W\kappa\right)*}&#10;\Psi_{\left(mlkh;\lambda\eta\right)_{2}}^{\left(\mathcal{W}_{2}W\kappa\right)}&#10;\\&#10;&amp; =&#10;\sum_{j}&#10;\left(&#10;\bm{\mathcal{M}}_{\parallel}&#10;+&#10;\bm{\mathcal{M}}_{\perp}&#10;\right)_{\left(mlkh\mathcal{W};\lambda\eta\right)_{01}}^{(j)}&#10;\\&#10;\left(\bm{\mathcal{M}}\right)_{\parallel\slash\perp\left(mlkh\mathcal{W};\lambda\eta\right)_{01}}^{(j)}&#10;&amp; =&#10;\int \mathrm{d}\bm{r}\,&#10;V_{\parallel\slash\perp,xyz}^{(j)(\mathcal{W})_{01}}\,&#10;\Psi_{\left(mlkh\mathcal{W};\lambda\eta\right)_{0}}^{\left(W\kappa\right)*}&#10;\Psi_{\left(mlkh\mathcal{W};\lambda\eta\right)_{1}}^{\left(W\kappa\right)}&#10;\\&#10;\end{align*}&#10;&#10;\end{document}"/>
  <p:tag name="IGUANATEXSIZE" val="20"/>
  <p:tag name="IGUANATEXCURSOR" val="882"/>
  <p:tag name="TRANSPARENCY" val="True"/>
  <p:tag name="FILENAME" val=""/>
  <p:tag name="LATEXENGINEID" val="0"/>
  <p:tag name="TEMPFOLDER" val="c:\temp\"/>
  <p:tag name="LATEXFORMHEIGHT" val="571.5"/>
  <p:tag name="LATEXFORMWIDTH" val="938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77.278"/>
  <p:tag name="ORIGINALWIDTH" val="3565.054"/>
  <p:tag name="LATEXADDIN" val="\documentclass{article}&#10;\usepackage{amsmath,amssymb,bm}&#10;\pagestyle{empty}&#10;\begin{document}&#10;&#10;\begin{align*}&#10;\left(\bm{\mathcal{M}}\right)_{\left(mlkh\mathcal{W};\lambda\eta\right)_{01}}&#10;&amp; =&#10;\int \mathrm{d}\bm{r}\,&#10;U_{\left\{\bm{r}\right\}}&#10;\Psi_{\left(mlkh;\lambda\eta\right)_{1}}^{\left(\mathcal{W}_{1}W\kappa\right)*}&#10;\Psi_{\left(mlkh;\lambda\eta\right)_{2}}^{\left(\mathcal{W}_{2}W\kappa\right)}&#10;\\&#10;&amp; =&#10;\sum_{j}&#10;\left(&#10;\bm{\mathcal{M}}_{\parallel}&#10;+&#10;\bm{\mathcal{M}}_{\perp}&#10;\right)_{\left(mlkh\mathcal{W};\lambda\eta\right)_{01}}^{(j)}&#10;\\&#10;\left(\bm{\mathcal{M}}\right)_{\parallel\slash\perp\left(mlkh\mathcal{W};\lambda\eta\right)_{01}}^{(j)}&#10;&amp; =&#10;\int \mathrm{d}\bm{r}\,&#10;V_{\parallel\slash\perp,xyz}^{(j)(\mathcal{W})_{01}}\,&#10;\Psi_{\left(mlkh\mathcal{W};\lambda\eta\right)_{0}}^{\left(W\kappa\right)*}&#10;\Psi_{\left(mlkh\mathcal{W};\lambda\eta\right)_{1}}^{\left(W\kappa\right)}&#10;\\&#10;&amp; =&#10;\sum_{j \in \Gamma\left(T_{d}\right)}&#10;\sum_{\kappa = 1}^{l_{j}}&#10;\sum_{\mu = 1}^{l_{j}}&#10;\mathfrak{q}_{\parallel\slash\perp,\mu\kappa}^{(j)(\mathcal{W})_{01}}&#10;\left(\bm{\mathcal{M}}\right)_{\mu\kappa\left(mlkh\mathcal{W};\lambda\eta\right)_{01}}^{(j)}&#10;\\&#10;\left(\bm{\mathcal{M}}\right)_{\mu\kappa\left(mlkh\mathcal{W};\lambda\eta\right)_{01}}^{(j)}&#10;&amp; = &#10;\int \mathrm{d}\bm{r}\,&#10;U^{(j)}_{\mu\kappa}&#10;\Psi_{\left(mlkh\mathcal{W};\lambda\eta\right)_{0}}^{\left(W\kappa\right)*}&#10;\Psi_{\left(mlkh\mathcal{W};\lambda\eta\right)_{1}}^{\left(W\kappa\right)}&#10;\\&#10;\end{align*}&#10;&#10;\end{document}"/>
  <p:tag name="IGUANATEXSIZE" val="20"/>
  <p:tag name="IGUANATEXCURSOR" val="1136"/>
  <p:tag name="TRANSPARENCY" val="True"/>
  <p:tag name="FILENAME" val=""/>
  <p:tag name="LATEXENGINEID" val="0"/>
  <p:tag name="TEMPFOLDER" val="c:\temp\"/>
  <p:tag name="LATEXFORMHEIGHT" val="571.5"/>
  <p:tag name="LATEXFORMWIDTH" val="938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8.4439"/>
  <p:tag name="ORIGINALWIDTH" val="2290.214"/>
  <p:tag name="OUTPUTTYPE" val="PNG"/>
  <p:tag name="IGUANATEXVERSION" val="159"/>
  <p:tag name="LATEXADDIN" val="\documentclass{article}&#10;\usepackage{amsmath,bm,eufrak}&#10;\pagestyle{empty}&#10;\begin{document}&#10;&#10;\begin{equation*}&#10;V_{\parallel}^{\left(A^{\left(\sigma\right)}\right)(\mathcal{W}_{0}\mathcal{W}_{1})}&#10;=&#10;\delta_{\sigma_{0}\sigma_{1}}^{\sigma}&#10;\begin{pmatrix}&#10;1 &amp; 0 &amp; 0 \\&#10;0 &amp; 1 &amp; 0 \\&#10;0 &amp; 0 &amp; 1 \\&#10;\end{pmatrix}&#10;U^{\left(A^{\left(\sigma\right)}\right)}&#10;\end{equation*}&#10;&#10;\end{document}"/>
  <p:tag name="IGUANATEXSIZE" val="20"/>
  <p:tag name="IGUANATEXCURSOR" val="224"/>
  <p:tag name="TRANSPARENCY" val="True"/>
  <p:tag name="FILENAME" val=""/>
  <p:tag name="LATEXENGINEID" val="0"/>
  <p:tag name="TEMPFOLDER" val="C:\iguanatex\"/>
  <p:tag name="LATEXFORMHEIGHT" val="571.5"/>
  <p:tag name="LATEXFORMWIDTH" val="1901.25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8.4439"/>
  <p:tag name="ORIGINALWIDTH" val="3163.104"/>
  <p:tag name="OUTPUTTYPE" val="PNG"/>
  <p:tag name="IGUANATEXVERSION" val="159"/>
  <p:tag name="LATEXADDIN" val="\documentclass{article}&#10;\usepackage{amsmath,bm,eufrak}&#10;\pagestyle{empty}&#10;\begin{document}&#10;&#10;\begin{equation*}&#10;V_{\perp}^{\left(T^{\left(\sigma\right)}\right)(\mathcal{W}_{0}\mathcal{W}_{1})}&#10;=&#10;\frac{1}{\sqrt{3}}&#10;\begin{pmatrix}&#10;                                0 &amp;         \sigma\sigma_{0}\sigma_{1}U_{z} &amp;                           U_{y,3} \\&#10;                            U_{z} &amp;                                       0 &amp; \sigma\sigma_{0}\sigma_{1}U_{x,3} \\&#10;\sigma\sigma_{0}\sigma_{1}U_{y,3} &amp;                                 U_{x,3} &amp;                                 0 \\&#10;\end{pmatrix}&#10;\end{equation*}&#10;&#10;\end{document}"/>
  <p:tag name="IGUANATEXSIZE" val="20"/>
  <p:tag name="IGUANATEXCURSOR" val="457"/>
  <p:tag name="TRANSPARENCY" val="True"/>
  <p:tag name="FILENAME" val=""/>
  <p:tag name="LATEXENGINEID" val="0"/>
  <p:tag name="TEMPFOLDER" val="C:\iguanatex\"/>
  <p:tag name="LATEXFORMHEIGHT" val="624"/>
  <p:tag name="LATEXFORMWIDTH" val="1827.75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2.7184"/>
  <p:tag name="ORIGINALWIDTH" val="652.4184"/>
  <p:tag name="OUTPUTTYPE" val="PNG"/>
  <p:tag name="IGUANATEXVERSION" val="159"/>
  <p:tag name="LATEXADDIN" val="\documentclass{article}&#10;\usepackage{amsmath,bm,eufrak}&#10;\pagestyle{empty}&#10;\begin{document}&#10;&#10;\begin{align*}&#10;\delta_{s}^{\sigma}  &amp; = \frac{1 + \sigma s}{2} \\&#10;\end{align*}&#10;&#10;\end{document}"/>
  <p:tag name="IGUANATEXSIZE" val="16"/>
  <p:tag name="IGUANATEXCURSOR" val="156"/>
  <p:tag name="TRANSPARENCY" val="True"/>
  <p:tag name="FILENAME" val=""/>
  <p:tag name="LATEXENGINEID" val="0"/>
  <p:tag name="TEMPFOLDER" val="C:\iguanatex\"/>
  <p:tag name="LATEXFORMHEIGHT" val="624"/>
  <p:tag name="LATEXFORMWIDTH" val="1913.25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2.7184"/>
  <p:tag name="ORIGINALWIDTH" val="652.4184"/>
  <p:tag name="OUTPUTTYPE" val="PNG"/>
  <p:tag name="IGUANATEXVERSION" val="159"/>
  <p:tag name="LATEXADDIN" val="\documentclass{article}&#10;\usepackage{amsmath,bm,eufrak}&#10;\pagestyle{empty}&#10;\begin{document}&#10;&#10;\begin{align*}&#10;\delta_{s}^{\sigma}  &amp; = \frac{1 + \sigma s}{2} \\&#10;\end{align*}&#10;&#10;\end{document}"/>
  <p:tag name="IGUANATEXSIZE" val="16"/>
  <p:tag name="IGUANATEXCURSOR" val="149"/>
  <p:tag name="TRANSPARENCY" val="True"/>
  <p:tag name="FILENAME" val=""/>
  <p:tag name="LATEXENGINEID" val="0"/>
  <p:tag name="TEMPFOLDER" val="C:\iguanatex\"/>
  <p:tag name="LATEXFORMHEIGHT" val="624"/>
  <p:tag name="LATEXFORMWIDTH" val="1913.25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8.4439"/>
  <p:tag name="ORIGINALWIDTH" val="2395.201"/>
  <p:tag name="OUTPUTTYPE" val="PNG"/>
  <p:tag name="IGUANATEXVERSION" val="159"/>
  <p:tag name="LATEXADDIN" val="\documentclass{article}&#10;\usepackage{amsmath,amssymb,bm}&#10;\pagestyle{empty}&#10;\begin{document}&#10;&#10;\begin{equation*}&#10;V_{\parallel}^{\left(E\right)(\mathcal{W}_{0}\mathcal{W}_{1})}&#10;=&#10;\begin{pmatrix}&#10;W_{x\sigma_{0}\sigma_{1}} &amp;                         0 &amp; 0                         \\&#10;                        0 &amp; W_{y\sigma_{0}\sigma_{1}} &amp; 0                         \\&#10;                        0 &amp;                         0 &amp; W_{z\sigma_{0}\sigma_{1}} \\&#10;\end{pmatrix}&#10;\end{equation*}&#10;&#10;\end{document}"/>
  <p:tag name="IGUANATEXSIZE" val="20"/>
  <p:tag name="IGUANATEXCURSOR" val="52"/>
  <p:tag name="TRANSPARENCY" val="True"/>
  <p:tag name="FILENAME" val=""/>
  <p:tag name="LATEXENGINEID" val="0"/>
  <p:tag name="TEMPFOLDER" val="C:\iguanatex\"/>
  <p:tag name="LATEXFORMHEIGHT" val="640.5"/>
  <p:tag name="LATEXFORMWIDTH" val="1882.5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8.6802"/>
  <p:tag name="ORIGINALWIDTH" val="1347.582"/>
  <p:tag name="OUTPUTTYPE" val="PNG"/>
  <p:tag name="IGUANATEXVERSION" val="159"/>
  <p:tag name="LATEXADDIN" val="\documentclass{article}&#10;\usepackage{amsmath,bm,eufrak}&#10;\pagestyle{empty}&#10;\begin{document}&#10;&#10;\begin{align*}&#10;W_{1\sigma_{0}\sigma_{1}} &amp; = \frac{ U_{11} + \sigma_{0}\sigma_{1}U_{21} }{ 2 } \\&#10;W_{2\sigma_{0}\sigma_{1}} &amp; = \frac{ U_{22} + \sigma_{0}\sigma_{1}U_{12} }{ 2 } \\&#10;\end{align*}&#10;&#10;\end{document}"/>
  <p:tag name="IGUANATEXSIZE" val="16"/>
  <p:tag name="IGUANATEXCURSOR" val="268"/>
  <p:tag name="TRANSPARENCY" val="True"/>
  <p:tag name="FILENAME" val=""/>
  <p:tag name="LATEXENGINEID" val="0"/>
  <p:tag name="TEMPFOLDER" val="C:\iguanatex\"/>
  <p:tag name="LATEXFORMHEIGHT" val="624"/>
  <p:tag name="LATEXFORMWIDTH" val="1096.5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30.9336"/>
  <p:tag name="ORIGINALWIDTH" val="1649.044"/>
  <p:tag name="OUTPUTTYPE" val="PNG"/>
  <p:tag name="IGUANATEXVERSION" val="159"/>
  <p:tag name="LATEXADDIN" val="\documentclass{article}&#10;\usepackage{amsmath,bm,eufrak}&#10;\pagestyle{empty}&#10;\begin{document}&#10;&#10;\begin{align*}&#10;W_{x\sigma_{0}\sigma_{1}} &amp; = \tau W_{1\sigma_{0}\sigma_{1}} + \tau^{2}W_{2\sigma_{0}\sigma_{1}} \\&#10;W_{y\sigma_{0}\sigma_{1}} &amp; = \tau^{2}W_{1\sigma_{0}\sigma_{1}} + \tau W_{2\sigma_{0}\sigma_{1}} \\&#10;W_{z\sigma_{0}\sigma_{1}} &amp; = W_{1\sigma_{0}\sigma_{1}} + W_{2\sigma_{0}\sigma_{1}}              \\&#10;\end{align*}&#10;&#10;\end{document}"/>
  <p:tag name="IGUANATEXSIZE" val="16"/>
  <p:tag name="IGUANATEXCURSOR" val="405"/>
  <p:tag name="TRANSPARENCY" val="True"/>
  <p:tag name="FILENAME" val=""/>
  <p:tag name="LATEXENGINEID" val="0"/>
  <p:tag name="TEMPFOLDER" val="C:\iguanatex\"/>
  <p:tag name="LATEXFORMHEIGHT" val="624"/>
  <p:tag name="LATEXFORMWIDTH" val="1096.5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84.852"/>
  <p:tag name="ORIGINALWIDTH" val="5936.258"/>
  <p:tag name="OUTPUTTYPE" val="PNG"/>
  <p:tag name="IGUANATEXVERSION" val="159"/>
  <p:tag name="LATEXADDIN" val="\documentclass{article}&#10;\usepackage{amsmath,bm,eufrak}&#10;\pagestyle{empty}&#10;\begin{document}&#10;&#10;\begin{align*}&#10;(\bm{\mathcal{M}})_{\perp\left(mhlkT_{q}^{(\sigma)}\right)_{01}}^{(j)}&#10;&amp; =&#10;\int\mathrm{d}\bm{r}\,&#10;V^{(j)\left(T_{q}^{(\sigma)}\right)_{01}}_{\perp}\,&#10;\Psi_{\left(mlkhT_{q}^{(\sigma)};\lambda\eta\right)_{0}}^{\left(W\kappa_{0}y\right)*}&#10;\Psi_{\left(mlkhT_{q}^{(\sigma)};\lambda\eta\right)_{1}}^{\left(W\kappa_{1}x\right)}&#10;\\&#10;&amp; =&#10;\int\mathrm{d}\bm{r}\,&#10;V^{(j)\left(T_{q}^{(\sigma)}\right)_{01}}_{\perp}\,&#10;\left(\frac{&#10;\Phi_{(mhlk)_{0}}^{\left(W\kappa_{0}z\right)}\Theta_{\Omega_{0}}^{(z)}&#10;- \zeta_{0}\Phi_{(m\bar{h}lk)_{0}}^{\left(W\kappa_{0}x\right)}\Theta_{\Omega_{0}}^{(x)}&#10;}{\sqrt{2}}&#10;\right)^{*}&#10;\left(\frac{&#10;\Phi_{(mhlk)_{1}}^{\left(W\kappa_{1}y\right)}\Theta_{\Omega_{1}}^{(y)}&#10;- \zeta_{1}\Phi_{(m\bar{h}lk)_{1}}^{\left(W\kappa_{1}z\right)}\Theta_{\Omega_{1}}^{(z)}&#10;}{\sqrt{2}}&#10;\right)&#10;\\&#10;&amp; =&#10;\frac{1}{2}\left(&#10;\bm{\mathcal{M}}^{(-z,-y)}&#10;+\zeta_{0}^{*}\zeta_{1}\bm{\mathcal{M}}^{(+x,+z)}&#10;-\zeta_{0}^{*}\bm{\mathcal{M}}^{(+x,-y)}&#10;-\zeta_{1}\bm{\mathcal{M}}^{(-z,+z)}&#10;\right)&#10;^{(j)\left(T_{q}^{(\sigma)}\right)_{01}}&#10;_{\perp\left(mhlk\right)_{01}}&#10;\end{align*}&#10;&#10;\end{document}"/>
  <p:tag name="IGUANATEXSIZE" val="16"/>
  <p:tag name="IGUANATEXCURSOR" val="1090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84.852"/>
  <p:tag name="ORIGINALWIDTH" val="5896.513"/>
  <p:tag name="OUTPUTTYPE" val="PNG"/>
  <p:tag name="IGUANATEXVERSION" val="159"/>
  <p:tag name="LATEXADDIN" val="\documentclass{article}&#10;\usepackage{amsmath,bm,eufrak}&#10;\pagestyle{empty}&#10;\begin{document}&#10;&#10;\begin{align*}&#10;(\bm{\mathcal{M}})_{\parallel\left(mhlkT_{q}^{(\sigma)}\right)_{01}}^{(j)}&#10;&amp; =&#10;\int\mathrm{d}\bm{r}\,&#10;V^{(j)\left(T_{q}^{(\sigma)}\right)_{01}}_{\parallel}&#10;\Psi_{\left(mhlkT_{q}^{(\sigma)};\lambda\eta\right)_{0}}^{\left(W\kappa z\right)*}&#10;\Psi_{\left(mhlkT_{q}^{(\sigma)};\lambda\eta\right)_{1}}^{\left(W\kappa z\right)}&#10;\\&#10;&amp; =&#10;\int\mathrm{d}\bm{r}\,&#10;V^{(j)\left(T_{q}^{(\sigma)}\right)_{01}}_{\parallel}&#10;\left(\frac{&#10;\Phi_{(mhlk)_{0}}^{\left(W\kappa_{0}x\right)}\Theta_{\Omega_{0}}^{(x)}&#10;- \zeta_{0}\Phi_{(m\bar{h}lk)_{0}}^{\left(W\kappa_{1}y\right)}\Theta_{\Omega_{0}}^{(y)}&#10;}{\sqrt{2}}&#10;\right)^{*}&#10;\left(\frac{&#10;\Phi_{(mhlk)_{1}}^{\left(W\kappa_{1}x\right)}\Theta_{\Omega_{1}}^{(x)}&#10;- \zeta_{1}\Phi_{(m\bar{h}lk)_{1}}^{\left(W\kappa_{1}y\right)}\Theta_{\Omega_{1}}^{(y)}&#10;}{\sqrt{2}}&#10;\right)&#10;\\&#10;&amp; =&#10;\frac{1}{2}\left(&#10;\bm{\mathcal{M}}^{(-x,-x)}&#10;+\zeta_{0}^{*}\zeta_{1}\bm{\mathcal{M}}^{(+y,+y)}&#10;-\zeta_{0}^{*}\bm{\mathcal{M}}^{(+y,-x)}&#10;-\zeta_{1}\bm{\mathcal{M}}^{(-x,+y)}&#10;\right)&#10;^{(j)\left(T_{q}^{(\sigma)}\right)_{01}}&#10;_{\parallel\left(mhlk\right)_{01}}&#10;\\&#10;\end{align*}&#10;&#10;\end{document}"/>
  <p:tag name="IGUANATEXSIZE" val="16"/>
  <p:tag name="IGUANATEXCURSOR" val="179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4.4807"/>
  <p:tag name="ORIGINALWIDTH" val="1379.078"/>
  <p:tag name="OUTPUTTYPE" val="PNG"/>
  <p:tag name="IGUANATEXVERSION" val="159"/>
  <p:tag name="LATEXADDIN" val="\documentclass{article}&#10;\usepackage{amsmath,amssymb,bm}&#10;\pagestyle{empty}&#10;\begin{document}&#10;&#10;\begin{equation*}&#10;\zeta = h\sigma\mathrm{i}^{m} \quad\quad \Omega = h\left(-1\right)^{l}&#10;\end{equation*}&#10;&#10;\end{document}"/>
  <p:tag name="IGUANATEXSIZE" val="16"/>
  <p:tag name="IGUANATEXCURSOR" val="125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1.2149"/>
  <p:tag name="ORIGINALWIDTH" val="5091.863"/>
  <p:tag name="OUTPUTTYPE" val="PNG"/>
  <p:tag name="IGUANATEXVERSION" val="159"/>
  <p:tag name="LATEXADDIN" val="\documentclass{article}&#10;\usepackage{amsmath,bm,eufrak}&#10;\pagestyle{empty}&#10;\begin{document}&#10;&#10;\begin{align*}&#10;\left(\bm{\mathcal{M}}\right)&#10;^{(j)\left(T_{q}^{(\sigma)}\right)_{01}(s_{0}p_{0},s_{1}p_{1})}&#10;_{\parallel\slash\perp,\hat{R}(mhlk)_{01}}&#10;&amp; =&#10;\int\mathrm{d}\bm{r}\,&#10;V^{(j)\left(T_{q}^{(\sigma)}\right)_{01}}_{\parallel\slash\perp,\hat{R}}&#10;\left(\Phi_{(m(-s_{0}h_{0})lk)_{0}}^{\left(W\kappa_{0}p_{0}\right)}&#10;\Theta_{h_{0}\left(-1\right)^{l_{0}}}^{(p_{0})}\right)^{*}&#10;\Phi_{(m(-s_{1}h_{1})lk)_{1}}^{\left(W\kappa_{1}p_{1}\right)}&#10;\Theta_{h_{1}\left(-1\right)^{l_{1}}}^{(p_{1})}&#10;\\&#10;\end{align*}&#10;&#10;\end{document}"/>
  <p:tag name="IGUANATEXSIZE" val="16"/>
  <p:tag name="IGUANATEXCURSOR" val="230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3.075"/>
  <p:tag name="ORIGINALWIDTH" val="6812.898"/>
  <p:tag name="OUTPUTTYPE" val="PNG"/>
  <p:tag name="IGUANATEXVERSION" val="159"/>
  <p:tag name="LATEXADDIN" val="\documentclass{article}&#10;\usepackage{amsmath,bm,eufrak}&#10;\pagestyle{empty}&#10;\begin{document}&#10;&#10;\begin{align*}&#10;(\bm{\mathcal{M}})_{\parallel\left(mhlkT_{q}^{(\sigma)}\right)_{01}}^{(j)}&#10;&amp; =&#10;\frac{1}{2}\left(&#10;\bm{\mathcal{M}}^{(-x,-x)}&#10;+\zeta_{0}^{*}\zeta_{1}\bm{\mathcal{M}}^{(+y,+y)}&#10;-\zeta_{0}^{*}\bm{\mathcal{M}}^{(+y,-x)}&#10;-\zeta_{1}\bm{\mathcal{M}}^{(-x,+y)}&#10;\right)&#10;_{\parallel(mhlk)_{01}}&#10;^{(j)\left(T_{q}^{(\sigma)}\right)_{01}}&#10;\\&#10;&amp; =&#10;\frac{1}{2}\left(&#10;\bm{\mathcal{M}}^{(-z,-z)}_{zxy}&#10;+&#10;\left(+\zeta_{0}^{*}\sigma_{0}\right)&#10;\left(+\zeta_{1}\sigma_{1}\right)&#10;\zeta_{0}^{*}\zeta_{1}&#10;\bm{\mathcal{M}}^{(-z,-z)}_{xzy}&#10;-&#10;\zeta_{0}^{*}&#10;\bm{\mathcal{M}}^{(+y,-x)}_{xyz}&#10;-&#10;\left(-\zeta_{0}^{*}\sigma_{0}\right)&#10;\left(+\zeta_{1}\sigma_{1}\right)&#10;\zeta_{1}&#10;\bm{\mathcal{M}}^{(+y,-x)}_{yxz}&#10;\right)&#10;_{\parallel(mhlk)_{01}}&#10;^{(j)\left(T_{q}^{(\sigma)}\right)_{01}}&#10;\\&#10;&amp; =&#10;\frac{1}{2}\left(&#10;\bm{\mathcal{M}}^{(-z,-z)}_{zxy}&#10;+&#10;\left(\sigma_{0}\sigma_{1}\right)&#10;\sigma_{0}\sigma_{1}&#10;\bm{\mathcal{M}}^{(-z,-z)}_{zxy}&#10;-&#10;\zeta_{0}^{*}&#10;\bm{\mathcal{M}}^{(+y,-x)}_{xyz}&#10;-&#10;\left(\sigma_{0}\sigma_{1}\right)&#10;\zeta_{0}^{*}\sigma_{0}\sigma_{1}&#10;\bm{\mathcal{M}}^{(+y,-x)}_{xyz}&#10;\right)&#10;_{\parallel(mhlk)_{01}}&#10;^{(j)\left(T_{q}^{(\sigma)}\right)_{01}}&#10;\\&#10;&amp; =&#10;\left(&#10;\bm{\mathcal{M}}^{(-z,-z)}_{zxy}&#10;+&#10;\zeta_{0}\bm{\mathcal{M}}^{(+y,-x)}_{xyz}&#10;\right)&#10;_{\parallel(mhlk)_{01}}&#10;^{(j)\left(T_{q}^{(\sigma)}\right)_{01}}&#10;\\&#10;\end{align*}&#10;&#10;\end{document}"/>
  <p:tag name="IGUANATEXSIZE" val="15"/>
  <p:tag name="IGUANATEXCURSOR" val="180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3.075"/>
  <p:tag name="ORIGINALWIDTH" val="6844.395"/>
  <p:tag name="OUTPUTTYPE" val="PNG"/>
  <p:tag name="IGUANATEXVERSION" val="159"/>
  <p:tag name="LATEXADDIN" val="\documentclass{article}&#10;\usepackage{amsmath,bm,eufrak}&#10;\pagestyle{empty}&#10;\begin{document}&#10;&#10;\begin{align*}&#10;(\bm{\mathcal{M}})_{\perp\left(mhlkT_{q}^{(\sigma)}\right)_{01}}^{(j)}&#10;&amp; =&#10;\frac{1}{2}\left(&#10;\bm{\mathcal{M}}^{(-z,-y)}_{xyz}&#10;+\zeta_{0}^{*}\zeta_{1}\bm{\mathcal{M}}^{(+x,+z)}_{xyz}&#10;-\zeta_{0}^{*}\bm{\mathcal{M}}^{(+x,-y)}_{xyz}&#10;-\zeta_{1}\bm{\mathcal{M}}^{(-z,+z)}_{xyz}&#10;\right)&#10;_{\perp(mlkh)_{01}}&#10;^{(j)\left(T_{q}^{(\sigma)}\right)_{01}}&#10;\\&#10;&amp; =&#10;\frac{1}{2}\left(&#10;\bm{\mathcal{M}}^{(-y,-x)}_{zxy}&#10;+&#10;\zeta_{0}^{*}\zeta_{1}\bm{\mathcal{M}}^{(+y,+x)}_{yzx}&#10;-&#10;\left(+\zeta_{0}^{*}\sigma_{0}\right)&#10;\left(-\zeta_{1}\sigma_{1}\right)&#10;\zeta_{0}^{*}&#10;\bm{\mathcal{M}}^{(-y,+x)}_{yxz}&#10;-&#10;\left(-\zeta_{0}^{*}\sigma_{0}\right)&#10;\left(+\zeta_{1}\sigma_{1}\right)&#10;\zeta_{1}&#10;\bm{\mathcal{M}}^{(+z,-z)}_{yxz}&#10;\right)&#10;_{\perp(mlkh)_{01}}&#10;^{(j)\left(T_{q}^{(\sigma)}\right)_{01}}&#10;\\&#10;&amp; =&#10;\frac{1}{2}\left(&#10;\bm{\mathcal{M}}^{(-y,-x)}_{zxy}&#10;-&#10;\zeta_{0}\zeta_{1}\bm{\mathcal{M}}^{(+y,+x)}_{yzx}&#10;+&#10;\zeta_{0}\sigma_{0}\sigma_{1}\left(\sigma_{0}\sigma_{1}\right)\bm{\mathcal{M}}^{(+z,-z)}_{xyz}&#10;-&#10;\zeta_{1}\sigma_{0}\sigma_{1}\left(\sigma_{0}\sigma_{1}\right)\bm{\mathcal{M}}^{(-y,+x)}_{xyz}&#10;\right)&#10;_{\perp(mlkh)_{01}}&#10;^{(j)\left(T_{q}^{(\sigma)}\right)_{01}}&#10;\\&#10;&amp; =&#10;\frac{1}{2}\left(&#10;\bm{\mathcal{M}}^{(-y,-x)}_{zxy}&#10;-&#10;\zeta_{0}\zeta_{1}\bm{\mathcal{M}}^{(+y,+x)}_{yzx}&#10;+&#10;\zeta_{0}\bm{\mathcal{M}}^{(+z,-z)}_{xyz}&#10;-&#10;\zeta_{1}\bm{\mathcal{M}}^{(-y,+x)}_{xyz}&#10;\right)&#10;_{\perp(mlkh)_{01}}&#10;^{(j)\left(T_{q}^{(\sigma)}\right)_{01}}&#10;\\&#10;\end{align*}&#10;\end{document}"/>
  <p:tag name="IGUANATEXSIZE" val="14"/>
  <p:tag name="IGUANATEXCURSOR" val="1207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1.2149"/>
  <p:tag name="ORIGINALWIDTH" val="5091.863"/>
  <p:tag name="OUTPUTTYPE" val="PNG"/>
  <p:tag name="IGUANATEXVERSION" val="159"/>
  <p:tag name="LATEXADDIN" val="\documentclass{article}&#10;\usepackage{amsmath,bm,eufrak}&#10;\pagestyle{empty}&#10;\begin{document}&#10;&#10;\begin{align*}&#10;\left(\bm{\mathcal{M}}\right)&#10;^{(j)\left(T_{q}^{(\sigma)}\right)_{01}(s_{0}p_{0},s_{1}p_{1})}&#10;_{\parallel\slash\perp,\hat{R}(mhlk)_{01}}&#10;&amp; =&#10;\int\mathrm{d}\bm{r}\,&#10;V^{(j)\left(T_{q}^{(\sigma)}\right)_{01}}_{\parallel\slash\perp,\hat{R}}&#10;\left(\Phi_{(m(-s_{0}h_{0})lk)_{0}}^{\left(W\kappa_{0}p_{0}\right)}&#10;\Theta_{h_{0}\left(-1\right)^{l_{0}}}^{(p_{0})}\right)^{*}&#10;\Phi_{(m(-s_{1}h_{1})lk)_{1}}^{\left(W\kappa_{1}p_{1}\right)}&#10;\Theta_{h_{1}\left(-1\right)^{l_{1}}}^{(p_{1})}&#10;\\&#10;\end{align*}&#10;&#10;\end{document}"/>
  <p:tag name="IGUANATEXSIZE" val="16"/>
  <p:tag name="IGUANATEXCURSOR" val="230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8.4439"/>
  <p:tag name="ORIGINALWIDTH" val="2755.156"/>
  <p:tag name="LATEXADDIN" val="\documentclass{article}&#10;\usepackage{amsmath,bm,eufrak}&#10;\pagestyle{empty}&#10;\begin{document}&#10;&#10;\begin{equation*}&#10;V_{\parallel}^{\left(A^{\left(\sigma\right)}\right)(\mathcal{W})_{01}}&#10;=&#10;\delta_{\sigma_{0}\sigma_{1}}^{\sigma}\delta_{\mathcal{W}_{0}T}\delta_{\mathcal{W}_{1}T}&#10;\begin{pmatrix}&#10;1 &amp; 0 &amp; 0 \\&#10;0 &amp; 1 &amp; 0 \\&#10;0 &amp; 0 &amp; 1 \\&#10;\end{pmatrix}&#10;U^{\left(A^{\left(\sigma\right)}\right)}&#10;\end{equation*}&#10;&#10;\end{document}"/>
  <p:tag name="IGUANATEXSIZE" val="20"/>
  <p:tag name="IGUANATEXCURSOR" val="178"/>
  <p:tag name="TRANSPARENCY" val="True"/>
  <p:tag name="FILENAME" val=""/>
  <p:tag name="LATEXENGINEID" val="0"/>
  <p:tag name="TEMPFOLDER" val="c:\temp\"/>
  <p:tag name="LATEXFORMHEIGHT" val="571.5"/>
  <p:tag name="LATEXFORMWIDTH" val="1901.25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8.4439"/>
  <p:tag name="ORIGINALWIDTH" val="2978.628"/>
  <p:tag name="LATEXADDIN" val="\documentclass{article}&#10;\usepackage{amsmath,amssymb,bm}&#10;\pagestyle{empty}&#10;\begin{document}&#10;&#10;\begin{equation*}&#10;V_{\parallel}^{\left(E\right)(\mathcal{W}_{0}\mathcal{W}_{1})}&#10;=&#10;\delta_{\mathcal{W}_{0}T}\delta_{\mathcal{W}_{1}T}&#10;\begin{pmatrix}&#10;W_{x\sigma_{0}\sigma_{1}} &amp;                         0 &amp; 0                         \\&#10;                        0 &amp; W_{y\sigma_{0}\sigma_{1}} &amp; 0                         \\&#10;                        0 &amp;                         0 &amp; W_{z\sigma_{0}\sigma_{1}} \\&#10;\end{pmatrix}&#10;\end{equation*}&#10;&#10;\end{document}"/>
  <p:tag name="IGUANATEXSIZE" val="20"/>
  <p:tag name="IGUANATEXCURSOR" val="175"/>
  <p:tag name="TRANSPARENCY" val="True"/>
  <p:tag name="FILENAME" val=""/>
  <p:tag name="LATEXENGINEID" val="0"/>
  <p:tag name="TEMPFOLDER" val="c:\temp\"/>
  <p:tag name="LATEXFORMHEIGHT" val="640.5"/>
  <p:tag name="LATEXFORMWIDTH" val="1882.5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2.7184"/>
  <p:tag name="ORIGINALWIDTH" val="652.4184"/>
  <p:tag name="OUTPUTTYPE" val="PNG"/>
  <p:tag name="IGUANATEXVERSION" val="159"/>
  <p:tag name="LATEXADDIN" val="\documentclass{article}&#10;\usepackage{amsmath,bm,eufrak}&#10;\pagestyle{empty}&#10;\begin{document}&#10;&#10;\begin{align*}&#10;\delta_{s}^{\sigma}  &amp; = \frac{1 + \sigma s}{2} \\&#10;\end{align*}&#10;&#10;\end{document}"/>
  <p:tag name="IGUANATEXSIZE" val="16"/>
  <p:tag name="IGUANATEXCURSOR" val="156"/>
  <p:tag name="TRANSPARENCY" val="True"/>
  <p:tag name="FILENAME" val=""/>
  <p:tag name="LATEXENGINEID" val="0"/>
  <p:tag name="TEMPFOLDER" val="C:\iguanatex\"/>
  <p:tag name="LATEXFORMHEIGHT" val="624"/>
  <p:tag name="LATEXFORMWIDTH" val="1913.25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8.6802"/>
  <p:tag name="ORIGINALWIDTH" val="1347.582"/>
  <p:tag name="OUTPUTTYPE" val="PNG"/>
  <p:tag name="IGUANATEXVERSION" val="159"/>
  <p:tag name="LATEXADDIN" val="\documentclass{article}&#10;\usepackage{amsmath,bm,eufrak}&#10;\pagestyle{empty}&#10;\begin{document}&#10;&#10;\begin{align*}&#10;W_{1\sigma_{0}\sigma_{1}} &amp; = \frac{ U_{11} + \sigma_{0}\sigma_{1}U_{21} }{ 2 } \\&#10;W_{2\sigma_{0}\sigma_{1}} &amp; = \frac{ U_{22} + \sigma_{0}\sigma_{1}U_{12} }{ 2 } \\&#10;\end{align*}&#10;&#10;\end{document}"/>
  <p:tag name="IGUANATEXSIZE" val="16"/>
  <p:tag name="IGUANATEXCURSOR" val="268"/>
  <p:tag name="TRANSPARENCY" val="True"/>
  <p:tag name="FILENAME" val=""/>
  <p:tag name="LATEXENGINEID" val="0"/>
  <p:tag name="TEMPFOLDER" val="C:\iguanatex\"/>
  <p:tag name="LATEXFORMHEIGHT" val="624"/>
  <p:tag name="LATEXFORMWIDTH" val="1096.5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30.9336"/>
  <p:tag name="ORIGINALWIDTH" val="1649.044"/>
  <p:tag name="OUTPUTTYPE" val="PNG"/>
  <p:tag name="IGUANATEXVERSION" val="159"/>
  <p:tag name="LATEXADDIN" val="\documentclass{article}&#10;\usepackage{amsmath,bm,eufrak}&#10;\pagestyle{empty}&#10;\begin{document}&#10;&#10;\begin{align*}&#10;W_{x\sigma_{0}\sigma_{1}} &amp; = \tau W_{1\sigma_{0}\sigma_{1}} + \tau^{2}W_{2\sigma_{0}\sigma_{1}} \\&#10;W_{y\sigma_{0}\sigma_{1}} &amp; = \tau^{2}W_{1\sigma_{0}\sigma_{1}} + \tau W_{2\sigma_{0}\sigma_{1}} \\&#10;W_{z\sigma_{0}\sigma_{1}} &amp; = W_{1\sigma_{0}\sigma_{1}} + W_{2\sigma_{0}\sigma_{1}}              \\&#10;\end{align*}&#10;&#10;\end{document}"/>
  <p:tag name="IGUANATEXSIZE" val="16"/>
  <p:tag name="IGUANATEXCURSOR" val="405"/>
  <p:tag name="TRANSPARENCY" val="True"/>
  <p:tag name="FILENAME" val=""/>
  <p:tag name="LATEXENGINEID" val="0"/>
  <p:tag name="TEMPFOLDER" val="C:\iguanatex\"/>
  <p:tag name="LATEXFORMHEIGHT" val="624"/>
  <p:tag name="LATEXFORMWIDTH" val="1096.5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6.9066"/>
  <p:tag name="ORIGINALWIDTH" val="4488.939"/>
  <p:tag name="LATEXADDIN" val="\documentclass{article}&#10;\usepackage{amsmath,bm,eufrak}&#10;\pagestyle{empty}&#10;\begin{document}&#10;&#10;\begin{equation*}&#10;V_{\parallel}^{\left(T^{\left(\sigma\right)}\right)(\mathcal{W}_{0}\mathcal{W}_{1})}&#10;=&#10;\frac{1}{\sqrt{3}}&#10;\left(1-\delta_{\mathcal{W}_{0}T}\right)\delta_{\mathcal{W}_{1}T}&#10;\begin{pmatrix}&#10;          \delta_{\sigma_{0}\sigma_{1}}^{\sigma}U_{(x)} &amp;          \delta_{\sigma_{0}\sigma_{1}}^{\sigma}U_{(y)} &amp;   \delta_{\sigma_{0}\sigma_{1}}^{\sigma}U_{(z)} \\&#10;           \delta_{+\sigma_{1}}^{\sigma}\tau^{2}U_{(x)} &amp;              \delta_{+\sigma_{1}}^{\sigma}\tau U_{(y)} &amp;            \delta_{+\sigma_{1}}^{\sigma}U_{(z)} \\&#10;-\mathrm{i}\delta_{-\sigma_{1}}^{\sigma}\tau^{2}U_{(x)} &amp;   -\mathrm{i}\delta_{-\sigma_{1}}^{\sigma}\tau U_{(y)} &amp; -\mathrm{i}\delta_{-\sigma_{1}}^{\sigma}U_{(z)} \\&#10;              \delta_{+\sigma_{1}}^{\sigma}\tau U_{(x)} &amp;           \delta_{+\sigma_{1}}^{\sigma}\tau^{2}U_{(y)} &amp;            \delta_{+\sigma_{1}}^{\sigma}U_{(z)} \\&#10;    \mathrm{i}\delta_{-\sigma_{1}}^{\sigma}\tau U_{(x)} &amp; \mathrm{i}\delta_{-\sigma_{1}}^{\sigma}\tau^{2}U_{(y)} &amp;  \mathrm{i}\delta_{-\sigma_{1}}^{\sigma}U_{(z)} \\&#10;\end{pmatrix}&#10;\end{equation*}&#10;&#10;\end{document}"/>
  <p:tag name="IGUANATEXSIZE" val="20"/>
  <p:tag name="IGUANATEXCURSOR" val="274"/>
  <p:tag name="TRANSPARENCY" val="False"/>
  <p:tag name="FILENAME" val=""/>
  <p:tag name="LATEXENGINEID" val="0"/>
  <p:tag name="TEMPFOLDER" val="c:\temp\"/>
  <p:tag name="LATEXFORMHEIGHT" val="642.75"/>
  <p:tag name="LATEXFORMWIDTH" val="1882.5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3.4684"/>
  <p:tag name="ORIGINALWIDTH" val="4045.744"/>
  <p:tag name="OUTPUTTYPE" val="PNG"/>
  <p:tag name="IGUANATEXVERSION" val="159"/>
  <p:tag name="LATEXADDIN" val="\documentclass{article}&#10;\usepackage{amsmath,bm,eufrak}&#10;\pagestyle{empty}&#10;\begin{document}&#10;&#10;\begin{align*}&#10;     U_{(x)} = U_{x,3}^{\left(T^{(\sigma)}\right)} \quad\quad&#10;     U_{(y)} = U_{y,3}^{\left(T^{(\sigma)}\right)} \quad\quad&#10;     U_{(z)} = U_{z}^{\left(T^{(\sigma)}\right)}   \quad\quad&#10;\delta_{(A)} = \frac{1 + \sigma\sigma_{0}\sigma_{1}}{2} \\&#10;\end{align*}&#10;&#10;\end{document}"/>
  <p:tag name="IGUANATEXSIZE" val="16"/>
  <p:tag name="IGUANATEXCURSOR" val="245"/>
  <p:tag name="TRANSPARENCY" val="True"/>
  <p:tag name="FILENAME" val=""/>
  <p:tag name="LATEXENGINEID" val="0"/>
  <p:tag name="TEMPFOLDER" val="C:\iguanatex\"/>
  <p:tag name="LATEXFORMHEIGHT" val="624"/>
  <p:tag name="LATEXFORMWIDTH" val="1096.5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75.591"/>
  <p:tag name="ORIGINALWIDTH" val="3554.556"/>
  <p:tag name="OUTPUTTYPE" val="PNG"/>
  <p:tag name="IGUANATEXVERSION" val="159"/>
  <p:tag name="LATEXADDIN" val="\documentclass{article}&#10;\usepackage{amsmath,bm,eufrak}&#10;\pagestyle{empty}&#10;\begin{document}&#10;&#10;\begin{equation*}&#10;V_{\perp}^{\left(T^{\left(\sigma\right)}\right)(\mathcal{W}_{0}\mathcal{W}_{1})}&#10;=&#10;\frac{1}{\sqrt{3}}&#10;\begin{pmatrix}&#10;         2\delta_{\sigma_{0}\sigma_{1}}^{\sigma}U_{x} &amp;          2\delta_{\sigma_{0}\sigma_{1}}^{\sigma}U_{y,1} &amp;  2\delta_{\sigma_{0}\sigma_{1}}^{\sigma}U_{z,1} \\&#10;           \tau^{2}\phi_{+\sigma_{1}}^{(\sigma)}U_{x} &amp;               \tau \phi_{+\sigma_{1}}^{(\sigma)}U_{y,1} &amp;            \phi_{+\sigma_{1}}^{(\sigma)}U_{z,1} \\&#10;-\mathrm{i}\tau^{2}\phi_{-\sigma_{1}}^{(\sigma)}U_{x} &amp;    -\mathrm{i}\tau \phi_{-\sigma_{1}}^{(\sigma)}U_{y,1} &amp; -\mathrm{i}\phi_{-\sigma_{1}}^{(\sigma)}U_{z,1} \\&#10;             \tau \phi_{+\sigma_{1}}^{(\sigma)*}U_{x} &amp;           \tau^{2}\phi_{+\sigma_{1}}^{(\sigma)*}U_{y,1} &amp;           \phi_{+\sigma_{1}}^{(\sigma)*}U_{z,1} \\&#10;   \mathrm{i}\tau \phi_{-\sigma_{1}}^{(\sigma)*}U_{x} &amp; \mathrm{i}\tau^{2}\phi_{-\sigma_{1}}^{(\sigma)*}U_{y,1} &amp; \mathrm{i}\phi_{-\sigma_{1}}^{(\sigma)*}U_{z,1} \\&#10;                                                    0 &amp;                         \sigma\sigma_{0}\sigma_{1}U_{z} &amp;                                         U_{y,3} \\&#10;                                                U_{z} &amp;                                                       0 &amp;               \sigma\sigma_{0}\sigma_{1}U_{x,3} \\&#10;                    \sigma\sigma_{0}\sigma_{1}U_{y,3} &amp;                                                 U_{x,3} &amp;                                               0 \\&#10;\end{pmatrix}&#10;\end{equation*}&#10;&#10;\end{document}"/>
  <p:tag name="IGUANATEXSIZE" val="20"/>
  <p:tag name="IGUANATEXCURSOR" val="342"/>
  <p:tag name="TRANSPARENCY" val="True"/>
  <p:tag name="FILENAME" val=""/>
  <p:tag name="LATEXENGINEID" val="0"/>
  <p:tag name="TEMPFOLDER" val="C:\iguanatex\"/>
  <p:tag name="LATEXFORMHEIGHT" val="624"/>
  <p:tag name="LATEXFORMWIDTH" val="1925.25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1.4248"/>
  <p:tag name="ORIGINALWIDTH" val="2611.924"/>
  <p:tag name="OUTPUTTYPE" val="PNG"/>
  <p:tag name="IGUANATEXVERSION" val="159"/>
  <p:tag name="LATEXADDIN" val="\documentclass{article}&#10;\usepackage{amsmath,bm,eufrak}&#10;\pagestyle{empty}&#10;\begin{document}&#10;&#10;\begin{align*}&#10;\delta_{s}^{\sigma}  &amp; = \frac{1 + \sigma s}{2} \\&#10; \phi_{s}^{(\sigma)} &amp; = \tau^{2} + \sigma s\tau = -\left(\frac{1+\sigma s}{2}\right) -\mathrm{i}\sqrt{3}\left(\frac{1-\sigma s}{2}\right) \\&#10;\end{align*}&#10;&#10;\end{document}"/>
  <p:tag name="IGUANATEXSIZE" val="16"/>
  <p:tag name="IGUANATEXCURSOR" val="311"/>
  <p:tag name="TRANSPARENCY" val="True"/>
  <p:tag name="FILENAME" val=""/>
  <p:tag name="LATEXENGINEID" val="0"/>
  <p:tag name="TEMPFOLDER" val="C:\iguanatex\"/>
  <p:tag name="LATEXFORMHEIGHT" val="624"/>
  <p:tag name="LATEXFORMWIDTH" val="1913.25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51.856"/>
  <p:tag name="ORIGINALWIDTH" val="5352.081"/>
  <p:tag name="OUTPUTTYPE" val="PNG"/>
  <p:tag name="IGUANATEXVERSION" val="159"/>
  <p:tag name="LATEXADDIN" val="\documentclass{article}&#10;\usepackage{amsmath,bm,eufrak}&#10;\pagestyle{empty}&#10;\begin{document}&#10;&#10;\begin{align*}&#10;(\bm{\mathcal{M}})_{\perp(mlk)_{01}h_{1}\mathcal{W}^{\sigma_{0}}T_{q}^{\sigma_{1}}}^{(j)}&#10;&amp; =&#10;\int\mathrm{d}\bm{r}\,&#10;V_{\perp,xyz}^{(j)(\mathcal{W}^{\sigma_{0}}T_{q}^{\sigma_{1}})}\,&#10;\Psi_{\left(mhlk\mathcal{W}^{\sigma_{0}};\lambda\eta\right)_{0}}^{\left(W\kappa_{0}y\right)*}&#10;\Psi_{\left(mhlkT_{q}^{(\sigma_{1})};\lambda\eta\right)_{1}}^{\left(W\kappa_{1}x\right)}&#10;\\&#10;&amp; =&#10;\int\mathrm{d}\bm{r}\,&#10;V_{\perp,xyz}^{(j)(\mathcal{W}^{\sigma_{0}}T_{q}^{\sigma_{2}})}\,&#10;\left(\Phi_{\left(m\left(\sigma\mathrm{i}^{m}\right)lk\right)_{0}}^{(W\kappa_{0}y)}\Theta^{(y)}_{\Omega_{0}}\right)^{*}&#10;\left(\frac{&#10;\Phi_{(mhlk)_{1}}^{\left(W\kappa_{1}y\right)}\Theta_{\Omega_{1}}^{(y)}&#10;- \zeta_{1}\Phi_{(m\bar{h}lk)_{1}}^{\left(W\kappa_{1}z\right)}\Theta_{\Omega_{1}}^{(z)}&#10;}{\sqrt{2}}&#10;\right)&#10;\\&#10;&amp; =&#10;\frac{1}{\sqrt{2}}&#10;\left(&#10;\bm{\mathcal{M}}^{(y,-y)}_{xyz}&#10;-\zeta_{1}\bm{\mathcal{M}}^{(y,+z)}_{xyz}&#10;\right)_{\perp(mlk)_{01}h_{1}}^{(j)(\mathcal{W}^{\sigma_{0}}T_{q}^{\sigma_{1}})}&#10;\end{align*}&#10;&#10;\end{document}"/>
  <p:tag name="IGUANATEXSIZE" val="16"/>
  <p:tag name="IGUANATEXCURSOR" val="1022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9.854"/>
  <p:tag name="ORIGINALWIDTH" val="5328.084"/>
  <p:tag name="OUTPUTTYPE" val="PNG"/>
  <p:tag name="IGUANATEXVERSION" val="159"/>
  <p:tag name="LATEXADDIN" val="\documentclass{article}&#10;\usepackage{amsmath,bm,eufrak}&#10;\pagestyle{empty}&#10;\begin{document}&#10;&#10;\begin{align*}&#10;(\bm{\mathcal{M}})_{\parallel(mlk)_{01}h_{1}\mathcal{W}^{\sigma_{0}}T_{q}^{\sigma_{1}}}^{(j)} &#10;&amp; =&#10;\int\mathrm{d}\bm{r}\,&#10;V_{\parallel,xyz}^{(j)(\mathcal{W}^{\sigma_{0}}T_{q}^{\sigma_{1}})}\,&#10;\Psi_{\left(mhlk\mathcal{W}^{\sigma};\lambda\eta\right)_{0}}^{\left(W\kappa_{0}z\right)*}&#10;\Psi_{\left(mhlkT_{q}^{(\sigma)};\lambda\eta\right)_{1}}^{\left(W\kappa_{1}z\right)}&#10;\\&#10;&amp; =&#10;\int\mathrm{d}\bm{r}\,&#10;V_{\parallel,xyz}^{(j)(\mathcal{W}^{\sigma_{0}}T_{q}^{\sigma_{1}})}\,&#10;\left(\Phi_{\left(m\left(\sigma\mathrm{i}^{m}\right)lk\right)_{0}}^{(W\kappa_{0}z)}\Theta^{(z)}_{\Omega_{0}}\right)^{*}&#10;\left(\frac{&#10;\Phi_{(mhlk)_{1}}^{\left(W\kappa_{1}x\right)}\Theta_{\Omega_{1}}^{(x)}&#10;- \zeta_{1}\Phi_{(m\bar{h}lk)_{1}}^{\left(W\kappa_{1}y\right)}\Theta_{\Omega_{1}}^{(y)}&#10;}{\sqrt{2}}&#10;\right)&#10;\\&#10;&amp; =&#10;\frac{1}{\sqrt{2}}&#10;\left(&#10;\bm{\mathcal{M}}^{(z,-x)}_{xyz}&#10;-\zeta_{1}\bm{\mathcal{M}}^{(z,+y)}_{xyz}&#10;\right)&#10;_{\parallel(mlk)_{01}h_{1}}&#10;^{(j)\left(\mathcal{W}^{\sigma_{0}}T_{q}^{\sigma_{1}}\right)}&#10;\\&#10;\end{align*}&#10;&#10;\end{document}"/>
  <p:tag name="IGUANATEXSIZE" val="16"/>
  <p:tag name="IGUANATEXCURSOR" val="1033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3.982"/>
  <p:tag name="ORIGINALWIDTH" val="1069.366"/>
  <p:tag name="OUTPUTTYPE" val="PNG"/>
  <p:tag name="IGUANATEXVERSION" val="159"/>
  <p:tag name="LATEXADDIN" val="\documentclass{article}&#10;\usepackage{amsmath,amssymb,bm}&#10;\pagestyle{empty}&#10;\begin{document}&#10;&#10;\begin{equation*}&#10;\Omega_{0} = \omega_{0}\sigma_{0}\mathrm{i}^{m_{0}}(-1)^{l_{0}}&#10;\end{equation*}&#10;&#10;\end{document}"/>
  <p:tag name="IGUANATEXSIZE" val="16"/>
  <p:tag name="IGUANATEXCURSOR" val="110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4.4807"/>
  <p:tag name="ORIGINALWIDTH" val="1734.533"/>
  <p:tag name="OUTPUTTYPE" val="PNG"/>
  <p:tag name="IGUANATEXVERSION" val="159"/>
  <p:tag name="LATEXADDIN" val="\documentclass{article}&#10;\usepackage{amsmath,amssymb,bm}&#10;\pagestyle{empty}&#10;\begin{document}&#10;&#10;\begin{equation*}&#10;\zeta_{1} = h_{1}\sigma_{1}\mathrm{i}^{m_{1}} \quad\quad \Omega_{1} = h_{1}\left(-1\right)^{l_{1}}&#10;\end{equation*}&#10;&#10;\end{document}"/>
  <p:tag name="IGUANATEXSIZE" val="16"/>
  <p:tag name="IGUANATEXCURSOR" val="207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6.7154"/>
  <p:tag name="ORIGINALWIDTH" val="5385.827"/>
  <p:tag name="OUTPUTTYPE" val="PNG"/>
  <p:tag name="IGUANATEXVERSION" val="159"/>
  <p:tag name="LATEXADDIN" val="\documentclass{article}&#10;\usepackage{amsmath,bm,eufrak}&#10;\pagestyle{empty}&#10;\begin{document}&#10;&#10;\begin{align*}&#10;\left(\bm{\mathcal{M}}\right)^{(j)(\mathcal{W}^{\sigma_{0}}T_{q}^{\sigma_{1}})(p_{0},s_{1}p_{1})}&#10;_{\parallel\slash\perp,\hat{R}(mlk)_{01}h_{1}}&#10;&amp; =&#10;\int\mathrm{d}\bm{r}\,&#10;V_{\parallel\slash\perp,\hat{R}}^{(j)(\mathcal{W}^{\sigma_{0}}T_{q}^{\sigma_{1}})}\,&#10;\left(\Phi_{(m\left(\sigma_{0}\mathrm{i}^{m}\right)lk)_{0}}^{(W\kappa_{0}p_{0})}\Theta^{(p_{0})}_{\omega_{0}\sigma_{0}\mathrm{i}^{m_{0}}(-1)^{l_{0}}}\right)^{*}&#10;\Phi_{(m(-s_{1}h_{1})lk)_{1}}^{\left(W\kappa_{1}p_{1}\right)}&#10;\Theta_{h_{1}\left(-1\right)^{l_{1}}}^{(p_{1})}&#10;\\&#10;\end{align*}&#10;&#10;\end{document}"/>
  <p:tag name="IGUANATEXSIZE" val="16"/>
  <p:tag name="IGUANATEXCURSOR" val="235"/>
  <p:tag name="TRANSPARENCY" val="True"/>
  <p:tag name="FILENAME" val=""/>
  <p:tag name="LATEXENGINEID" val="0"/>
  <p:tag name="TEMPFOLDER" val="C:\iguanatex\"/>
  <p:tag name="LATEXFORMHEIGHT" val="571.5"/>
  <p:tag name="LATEXFORMWIDTH" val="1002"/>
  <p:tag name="LATEXFORMWRAP" val="True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8.343"/>
  <p:tag name="ORIGINALWIDTH" val="4422.947"/>
  <p:tag name="OUTPUTTYPE" val="PNG"/>
  <p:tag name="IGUANATEXVERSION" val="159"/>
  <p:tag name="LATEXADDIN" val="\documentclass{article}&#10;\usepackage{amsmath,bm,eufrak}&#10;\pagestyle{empty}&#10;\begin{document}&#10;&#10;\begin{align*}&#10;(\bm{\mathcal{M}})_{\parallel(mlk)_{01}h_{1}\mathcal{W}^{\sigma_{0}}T_{q}^{\sigma_{1}}}^{(j)}&#10;&amp; =&#10;\frac{1}{\sqrt{2}}&#10;\left(&#10;\bm{\mathcal{M}}^{(z,-x)}_{xyz}&#10;-\zeta_{1}\bm{\mathcal{M}}^{(z,+y)}_{xyz}&#10;\right)&#10;_{\parallel(mlk)_{01}h_{1}}&#10;^{(j)\left(\mathcal{W}^{\sigma_{0}}T_{q}^{\sigma_{1}}\right)}&#10;\\&#10;&amp; =&#10;\frac{1}{\sqrt{2}}&#10;\left(&#10;\left(\sigma_{0}\right)&#10;\left(-\zeta_{1}\sigma_{1}\right)&#10;\bm{\mathcal{M}}^{(y,+x)}_{xzy}&#10;-&#10;\zeta_{1}\bm{\mathcal{M}}^{(y,+x)}_{zxy}&#10;\right)_{\parallel(mlk)_{01}h_{1}}^{(j)(\mathcal{W}^{\sigma_{0}}T_{q}^{\sigma_{1}})}&#10;\\&#10;&amp; =&#10;\frac{1}{\sqrt{2}}&#10;\left(&#10;\left(\sigma_{0}\sigma_{1}\right)&#10;\left(-\zeta_{1}\sigma_{0}\sigma_{1}\right)&#10;\bm{\mathcal{M}}^{(y,+x)}_{zxy}&#10;-&#10;\zeta_{1}&#10;\bm{\mathcal{M}}^{(y,+x)}_{zxy}&#10;\right)_{\parallel(mlk)_{01}h_{1}}^{(j)(\mathcal{W}^{\sigma_{0}}T_{q}^{\sigma_{1}})}&#10;\\&#10;&amp; =&#10;-\sqrt{2}\zeta_{1}&#10;\bm{\mathcal{M}}^{(y,+x)(j)(\mathcal{W}^{\sigma_{0}}T_{q}^{\sigma_{2}})}_{\parallel,zxy(mlk)_{01}h_{1}}&#10;\\&#10;\end{align*}&#10;&#10;\end{document}"/>
  <p:tag name="IGUANATEXSIZE" val="16"/>
  <p:tag name="IGUANATEXCURSOR" val="1072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23.585"/>
  <p:tag name="ORIGINALWIDTH" val="4093.738"/>
  <p:tag name="OUTPUTTYPE" val="PNG"/>
  <p:tag name="IGUANATEXVERSION" val="159"/>
  <p:tag name="LATEXADDIN" val="\documentclass{article}&#10;\usepackage{amsmath,bm,eufrak}&#10;\pagestyle{empty}&#10;\begin{document}&#10;&#10;\begin{align*}&#10;(\bm{\mathcal{M}})_{\perp(mlk)_{01}h_{1}\mathcal{W}^{\sigma_{0}}T_{q}^{\sigma_{1}}}^{(j)}&#10;&amp; =&#10;\frac{1}{\sqrt{2}}&#10;\left(&#10;\bm{\mathcal{M}}^{(y,-y)}_{xyz}&#10;-\zeta_{1}\bm{\mathcal{M}}^{(y,+z)}_{xyz}&#10;\right)_{\perp(mlk)_{01}h_{1}}^{(j)(\mathcal{W}^{\sigma_{0}}T_{q}^{\sigma_{1}})}&#10;\\&#10;&amp; =&#10;\frac{1}{\sqrt{2}}&#10;\left(&#10;\bm{\mathcal{M}}^{(z,-z)}_{yzx}&#10;-&#10;\left(\sigma_{0}\right)&#10;\left(\zeta_{1}\sigma_{1}\right)&#10;\zeta_{1}&#10;\bm{\mathcal{M}}^{(y,-x)}_{zyx}&#10;\right)_{\perp(mlk)_{01}h_{1}}^{(j)(\mathcal{W}^{\sigma_{0}}T_{q}^{\sigma_{1}})}&#10;\\&#10;&amp; =&#10;\frac{1}{\sqrt{2}}&#10;\left(&#10;\bm{\mathcal{M}}^{(z,-z)}_{yzx}&#10;+&#10;\sigma_{0}\sigma_{1}&#10;\left(\sigma_{0}\sigma_{1}\right)&#10;\bm{\mathcal{M}}^{(y,-x)}_{yzx}&#10;\right)_{\perp(mlk)_{01}h_{1}}^{(j)(\mathcal{W}^{\sigma_{0}}T_{q}^{\sigma_{1}})}&#10;\\&#10;&amp; =&#10;\frac{1}{\sqrt{2}}&#10;\left(&#10;\bm{\mathcal{M}}^{(z,-z)}_{yzx}&#10;+&#10;\bm{\mathcal{M}}^{(y,-x)}_{yzx}&#10;\right)_{\perp(mlk)_{01}h_{1}}^{(j)(\mathcal{W}^{\sigma_{0}}T_{q}^{\sigma_{1}})}&#10;\\&#10;\end{align*}&#10;&#10;\end{document}"/>
  <p:tag name="IGUANATEXSIZE" val="16"/>
  <p:tag name="IGUANATEXCURSOR" val="329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6.7154"/>
  <p:tag name="ORIGINALWIDTH" val="5385.827"/>
  <p:tag name="OUTPUTTYPE" val="PNG"/>
  <p:tag name="IGUANATEXVERSION" val="159"/>
  <p:tag name="LATEXADDIN" val="\documentclass{article}&#10;\usepackage{amsmath,bm,eufrak}&#10;\pagestyle{empty}&#10;\begin{document}&#10;&#10;\begin{align*}&#10;\left(\bm{\mathcal{M}}\right)^{(j)(\mathcal{W}^{\sigma_{0}}T_{q}^{\sigma_{1}})(p_{0},s_{1}p_{1})}&#10;_{\parallel\slash\perp,\hat{R}(mlk)_{01}h_{1}}&#10;&amp; =&#10;\int\mathrm{d}\bm{r}\,&#10;V_{\parallel\slash\perp,\hat{R}}^{(j)(\mathcal{W}^{\sigma_{0}}T_{q}^{\sigma_{1}})}\,&#10;\left(\Phi_{(m\left(\sigma_{0}\mathrm{i}^{m}\right)lk)_{0}}^{(W\kappa_{0}p_{0})}\Theta^{(p_{0})}_{\omega_{0}\sigma_{0}\mathrm{i}^{m_{0}}(-1)^{l_{0}}}\right)^{*}&#10;\Phi_{(m(-s_{1}h_{1})lk)_{1}}^{\left(W\kappa_{1}p_{1}\right)}&#10;\Theta_{h_{1}\left(-1\right)^{l_{1}}}^{(p_{1})}&#10;\\&#10;\end{align*}&#10;&#10;\end{document}"/>
  <p:tag name="IGUANATEXSIZE" val="16"/>
  <p:tag name="IGUANATEXCURSOR" val="235"/>
  <p:tag name="TRANSPARENCY" val="True"/>
  <p:tag name="FILENAME" val=""/>
  <p:tag name="LATEXENGINEID" val="0"/>
  <p:tag name="TEMPFOLDER" val="C:\iguanatex\"/>
  <p:tag name="LATEXFORMHEIGHT" val="571.5"/>
  <p:tag name="LATEXFORMWIDTH" val="1002"/>
  <p:tag name="LATEXFORMWRAP" val="True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80.352"/>
  <p:tag name="ORIGINALWIDTH" val="5248.594"/>
  <p:tag name="OUTPUTTYPE" val="PNG"/>
  <p:tag name="IGUANATEXVERSION" val="159"/>
  <p:tag name="LATEXADDIN" val="\documentclass{article}&#10;\usepackage{amsmath,bm,eufrak}&#10;\pagestyle{empty}&#10;\begin{document}&#10;&#10;\begin{align*}&#10;(\bm{\mathcal{M}})_{\perp(mlk)_{01}h_{0}T_{q}^{\sigma_{0}}\mathcal{W}^{\sigma_{1}}}^{(j)} &#10;&amp; =&#10;\int\mathrm{d}\bm{r}\,&#10;V_{\perp,xyz}^{(j)\left(T_{q}^{\sigma_{0}}\mathcal{W}^{\sigma_{1}}\right)}\,&#10;\Psi_{\left(mhlkT_{q}^{(\sigma)};\lambda\eta\right)_{0}}^{\left(W\kappa_{0}y\right)*}&#10;\Psi_{\left(mhlk\mathcal{W}^{\sigma};\lambda\eta\right)_{1}}^{\left(W\kappa_{1}x\right)}&#10;\\&#10;&amp; =&#10;\int\mathrm{d}\bm{r}\,&#10;V_{\perp,xyz}^{(j)\left(T_{q}^{\sigma_{0}}\mathcal{W}^{\sigma_{1}}\right)}\,&#10;\left(\frac{&#10;\Phi_{(mhlk)_{0}}^{\left(W\kappa_{0}z\right)}\Theta_{\Omega_{0}}^{(z)}&#10;- \zeta_{0}\Phi_{(m\bar{h}lk)_{0}}^{\left(W\kappa_{0}x\right)}\Theta_{\Omega_{0}}^{(x)}&#10;}{\sqrt{2}}&#10;\right)^{*}&#10;\Phi_{\left(m\left(\sigma\mathrm{i}^{m}\right)lk\right)_{1}}^{(W\kappa_{1}x)}\Theta^{(x)}_{\Omega_{1}}&#10;\\&#10;&amp; =&#10;\frac{1}{\sqrt{2}}&#10;\left(&#10;\bm{\mathcal{M}}^{(-z,x)}_{xyz}&#10;-\zeta_{0}^{*}\bm{\mathcal{M}}^{(+x,x)}_{xyz}&#10;\right)_{\perp(mlk)_{01}h_{0}}^{(j)\left(T_{q}^{\sigma_{0}}\mathcal{W}^{\sigma_{1}}\right)}&#10;\\&#10;\end{align*}&#10;&#10;\end{document}"/>
  <p:tag name="IGUANATEXSIZE" val="16"/>
  <p:tag name="IGUANATEXCURSOR" val="854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80.352"/>
  <p:tag name="ORIGINALWIDTH" val="5219.347"/>
  <p:tag name="OUTPUTTYPE" val="PNG"/>
  <p:tag name="IGUANATEXVERSION" val="159"/>
  <p:tag name="LATEXADDIN" val="\documentclass{article}&#10;\usepackage{amsmath,bm,eufrak}&#10;\pagestyle{empty}&#10;\begin{document}&#10;&#10;\begin{align*}&#10;(\bm{\mathcal{M}})_{\parallel(mlk)_{01}h_{0}T_{q}^{\sigma_{0}}\mathcal{W}^{\sigma_{1}}}^{(j)}&#10;&amp; =&#10;\int\mathrm{d}\bm{r}\,&#10;V_{\parallel,xyz}^{(j)\left(T_{q}^{\sigma_{0}}\mathcal{W}^{\sigma_{1}}\right)}\,&#10;\Psi_{\left(mhlkT_{q}^{(\sigma)};\lambda\eta\right)_{0}}^{\left(W\kappa_{0}z\right)*}&#10;\Psi_{\left(mhlk\mathcal{W}^{\sigma};\lambda\eta\right)_{1}}^{\left(W\kappa_{1}z\right)}&#10;\\&#10;&amp; =&#10;\int\mathrm{d}\bm{r}\,&#10;V_{\parallel,xyz}^{(j)\left(T_{q}^{\sigma_{0}}\mathcal{W}^{\sigma_{1}}\right)}\,&#10;\left(\frac{&#10;\Phi_{(mhlk)_{0}}^{\left(W\kappa_{0}x\right)}\Theta_{\Omega_{0}}^{(x)}&#10;- \zeta_{0}\Phi_{(m\bar{h}lk)_{0}}^{\left(W\kappa_{0}y\right)}\Theta_{\Omega_{0}}^{(y)}&#10;}{\sqrt{2}}&#10;\right)^{*}&#10;\Phi_{\left(m\left(\sigma\mathrm{i}^{m}\right)lk\right)_{1}}^{(W\kappa_{1}z)}\Theta^{(z)}_{\Omega_{1}}&#10;\\&#10;&amp; =&#10;\frac{1}{\sqrt{2}}&#10;\left(&#10;\bm{\mathcal{M}}^{(-x,z)}_{xyz}&#10;-\zeta_{0}^{*}\bm{\mathcal{M}}^{(+y,z)}_{xyz}&#10;\right)_{\parallel(mlk)_{01}h_{0}}^{(j)\left(T_{q}^{\sigma_{0}}\mathcal{W}^{\sigma_{1}}\right)}&#10;\\&#10;\end{align*}&#10;&#10;\end{document}"/>
  <p:tag name="IGUANATEXSIZE" val="16"/>
  <p:tag name="IGUANATEXCURSOR" val="203"/>
  <p:tag name="TRANSPARENCY" val="True"/>
  <p:tag name="FILENAME" val=""/>
  <p:tag name="LATEXENGINEID" val="0"/>
  <p:tag name="TEMPFOLDER" val="C:\iguanatex\"/>
  <p:tag name="LATEXFORMHEIGHT" val="624.75"/>
  <p:tag name="LATEXFORMWIDTH" val="938"/>
  <p:tag name="LATEXFORMWRAP" val="True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3.982"/>
  <p:tag name="ORIGINALWIDTH" val="1066.367"/>
  <p:tag name="OUTPUTTYPE" val="PNG"/>
  <p:tag name="IGUANATEXVERSION" val="159"/>
  <p:tag name="LATEXADDIN" val="\documentclass{article}&#10;\usepackage{amsmath,amssymb,bm}&#10;\pagestyle{empty}&#10;\begin{document}&#10;&#10;\begin{equation*}&#10;\Omega_{1} = \omega_{1}\sigma_{1}\mathrm{i}^{m_{1}}(-1)^{l_{1}}&#10;\end{equation*}&#10;&#10;\end{document}"/>
  <p:tag name="IGUANATEXSIZE" val="16"/>
  <p:tag name="IGUANATEXCURSOR" val="171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4.4807"/>
  <p:tag name="ORIGINALWIDTH" val="1737.533"/>
  <p:tag name="OUTPUTTYPE" val="PNG"/>
  <p:tag name="IGUANATEXVERSION" val="159"/>
  <p:tag name="LATEXADDIN" val="\documentclass{article}&#10;\usepackage{amsmath,amssymb,bm}&#10;\pagestyle{empty}&#10;\begin{document}&#10;&#10;\begin{equation*}&#10;\zeta_{0} = h_{0}\sigma_{0}\mathrm{i}^{m_{0}} \quad\quad \Omega_{0} = h_{0}\left(-1\right)^{l_{0}}&#10;\end{equation*}&#10;&#10;\end{document}"/>
  <p:tag name="IGUANATEXSIZE" val="16"/>
  <p:tag name="IGUANATEXCURSOR" val="206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6.7154"/>
  <p:tag name="ORIGINALWIDTH" val="5243.345"/>
  <p:tag name="OUTPUTTYPE" val="PNG"/>
  <p:tag name="IGUANATEXVERSION" val="159"/>
  <p:tag name="LATEXADDIN" val="\documentclass{article}&#10;\usepackage{amsmath,bm,eufrak}&#10;\pagestyle{empty}&#10;\begin{document}&#10;&#10;\begin{align*}&#10;(\bm{\mathcal{M}})_{\parallel\slash\perp,\hat{R}(mlk)_{01}h_{0}}^{(j)(T_{q}^{\sigma_{0}}\mathcal{W}^{\sigma_{1}})(s_{0}p_{0},p_{1})} &#10;&amp; =&#10;\int\mathrm{d}\bm{r}\,&#10;V_{\parallel\slash\perp,\hat{R}}^{(j)(T_{q}^{\sigma_{0}}\mathcal{W}^{\sigma_{1}})}\,&#10;\left(\Phi_{(m(-sh)lk)_{0}}^{\left(W\kappa_{0}p_{0}\right)}\Theta^{(p_{0})}_{h_{0}\left(-1\right)^{l_{0}}}\right)^{*}&#10;\Phi_{(m\left(\sigma\mathrm{i}^{m}\right)lk)_{1}}^{(W\kappa_{1}p_{1})}\Theta^{(p_{1})}_{\omega_{1}\sigma_{1}\mathrm{i}^{m_{1}}(-1)^{l_{1}}}&#10;\\&#10;\end{align*}&#10;&#10;\end{document}"/>
  <p:tag name="IGUANATEXSIZE" val="16"/>
  <p:tag name="IGUANATEXCURSOR" val="298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5.3881"/>
  <p:tag name="ORIGINALWIDTH" val="4584.927"/>
  <p:tag name="OUTPUTTYPE" val="PNG"/>
  <p:tag name="IGUANATEXVERSION" val="159"/>
  <p:tag name="LATEXADDIN" val="\documentclass{article}&#10;\usepackage{amsmath,bm,eufrak}&#10;\pagestyle{empty}&#10;\begin{document}&#10;&#10;\begin{align*}&#10;(\bm{\mathcal{M}})_{\parallel(mlk)_{01}h_{0}T_{q}^{\sigma_{0}}\mathcal{W}^{\sigma_{1}}}^{(j)} &#10;&amp; =&#10;\frac{1}{\sqrt{2}}&#10;\left(&#10;\bm{\mathcal{M}}^{(-x,z)}_{xyz}&#10;-\zeta_{0}^{*}\bm{\mathcal{M}}^{(+y,z)}_{xyz}&#10;\right)_{\parallel(mlk)_{01}h_{0}}^{(j)(T_{q}^{\sigma_{0}}\mathcal{W}^{\sigma_{1}})}&#10;\\&#10;&amp; =&#10;\frac{1}{\sqrt{2}}&#10;\left(&#10;\bm{\mathcal{M}}^{(-y,x)}_{yzx}&#10;-\zeta_{0}^{*}&#10;\left(\sigma_{0}\sigma_{1}\right)&#10;\left(+\zeta_{0}^{*}\sigma_{0}\right)&#10;\left(\sigma_{1}\right)&#10;\bm{\mathcal{M}}^{(-y,x)}_{yzx}&#10;\right)_{\parallel(mlk)_{01}h_{0}}^{(j)(T_{q}^{\sigma_{0}}\mathcal{W}^{\sigma_{1}})}&#10;\\&#10;&amp; =&#10;\sqrt{2}&#10;\bm{\mathcal{M}}_{\parallel,yzx(mlk)_{01}h_{0}}^{(-y,x)(j)(T_{q}^{\sigma_{0}}\mathcal{W}^{\sigma_{1}})} &#10;\\&#10;\end{align*}&#10;&#10;\end{document}"/>
  <p:tag name="IGUANATEXSIZE" val="16"/>
  <p:tag name="IGUANATEXCURSOR" val="761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80.1275"/>
  <p:tag name="ORIGINALWIDTH" val="4678.665"/>
  <p:tag name="OUTPUTTYPE" val="PNG"/>
  <p:tag name="IGUANATEXVERSION" val="159"/>
  <p:tag name="LATEXADDIN" val="\documentclass{article}&#10;\usepackage{amsmath,bm,eufrak}&#10;\pagestyle{empty}&#10;\begin{document}&#10;&#10;\begin{align*}&#10;(\bm{\mathcal{M}})_{\perp(mlk)_{01}h_{0}T_{q}^{\sigma_{0}}\mathcal{W}^{\sigma_{1}}}^{(j)} &#10;&amp; =&#10;\frac{1}{\sqrt{2}}&#10;\left(&#10;-\zeta_{0}^{*}\bm{\mathcal{M}}^{(+x,x)}_{xyz}&#10;+\bm{\mathcal{M}}^{(-z,x)}_{xyz}&#10;\right)_{\perp(mlk)_{01}h_{0}}^{(j)(T_{q}^{\sigma_{0}}\mathcal{W}^{\sigma_{1}})}&#10;\\&#10;&amp; =&#10;\frac{1}{\sqrt{2}}&#10;\left(&#10;-\zeta_{0}^{*}&#10;\bm{\mathcal{M}}^{(-z,z)}_{zxy}&#10;+&#10;\left(\sigma_{0}\sigma_{1}\right)&#10;\left(-\zeta_{0}^{*}\sigma_{0}\right)&#10;\left(\sigma_{1}\right)&#10;\bm{\mathcal{M}}^{(+y,x)}_{zxy}&#10;\right)_{\perp(mlk)_{01}h_{0}}^{(j)(T_{q}^{\sigma_{0}}\mathcal{W}^{\sigma_{1}})}&#10;\\&#10;&amp; =&#10;\frac{\zeta_{0}}{\sqrt{2}}&#10;\left(&#10;\bm{\mathcal{M}}^{(-z,z)}_{zxy}&#10;+&#10;\bm{\mathcal{M}}^{(+y,x)}_{zxy}&#10;\right)_{\perp(mlk)_{01}h_{0}}^{(j)(T_{q}^{\sigma_{0}}\mathcal{W}^{\sigma_{1}})}&#10;\\&#10;\end{align*}&#10;&#10;\end{document}"/>
  <p:tag name="IGUANATEXSIZE" val="16"/>
  <p:tag name="IGUANATEXCURSOR" val="749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6.7154"/>
  <p:tag name="ORIGINALWIDTH" val="5243.345"/>
  <p:tag name="OUTPUTTYPE" val="PNG"/>
  <p:tag name="IGUANATEXVERSION" val="159"/>
  <p:tag name="LATEXADDIN" val="\documentclass{article}&#10;\usepackage{amsmath,bm,eufrak}&#10;\pagestyle{empty}&#10;\begin{document}&#10;&#10;\begin{align*}&#10;(\bm{\mathcal{M}})_{\parallel\slash\perp,\hat{R}(mlk)_{01}h_{0}}^{(j)(T_{q}^{\sigma_{0}}\mathcal{W}^{\sigma_{1}})(s_{0}p_{0},p_{1})} &#10;&amp; =&#10;\int\mathrm{d}\bm{r}\,&#10;V_{\parallel\slash\perp,\hat{R}}^{(j)(T_{q}^{\sigma_{0}}\mathcal{W}^{\sigma_{1}})}\,&#10;\left(\Phi_{(m(-sh)lk)_{0}}^{\left(W\kappa_{0}p_{0}\right)}\Theta^{(p_{0})}_{h_{0}\left(-1\right)^{l_{0}}}\right)^{*}&#10;\Phi_{(m\left(\sigma\mathrm{i}^{m}\right)lk)_{1}}^{(W\kappa_{1}p_{1})}\Theta^{(p_{1})}_{\omega_{1}\sigma_{1}\mathrm{i}^{m_{1}}(-1)^{l_{1}}}&#10;\\&#10;\end{align*}&#10;&#10;\end{document}"/>
  <p:tag name="IGUANATEXSIZE" val="16"/>
  <p:tag name="IGUANATEXCURSOR" val="298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1.7248"/>
  <p:tag name="ORIGINALWIDTH" val="2396.7"/>
  <p:tag name="OUTPUTTYPE" val="PNG"/>
  <p:tag name="IGUANATEXVERSION" val="159"/>
  <p:tag name="LATEXADDIN" val="\documentclass{article}&#10;\usepackage{amsmath,bm,eufrak}&#10;\pagestyle{empty}&#10;\begin{document}&#10;&#10;\begin{align*}&#10;(\bm{\mathcal{M}})&#10;_{\parallel\left(mlk\mathcal{W}\right)_{01}}&#10;^{(j)}&#10;&amp; =&#10;(\bm{\mathcal{M}}^{(z,z)}_{\parallel}+\bm{\mathcal{M}}^{(y,x)}_{\perp})&#10;_{\left(mlk\mathcal{W}\right)_{01}}&#10;^{(j)}&#10;\\&#10;\end{align*}&#10;&#10;\end{document}"/>
  <p:tag name="IGUANATEXSIZE" val="18"/>
  <p:tag name="IGUANATEXCURSOR" val="281"/>
  <p:tag name="TRANSPARENCY" val="True"/>
  <p:tag name="FILENAME" val=""/>
  <p:tag name="LATEXENGINEID" val="0"/>
  <p:tag name="TEMPFOLDER" val="C:\iguanatex\"/>
  <p:tag name="LATEXFORMHEIGHT" val="571.5"/>
  <p:tag name="LATEXFORMWIDTH" val="1002.75"/>
  <p:tag name="LATEXFORMWRAP" val="True"/>
  <p:tag name="BITMAPVECTOR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6.7154"/>
  <p:tag name="ORIGINALWIDTH" val="4945.632"/>
  <p:tag name="OUTPUTTYPE" val="PNG"/>
  <p:tag name="IGUANATEXVERSION" val="159"/>
  <p:tag name="LATEXADDIN" val="\documentclass{article}&#10;\usepackage{amsmath,bm,eufrak}&#10;\pagestyle{empty}&#10;\begin{document}&#10;&#10;\begin{align*}&#10;(\bm{\mathcal{M}})_{\parallel\slash\perp(mlk\mathcal{W})_{01}}^{(j)(p_{0},p_{1})} &#10;&amp; =&#10;\int\mathrm{d}\bm{r}\,&#10;V_{\parallel\slash\perp}^{(j)(\mathcal{W})_{01}}\,&#10;\left(&#10;\Phi_{(m\left(\sigma\mathrm{i}^{m}\right)lk)_{0}}^{(W\kappa_{0}p_{0})}\Theta^{(p_{0})}_{\omega_{0}\sigma_{0}\mathrm{i}^{m_{0}}(-1)^{l_{0}}}&#10;\right)^{*}&#10;\Phi_{(m\left(\sigma\mathrm{i}^{m}\right)lk)_{1}}^{(W\kappa_{1}p_{1})}\Theta^{(p_{1})}_{\omega_{1}\sigma_{1}\mathrm{i}^{m_{1}}(-1)^{l_{1}}}&#10;\\&#10;\end{align*}&#10;&#10;\end{document}"/>
  <p:tag name="IGUANATEXSIZE" val="18"/>
  <p:tag name="IGUANATEXCURSOR" val="148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9.4713"/>
  <p:tag name="ORIGINALWIDTH" val="3875.516"/>
  <p:tag name="OUTPUTTYPE" val="PNG"/>
  <p:tag name="IGUANATEXVERSION" val="159"/>
  <p:tag name="LATEXADDIN" val="\documentclass{article}&#10;\usepackage{amsmath,bm,eufrak}&#10;\pagestyle{empty}&#10;\begin{document}&#10;&#10;\begin{align*}&#10;(\bm{\mathcal{M}})_{\parallel(mlk\mathcal{W})_{0}(mhlkT_{q}^{\sigma})_{1}}^{(j)}&#10;&amp; =&#10;-\mathrm{i}\sqrt{2}h_{1}\sigma_{1}\left(-1\right)^{\frac{m_{1}-1}{2}}&#10;\bm{\mathcal{M}}^{(y,+x)(j)}_{\parallel,(zxy)(mlk\mathcal{W})_{0}(mhlkT_{q}^{\sigma})_{1}}&#10;\\&#10;\end{align*}&#10;&#10;\end{document}"/>
  <p:tag name="IGUANATEXSIZE" val="18"/>
  <p:tag name="IGUANATEXCURSOR" val="259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0.9636"/>
  <p:tag name="ORIGINALWIDTH" val="3824.522"/>
  <p:tag name="OUTPUTTYPE" val="PNG"/>
  <p:tag name="IGUANATEXVERSION" val="159"/>
  <p:tag name="LATEXADDIN" val="\documentclass{article}&#10;\usepackage{amsmath,bm,eufrak}&#10;\pagestyle{empty}&#10;\begin{document}&#10;&#10;\begin{align*}&#10;(\bm{\mathcal{M}})_{\perp(mlk\mathcal{W})_{0}(mhlkT_{q}^{\sigma})_{1}}^{(j)}&#10;&amp; =&#10;\frac{1}{\sqrt{2}}&#10;\left(&#10;\bm{\mathcal{M}}^{(z,-z)}_{(yzx)}&#10;+&#10;\bm{\mathcal{M}}^{(y,-x)}_{(yzx)}&#10;\right)_{\perp(mlk\mathcal{W})_{0}(mhlkT_{q}^{\sigma})_{1}}&#10;\\&#10;\end{align*}&#10;&#10;\end{document}"/>
  <p:tag name="IGUANATEXSIZE" val="18"/>
  <p:tag name="IGUANATEXCURSOR" val="281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6.7154"/>
  <p:tag name="ORIGINALWIDTH" val="5511.811"/>
  <p:tag name="OUTPUTTYPE" val="PNG"/>
  <p:tag name="IGUANATEXVERSION" val="159"/>
  <p:tag name="LATEXADDIN" val="\documentclass{article}&#10;\usepackage{amsmath,bm,eufrak}&#10;\pagestyle{empty}&#10;\begin{document}&#10;&#10;\begin{align*}&#10;\left(\bm{\mathcal{M}}\right)^{(j)(p_{0},s_{1}p_{1})}&#10;_{\parallel\slash\perp,\hat{R}(mlk\mathcal{W})_{0}(mhlkT_{q}^{\sigma})_{1}}&#10;&amp; =&#10;\int\mathrm{d}\bm{r}\,&#10;V_{\parallel\slash\perp,\hat{R}}^{(j)(\mathcal{W}_{0}T_{q}^{\sigma_{1}})}\,&#10;\left(\Phi_{(m\left(\sigma_{0}\mathrm{i}^{m}\right)lk)_{0}}^{(W\kappa_{0}p_{0})}\Theta^{(p_{0})}_{\omega_{0}\sigma_{0}\mathrm{i}^{m_{0}}(-1)^{l_{0}}}\right)^{*}&#10;\Phi_{(m(-s_{1}h_{1})lk)_{1}}^{\left(W\kappa_{1}p_{1}\right)}&#10;\Theta_{h_{1}\left(-1\right)^{l_{1}}}^{(p_{1})}&#10;\\&#10;\end{align*}&#10;&#10;\end{document}"/>
  <p:tag name="IGUANATEXSIZE" val="16"/>
  <p:tag name="IGUANATEXCURSOR" val="294"/>
  <p:tag name="TRANSPARENCY" val="True"/>
  <p:tag name="FILENAME" val=""/>
  <p:tag name="LATEXENGINEID" val="0"/>
  <p:tag name="TEMPFOLDER" val="C:\iguanatex\"/>
  <p:tag name="LATEXFORMHEIGHT" val="571.5"/>
  <p:tag name="LATEXFORMWIDTH" val="1002"/>
  <p:tag name="LATEXFORMWRAP" val="True"/>
  <p:tag name="BITMAPVECTOR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9.2239"/>
  <p:tag name="ORIGINALWIDTH" val="2921.635"/>
  <p:tag name="OUTPUTTYPE" val="PNG"/>
  <p:tag name="IGUANATEXVERSION" val="159"/>
  <p:tag name="LATEXADDIN" val="\documentclass{article}&#10;\usepackage{amsmath,bm,eufrak}&#10;\pagestyle{empty}&#10;\begin{document}&#10;&#10;\begin{align*}&#10;(\bm{\mathcal{M}})_{\parallel(mhlkT_{q}^{\sigma})_{0}(mlk\mathcal{W})_{1}}^{(j)}&#10;&amp; =&#10;\sqrt{2}&#10;\bm{\mathcal{M}}_{\parallel,(yzx)(mhlkT_{q}^{\sigma})_{0}(mlk\mathcal{W})_{1}}^{(j)(-y,x)} &#10;\\&#10;\end{align*}&#10;&#10;\end{document}"/>
  <p:tag name="IGUANATEXSIZE" val="18"/>
  <p:tag name="IGUANATEXCURSOR" val="186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1.4623"/>
  <p:tag name="ORIGINALWIDTH" val="4625.422"/>
  <p:tag name="OUTPUTTYPE" val="PNG"/>
  <p:tag name="IGUANATEXVERSION" val="159"/>
  <p:tag name="LATEXADDIN" val="\documentclass{article}&#10;\usepackage{amsmath,bm,eufrak}&#10;\pagestyle{empty}&#10;\begin{document}&#10;&#10;\begin{align*}&#10;(\bm{\mathcal{M}})_{\perp(mhlkT_{q}^{\sigma})_{0}(mlk\mathcal{W})_{1}}^{(j)}&#10;&amp; =&#10;\frac{\mathrm{i}}{\sqrt{2}}&#10;h_{0}\sigma_{0}\left(-1\right)^{\frac{m_{0}-1}{2}}&#10;\left(&#10;\bm{\mathcal{M}}^{(-z,z)}_{zxy}&#10;+&#10;\bm{\mathcal{M}}^{(+y,x)}_{zxy}&#10;\right)_{\perp(mhlkT_{q}^{\sigma})_{0}(mlk\mathcal{W})_{1}}^{(j)}&#10;\\&#10;\end{align*}&#10;&#10;\end{document}"/>
  <p:tag name="IGUANATEXSIZE" val="18"/>
  <p:tag name="IGUANATEXCURSOR" val="265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6.7154"/>
  <p:tag name="ORIGINALWIDTH" val="5433.071"/>
  <p:tag name="OUTPUTTYPE" val="PNG"/>
  <p:tag name="IGUANATEXVERSION" val="159"/>
  <p:tag name="LATEXADDIN" val="\documentclass{article}&#10;\usepackage{amsmath,bm,eufrak}&#10;\pagestyle{empty}&#10;\begin{document}&#10;&#10;\begin{align*}&#10;(\bm{\mathcal{M}})_{\parallel\slash\perp,\hat{R}(mhlkT_{q}^{\sigma})_{0}(mlk\mathcal{W})_{1}}^{(j)(s_{0}p_{0},p_{1})} &#10;&amp; =&#10;\int\mathrm{d}\bm{r}\,&#10;V_{\parallel\slash\perp,\hat{R}}^{(j)(T_{q}^{\sigma_{0}}\mathcal{W}^{\sigma_{1}})}\,&#10;\left(\Phi_{(m(-sh)lk)_{0}}^{\left(W\kappa_{0}p_{0}\right)}\Theta^{(p_{0})}_{h_{0}\left(-1\right)^{l_{0}}}\right)^{*}&#10;\Phi_{(m\left(\sigma\mathrm{i}^{m}\right)lk)_{1}}^{(W\kappa_{1}p_{1})}\Theta^{(p_{1})}_{\omega_{1}\sigma_{1}\mathrm{i}^{m_{1}}(-1)^{l_{1}}}&#10;\\&#10;\end{align*}&#10;&#10;\end{document}"/>
  <p:tag name="IGUANATEXSIZE" val="16"/>
  <p:tag name="IGUANATEXCURSOR" val="204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5.4856"/>
  <p:tag name="ORIGINALWIDTH" val="686.1642"/>
  <p:tag name="OUTPUTTYPE" val="PNG"/>
  <p:tag name="IGUANATEXVERSION" val="159"/>
  <p:tag name="LATEXADDIN" val="\documentclass{article}&#10;\usepackage{amsmath,amssymb,bm}&#10;\pagestyle{empty}&#10;\begin{document}&#10;&#10;\begin{equation*}&#10;\zeta_{0} = h_{0}\sigma_{0}\mathrm{i}^{m_{0}}&#10;\end{equation*}&#10;&#10;\end{document}"/>
  <p:tag name="IGUANATEXSIZE" val="16"/>
  <p:tag name="IGUANATEXCURSOR" val="155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6.7079"/>
  <p:tag name="ORIGINALWIDTH" val="4055.493"/>
  <p:tag name="OUTPUTTYPE" val="PNG"/>
  <p:tag name="IGUANATEXVERSION" val="159"/>
  <p:tag name="LATEXADDIN" val="\documentclass{article}&#10;\usepackage{amsmath,bm,eufrak}&#10;\pagestyle{empty}&#10;\begin{document}&#10;&#10;\begin{align*}&#10;(\bm{\mathcal{M}})_{\parallel\left(mhlkT_{q}^{(\sigma)}\right)_{01}}^{(j)}&#10;&amp; =&#10;\left(&#10;\bm{\mathcal{M}}^{(-z,-z)}_{zxy}&#10;+&#10;\mathrm{i}h_{0}\sigma_{0}\left(-1\right)^{\frac{m_{0}-1}{2}}\bm{\mathcal{M}}^{(+y,-x)}_{xyz}&#10;\right)&#10;_{\parallel\left(mhlkT_{q}^{(\sigma)}\right)_{01}}&#10;^{(j)}&#10;\\&#10;\end{align*}&#10;&#10;\end{document}"/>
  <p:tag name="IGUANATEXSIZE" val="18"/>
  <p:tag name="IGUANATEXCURSOR" val="227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6.7079"/>
  <p:tag name="ORIGINALWIDTH" val="7772.028"/>
  <p:tag name="OUTPUTTYPE" val="PNG"/>
  <p:tag name="IGUANATEXVERSION" val="159"/>
  <p:tag name="LATEXADDIN" val="\documentclass{article}&#10;\usepackage{amsmath,bm,eufrak}&#10;\pagestyle{empty}&#10;\begin{document}&#10;&#10;\begin{align*}&#10;(\bm{\mathcal{M}})_{\perp\left(mhlkT_{q}^{(\sigma)}\right)_{01}}^{(j)}&#10;&amp; =&#10;\frac{1}{2}\left(&#10;\bm{\mathcal{M}}^{(-y,-x)}_{zxy}&#10;-&#10;h_{0}h_{1}\sigma_{0}\sigma_{1}&#10;\left(-1\right)^{\frac{m_{0}+m_{1}}{2}}&#10;\bm{\mathcal{M}}^{(+y,+x)}_{yzx}&#10;+&#10;\mathrm{i}\left(&#10;h_{0}\sigma_{0}\left(-1\right)^{\frac{m_{0}-1}{2}}\bm{\mathcal{M}}^{(+z,-z)}_{xyz}&#10;-&#10;h_{1}\sigma_{1}\left(-1\right)^{\frac{m_{1}-1}{2}}\bm{\mathcal{M}}^{(-y,+x)}_{xyz}&#10;\right)&#10;\right)&#10;_{\perp\left(mhlkT_{q}^{(\sigma)}\right)_{01}}&#10;^{(j)}&#10;\\&#10;\end{align*}&#10;\end{document}"/>
  <p:tag name="IGUANATEXSIZE" val="14"/>
  <p:tag name="IGUANATEXCURSOR" val="89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5.7105"/>
  <p:tag name="ORIGINALWIDTH" val="5012.374"/>
  <p:tag name="OUTPUTTYPE" val="PNG"/>
  <p:tag name="IGUANATEXVERSION" val="159"/>
  <p:tag name="LATEXADDIN" val="\documentclass{article}&#10;\usepackage{amsmath,bm,eufrak}&#10;\pagestyle{empty}&#10;\begin{document}&#10;&#10;\begin{align*}&#10;\left(\bm{\mathcal{M}}\right)&#10;^{(j)(s_{0}p_{0},s_{1}p_{1})}&#10;_{\parallel\slash\perp,\hat{R}\left(mhlkT_{q}^{(\sigma)}\right)_{01}}&#10;&amp; =&#10;\int\mathrm{d}\bm{r}\,&#10;V^{(j)\left(T_{q}^{(\sigma)}\right)_{01}}_{\parallel\slash\perp,\hat{R}}&#10;\left(\Phi_{(m(-s_{0}h_{0})lk)_{0}}^{\left(W\kappa_{0}p_{0}\right)}&#10;\Theta_{h_{0}\left(-1\right)^{l_{0}}}^{(p_{0})}\right)^{*}&#10;\Phi_{(m(-s_{1}h_{1})lk)_{1}}^{\left(W\kappa_{1}p_{1}\right)}&#10;\Theta_{h_{1}\left(-1\right)^{l_{1}}}^{(p_{1})}&#10;\\&#10;\end{align*}&#10;&#10;\end{document}"/>
  <p:tag name="IGUANATEXSIZE" val="16"/>
  <p:tag name="IGUANATEXCURSOR" val="141"/>
  <p:tag name="TRANSPARENCY" val="Fals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72.216"/>
  <p:tag name="OUTPUTDPI" val="1200"/>
  <p:tag name="LATEXADDIN" val="\documentclass{article}&#10;\usepackage{amsmath,bm}&#10;\pagestyle{empty}&#10;\begin{document}&#10;&#10;\begin{equation*}&#10;\left(\bar{x}\bar{y}z\right)&#10;\end{equation*}&#10;&#10;\end{document}"/>
  <p:tag name="IGUANATEXSIZE" val="20"/>
  <p:tag name="IGUANATEXCURSOR" val="130"/>
  <p:tag name="TRANSPARENCY" val="True"/>
  <p:tag name="FILENAME" val=""/>
  <p:tag name="INPUTTYPE" val="0"/>
  <p:tag name="LATEXENGINEID" val="0"/>
  <p:tag name="TEMPFOLDER" val="D:\Temp\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72.216"/>
  <p:tag name="OUTPUTDPI" val="1200"/>
  <p:tag name="LATEXADDIN" val="\documentclass{article}&#10;\usepackage{amsmath,bm}&#10;\pagestyle{empty}&#10;\begin{document}&#10;&#10;\begin{equation*}&#10;\left(xyz\right)&#10;\end{equation*}&#10;&#10;\end{document}"/>
  <p:tag name="IGUANATEXSIZE" val="20"/>
  <p:tag name="IGUANATEXCURSOR" val="118"/>
  <p:tag name="TRANSPARENCY" val="True"/>
  <p:tag name="FILENAME" val=""/>
  <p:tag name="INPUTTYPE" val="0"/>
  <p:tag name="LATEXENGINEID" val="0"/>
  <p:tag name="TEMPFOLDER" val="D:\Temp\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72.216"/>
  <p:tag name="OUTPUTDPI" val="1200"/>
  <p:tag name="LATEXADDIN" val="\documentclass{article}&#10;\usepackage{amsmath,bm}&#10;\pagestyle{empty}&#10;\begin{document}&#10;&#10;\begin{equation*}&#10;\left(yxz\right)&#10;\end{equation*}&#10;&#10;\end{document}"/>
  <p:tag name="IGUANATEXSIZE" val="20"/>
  <p:tag name="IGUANATEXCURSOR" val="118"/>
  <p:tag name="TRANSPARENCY" val="True"/>
  <p:tag name="FILENAME" val=""/>
  <p:tag name="INPUTTYPE" val="0"/>
  <p:tag name="LATEXENGINEID" val="0"/>
  <p:tag name="TEMPFOLDER" val="D:\Temp\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72.216"/>
  <p:tag name="OUTPUTDPI" val="1200"/>
  <p:tag name="LATEXADDIN" val="\documentclass{article}&#10;\usepackage{amsmath,bm}&#10;\pagestyle{empty}&#10;\begin{document}&#10;&#10;\begin{equation*}&#10;\left(\bar{y}\bar{x}z\right)&#10;\end{equation*}&#10;&#10;\end{document}"/>
  <p:tag name="IGUANATEXSIZE" val="20"/>
  <p:tag name="IGUANATEXCURSOR" val="130"/>
  <p:tag name="TRANSPARENCY" val="True"/>
  <p:tag name="FILENAME" val=""/>
  <p:tag name="INPUTTYPE" val="0"/>
  <p:tag name="LATEXENGINEID" val="0"/>
  <p:tag name="TEMPFOLDER" val="D:\Temp\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72.216"/>
  <p:tag name="OUTPUTDPI" val="1200"/>
  <p:tag name="LATEXADDIN" val="\documentclass{article}&#10;\usepackage{amsmath,bm}&#10;\pagestyle{empty}&#10;\begin{document}&#10;&#10;\begin{equation*}&#10;\left(\bar{y}x\bar{z}\right)&#10;\end{equation*}&#10;&#10;\end{document}"/>
  <p:tag name="IGUANATEXSIZE" val="20"/>
  <p:tag name="IGUANATEXCURSOR" val="130"/>
  <p:tag name="TRANSPARENCY" val="True"/>
  <p:tag name="FILENAME" val=""/>
  <p:tag name="INPUTTYPE" val="0"/>
  <p:tag name="LATEXENGINEID" val="0"/>
  <p:tag name="TEMPFOLDER" val="D:\Temp\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72.216"/>
  <p:tag name="OUTPUTDPI" val="1200"/>
  <p:tag name="LATEXADDIN" val="\documentclass{article}&#10;\usepackage{amsmath,bm}&#10;\pagestyle{empty}&#10;\begin{document}&#10;&#10;\begin{equation*}&#10;\left(y\bar{x}\bar{z}\right)&#10;\end{equation*}&#10;&#10;\end{document}"/>
  <p:tag name="IGUANATEXSIZE" val="20"/>
  <p:tag name="IGUANATEXCURSOR" val="130"/>
  <p:tag name="TRANSPARENCY" val="True"/>
  <p:tag name="FILENAME" val=""/>
  <p:tag name="INPUTTYPE" val="0"/>
  <p:tag name="LATEXENGINEID" val="0"/>
  <p:tag name="TEMPFOLDER" val="D:\Temp\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72.216"/>
  <p:tag name="OUTPUTDPI" val="1200"/>
  <p:tag name="LATEXADDIN" val="\documentclass{article}&#10;\usepackage{amsmath,bm}&#10;\pagestyle{empty}&#10;\begin{document}&#10;&#10;\begin{equation*}&#10;\left(\bar{x}y\bar{z}\right)&#10;\end{equation*}&#10;&#10;\end{document}"/>
  <p:tag name="IGUANATEXSIZE" val="20"/>
  <p:tag name="IGUANATEXCURSOR" val="130"/>
  <p:tag name="TRANSPARENCY" val="True"/>
  <p:tag name="FILENAME" val=""/>
  <p:tag name="INPUTTYPE" val="0"/>
  <p:tag name="LATEXENGINEID" val="0"/>
  <p:tag name="TEMPFOLDER" val="D:\Temp\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72.216"/>
  <p:tag name="OUTPUTDPI" val="1200"/>
  <p:tag name="LATEXADDIN" val="\documentclass{article}&#10;\usepackage{amsmath,bm}&#10;\pagestyle{empty}&#10;\begin{document}&#10;&#10;\begin{equation*}&#10;\left(x\bar{y}\bar{z}\right)&#10;\end{equation*}&#10;&#10;\end{document}"/>
  <p:tag name="IGUANATEXSIZE" val="20"/>
  <p:tag name="IGUANATEXCURSOR" val="130"/>
  <p:tag name="TRANSPARENCY" val="True"/>
  <p:tag name="FILENAME" val=""/>
  <p:tag name="INPUTTYPE" val="0"/>
  <p:tag name="LATEXENGINEID" val="0"/>
  <p:tag name="TEMPFOLDER" val="D:\Temp\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2.7184"/>
  <p:tag name="ORIGINALWIDTH" val="137.9828"/>
  <p:tag name="OUTPUTDPI" val="1200"/>
  <p:tag name="LATEXADDIN" val="\documentclass{article}&#10;\usepackage{amsmath,bm}&#10;\pagestyle{empty}&#10;\begin{document}&#10;&#10;\begin{equation*}&#10;\frac{5\pi}{4}&#10;\end{equation*}&#10;&#10;\end{document}"/>
  <p:tag name="IGUANATEXSIZE" val="15"/>
  <p:tag name="IGUANATEXCURSOR" val="109"/>
  <p:tag name="TRANSPARENCY" val="True"/>
  <p:tag name="FILENAME" val=""/>
  <p:tag name="INPUTTYPE" val="0"/>
  <p:tag name="LATEXENGINEID" val="0"/>
  <p:tag name="TEMPFOLDER" val="D:\Temp\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4.74315"/>
  <p:tag name="ORIGINALWIDTH" val="68.24149"/>
  <p:tag name="OUTPUTDPI" val="1200"/>
  <p:tag name="LATEXADDIN" val="\documentclass{article}&#10;\usepackage{amsmath,bm}&#10;\pagestyle{empty}&#10;\begin{document}&#10;&#10;\begin{equation*}&#10;\pi&#10;\end{equation*}&#10;&#10;\end{document}"/>
  <p:tag name="IGUANATEXSIZE" val="15"/>
  <p:tag name="IGUANATEXCURSOR" val="102"/>
  <p:tag name="TRANSPARENCY" val="True"/>
  <p:tag name="FILENAME" val=""/>
  <p:tag name="INPUTTYPE" val="0"/>
  <p:tag name="LATEXENGINEID" val="0"/>
  <p:tag name="TEMPFOLDER" val="D:\Temp\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2.7184"/>
  <p:tag name="ORIGINALWIDTH" val="239.97"/>
  <p:tag name="OUTPUTDPI" val="1200"/>
  <p:tag name="LATEXADDIN" val="\documentclass{article}&#10;\usepackage{amsmath,bm}&#10;\pagestyle{empty}&#10;\begin{document}&#10;&#10;\begin{equation*}&#10;-\frac{3\pi}{4}&#10;\end{equation*}&#10;&#10;\end{document}"/>
  <p:tag name="IGUANATEXSIZE" val="15"/>
  <p:tag name="IGUANATEXCURSOR" val="113"/>
  <p:tag name="TRANSPARENCY" val="True"/>
  <p:tag name="FILENAME" val=""/>
  <p:tag name="INPUTTYPE" val="0"/>
  <p:tag name="LATEXENGINEID" val="0"/>
  <p:tag name="TEMPFOLDER" val="D:\Temp\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22.7221"/>
  <p:tag name="ORIGINALWIDTH" val="177.7278"/>
  <p:tag name="OUTPUTDPI" val="1200"/>
  <p:tag name="LATEXADDIN" val="\documentclass{article}&#10;\usepackage{amsmath,bm}&#10;\pagestyle{empty}&#10;\begin{document}&#10;&#10;\begin{equation*}&#10;-\frac{\pi}{2}&#10;\end{equation*}&#10;&#10;\end{document}"/>
  <p:tag name="IGUANATEXSIZE" val="15"/>
  <p:tag name="IGUANATEXCURSOR" val="116"/>
  <p:tag name="TRANSPARENCY" val="True"/>
  <p:tag name="FILENAME" val=""/>
  <p:tag name="INPUTTYPE" val="0"/>
  <p:tag name="LATEXENGINEID" val="0"/>
  <p:tag name="TEMPFOLDER" val="D:\Temp\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22.7221"/>
  <p:tag name="ORIGINALWIDTH" val="177.7278"/>
  <p:tag name="OUTPUTDPI" val="1200"/>
  <p:tag name="LATEXADDIN" val="\documentclass{article}&#10;\usepackage{amsmath,bm}&#10;\pagestyle{empty}&#10;\begin{document}&#10;&#10;\begin{equation*}&#10;-\frac{\pi}{4}&#10;\end{equation*}&#10;&#10;\end{document}"/>
  <p:tag name="IGUANATEXSIZE" val="15"/>
  <p:tag name="IGUANATEXCURSOR" val="115"/>
  <p:tag name="TRANSPARENCY" val="True"/>
  <p:tag name="FILENAME" val=""/>
  <p:tag name="INPUTTYPE" val="0"/>
  <p:tag name="LATEXENGINEID" val="0"/>
  <p:tag name="TEMPFOLDER" val="D:\Temp\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2.7184"/>
  <p:tag name="ORIGINALWIDTH" val="137.9828"/>
  <p:tag name="OUTPUTDPI" val="1200"/>
  <p:tag name="LATEXADDIN" val="\documentclass{article}&#10;\usepackage{amsmath,bm}&#10;\pagestyle{empty}&#10;\begin{document}&#10;&#10;\begin{equation*}&#10;\frac{3\pi}{4}&#10;\end{equation*}&#10;&#10;\end{document}"/>
  <p:tag name="IGUANATEXSIZE" val="15"/>
  <p:tag name="IGUANATEXCURSOR" val="102"/>
  <p:tag name="TRANSPARENCY" val="True"/>
  <p:tag name="FILENAME" val=""/>
  <p:tag name="INPUTTYPE" val="0"/>
  <p:tag name="LATEXENGINEID" val="0"/>
  <p:tag name="TEMPFOLDER" val="D:\Temp\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22.7221"/>
  <p:tag name="ORIGINALWIDTH" val="75.74055"/>
  <p:tag name="OUTPUTDPI" val="1200"/>
  <p:tag name="LATEXADDIN" val="\documentclass{article}&#10;\usepackage{amsmath,bm}&#10;\pagestyle{empty}&#10;\begin{document}&#10;&#10;\begin{equation*}&#10;\frac{\pi}{2}&#10;\end{equation*}&#10;&#10;\end{document}"/>
  <p:tag name="IGUANATEXSIZE" val="15"/>
  <p:tag name="IGUANATEXCURSOR" val="102"/>
  <p:tag name="TRANSPARENCY" val="True"/>
  <p:tag name="FILENAME" val=""/>
  <p:tag name="INPUTTYPE" val="0"/>
  <p:tag name="LATEXENGINEID" val="0"/>
  <p:tag name="TEMPFOLDER" val="D:\Temp\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22.7221"/>
  <p:tag name="ORIGINALWIDTH" val="75.74055"/>
  <p:tag name="OUTPUTDPI" val="1200"/>
  <p:tag name="LATEXADDIN" val="\documentclass{article}&#10;\usepackage{amsmath,bm}&#10;\pagestyle{empty}&#10;\begin{document}&#10;&#10;\begin{equation*}&#10;\frac{\pi}{4}&#10;\end{equation*}&#10;&#10;\end{document}"/>
  <p:tag name="IGUANATEXSIZE" val="15"/>
  <p:tag name="IGUANATEXCURSOR" val="102"/>
  <p:tag name="TRANSPARENCY" val="True"/>
  <p:tag name="FILENAME" val=""/>
  <p:tag name="INPUTTYPE" val="0"/>
  <p:tag name="LATEXENGINEID" val="0"/>
  <p:tag name="TEMPFOLDER" val="D:\Temp\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5.48929"/>
  <p:tag name="ORIGINALWIDTH" val="53.24331"/>
  <p:tag name="OUTPUTDPI" val="1200"/>
  <p:tag name="LATEXADDIN" val="\documentclass{article}&#10;\usepackage{amsmath,bm}&#10;\pagestyle{empty}&#10;\begin{document}&#10;&#10;\begin{equation*}&#10;0&#10;\end{equation*}&#10;&#10;\end{document}"/>
  <p:tag name="IGUANATEXSIZE" val="15"/>
  <p:tag name="IGUANATEXCURSOR" val="103"/>
  <p:tag name="TRANSPARENCY" val="True"/>
  <p:tag name="FILENAME" val=""/>
  <p:tag name="INPUTTYPE" val="0"/>
  <p:tag name="LATEXENGINEID" val="0"/>
  <p:tag name="TEMPFOLDER" val="D:\Temp\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2.7184"/>
  <p:tag name="ORIGINALWIDTH" val="137.9828"/>
  <p:tag name="OUTPUTDPI" val="1200"/>
  <p:tag name="LATEXADDIN" val="\documentclass{article}&#10;\usepackage{amsmath,bm}&#10;\pagestyle{empty}&#10;\begin{document}&#10;&#10;\begin{equation*}&#10;\frac{3\pi}{2}&#10;\end{equation*}&#10;&#10;\end{document}"/>
  <p:tag name="IGUANATEXSIZE" val="15"/>
  <p:tag name="IGUANATEXCURSOR" val="114"/>
  <p:tag name="TRANSPARENCY" val="True"/>
  <p:tag name="FILENAME" val=""/>
  <p:tag name="INPUTTYPE" val="0"/>
  <p:tag name="LATEXENGINEID" val="0"/>
  <p:tag name="TEMPFOLDER" val="D:\Temp\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5.48929"/>
  <p:tag name="ORIGINALWIDTH" val="53.24331"/>
  <p:tag name="OUTPUTDPI" val="1200"/>
  <p:tag name="LATEXADDIN" val="\documentclass{article}&#10;\usepackage{amsmath,bm}&#10;\pagestyle{empty}&#10;\begin{document}&#10;&#10;\begin{equation*}&#10;0&#10;\end{equation*}&#10;&#10;\end{document}"/>
  <p:tag name="IGUANATEXSIZE" val="15"/>
  <p:tag name="IGUANATEXCURSOR" val="103"/>
  <p:tag name="TRANSPARENCY" val="True"/>
  <p:tag name="FILENAME" val=""/>
  <p:tag name="INPUTTYPE" val="0"/>
  <p:tag name="LATEXENGINEID" val="0"/>
  <p:tag name="TEMPFOLDER" val="D:\Temp\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2.7184"/>
  <p:tag name="ORIGINALWIDTH" val="137.9828"/>
  <p:tag name="OUTPUTDPI" val="1200"/>
  <p:tag name="LATEXADDIN" val="\documentclass{article}&#10;\usepackage{amsmath,bm}&#10;\pagestyle{empty}&#10;\begin{document}&#10;&#10;\begin{equation*}&#10;\frac{5\pi}{4}&#10;\end{equation*}&#10;&#10;\end{document}"/>
  <p:tag name="IGUANATEXSIZE" val="15"/>
  <p:tag name="IGUANATEXCURSOR" val="109"/>
  <p:tag name="TRANSPARENCY" val="True"/>
  <p:tag name="FILENAME" val=""/>
  <p:tag name="INPUTTYPE" val="0"/>
  <p:tag name="LATEXENGINEID" val="0"/>
  <p:tag name="TEMPFOLDER" val="D:\Temp\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22.7221"/>
  <p:tag name="ORIGINALWIDTH" val="75.74055"/>
  <p:tag name="OUTPUTDPI" val="1200"/>
  <p:tag name="LATEXADDIN" val="\documentclass{article}&#10;\usepackage{amsmath,bm}&#10;\pagestyle{empty}&#10;\begin{document}&#10;&#10;\begin{equation*}&#10;\frac{\pi}{4}&#10;\end{equation*}&#10;&#10;\end{document}"/>
  <p:tag name="IGUANATEXSIZE" val="15"/>
  <p:tag name="IGUANATEXCURSOR" val="102"/>
  <p:tag name="TRANSPARENCY" val="True"/>
  <p:tag name="FILENAME" val=""/>
  <p:tag name="INPUTTYPE" val="0"/>
  <p:tag name="LATEXENGINEID" val="0"/>
  <p:tag name="TEMPFOLDER" val="D:\Temp\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22.7221"/>
  <p:tag name="ORIGINALWIDTH" val="75.74055"/>
  <p:tag name="OUTPUTDPI" val="1200"/>
  <p:tag name="LATEXADDIN" val="\documentclass{article}&#10;\usepackage{amsmath,bm}&#10;\pagestyle{empty}&#10;\begin{document}&#10;&#10;\begin{equation*}&#10;\frac{\pi}{2}&#10;\end{equation*}&#10;&#10;\end{document}"/>
  <p:tag name="IGUANATEXSIZE" val="15"/>
  <p:tag name="IGUANATEXCURSOR" val="102"/>
  <p:tag name="TRANSPARENCY" val="True"/>
  <p:tag name="FILENAME" val=""/>
  <p:tag name="INPUTTYPE" val="0"/>
  <p:tag name="LATEXENGINEID" val="0"/>
  <p:tag name="TEMPFOLDER" val="D:\Temp\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2.7184"/>
  <p:tag name="ORIGINALWIDTH" val="137.9828"/>
  <p:tag name="OUTPUTDPI" val="1200"/>
  <p:tag name="LATEXADDIN" val="\documentclass{article}&#10;\usepackage{amsmath,bm}&#10;\pagestyle{empty}&#10;\begin{document}&#10;&#10;\begin{equation*}&#10;\frac{3\pi}{4}&#10;\end{equation*}&#10;&#10;\end{document}"/>
  <p:tag name="IGUANATEXSIZE" val="15"/>
  <p:tag name="IGUANATEXCURSOR" val="102"/>
  <p:tag name="TRANSPARENCY" val="True"/>
  <p:tag name="FILENAME" val=""/>
  <p:tag name="INPUTTYPE" val="0"/>
  <p:tag name="LATEXENGINEID" val="0"/>
  <p:tag name="TEMPFOLDER" val="D:\Temp\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22.7221"/>
  <p:tag name="ORIGINALWIDTH" val="177.7278"/>
  <p:tag name="OUTPUTDPI" val="1200"/>
  <p:tag name="LATEXADDIN" val="\documentclass{article}&#10;\usepackage{amsmath,bm}&#10;\pagestyle{empty}&#10;\begin{document}&#10;&#10;\begin{equation*}&#10;-\frac{\pi}{4}&#10;\end{equation*}&#10;&#10;\end{document}"/>
  <p:tag name="IGUANATEXSIZE" val="15"/>
  <p:tag name="IGUANATEXCURSOR" val="115"/>
  <p:tag name="TRANSPARENCY" val="True"/>
  <p:tag name="FILENAME" val=""/>
  <p:tag name="INPUTTYPE" val="0"/>
  <p:tag name="LATEXENGINEID" val="0"/>
  <p:tag name="TEMPFOLDER" val="D:\Temp\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22.7221"/>
  <p:tag name="ORIGINALWIDTH" val="177.7278"/>
  <p:tag name="OUTPUTDPI" val="1200"/>
  <p:tag name="LATEXADDIN" val="\documentclass{article}&#10;\usepackage{amsmath,bm}&#10;\pagestyle{empty}&#10;\begin{document}&#10;&#10;\begin{equation*}&#10;-\frac{\pi}{2}&#10;\end{equation*}&#10;&#10;\end{document}"/>
  <p:tag name="IGUANATEXSIZE" val="15"/>
  <p:tag name="IGUANATEXCURSOR" val="116"/>
  <p:tag name="TRANSPARENCY" val="True"/>
  <p:tag name="FILENAME" val=""/>
  <p:tag name="INPUTTYPE" val="0"/>
  <p:tag name="LATEXENGINEID" val="0"/>
  <p:tag name="TEMPFOLDER" val="D:\Temp\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4.74315"/>
  <p:tag name="ORIGINALWIDTH" val="68.24149"/>
  <p:tag name="OUTPUTDPI" val="1200"/>
  <p:tag name="LATEXADDIN" val="\documentclass{article}&#10;\usepackage{amsmath,bm}&#10;\pagestyle{empty}&#10;\begin{document}&#10;&#10;\begin{equation*}&#10;\pi&#10;\end{equation*}&#10;&#10;\end{document}"/>
  <p:tag name="IGUANATEXSIZE" val="15"/>
  <p:tag name="IGUANATEXCURSOR" val="102"/>
  <p:tag name="TRANSPARENCY" val="True"/>
  <p:tag name="FILENAME" val=""/>
  <p:tag name="INPUTTYPE" val="0"/>
  <p:tag name="LATEXENGINEID" val="0"/>
  <p:tag name="TEMPFOLDER" val="D:\Temp\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72.216"/>
  <p:tag name="OUTPUTDPI" val="1200"/>
  <p:tag name="LATEXADDIN" val="\documentclass{article}&#10;\usepackage{amsmath,bm}&#10;\pagestyle{empty}&#10;\begin{document}&#10;&#10;\begin{equation*}&#10;\left(\bar{x}\bar{y}z\right)&#10;\end{equation*}&#10;&#10;\end{document}"/>
  <p:tag name="IGUANATEXSIZE" val="20"/>
  <p:tag name="IGUANATEXCURSOR" val="130"/>
  <p:tag name="TRANSPARENCY" val="True"/>
  <p:tag name="FILENAME" val=""/>
  <p:tag name="INPUTTYPE" val="0"/>
  <p:tag name="LATEXENGINEID" val="0"/>
  <p:tag name="TEMPFOLDER" val="D:\Temp\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72.216"/>
  <p:tag name="OUTPUTDPI" val="1200"/>
  <p:tag name="LATEXADDIN" val="\documentclass{article}&#10;\usepackage{amsmath,bm}&#10;\pagestyle{empty}&#10;\begin{document}&#10;&#10;\begin{equation*}&#10;\left(xyz\right)&#10;\end{equation*}&#10;&#10;\end{document}"/>
  <p:tag name="IGUANATEXSIZE" val="20"/>
  <p:tag name="IGUANATEXCURSOR" val="118"/>
  <p:tag name="TRANSPARENCY" val="True"/>
  <p:tag name="FILENAME" val=""/>
  <p:tag name="INPUTTYPE" val="0"/>
  <p:tag name="LATEXENGINEID" val="0"/>
  <p:tag name="TEMPFOLDER" val="D:\Temp\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72.216"/>
  <p:tag name="OUTPUTDPI" val="1200"/>
  <p:tag name="LATEXADDIN" val="\documentclass{article}&#10;\usepackage{amsmath,bm}&#10;\pagestyle{empty}&#10;\begin{document}&#10;&#10;\begin{equation*}&#10;\left(\bar{x}y\bar{z}\right)&#10;\end{equation*}&#10;&#10;\end{document}"/>
  <p:tag name="IGUANATEXSIZE" val="20"/>
  <p:tag name="IGUANATEXCURSOR" val="130"/>
  <p:tag name="TRANSPARENCY" val="True"/>
  <p:tag name="FILENAME" val=""/>
  <p:tag name="INPUTTYPE" val="0"/>
  <p:tag name="LATEXENGINEID" val="0"/>
  <p:tag name="TEMPFOLDER" val="D:\Temp\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346"/>
  <p:tag name="ORIGINALWIDTH" val="272.216"/>
  <p:tag name="OUTPUTDPI" val="1200"/>
  <p:tag name="LATEXADDIN" val="\documentclass{article}&#10;\usepackage{amsmath,bm}&#10;\pagestyle{empty}&#10;\begin{document}&#10;&#10;\begin{equation*}&#10;\left(x\bar{y}\bar{z}\right)&#10;\end{equation*}&#10;&#10;\end{document}"/>
  <p:tag name="IGUANATEXSIZE" val="20"/>
  <p:tag name="IGUANATEXCURSOR" val="130"/>
  <p:tag name="TRANSPARENCY" val="True"/>
  <p:tag name="FILENAME" val=""/>
  <p:tag name="INPUTTYPE" val="0"/>
  <p:tag name="LATEXENGINEID" val="0"/>
  <p:tag name="TEMPFOLDER" val="D:\Temp\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3.23961"/>
  <p:tag name="ORIGINALWIDTH" val="139.4826"/>
  <p:tag name="OUTPUTDPI" val="1200"/>
  <p:tag name="LATEXADDIN" val="\documentclass{article}&#10;\usepackage{amsmath,bm}&#10;\pagestyle{empty}&#10;\begin{document}&#10;&#10;\begin{equation*}&#10;-1&#10;\end{equation*}&#10;&#10;\end{document}"/>
  <p:tag name="IGUANATEXSIZE" val="15"/>
  <p:tag name="IGUANATEXCURSOR" val="104"/>
  <p:tag name="TRANSPARENCY" val="True"/>
  <p:tag name="FILENAME" val=""/>
  <p:tag name="INPUTTYPE" val="0"/>
  <p:tag name="LATEXENGINEID" val="0"/>
  <p:tag name="TEMPFOLDER" val="D:\Temp\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3.23961"/>
  <p:tag name="ORIGINALWIDTH" val="41.99472"/>
  <p:tag name="OUTPUTDPI" val="1200"/>
  <p:tag name="LATEXADDIN" val="\documentclass{article}&#10;\usepackage{amsmath,bm}&#10;\pagestyle{empty}&#10;\begin{document}&#10;&#10;\begin{equation*}&#10;1&#10;\end{equation*}&#10;&#10;\end{document}"/>
  <p:tag name="IGUANATEXSIZE" val="15"/>
  <p:tag name="IGUANATEXCURSOR" val="103"/>
  <p:tag name="TRANSPARENCY" val="True"/>
  <p:tag name="FILENAME" val=""/>
  <p:tag name="INPUTTYPE" val="0"/>
  <p:tag name="LATEXENGINEID" val="0"/>
  <p:tag name="TEMPFOLDER" val="D:\Temp\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5.48929"/>
  <p:tag name="ORIGINALWIDTH" val="53.24331"/>
  <p:tag name="OUTPUTDPI" val="1200"/>
  <p:tag name="LATEXADDIN" val="\documentclass{article}&#10;\usepackage{amsmath,bm}&#10;\pagestyle{empty}&#10;\begin{document}&#10;&#10;\begin{equation*}&#10;0&#10;\end{equation*}&#10;&#10;\end{document}"/>
  <p:tag name="IGUANATEXSIZE" val="15"/>
  <p:tag name="IGUANATEXCURSOR" val="103"/>
  <p:tag name="TRANSPARENCY" val="True"/>
  <p:tag name="FILENAME" val=""/>
  <p:tag name="INPUTTYPE" val="0"/>
  <p:tag name="LATEXENGINEID" val="0"/>
  <p:tag name="TEMPFOLDER" val="D:\Temp\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27.4091"/>
  <p:tag name="ORIGINALWIDTH" val="6123.734"/>
  <p:tag name="OUTPUTTYPE" val="PNG"/>
  <p:tag name="IGUANATEXVERSION" val="159"/>
  <p:tag name="LATEXADDIN" val="\documentclass{article}&#10;\usepackage{amsmath,bm,eufrak}&#10;\pagestyle{empty}&#10;\begin{document}&#10;&#10;\begin{align*}&#10;(\bm{\mathcal{M}})^{(j)(z,z)}_{(mlk\mathcal{W})_{01}}&#10;&amp; =&#10;\int_{0}^{1} \mathrm{d}\chi&#10;\int_{-\pi/4}^{+\pi/4} \frac{\mathrm{d}\phi}{\pi/2}&#10;\int_{0}^{\infty} r^2\mathrm{d}r\,&#10;V_{\parallel}^{(j)(\mathcal{W})_{01}}\,&#10;4\pi&#10;\left(&#10;\Phi_{(m\left(\sigma\mathrm{i}^{m}\right)lk)_{0}}^{(W\kappa_{0}z)}\Theta^{(p_{0})}_{\omega_{0}\sigma_{0}\mathrm{i}^{m_{0}}(-1)^{l_{0}}}&#10;\right)^{*}&#10;\Phi_{(m\left(\sigma\mathrm{i}^{m}\right)lk)_{1}}^{(W\kappa_{1}z)}\Theta^{(p_{1})}_{\omega_{1}\sigma_{1}\mathrm{i}^{m_{1}}(-1)^{l_{1}}}&#10;\\&#10;(\bm{\mathcal{M}})^{(j)(y,x)}_{(mlk\mathcal{W})_{01}}&#10;&amp; =&#10;\int_{0}^{1} \mathrm{d}\chi&#10;\int_{-\pi/2}^{+\pi/2} \frac{\mathrm{d}\phi}{\pi}&#10;\int_{0}^{\infty} r^2\mathrm{d}r\,&#10;V_{\perp}^{(j)(\mathcal{W})_{01}}\,&#10;4\pi&#10;\left(&#10;\Phi_{(m\left(\sigma\mathrm{i}^{m}\right)lk)_{0}}^{(W\kappa_{0}y)}\Theta^{(p_{0})}_{\omega_{0}\sigma_{0}\mathrm{i}^{m_{0}}(-1)^{l_{0}}}&#10;\right)^{*}&#10;\Phi_{(m\left(\sigma\mathrm{i}^{m}\right)lk)_{1}}^{(W\kappa_{1}x)}\Theta^{(p_{1})}_{\omega_{1}\sigma_{1}\mathrm{i}^{m_{1}}(-1)^{l_{1}}}&#10;\\&#10;\end{align*}&#10;&#10;\end{document}"/>
  <p:tag name="IGUANATEXSIZE" val="18"/>
  <p:tag name="IGUANATEXCURSOR" val="318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1.7248"/>
  <p:tag name="ORIGINALWIDTH" val="2396.7"/>
  <p:tag name="LATEXADDIN" val="\documentclass{article}&#10;\usepackage{amsmath,bm,eufrak}&#10;\pagestyle{empty}&#10;\begin{document}&#10;&#10;\begin{align*}&#10;(\bm{\mathcal{M}})&#10;_{\parallel\left(mlk\mathcal{W}\right)_{01}}^{(j)}&#10;&amp; =&#10;(\bm{\mathcal{M}}^{(z,z)}_{\parallel}+\bm{\mathcal{M}}^{(y,x)}_{\perp})^{(j)}_{(mlk\mathcal{W})_{01}}&#10;\\&#10;\end{align*}&#10;&#10;\end{document}"/>
  <p:tag name="IGUANATEXSIZE" val="18"/>
  <p:tag name="IGUANATEXCURSOR" val="256"/>
  <p:tag name="TRANSPARENCY" val="True"/>
  <p:tag name="FILENAME" val=""/>
  <p:tag name="LATEXENGINEID" val="0"/>
  <p:tag name="TEMPFOLDER" val="c:\temp\"/>
  <p:tag name="LATEXFORMHEIGHT" val="571.5"/>
  <p:tag name="LATEXFORMWIDTH" val="1002.75"/>
  <p:tag name="LATEXFORMWRAP" val="True"/>
  <p:tag name="BITMAPVECTOR" val="0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81.1773"/>
  <p:tag name="ORIGINALWIDTH" val="3902.512"/>
  <p:tag name="LATEXADDIN" val="\documentclass{article}&#10;\usepackage{amsmath,bm,eufrak}&#10;\pagestyle{empty}&#10;\begin{document}&#10;&#10;\begin{align*}&#10;(\bm{\mathcal{M}})_{\parallel(mlk\mathcal{W})_{0}(mhlkT_{q}^{\sigma})_{1}}^{(j)}&#10;&amp; =&#10;-\mathrm{i}\sqrt{2}h_{1}\sigma_{1}\left(-1\right)^{\frac{m_{1}-1}{2}}&#10;\bm{\mathcal{M}}^{(j)(y,+x)}_{\parallel,(zxy)(mlk\mathcal{W})_{0}(mhlkT_{q}^{\sigma})_{1}}&#10;\\&#10;(\bm{\mathcal{M}})_{\perp(mlk\mathcal{W})_{0}(mhlkT_{q}^{\sigma})_{1}}^{(j)}&#10;&amp; =&#10;\frac{1}{\sqrt{2}}&#10;\left(&#10;\bm{\mathcal{M}}^{(z,-z)}_{(yzx)}&#10;+&#10;\bm{\mathcal{M}}^{(y,-x)}_{(yzx)}&#10;\right)_{\perp(mlk\mathcal{W})_{0}(mhlkT_{q}^{\sigma})_{1}}^{(j)}&#10;\\&#10;\end{align*}&#10;&#10;\end{document}"/>
  <p:tag name="IGUANATEXSIZE" val="18"/>
  <p:tag name="IGUANATEXCURSOR" val="595"/>
  <p:tag name="TRANSPARENCY" val="True"/>
  <p:tag name="FILENAME" val=""/>
  <p:tag name="LATEXENGINEID" val="0"/>
  <p:tag name="TEMPFOLDER" val="c:\temp\"/>
  <p:tag name="LATEXFORMHEIGHT" val="571.5"/>
  <p:tag name="LATEXFORMWIDTH" val="938"/>
  <p:tag name="LATEXFORMWRAP" val="True"/>
  <p:tag name="BITMAPVECTOR" val="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8.9576"/>
  <p:tag name="ORIGINALWIDTH" val="6674.915"/>
  <p:tag name="OUTPUTTYPE" val="PNG"/>
  <p:tag name="IGUANATEXVERSION" val="159"/>
  <p:tag name="LATEXADDIN" val="\documentclass{article}&#10;\usepackage{amsmath,bm,eufrak}&#10;\pagestyle{empty}&#10;\begin{document}&#10;&#10;\begin{align*}&#10;\left(\bm{\mathcal{M}}\right)^{(j)(p_{0},s_{1}p_{1})}&#10;_{\parallel\slash\perp,\hat{R}(mlk\mathcal{W})_{0}(mhlkT_{q}^{\sigma})_{1}}&#10;&amp; =&#10;\int_{0}^{1} \mathrm{d}\chi&#10;\int_{-\pi/2}^{+\pi/2} \frac{\mathrm{d}\phi}{\pi}&#10;\int_{0}^{\infty} r^2\mathrm{d}r\,&#10;V_{\parallel\slash\perp,\hat{R}}^{(j)(\mathcal{W}_{0}T_{q}^{\sigma_{1}})}\,&#10;\left(\Phi_{(m\left(\sigma_{0}\mathrm{i}^{m}\right)lk)_{0}}^{(W\kappa_{0}p_{0})}\Theta^{(p_{0})}_{\omega_{0}\sigma_{0}\mathrm{i}^{m_{0}}(-1)^{l_{0}}}\right)^{*}&#10;\Phi_{(m(-s_{1}h_{1})lk)_{1}}^{\left(W\kappa_{1}p_{1}\right)}&#10;\Theta_{h_{1}\left(-1\right)^{l_{1}}}^{(p_{1})}&#10;\\&#10;\end{align*}&#10;&#10;\end{document}"/>
  <p:tag name="IGUANATEXSIZE" val="16"/>
  <p:tag name="IGUANATEXCURSOR" val="352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0.9636"/>
  <p:tag name="ORIGINALWIDTH" val="3824.522"/>
  <p:tag name="OUTPUTTYPE" val="PNG"/>
  <p:tag name="IGUANATEXVERSION" val="159"/>
  <p:tag name="LATEXADDIN" val="\documentclass{article}&#10;\usepackage{amsmath,bm,eufrak}&#10;\pagestyle{empty}&#10;\begin{document}&#10;&#10;\begin{align*}&#10;(\bm{\mathcal{M}})_{\perp(mlk\mathcal{W})_{0}(mhlkT_{q}^{\sigma})_{1}}^{(j)}&#10;&amp; =&#10;\frac{1}{\sqrt{2}}&#10;\left(&#10;\bm{\mathcal{M}}^{(z,-z)}_{(yzx)}&#10;+&#10;\bm{\mathcal{M}}^{(y,-x)}_{(yzx)}&#10;\right)_{\perp(mlk\mathcal{W})_{0}(mhlkT_{q}^{\sigma})_{1}}&#10;\\&#10;\end{align*}&#10;&#10;\end{document}"/>
  <p:tag name="IGUANATEXSIZE" val="18"/>
  <p:tag name="IGUANATEXCURSOR" val="281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0.9299"/>
  <p:tag name="ORIGINALWIDTH" val="4625.422"/>
  <p:tag name="OUTPUTTYPE" val="PNG"/>
  <p:tag name="IGUANATEXVERSION" val="159"/>
  <p:tag name="LATEXADDIN" val="\documentclass{article}&#10;\usepackage{amsmath,bm,eufrak}&#10;\pagestyle{empty}&#10;\begin{document}&#10;&#10;\begin{align*}&#10;(\bm{\mathcal{M}})_{\parallel(mhlkT_{q}^{\sigma})_{0}(mlk\mathcal{W})_{1}}^{(j)}&#10;&amp; =&#10;\sqrt{2}&#10;\bm{\mathcal{M}}_{\parallel,(yzx)(mhlkT_{q}^{\sigma})_{0}(mlk\mathcal{W})_{1}}^{(j)(-y,x)} &#10;\\&#10;(\bm{\mathcal{M}})_{\perp(mhlkT_{q}^{\sigma})_{0}(mlk\mathcal{W})_{1}}^{(j)}&#10;&amp; =&#10;\frac{\mathrm{i}}{\sqrt{2}}&#10;h_{0}\sigma_{0}\left(-1\right)^{\frac{m_{0}-1}{2}}&#10;\left(&#10;\bm{\mathcal{M}}^{(-z,z)}_{(zxy)}&#10;+&#10;\bm{\mathcal{M}}^{(+y,x)}_{(zxy)}&#10;\right)_{\perp(mhlkT_{q}^{\sigma})_{0}(mlk\mathcal{W})_{1}}^{(j)}&#10;\\&#10;\end{align*}&#10;&#10;\end{document}"/>
  <p:tag name="IGUANATEXSIZE" val="18"/>
  <p:tag name="IGUANATEXCURSOR" val="530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8.9576"/>
  <p:tag name="ORIGINALWIDTH" val="6532.434"/>
  <p:tag name="OUTPUTTYPE" val="PNG"/>
  <p:tag name="IGUANATEXVERSION" val="159"/>
  <p:tag name="LATEXADDIN" val="\documentclass{article}&#10;\usepackage{amsmath,bm,eufrak}&#10;\pagestyle{empty}&#10;\begin{document}&#10;&#10;\begin{align*}&#10;(\bm{\mathcal{M}})_{\parallel\slash\perp,\hat{R}(mhlkT_{q}^{\sigma})_{0}(mlk\mathcal{W})_{1}}^{(j)(s_{0}p_{0},p_{1})} &#10;&amp; =&#10;\int_{0}^{1} \mathrm{d}\chi&#10;\int_{-\pi/2}^{+\pi/2} \frac{\mathrm{d}\phi}{\pi}&#10;\int_{0}^{\infty} r^2\mathrm{d}r\,&#10;V_{\parallel\slash\perp,\hat{R}}^{(j)(T_{q}^{\sigma_{0}}\mathcal{W}_{1})}\,&#10;\left(\Phi_{(m(-sh)lk)_{0}}^{\left(W\kappa_{0}p_{0}\right)}\Theta^{(p_{0})}_{h_{0}\left(-1\right)^{l_{0}}}\right)^{*}&#10;\Phi_{(m\left(\sigma\mathrm{i}^{m}\right)lk)_{1}}^{(W\kappa_{1}p_{1})}\Theta^{(p_{1})}_{\omega_{1}\sigma_{1}\mathrm{i}^{m_{1}}(-1)^{l_{1}}}&#10;\\&#10;\end{align*}&#10;&#10;\end{document}"/>
  <p:tag name="IGUANATEXSIZE" val="18"/>
  <p:tag name="IGUANATEXCURSOR" val="224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8.9576"/>
  <p:tag name="ORIGINALWIDTH" val="6150.731"/>
  <p:tag name="LATEXADDIN" val="\documentclass{article}&#10;\usepackage{amsmath,bm,eufrak}&#10;\pagestyle{empty}&#10;\begin{document}&#10;&#10;\begin{align*}&#10;\left(\bm{\mathcal{M}}\right)&#10;^{(s_{1}p_{1},s_{2}p_{2})}&#10;_{\parallel\slash\perp,xyz(mlkhT_{q}^{\sigma})_{01}}&#10;&amp; =&#10;\int_{0}^{1} \mathrm{d}\chi&#10;\int_{-\pi/2}^{+\pi/2} \frac{\mathrm{d}\phi}{\pi}&#10;\int_{0}^{\infty} r^2\mathrm{d}r\,&#10;V^{(j)\left(T_{q}^{(\sigma)}\right)_{01}}_{\parallel\slash\perp,\hat{R}}&#10;\left(\Phi_{(m(-s_{0}h_{0})lk)_{0}}^{\left(W\kappa_{0}p_{0}\right)}&#10;\Theta_{h_{0}\left(-1\right)^{l_{0}}}^{(p_{0})}\right)^{*}&#10;\Phi_{(m(-s_{1}h_{1})lk)_{1}}^{\left(W\kappa_{1}p_{1}\right)}&#10;\Theta_{h_{1}\left(-1\right)^{l_{1}}}^{(p_{1})}&#10;\\&#10;\end{align*}&#10;&#10;\end{document}"/>
  <p:tag name="IGUANATEXSIZE" val="16"/>
  <p:tag name="IGUANATEXCURSOR" val="213"/>
  <p:tag name="TRANSPARENCY" val="False"/>
  <p:tag name="FILENAME" val=""/>
  <p:tag name="LATEXENGINEID" val="0"/>
  <p:tag name="TEMPFOLDER" val="c:\temp\"/>
  <p:tag name="LATEXFORMHEIGHT" val="571.5"/>
  <p:tag name="LATEXFORMWIDTH" val="938"/>
  <p:tag name="LATEXFORMWRAP" val="True"/>
  <p:tag name="BITMAPVECTOR" val="0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21.4099"/>
  <p:tag name="ORIGINALWIDTH" val="7772.028"/>
  <p:tag name="OUTPUTTYPE" val="PNG"/>
  <p:tag name="IGUANATEXVERSION" val="159"/>
  <p:tag name="LATEXADDIN" val="\documentclass{article}&#10;\usepackage{amsmath,bm,eufrak}&#10;\pagestyle{empty}&#10;\begin{document}&#10;&#10;\begin{align*}&#10;(\bm{\mathcal{M}})_{\parallel\left(mhlkT_{q}^{(\sigma)}\right)_{01}}^{(j)}&#10;&amp; =&#10;\left(&#10;\bm{\mathcal{M}}^{(-z,-z)}_{(zxy)}&#10;+&#10;\mathrm{i}h_{0}\sigma_{0}\left(-1\right)^{\frac{m_{0}-1}{2}}\bm{\mathcal{M}}^{(+y,-x)}_{(xyz)}&#10;\right)&#10;_{\parallel\left(mhlkT_{q}^{(\sigma)}\right)_{01}}&#10;^{(j)}&#10;\\&#10;(\bm{\mathcal{M}})_{\perp\left(mhlkT_{q}^{(\sigma)}\right)_{01}}^{(j)}&#10;&amp; =&#10;\frac{1}{2}\left(&#10;\bm{\mathcal{M}}^{(-y,-x)}_{(zxy)}&#10;-&#10;h_{0}h_{1}\sigma_{0}\sigma_{1}&#10;\left(-1\right)^{\frac{m_{0}+m_{1}}{2}}&#10;\bm{\mathcal{M}}^{(+y,+x)}_{(yzx)}&#10;+&#10;\mathrm{i}\left(&#10;h_{0}\sigma_{0}\left(-1\right)^{\frac{m_{0}-1}{2}}\bm{\mathcal{M}}^{(+z,-z)}_{(xyz)}&#10;-&#10;h_{1}\sigma_{1}\left(-1\right)^{\frac{m_{1}-1}{2}}\bm{\mathcal{M}}^{(-y,+x)}_{(xyz)}&#10;\right)&#10;\right)&#10;_{\perp\left(mhlkT_{q}^{(\sigma)}\right)_{01}}&#10;^{(j)}&#10;\\&#10;\end{align*}&#10;&#10;\end{document}"/>
  <p:tag name="IGUANATEXSIZE" val="14"/>
  <p:tag name="IGUANATEXCURSOR" val="731"/>
  <p:tag name="TRANSPARENCY" val="True"/>
  <p:tag name="FILENAME" val=""/>
  <p:tag name="LATEXENGINEID" val="0"/>
  <p:tag name="TEMPFOLDER" val="C:\iguanatex\"/>
  <p:tag name="LATEXFORMHEIGHT" val="571.5"/>
  <p:tag name="LATEXFORMWIDTH" val="1085.25"/>
  <p:tag name="LATEXFORMWRAP" val="True"/>
  <p:tag name="BITMAPVECTOR" val="0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9.6288"/>
  <p:tag name="ORIGINALWIDTH" val="3491.563"/>
  <p:tag name="LATEXADDIN" val="\documentclass{article}&#10;\usepackage{amsmath,amssymb,bm}&#10;\pagestyle{empty}&#10;\begin{document}&#10;&#10;\begin{align*}&#10;\left(\bm{\mathcal{M}}\right)_{\left(mlkh\mathcal{W};\lambda\eta\right)_{01}}&#10;&amp; =&#10;\int \mathrm{d}\bm{r}\,&#10;U_{\left\{\bm{r}\right\}}&#10;\Psi_{\left(mlkh;\lambda\eta\right)_{1}}^{\left(\mathcal{W}_{1}W\kappa\right)*}&#10;\Psi_{\left(mlkh;\lambda\eta\right)_{2}}^{\left(\mathcal{W}_{2}W\kappa\right)}&#10;\\&#10;&amp; =&#10;\sum_{j}&#10;\left(&#10;\bm{\mathcal{M}}_{\parallel}&#10;+&#10;\bm{\mathcal{M}}_{\perp}&#10;\right)_{\left(mlkh\mathcal{W};\lambda\eta\right)_{01}}^{(j)}&#10;\\&#10;\left(\bm{\mathcal{M}}\right)_{\parallel\slash\perp\left(mlkh\mathcal{W};\lambda\eta\right)_{01}}^{(j)}&#10;&amp; =&#10;\int \mathrm{d}\bm{r}\,&#10;V_{\parallel\slash\perp,xyz}^{(j)(\mathcal{W})_{01}}\,&#10;\Psi_{\left(mlkh\mathcal{W};\lambda\eta\right)_{0}}^{\left(W\kappa\right)*}&#10;\Psi_{\left(mlkh\mathcal{W};\lambda\eta\right)_{1}}^{\left(W\kappa\right)}&#10;\\&#10;\end{align*}&#10;&#10;\end{document}"/>
  <p:tag name="IGUANATEXSIZE" val="20"/>
  <p:tag name="IGUANATEXCURSOR" val="882"/>
  <p:tag name="TRANSPARENCY" val="True"/>
  <p:tag name="FILENAME" val=""/>
  <p:tag name="LATEXENGINEID" val="0"/>
  <p:tag name="TEMPFOLDER" val="c:\temp\"/>
  <p:tag name="LATEXFORMHEIGHT" val="571.5"/>
  <p:tag name="LATEXFORMWIDTH" val="938"/>
  <p:tag name="LATEXFORMWRAP" val="True"/>
  <p:tag name="BITMAPVECTOR" val="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06.299"/>
  <p:tag name="ORIGINALWIDTH" val="2959.13"/>
  <p:tag name="LATEXADDIN" val="\documentclass{article}&#10;\usepackage{amsmath,bm,eufrak}&#10;\pagestyle{empty}&#10;\begin{document}&#10;&#10;\begin{align*}&#10;\tilde{U}_{\left\{\bm{r}\right\}}&#10;&amp; =&#10;\left(\frac{r}{a_{0}}\right)^{d}&#10;\sum_{i}&#10;\tilde{\mathfrak{U}}_{i}&#10;\mathcal{U}_{i\left\{\chi,\phi\right\}}&#10;\mathrm{e}^{-\tilde{\alpha}_{i\left\{\chi,\phi\right\}}\frac{r}{a_{0}}}&#10;\mathrm{e}^{-\beta_{i\left\{\chi,\phi\right\}}\left(\frac{r}{a_{0}}\right)^{2}}&#10;\\&#10;&amp; =&#10;\left(\frac{r}{a_{\perp}}\right)^{d}&#10;\sum_{j \in \Gamma\left(T_{d}\right)}&#10;\sum_{\kappa = 1}^{l_{j}}&#10;\tilde{U}^{(j)}_{\kappa\kappa}&#10;\\&#10;\tilde{U}^{(j)}_{\mu\kappa}&#10;&amp; \equiv&#10;\sum_{i}&#10;\sum_{\hat{R}\in\subseteq T_{d}}&#10;\tilde{\mathfrak{U}}_{\mu\kappa;i\hat{R}}^{\left(j\right)}&#10;\mathcal{U}_{i\hat{R}}&#10;\mathrm{e}^{-\alpha_{i\hat{R}}\left(\frac{r}{a_\perp}\right)}\mathrm{e}^{-\beta_{i\hat{R}}\left(\frac{r}{a_\perp}\right)^{2}}&#10;\\&#10;\tilde{\mathfrak{U}}_{\mu\kappa;i\hat{R}}^{\left(j\right)}&#10;&amp; \equiv&#10;\frac{l_{j}}{h}&#10;\tilde{\mathfrak{U}}_{i}&#10;\left(\Gamma_{\hat{R}}^{(j)}\right)_{\mu\kappa}^{*}&#10;\end{align*}&#10;&#10;\end{document}"/>
  <p:tag name="IGUANATEXSIZE" val="20"/>
  <p:tag name="IGUANATEXCURSOR" val="52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95.351"/>
  <p:tag name="ORIGINALWIDTH" val="4562.43"/>
  <p:tag name="LATEXADDIN" val="\documentclass{article}&#10;\usepackage{amsmath,bm,eufrak}&#10;\pagestyle{empty}&#10;\begin{document}&#10;&#10;\begin{equation*}&#10;V_{\parallel}^{\left(A^{\left(\sigma\right)}\right)(\mathcal{W})_{01}}&#10;=&#10;\begin{pmatrix}&#10;\delta_{\sigma_{0}\sigma_{1}}^{\sigma} &amp;                           0 &amp;                          0 &amp;                          0 &amp;                             &amp; 0 &amp; 0 &amp; 0 \\&#10;                                     0 &amp;            \delta_{\sigma+} &amp; \mathrm{i}\delta_{\sigma-} &amp;                          0 &amp;                             &amp; 0 &amp; 0 &amp; 0 \\&#10;                                     0 &amp; -\mathrm{i}\delta_{\sigma-} &amp;           \delta_{\sigma+} &amp;                          0 &amp;                             &amp; 0 &amp; 0 &amp; 0 \\&#10;                                     0 &amp;                           0 &amp;                          0 &amp;           \delta_{\sigma+} &amp; -\mathrm{i}\delta_{\sigma-} &amp; 0 &amp; 0 &amp; 0 \\&#10;                                     0 &amp;                           0 &amp;                          0 &amp; \mathrm{i}\delta_{\sigma-} &amp;            \delta_{\sigma+} &amp; 0 &amp; 0 &amp; 0 \\&#10;&#10;0 &amp; 0 &amp; 0 &amp; 0 &amp; 0 &amp; \delta_{\sigma_{0}\sigma_{1}}^{\sigma} &amp;                                      0 &amp;                                      0 \\&#10;0 &amp; 0 &amp; 0 &amp; 0 &amp; 0 &amp;                                      0 &amp; \delta_{\sigma_{0}\sigma_{1}}^{\sigma} &amp;                                      0 \\&#10;0 &amp; 0 &amp; 0 &amp; 0 &amp; 0 &amp;                                      0 &amp;                                      0 &amp; \delta_{\sigma_{0}\sigma_{1}}^{\sigma} \\&#10;\end{pmatrix}&#10;U^{\left(A^{\left(\sigma\right)}\right)}&#10;\end{equation*}&#10;&#10;\end{document}"/>
  <p:tag name="IGUANATEXSIZE" val="20"/>
  <p:tag name="IGUANATEXCURSOR" val="177"/>
  <p:tag name="TRANSPARENCY" val="True"/>
  <p:tag name="FILENAME" val=""/>
  <p:tag name="LATEXENGINEID" val="0"/>
  <p:tag name="TEMPFOLDER" val="c:\temp\"/>
  <p:tag name="LATEXFORMHEIGHT" val="571.5"/>
  <p:tag name="LATEXFORMWIDTH" val="1901.25"/>
  <p:tag name="LATEXFORMWRAP" val="True"/>
  <p:tag name="BITMAPVECTOR" val="0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2.7184"/>
  <p:tag name="ORIGINALWIDTH" val="652.4184"/>
  <p:tag name="OUTPUTTYPE" val="PNG"/>
  <p:tag name="IGUANATEXVERSION" val="159"/>
  <p:tag name="LATEXADDIN" val="\documentclass{article}&#10;\usepackage{amsmath,bm,eufrak}&#10;\pagestyle{empty}&#10;\begin{document}&#10;&#10;\begin{align*}&#10;\delta_{s}^{\sigma}  &amp; = \frac{1 + \sigma s}{2} \\&#10;\end{align*}&#10;&#10;\end{document}"/>
  <p:tag name="IGUANATEXSIZE" val="16"/>
  <p:tag name="IGUANATEXCURSOR" val="149"/>
  <p:tag name="TRANSPARENCY" val="True"/>
  <p:tag name="FILENAME" val=""/>
  <p:tag name="LATEXENGINEID" val="0"/>
  <p:tag name="TEMPFOLDER" val="C:\iguanatex\"/>
  <p:tag name="LATEXFORMHEIGHT" val="624"/>
  <p:tag name="LATEXFORMWIDTH" val="1913.25"/>
  <p:tag name="LATEXFORMWRAP" val="True"/>
  <p:tag name="BITMAPVECTOR" val="0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69.591"/>
  <p:tag name="ORIGINALWIDTH" val="4166.479"/>
  <p:tag name="LATEXADDIN" val="\documentclass{article}&#10;\usepackage{amsmath,bm,eufrak}&#10;\pagestyle{empty}&#10;\begin{document}&#10;&#10;\begin{equation*}&#10;V_{\perp}^{\left(A^{\left(\sigma\right)}\right)(\mathcal{W})_{01}}&#10;=&#10;\begin{pmatrix}&#10;2\delta_{\sigma_{0}\sigma_{1}}^{\sigma} &amp;                              0 &amp;                              0 &amp;                              0 &amp;                                0 &amp; 0 &amp; 0 &amp; 0 \\&#10;                                      0 &amp;            \phi_{+}^{(\sigma)} &amp;  \mathrm{i}\phi_{-}^{(\sigma)} &amp;                              0 &amp;                                0 &amp; 0 &amp; 0 &amp; 0 \\&#10;                                      0 &amp; -\mathrm{i}\phi_{-}^{(\sigma)} &amp;            \phi_{+}^{(\sigma)} &amp;                              0 &amp;                                0 &amp; 0 &amp; 0 &amp; 0 \\&#10;                                      0 &amp;                              0 &amp;                              0 &amp;           \phi_{+}^{(\sigma)*} &amp;  -\mathrm{i}\phi_{-}^{(\sigma)*} &amp; 0 &amp; 0 &amp; 0 \\&#10;                                      0 &amp;                              0 &amp;                              0 &amp; \mathrm{i}\phi_{-}^{(\sigma)*} &amp;             \phi_{s}^{(\sigma)*} &amp; 0 &amp; 0 &amp; 0 \\&#10;&#10;0 &amp; 0 &amp; 0 &amp; 0 &amp; 0 &amp; 0 &amp; 0 &amp; 0 \\&#10;0 &amp; 0 &amp; 0 &amp; 0 &amp; 0 &amp; 0 &amp; 0 &amp; 0 \\&#10;0 &amp; 0 &amp; 0 &amp; 0 &amp; 0 &amp; 0 &amp; 0 &amp; 0 \\&#10;\end{pmatrix}&#10;U^{\left(A^{\left(\sigma\right)}\right)}&#10;\end{equation*}&#10;&#10;\end{document}"/>
  <p:tag name="IGUANATEXSIZE" val="20"/>
  <p:tag name="IGUANATEXCURSOR" val="173"/>
  <p:tag name="TRANSPARENCY" val="True"/>
  <p:tag name="FILENAME" val=""/>
  <p:tag name="LATEXENGINEID" val="0"/>
  <p:tag name="TEMPFOLDER" val="c:\temp\"/>
  <p:tag name="LATEXFORMHEIGHT" val="624"/>
  <p:tag name="LATEXFORMWIDTH" val="1568.25"/>
  <p:tag name="LATEXFORMWRAP" val="True"/>
  <p:tag name="BITMAPVECTOR" val="0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1.4248"/>
  <p:tag name="ORIGINALWIDTH" val="2611.924"/>
  <p:tag name="OUTPUTTYPE" val="PNG"/>
  <p:tag name="IGUANATEXVERSION" val="159"/>
  <p:tag name="LATEXADDIN" val="\documentclass{article}&#10;\usepackage{amsmath,bm,eufrak}&#10;\pagestyle{empty}&#10;\begin{document}&#10;&#10;\begin{align*}&#10;\delta_{s}^{\sigma}  &amp; = \frac{1 + \sigma s}{2} \\&#10;                   \phi_{s}^{(\sigma)}  &amp; = \tau^{2} + \sigma s\tau = -\left(\frac{1+\sigma s}{2}\right) -\mathrm{i}\sqrt{3}\left(\frac{1-\sigma s}{2}\right) \\&#10;\end{align*}&#10;&#10;\end{document}"/>
  <p:tag name="IGUANATEXSIZE" val="16"/>
  <p:tag name="IGUANATEXCURSOR" val="149"/>
  <p:tag name="TRANSPARENCY" val="True"/>
  <p:tag name="FILENAME" val=""/>
  <p:tag name="LATEXENGINEID" val="0"/>
  <p:tag name="TEMPFOLDER" val="C:\iguanatex\"/>
  <p:tag name="LATEXFORMHEIGHT" val="624"/>
  <p:tag name="LATEXFORMWIDTH" val="1913.25"/>
  <p:tag name="LATEXFORMWRAP" val="True"/>
  <p:tag name="BITMAPVECTOR" val="0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95.351"/>
  <p:tag name="ORIGINALWIDTH" val="7136.858"/>
  <p:tag name="LATEXADDIN" val="\documentclass{article}&#10;\usepackage{amsmath,bm,eufrak}&#10;\pagestyle{empty}&#10;\begin{document}&#10;&#10;\begin{equation*}&#10;V_{\parallel}^{\left(T^{\left(\sigma\right)}\right)(\mathcal{W})_{01}}&#10;=&#10;\frac{1}{\sqrt{3}}&#10;\begin{pmatrix}&#10;0 &amp; 0 &amp; 0 &amp; 0 &amp; 0 &amp;           \delta_{\sigma_{0}\sigma_{1}}^{\sigma}U_{(x)} &amp;          \delta_{\sigma_{0}\sigma_{1}}^{\sigma}U_{(y)} &amp;   \delta_{\sigma_{0}\sigma_{1}}^{\sigma}U_{(z)} \\&#10;0 &amp; 0 &amp; 0 &amp; 0 &amp; 0 &amp;            \delta_{+\sigma_{1}}^{\sigma}\tau^{2}U_{(x)} &amp;              \delta_{+\sigma_{1}}^{\sigma}\tau U_{(y)} &amp;            \delta_{+\sigma_{1}}^{\sigma}U_{(z)} \\&#10;0 &amp; 0 &amp; 0 &amp; 0 &amp; 0 &amp; -\mathrm{i}\delta_{-\sigma_{1}}^{\sigma}\tau^{2}U_{(x)} &amp;   -\mathrm{i}\delta_{-\sigma_{1}}^{\sigma}\tau U_{(y)} &amp; -\mathrm{i}\delta_{-\sigma_{1}}^{\sigma}U_{(z)} \\&#10;0 &amp; 0 &amp; 0 &amp; 0 &amp; 0 &amp;               \delta_{+\sigma_{1}}^{\sigma}\tau U_{(x)} &amp;           \delta_{+\sigma_{1}}^{\sigma}\tau^{2}U_{(y)} &amp;            \delta_{+\sigma_{1}}^{\sigma}U_{(z)} \\&#10;0 &amp; 0 &amp; 0 &amp; 0 &amp; 0 &amp;     \mathrm{i}\delta_{-\sigma_{1}}^{\sigma}\tau U_{(x)} &amp; \mathrm{i}\delta_{-\sigma_{1}}^{\sigma}\tau^{2}U_{(y)} &amp;  \mathrm{i}\delta_{-\sigma_{1}}^{\sigma}U_{(z)} \\&#10;&#10;\delta_{\sigma_{0}\sigma_{1}}^{\sigma}U_{(x)} &amp;    \delta_{\sigma_{0}+}^{\sigma}\tau U_{(x)} &amp;    \mathrm{i}\delta_{\sigma_{0}-}^{\sigma}\tau U_{(x)} &amp; \delta_{\sigma_{0}+}^{\sigma}\tau^{2}U_{(x)} &amp; -\mathrm{i}\delta_{\sigma_{0}-}^{\sigma}\tau^{2}U_{(x)} &amp; 0 &amp; 0 &amp; 0 \\&#10;\delta_{\sigma_{0}\sigma_{1}}^{\sigma}U_{(y)} &amp; \delta_{\sigma_{0}+}^{\sigma}\tau^{2}U_{(y)} &amp; \mathrm{i}\delta_{\sigma_{0}-}^{\sigma}\tau^{2}U_{(y)} &amp;    \delta_{\sigma_{0}+}^{\sigma}\tau U_{(y)} &amp;    -\mathrm{i}\delta_{\sigma_{0}-}^{\sigma}\tau U_{(y)} &amp; 0 &amp; 0 &amp; 0 \\&#10;\delta_{\sigma_{0}\sigma_{1}}^{\sigma}U_{(z)} &amp;         \delta_{\sigma_{0}+}^{\sigma}U_{(z)} &amp;         \mathrm{i}\delta_{\sigma_{0}-}^{\sigma}U_{(z)} &amp;         \delta_{\sigma_{0}+}^{\sigma}U_{(z)} &amp;         -\mathrm{i}\delta_{\sigma_{0}-}^{\sigma}U_{(z)} &amp; 0 &amp; 0 &amp; 0 \\&#10;\end{pmatrix}&#10;\end{equation*}&#10;&#10;\end{document}"/>
  <p:tag name="IGUANATEXSIZE" val="16"/>
  <p:tag name="IGUANATEXCURSOR" val="354"/>
  <p:tag name="TRANSPARENCY" val="False"/>
  <p:tag name="FILENAME" val=""/>
  <p:tag name="LATEXENGINEID" val="0"/>
  <p:tag name="TEMPFOLDER" val="c:\temp\"/>
  <p:tag name="LATEXFORMHEIGHT" val="642.75"/>
  <p:tag name="LATEXFORMWIDTH" val="1882.5"/>
  <p:tag name="LATEXFORMWRAP" val="True"/>
  <p:tag name="BITMAPVECTOR" val="0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3.4684"/>
  <p:tag name="ORIGINALWIDTH" val="3762.28"/>
  <p:tag name="LATEXADDIN" val="\documentclass{article}&#10;\usepackage{amsmath,bm,eufrak}&#10;\pagestyle{empty}&#10;\begin{document}&#10;&#10;\begin{align*}&#10;            U_{(x)} = U_{x,3}^{\left(T^{(\sigma)}\right)} \quad\quad&#10;            U_{(y)} = U_{y,3}^{\left(T^{(\sigma)}\right)} \quad\quad&#10;            U_{(z)} = U_{z}^{\left(T^{(\sigma)}\right)}   \quad\quad&#10;\delta_{s}^{\sigma} = \frac{1 + \sigma s}{2} \\&#10;\end{align*}&#10;&#10;\end{document}"/>
  <p:tag name="IGUANATEXSIZE" val="16"/>
  <p:tag name="IGUANATEXCURSOR" val="360"/>
  <p:tag name="TRANSPARENCY" val="True"/>
  <p:tag name="FILENAME" val=""/>
  <p:tag name="LATEXENGINEID" val="0"/>
  <p:tag name="TEMPFOLDER" val="c:\temp\"/>
  <p:tag name="LATEXFORMHEIGHT" val="624"/>
  <p:tag name="LATEXFORMWIDTH" val="1096.5"/>
  <p:tag name="LATEXFORMWRAP" val="True"/>
  <p:tag name="BITMAPVECTOR" val="0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59.58"/>
  <p:tag name="ORIGINALWIDTH" val="7169.854"/>
  <p:tag name="LATEXADDIN" val="\documentclass{article}&#10;\usepackage{amsmath,bm,eufrak}&#10;\pagestyle{empty}&#10;\begin{document}&#10;&#10;\begin{equation*}&#10;V_{\perp}^{\left(T^{\left(\sigma\right)}\right)(\mathcal{W})_{01}}&#10;=&#10;\frac{1}{\sqrt{3}}&#10;\begin{pmatrix}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         2\delta_{\sigma_{0}\sigma_{1}}^{\sigma}U_{x} &amp;          2\delta_{\sigma_{0}\sigma_{1}}^{\sigma}U_{y,1} &amp;  2\delta_{\sigma_{0}\sigma_{1}}^{\sigma}U_{z,1} \\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           \tau^{2}\phi_{+\sigma_{1}}^{(\sigma)}U_{x} &amp;               \tau \phi_{+\sigma_{1}}^{(\sigma)}U_{y,1} &amp;            \phi_{+\sigma_{1}}^{(\sigma)}U_{z,1} \\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-\mathrm{i}\tau^{2}\phi_{-\sigma_{1}}^{(\sigma)}U_{x} &amp;    -\mathrm{i}\tau \phi_{-\sigma_{1}}^{(\sigma)}U_{y,1} &amp; -\mathrm{i}\phi_{-\sigma_{1}}^{(\sigma)}U_{z,1} \\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             \tau \phi_{+\sigma_{1}}^{(\sigma)*}U_{x} &amp;           \tau^{2}\phi_{+\sigma_{1}}^{(\sigma)*}U_{y,1} &amp;           \phi_{+\sigma_{1}}^{(\sigma)*}U_{z,1} \\&#10;                                             0 &amp;                                          0 &amp;                                                    0 &amp;                                             0 &amp;                                                        0 &amp;    \mathrm{i}\tau \phi_{-\sigma_{1}}^{(\sigma)*}U_{x} &amp; \mathrm{i}\tau^{2}\phi_{-\sigma_{1}}^{(\sigma)*}U_{y,1} &amp; \mathrm{i}\phi_{-\sigma_{1}}^{(\sigma)*}U_{z,1} \\&#10;2\delta_{\sigma_{0}\sigma_{1}}^{\sigma}U_{x,2} &amp;   \tau\phi_{\sigma_{0}+}^{(\sigma)}U_{x,2} &amp;   \tau\mathrm{i}\phi_{\sigma_{0}-}^{(\sigma)}U_{x,2} &amp; \tau^{2}\phi_{\sigma_{0}+}^{(\sigma)*}U_{x,2} &amp; -\mathrm{i}\tau^{2}\phi_{\sigma_{0}-}^{(\sigma)*}U_{x,2} &amp;                                                     0 &amp;                         \sigma\sigma_{0}\sigma_{1}U_{z} &amp;                                         U_{y,3} \\&#10;  2\delta_{\sigma_{0}\sigma_{1}}^{\sigma}U_{y} &amp; \tau^{2}\phi_{\sigma_{0}+}^{(\sigma)}U_{y} &amp; \tau^{2}\mathrm{i}\phi_{\sigma_{0}-}^{(\sigma)}U_{y} &amp;       \tau\phi_{\sigma_{0}+}^{(\sigma)*}U_{y} &amp;       -\mathrm{i}\tau\phi_{\sigma_{0}-}^{(\sigma)*}U_{y} &amp;                                                 U_{z} &amp;                                                       0 &amp;               \sigma\sigma_{0}\sigma_{1}U_{x,3} \\&#10;2\delta_{\sigma_{0}\sigma_{1}}^{\sigma}U_{z,2} &amp;       \phi_{\sigma_{0}+}^{(\sigma)}U_{z,2} &amp;       \mathrm{i}\phi_{\sigma_{0}-}^{(\sigma)}U_{z,2} &amp;         \phi_{\sigma_{0}+}^{(\sigma)*}U_{z,2} &amp;         -\mathrm{i}\phi_{\sigma_{0}-}^{(\sigma)*}U_{z,2} &amp;                     \sigma\sigma_{0}\sigma_{1}U_{y,3} &amp;                                               U_{x,3} &amp;                                                 0 \\&#10;\end{pmatrix}&#10;\end{equation*}&#10;&#10;\end{document}"/>
  <p:tag name="IGUANATEXSIZE" val="16"/>
  <p:tag name="IGUANATEXCURSOR" val="174"/>
  <p:tag name="TRANSPARENCY" val="True"/>
  <p:tag name="FILENAME" val=""/>
  <p:tag name="LATEXENGINEID" val="0"/>
  <p:tag name="TEMPFOLDER" val="c:\temp\"/>
  <p:tag name="LATEXFORMHEIGHT" val="624"/>
  <p:tag name="LATEXFORMWIDTH" val="1401"/>
  <p:tag name="LATEXFORMWRAP" val="False"/>
  <p:tag name="BITMAPVECTOR" val="0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1.4248"/>
  <p:tag name="ORIGINALWIDTH" val="2611.924"/>
  <p:tag name="LATEXADDIN" val="\documentclass{article}&#10;\usepackage{amsmath,bm,eufrak}&#10;\pagestyle{empty}&#10;\begin{document}&#10;&#10;\begin{align*}&#10;\delta_{s}^{\sigma} &amp; = \frac{1 + \sigma s}{2} \\&#10;\phi_{s}^{(\sigma)} &amp; = \tau^{2} + \sigma s\tau = -\left(\frac{1+\sigma s}{2}\right) -\mathrm{i}\sqrt{3}\left(\frac{1-\sigma s}{2}\right) \\&#10;\end{align*}&#10;&#10;\end{document}"/>
  <p:tag name="IGUANATEXSIZE" val="16"/>
  <p:tag name="IGUANATEXCURSOR" val="105"/>
  <p:tag name="TRANSPARENCY" val="True"/>
  <p:tag name="FILENAME" val=""/>
  <p:tag name="LATEXENGINEID" val="0"/>
  <p:tag name="TEMPFOLDER" val="c:\temp\"/>
  <p:tag name="LATEXFORMHEIGHT" val="624"/>
  <p:tag name="LATEXFORMWIDTH" val="1913.25"/>
  <p:tag name="LATEXFORMWRAP" val="True"/>
  <p:tag name="BITMAPVECTOR" val="0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95.351"/>
  <p:tag name="ORIGINALWIDTH" val="5144.357"/>
  <p:tag name="LATEXADDIN" val="\documentclass{article}&#10;\usepackage{amsmath,bm,eufrak}&#10;\pagestyle{empty}&#10;\begin{document}&#10;&#10;\begin{equation*}&#10;V_{\parallel}^{\left(E\right)(\mathcal{W})_{01}}&#10;=&#10;\begin{pmatrix}&#10;0                           &amp; W_{2\sigma_{0}+}  &amp; \mathrm{i}W_{2\sigma_{0}-} &amp; W_{1\sigma_{0}+}            &amp; -\mathrm{i}W_{1\sigma_{0}-} &amp; 0 &amp; 0 &amp; 0 \\&#10;W_{1+\sigma_{1}}            &amp; 0                 &amp; 0                          &amp; W_{2++}                     &amp; -\mathrm{i}W_{2+-} &amp; 0 &amp; 0 &amp; 0 \\&#10;-\mathrm{i}W_{1-\sigma_{1}} &amp; 0                 &amp; 0                          &amp; -\mathrm{i}W_{2-+}          &amp; -W_{2--}           &amp; 0 &amp; 0 &amp; 0 \\&#10;W_{2+\sigma_{1}}            &amp; W_{1++}           &amp; \mathrm{i}W_{1+-}          &amp; 0                           &amp; 0                  &amp; 0 &amp; 0 &amp; 0 \\&#10;\mathrm{i}W_{2-\sigma_{1}}  &amp; \mathrm{i}W_{1-+} &amp; -W_{1--}                   &amp; 0                           &amp; 0                  &amp; 0 &amp; 0 &amp; 0 \\&#10;&#10;0 &amp; 0 &amp; 0 &amp; 0 &amp; 0 &amp; W_{x\sigma_{0}\sigma_{1}} &amp;                         0 &amp; 0                         \\&#10;0 &amp; 0 &amp; 0 &amp; 0 &amp; 0 &amp;                         0 &amp; W_{y\sigma_{0}\sigma_{1}} &amp; 0                         \\&#10;0 &amp; 0 &amp; 0 &amp; 0 &amp; 0 &amp;                         0 &amp;                         0 &amp; W_{z\sigma_{0}\sigma_{1}} \\&#10;\end{pmatrix}&#10;\end{equation*}&#10;&#10;\end{document}"/>
  <p:tag name="IGUANATEXSIZE" val="20"/>
  <p:tag name="IGUANATEXCURSOR" val="156"/>
  <p:tag name="TRANSPARENCY" val="True"/>
  <p:tag name="FILENAME" val=""/>
  <p:tag name="LATEXENGINEID" val="0"/>
  <p:tag name="TEMPFOLDER" val="c:\temp\"/>
  <p:tag name="LATEXFORMHEIGHT" val="642.75"/>
  <p:tag name="LATEXFORMWIDTH" val="1882.5"/>
  <p:tag name="LATEXFORMWRAP" val="True"/>
  <p:tag name="BITMAPVECTOR" val="0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8.6802"/>
  <p:tag name="ORIGINALWIDTH" val="1347.582"/>
  <p:tag name="OUTPUTTYPE" val="PNG"/>
  <p:tag name="IGUANATEXVERSION" val="159"/>
  <p:tag name="LATEXADDIN" val="\documentclass{article}&#10;\usepackage{amsmath,bm,eufrak}&#10;\pagestyle{empty}&#10;\begin{document}&#10;&#10;\begin{align*}&#10;W_{1\sigma_{0}\sigma_{1}} &amp; = \frac{ U_{11} + \sigma_{0}\sigma_{1}U_{21} }{ 2 } \\&#10;W_{2\sigma_{0}\sigma_{1}} &amp; = \frac{ U_{22} + \sigma_{0}\sigma_{1}U_{12} }{ 2 } \\&#10;\end{align*}&#10;&#10;\end{document}"/>
  <p:tag name="IGUANATEXSIZE" val="16"/>
  <p:tag name="IGUANATEXCURSOR" val="268"/>
  <p:tag name="TRANSPARENCY" val="True"/>
  <p:tag name="FILENAME" val=""/>
  <p:tag name="LATEXENGINEID" val="0"/>
  <p:tag name="TEMPFOLDER" val="C:\iguanatex\"/>
  <p:tag name="LATEXFORMHEIGHT" val="624"/>
  <p:tag name="LATEXFORMWIDTH" val="1096.5"/>
  <p:tag name="LATEXFORMWRAP" val="True"/>
  <p:tag name="BITMAPVECTOR" val="0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30.9336"/>
  <p:tag name="ORIGINALWIDTH" val="1649.044"/>
  <p:tag name="OUTPUTTYPE" val="PNG"/>
  <p:tag name="IGUANATEXVERSION" val="159"/>
  <p:tag name="LATEXADDIN" val="\documentclass{article}&#10;\usepackage{amsmath,bm,eufrak}&#10;\pagestyle{empty}&#10;\begin{document}&#10;&#10;\begin{align*}&#10;W_{x\sigma_{0}\sigma_{1}} &amp; = \tau W_{1\sigma_{0}\sigma_{1}} + \tau^{2}W_{2\sigma_{0}\sigma_{1}} \\&#10;W_{y\sigma_{0}\sigma_{1}} &amp; = \tau^{2}W_{1\sigma_{0}\sigma_{1}} + \tau W_{2\sigma_{0}\sigma_{1}} \\&#10;W_{z\sigma_{0}\sigma_{1}} &amp; = W_{1\sigma_{0}\sigma_{1}} + W_{2\sigma_{0}\sigma_{1}}              \\&#10;\end{align*}&#10;&#10;\end{document}"/>
  <p:tag name="IGUANATEXSIZE" val="16"/>
  <p:tag name="IGUANATEXCURSOR" val="405"/>
  <p:tag name="TRANSPARENCY" val="True"/>
  <p:tag name="FILENAME" val=""/>
  <p:tag name="LATEXENGINEID" val="0"/>
  <p:tag name="TEMPFOLDER" val="C:\iguanatex\"/>
  <p:tag name="LATEXFORMHEIGHT" val="624"/>
  <p:tag name="LATEXFORMWIDTH" val="1096.5"/>
  <p:tag name="LATEXFORMWRAP" val="True"/>
  <p:tag name="BITMAPVECTOR" val="0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95.351"/>
  <p:tag name="ORIGINALWIDTH" val="4409.449"/>
  <p:tag name="LATEXADDIN" val="\documentclass{article}&#10;\usepackage{amsmath,bm,eufrak}&#10;\pagestyle{empty}&#10;\begin{document}&#10;&#10;\begin{equation*}&#10;V_{\perp}^{\left(E\right)(\mathcal{W})_{01}}&#10;=&#10;\begin{pmatrix}&#10;                          0 &amp;  -W_{2\sigma_{0}+} &amp; -\mathrm{i}W_{2\sigma_{0}-} &amp;   -W_{1\sigma_{0}+} &amp; \mathrm{i}W_{1\sigma_{0}-} &amp; 0 &amp; 0 &amp; 0 \\&#10;          -W_{1+\sigma_{1}} &amp;                  0 &amp;                           0 &amp;            2W_{2++} &amp;        -2\mathrm{i}W_{2+-} &amp; 0 &amp; 0 &amp; 0 \\&#10; \mathrm{i}W_{1-\sigma_{1}} &amp;                  0 &amp;                           0 &amp; -2\mathrm{i}W_{2+-} &amp;                  -2W_{2--} &amp; 0 &amp; 0 &amp; 0 \\&#10;          -W_{2+\sigma_{1}} &amp;           2W_{1++} &amp;          2\mathrm{i}W_{1+-} &amp;                   0 &amp;                          0 &amp; 0 &amp; 0 &amp; 0 \\&#10;-\mathrm{i}W_{2-\sigma_{1}} &amp; 2\mathrm{i}W_{1-+} &amp;                   -2W_{1--} &amp;                   0 &amp;                          0 &amp; 0 &amp; 0 &amp; 0 \\&#10;                          0 &amp;                  0 &amp;                           0 &amp;                   0 &amp;                          0 &amp; 0 &amp; 0 &amp; 0 \\&#10;                          0 &amp;                  0 &amp;                           0 &amp;                   0 &amp;                          0 &amp; 0 &amp; 0 &amp; 0 \\&#10;                          0 &amp;                  0 &amp;                           0 &amp;                   0 &amp;                          0 &amp; 0 &amp; 0 &amp; 0 \\&#10;\end{pmatrix}&#10;\end{equation*}&#10;&#10;\end{document}"/>
  <p:tag name="IGUANATEXSIZE" val="20"/>
  <p:tag name="IGUANATEXCURSOR" val="152"/>
  <p:tag name="TRANSPARENCY" val="True"/>
  <p:tag name="FILENAME" val=""/>
  <p:tag name="LATEXENGINEID" val="0"/>
  <p:tag name="TEMPFOLDER" val="c:\temp\"/>
  <p:tag name="LATEXFORMHEIGHT" val="624"/>
  <p:tag name="LATEXFORMWIDTH" val="1921.5"/>
  <p:tag name="LATEXFORMWRAP" val="True"/>
  <p:tag name="BITMAPVECTOR" val="0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8.6802"/>
  <p:tag name="ORIGINALWIDTH" val="1347.582"/>
  <p:tag name="OUTPUTTYPE" val="PNG"/>
  <p:tag name="IGUANATEXVERSION" val="159"/>
  <p:tag name="LATEXADDIN" val="\documentclass{article}&#10;\usepackage{amsmath,bm,eufrak}&#10;\pagestyle{empty}&#10;\begin{document}&#10;&#10;\begin{align*}&#10;W_{1\sigma_{0}\sigma_{1}} &amp; = \frac{ U_{11} + \sigma_{0}\sigma_{1}U_{21} }{ 2 } \\&#10;W_{2\sigma_{0}\sigma_{1}} &amp; = \frac{ U_{22} + \sigma_{0}\sigma_{1}U_{12} }{ 2 } \\&#10;\end{align*}&#10;&#10;\end{document}"/>
  <p:tag name="IGUANATEXSIZE" val="16"/>
  <p:tag name="IGUANATEXCURSOR" val="268"/>
  <p:tag name="TRANSPARENCY" val="True"/>
  <p:tag name="FILENAME" val=""/>
  <p:tag name="LATEXENGINEID" val="0"/>
  <p:tag name="TEMPFOLDER" val="C:\iguanatex\"/>
  <p:tag name="LATEXFORMHEIGHT" val="624"/>
  <p:tag name="LATEXFORMWIDTH" val="1096.5"/>
  <p:tag name="LATEXFORMWRAP" val="True"/>
  <p:tag name="BITMAPVECTOR" val="0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7.4428"/>
  <p:tag name="ORIGINALWIDTH" val="2467.941"/>
  <p:tag name="LATEXADDIN" val="\documentclass{article}&#10;\usepackage{amsmath,bm,eufrak}&#10;\pagestyle{empty}&#10;\begin{document}&#10;&#10;\begin{align*}&#10;(\bm{\mathcal{M}})^{(j)}_{\parallel(mlk\mathcal{W})_{01}}&#10;&amp; =&#10;\left(\bm{\mathcal{M}}\right)&#10;^{(j)(\mathcal{W})_{01}(zz)(\pi/2)}&#10;_{\parallel,\left(m\left(\sigma\mathrm{i}^{m}\right)lk\left(\omega\sigma\mathrm{i}^{m}(-1)^{l}\right)\right)_{01}}&#10;\\&#10;(\bm{\mathcal{M}})^{(j)}_{\perp(mlk\mathcal{W})_{01}}&#10;&amp; =&#10;\left(\bm{\mathcal{M}}\right)&#10;^{(j)(\mathcal{W})_{01}(yx)(\pi)}&#10;_{\perp,\left(m\left(\sigma\mathrm{i}^{m}\right)lk\left(\omega\sigma\mathrm{i}^{m}(-1)^{l}\right)\right)_{01}}&#10;\\&#10;\end{align*}&#10;&#10;\end{document}"/>
  <p:tag name="IGUANATEXSIZE" val="18"/>
  <p:tag name="IGUANATEXCURSOR" val="375"/>
  <p:tag name="TRANSPARENCY" val="True"/>
  <p:tag name="FILENAME" val=""/>
  <p:tag name="LATEXENGINEID" val="0"/>
  <p:tag name="TEMPFOLDER" val="c:\temp\"/>
  <p:tag name="LATEXFORMHEIGHT" val="571.5"/>
  <p:tag name="LATEXFORMWIDTH" val="938"/>
  <p:tag name="LATEXFORMWRAP" val="True"/>
  <p:tag name="BITMAPVECTOR" val="0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1.7248"/>
  <p:tag name="ORIGINALWIDTH" val="2047.994"/>
  <p:tag name="LATEXADDIN" val="\documentclass{article}&#10;\usepackage{amsmath,bm,eufrak}&#10;\pagestyle{empty}&#10;\begin{document}&#10;&#10;\begin{align*}&#10;(\bm{\mathcal{M}})&#10;_{\left(mlk\mathcal{W}\right)_{01}}^{(j)}&#10;&amp; =&#10;(\bm{\mathcal{M}}_{\parallel}+\bm{\mathcal{M}}_{\perp})^{(j)}_{(mlk\mathcal{W})_{01}}&#10;\\&#10;\end{align*}&#10;&#10;\end{document}"/>
  <p:tag name="IGUANATEXSIZE" val="18"/>
  <p:tag name="IGUANATEXCURSOR" val="127"/>
  <p:tag name="TRANSPARENCY" val="True"/>
  <p:tag name="FILENAME" val=""/>
  <p:tag name="LATEXENGINEID" val="0"/>
  <p:tag name="TEMPFOLDER" val="c:\temp\"/>
  <p:tag name="LATEXFORMHEIGHT" val="571.5"/>
  <p:tag name="LATEXFORMWIDTH" val="1002.75"/>
  <p:tag name="LATEXFORMWRAP" val="True"/>
  <p:tag name="BITMAPVECTOR" val="0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81.1773"/>
  <p:tag name="ORIGINALWIDTH" val="3902.512"/>
  <p:tag name="LATEXADDIN" val="\documentclass{article}&#10;\usepackage{amsmath,bm,eufrak}&#10;\pagestyle{empty}&#10;\begin{document}&#10;&#10;\begin{align*}&#10;(\bm{\mathcal{M}})_{\parallel(mlk\mathcal{W})_{0}(mhlkT_{q}^{\sigma})_{1}}^{(j)}&#10;&amp; =&#10;-\mathrm{i}\sqrt{2}h_{1}\sigma_{1}\left(-1\right)^{\frac{m_{1}-1}{2}}&#10;\bm{\mathcal{M}}^{(j)(y,+x)}_{\parallel,(zxy)(mlk\mathcal{W})_{0}(mhlkT_{q}^{\sigma})_{1}}&#10;\\&#10;(\bm{\mathcal{M}})_{\perp(mlk\mathcal{W})_{0}(mhlkT_{q}^{\sigma})_{1}}^{(j)}&#10;&amp; =&#10;\frac{1}{\sqrt{2}}&#10;\left(&#10;\bm{\mathcal{M}}^{(z,-z)}_{(yzx)}&#10;+&#10;\bm{\mathcal{M}}^{(y,-x)}_{(yzx)}&#10;\right)_{\perp(mlk\mathcal{W})_{0}(mhlkT_{q}^{\sigma})_{1}}^{(j)}&#10;\\&#10;\end{align*}&#10;&#10;\end{document}"/>
  <p:tag name="IGUANATEXSIZE" val="18"/>
  <p:tag name="IGUANATEXCURSOR" val="595"/>
  <p:tag name="TRANSPARENCY" val="True"/>
  <p:tag name="FILENAME" val=""/>
  <p:tag name="LATEXENGINEID" val="0"/>
  <p:tag name="TEMPFOLDER" val="c:\temp\"/>
  <p:tag name="LATEXFORMHEIGHT" val="571.5"/>
  <p:tag name="LATEXFORMWIDTH" val="938"/>
  <p:tag name="LATEXFORMWRAP" val="True"/>
  <p:tag name="BITMAPVECTOR" val="0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7.4691"/>
  <p:tag name="ORIGINALWIDTH" val="3963.254"/>
  <p:tag name="LATEXADDIN" val="\documentclass{article}&#10;\usepackage{amsmath,bm,eufrak}&#10;\pagestyle{empty}&#10;\begin{document}&#10;&#10;\begin{align*}&#10;\left(\bm{\mathcal{M}}\right)^{(j)(p_{0},s_{1}p_{1})}&#10;_{\aleph,\hat{R}(mlk\mathcal{W})_{0}(mhlkT_{q}^{\sigma})_{1}}&#10;&amp; =&#10;\left(\bm{\mathcal{M}}\right)&#10;^{(j)(\mathcal{W}_{0}T_{q_{1}}^{\sigma_{1}})(p_{0}p_{1})(\pi)}&#10;_{&#10;\aleph,\hat{R}&#10;\left(m\left(\sigma\mathrm{i}^{m}\right)lk\left(\omega\sigma\mathrm{i}^{m}(-1)^{l}\right)\right)_{0}&#10;\left(m\left(-sh\right)lk\left(h(-1)^{l}\right)\right)_{1}&#10;}&#10;\end{align*}&#10;&#10;\end{document}"/>
  <p:tag name="IGUANATEXSIZE" val="16"/>
  <p:tag name="IGUANATEXCURSOR" val="498"/>
  <p:tag name="TRANSPARENCY" val="True"/>
  <p:tag name="FILENAME" val=""/>
  <p:tag name="LATEXENGINEID" val="0"/>
  <p:tag name="TEMPFOLDER" val="c:\temp\"/>
  <p:tag name="LATEXFORMHEIGHT" val="571.5"/>
  <p:tag name="LATEXFORMWIDTH" val="938"/>
  <p:tag name="LATEXFORMWRAP" val="True"/>
  <p:tag name="BITMAPVECTOR" val="0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0.9636"/>
  <p:tag name="ORIGINALWIDTH" val="3824.522"/>
  <p:tag name="OUTPUTTYPE" val="PNG"/>
  <p:tag name="IGUANATEXVERSION" val="159"/>
  <p:tag name="LATEXADDIN" val="\documentclass{article}&#10;\usepackage{amsmath,bm,eufrak}&#10;\pagestyle{empty}&#10;\begin{document}&#10;&#10;\begin{align*}&#10;(\bm{\mathcal{M}})_{\perp(mlk\mathcal{W})_{0}(mhlkT_{q}^{\sigma})_{1}}^{(j)}&#10;&amp; =&#10;\frac{1}{\sqrt{2}}&#10;\left(&#10;\bm{\mathcal{M}}^{(z,-z)}_{(yzx)}&#10;+&#10;\bm{\mathcal{M}}^{(y,-x)}_{(yzx)}&#10;\right)_{\perp(mlk\mathcal{W})_{0}(mhlkT_{q}^{\sigma})_{1}}&#10;\\&#10;\end{align*}&#10;&#10;\end{document}"/>
  <p:tag name="IGUANATEXSIZE" val="18"/>
  <p:tag name="IGUANATEXCURSOR" val="281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0.9299"/>
  <p:tag name="ORIGINALWIDTH" val="4625.422"/>
  <p:tag name="OUTPUTTYPE" val="PNG"/>
  <p:tag name="IGUANATEXVERSION" val="159"/>
  <p:tag name="LATEXADDIN" val="\documentclass{article}&#10;\usepackage{amsmath,bm,eufrak}&#10;\pagestyle{empty}&#10;\begin{document}&#10;&#10;\begin{align*}&#10;(\bm{\mathcal{M}})_{\parallel(mhlkT_{q}^{\sigma})_{0}(mlk\mathcal{W})_{1}}^{(j)}&#10;&amp; =&#10;\sqrt{2}&#10;\bm{\mathcal{M}}_{\parallel,(yzx)(mhlkT_{q}^{\sigma})_{0}(mlk\mathcal{W})_{1}}^{(j)(-y,x)} &#10;\\&#10;(\bm{\mathcal{M}})_{\perp(mhlkT_{q}^{\sigma})_{0}(mlk\mathcal{W})_{1}}^{(j)}&#10;&amp; =&#10;\frac{\mathrm{i}}{\sqrt{2}}&#10;h_{0}\sigma_{0}\left(-1\right)^{\frac{m_{0}-1}{2}}&#10;\left(&#10;\bm{\mathcal{M}}^{(-z,z)}_{(zxy)}&#10;+&#10;\bm{\mathcal{M}}^{(+y,x)}_{(zxy)}&#10;\right)_{\perp(mhlkT_{q}^{\sigma})_{0}(mlk\mathcal{W})_{1}}^{(j)}&#10;\\&#10;\end{align*}&#10;&#10;\end{document}"/>
  <p:tag name="IGUANATEXSIZE" val="18"/>
  <p:tag name="IGUANATEXCURSOR" val="530"/>
  <p:tag name="TRANSPARENCY" val="True"/>
  <p:tag name="FILENAME" val=""/>
  <p:tag name="LATEXENGINEID" val="0"/>
  <p:tag name="TEMPFOLDER" val="C:\iguanatex\"/>
  <p:tag name="LATEXFORMHEIGHT" val="571.5"/>
  <p:tag name="LATEXFORMWIDTH" val="938"/>
  <p:tag name="LATEXFORMWRAP" val="True"/>
  <p:tag name="BITMAPVECTOR" val="0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0.2175"/>
  <p:tag name="ORIGINALWIDTH" val="4001.5"/>
  <p:tag name="LATEXADDIN" val="\documentclass{article}&#10;\usepackage{amsmath,bm,eufrak}&#10;\pagestyle{empty}&#10;\begin{document}&#10;&#10;\begin{align*}&#10;(\bm{\mathcal{M}})_{\aleph,\hat{R}(mhlkT_{q}^{\sigma})_{0}(mlk\mathcal{W})_{1}}^{(j)(s_{0}p_{0},p_{1})} &#10;&amp; =&#10;\left(\bm{\mathcal{M}}\right)&#10;^{(j)(T_{q_{0}}^{\sigma_{0}}\mathcal{W}_{1})(p_{0}p_{1})(\pi)}&#10;_{&#10;\aleph,\hat{R}&#10;\left(m\left(-sh\right)lk\left(h\left(-1\right)^{l}\right)\right)_{0}&#10;\left(m\left(\sigma\mathrm{i}^{m}\right)lk\left(\omega\sigma\mathrm{i}^{m}(-1)^{l}\right)\right)_{1}}&#10;\end{align*}&#10;&#10;\end{document}"/>
  <p:tag name="IGUANATEXSIZE" val="16"/>
  <p:tag name="IGUANATEXCURSOR" val="132"/>
  <p:tag name="TRANSPARENCY" val="True"/>
  <p:tag name="FILENAME" val=""/>
  <p:tag name="LATEXENGINEID" val="0"/>
  <p:tag name="TEMPFOLDER" val="c:\temp\"/>
  <p:tag name="LATEXFORMHEIGHT" val="571.5"/>
  <p:tag name="LATEXFORMWIDTH" val="938"/>
  <p:tag name="LATEXFORMWRAP" val="True"/>
  <p:tag name="BITMAPVECTOR" val="0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3.4646"/>
  <p:tag name="ORIGINALWIDTH" val="2569.929"/>
  <p:tag name="LATEXADDIN" val="\documentclass{article}&#10;\usepackage{amsmath,bm,eufrak}&#10;\pagestyle{empty}&#10;\begin{document}&#10;&#10;\begin{align*}&#10;\left(\bm{\mathcal{M}}\right)&#10;^{(j)(s_{0}p_{0},s_{1}p_{1})}&#10;_{\aleph,\hat{R}(mlkhT_{q}^{\sigma})_{01}}&#10;&amp; =&#10;\left(\bm{\mathcal{M}}\right)&#10;^{(j)\left(T_{q}^{\sigma}\right)_{01}(p_{0}p_{1})(\pi)}&#10;_{\aleph,\hat{R}\left(m\left(-sh\right)lk\left(h\left(-1\right)^{l}\right)\right)_{01}}&#10;\\&#10;\end{align*}&#10;&#10;\end{document}"/>
  <p:tag name="IGUANATEXSIZE" val="16"/>
  <p:tag name="IGUANATEXCURSOR" val="389"/>
  <p:tag name="TRANSPARENCY" val="False"/>
  <p:tag name="FILENAME" val=""/>
  <p:tag name="LATEXENGINEID" val="0"/>
  <p:tag name="TEMPFOLDER" val="c:\temp\"/>
  <p:tag name="LATEXFORMHEIGHT" val="571.5"/>
  <p:tag name="LATEXFORMWIDTH" val="938"/>
  <p:tag name="LATEXFORMWRAP" val="True"/>
  <p:tag name="BITMAPVECTOR" val="0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21.4099"/>
  <p:tag name="ORIGINALWIDTH" val="7772.028"/>
  <p:tag name="OUTPUTTYPE" val="PNG"/>
  <p:tag name="IGUANATEXVERSION" val="159"/>
  <p:tag name="LATEXADDIN" val="\documentclass{article}&#10;\usepackage{amsmath,bm,eufrak}&#10;\pagestyle{empty}&#10;\begin{document}&#10;&#10;\begin{align*}&#10;(\bm{\mathcal{M}})_{\parallel\left(mhlkT_{q}^{(\sigma)}\right)_{01}}^{(j)}&#10;&amp; =&#10;\left(&#10;\bm{\mathcal{M}}^{(-z,-z)}_{(zxy)}&#10;+&#10;\mathrm{i}h_{0}\sigma_{0}\left(-1\right)^{\frac{m_{0}-1}{2}}\bm{\mathcal{M}}^{(+y,-x)}_{(xyz)}&#10;\right)&#10;_{\parallel\left(mhlkT_{q}^{(\sigma)}\right)_{01}}&#10;^{(j)}&#10;\\&#10;(\bm{\mathcal{M}})_{\perp\left(mhlkT_{q}^{(\sigma)}\right)_{01}}^{(j)}&#10;&amp; =&#10;\frac{1}{2}\left(&#10;\bm{\mathcal{M}}^{(-y,-x)}_{(zxy)}&#10;-&#10;h_{0}h_{1}\sigma_{0}\sigma_{1}&#10;\left(-1\right)^{\frac{m_{0}+m_{1}}{2}}&#10;\bm{\mathcal{M}}^{(+y,+x)}_{(yzx)}&#10;+&#10;\mathrm{i}\left(&#10;h_{0}\sigma_{0}\left(-1\right)^{\frac{m_{0}-1}{2}}\bm{\mathcal{M}}^{(+z,-z)}_{(xyz)}&#10;-&#10;h_{1}\sigma_{1}\left(-1\right)^{\frac{m_{1}-1}{2}}\bm{\mathcal{M}}^{(-y,+x)}_{(xyz)}&#10;\right)&#10;\right)&#10;_{\perp\left(mhlkT_{q}^{(\sigma)}\right)_{01}}&#10;^{(j)}&#10;\\&#10;\end{align*}&#10;&#10;\end{document}"/>
  <p:tag name="IGUANATEXSIZE" val="14"/>
  <p:tag name="IGUANATEXCURSOR" val="731"/>
  <p:tag name="TRANSPARENCY" val="True"/>
  <p:tag name="FILENAME" val=""/>
  <p:tag name="LATEXENGINEID" val="0"/>
  <p:tag name="TEMPFOLDER" val="C:\iguanatex\"/>
  <p:tag name="LATEXFORMHEIGHT" val="571.5"/>
  <p:tag name="LATEXFORMWIDTH" val="1085.25"/>
  <p:tag name="LATEXFORMWRAP" val="True"/>
  <p:tag name="BITMAPVECTOR" val="0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8.9576"/>
  <p:tag name="ORIGINALWIDTH" val="5190.851"/>
  <p:tag name="LATEXADDIN" val="\documentclass{article}&#10;\usepackage{amsmath,bm,eufrak}&#10;\pagestyle{empty}&#10;\begin{document}&#10;&#10;\begin{align*}&#10;\left(\bm{\mathcal{M}}\right)&#10;^{(j)(\mathcal{W})_{01}(p_{0}p_{1})(\tau)}&#10;_{\aleph,\hat{R}\left(m\zeta lk\Omega\right)_{01}}&#10;&amp; =&#10;2&#10;\int_{0}^{1} \mathrm{d}\chi&#10;\int_{-\tau/2}^{+\tau/2} \frac{\mathrm{d}\phi}{\tau}&#10;\int_{0}^{\infty} r^2\mathrm{d}r\,&#10;V_{\aleph,\hat{R}}^{(j)(\mathcal{W})_{01}}\,&#10;2\pi&#10;\left(\Phi_{(m\zeta lk)_{0}}^{\left(p_{0}\right)}\right)^{*}&#10;\Phi_{(m\zeta lk)_{1}}^{\left(p_{1}\right)}&#10;\Theta_{\Omega_{0}}^{(p_{0})*}&#10;\Theta_{\Omega_{1}}^{(p_{1})}&#10;\\&#10;\end{align*}&#10;&#10;\end{document}"/>
  <p:tag name="IGUANATEXSIZE" val="18"/>
  <p:tag name="IGUANATEXCURSOR" val="169"/>
  <p:tag name="TRANSPARENCY" val="False"/>
  <p:tag name="FILENAME" val=""/>
  <p:tag name="LATEXENGINEID" val="0"/>
  <p:tag name="TEMPFOLDER" val="c:\temp\"/>
  <p:tag name="LATEXFORMHEIGHT" val="571.5"/>
  <p:tag name="LATEXFORMWIDTH" val="938"/>
  <p:tag name="LATEXFORMWRAP" val="True"/>
  <p:tag name="BITMAPVECTOR" val="0"/>
</p:tagLst>
</file>

<file path=ppt/theme/theme1.xml><?xml version="1.0" encoding="utf-8"?>
<a:theme xmlns:a="http://schemas.openxmlformats.org/drawingml/2006/main" name="UB Powerpoint Template">
  <a:themeElements>
    <a:clrScheme name="Custom 2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Custom 1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77197</TotalTime>
  <Words>441</Words>
  <Application>Microsoft Office PowerPoint</Application>
  <PresentationFormat>Widescreen</PresentationFormat>
  <Paragraphs>107</Paragraphs>
  <Slides>55</Slides>
  <Notes>43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1" baseType="lpstr">
      <vt:lpstr>Arial</vt:lpstr>
      <vt:lpstr>Calibri</vt:lpstr>
      <vt:lpstr>Georgia</vt:lpstr>
      <vt:lpstr>Gill Sans MT</vt:lpstr>
      <vt:lpstr>LucidaGrande</vt:lpstr>
      <vt:lpstr>UB Powerpoint Template</vt:lpstr>
      <vt:lpstr>Full State Description</vt:lpstr>
      <vt:lpstr>Generalized single-valley basis states</vt:lpstr>
      <vt:lpstr>Generalized single-valley basis states</vt:lpstr>
      <vt:lpstr>Symmetrized States, m even</vt:lpstr>
      <vt:lpstr>Symmetrized States, m odd</vt:lpstr>
      <vt:lpstr>Integrable Potential Forms</vt:lpstr>
      <vt:lpstr>Raw potential</vt:lpstr>
      <vt:lpstr>Filtered potential involving parallel valleys</vt:lpstr>
      <vt:lpstr>Filtered potential involving perpendicular valleys</vt:lpstr>
      <vt:lpstr>Filtered potential involving parallel valleys</vt:lpstr>
      <vt:lpstr>Inversion filtered potential involving perpendicular valleys</vt:lpstr>
      <vt:lpstr>Filtered potential involving parallel valleys</vt:lpstr>
      <vt:lpstr>Filtered potential involving perpendicular valleys</vt:lpstr>
      <vt:lpstr>GENERAL MATRIX ELEMENT FORMULA</vt:lpstr>
      <vt:lpstr>General matrix element formula</vt:lpstr>
      <vt:lpstr>Simplifying expressions using cyclic and acyclic symmetries</vt:lpstr>
      <vt:lpstr>ODD WaveFunctions</vt:lpstr>
      <vt:lpstr>ODD, ODD</vt:lpstr>
      <vt:lpstr>Filtered potential</vt:lpstr>
      <vt:lpstr>m0 odd, m1 odd – Expanding odd wavefunction</vt:lpstr>
      <vt:lpstr>m0 odd, m1 odd – Simplifying using symmetry transformations</vt:lpstr>
      <vt:lpstr>EVEN, ODD</vt:lpstr>
      <vt:lpstr>Filtered potential</vt:lpstr>
      <vt:lpstr>Filtered potential involving parallel valleys</vt:lpstr>
      <vt:lpstr>Inversion filtered potential involving perpendicular valleys</vt:lpstr>
      <vt:lpstr>m0 even, m1 odd – Expanding odd wavefunction</vt:lpstr>
      <vt:lpstr>m0 even, m1 odd – Simplifying using symmetry transformations</vt:lpstr>
      <vt:lpstr>ODD, EVEN</vt:lpstr>
      <vt:lpstr>m0 odd, m1 even – Expanding odd wavefunction</vt:lpstr>
      <vt:lpstr>m0 odd, m1 even – Simplifying using symmetry transformations</vt:lpstr>
      <vt:lpstr>SYMMETRIZED Forms</vt:lpstr>
      <vt:lpstr>m0 even, m1 even – Unreduced final form</vt:lpstr>
      <vt:lpstr>m0 even, m1 odd – Unreduced final form</vt:lpstr>
      <vt:lpstr>m0 odd, m1 even – Unreduced final form</vt:lpstr>
      <vt:lpstr>m0 odd, m1 odd – Unreduced final form</vt:lpstr>
      <vt:lpstr>INTEGRAL REDUCTION</vt:lpstr>
      <vt:lpstr>Transformed regions and associated symmetry operation</vt:lpstr>
      <vt:lpstr>m0 even, m1 even – Final form</vt:lpstr>
      <vt:lpstr>m0 even, m1 odd – Final form</vt:lpstr>
      <vt:lpstr>m0 odd, m1 even – Final form</vt:lpstr>
      <vt:lpstr>m1 odd, m2 odd – Final form</vt:lpstr>
      <vt:lpstr>GENERAL MATRIX ELEMENT DeFINITION</vt:lpstr>
      <vt:lpstr>General matrix element formula</vt:lpstr>
      <vt:lpstr>Raw potential</vt:lpstr>
      <vt:lpstr>Filtered potential involving parallel valleys</vt:lpstr>
      <vt:lpstr>Filtered potential involving perpendicular valleys</vt:lpstr>
      <vt:lpstr>Filtered potential involving parallel valleys</vt:lpstr>
      <vt:lpstr>Inversion filtered potential involving perpendicular valleys</vt:lpstr>
      <vt:lpstr>Filtered potential involving parallel valleys</vt:lpstr>
      <vt:lpstr>Filtered potential involving perpendicular valleys</vt:lpstr>
      <vt:lpstr>m0 even, m1 even – Final form</vt:lpstr>
      <vt:lpstr>m0 even, m1 odd – Final form</vt:lpstr>
      <vt:lpstr>m0 odd, m1 even – Final form</vt:lpstr>
      <vt:lpstr>m0 odd, m1 odd – Final form</vt:lpstr>
      <vt:lpstr>Base Integration Formula for Matrix Elements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Template</dc:title>
  <dc:subject/>
  <dc:creator>Microsoft Office User</dc:creator>
  <cp:keywords/>
  <dc:description/>
  <cp:lastModifiedBy>Luke Pendo</cp:lastModifiedBy>
  <cp:revision>3699</cp:revision>
  <cp:lastPrinted>2016-07-18T17:32:49Z</cp:lastPrinted>
  <dcterms:created xsi:type="dcterms:W3CDTF">2016-06-28T14:05:07Z</dcterms:created>
  <dcterms:modified xsi:type="dcterms:W3CDTF">2022-09-07T12:53:25Z</dcterms:modified>
  <cp:category/>
</cp:coreProperties>
</file>