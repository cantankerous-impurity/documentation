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0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1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3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22"/>
  </p:notesMasterIdLst>
  <p:handoutMasterIdLst>
    <p:handoutMasterId r:id="rId23"/>
  </p:handoutMasterIdLst>
  <p:sldIdLst>
    <p:sldId id="517" r:id="rId2"/>
    <p:sldId id="843" r:id="rId3"/>
    <p:sldId id="844" r:id="rId4"/>
    <p:sldId id="544" r:id="rId5"/>
    <p:sldId id="1086" r:id="rId6"/>
    <p:sldId id="878" r:id="rId7"/>
    <p:sldId id="1338" r:id="rId8"/>
    <p:sldId id="1336" r:id="rId9"/>
    <p:sldId id="1329" r:id="rId10"/>
    <p:sldId id="1337" r:id="rId11"/>
    <p:sldId id="1339" r:id="rId12"/>
    <p:sldId id="1320" r:id="rId13"/>
    <p:sldId id="1344" r:id="rId14"/>
    <p:sldId id="1322" r:id="rId15"/>
    <p:sldId id="1327" r:id="rId16"/>
    <p:sldId id="1346" r:id="rId17"/>
    <p:sldId id="1347" r:id="rId18"/>
    <p:sldId id="1348" r:id="rId19"/>
    <p:sldId id="1349" r:id="rId20"/>
    <p:sldId id="1350" r:id="rId2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93" autoAdjust="0"/>
    <p:restoredTop sz="93593" autoAdjust="0"/>
  </p:normalViewPr>
  <p:slideViewPr>
    <p:cSldViewPr snapToGrid="0" snapToObjects="1">
      <p:cViewPr varScale="1">
        <p:scale>
          <a:sx n="168" d="100"/>
          <a:sy n="168" d="100"/>
        </p:scale>
        <p:origin x="426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3/26/2023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3/26/2023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00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61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477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16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82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45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263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09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1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80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61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7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62279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8622792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48563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8485632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75120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75120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75120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75120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Calibri" panose="020F0502020204030204" pitchFamily="34" charset="0"/>
              <a:ea typeface="Georgia" charset="0"/>
              <a:cs typeface="Calibri" panose="020F0502020204030204" pitchFamily="34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4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13.png"/><Relationship Id="rId2" Type="http://schemas.openxmlformats.org/officeDocument/2006/relationships/tags" Target="../tags/tag5.xml"/><Relationship Id="rId16" Type="http://schemas.openxmlformats.org/officeDocument/2006/relationships/image" Target="../media/image17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2.png"/><Relationship Id="rId5" Type="http://schemas.openxmlformats.org/officeDocument/2006/relationships/tags" Target="../tags/tag8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tags" Target="../tags/tag7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6.xml"/><Relationship Id="rId7" Type="http://schemas.openxmlformats.org/officeDocument/2006/relationships/image" Target="../media/image2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4.png"/><Relationship Id="rId4" Type="http://schemas.openxmlformats.org/officeDocument/2006/relationships/tags" Target="../tags/tag17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image" Target="../media/image33.pn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32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31.png"/><Relationship Id="rId5" Type="http://schemas.openxmlformats.org/officeDocument/2006/relationships/tags" Target="../tags/tag26.xml"/><Relationship Id="rId10" Type="http://schemas.openxmlformats.org/officeDocument/2006/relationships/image" Target="../media/image30.png"/><Relationship Id="rId4" Type="http://schemas.openxmlformats.org/officeDocument/2006/relationships/tags" Target="../tags/tag25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9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32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4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0.png"/><Relationship Id="rId5" Type="http://schemas.openxmlformats.org/officeDocument/2006/relationships/tags" Target="../tags/tag34.xml"/><Relationship Id="rId10" Type="http://schemas.openxmlformats.org/officeDocument/2006/relationships/image" Target="../media/image39.png"/><Relationship Id="rId4" Type="http://schemas.openxmlformats.org/officeDocument/2006/relationships/tags" Target="../tags/tag33.xml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41.png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5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44.png"/><Relationship Id="rId5" Type="http://schemas.openxmlformats.org/officeDocument/2006/relationships/tags" Target="../tags/tag39.xml"/><Relationship Id="rId10" Type="http://schemas.openxmlformats.org/officeDocument/2006/relationships/image" Target="../media/image43.png"/><Relationship Id="rId4" Type="http://schemas.openxmlformats.org/officeDocument/2006/relationships/tags" Target="../tags/tag38.xml"/><Relationship Id="rId9" Type="http://schemas.openxmlformats.org/officeDocument/2006/relationships/image" Target="../media/image42.png"/><Relationship Id="rId1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13" Type="http://schemas.openxmlformats.org/officeDocument/2006/relationships/image" Target="../media/image50.png"/><Relationship Id="rId3" Type="http://schemas.openxmlformats.org/officeDocument/2006/relationships/tags" Target="../tags/tag4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9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48.png"/><Relationship Id="rId5" Type="http://schemas.openxmlformats.org/officeDocument/2006/relationships/tags" Target="../tags/tag45.xml"/><Relationship Id="rId10" Type="http://schemas.openxmlformats.org/officeDocument/2006/relationships/image" Target="../media/image39.png"/><Relationship Id="rId4" Type="http://schemas.openxmlformats.org/officeDocument/2006/relationships/tags" Target="../tags/tag44.xml"/><Relationship Id="rId9" Type="http://schemas.openxmlformats.org/officeDocument/2006/relationships/image" Target="../media/image47.png"/><Relationship Id="rId1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13" Type="http://schemas.openxmlformats.org/officeDocument/2006/relationships/image" Target="../media/image45.png"/><Relationship Id="rId3" Type="http://schemas.openxmlformats.org/officeDocument/2006/relationships/tags" Target="../tags/tag4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6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53.png"/><Relationship Id="rId5" Type="http://schemas.openxmlformats.org/officeDocument/2006/relationships/tags" Target="../tags/tag51.xml"/><Relationship Id="rId10" Type="http://schemas.openxmlformats.org/officeDocument/2006/relationships/image" Target="../media/image43.png"/><Relationship Id="rId4" Type="http://schemas.openxmlformats.org/officeDocument/2006/relationships/tags" Target="../tags/tag50.xml"/><Relationship Id="rId9" Type="http://schemas.openxmlformats.org/officeDocument/2006/relationships/image" Target="../media/image52.png"/><Relationship Id="rId1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50.png"/><Relationship Id="rId3" Type="http://schemas.openxmlformats.org/officeDocument/2006/relationships/tags" Target="../tags/tag5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6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39.png"/><Relationship Id="rId5" Type="http://schemas.openxmlformats.org/officeDocument/2006/relationships/tags" Target="../tags/tag57.xml"/><Relationship Id="rId10" Type="http://schemas.openxmlformats.org/officeDocument/2006/relationships/image" Target="../media/image55.png"/><Relationship Id="rId4" Type="http://schemas.openxmlformats.org/officeDocument/2006/relationships/tags" Target="../tags/tag56.xml"/><Relationship Id="rId9" Type="http://schemas.openxmlformats.org/officeDocument/2006/relationships/image" Target="../media/image48.png"/><Relationship Id="rId1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SINGLE VALLEY Basis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The basis states </a:t>
            </a:r>
            <a:r>
              <a:rPr lang="en-US" dirty="0"/>
              <a:t>generalized to the effect of operators and rotated to other valleys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02F0E53-9459-4033-997B-97BE036080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0291" y="5525850"/>
            <a:ext cx="10971418" cy="109714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equation*}&#10;\Phi_{\eta\lambda;m\xi lk}^{(W\kappa p)}&#10;= &#10;\left(\frac{\hbar^{2}}{2m_{0}a_{0}^{2}\eta^{2}}\right)^{\kappa}&#10;\hat{Q}_{m\xi}^{(p)}&#10;\sum_{s=-\kappa}^{+\kappa}&#10;\mathfrak{H}^{(\kappa)}_{\lambda;lm,s}&#10;\hat{\mathcal{P}}_{\lambda;(l+2s)m}^{(p)}&#10;\hat{\mathcal{R}}_{\eta\lambda;lk,s}^{(W\kappa p)}&#10;\end{equation*}&#10;&#10;\end{document}" title="IguanaTex Bitmap Display">
            <a:extLst>
              <a:ext uri="{FF2B5EF4-FFF2-40B4-BE49-F238E27FC236}">
                <a16:creationId xmlns:a16="http://schemas.microsoft.com/office/drawing/2014/main" id="{72AADBF9-AF8D-41C3-96DE-103F7694FA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75622" y="1857131"/>
            <a:ext cx="6640757" cy="717714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vartheta_{\lambda\left\{\chi_{q}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 title="IguanaTex Bitmap Display">
            <a:extLst>
              <a:ext uri="{FF2B5EF4-FFF2-40B4-BE49-F238E27FC236}">
                <a16:creationId xmlns:a16="http://schemas.microsoft.com/office/drawing/2014/main" id="{1FB596A3-F069-4309-AD0B-B3302DC3EC3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41714" y="2909020"/>
            <a:ext cx="5609144" cy="199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0F3515-17F9-4681-A9FB-0FDCA6D61439}"/>
              </a:ext>
            </a:extLst>
          </p:cNvPr>
          <p:cNvGrpSpPr/>
          <p:nvPr/>
        </p:nvGrpSpPr>
        <p:grpSpPr>
          <a:xfrm>
            <a:off x="204095" y="4589237"/>
            <a:ext cx="11783809" cy="1481752"/>
            <a:chOff x="204095" y="4789306"/>
            <a:chExt cx="11783809" cy="148175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9CBA83-12E1-4375-B802-81E8C1344FD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079866" y="4944316"/>
              <a:ext cx="2908038" cy="117173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4115AF-3F51-4DD0-9D13-E2A0368D408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67733" y="4944316"/>
              <a:ext cx="2908038" cy="11717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EEA1CC-A15C-487E-88BB-443E42311D4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04095" y="4789306"/>
              <a:ext cx="5559542" cy="148175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164DCF-FB5C-485A-A8BB-99EFF5F11408}"/>
              </a:ext>
            </a:extLst>
          </p:cNvPr>
          <p:cNvGrpSpPr/>
          <p:nvPr/>
        </p:nvGrpSpPr>
        <p:grpSpPr>
          <a:xfrm>
            <a:off x="1388703" y="1956317"/>
            <a:ext cx="9414595" cy="2357336"/>
            <a:chOff x="1388703" y="1956317"/>
            <a:chExt cx="9414595" cy="2357336"/>
          </a:xfrm>
        </p:grpSpPr>
        <p:pic>
          <p:nvPicPr>
            <p:cNvPr id="15" name="Picture 14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5037CFE-29E3-4898-A815-9F927E063B8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140447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Picture 17" descr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B188044-A71E-4846-B6E8-018BE08A749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388703" y="2958984"/>
              <a:ext cx="3553519" cy="374857"/>
            </a:xfrm>
            <a:prstGeom prst="rect">
              <a:avLst/>
            </a:prstGeom>
          </p:spPr>
        </p:pic>
      </p:grpSp>
      <p:pic>
        <p:nvPicPr>
          <p:cNvPr id="12" name="Picture 11" descr="\documentclass{article}&#10;\usepackage{amsmath,bm}&#10;\pagestyle{empty}&#10;\begin{document}&#10;&#10;\begin{align*}&#10;h_{lk,v}^{(\kappa s)}&#10;&amp; =&#10;\left(1-\kappa\right)\delta_{s0}\delta_{v0} + \kappa g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95329E3-A470-4732-9C92-A0084982F8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16510" y="6308136"/>
            <a:ext cx="3236569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\alpha&#10;=&#10;\frac{2}{W}\left(l+\frac{1}{W}\right)&#10;\end{align*}&#10;&#10;\end{document}" title="IguanaTex Bitmap Display">
            <a:extLst>
              <a:ext uri="{FF2B5EF4-FFF2-40B4-BE49-F238E27FC236}">
                <a16:creationId xmlns:a16="http://schemas.microsoft.com/office/drawing/2014/main" id="{182D8744-FB25-410F-B932-3F2B460402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8922" y="6282764"/>
            <a:ext cx="1338666" cy="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1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8866632" cy="853311"/>
          </a:xfrm>
        </p:spPr>
        <p:txBody>
          <a:bodyPr/>
          <a:lstStyle/>
          <a:p>
            <a:r>
              <a:rPr lang="en-US" dirty="0"/>
              <a:t>Integrable Potentials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Forms that might be used</a:t>
            </a:r>
          </a:p>
        </p:txBody>
      </p:sp>
    </p:spTree>
    <p:extLst>
      <p:ext uri="{BB962C8B-B14F-4D97-AF65-F5344CB8AC3E}">
        <p14:creationId xmlns:p14="http://schemas.microsoft.com/office/powerpoint/2010/main" val="188171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Form of integrable potential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end{align*}&#10;&#10;\end{document}" title="IguanaTex Bitmap Display">
            <a:extLst>
              <a:ext uri="{FF2B5EF4-FFF2-40B4-BE49-F238E27FC236}">
                <a16:creationId xmlns:a16="http://schemas.microsoft.com/office/drawing/2014/main" id="{63A0EB9F-314C-4620-82FF-B5959949E7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98480" y="3064809"/>
            <a:ext cx="5795040" cy="72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7826810" cy="1597104"/>
          </a:xfrm>
        </p:spPr>
        <p:txBody>
          <a:bodyPr/>
          <a:lstStyle/>
          <a:p>
            <a:r>
              <a:rPr lang="en-US" dirty="0"/>
              <a:t>Same </a:t>
            </a:r>
            <a:r>
              <a:rPr lang="en-US" dirty="0" err="1"/>
              <a:t>SubBasis</a:t>
            </a:r>
            <a:r>
              <a:rPr lang="en-US" dirty="0"/>
              <a:t> MATRIX ELEMENT FORMULA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form for the matrix element of two states from the same </a:t>
            </a:r>
            <a:r>
              <a:rPr lang="en-US" dirty="0" err="1"/>
              <a:t>subbasis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0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C72D-2E78-46CB-BA4C-B9D05CDEB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75120" cy="853311"/>
          </a:xfrm>
        </p:spPr>
        <p:txBody>
          <a:bodyPr/>
          <a:lstStyle/>
          <a:p>
            <a:r>
              <a:rPr lang="en-US" dirty="0"/>
              <a:t>PRECALCULATIONS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9365B-EA71-4A99-8C13-D10E32C82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C1. Laguerre polynomial precalculated integration constants</a:t>
            </a:r>
          </a:p>
        </p:txBody>
      </p:sp>
      <p:pic>
        <p:nvPicPr>
          <p:cNvPr id="23" name="Picture 22" descr="\documentclass{article}&#10;\usepackage{amsmath,bm,eufrak}&#10;\pagestyle{empty}&#10;\begin{document}&#10;&#10;\begin{align*}&#10;\mathfrak{G}_{\left(lk\right)_{ij}\left(s\right)_{01}\left(u\right)_{ij}w}^{\left(W\left(\kappa\right)_{01}d\right)}&#10;&amp; = &#10;(-1)^{u_{i}+u_{j}+w}&#10;\left(\frac{W}{2}\right)^{d}&#10;\Gamma\left[\frac{\mathfrak{L}_{ij}}{W}+w-\delta_{s_{0}\bar{1}}-\delta_{s_{1}\bar{1}}+1\right]&#10;\mathfrak{H}_{\left(lk\right)_{ij}\left(s\right)_{01}\left(\mathcal{K}-u\right)_{ij}\left(\mathcal{K}_{i}+\mathcal{K}_{j}-w\right)}^{W\left(\kappa\right)_{01}}&#10;\\&#10;\mathfrak{H}_{\left(lk\right)_{ij}\left(s\right)_{01}\left(\mathcal{U}\right)_{ij}\mathcal{W}}^{W\left(\kappa\right)_{01}}&#10;&amp; = &#10;\sum_{x=\text{Max}\left\{0,\mathcal{W}-\mathcal{U}_{j}\right\}}^{\text{Min}\left\{\mathcal{U}_{i},\mathcal{W}\right\}}&#10;\mathfrak{h}_{\left(\alpha k\right)_{i}s_{0}\mathcal{U}_{i}x}^{\left(W\kappa_{0}\right)}&#10;\mathfrak{h}_{\left(\alpha k\right)_{j}s_{1}\mathcal{U}_{j}\left(\mathcal{W}-x\right)}^{\left(W\kappa_{1}\right)}&#10;\\&#10;\mathfrak{h}_{\alpha k;s\mathcal{U}x}^{\left(W\kappa\right)}&#10;&amp; =&#10;\frac{1}{\sqrt{k!\alpha!}}&#10;\begin{pmatrix}&#10;\mathcal{K} \\&#10;\mathcal{U}&#10;\end{pmatrix}&#10;\begin{pmatrix}&#10;\mathcal{U} \\&#10;x&#10;\end{pmatrix}&#10;\alpha^{\underline{x}}&#10;\left(1 + \kappa \mathfrak{h}_{\alpha k;sx}^{\left(W\right)}\right)&#10;\\&#10;\mathfrak{h}_{\alpha k;1x}^{\left(W\right)}&#10;&amp;=&#10;k-x&#10;+\frac&#10;{2x(2x(k+\delta_{W,2}-x)+\delta_{W,1})}&#10;{\alpha+1-x}&#10;+\frac&#10;{4x(-k+x-\delta_{W,2})(x-1)}&#10;{\alpha+2-x}&#10;\\&#10;\mathfrak{h}_{\alpha k;0x}^{\left(W\right)}&#10;&amp;=&#10;k+x&#10;+\frac&#10;{2x\left(k-\delta_{W,1}\left(x-1\right)+\delta_{W,2}x\right)}&#10;{\alpha+1-x}&#10;+&#10;\delta_{W,1}&#10;\frac&#10;{4(x-1)x}&#10;{\alpha+2-x}&#10;\\&#10;\mathfrak{h}_{\alpha k;\bar{1}x}^{\left(W\right)}&#10;&amp; =&#10;-(k+1+x)(k+2+x)+2x-1&#10;+&#10;\delta_{W,1}&#10;\left(&#10;\frac&#10;{6x(k+2-x)}&#10;{\alpha+1-x}&#10;+\frac&#10;{12x(x-1)}&#10;{\alpha+2-x}&#10;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EBF8B986-5CFB-4CB7-B683-0AE3D9B3BA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02522" y="2908400"/>
            <a:ext cx="8586956" cy="350721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" name="Picture 2" descr="\documentclass{article}&#10;\usepackage{amsmath,bm,eufrak}&#10;\pagestyle{empty}&#10;\begin{document}&#10;&#10;\begin{gather*}&#10;\mathfrak{L}_{ij}&#10;\equiv&#10;l_{i}+l_{j}+3-W+d&#10;-\delta_{W,1}\left(\kappa_{0}+\kappa_{1}\right)&#10;\quad&#10;\mathcal{K}_{i}&#10;\equiv&#10;k_{i}+\kappa_{i}+\delta_{s_{i}\bar{1}}&#10;\quad&#10;\alpha_{i}&#10;\equiv&#10;\frac{2}{W}\left(l_{i}+\frac{1}{W}\right) + k_{i}&#10;\end{gather*}&#10;&#10;\end{document}" title="IguanaTex Bitmap Display">
            <a:extLst>
              <a:ext uri="{FF2B5EF4-FFF2-40B4-BE49-F238E27FC236}">
                <a16:creationId xmlns:a16="http://schemas.microsoft.com/office/drawing/2014/main" id="{C722F3C7-98F9-4543-8557-3B4F4CF3E9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35922" y="2030720"/>
            <a:ext cx="7920156" cy="48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39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C2. Subcases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equation*}&#10;\mathfrak{g}_{\left(lk\right)_{12}\left(su\right)_{12}}^{\left(W\left(\kappa\right)_{12}d\right)}&#10;=&#10;\sum_{w=u_{1}+u_{2}}^{\mathcal{K}_{1}+\mathcal{K}_{2}}&#10;\mathfrak{G}_{\left(lk\right)_{12}\left(su\right)_{12}w}^{\left(W\left(\kappa\right)_{12}d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94EA9F1C-8DFF-442B-B4DF-A0E1C523D69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32572" y="2037538"/>
            <a:ext cx="3126857" cy="6083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1B9C800-4212-4124-ACAF-FC14B15B2279}"/>
              </a:ext>
            </a:extLst>
          </p:cNvPr>
          <p:cNvGrpSpPr/>
          <p:nvPr/>
        </p:nvGrpSpPr>
        <p:grpSpPr>
          <a:xfrm>
            <a:off x="766070" y="3293111"/>
            <a:ext cx="10659861" cy="1342175"/>
            <a:chOff x="766070" y="3293111"/>
            <a:chExt cx="10659861" cy="1342175"/>
          </a:xfrm>
        </p:grpSpPr>
        <p:pic>
          <p:nvPicPr>
            <p:cNvPr id="35" name="Picture 34" descr="\documentclass{article}&#10;\usepackage{amsmath,bm,eufrak}&#10;\pagestyle{empty}&#10;\begin{document}&#10;&#10;\begin{align*}&#10;\mathfrak{H}_{\left(lk\right)_{12}\left(s\right)_{12}uw}^{\left(W\left(\kappa\right)_{12}d\right)}&#10;&amp; =&#10;\sum_{u_{1}=0}^{\mathcal{K}_{1}}&#10;\sum_{u_{2}=0}^{\mathcal{K}_{2}}&#10;\delta_{u,u_{1}+u_{2}}&#10;\mathfrak{G}_{\left(lk\right)_{12}\left(su\right)_{12}w}^{\left(W\left(\kappa\right)_{12}d\right)}&#10;\\&#10;\mathfrak{h}_{\left(lk\right)_{12}\left(s\right)_{12}u}^{\left(W\left(\kappa\right)_{12}d\right)}&#10;&amp; =&#10;\sum_{w=u}^{\mathcal{K}_{1}+\mathcal{K}_{2}}&#10;\sum_{u_{1}=0}^{\mathcal{K}_{1}}&#10;\sum_{u_{2}=0}^{\mathcal{K}_{2}}&#10;\delta_{u,u_{1}+u_{2}}&#10;\mathfrak{G}_{\left(lk\right)_{12}\left(su\right)_{12}w}^{\left(W\left(\kappa\right)_{12}d\right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AE26ADC3-69A8-4192-9861-C01CB59CA8D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66070" y="3293114"/>
              <a:ext cx="4650666" cy="1342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8" name="Picture 27" descr="\documentclass{article}&#10;\usepackage{amsmath,bm,eufrak}&#10;\pagestyle{empty}&#10;\begin{document}&#10;&#10;\begin{align*}&#10;\mathfrak{I}_{\left(lk\right)_{12}\left(s\right)_{12}uw}^{\left(W\left(\kappa\right)_{12}d\right)}&#10;&amp; =&#10;\sum_{u_{1}=0}^{\mathcal{K}_{1}}&#10;\sum_{u_{2}=0}^{\mathcal{K}_{2}}&#10;\left(-1\right)^{u_{1}}\delta_{u,u_{1}+u_{2}}&#10;\mathfrak{G}_{\left(lk\right)_{12}\left(su\right)_{12}w}^{\left(W\left(\kappa\right)_{12}d\right)}&#10;\\&#10;\mathfrak{i}_{\left(lk\right)_{12}\left(s\right)_{12}u}^{\left(W\left(\kappa\right)_{12}d\right)}&#10;&amp; =&#10;\sum_{w=u}^{\mathcal{K}_{1}+\mathcal{K}_{2}}&#10;\sum_{u_{1}=0}^{\mathcal{K}_{1}}&#10;\sum_{u_{2}=0}^{\mathcal{K}_{2}}&#10;\left(-1\right)^{u_{1}}\delta_{u,u_{1}+u_{2}}&#10;\mathfrak{G}_{\left(lk\right)_{12}\left(su\right)_{12}w}^{\left(W\left(\kappa\right)_{12}d\right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78063E3-072B-4AB2-A1A0-37C388F59DD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182806" y="3293111"/>
              <a:ext cx="5243125" cy="1342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pic>
        <p:nvPicPr>
          <p:cNvPr id="38" name="Picture 37" descr="\documentclass{article}&#10;\usepackage{amsmath,bm,eufrak}&#10;\pagestyle{empty}&#10;\begin{document}&#10;&#10;\begin{align*}&#10;\mathfrak{J}_{\left(lk\right)_{12}\left(s\right)_{12}w}^{\left(W\left(\kappa\right)_{12}d\right)}&#10;&amp; =&#10;\mathfrak{G}_{\left(lk\right)_{12}\left(s\right)_{12}00w}^{\left(W\left(\kappa\right)_{12}d\right)}&#10;\\&#10;\mathfrak{j}_{\left(lk\right)_{12}\left(s\right)_{12}}^{\left(W\left(\kappa\right)_{12}d\right)}&#10;&amp; =&#10;\sum_{w=u}^{\mathcal{K}_{1}+\mathcal{K}_{2}}&#10;\mathfrak{G}_{\left(lk\right)_{12}\left(su\right)_{12}00w}^{\left(W\left(\kappa\right)_{12}d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6357F37-5D7F-4134-8C8E-B30B660DB2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527086" y="5282560"/>
            <a:ext cx="3137828" cy="10739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624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C3. Final elaboration on </a:t>
            </a:r>
            <a:r>
              <a:rPr lang="en-US" dirty="0" err="1"/>
              <a:t>precalculation</a:t>
            </a:r>
            <a:r>
              <a:rPr lang="en-US" dirty="0"/>
              <a:t> information - 2</a:t>
            </a:r>
          </a:p>
        </p:txBody>
      </p:sp>
      <p:pic>
        <p:nvPicPr>
          <p:cNvPr id="14" name="Picture 13" descr="\documentclass{article}&#10;\usepackage{amsmath,bm,eufrak}&#10;\pagestyle{empty}&#10;\begin{document}&#10;&#10;\begin{align*}&#10;\mathfrak{K}^{(\kappa)}_{\lambda;mlk,s}&#10;&amp; =&#10;\left(1-\kappa\frac{k}{k+1}\right)\delta_{s,0}&#10;-\kappa\left(1-\gamma\lambda^2\right)&#10;\mathfrak{D}_{mlk;s}&#10;\\&#10;\end{align*}&#10;&#10;\end{document}" title="IguanaTex Bitmap Display">
            <a:extLst>
              <a:ext uri="{FF2B5EF4-FFF2-40B4-BE49-F238E27FC236}">
                <a16:creationId xmlns:a16="http://schemas.microsoft.com/office/drawing/2014/main" id="{ECA42050-B545-4CCF-9AE7-FAF66419E3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79772" y="2488022"/>
            <a:ext cx="4432456" cy="486400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align*}&#10;\mathfrak{D}_{mlk;\bar{1}}&#10;&amp; =&#10;\frac{1}{(k+1)(k+2)}&#10;\sqrt{&#10;\frac&#10;{\left(\left(l-1\right)^2-m^2\right)\left(l^2-m^2\right)}&#10;{(2l-3)(2l-1)^{2}(2l+1)}&#10;}&#10;\\&#10;\mathfrak{D}_{mlk;0}&#10;&amp; =&#10;\frac{1}{k+1}&#10;\frac&#10;{2l^2-2m^2+2l-1}{(2l-1)(2l+3)}&#10;\\&#10;\mathfrak{D}_{mlk;1}&#10;&amp; =&#10;\frac{1}{k+1}&#10;\sqrt{&#10;\frac&#10;{\left(\left(l+1\right)^2-m^2\right)\left(\left(l+2\right)^2-m^2\right)}&#10;{(2l+1)(2l+3)^{2}(2l+5)}&#10;}&#10;\end{align*}&#10;&#10;\end{document}" title="IguanaTex Bitmap Display">
            <a:extLst>
              <a:ext uri="{FF2B5EF4-FFF2-40B4-BE49-F238E27FC236}">
                <a16:creationId xmlns:a16="http://schemas.microsoft.com/office/drawing/2014/main" id="{A868B811-1486-4895-B494-DBA3FF7C99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55430" y="3335425"/>
            <a:ext cx="4681141" cy="21187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0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C72D-2E78-46CB-BA4C-B9D05CDEB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6675120" cy="1597104"/>
          </a:xfrm>
        </p:spPr>
        <p:txBody>
          <a:bodyPr/>
          <a:lstStyle/>
          <a:p>
            <a:r>
              <a:rPr lang="en-US" dirty="0"/>
              <a:t>Computational</a:t>
            </a:r>
            <a:br>
              <a:rPr lang="en-US" dirty="0"/>
            </a:br>
            <a:r>
              <a:rPr lang="en-US" dirty="0" err="1"/>
              <a:t>FormulAe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9365B-EA71-4A99-8C13-D10E32C82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D1a. Before integration calculations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CBF01A-3EB6-4CAE-903B-069317B2D3EA}"/>
              </a:ext>
            </a:extLst>
          </p:cNvPr>
          <p:cNvGrpSpPr/>
          <p:nvPr/>
        </p:nvGrpSpPr>
        <p:grpSpPr>
          <a:xfrm>
            <a:off x="2635124" y="3842709"/>
            <a:ext cx="6921752" cy="1791072"/>
            <a:chOff x="2635124" y="3842709"/>
            <a:chExt cx="6921752" cy="1791072"/>
          </a:xfrm>
        </p:grpSpPr>
        <p:pic>
          <p:nvPicPr>
            <p:cNvPr id="7" name="Picture 6" descr="\documentclass{article}&#10;\usepackage{amsmath,bm,eufrak}&#10;\pagestyle{empty}&#10;\begin{document}&#10;&#10;\begin{equation*}&#10;\mathfrak{C}_{0}&#10;\equiv&#10;\eta^{d-2\kappa_{1}-2\kappa_{2}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73905243-0165-4DDE-8501-95348634CBD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5304000" y="3842709"/>
              <a:ext cx="1584001" cy="2550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1" name="Picture 20" descr="\documentclass{article}&#10;\usepackage{amsmath,bm,eufrak}&#10;\pagestyle{empty}&#10;\begin{document}&#10;&#10;\begin{equation*}&#10;\mathfrak{L}_{i}&#10;\equiv&#10;2l_{i}+3-2\kappa_{i}\delta_{W,1}&#10;\quad\quad&#10;\mathfrak{L}_{ij}&#10;\equiv&#10;\frac{\mathfrak{L}_{i}+\mathfrak{L}_{j}}{2} + d&#10;=&#10;l_{i}+l_{j}+3+d-\delta_{W,1}\left(\kappa_{0}+\kappa_{1}\right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F70D564-13EE-4E87-ACF4-D42C4D77F97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635124" y="5219305"/>
              <a:ext cx="6921752" cy="41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1470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D1b. Initial integration calculations</a:t>
            </a:r>
          </a:p>
        </p:txBody>
      </p:sp>
      <p:pic>
        <p:nvPicPr>
          <p:cNvPr id="67" name="Picture 66" descr="\documentclass{article}&#10;\usepackage{amsmath,amssymb,bm,eufrak,mathtools,physics}&#10;\pagestyle{empty}&#10;\begin{document}&#10;&#10;\begin{equation*}&#10;\vartheta_{\lambda\left\{\chi\right\}}&#10;\coloneqq&#10;\sqrt{1 + \left(\lambda^2-1\right)\chi^2}&#10;\quad\quad&#10;\hat{\vartheta}_{p}&#10;\equiv&#10;\vartheta_{\lambda\left\{\hat{\chi}_{p}\right\}}&#10;\quad\quad&#10;\hat{\vartheta}_{zz}&#10;\equiv&#10;\hat{\vartheta}_{z}&#10;\quad\quad&#10;\hat{\vartheta}_{yx}^{W}&#10;\equiv&#10;\frac&#10;{ \hat{\vartheta}_{y}^{W}+\hat{\vartheta}_{x}^{W} }&#10;{ 2 }&#10;\quad\quad&#10;\hat{\chi}_{p}&#10;\equiv&#10;\frac{\lambda\hat{\chi}_{p}}{\hat{\vartheta}_{p}}&#10;\quad\quad&#10;\hat{\mathcal{N}}_{pq}&#10;\equiv&#10;\frac{\lambda}{\hat{\vartheta}_{pq}^{3}}&#10;\end{equation*}&#10;&#10;\end{document}" title="IguanaTex Bitmap Display">
            <a:extLst>
              <a:ext uri="{FF2B5EF4-FFF2-40B4-BE49-F238E27FC236}">
                <a16:creationId xmlns:a16="http://schemas.microsoft.com/office/drawing/2014/main" id="{5A35B493-A13A-438E-9E98-8AC2ECE0877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363657" y="1810729"/>
            <a:ext cx="9464686" cy="599770"/>
          </a:xfrm>
          <a:prstGeom prst="rect">
            <a:avLst/>
          </a:prstGeom>
          <a:noFill/>
        </p:spPr>
      </p:pic>
      <p:pic>
        <p:nvPicPr>
          <p:cNvPr id="71" name="Picture 70" descr="\documentclass{article}&#10;\usepackage{amsmath,bm,eufrak}&#10;\pagestyle{empty}&#10;\begin{document}&#10;&#10;\begin{equation*}&#10;\hat{\mathcal{V}}_{zz}&#10;=&#10;\frac{ 1 }{ \hat{\vartheta}_{zz}^{d} }&#10;\quad\quad&#10;\hat{\mathcal{V}}_{yx}&#10;=&#10;\left(\sqrt{1+\hat{\epsilon}_{yx}}\right)^{\mathfrak{L}_{1}}&#10;\left(\sqrt{1-\hat{\epsilon}_{yx}}\right)^{\mathfrak{L}_{2}}&#10;\frac{ 1 }{ \hat{\vartheta}_{yx}^{d} }&#10;\quad\quad&#10;\hat{\mathcal{U}}_{k}&#10;\equiv&#10;\mathcal{U}_{k\left\{\chi,\phi\right\}}&#10;\end{equation*}&#10;&#10;\end{document}" title="IguanaTex Bitmap Display">
            <a:extLst>
              <a:ext uri="{FF2B5EF4-FFF2-40B4-BE49-F238E27FC236}">
                <a16:creationId xmlns:a16="http://schemas.microsoft.com/office/drawing/2014/main" id="{E96A71B5-1AEF-45DE-9DE6-7D2065D2C8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17255" y="3646448"/>
            <a:ext cx="7157490" cy="596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5" name="Picture 44" descr="\documentclass{article}&#10;\usepackage{amsmath,bm,eufrak}&#10;\pagestyle{empty}&#10;\begin{document}&#10;&#10;\begin{equation*}&#10;\hat{\epsilon}_{zz} \equiv  0&#10;\quad\quad&#10;\hat{\epsilon}_{yx}&#10;\equiv&#10;\frac&#10;{ \hat{\vartheta}_{y}^{W} - \hat{\vartheta}_{x}^{W} }&#10;{ \hat{\vartheta}_{y}^{W} + \hat{\vartheta}_{x}^{W} }&#10;\quad\quad&#10;\hat{\eta}_{pq} \equiv \frac{\eta}{\hat{\vartheta}_{pq}}&#10;\quad\quad&#10;\hat{\Delta}_{pq} = \hat{\epsilon}_{pq}&#10;\end{equation*}&#10;&#10;\end{document}" title="IguanaTex Bitmap Display">
            <a:extLst>
              <a:ext uri="{FF2B5EF4-FFF2-40B4-BE49-F238E27FC236}">
                <a16:creationId xmlns:a16="http://schemas.microsoft.com/office/drawing/2014/main" id="{1AA5D6C6-7771-426C-A8BF-92AFEEA8F3D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589638" y="2727979"/>
            <a:ext cx="5012724" cy="600989"/>
          </a:xfrm>
          <a:prstGeom prst="rect">
            <a:avLst/>
          </a:prstGeom>
          <a:noFill/>
        </p:spPr>
      </p:pic>
      <p:pic>
        <p:nvPicPr>
          <p:cNvPr id="77" name="Picture 76" descr="\documentclass{article}&#10;\usepackage{amsmath,bm,eufrak}&#10;\pagestyle{empty}&#10;\begin{document}&#10;&#10;\begin{equation*}&#10;\hat{z}_{k}^{(pq)}&#10;=&#10;\frac&#10;{ 1 }&#10;{ 1+\delta_{W,1}\frac{\tilde{\alpha}_{k\left\{\chi,\phi\right\}}\hat{\eta}_{pq}}{2}+\delta_{W,2}\beta_{k\left\{\chi,\phi\right\}}\hat{\eta}_{pq}^{2} }&#10;\quad\quad&#10;\hat{\mathcal{Z}}_{k}^{(pq)}&#10;=&#10;\frac&#10;{\delta_{W,1}+\frac{\tilde{\alpha}_{k\left\{\chi,\phi\right\}}\hat{\eta}_{pq}}{2}}&#10;{\sqrt{\delta_{W,2}+\beta_{k\left\{\chi,\phi\right\}}\hat{\eta}_{pq}^{2}}}&#10;\end{equation*}&#10;&#10;\end{document}" title="IguanaTex Bitmap Display">
            <a:extLst>
              <a:ext uri="{FF2B5EF4-FFF2-40B4-BE49-F238E27FC236}">
                <a16:creationId xmlns:a16="http://schemas.microsoft.com/office/drawing/2014/main" id="{34F802F2-75C7-416A-9F6C-F42D452C7F6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47883" y="4560503"/>
            <a:ext cx="6696235" cy="713141"/>
          </a:xfrm>
          <a:prstGeom prst="rect">
            <a:avLst/>
          </a:prstGeom>
          <a:noFill/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E6673F2-B248-42A0-BE9E-FFB8A09E8752}"/>
              </a:ext>
            </a:extLst>
          </p:cNvPr>
          <p:cNvGrpSpPr/>
          <p:nvPr/>
        </p:nvGrpSpPr>
        <p:grpSpPr>
          <a:xfrm>
            <a:off x="1883531" y="5591123"/>
            <a:ext cx="8424939" cy="1156877"/>
            <a:chOff x="1883530" y="5591123"/>
            <a:chExt cx="8424939" cy="1156877"/>
          </a:xfrm>
        </p:grpSpPr>
        <p:pic>
          <p:nvPicPr>
            <p:cNvPr id="6" name="Picture 5" descr="\documentclass{article}&#10;\usepackage{amsmath,amssymb}&#10;\usepackage{bm}&#10;\pagestyle{empty}&#10;\begin{document}&#10;&#10;\begin{align*}&#10;\hat{\chi}_{z} &amp;\equiv \chi \\&#10;\hat{\chi}_{x} &amp;\equiv \sqrt{1-\chi^{2}}\cos\left(\phi\right) \\&#10;\hat{\chi}_{y} &amp;\equiv \sqrt{1-\chi^{2}}\sin\left(\phi\right)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91392337-0839-4F42-9CB3-B4D354C6DFE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883530" y="5714856"/>
              <a:ext cx="1856609" cy="914286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,amssymb}&#10;\usepackage{bm}&#10;\pagestyle{empty}&#10;\begin{document}&#10;&#10;\begin{align*}&#10;\hat{\phi}_{z} &amp;\equiv \text{Arg}\left\{\chi_{x} + \mathrm{i}\chi_{y}\right\} = \phi \\&#10;\hat{\phi}_{x} &amp;\equiv \text{Arg}\left\{\chi_{y} + \mathrm{i}\chi_{z}\right\} = \arctan2\left\{\chi, \sqrt{1-\chi^{2}}\sin\left(\phi\right)\right\} \\&#10;\hat{\phi}_{y} &amp;\equiv \text{Arg}\left\{\chi_{z} + \mathrm{i}\chi_{x}\right\} = \arctan2\left\{\sqrt{1-\chi^{2}}\cos\left(\phi\right), \chi\right\}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F15EE37A-B90D-4792-9963-4AA250E9EE3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5623669" y="5591123"/>
              <a:ext cx="4684800" cy="11568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586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D2. Full integral formalized</a:t>
            </a:r>
          </a:p>
        </p:txBody>
      </p:sp>
      <p:pic>
        <p:nvPicPr>
          <p:cNvPr id="25" name="Picture 24" descr="\documentclass{article}&#10;\usepackage{amsmath,bm,eufrak}&#10;\pagestyle{empty}&#10;\begin{document}&#10;&#10;\begin{align*}&#10;\left(\bm{\mathcal{M}}\right)&#10;_{\left(mlk\zeta\Omega\right)_{ij}}^{(pq)}&#10;&amp; =&#10;\mathfrak{C}_{0}&#10;\left(\frac{\hbar^{2}}{2m_{0}a_{0}^{2}}\right)^{\kappa_{1}+\kappa_{2}}&#10;\int_{\mathcal{S}} \mathrm{d}\Omega\,&#10;\hat{\mathcal{V}}_{pq}&#10;\hat{\Sigma}_{pq}&#10;\hat{\mathcal{Q}}_{pq}&#10;\\&#10;\hat{\mathcal{Q}}_{pq}&#10;&amp; =&#10;\frac{1}{2\pi}&#10;\left(\delta_{m_{i}0} + \sqrt{2}\left(1-\delta_{m_{i}0}\right)\right)&#10;\left(\delta_{m_{j}0} + \sqrt{2}\left(1-\delta_{m_{j}0}\right)\right)&#10;\mathcal{Z}\left\{\mathrm{e}^{\mathrm{i}m_{i}\phi_{p}},\zeta_{i}\right\}&#10;\mathcal{Z}\left\{\mathrm{e}^{\mathrm{i}m_{j}\phi_{q}},\zeta_{j}\right\}&#10;\\&#10;\hat{\Sigma}_{pq}&#10;&amp; =&#10;\sum_{k}&#10;\tilde{\mathfrak{U}}_{k}&#10;\hat{\mathcal{U}}_{k}&#10;\hat{\Sigma}_{k}^{(pq)}&#10;\\&#10;\end{align*}&#10;&#10;\end{document}" title="IguanaTex Bitmap Display">
            <a:extLst>
              <a:ext uri="{FF2B5EF4-FFF2-40B4-BE49-F238E27FC236}">
                <a16:creationId xmlns:a16="http://schemas.microsoft.com/office/drawing/2014/main" id="{7C267D39-19AC-4BDC-AB01-73DE9A07A7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8475" y="2529516"/>
            <a:ext cx="10595050" cy="19687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01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D3. Legendre functions for integrand</a:t>
            </a:r>
          </a:p>
        </p:txBody>
      </p:sp>
      <p:pic>
        <p:nvPicPr>
          <p:cNvPr id="59" name="Picture 58" descr="\documentclass{article}&#10;\usepackage{amsmath,bm,eufrak}&#10;\pagestyle{empty}&#10;\begin{document}&#10;&#10;\begin{align*}&#10;\hat{\mathcal{P}}_{\left(s\right)_{01}}^{(zz)}&#10;&amp; =&#10;\mathfrak{K}^{(\kappa_{0})}_{\lambda;\left(mlk\right)_{i}s_{0}}\mathfrak{K}^{(\kappa_{1})}_{\left(\lambda;mlk\right)_{j}s_{1}}&#10;\hat{\mathcal{N}}_{zz}&#10;\hat{\mathcal{P}}_{i;s_{0}}^{(z)}&#10;\hat{\mathcal{P}}_{j;s_{1}}^{(z)}&#10;\\&#10;\hat{\mathcal{P}}_{\left(s\right)_{01}}^{(yx)}&#10;&amp; =&#10;\frac{ \mathfrak{K}^{(\kappa_{0})}_{\lambda;\left(mlk\right)_{i};s_{0}} }{\left(\sqrt{1+\hat{\epsilon}_{yx}}\right)^{2W\delta_{s_{0}\bar{1}}+3}}&#10;\frac{ \mathfrak{K}^{(\kappa_{1})}_{\lambda;\left(mlk\right)_{j};s_{1}} }{\left(\sqrt{1-\hat{\epsilon}_{yx}}\right)^{2W\delta_{s_{1}\bar{1}}+3}}&#10;\hat{\mathcal{N}}_{yx}&#10;\hat{\mathcal{P}}_{i;s_{0}}^{(y)}&#10;\hat{\mathcal{P}}_{j;s_{1}}^{(x)}&#10;\\&#10;\hat{\mathcal{P}}_{i;s}^{(p)}&#10;&amp; = &#10;\mathcal{P}_{(l_{i}+2s)m_{i}\left\{\hat{\chi}_{p}\right\}}&#10;\\&#10;\mathcal{P}_{lm\left\{\chi\right\}}&#10;&amp; = &#10;\sqrt{\left(l+\frac{1}{2}\right)\frac{\left(l-m\right)!}{\left(l+m\right)!}}&#10;P_{lm\left\{\chi\right\}}&#10;\end{align*}&#10;&#10;\end{document}" title="IguanaTex Bitmap Display">
            <a:extLst>
              <a:ext uri="{FF2B5EF4-FFF2-40B4-BE49-F238E27FC236}">
                <a16:creationId xmlns:a16="http://schemas.microsoft.com/office/drawing/2014/main" id="{DF6A7235-5495-4665-8443-D9C26D25D2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96450" y="2495906"/>
            <a:ext cx="6399100" cy="24740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58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D4. Integral summation term restated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\Delta \ne 0, z \ne 1&#10;\quad &amp;: \quad&#10;\mathcal{F}_{\left(u\right)_{12}\left\{L\Delta z \right\}}&#10;= &#10;\left(1-z(1+\Delta)\right)^{u_{1}}\left(1-z(1-\Delta)\right)^{u_{2}}z^{\frac{L}{W}}&#10;\\&#10;\Delta = 0, z \ne 1&#10;\quad &amp;: \quad&#10;\mathcal{F}_{u\left\{L z\right\}}&#10;= &#10;\left(1-z\right)^{u}z^{\frac{L}{W}}&#10;\\&#10;\Delta \ne 0, z = 1&#10;\quad &amp;: \quad&#10;\mathcal{F}_{u\left\{\Delta\right\}}&#10;= &#10;\Delta^{u}&#10;\\&#10;\end{align*}&#10;&#10;\end{document}" title="IguanaTex Bitmap Display">
            <a:extLst>
              <a:ext uri="{FF2B5EF4-FFF2-40B4-BE49-F238E27FC236}">
                <a16:creationId xmlns:a16="http://schemas.microsoft.com/office/drawing/2014/main" id="{F2D916FC-40F6-48B8-8A90-BE661F9237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78284" y="3880025"/>
            <a:ext cx="6235432" cy="953293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00F771C-9DA8-4485-BABA-2DA26975538D}"/>
              </a:ext>
            </a:extLst>
          </p:cNvPr>
          <p:cNvGrpSpPr/>
          <p:nvPr/>
        </p:nvGrpSpPr>
        <p:grpSpPr>
          <a:xfrm>
            <a:off x="1914051" y="5141410"/>
            <a:ext cx="8363898" cy="1272815"/>
            <a:chOff x="1914051" y="5277730"/>
            <a:chExt cx="8363898" cy="1272815"/>
          </a:xfrm>
        </p:grpSpPr>
        <p:pic>
          <p:nvPicPr>
            <p:cNvPr id="10" name="Picture 9" descr="\documentclass{article}&#10;\usepackage{amsmath,bm,eufrak}&#10;\pagestyle{empty}&#10;\begin{document}&#10;&#10;\begin{align*}&#10;(W = 1\text{ and }\beta \ne 0)\text{ or }(W = 2\text{ and }\tilde{\alpha} \ne 0)&#10;\quad &amp;: \quad&#10;\mathcal{G}_{L\left\{\mathcal{Z}\right\}}^{(1)}&#10;=&#10;\frac{\sqrt{\pi}}{\Gamma\left[\frac{L+1}{2}\right]}&#10;\mathcal{Z}^{L}&#10;h_{L\left\{\mathcal{Z}\right\}}&#10;\quad\quad&#10;\mathcal{G}_{L\left\{\mathcal{Z}\right\}}^{(2)}&#10;=&#10;h_{L\left\{\mathcal{Z}\right\}}&#10;\\&#10;(W = 1\text{ and }\beta = 0)&#10;\text{ or }&#10;(W = 2\text{ and }\tilde{\alpha} = 0)&#10;\quad &amp;: \quad&#10;\mathcal{G}^{(W)}&#10;=&#10;1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D4BDDD3-9623-4EC8-B338-A6C4E270438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914051" y="5713059"/>
              <a:ext cx="8363898" cy="8374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Picture 108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92ACC04-D4C9-40EE-99CC-A8C1695C301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710323" y="5277730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23" name="Picture 22" descr="\documentclass{article}&#10;\usepackage{amsmath,bm,eufrak}&#10;\pagestyle{empty}&#10;\begin{document}&#10;&#10;\begin{equation*}&#10;\hat{\mathcal{F}}_{k\left(s\right)_{01}\left(u\right)_{ij}}^{(pq)}&#10;=&#10;\mathcal{F}_{\left(u\right)_{ij}\left\{&#10;\left(\mathfrak{L}_{ij}-W\delta_{s_{0}\bar{1}}-W\delta_{s_{1}\bar{1}}\right)\hat{\Delta}_{pq}\hat{z}_{k}^{(pq)}&#10;\right\}}&#10;\quad\quad&#10;\hat{\mathcal{G}}_{k\left(s\right)_{01}w}^{(pq)}&#10;=&#10;\mathcal{G}_{\left\{\left(\mathfrak{L}_{ij}-W\delta_{s_{0}\bar{1}}-W\delta_{s_{1}\bar{1}}+Ww\right)\hat{\mathcal{Z}}_{k}^{(pq)}\right\}}^{(W)}&#10;\end{equation*}&#10;&#10;\end{document}" title="IguanaTex Bitmap Display">
            <a:extLst>
              <a:ext uri="{FF2B5EF4-FFF2-40B4-BE49-F238E27FC236}">
                <a16:creationId xmlns:a16="http://schemas.microsoft.com/office/drawing/2014/main" id="{B78273BC-F5E2-4A68-8502-1DEEA9F2F18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446162" y="3089187"/>
            <a:ext cx="9299677" cy="482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 descr="\documentclass{article}&#10;\usepackage{amsmath,bm,eufrak}&#10;\pagestyle{empty}&#10;\begin{document}&#10;&#10;\begin{align*}&#10;\hat{\Sigma}_{k}^{(pq)}&#10;&amp; = &#10;\sum_{s_{0}=-\kappa_{1}}^{+\kappa_{1}}&#10;\sum_{s_{1}=-\kappa_{2}}^{+\kappa_{2}}&#10;\sum_{\left(u\right)_{ij}w}&#10;\mathfrak{G}_{\left(s\right)_{01}\left(u\right)_{ij}w}&#10;\hat{\mathcal{P}}_{\left(s\right)_{01}}^{(pq)}&#10;\hat{\mathcal{F}}_{k\left(s\right)_{01}\left(u\right)_{ij}}^{(pq)}&#10;\hat{\mathcal{G}}_{k\left(s\right)_{01}w}^{(pq)}&#10;\end{align*}&#10;&#10;\end{document}" title="IguanaTex Bitmap Display">
            <a:extLst>
              <a:ext uri="{FF2B5EF4-FFF2-40B4-BE49-F238E27FC236}">
                <a16:creationId xmlns:a16="http://schemas.microsoft.com/office/drawing/2014/main" id="{F943F91C-DC34-46E9-83FB-A51001770B2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973940" y="2037775"/>
            <a:ext cx="6244120" cy="7433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927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D4a. Integral summation term restated (</a:t>
            </a:r>
            <a:r>
              <a:rPr lang="el-GR" dirty="0"/>
              <a:t>Δ</a:t>
            </a:r>
            <a:r>
              <a:rPr lang="en-US" dirty="0"/>
              <a:t> != 0, z != 1)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E7E1F0-A269-4617-859B-5AF812EFDCAB}"/>
              </a:ext>
            </a:extLst>
          </p:cNvPr>
          <p:cNvGrpSpPr/>
          <p:nvPr/>
        </p:nvGrpSpPr>
        <p:grpSpPr>
          <a:xfrm>
            <a:off x="651479" y="1985980"/>
            <a:ext cx="10889043" cy="396190"/>
            <a:chOff x="651479" y="1985980"/>
            <a:chExt cx="10889043" cy="396190"/>
          </a:xfrm>
        </p:grpSpPr>
        <p:pic>
          <p:nvPicPr>
            <p:cNvPr id="22" name="Picture 21" descr="\documentclass{article}&#10;\usepackage{amsmath,bm,eufrak}&#10;\pagestyle{empty}&#10;\begin{document}&#10;&#10;\begin{align*}&#10;\Delta \ne 0, z \ne 1&#10;\quad &amp;: \quad&#10;\hat{\mathcal{F}}_{k\left(s\right)_{01}\left(u\right)_{ij}}^{(pq)}&#10;=&#10;\mathcal{F}_{\left(u\right)_{ij}\left\{&#10;\left(\mathfrak{L}_{ij}-W\delta_{s_{0}\bar{1}}-W\delta_{s_{1}\bar{1}}\right)\hat{\Delta}_{pq}\hat{z}_{k}^{(pq)}&#10;\right\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A6E5055D-C30A-4670-B325-30A0E8674DA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51479" y="1985980"/>
              <a:ext cx="5813638" cy="39619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Picture 10" descr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FDA6539-5BF3-4D7F-8B91-C725152CCC8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769168" y="2082285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3CC290-458C-4EBE-AD71-1E9F4D9654E2}"/>
              </a:ext>
            </a:extLst>
          </p:cNvPr>
          <p:cNvGrpSpPr/>
          <p:nvPr/>
        </p:nvGrpSpPr>
        <p:grpSpPr>
          <a:xfrm>
            <a:off x="2750930" y="2962372"/>
            <a:ext cx="6690141" cy="1099685"/>
            <a:chOff x="2750930" y="2962372"/>
            <a:chExt cx="6690141" cy="1099685"/>
          </a:xfrm>
        </p:grpSpPr>
        <p:pic>
          <p:nvPicPr>
            <p:cNvPr id="50" name="Picture 49" descr="\documentclass{article}&#10;\usepackage{amsmath,bm,eufrak}&#10;\pagestyle{empty}&#10;\begin{document}&#10;&#10;\begin{align*}&#10;\hat{\Sigma}_{k}^{(pq)}&#10;&amp; =&#10;\sum_{s_{0}=-\kappa_{0}}^{+\kappa_{0}}&#10;\sum_{s_{1}=-\kappa_{1}}^{+\kappa_{1}}&#10;\sum_{\left(u\right)_{12}}&#10;\mathfrak{g}_{\left(s\right)_{01}\left(u\right)_{ij}}&#10;\hat{\mathcal{P}}_{\left(s\right)_{01}}^{(pq)}&#10;\hat{\mathcal{F}}_{k\left(s\right)_{01}\left(u\right)_{ij}}^{(pq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82BE522-C921-4246-8471-11A3A6A428D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527998" y="3342051"/>
              <a:ext cx="5136004" cy="7200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48" name="Picture 47" descr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&#10;=&#10;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A742819-42D0-49B1-8208-60858698410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750930" y="2962372"/>
              <a:ext cx="6690141" cy="2425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5E31F11-A746-4198-8D74-117456F49DEC}"/>
              </a:ext>
            </a:extLst>
          </p:cNvPr>
          <p:cNvGrpSpPr/>
          <p:nvPr/>
        </p:nvGrpSpPr>
        <p:grpSpPr>
          <a:xfrm>
            <a:off x="2973938" y="4714185"/>
            <a:ext cx="6244125" cy="1255970"/>
            <a:chOff x="2973938" y="4714185"/>
            <a:chExt cx="6244125" cy="1255970"/>
          </a:xfrm>
        </p:grpSpPr>
        <p:pic>
          <p:nvPicPr>
            <p:cNvPr id="45" name="Picture 44" descr="\documentclass{article}&#10;\usepackage{amsmath,bm,eufrak}&#10;\pagestyle{empty}&#10;\begin{document}&#10;&#10;\begin{align*}&#10;\hat{\Sigma}_{k}^{(pq)}&#10;&amp; = &#10;\sum_{s_{0}=-\kappa_{1}}^{+\kappa_{1}}&#10;\sum_{s_{1}=-\kappa_{2}}^{+\kappa_{2}}&#10;\sum_{\left(u\right)_{ij}w}&#10;\mathfrak{G}_{\left(s\right)_{01}\left(u\right)_{ij}w}&#10;\hat{\mathcal{P}}_{\left(s\right)_{01}}^{(pq)}&#10;\hat{\mathcal{F}}_{k\left(s\right)_{01}\left(u\right)_{ij}}^{(pq)}&#10;\hat{\mathcal{G}}_{k\left(s\right)_{01}w}^{(pq)}&#10;\end{align*}&#10;&#10;\end{document}" title="IguanaTex Bitmap Display">
              <a:extLst>
                <a:ext uri="{FF2B5EF4-FFF2-40B4-BE49-F238E27FC236}">
                  <a16:creationId xmlns:a16="http://schemas.microsoft.com/office/drawing/2014/main" id="{D5019291-41F2-497C-9613-22E212F733D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973938" y="5226834"/>
              <a:ext cx="6244125" cy="743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54" name="Picture 53" descr="\documentclass{article}&#10;\usepackage{amsmath,bm,eufrak}&#10;\pagestyle{empty}&#10;\begin{document}&#10;&#10;\begin{equation*}&#10;\tilde{\alpha},\beta \ne 0&#10;\quad : \quad&#10;\hat{\mathcal{G}}_{k\left(s\right)_{01}w}^{(pq)}&#10;=&#10;\mathcal{G}_{\left\{\left(\mathfrak{L}_{ij}-W\delta_{s_{0}\bar{1}}-W\delta_{s_{1}\bar{1}}+Ww\right)\hat{\mathcal{Z}}_{k}^{(pq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321E590F-ECEA-48B9-9175-EC483C23A11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610360" y="4714185"/>
              <a:ext cx="4971280" cy="429105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734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D4b. Integral summation term restated (</a:t>
            </a:r>
            <a:r>
              <a:rPr lang="el-GR" dirty="0"/>
              <a:t>Δ</a:t>
            </a:r>
            <a:r>
              <a:rPr lang="en-US" dirty="0"/>
              <a:t> != 0, z = 1)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60EC534-9CEC-4377-9CE3-67FF4FF629DD}"/>
              </a:ext>
            </a:extLst>
          </p:cNvPr>
          <p:cNvGrpSpPr/>
          <p:nvPr/>
        </p:nvGrpSpPr>
        <p:grpSpPr>
          <a:xfrm>
            <a:off x="1658006" y="2069541"/>
            <a:ext cx="8875988" cy="235276"/>
            <a:chOff x="1658007" y="2069541"/>
            <a:chExt cx="8875988" cy="235276"/>
          </a:xfrm>
        </p:grpSpPr>
        <p:pic>
          <p:nvPicPr>
            <p:cNvPr id="48" name="Picture 47" descr="\documentclass{article}&#10;\usepackage{amsmath,bm,eufrak}&#10;\pagestyle{empty}&#10;\begin{document}&#10;&#10;\begin{align*}&#10;\Delta \ne 0, z = 1&#10;\quad &amp;: \quad&#10;\hat{\mathcal{F}}_{u} = \hat{\Delta}^{u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F156D6A-B9BB-47EF-AD13-CFE568E1CF7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658007" y="2069541"/>
              <a:ext cx="2446629" cy="2352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Picture 108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92ACC04-D4C9-40EE-99CC-A8C1695C301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762641" y="2076855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82FAE9-1137-40B5-A2E3-23BADA44FBDE}"/>
              </a:ext>
            </a:extLst>
          </p:cNvPr>
          <p:cNvGrpSpPr/>
          <p:nvPr/>
        </p:nvGrpSpPr>
        <p:grpSpPr>
          <a:xfrm>
            <a:off x="4073138" y="2944521"/>
            <a:ext cx="4045725" cy="1172464"/>
            <a:chOff x="4073138" y="2944521"/>
            <a:chExt cx="4045725" cy="1172464"/>
          </a:xfrm>
        </p:grpSpPr>
        <p:pic>
          <p:nvPicPr>
            <p:cNvPr id="34" name="Picture 33" descr="\documentclass{article}&#10;\usepackage{amsmath,bm,eufrak}&#10;\pagestyle{empty}&#10;\begin{document}&#10;&#10;\begin{equation*}&#10;\tilde{\alpha},\beta = 0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C3639274-133A-4C38-A66E-4A53639806F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210970" y="2944521"/>
              <a:ext cx="1770060" cy="23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7" name="Picture 36" descr="\documentclass{article}&#10;\usepackage{amsmath,bm,eufrak}&#10;\pagestyle{empty}&#10;\begin{document}&#10;&#10;\begin{align*}&#10;\hat{\Sigma}_{k}^{(pq)}&#10;&amp; =&#10;\sum_{s_{0}=-\kappa_{0}}^{+\kappa_{0}}&#10;\sum_{s_{1}=-\kappa_{1}}^{+\kappa_{1}}&#10;\sum_{u}&#10;\mathfrak{i}_{\left(s\right)_{01}u}&#10;\hat{\mathcal{P}}_{\left(s\right)_{01}}^{(pq)}&#10;\hat{\Delta}_{pq}^{u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F0F0253-8509-4B36-8A5F-D2294883DE5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073138" y="3443608"/>
              <a:ext cx="4045725" cy="673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F0B585E-AE4A-4461-ADD3-E66BEE41613D}"/>
              </a:ext>
            </a:extLst>
          </p:cNvPr>
          <p:cNvGrpSpPr/>
          <p:nvPr/>
        </p:nvGrpSpPr>
        <p:grpSpPr>
          <a:xfrm>
            <a:off x="1150316" y="4753944"/>
            <a:ext cx="9891369" cy="1162057"/>
            <a:chOff x="1150316" y="4753944"/>
            <a:chExt cx="9891369" cy="1162057"/>
          </a:xfrm>
        </p:grpSpPr>
        <p:pic>
          <p:nvPicPr>
            <p:cNvPr id="24" name="Picture 23" descr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k\left(s\right)_{01}w}^{(pq)}&#10;=&#10;\mathcal{G}_{\left\{\left(\mathfrak{L}_{ij}-W\delta_{s_{0}\bar{1}}-W\delta_{s_{1}\bar{1}}+Ww\right)\hat{\mathcal{Z}}_{k}^{(pq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8B0B40B-3DD3-457F-AC7B-E7E3B686089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150316" y="4753944"/>
              <a:ext cx="9891369" cy="42910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Picture 40" descr="\documentclass{article}&#10;\usepackage{amsmath,bm,eufrak}&#10;\pagestyle{empty}&#10;\begin{document}&#10;&#10;\begin{align*}&#10;\hat{\Sigma}_{k}^{(pq)}&#10;&amp; = &#10;\sum_{s_{0}=-\kappa_{0}}^{+\kappa_{0}}&#10;\sum_{s_{1}=-\kappa_{1}}^{+\kappa_{1}}&#10;\sum_{uw}&#10;\mathfrak{I}_{\left(s\right)_{12}uw}&#10;\hat{\mathcal{P}}_{\left(s\right)_{01}}^{(pq)}&#10;\hat{\Delta}_{pq}^{u}&#10;\hat{\mathcal{G}}_{k\left(s\right)_{01}w}^{(pq)}&#10;\end{align*}&#10;&#10;\end{document}" title="IguanaTex Bitmap Display">
              <a:extLst>
                <a:ext uri="{FF2B5EF4-FFF2-40B4-BE49-F238E27FC236}">
                  <a16:creationId xmlns:a16="http://schemas.microsoft.com/office/drawing/2014/main" id="{4B305C49-CDAA-484F-8586-37F431C56EC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586282" y="5242624"/>
              <a:ext cx="5019436" cy="673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14862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D4c. Integral summation term restated (</a:t>
            </a:r>
            <a:r>
              <a:rPr lang="el-GR" dirty="0"/>
              <a:t>Δ</a:t>
            </a:r>
            <a:r>
              <a:rPr lang="en-US" dirty="0"/>
              <a:t> = 0, z != 1)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2D04A1A-F053-4C3D-9885-0EA8C91ACC5F}"/>
              </a:ext>
            </a:extLst>
          </p:cNvPr>
          <p:cNvGrpSpPr/>
          <p:nvPr/>
        </p:nvGrpSpPr>
        <p:grpSpPr>
          <a:xfrm>
            <a:off x="879034" y="2108437"/>
            <a:ext cx="10433932" cy="396189"/>
            <a:chOff x="879034" y="2108437"/>
            <a:chExt cx="10433932" cy="396189"/>
          </a:xfrm>
        </p:grpSpPr>
        <p:pic>
          <p:nvPicPr>
            <p:cNvPr id="43" name="Picture 42" descr="\documentclass{article}&#10;\usepackage{amsmath,bm,eufrak}&#10;\pagestyle{empty}&#10;\begin{document}&#10;&#10;\begin{equation*}&#10;\Delta = 0, z \ne 1&#10;\quad : \quad&#10;\hat{\mathcal{F}}_{k\left(s\right)_{01}u}^{(pq)}&#10;=&#10;\mathcal{F}_{u\left\{&#10;\left(\mathfrak{L}_{ij}-W\delta_{s_{0}\bar{1}}-W\delta_{s_{1}\bar{1}}\right)\hat{\Delta}_{pq}\hat{z}_{k}^{(pq)}&#10;\right\}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C72CD03-227C-4B6C-96B0-2D42126F659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79034" y="2108437"/>
              <a:ext cx="5301640" cy="39618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Picture 8" descr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92A27E75-6FFB-4E12-B4CC-D3B9B114E32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541612" y="2204741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AC625D-C146-4894-8892-ECF3DA2FC910}"/>
              </a:ext>
            </a:extLst>
          </p:cNvPr>
          <p:cNvGrpSpPr/>
          <p:nvPr/>
        </p:nvGrpSpPr>
        <p:grpSpPr>
          <a:xfrm>
            <a:off x="3370969" y="4753942"/>
            <a:ext cx="5450062" cy="1259871"/>
            <a:chOff x="3370969" y="4753942"/>
            <a:chExt cx="5450062" cy="1259871"/>
          </a:xfrm>
        </p:grpSpPr>
        <p:pic>
          <p:nvPicPr>
            <p:cNvPr id="35" name="Picture 34" descr="\documentclass{article}&#10;\usepackage{amsmath,bm,eufrak}&#10;\pagestyle{empty}&#10;\begin{document}&#10;&#10;\begin{align*}&#10;\hat{\Sigma}_{k}^{(pq)}&#10;&amp; = &#10;\sum_{s_{0}=-\kappa_{0}}^{+\kappa_{0}}&#10;\sum_{s_{1}=-\kappa_{1}}^{+\kappa_{1}}&#10;\sum_{uw}&#10;\mathfrak{H}_{\left(s\right)_{01}uw}&#10;\hat{\mathcal{P}}_{\left(s\right)_{01}}^{(pq)}&#10;\hat{\mathcal{F}}_{k\left(s\right)_{01}u}^{(pq)}&#10;\hat{\mathcal{G}}_{k\left(s\right)_{01}w}^{(pq)}&#10;\end{align*}&#10;&#10;\end{document}" title="IguanaTex Bitmap Display">
              <a:extLst>
                <a:ext uri="{FF2B5EF4-FFF2-40B4-BE49-F238E27FC236}">
                  <a16:creationId xmlns:a16="http://schemas.microsoft.com/office/drawing/2014/main" id="{359903B8-A98B-4A0B-A73F-A365D8AC2DF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370969" y="5340436"/>
              <a:ext cx="5450062" cy="673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2" name="Picture 21" descr="\documentclass{article}&#10;\usepackage{amsmath,bm,eufrak}&#10;\pagestyle{empty}&#10;\begin{document}&#10;&#10;\begin{equation*}&#10;\tilde{\alpha},\beta \ne 0&#10;\quad : \quad&#10;\hat{\mathcal{G}}_{k\left(s\right)_{01}w}^{(pq)}&#10;=&#10;\mathcal{G}_{\left\{\left(\mathfrak{L}_{ij}-W\delta_{s_{0}\bar{1}}-W\delta_{s_{1}\bar{1}}+Ww\right)\hat{\mathcal{Z}}_{k}^{(pq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B18F891C-CBF0-4550-A5EC-40D2A0D6637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610360" y="4753942"/>
              <a:ext cx="4971281" cy="429105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73B743-3751-4174-998B-D15E8C665694}"/>
              </a:ext>
            </a:extLst>
          </p:cNvPr>
          <p:cNvGrpSpPr/>
          <p:nvPr/>
        </p:nvGrpSpPr>
        <p:grpSpPr>
          <a:xfrm>
            <a:off x="2750930" y="3089412"/>
            <a:ext cx="6690141" cy="1079744"/>
            <a:chOff x="2750930" y="3054822"/>
            <a:chExt cx="6690141" cy="1079744"/>
          </a:xfrm>
        </p:grpSpPr>
        <p:pic>
          <p:nvPicPr>
            <p:cNvPr id="23" name="Picture 22" descr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C2160DD-75E0-4118-BE50-729A8220717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750930" y="3054822"/>
              <a:ext cx="6690141" cy="24259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9" name="Picture 38" descr="\documentclass{article}&#10;\usepackage{amsmath,bm,eufrak}&#10;\pagestyle{empty}&#10;\begin{document}&#10;&#10;\begin{align*}&#10;\hat{\Sigma}_{k}^{(pq)}&#10;&amp; = &#10;\sum_{s_{0}=-\kappa_{0}}^{+\kappa_{0}}&#10;\sum_{s_{1}=-\kappa_{1}}^{+\kappa_{1}}&#10;\sum_{u}&#10;\mathfrak{h}_{\left(s\right)_{01}u}&#10;\hat{\mathcal{P}}_{\left(s\right)_{01}}^{(pq)}&#10;\hat{\mathcal{F}}_{k\left(s\right)_{01}u}^{(pq)}&#10;\end{align*}&#10;&#10;\end{document}" title="IguanaTex Bitmap Display">
              <a:extLst>
                <a:ext uri="{FF2B5EF4-FFF2-40B4-BE49-F238E27FC236}">
                  <a16:creationId xmlns:a16="http://schemas.microsoft.com/office/drawing/2014/main" id="{4746B4B5-46F9-4EF7-AC16-FD36188032F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848912" y="3461189"/>
              <a:ext cx="4494176" cy="673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06396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D4d. Integral summation term restated (</a:t>
            </a:r>
            <a:r>
              <a:rPr lang="el-GR" dirty="0"/>
              <a:t>Δ</a:t>
            </a:r>
            <a:r>
              <a:rPr lang="en-US" dirty="0"/>
              <a:t> = 0, z = 1)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178F97-AD44-4C61-9669-7397458F5352}"/>
              </a:ext>
            </a:extLst>
          </p:cNvPr>
          <p:cNvGrpSpPr/>
          <p:nvPr/>
        </p:nvGrpSpPr>
        <p:grpSpPr>
          <a:xfrm>
            <a:off x="4511314" y="2973490"/>
            <a:ext cx="3169373" cy="1113584"/>
            <a:chOff x="4511314" y="2974863"/>
            <a:chExt cx="3169373" cy="1113584"/>
          </a:xfrm>
        </p:grpSpPr>
        <p:pic>
          <p:nvPicPr>
            <p:cNvPr id="7" name="Picture 6" descr="\documentclass{article}&#10;\usepackage{amsmath,bm,eufrak}&#10;\pagestyle{empty}&#10;\begin{document}&#10;&#10;\begin{equation*}&#10;\tilde{\alpha},\beta = 0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23AE18F-66AC-42C2-90E9-6033FB6747E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210971" y="2974863"/>
              <a:ext cx="1770059" cy="23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" name="Picture 23" descr="\documentclass{article}&#10;\usepackage{amsmath,bm,eufrak}&#10;\pagestyle{empty}&#10;\begin{document}&#10;&#10;\begin{align*}&#10;\hat{\Sigma}_{k}^{(pq)}&#10;&amp; = &#10;\sum_{s_{0}=-\kappa_{0}}^{+\kappa_{0}}&#10;\sum_{s_{1}=-\kappa_{1}}^{+\kappa_{1}}&#10;\mathfrak{j}_{\left(s\right)_{01}}&#10;\hat{\mathcal{P}}_{\left(s\right)_{01}}^{(pq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FBA5A92-D7DA-4142-9394-AC0AC3BD5A2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511314" y="3415070"/>
              <a:ext cx="3169373" cy="673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CAB4DA-C41D-46E4-9A73-C362B36F6AF5}"/>
              </a:ext>
            </a:extLst>
          </p:cNvPr>
          <p:cNvGrpSpPr/>
          <p:nvPr/>
        </p:nvGrpSpPr>
        <p:grpSpPr>
          <a:xfrm>
            <a:off x="1657599" y="2076221"/>
            <a:ext cx="8876801" cy="230400"/>
            <a:chOff x="1657599" y="2076221"/>
            <a:chExt cx="8876801" cy="230400"/>
          </a:xfrm>
        </p:grpSpPr>
        <p:pic>
          <p:nvPicPr>
            <p:cNvPr id="4" name="Picture 3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0CBEFFB-FE46-4D54-A1BA-D10C05D3A72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763046" y="2089631"/>
              <a:ext cx="4771354" cy="2035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 descr="\documentclass{article}&#10;\usepackage{amsmath,bm,eufrak}&#10;\pagestyle{empty}&#10;\begin{document}&#10;&#10;\begin{align*}&#10;\Delta = 0, z = 1&#10;\quad &amp;: \quad&#10;\hat{\mathcal{F}}_{u}&#10;= &#10;\delta_{u0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E65CDF3-87D4-452D-A02E-2F8A39DBA6C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657599" y="2076221"/>
              <a:ext cx="2447848" cy="2304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180F6A-DD9A-41F4-8B6F-31A69B5A112E}"/>
              </a:ext>
            </a:extLst>
          </p:cNvPr>
          <p:cNvGrpSpPr/>
          <p:nvPr/>
        </p:nvGrpSpPr>
        <p:grpSpPr>
          <a:xfrm>
            <a:off x="1150316" y="4753944"/>
            <a:ext cx="9891368" cy="1259871"/>
            <a:chOff x="1150316" y="4753944"/>
            <a:chExt cx="9891368" cy="1259871"/>
          </a:xfrm>
        </p:grpSpPr>
        <p:pic>
          <p:nvPicPr>
            <p:cNvPr id="32" name="Picture 31" descr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k\left(s\right)_{01}w}^{(pq)}&#10;=&#10;\mathcal{G}_{\left\{\left(\mathfrak{L}_{ij}-W\delta_{s_{0}\bar{1}}-W\delta_{s_{1}\bar{1}}+Ww\right)\hat{\mathcal{Z}}_{k}^{(pq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1F9A5DD0-7863-4C00-82B2-AE56975F507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150316" y="4753944"/>
              <a:ext cx="9891368" cy="42910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0" name="Picture 39" descr="\documentclass{article}&#10;\usepackage{amsmath,bm,eufrak}&#10;\pagestyle{empty}&#10;\begin{document}&#10;&#10;\begin{align*}&#10;\hat{\Sigma}_{k}^{(pq)}&#10;&amp; = &#10;\sum_{s_{0}=-\kappa_{0}}^{+\kappa_{0}}&#10;\sum_{s_{1}=-\kappa_{1}}^{+\kappa_{1}}&#10;\sum_{w}&#10;\mathfrak{J}_{\left(s\right)_{01}w}&#10;\hat{\mathcal{P}}_{\left(s\right)_{01}}^{(pq)}&#10;\hat{\mathcal{G}}_{k\left(s\right)_{01}w}^{(pq)}&#10;\end{align*}&#10;&#10;\end{document}" title="IguanaTex Bitmap Display">
              <a:extLst>
                <a:ext uri="{FF2B5EF4-FFF2-40B4-BE49-F238E27FC236}">
                  <a16:creationId xmlns:a16="http://schemas.microsoft.com/office/drawing/2014/main" id="{EE7551BC-A35D-46FF-9B5A-E56F14ACF23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833139" y="5340438"/>
              <a:ext cx="4525722" cy="673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27134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9.9325"/>
  <p:tag name="ORIGINALWIDTH" val="5399.325"/>
  <p:tag name="OUTPUTTYPE" val="PNG"/>
  <p:tag name="IGUANATEXVERSION" val="159"/>
  <p:tag name="LATEXADDIN" val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/>
  <p:tag name="IGUANATEXSIZE" val="20"/>
  <p:tag name="IGUANATEXCURSOR" val="55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268.091"/>
  <p:tag name="OUTPUTTYPE" val="PNG"/>
  <p:tag name="IGUANATEXVERSION" val="159"/>
  <p:tag name="LATEXADDIN" val="\documentclass{article}&#10;\usepackage{amsmath,bm,eufrak}&#10;\pagestyle{empty}&#10;\begin{document}&#10;&#10;\begin{equation*}&#10;\Phi_{\eta\lambda;m\xi lk}^{(W\kappa p)}&#10;= &#10;\left(\frac{\hbar^{2}}{2m_{0}a_{0}^{2}\eta^{2}}\right)^{\kappa}&#10;\hat{Q}_{m\xi}^{(p)}&#10;\sum_{s=-\kappa}^{+\kappa}&#10;\mathfrak{H}^{(\kappa)}_{\lambda;lm,s}&#10;\hat{\mathcal{P}}_{\lambda;(l+2s)m}^{(p)}&#10;\hat{\mathcal{R}}_{\eta\lambda;lk,s}^{(W\kappa p)}&#10;\end{equation*}&#10;&#10;\end{document}"/>
  <p:tag name="IGUANATEXSIZE" val="20"/>
  <p:tag name="IGUANATEXCURSOR" val="39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2.3771"/>
  <p:tag name="ORIGINALWIDTH" val="2760.405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vartheta_{\lambda\left\{\chi_{q}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/>
  <p:tag name="IGUANATEXSIZE" val="20"/>
  <p:tag name="IGUANATEXCURSOR" val="29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92.801"/>
  <p:tag name="OUTPUTTYPE" val="PNG"/>
  <p:tag name="IGUANATEXVERSION" val="159"/>
  <p:tag name="LATEXADDIN" val="\documentclass{article}&#10;\usepackage{amsmath,bm}&#10;\pagestyle{empty}&#10;\begin{document}&#10;&#10;\begin{align*}&#10;h_{lk,v}^{(\kappa s)}&#10;&amp; =&#10;\left(1-\kappa\right)\delta_{s0}\delta_{v0} + \kappa g_{lk,v}^{(s)}&#10;\\&#10;\end{align*}&#10;&#10;\end{document}"/>
  <p:tag name="IGUANATEXSIZE" val="20"/>
  <p:tag name="IGUANATEXCURSOR" val="16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41.1324"/>
  <p:tag name="LATEXADDIN" val="\documentclass{article}&#10;\usepackage{amsmath,bm,eufrak}&#10;\pagestyle{empty}&#10;\begin{document}&#10;&#10;\begin{align*}&#10;\alpha&#10;=&#10;\frac{2}{W}\left(l+\frac{1}{W}\right)&#10;\end{align*}&#10;&#10;\end{document}"/>
  <p:tag name="IGUANATEXSIZE" val="14"/>
  <p:tag name="IGUANATEXCURSOR" val="1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4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OUTPUTTYPE" val="PNG"/>
  <p:tag name="IGUANATEXVERSION" val="159"/>
  <p:tag name="LATEXADDIN" val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20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+1)}&#10;=&#10;-\sqrt{(k-1)k(k+\alpha)}&#10;\\&#10;g_{lk,-1}^{(+1)}&#10;=&#10;-\sqrt{k}\left(k+2\alpha+5-2\delta_{W,2}\right)&#10;\\&#10;g_{lk,0}^{(+1)}&#10;=&#10;\sqrt{k+\alpha+1}&#10;\left(k-\alpha-4+2\delta_{W,2}\right)&#10;\\&#10;g_{lk,+1}^{(+1)}&#10;=&#10;\sqrt{(k+1)(k+1+\alpha)(k+2+\alpha)}&#10;\\&#10;\end{gather*}&#10;&#10;\end{document}"/>
  <p:tag name="IGUANATEXSIZE" val="13"/>
  <p:tag name="IGUANATEXCURSOR" val="28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0)}&#10;=&#10;-\sqrt{(k-1)k(k+\alpha)}&#10;\\&#10;g_{lk,-1}^{(0)}&#10;=&#10;-\sqrt{k}\left(k+3-2\delta_{W,2}\right)&#10;\\&#10;g_{lk,0}^{(0)}&#10;=&#10;\sqrt{k+\alpha+1}&#10;\left(k+\alpha-2+2\delta_{W,2}\right)&#10;\\&#10;g_{lk,+1}^{(0)}&#10;=&#10;\sqrt{(k+1)(k+1+\alpha)(k+2+\alpha)}&#10;\\&#10;\end{gather*}&#10;&#10;\end{document}"/>
  <p:tag name="IGUANATEXSIZE" val="13"/>
  <p:tag name="IGUANATEXCURSOR" val="27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9.224"/>
  <p:tag name="LATEXADDIN" val="\documentclass{article}&#10;\usepackage{amsmath,bm,eufrak}&#10;\pagestyle{empty}&#10;\begin{document}&#10;&#10;\begin{gather*}&#10;g_{lk,-2}^{(-1)}&#10;=&#10;-\sqrt{(k-1)k(k-1+\alpha)(k+\alpha)}&#10;\\&#10;g_{lk,-1}^{(-1)}&#10;=&#10;2\sqrt{k(k+\alpha)}\left(\alpha-2-3\delta_{W,2}\right)&#10;\\&#10;g_{lk,0}^{(-1)}&#10;=&#10;2k^{2}-4\left(\alpha-1+\delta_{W,2}\right)\left(\alpha-3+2\delta_{W,2}\right)+(\alpha+1)(2k+3\alpha-8+6\delta_{W,2})&#10;\\&#10;g_{lk,+1}^{(-1)}&#10;=&#10;-2\sqrt{(k+1)(k+1+\alpha)}\left(\alpha-5+3\delta_{W,2}\right)&#10;\\&#10;g_{lk,+2}^{(-1)}&#10;=&#10;-\sqrt{(k+1)(k+2)(k+1+\alpha)(k+2+\alpha)}&#10;\end{gather*}&#10;&#10;\end{document}"/>
  <p:tag name="IGUANATEXSIZE" val="13"/>
  <p:tag name="IGUANATEXCURSOR" val="2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.4552"/>
  <p:tag name="ORIGINALWIDTH" val="2851.894"/>
  <p:tag name="OUTPUTTYPE" val="PNG"/>
  <p:tag name="IGUANATEXVERSION" val="159"/>
  <p:tag name="LATEXADDIN" val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end{align*}&#10;&#10;\end{document}"/>
  <p:tag name="IGUANATEXSIZE" val="20"/>
  <p:tag name="IGUANATEXCURSOR" val="322"/>
  <p:tag name="TRANSPARENCY" val="True"/>
  <p:tag name="FILENAME" val=""/>
  <p:tag name="LATEXENGINEID" val="0"/>
  <p:tag name="TEMPFOLDER" val="C:\iguanatex\"/>
  <p:tag name="LATEXFORMHEIGHT" val="463"/>
  <p:tag name="LATEXFORMWIDTH" val="1002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57.48"/>
  <p:tag name="ORIGINALWIDTH" val="5282.339"/>
  <p:tag name="OUTPUTTYPE" val="PNG"/>
  <p:tag name="IGUANATEXVERSION" val="159"/>
  <p:tag name="LATEXADDIN" val="\documentclass{article}&#10;\usepackage{amsmath,bm,eufrak}&#10;\pagestyle{empty}&#10;\begin{document}&#10;&#10;\begin{align*}&#10;\mathfrak{G}_{\left(lk\right)_{ij}\left(s\right)_{01}\left(u\right)_{ij}w}^{\left(W\left(\kappa\right)_{01}d\right)}&#10;&amp; = &#10;(-1)^{u_{i}+u_{j}+w}&#10;\left(\frac{W}{2}\right)^{d}&#10;\Gamma\left[\frac{\mathfrak{L}_{ij}}{W}+w-\delta_{s_{0}\bar{1}}-\delta_{s_{1}\bar{1}}+1\right]&#10;\mathfrak{H}_{\left(lk\right)_{ij}\left(s\right)_{01}\left(\mathcal{K}-u\right)_{ij}\left(\mathcal{K}_{i}+\mathcal{K}_{j}-w\right)}^{W\left(\kappa\right)_{01}}&#10;\\&#10;\mathfrak{H}_{\left(lk\right)_{ij}\left(s\right)_{01}\left(\mathcal{U}\right)_{ij}\mathcal{W}}^{W\left(\kappa\right)_{01}}&#10;&amp; = &#10;\sum_{x=\text{Max}\left\{0,\mathcal{W}-\mathcal{U}_{j}\right\}}^{\text{Min}\left\{\mathcal{U}_{i},\mathcal{W}\right\}}&#10;\mathfrak{h}_{\left(\alpha k\right)_{i}s_{0}\mathcal{U}_{i}x}^{\left(W\kappa_{0}\right)}&#10;\mathfrak{h}_{\left(\alpha k\right)_{j}s_{1}\mathcal{U}_{j}\left(\mathcal{W}-x\right)}^{\left(W\kappa_{1}\right)}&#10;\\&#10;\mathfrak{h}_{\alpha k;s\mathcal{U}x}^{\left(W\kappa\right)}&#10;&amp; =&#10;\frac{1}{\sqrt{k!\alpha!}}&#10;\begin{pmatrix}&#10;\mathcal{K} \\&#10;\mathcal{U}&#10;\end{pmatrix}&#10;\begin{pmatrix}&#10;\mathcal{U} \\&#10;x&#10;\end{pmatrix}&#10;\alpha^{\underline{x}}&#10;\left(1 + \kappa \mathfrak{h}_{\alpha k;sx}^{\left(W\right)}\right)&#10;\\&#10;\mathfrak{h}_{\alpha k;1x}^{\left(W\right)}&#10;&amp;=&#10;k-x&#10;+\frac&#10;{2x(2x(k+\delta_{W,2}-x)+\delta_{W,1})}&#10;{\alpha+1-x}&#10;+\frac&#10;{4x(-k+x-\delta_{W,2})(x-1)}&#10;{\alpha+2-x}&#10;\\&#10;\mathfrak{h}_{\alpha k;0x}^{\left(W\right)}&#10;&amp;=&#10;k+x&#10;+\frac&#10;{2x\left(k-\delta_{W,1}\left(x-1\right)+\delta_{W,2}x\right)}&#10;{\alpha+1-x}&#10;+&#10;\delta_{W,1}&#10;\frac&#10;{4(x-1)x}&#10;{\alpha+2-x}&#10;\\&#10;\mathfrak{h}_{\alpha k;\bar{1}x}^{\left(W\right)}&#10;&amp; =&#10;-(k+1+x)(k+2+x)+2x-1&#10;+&#10;\delta_{W,1}&#10;\left(&#10;\frac&#10;{6x(k+2-x)}&#10;{\alpha+1-x}&#10;+\frac&#10;{12x(x-1)}&#10;{\alpha+2-x}&#10;\right)&#10;\\&#10;\end{align*}&#10;&#10;\end{document}"/>
  <p:tag name="IGUANATEXSIZE" val="16"/>
  <p:tag name="IGUANATEXCURSOR" val="244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4872.141"/>
  <p:tag name="OUTPUTTYPE" val="PNG"/>
  <p:tag name="IGUANATEXVERSION" val="159"/>
  <p:tag name="LATEXADDIN" val="\documentclass{article}&#10;\usepackage{amsmath,bm,eufrak}&#10;\pagestyle{empty}&#10;\begin{document}&#10;&#10;\begin{gather*}&#10;\mathfrak{L}_{ij}&#10;\equiv&#10;l_{i}+l_{j}+3-W+d&#10;-\delta_{W,1}\left(\kappa_{0}+\kappa_{1}\right)&#10;\quad&#10;\mathcal{K}_{i}&#10;\equiv&#10;k_{i}+\kappa_{i}+\delta_{s_{i}\bar{1}}&#10;\quad&#10;\alpha_{i}&#10;\equiv&#10;\frac{2}{W}\left(l_{i}+\frac{1}{W}\right) + k_{i}&#10;\end{gather*}&#10;&#10;\end{document}"/>
  <p:tag name="IGUANATEXSIZE" val="16"/>
  <p:tag name="IGUANATEXCURSOR" val="18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2032"/>
  <p:tag name="ORIGINALWIDTH" val="1923.51"/>
  <p:tag name="OUTPUTTYPE" val="PNG"/>
  <p:tag name="IGUANATEXVERSION" val="159"/>
  <p:tag name="LATEXADDIN" val="\documentclass{article}&#10;\usepackage{amsmath,bm,eufrak}&#10;\pagestyle{empty}&#10;\begin{document}&#10;&#10;\begin{equation*}&#10;\mathfrak{g}_{\left(lk\right)_{12}\left(su\right)_{12}}^{\left(W\left(\kappa\right)_{12}d\right)}&#10;=&#10;\sum_{w=u_{1}+u_{2}}^{\mathcal{K}_{1}+\mathcal{K}_{2}}&#10;\mathfrak{G}_{\left(lk\right)_{12}\left(su\right)_{12}w}^{\left(W\left(\kappa\right)_{12}d\right)}&#10;\\&#10;\end{equation*}&#10;&#10;\end{document}"/>
  <p:tag name="IGUANATEXSIZE" val="16"/>
  <p:tag name="IGUANATEXCURSOR" val="275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0.6674"/>
  <p:tag name="ORIGINALWIDTH" val="1930.259"/>
  <p:tag name="OUTPUTTYPE" val="PNG"/>
  <p:tag name="IGUANATEXVERSION" val="159"/>
  <p:tag name="LATEXADDIN" val="\documentclass{article}&#10;\usepackage{amsmath,bm,eufrak}&#10;\pagestyle{empty}&#10;\begin{document}&#10;&#10;\begin{align*}&#10;\mathfrak{J}_{\left(lk\right)_{12}\left(s\right)_{12}w}^{\left(W\left(\kappa\right)_{12}d\right)}&#10;&amp; =&#10;\mathfrak{G}_{\left(lk\right)_{12}\left(s\right)_{12}00w}^{\left(W\left(\kappa\right)_{12}d\right)}&#10;\\&#10;\mathfrak{j}_{\left(lk\right)_{12}\left(s\right)_{12}}^{\left(W\left(\kappa\right)_{12}d\right)}&#10;&amp; =&#10;\sum_{w=u}^{\mathcal{K}_{1}+\mathcal{K}_{2}}&#10;\mathfrak{G}_{\left(lk\right)_{12}\left(su\right)_{12}00w}^{\left(W\left(\kappa\right)_{12}d\right)}&#10;\\&#10;\end{align*}&#10;&#10;\end{document}"/>
  <p:tag name="IGUANATEXSIZE" val="16"/>
  <p:tag name="IGUANATEXCURSOR" val="322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5.6468"/>
  <p:tag name="ORIGINALWIDTH" val="2860.892"/>
  <p:tag name="OUTPUTTYPE" val="PNG"/>
  <p:tag name="IGUANATEXVERSION" val="159"/>
  <p:tag name="LATEXADDIN" val="\documentclass{article}&#10;\usepackage{amsmath,bm,eufrak}&#10;\pagestyle{empty}&#10;\begin{document}&#10;&#10;\begin{align*}&#10;\mathfrak{H}_{\left(lk\right)_{12}\left(s\right)_{12}uw}^{\left(W\left(\kappa\right)_{12}d\right)}&#10;&amp; =&#10;\sum_{u_{1}=0}^{\mathcal{K}_{1}}&#10;\sum_{u_{2}=0}^{\mathcal{K}_{2}}&#10;\delta_{u,u_{1}+u_{2}}&#10;\mathfrak{G}_{\left(lk\right)_{12}\left(su\right)_{12}w}^{\left(W\left(\kappa\right)_{12}d\right)}&#10;\\&#10;\mathfrak{h}_{\left(lk\right)_{12}\left(s\right)_{12}u}^{\left(W\left(\kappa\right)_{12}d\right)}&#10;&amp; =&#10;\sum_{w=u}^{\mathcal{K}_{1}+\mathcal{K}_{2}}&#10;\sum_{u_{1}=0}^{\mathcal{K}_{1}}&#10;\sum_{u_{2}=0}^{\mathcal{K}_{2}}&#10;\delta_{u,u_{1}+u_{2}}&#10;\mathfrak{G}_{\left(lk\right)_{12}\left(su\right)_{12}w}^{\left(W\left(\kappa\right)_{12}d\right)}&#10;\\&#10;\end{align*}&#10;&#10;\end{document}"/>
  <p:tag name="IGUANATEXSIZE" val="16"/>
  <p:tag name="IGUANATEXCURSOR" val="647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5.6468"/>
  <p:tag name="ORIGINALWIDTH" val="3225.347"/>
  <p:tag name="OUTPUTTYPE" val="PNG"/>
  <p:tag name="IGUANATEXVERSION" val="159"/>
  <p:tag name="LATEXADDIN" val="\documentclass{article}&#10;\usepackage{amsmath,bm,eufrak}&#10;\pagestyle{empty}&#10;\begin{document}&#10;&#10;\begin{align*}&#10;\mathfrak{I}_{\left(lk\right)_{12}\left(s\right)_{12}uw}^{\left(W\left(\kappa\right)_{12}d\right)}&#10;&amp; =&#10;\sum_{u_{1}=0}^{\mathcal{K}_{1}}&#10;\sum_{u_{2}=0}^{\mathcal{K}_{2}}&#10;\left(-1\right)^{u_{1}}\delta_{u,u_{1}+u_{2}}&#10;\mathfrak{G}_{\left(lk\right)_{12}\left(su\right)_{12}w}^{\left(W\left(\kappa\right)_{12}d\right)}&#10;\\&#10;\mathfrak{i}_{\left(lk\right)_{12}\left(s\right)_{12}u}^{\left(W\left(\kappa\right)_{12}d\right)}&#10;&amp; =&#10;\sum_{w=u}^{\mathcal{K}_{1}+\mathcal{K}_{2}}&#10;\sum_{u_{1}=0}^{\mathcal{K}_{1}}&#10;\sum_{u_{2}=0}^{\mathcal{K}_{2}}&#10;\left(-1\right)^{u_{1}}\delta_{u,u_{1}+u_{2}}&#10;\mathfrak{G}_{\left(lk\right)_{12}\left(su\right)_{12}w}^{\left(W\left(\kappa\right)_{12}d\right)}&#10;\\&#10;\end{align*}&#10;&#10;\end{document}"/>
  <p:tag name="IGUANATEXSIZE" val="16"/>
  <p:tag name="IGUANATEXCURSOR" val="106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726.659"/>
  <p:tag name="OUTPUTTYPE" val="PNG"/>
  <p:tag name="IGUANATEXVERSION" val="159"/>
  <p:tag name="LATEXADDIN" val="\documentclass{article}&#10;\usepackage{amsmath,bm,eufrak}&#10;\pagestyle{empty}&#10;\begin{document}&#10;&#10;\begin{align*}&#10;\mathfrak{K}^{(\kappa)}_{\lambda;mlk,s}&#10;&amp; =&#10;\left(1-\kappa\frac{k}{k+1}\right)\delta_{s,0}&#10;-\kappa\left(1-\gamma\lambda^2\right)&#10;\mathfrak{D}_{mlk;s}&#10;\\&#10;\end{align*}&#10;&#10;\end{document}"/>
  <p:tag name="IGUANATEXSIZE" val="16"/>
  <p:tag name="IGUANATEXCURSOR" val="24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3.337"/>
  <p:tag name="ORIGINALWIDTH" val="2879.64"/>
  <p:tag name="OUTPUTTYPE" val="PNG"/>
  <p:tag name="IGUANATEXVERSION" val="159"/>
  <p:tag name="LATEXADDIN" val="\documentclass{article}&#10;\usepackage{amsmath,bm,eufrak}&#10;\pagestyle{empty}&#10;\begin{document}&#10;&#10;\begin{align*}&#10;\mathfrak{D}_{mlk;\bar{1}}&#10;&amp; =&#10;\frac{1}{(k+1)(k+2)}&#10;\sqrt{&#10;\frac&#10;{\left(\left(l-1\right)^2-m^2\right)\left(l^2-m^2\right)}&#10;{(2l-3)(2l-1)^{2}(2l+1)}&#10;}&#10;\\&#10;\mathfrak{D}_{mlk;0}&#10;&amp; =&#10;\frac{1}{k+1}&#10;\frac&#10;{2l^2-2m^2+2l-1}{(2l-1)(2l+3)}&#10;\\&#10;\mathfrak{D}_{mlk;1}&#10;&amp; =&#10;\frac{1}{k+1}&#10;\sqrt{&#10;\frac&#10;{\left(\left(l+1\right)^2-m^2\right)\left(\left(l+2\right)^2-m^2\right)}&#10;{(2l+1)(2l+3)^{2}(2l+5)}&#10;}&#10;\end{align*}&#10;&#10;\end{document}"/>
  <p:tag name="IGUANATEXSIZE" val="16"/>
  <p:tag name="IGUANATEXCURSOR" val="35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.4826"/>
  <p:tag name="ORIGINALWIDTH" val="866.1417"/>
  <p:tag name="OUTPUTTYPE" val="PNG"/>
  <p:tag name="IGUANATEXVERSION" val="159"/>
  <p:tag name="LATEXADDIN" val="\documentclass{article}&#10;\usepackage{amsmath,bm,eufrak}&#10;\pagestyle{empty}&#10;\begin{document}&#10;&#10;\begin{equation*}&#10;\mathfrak{C}_{0}&#10;\equiv&#10;\eta^{d-2\kappa_{1}-2\kappa_{2}}&#10;\\&#10;\end{equation*}&#10;&#10;\end{document}"/>
  <p:tag name="IGUANATEXSIZE" val="18"/>
  <p:tag name="IGUANATEXCURSOR" val="165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9681"/>
  <p:tag name="ORIGINALWIDTH" val="4257.968"/>
  <p:tag name="OUTPUTTYPE" val="PNG"/>
  <p:tag name="IGUANATEXVERSION" val="159"/>
  <p:tag name="LATEXADDIN" val="\documentclass{article}&#10;\usepackage{amsmath,bm,eufrak}&#10;\pagestyle{empty}&#10;\begin{document}&#10;&#10;\begin{equation*}&#10;\mathfrak{L}_{i}&#10;\equiv&#10;2l_{i}+3-2\kappa_{i}\delta_{W,1}&#10;\quad\quad&#10;\mathfrak{L}_{ij}&#10;\equiv&#10;\frac{\mathfrak{L}_{i}+\mathfrak{L}_{j}}{2} + d&#10;=&#10;l_{i}+l_{j}+3+d-\delta_{W,1}\left(\kappa_{0}+\kappa_{1}\right)&#10;\\&#10;\end{equation*}&#10;&#10;\end{document}"/>
  <p:tag name="IGUANATEXSIZE" val="16"/>
  <p:tag name="IGUANATEXCURSOR" val="30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9539"/>
  <p:tag name="ORIGINALWIDTH" val="5822.272"/>
  <p:tag name="OUTPUTTYPE" val="PNG"/>
  <p:tag name="IGUANATEXVERSION" val="159"/>
  <p:tag name="LATEXADDIN" val="\documentclass{article}&#10;\usepackage{amsmath,amssymb,bm,eufrak,mathtools,physics}&#10;\pagestyle{empty}&#10;\begin{document}&#10;&#10;\begin{equation*}&#10;\vartheta_{\lambda\left\{\chi\right\}}&#10;\coloneqq&#10;\sqrt{1 + \left(\lambda^2-1\right)\chi^2}&#10;\quad\quad&#10;\hat{\vartheta}_{p}&#10;\equiv&#10;\vartheta_{\lambda\left\{\hat{\chi}_{p}\right\}}&#10;\quad\quad&#10;\hat{\vartheta}_{zz}&#10;\equiv&#10;\hat{\vartheta}_{z}&#10;\quad\quad&#10;\hat{\vartheta}_{yx}^{W}&#10;\equiv&#10;\frac&#10;{ \hat{\vartheta}_{y}^{W}+\hat{\vartheta}_{x}^{W} }&#10;{ 2 }&#10;\quad\quad&#10;\hat{\chi}_{p}&#10;\equiv&#10;\frac{\lambda\hat{\chi}_{p}}{\hat{\vartheta}_{p}}&#10;\quad\quad&#10;\hat{\mathcal{N}}_{pq}&#10;\equiv&#10;\frac{\lambda}{\hat{\vartheta}_{pq}^{3}}&#10;\end{equation*}&#10;&#10;\end{document}"/>
  <p:tag name="IGUANATEXSIZE" val="16"/>
  <p:tag name="IGUANATEXCURSOR" val="64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2092"/>
  <p:tag name="ORIGINALWIDTH" val="3913.761"/>
  <p:tag name="OUTPUTTYPE" val="PNG"/>
  <p:tag name="IGUANATEXVERSION" val="159"/>
  <p:tag name="LATEXADDIN" val="\documentclass{article}&#10;\usepackage{amsmath,bm,eufrak}&#10;\pagestyle{empty}&#10;\begin{document}&#10;&#10;\begin{equation*}&#10;\hat{\mathcal{V}}_{zz}&#10;=&#10;\frac{ 1 }{ \hat{\vartheta}_{zz}^{d} }&#10;\quad\quad&#10;\hat{\mathcal{V}}_{yx}&#10;=&#10;\left(\sqrt{1+\hat{\epsilon}_{yx}}\right)^{\mathfrak{L}_{1}}&#10;\left(\sqrt{1-\hat{\epsilon}_{yx}}\right)^{\mathfrak{L}_{2}}&#10;\frac{ 1 }{ \hat{\vartheta}_{yx}^{d} }&#10;\quad\quad&#10;\hat{\mathcal{U}}_{k}&#10;\equiv&#10;\mathcal{U}_{k\left\{\chi,\phi\right\}}&#10;\end{equation*}&#10;&#10;\end{document}"/>
  <p:tag name="IGUANATEXSIZE" val="18"/>
  <p:tag name="IGUANATEXCURSOR" val="40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9.7038"/>
  <p:tag name="ORIGINALWIDTH" val="3083.615"/>
  <p:tag name="OUTPUTTYPE" val="PNG"/>
  <p:tag name="IGUANATEXVERSION" val="159"/>
  <p:tag name="LATEXADDIN" val="\documentclass{article}&#10;\usepackage{amsmath,bm,eufrak}&#10;\pagestyle{empty}&#10;\begin{document}&#10;&#10;\begin{equation*}&#10;\hat{\epsilon}_{zz} \equiv  0&#10;\quad\quad&#10;\hat{\epsilon}_{yx}&#10;\equiv&#10;\frac&#10;{ \hat{\vartheta}_{y}^{W} - \hat{\vartheta}_{x}^{W} }&#10;{ \hat{\vartheta}_{y}^{W} + \hat{\vartheta}_{x}^{W} }&#10;\quad\quad&#10;\hat{\eta}_{pq} \equiv \frac{\eta}{\hat{\vartheta}_{pq}}&#10;\quad\quad&#10;\hat{\Delta}_{pq} = \hat{\epsilon}_{pq}&#10;\end{equation*}&#10;&#10;\end{document}"/>
  <p:tag name="IGUANATEXSIZE" val="16"/>
  <p:tag name="IGUANATEXCURSOR" val="13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8.6952"/>
  <p:tag name="ORIGINALWIDTH" val="4119.235"/>
  <p:tag name="OUTPUTTYPE" val="PNG"/>
  <p:tag name="IGUANATEXVERSION" val="159"/>
  <p:tag name="LATEXADDIN" val="\documentclass{article}&#10;\usepackage{amsmath,bm,eufrak}&#10;\pagestyle{empty}&#10;\begin{document}&#10;&#10;\begin{equation*}&#10;\hat{z}_{k}^{(pq)}&#10;=&#10;\frac&#10;{ 1 }&#10;{ 1+\delta_{W,1}\frac{\tilde{\alpha}_{k\left\{\chi,\phi\right\}}\hat{\eta}_{pq}}{2}+\delta_{W,2}\beta_{k\left\{\chi,\phi\right\}}\hat{\eta}_{pq}^{2} }&#10;\quad\quad&#10;\hat{\mathcal{Z}}_{k}^{(pq)}&#10;=&#10;\frac&#10;{\delta_{W,1}+\frac{\tilde{\alpha}_{k\left\{\chi,\phi\right\}}\hat{\eta}_{pq}}{2}}&#10;{\sqrt{\delta_{W,2}+\beta_{k\left\{\chi,\phi\right\}}\hat{\eta}_{pq}^{2}}}&#10;\end{equation*}&#10;&#10;\end{document}"/>
  <p:tag name="IGUANATEXSIZE" val="16"/>
  <p:tag name="IGUANATEXCURSOR" val="3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2.4297"/>
  <p:tag name="ORIGINALWIDTH" val="1142.107"/>
  <p:tag name="OUTPUTTYPE" val="PNG"/>
  <p:tag name="IGUANATEXVERSION" val="159"/>
  <p:tag name="LATEXADDIN" val="\documentclass{article}&#10;\usepackage{amsmath,amssymb}&#10;\usepackage{bm}&#10;\pagestyle{empty}&#10;\begin{document}&#10;&#10;\begin{align*}&#10;\hat{\chi}_{z} &amp;\equiv \chi \\&#10;\hat{\chi}_{x} &amp;\equiv \sqrt{1-\chi^{2}}\cos\left(\phi\right) \\&#10;\hat{\chi}_{y} &amp;\equiv \sqrt{1-\chi^{2}}\sin\left(\phi\right) \\&#10;\end{align*}&#10;&#10;&#10;\end{document}"/>
  <p:tag name="IGUANATEXSIZE" val="16"/>
  <p:tag name="IGUANATEXCURSOR" val="226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1.661"/>
  <p:tag name="ORIGINALWIDTH" val="2881.89"/>
  <p:tag name="OUTPUTTYPE" val="PNG"/>
  <p:tag name="IGUANATEXVERSION" val="159"/>
  <p:tag name="LATEXADDIN" val="\documentclass{article}&#10;\usepackage{amsmath,amssymb}&#10;\usepackage{bm}&#10;\pagestyle{empty}&#10;\begin{document}&#10;&#10;\begin{align*}&#10;\hat{\phi}_{z} &amp;\equiv \text{Arg}\left\{\chi_{x} + \mathrm{i}\chi_{y}\right\} = \phi \\&#10;\hat{\phi}_{x} &amp;\equiv \text{Arg}\left\{\chi_{y} + \mathrm{i}\chi_{z}\right\} = \arctan2\left\{\chi, \sqrt{1-\chi^{2}}\sin\left(\phi\right)\right\} \\&#10;\hat{\phi}_{y} &amp;\equiv \text{Arg}\left\{\chi_{z} + \mathrm{i}\chi_{x}\right\} = \arctan2\left\{\sqrt{1-\chi^{2}}\cos\left(\phi\right), \chi\right\} \\&#10;\end{align*}&#10;&#10;&#10;\end{document}"/>
  <p:tag name="IGUANATEXSIZE" val="16"/>
  <p:tag name="IGUANATEXCURSOR" val="369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8.8789"/>
  <p:tag name="ORIGINALWIDTH" val="5214.098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zeta\Omega\right)_{ij}}^{(pq)}&#10;&amp; =&#10;\mathfrak{C}_{0}&#10;\left(\frac{\hbar^{2}}{2m_{0}a_{0}^{2}}\right)^{\kappa_{1}+\kappa_{2}}&#10;\int_{\mathcal{S}} \mathrm{d}\Omega\,&#10;\hat{\mathcal{V}}_{pq}&#10;\hat{\Sigma}_{pq}&#10;\hat{\mathcal{Q}}_{pq}&#10;\\&#10;\hat{\mathcal{Q}}_{pq}&#10;&amp; =&#10;\frac{1}{2\pi}&#10;\left(\delta_{m_{i}0} + \sqrt{2}\left(1-\delta_{m_{i}0}\right)\right)&#10;\left(\delta_{m_{j}0} + \sqrt{2}\left(1-\delta_{m_{j}0}\right)\right)&#10;\mathcal{Z}\left\{\mathrm{e}^{\mathrm{i}m_{i}\phi_{p}},\zeta_{i}\right\}&#10;\mathcal{Z}\left\{\mathrm{e}^{\mathrm{i}m_{j}\phi_{q}},\zeta_{j}\right\}&#10;\\&#10;\hat{\Sigma}_{pq}&#10;&amp; =&#10;\sum_{k}&#10;\tilde{\mathfrak{U}}_{k}&#10;\hat{\mathcal{U}}_{k}&#10;\hat{\Sigma}_{k}^{(pq)}&#10;\\&#10;\end{align*}&#10;&#10;\end{document}"/>
  <p:tag name="IGUANATEXSIZE" val="20"/>
  <p:tag name="IGUANATEXCURSOR" val="808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2.831"/>
  <p:tag name="ORIGINALWIDTH" val="3499.063"/>
  <p:tag name="OUTPUTTYPE" val="PNG"/>
  <p:tag name="IGUANATEXVERSION" val="159"/>
  <p:tag name="LATEXADDIN" val="\documentclass{article}&#10;\usepackage{amsmath,bm,eufrak}&#10;\pagestyle{empty}&#10;\begin{document}&#10;&#10;\begin{align*}&#10;\hat{\mathcal{P}}_{\left(s\right)_{01}}^{(zz)}&#10;&amp; =&#10;\mathfrak{K}^{(\kappa_{0})}_{\lambda;\left(mlk\right)_{i}s_{0}}\mathfrak{K}^{(\kappa_{1})}_{\left(\lambda;mlk\right)_{j}s_{1}}&#10;\hat{\mathcal{N}}_{zz}&#10;\hat{\mathcal{P}}_{i;s_{0}}^{(z)}&#10;\hat{\mathcal{P}}_{j;s_{1}}^{(z)}&#10;\\&#10;\hat{\mathcal{P}}_{\left(s\right)_{01}}^{(yx)}&#10;&amp; =&#10;\frac{ \mathfrak{K}^{(\kappa_{0})}_{\lambda;\left(mlk\right)_{i};s_{0}} }{\left(\sqrt{1+\hat{\epsilon}_{yx}}\right)^{2W\delta_{s_{0}\bar{1}}+3}}&#10;\frac{ \mathfrak{K}^{(\kappa_{1})}_{\lambda;\left(mlk\right)_{j};s_{1}} }{\left(\sqrt{1-\hat{\epsilon}_{yx}}\right)^{2W\delta_{s_{1}\bar{1}}+3}}&#10;\hat{\mathcal{N}}_{yx}&#10;\hat{\mathcal{P}}_{i;s_{0}}^{(y)}&#10;\hat{\mathcal{P}}_{j;s_{1}}^{(x)}&#10;\\&#10;\hat{\mathcal{P}}_{i;s}^{(p)}&#10;&amp; = &#10;\mathcal{P}_{(l_{i}+2s)m_{i}\left\{\hat{\chi}_{p}\right\}}&#10;\\&#10;\mathcal{P}_{lm\left\{\chi\right\}}&#10;&amp; = &#10;\sqrt{\left(l+\frac{1}{2}\right)\frac{\left(l-m\right)!}{\left(l+m\right)!}}&#10;P_{lm\left\{\chi\right\}}&#10;\end{align*}&#10;&#10;\end{document}"/>
  <p:tag name="IGUANATEXSIZE" val="18"/>
  <p:tag name="IGUANATEXCURSOR" val="277"/>
  <p:tag name="TRANSPARENCY" val="False"/>
  <p:tag name="FILENAME" val=""/>
  <p:tag name="LATEXENGINEID" val="0"/>
  <p:tag name="TEMPFOLDER" val="C:\iguanatex\"/>
  <p:tag name="LATEXFORMHEIGHT" val="571.5"/>
  <p:tag name="LATEXFORMWIDTH" val="1047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6.4267"/>
  <p:tag name="ORIGINALWIDTH" val="3835.771"/>
  <p:tag name="OUTPUTTYPE" val="PNG"/>
  <p:tag name="IGUANATEXVERSION" val="159"/>
  <p:tag name="LATEXADDIN" val="\documentclass{article}&#10;\usepackage{amsmath,bm,eufrak}&#10;\pagestyle{empty}&#10;\begin{document}&#10;&#10;\begin{align*}&#10;\Delta \ne 0, z \ne 1&#10;\quad &amp;: \quad&#10;\mathcal{F}_{\left(u\right)_{12}\left\{L\Delta z \right\}}&#10;= &#10;\left(1-z(1+\Delta)\right)^{u_{1}}\left(1-z(1-\Delta)\right)^{u_{2}}z^{\frac{L}{W}}&#10;\\&#10;\Delta = 0, z \ne 1&#10;\quad &amp;: \quad&#10;\mathcal{F}_{u\left\{L z\right\}}&#10;= &#10;\left(1-z\right)^{u}z^{\frac{L}{W}}&#10;\\&#10;\Delta \ne 0, z = 1&#10;\quad &amp;: \quad&#10;\mathcal{F}_{u\left\{\Delta\right\}}&#10;= &#10;\Delta^{u}&#10;\\&#10;\end{align*}&#10;&#10;\end{document}"/>
  <p:tag name="IGUANATEXSIZE" val="16"/>
  <p:tag name="IGUANATEXCURSOR" val="45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5085.114"/>
  <p:tag name="OUTPUTTYPE" val="PNG"/>
  <p:tag name="IGUANATEXVERSION" val="159"/>
  <p:tag name="LATEXADDIN" val="\documentclass{article}&#10;\usepackage{amsmath,bm,eufrak}&#10;\pagestyle{empty}&#10;\begin{document}&#10;&#10;\begin{equation*}&#10;\hat{\mathcal{F}}_{k\left(s\right)_{01}\left(u\right)_{ij}}^{(pq)}&#10;=&#10;\mathcal{F}_{\left(u\right)_{ij}\left\{&#10;\left(\mathfrak{L}_{ij}-W\delta_{s_{0}\bar{1}}-W\delta_{s_{1}\bar{1}}\right)\hat{\Delta}_{pq}\hat{z}_{k}^{(pq)}&#10;\right\}}&#10;\quad\quad&#10;\hat{\mathcal{G}}_{k\left(s\right)_{01}w}^{(pq)}&#10;=&#10;\mathcal{G}_{\left\{\left(\mathfrak{L}_{ij}-W\delta_{s_{0}\bar{1}}-W\delta_{s_{1}\bar{1}}+Ww\right)\hat{\mathcal{Z}}_{k}^{(pq)}\right\}}^{(W)}&#10;\end{equation*}&#10;&#10;\end{document}"/>
  <p:tag name="IGUANATEXSIZE" val="18"/>
  <p:tag name="IGUANATEXCURSOR" val="39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6.4492"/>
  <p:tag name="ORIGINALWIDTH" val="3414.323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1}}^{+\kappa_{1}}&#10;\sum_{s_{1}=-\kappa_{2}}^{+\kappa_{2}}&#10;\sum_{\left(u\right)_{ij}w}&#10;\mathfrak{G}_{\left(s\right)_{01}\left(u\right)_{ij}w}&#10;\hat{\mathcal{P}}_{\left(s\right)_{01}}^{(pq)}&#10;\hat{\mathcal{F}}_{k\left(s\right)_{01}\left(u\right)_{ij}}^{(pq)}&#10;\hat{\mathcal{G}}_{k\left(s\right)_{01}w}^{(pq)}&#10;\end{align*}&#10;&#10;\end{document}"/>
  <p:tag name="IGUANATEXSIZE" val="18"/>
  <p:tag name="IGUANATEXCURSOR" val="45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5.1856"/>
  <p:tag name="ORIGINALWIDTH" val="5145.107"/>
  <p:tag name="OUTPUTTYPE" val="PNG"/>
  <p:tag name="IGUANATEXVERSION" val="159"/>
  <p:tag name="LATEXADDIN" val="\documentclass{article}&#10;\usepackage{amsmath,bm,eufrak}&#10;\pagestyle{empty}&#10;\begin{document}&#10;&#10;\begin{align*}&#10;(W = 1\text{ and }\beta \ne 0)\text{ or }(W = 2\text{ and }\tilde{\alpha} \ne 0)&#10;\quad &amp;: \quad&#10;\mathcal{G}_{L\left\{\mathcal{Z}\right\}}^{(1)}&#10;=&#10;\frac{\sqrt{\pi}}{\Gamma\left[\frac{L+1}{2}\right]}&#10;\mathcal{Z}^{L}&#10;h_{L\left\{\mathcal{Z}\right\}}&#10;\quad\quad&#10;\mathcal{G}_{L\left\{\mathcal{Z}\right\}}^{(2)}&#10;=&#10;h_{L\left\{\mathcal{Z}\right\}}&#10;\\&#10;(W = 1\text{ and }\beta = 0)&#10;\text{ or }&#10;(W = 2\text{ and }\tilde{\alpha} = 0)&#10;\quad &amp;: \quad&#10;\mathcal{G}^{(W)}&#10;=&#10;1&#10;\\&#10;\end{align*}&#10;&#10;\end{document}"/>
  <p:tag name="IGUANATEXSIZE" val="16"/>
  <p:tag name="IGUANATEXCURSOR" val="417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6.4492"/>
  <p:tag name="ORIGINALWIDTH" val="3414.323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1}}^{+\kappa_{1}}&#10;\sum_{s_{1}=-\kappa_{2}}^{+\kappa_{2}}&#10;\sum_{\left(u\right)_{ij}w}&#10;\mathfrak{G}_{\left(s\right)_{01}\left(u\right)_{ij}w}&#10;\hat{\mathcal{P}}_{\left(s\right)_{01}}^{(pq)}&#10;\hat{\mathcal{F}}_{k\left(s\right)_{01}\left(u\right)_{ij}}^{(pq)}&#10;\hat{\mathcal{G}}_{k\left(s\right)_{01}w}^{(pq)}&#10;\end{align*}&#10;&#10;\end{document}"/>
  <p:tag name="IGUANATEXSIZE" val="18"/>
  <p:tag name="IGUANATEXCURSOR" val="458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3058.118"/>
  <p:tag name="OUTPUTTYPE" val="PNG"/>
  <p:tag name="IGUANATEXVERSION" val="159"/>
  <p:tag name="LATEXADDIN" val="\documentclass{article}&#10;\usepackage{amsmath,bm,eufrak}&#10;\pagestyle{empty}&#10;\begin{document}&#10;&#10;\begin{equation*}&#10;\tilde{\alpha},\beta \ne 0&#10;\quad : \quad&#10;\hat{\mathcal{G}}_{k\left(s\right)_{01}w}^{(pq)}&#10;=&#10;\mathcal{G}_{\left\{\left(\mathfrak{L}_{ij}-W\delta_{s_{0}\bar{1}}-W\delta_{s_{1}\bar{1}}+Ww\right)\hat{\mathcal{Z}}_{k}^{(pq)}\right\}}^{(W)}&#10;\\&#10;\end{equation*}&#10;&#10;\end{document}"/>
  <p:tag name="IGUANATEXSIZE" val="16"/>
  <p:tag name="IGUANATEXCURSOR" val="343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2808.399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&#10;\sum_{s_{0}=-\kappa_{0}}^{+\kappa_{0}}&#10;\sum_{s_{1}=-\kappa_{1}}^{+\kappa_{1}}&#10;\sum_{\left(u\right)_{12}}&#10;\mathfrak{g}_{\left(s\right)_{01}\left(u\right)_{ij}}&#10;\hat{\mathcal{P}}_{\left(s\right)_{01}}^{(pq)}&#10;\hat{\mathcal{F}}_{k\left(s\right)_{01}\left(u\right)_{ij}}^{(pq)}&#10;\\&#10;\end{align*}&#10;&#10;\end{document}"/>
  <p:tag name="IGUANATEXSIZE" val="18"/>
  <p:tag name="IGUANATEXCURSOR" val="12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4115.485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&#10;=&#10;1&#10;\\&#10;\end{equation*}&#10;&#10;\end{document}"/>
  <p:tag name="IGUANATEXSIZE" val="16"/>
  <p:tag name="IGUANATEXCURSOR" val="272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3576.303"/>
  <p:tag name="OUTPUTTYPE" val="PNG"/>
  <p:tag name="IGUANATEXVERSION" val="159"/>
  <p:tag name="LATEXADDIN" val="\documentclass{article}&#10;\usepackage{amsmath,bm,eufrak}&#10;\pagestyle{empty}&#10;\begin{document}&#10;&#10;\begin{align*}&#10;\Delta \ne 0, z \ne 1&#10;\quad &amp;: \quad&#10;\hat{\mathcal{F}}_{k\left(s\right)_{01}\left(u\right)_{ij}}^{(pq)}&#10;=&#10;\mathcal{F}_{\left(u\right)_{ij}\left\{&#10;\left(\mathfrak{L}_{ij}-W\delta_{s_{0}\bar{1}}-W\delta_{s_{1}\bar{1}}\right)\hat{\Delta}_{pq}\hat{z}_{k}^{(pq)}&#10;\right\}}&#10;\\&#10;\end{align*}&#10;&#10;\end{document}"/>
  <p:tag name="IGUANATEXSIZE" val="16"/>
  <p:tag name="IGUANATEXCURSOR" val="14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/>
  <p:tag name="IGUANATEXSIZE" val="16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6084.74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k\left(s\right)_{01}w}^{(pq)}&#10;=&#10;\mathcal{G}_{\left\{\left(\mathfrak{L}_{ij}-W\delta_{s_{0}\bar{1}}-W\delta_{s_{1}\bar{1}}+Ww\right)\hat{\mathcal{Z}}_{k}^{(pq)}\right\}}^{(W)}&#10;\\&#10;\end{equation*}&#10;&#10;\end{document}"/>
  <p:tag name="IGUANATEXSIZE" val="16"/>
  <p:tag name="IGUANATEXCURSOR" val="257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2744.657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0}}^{+\kappa_{0}}&#10;\sum_{s_{1}=-\kappa_{1}}^{+\kappa_{1}}&#10;\sum_{uw}&#10;\mathfrak{I}_{\left(s\right)_{12}uw}&#10;\hat{\mathcal{P}}_{\left(s\right)_{01}}^{(pq)}&#10;\hat{\Delta}_{pq}^{u}&#10;\hat{\mathcal{G}}_{k\left(s\right)_{01}w}^{(pq)}&#10;\end{align*}&#10;&#10;\end{document}"/>
  <p:tag name="IGUANATEXSIZE" val="18"/>
  <p:tag name="IGUANATEXCURSOR" val="324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088.864"/>
  <p:tag name="OUTPUTTYPE" val="PNG"/>
  <p:tag name="IGUANATEXVERSION" val="159"/>
  <p:tag name="LATEXADDIN" val="\documentclass{article}&#10;\usepackage{amsmath,bm,eufrak}&#10;\pagestyle{empty}&#10;\begin{document}&#10;&#10;\begin{equation*}&#10;\tilde{\alpha},\beta = 0&#10;\quad:\quad&#10;\hat{\mathcal{G}} = 1&#10;\\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2212.223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&#10;\sum_{s_{0}=-\kappa_{0}}^{+\kappa_{0}}&#10;\sum_{s_{1}=-\kappa_{1}}^{+\kappa_{1}}&#10;\sum_{u}&#10;\mathfrak{i}_{\left(s\right)_{01}u}&#10;\hat{\mathcal{P}}_{\left(s\right)_{01}}^{(pq)}&#10;\hat{\Delta}_{pq}^{u}&#10;\\&#10;\end{align*}&#10;&#10;\end{document}"/>
  <p:tag name="IGUANATEXSIZE" val="18"/>
  <p:tag name="IGUANATEXCURSOR" val="321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.7319"/>
  <p:tag name="ORIGINALWIDTH" val="1505.062"/>
  <p:tag name="OUTPUTTYPE" val="PNG"/>
  <p:tag name="IGUANATEXVERSION" val="159"/>
  <p:tag name="LATEXADDIN" val="\documentclass{article}&#10;\usepackage{amsmath,bm,eufrak}&#10;\pagestyle{empty}&#10;\begin{document}&#10;&#10;\begin{align*}&#10;\Delta \ne 0, z = 1&#10;\quad &amp;: \quad&#10;\hat{\mathcal{F}}_{u} = \hat{\Delta}^{u}&#10;\\&#10;\end{align*}&#10;&#10;\end{document}"/>
  <p:tag name="IGUANATEXSIZE" val="16"/>
  <p:tag name="IGUANATEXCURSOR" val="17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4115.485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 = 1&#10;\\&#10;\end{equation*}&#10;&#10;\end{document}"/>
  <p:tag name="IGUANATEXSIZE" val="16"/>
  <p:tag name="IGUANATEXCURSOR" val="272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2457.443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0}}^{+\kappa_{0}}&#10;\sum_{s_{1}=-\kappa_{1}}^{+\kappa_{1}}&#10;\sum_{u}&#10;\mathfrak{h}_{\left(s\right)_{01}u}&#10;\hat{\mathcal{P}}_{\left(s\right)_{01}}^{(pq)}&#10;\hat{\mathcal{F}}_{k\left(s\right)_{01}u}^{(pq)}&#10;\end{align*}&#10;&#10;\end{document}"/>
  <p:tag name="IGUANATEXSIZE" val="18"/>
  <p:tag name="IGUANATEXCURSOR" val="345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2980.127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0}}^{+\kappa_{0}}&#10;\sum_{s_{1}=-\kappa_{1}}^{+\kappa_{1}}&#10;\sum_{uw}&#10;\mathfrak{H}_{\left(s\right)_{01}uw}&#10;\hat{\mathcal{P}}_{\left(s\right)_{01}}^{(pq)}&#10;\hat{\mathcal{F}}_{k\left(s\right)_{01}u}^{(pq)}&#10;\hat{\mathcal{G}}_{k\left(s\right)_{01}w}^{(pq)}&#10;\end{align*}&#10;&#10;\end{document}"/>
  <p:tag name="IGUANATEXSIZE" val="18"/>
  <p:tag name="IGUANATEXCURSOR" val="347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3058.118"/>
  <p:tag name="OUTPUTTYPE" val="PNG"/>
  <p:tag name="IGUANATEXVERSION" val="159"/>
  <p:tag name="LATEXADDIN" val="\documentclass{article}&#10;\usepackage{amsmath,bm,eufrak}&#10;\pagestyle{empty}&#10;\begin{document}&#10;&#10;\begin{equation*}&#10;\tilde{\alpha},\beta \ne 0&#10;\quad : \quad&#10;\hat{\mathcal{G}}_{k\left(s\right)_{01}w}^{(pq)}&#10;=&#10;\mathcal{G}_{\left\{\left(\mathfrak{L}_{ij}-W\delta_{s_{0}\bar{1}}-W\delta_{s_{1}\bar{1}}+Ww\right)\hat{\mathcal{Z}}_{k}^{(pq)}\right\}}^{(W)}&#10;\\&#10;\end{equation*}&#10;&#10;\end{document}"/>
  <p:tag name="IGUANATEXSIZE" val="16"/>
  <p:tag name="IGUANATEXCURSOR" val="343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3261.342"/>
  <p:tag name="OUTPUTTYPE" val="PNG"/>
  <p:tag name="IGUANATEXVERSION" val="159"/>
  <p:tag name="LATEXADDIN" val="\documentclass{article}&#10;\usepackage{amsmath,bm,eufrak}&#10;\pagestyle{empty}&#10;\begin{document}&#10;&#10;\begin{equation*}&#10;\Delta = 0, z \ne 1&#10;\quad : \quad&#10;\hat{\mathcal{F}}_{k\left(s\right)_{01}u}^{(pq)}&#10;=&#10;\mathcal{F}_{u\left\{&#10;\left(\mathfrak{L}_{ij}-W\delta_{s_{0}\bar{1}}-W\delta_{s_{1}\bar{1}}\right)\hat{\Delta}_{pq}\hat{z}_{k}^{(pq)}&#10;\right\}}&#10;\\&#10;\end{equation*}&#10;&#10;\end{document}"/>
  <p:tag name="IGUANATEXSIZE" val="16"/>
  <p:tag name="IGUANATEXCURSOR" val="208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/>
  <p:tag name="IGUANATEXSIZE" val="16"/>
  <p:tag name="IGUANATEXCURSOR" val="11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6084.74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k\left(s\right)_{01}w}^{(pq)}&#10;=&#10;\mathcal{G}_{\left\{\left(\mathfrak{L}_{ij}-W\delta_{s_{0}\bar{1}}-W\delta_{s_{1}\bar{1}}+Ww\right)\hat{\mathcal{Z}}_{k}^{(pq)}\right\}}^{(W)}&#10;\\&#10;\end{equation*}&#10;&#10;\end{document}"/>
  <p:tag name="IGUANATEXSIZE" val="16"/>
  <p:tag name="IGUANATEXCURSOR" val="450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2474.691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0}}^{+\kappa_{0}}&#10;\sum_{s_{1}=-\kappa_{1}}^{+\kappa_{1}}&#10;\sum_{w}&#10;\mathfrak{J}_{\left(s\right)_{01}w}&#10;\hat{\mathcal{P}}_{\left(s\right)_{01}}^{(pq)}&#10;\hat{\mathcal{G}}_{k\left(s\right)_{01}w}^{(pq)}&#10;\end{align*}&#10;&#10;\end{document}"/>
  <p:tag name="IGUANATEXSIZE" val="18"/>
  <p:tag name="IGUANATEXCURSOR" val="304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505.812"/>
  <p:tag name="OUTPUTTYPE" val="PNG"/>
  <p:tag name="IGUANATEXVERSION" val="159"/>
  <p:tag name="LATEXADDIN" val="\documentclass{article}&#10;\usepackage{amsmath,bm,eufrak}&#10;\pagestyle{empty}&#10;\begin{document}&#10;&#10;\begin{align*}&#10;\Delta = 0, z = 1&#10;\quad &amp;: \quad&#10;\hat{\mathcal{F}}_{u}&#10;= &#10;\delta_{u0}&#10;\\&#10;\end{align*}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088.864"/>
  <p:tag name="OUTPUTTYPE" val="PNG"/>
  <p:tag name="IGUANATEXVERSION" val="159"/>
  <p:tag name="LATEXADDIN" val="\documentclass{article}&#10;\usepackage{amsmath,bm,eufrak}&#10;\pagestyle{empty}&#10;\begin{document}&#10;&#10;\begin{equation*}&#10;\tilde{\alpha},\beta = 0&#10;\quad:\quad&#10;\hat{\mathcal{G}} = 1&#10;\\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1733.033"/>
  <p:tag name="OUTPUTTYPE" val="PNG"/>
  <p:tag name="IGUANATEXVERSION" val="159"/>
  <p:tag name="LATEXADDIN" val="\documentclass{article}&#10;\usepackage{amsmath,bm,eufrak}&#10;\pagestyle{empty}&#10;\begin{document}&#10;&#10;\begin{align*}&#10;\hat{\Sigma}_{k}^{(pq)}&#10;&amp; = &#10;\sum_{s_{0}=-\kappa_{0}}^{+\kappa_{0}}&#10;\sum_{s_{1}=-\kappa_{1}}^{+\kappa_{1}}&#10;\mathfrak{j}_{\left(s\right)_{01}}&#10;\hat{\mathcal{P}}_{\left(s\right)_{01}}^{(pq)}&#10;\\&#10;\end{align*}&#10;&#10;\end{document}"/>
  <p:tag name="IGUANATEXSIZE" val="18"/>
  <p:tag name="IGUANATEXCURSOR" val="12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189547</TotalTime>
  <Words>179</Words>
  <Application>Microsoft Office PowerPoint</Application>
  <PresentationFormat>Widescreen</PresentationFormat>
  <Paragraphs>37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Georgia</vt:lpstr>
      <vt:lpstr>LucidaGrande</vt:lpstr>
      <vt:lpstr>UB Powerpoint Template</vt:lpstr>
      <vt:lpstr>SINGLE VALLEY Basis</vt:lpstr>
      <vt:lpstr>Generalized single-valley basis states</vt:lpstr>
      <vt:lpstr>Generalized single-valley basis states</vt:lpstr>
      <vt:lpstr>Integrable Potentials</vt:lpstr>
      <vt:lpstr>Form of integrable potential</vt:lpstr>
      <vt:lpstr>Same SubBasis MATRIX ELEMENT FORMULA</vt:lpstr>
      <vt:lpstr>PRECALCULATIONS</vt:lpstr>
      <vt:lpstr>C1. Laguerre polynomial precalculated integration constants</vt:lpstr>
      <vt:lpstr>C2. Subcases</vt:lpstr>
      <vt:lpstr>C3. Final elaboration on precalculation information - 2</vt:lpstr>
      <vt:lpstr>Computational FormulAe</vt:lpstr>
      <vt:lpstr>D1a. Before integration calculations</vt:lpstr>
      <vt:lpstr>D1b. Initial integration calculations</vt:lpstr>
      <vt:lpstr>D2. Full integral formalized</vt:lpstr>
      <vt:lpstr>D3. Legendre functions for integrand</vt:lpstr>
      <vt:lpstr>D4. Integral summation term restated</vt:lpstr>
      <vt:lpstr>D4a. Integral summation term restated (Δ != 0, z != 1)</vt:lpstr>
      <vt:lpstr>D4b. Integral summation term restated (Δ != 0, z = 1)</vt:lpstr>
      <vt:lpstr>D4c. Integral summation term restated (Δ = 0, z != 1)</vt:lpstr>
      <vt:lpstr>D4d. Integral summation term restated (Δ = 0, z = 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6701</cp:revision>
  <cp:lastPrinted>2016-07-18T17:32:49Z</cp:lastPrinted>
  <dcterms:created xsi:type="dcterms:W3CDTF">2016-06-28T14:05:07Z</dcterms:created>
  <dcterms:modified xsi:type="dcterms:W3CDTF">2023-03-27T00:45:54Z</dcterms:modified>
  <cp:category/>
</cp:coreProperties>
</file>