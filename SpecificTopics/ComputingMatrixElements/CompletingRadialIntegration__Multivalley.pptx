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notesSlides/notesSlide4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5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7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9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0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1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2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5.xml" ContentType="application/vnd.openxmlformats-officedocument.presentationml.notesSlide+xml"/>
  <Override PartName="/ppt/tags/tag46.xml" ContentType="application/vnd.openxmlformats-officedocument.presentationml.tags+xml"/>
  <Override PartName="/ppt/notesSlides/notesSlide16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7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8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9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0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2.xml" ContentType="application/vnd.openxmlformats-officedocument.presentationml.notesSlide+xml"/>
  <Override PartName="/ppt/tags/tag72.xml" ContentType="application/vnd.openxmlformats-officedocument.presentationml.tags+xml"/>
  <Override PartName="/ppt/notesSlides/notesSlide23.xml" ContentType="application/vnd.openxmlformats-officedocument.presentationml.notesSlide+xml"/>
  <Override PartName="/ppt/tags/tag73.xml" ContentType="application/vnd.openxmlformats-officedocument.presentationml.tags+xml"/>
  <Override PartName="/ppt/notesSlides/notesSlide24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25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26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7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28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38"/>
  </p:notesMasterIdLst>
  <p:handoutMasterIdLst>
    <p:handoutMasterId r:id="rId39"/>
  </p:handoutMasterIdLst>
  <p:sldIdLst>
    <p:sldId id="845" r:id="rId2"/>
    <p:sldId id="1361" r:id="rId3"/>
    <p:sldId id="844" r:id="rId4"/>
    <p:sldId id="848" r:id="rId5"/>
    <p:sldId id="847" r:id="rId6"/>
    <p:sldId id="544" r:id="rId7"/>
    <p:sldId id="1370" r:id="rId8"/>
    <p:sldId id="1363" r:id="rId9"/>
    <p:sldId id="1369" r:id="rId10"/>
    <p:sldId id="1383" r:id="rId11"/>
    <p:sldId id="1371" r:id="rId12"/>
    <p:sldId id="1372" r:id="rId13"/>
    <p:sldId id="1373" r:id="rId14"/>
    <p:sldId id="1374" r:id="rId15"/>
    <p:sldId id="1375" r:id="rId16"/>
    <p:sldId id="1376" r:id="rId17"/>
    <p:sldId id="1377" r:id="rId18"/>
    <p:sldId id="1378" r:id="rId19"/>
    <p:sldId id="1379" r:id="rId20"/>
    <p:sldId id="1380" r:id="rId21"/>
    <p:sldId id="878" r:id="rId22"/>
    <p:sldId id="1362" r:id="rId23"/>
    <p:sldId id="1360" r:id="rId24"/>
    <p:sldId id="1384" r:id="rId25"/>
    <p:sldId id="1381" r:id="rId26"/>
    <p:sldId id="1343" r:id="rId27"/>
    <p:sldId id="1339" r:id="rId28"/>
    <p:sldId id="1320" r:id="rId29"/>
    <p:sldId id="1344" r:id="rId30"/>
    <p:sldId id="1322" r:id="rId31"/>
    <p:sldId id="1327" r:id="rId32"/>
    <p:sldId id="1346" r:id="rId33"/>
    <p:sldId id="1347" r:id="rId34"/>
    <p:sldId id="1348" r:id="rId35"/>
    <p:sldId id="1349" r:id="rId36"/>
    <p:sldId id="1350" r:id="rId37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61"/>
    <a:srgbClr val="FF7F7F"/>
    <a:srgbClr val="7FD7A7"/>
    <a:srgbClr val="00B050"/>
    <a:srgbClr val="FF0000"/>
    <a:srgbClr val="33A366"/>
    <a:srgbClr val="B797CF"/>
    <a:srgbClr val="7A0000"/>
    <a:srgbClr val="005AC0"/>
    <a:srgbClr val="2F7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3593" autoAdjust="0"/>
  </p:normalViewPr>
  <p:slideViewPr>
    <p:cSldViewPr snapToGrid="0" snapToObjects="1">
      <p:cViewPr varScale="1">
        <p:scale>
          <a:sx n="120" d="100"/>
          <a:sy n="120" d="100"/>
        </p:scale>
        <p:origin x="39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9/26/2023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4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27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154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458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315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315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126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445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174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123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103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069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048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525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4169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0439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65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1142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6215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7377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316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382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5455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2636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7095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19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9800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3617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7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8622792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8622792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8485632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8485632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75120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75120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75120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75120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Calibri" panose="020F0502020204030204" pitchFamily="34" charset="0"/>
              <a:ea typeface="Georgia" charset="0"/>
              <a:cs typeface="Calibri" panose="020F0502020204030204" pitchFamily="34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1.png"/><Relationship Id="rId5" Type="http://schemas.openxmlformats.org/officeDocument/2006/relationships/tags" Target="../tags/tag5.xml"/><Relationship Id="rId10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6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15.png"/><Relationship Id="rId2" Type="http://schemas.openxmlformats.org/officeDocument/2006/relationships/tags" Target="../tags/tag7.xml"/><Relationship Id="rId16" Type="http://schemas.openxmlformats.org/officeDocument/2006/relationships/image" Target="../media/image19.png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14.png"/><Relationship Id="rId5" Type="http://schemas.openxmlformats.org/officeDocument/2006/relationships/tags" Target="../tags/tag10.xml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tags" Target="../tags/tag9.xml"/><Relationship Id="rId9" Type="http://schemas.openxmlformats.org/officeDocument/2006/relationships/notesSlide" Target="../notesSlides/notesSlide2.xml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image" Target="../media/image22.png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tags" Target="../tags/tag14.xml"/><Relationship Id="rId16" Type="http://schemas.openxmlformats.org/officeDocument/2006/relationships/image" Target="../media/image25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20.png"/><Relationship Id="rId5" Type="http://schemas.openxmlformats.org/officeDocument/2006/relationships/tags" Target="../tags/tag17.xml"/><Relationship Id="rId15" Type="http://schemas.openxmlformats.org/officeDocument/2006/relationships/image" Target="../media/image24.png"/><Relationship Id="rId10" Type="http://schemas.openxmlformats.org/officeDocument/2006/relationships/notesSlide" Target="../notesSlides/notesSlide3.xml"/><Relationship Id="rId4" Type="http://schemas.openxmlformats.org/officeDocument/2006/relationships/tags" Target="../tags/tag16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1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3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tags" Target="../tags/tag35.xml"/><Relationship Id="rId7" Type="http://schemas.openxmlformats.org/officeDocument/2006/relationships/image" Target="../media/image40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39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40.png"/><Relationship Id="rId5" Type="http://schemas.openxmlformats.org/officeDocument/2006/relationships/image" Target="../media/image42.png"/><Relationship Id="rId4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notesSlide" Target="../notesSlides/notesSlid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notesSlide" Target="../notesSlides/notesSlid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notesSlide" Target="../notesSlides/notesSlide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6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tags" Target="../tags/tag49.xml"/><Relationship Id="rId7" Type="http://schemas.openxmlformats.org/officeDocument/2006/relationships/notesSlide" Target="../notesSlides/notesSlide17.xml"/><Relationship Id="rId12" Type="http://schemas.openxmlformats.org/officeDocument/2006/relationships/image" Target="../media/image56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55.png"/><Relationship Id="rId5" Type="http://schemas.openxmlformats.org/officeDocument/2006/relationships/tags" Target="../tags/tag51.xml"/><Relationship Id="rId10" Type="http://schemas.openxmlformats.org/officeDocument/2006/relationships/image" Target="../media/image54.png"/><Relationship Id="rId4" Type="http://schemas.openxmlformats.org/officeDocument/2006/relationships/tags" Target="../tags/tag50.xml"/><Relationship Id="rId9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tags" Target="../tags/tag54.xml"/><Relationship Id="rId7" Type="http://schemas.openxmlformats.org/officeDocument/2006/relationships/image" Target="../media/image57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60.png"/><Relationship Id="rId4" Type="http://schemas.openxmlformats.org/officeDocument/2006/relationships/tags" Target="../tags/tag55.xml"/><Relationship Id="rId9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tags" Target="../tags/tag58.xml"/><Relationship Id="rId7" Type="http://schemas.openxmlformats.org/officeDocument/2006/relationships/image" Target="../media/image61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64.png"/><Relationship Id="rId4" Type="http://schemas.openxmlformats.org/officeDocument/2006/relationships/tags" Target="../tags/tag59.xml"/><Relationship Id="rId9" Type="http://schemas.openxmlformats.org/officeDocument/2006/relationships/image" Target="../media/image6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tags" Target="../tags/tag62.xml"/><Relationship Id="rId7" Type="http://schemas.openxmlformats.org/officeDocument/2006/relationships/image" Target="../media/image66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65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tags" Target="../tags/tag65.xml"/><Relationship Id="rId7" Type="http://schemas.openxmlformats.org/officeDocument/2006/relationships/image" Target="../media/image69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68.png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13" Type="http://schemas.openxmlformats.org/officeDocument/2006/relationships/image" Target="../media/image75.png"/><Relationship Id="rId3" Type="http://schemas.openxmlformats.org/officeDocument/2006/relationships/tags" Target="../tags/tag6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4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image" Target="../media/image73.png"/><Relationship Id="rId5" Type="http://schemas.openxmlformats.org/officeDocument/2006/relationships/tags" Target="../tags/tag70.xml"/><Relationship Id="rId10" Type="http://schemas.openxmlformats.org/officeDocument/2006/relationships/image" Target="../media/image72.png"/><Relationship Id="rId4" Type="http://schemas.openxmlformats.org/officeDocument/2006/relationships/tags" Target="../tags/tag69.xml"/><Relationship Id="rId9" Type="http://schemas.openxmlformats.org/officeDocument/2006/relationships/image" Target="../media/image71.png"/><Relationship Id="rId1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2.xml"/><Relationship Id="rId4" Type="http://schemas.openxmlformats.org/officeDocument/2006/relationships/image" Target="../media/image7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3.xml"/><Relationship Id="rId4" Type="http://schemas.openxmlformats.org/officeDocument/2006/relationships/image" Target="../media/image7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tags" Target="../tags/tag76.xml"/><Relationship Id="rId7" Type="http://schemas.openxmlformats.org/officeDocument/2006/relationships/notesSlide" Target="../notesSlides/notesSlide25.xml"/><Relationship Id="rId12" Type="http://schemas.openxmlformats.org/officeDocument/2006/relationships/image" Target="../media/image67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81.png"/><Relationship Id="rId5" Type="http://schemas.openxmlformats.org/officeDocument/2006/relationships/tags" Target="../tags/tag78.xml"/><Relationship Id="rId10" Type="http://schemas.openxmlformats.org/officeDocument/2006/relationships/image" Target="../media/image80.png"/><Relationship Id="rId4" Type="http://schemas.openxmlformats.org/officeDocument/2006/relationships/tags" Target="../tags/tag77.xml"/><Relationship Id="rId9" Type="http://schemas.openxmlformats.org/officeDocument/2006/relationships/image" Target="../media/image7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13" Type="http://schemas.openxmlformats.org/officeDocument/2006/relationships/image" Target="../media/image86.png"/><Relationship Id="rId3" Type="http://schemas.openxmlformats.org/officeDocument/2006/relationships/tags" Target="../tags/tag81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85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image" Target="../media/image84.png"/><Relationship Id="rId5" Type="http://schemas.openxmlformats.org/officeDocument/2006/relationships/tags" Target="../tags/tag83.xml"/><Relationship Id="rId10" Type="http://schemas.openxmlformats.org/officeDocument/2006/relationships/image" Target="../media/image83.png"/><Relationship Id="rId4" Type="http://schemas.openxmlformats.org/officeDocument/2006/relationships/tags" Target="../tags/tag82.xml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13" Type="http://schemas.openxmlformats.org/officeDocument/2006/relationships/image" Target="../media/image91.png"/><Relationship Id="rId3" Type="http://schemas.openxmlformats.org/officeDocument/2006/relationships/tags" Target="../tags/tag87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90.png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image" Target="../media/image89.png"/><Relationship Id="rId5" Type="http://schemas.openxmlformats.org/officeDocument/2006/relationships/tags" Target="../tags/tag89.xml"/><Relationship Id="rId10" Type="http://schemas.openxmlformats.org/officeDocument/2006/relationships/image" Target="../media/image80.png"/><Relationship Id="rId4" Type="http://schemas.openxmlformats.org/officeDocument/2006/relationships/tags" Target="../tags/tag88.xml"/><Relationship Id="rId9" Type="http://schemas.openxmlformats.org/officeDocument/2006/relationships/image" Target="../media/image88.png"/><Relationship Id="rId14" Type="http://schemas.openxmlformats.org/officeDocument/2006/relationships/image" Target="../media/image9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13" Type="http://schemas.openxmlformats.org/officeDocument/2006/relationships/image" Target="../media/image85.png"/><Relationship Id="rId3" Type="http://schemas.openxmlformats.org/officeDocument/2006/relationships/tags" Target="../tags/tag9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95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image" Target="../media/image94.png"/><Relationship Id="rId5" Type="http://schemas.openxmlformats.org/officeDocument/2006/relationships/tags" Target="../tags/tag95.xml"/><Relationship Id="rId10" Type="http://schemas.openxmlformats.org/officeDocument/2006/relationships/image" Target="../media/image83.png"/><Relationship Id="rId4" Type="http://schemas.openxmlformats.org/officeDocument/2006/relationships/tags" Target="../tags/tag94.xml"/><Relationship Id="rId9" Type="http://schemas.openxmlformats.org/officeDocument/2006/relationships/image" Target="../media/image93.png"/><Relationship Id="rId14" Type="http://schemas.openxmlformats.org/officeDocument/2006/relationships/image" Target="../media/image9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13" Type="http://schemas.openxmlformats.org/officeDocument/2006/relationships/image" Target="../media/image91.png"/><Relationship Id="rId3" Type="http://schemas.openxmlformats.org/officeDocument/2006/relationships/tags" Target="../tags/tag99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98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80.png"/><Relationship Id="rId5" Type="http://schemas.openxmlformats.org/officeDocument/2006/relationships/tags" Target="../tags/tag101.xml"/><Relationship Id="rId10" Type="http://schemas.openxmlformats.org/officeDocument/2006/relationships/image" Target="../media/image97.png"/><Relationship Id="rId4" Type="http://schemas.openxmlformats.org/officeDocument/2006/relationships/tags" Target="../tags/tag100.xml"/><Relationship Id="rId9" Type="http://schemas.openxmlformats.org/officeDocument/2006/relationships/image" Target="../media/image89.png"/><Relationship Id="rId1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Full State Description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70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\documentclass{article}&#10;\usepackage{amsmath,bm}&#10;\pagestyle{empty}&#10;\begin{document}&#10;&#10;\begin{align*}&#10;\hat{\mathcal{R}}_{\eta\lambda;lk,s}^{(W\kappa p)}&#10;&amp; =&#10;\left(\frac{2\vartheta_{\lambda\left\{\chi_{p}\right\}}}{Wa_{0}\eta}\right)^{\frac{3}{2}}&#10;\left[&#10;\sqrt{W}&#10;\rho^{\frac{l}{W}-\kappa\delta_{W,1}-\delta_{s,-1}}\mathrm{e}^{-\rho/2}&#10;\sum_{v=-2\kappa}^{\kappa+\delta_{s,-1}}&#10;h_{lk,sv}^{(\kappa)}&#10;\hat{L}_{k+v}^{\left(\frac{2}{W}\left(l+\frac{1}{W}\right)+\kappa-\delta_{s,-1}\right)}&#10;\right|_{\rho \rightarrow \left(\frac{2r\vartheta_{\lambda\left\{\chi_{p}\right\}}}{Wa_{0}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002F0E53-9459-4033-997B-97BE0360805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10291" y="5525850"/>
            <a:ext cx="10971418" cy="109714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single-valley basis states</a:t>
            </a:r>
          </a:p>
        </p:txBody>
      </p:sp>
      <p:pic>
        <p:nvPicPr>
          <p:cNvPr id="3" name="Picture 2" descr="\documentclass{article}&#10;\usepackage{amsmath,bm,eufrak}&#10;\pagestyle{empty}&#10;\begin{document}&#10;&#10;\begin{equation*}&#10;\Phi_{m\zeta lk;\eta\lambda}^{(W\kappa p)}&#10;= &#10;\left(\frac{\hbar^{2}}{2m_{0}a_{0}^{2}\eta^{2}}\right)^{\kappa}&#10;\hat{Q}_{m\zeta}^{(p)}&#10;\sum_{s=-\kappa}^{+\kappa}&#10;\mathfrak{H}^{(\kappa)}_{\lambda;lm,s}&#10;\hat{\mathcal{P}}_{\lambda;(l+2s)m}^{(p)}&#10;\hat{\mathcal{R}}_{\eta\lambda;lk,s}^{(W\kappa p)}&#10;\end{equation*}&#10;&#10;\end{document}" title="IguanaTex Bitmap Display">
            <a:extLst>
              <a:ext uri="{FF2B5EF4-FFF2-40B4-BE49-F238E27FC236}">
                <a16:creationId xmlns:a16="http://schemas.microsoft.com/office/drawing/2014/main" id="{8E2F229D-D361-4ECC-BE37-0484A7EC5E3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769527" y="1857129"/>
            <a:ext cx="6652947" cy="71771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6683DAA-00F8-42A7-BF38-1789524766A2}"/>
              </a:ext>
            </a:extLst>
          </p:cNvPr>
          <p:cNvGrpSpPr/>
          <p:nvPr/>
        </p:nvGrpSpPr>
        <p:grpSpPr>
          <a:xfrm>
            <a:off x="732997" y="3053777"/>
            <a:ext cx="10726005" cy="1993139"/>
            <a:chOff x="732997" y="3153437"/>
            <a:chExt cx="10726005" cy="1993139"/>
          </a:xfrm>
        </p:grpSpPr>
        <p:pic>
          <p:nvPicPr>
            <p:cNvPr id="6" name="Picture 5" descr="\documentclass{article}&#10;\usepackage{amsmath,bm,eufrak}&#10;\pagestyle{empty}&#10;\begin{document}&#10;&#10;\begin{align*}&#10;\vartheta_{\lambda\left\{\chi\right\}}&#10;&amp; =&#10;\sqrt{1 + \left(\lambda^2-1\right)\chi^2}&#10;\\&#10;\hat{\mathcal{P}}_{\lambda;lm}^{(p)}&#10;&amp; = &#10;\sqrt{\frac{\lambda}{\vartheta_{\lambda\left\{\chi\right\}}^{3}}}&#10;\sqrt{\frac{(2l+1)\left(l-m\right)!}{2\left(l+m\right)!}}&#10;P_{lm}\left(\frac{\lambda \chi_{q}}{\vartheta_{\lambda\left\{\chi_{q}\right\}}}\right)&#10;\\&#10;\hat{Q}_{m\xi}^{(p)}&#10;&amp; = &#10;\frac{1}{\sqrt{2\pi}}&#10;\left(\frac{\mathrm{e}^{\mathrm{i}m \phi_{p}}+ \xi\mathrm{e}^{-\mathrm{i}m \phi_{p}}}&#10;{2\delta_{m0} + \sqrt{2}\left(1-\delta_{m0}\right)}\right)&#10;\end{align*}&#10;&#10;\end{document} " title="IguanaTex Bitmap Display">
              <a:extLst>
                <a:ext uri="{FF2B5EF4-FFF2-40B4-BE49-F238E27FC236}">
                  <a16:creationId xmlns:a16="http://schemas.microsoft.com/office/drawing/2014/main" id="{B48107FF-899F-4D5D-BCEA-0404DD1E5BF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732997" y="3153437"/>
              <a:ext cx="5508572" cy="1993139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A2F2EB0-46F7-4B56-86AC-CB3C342BEFA8}"/>
                </a:ext>
              </a:extLst>
            </p:cNvPr>
            <p:cNvGrpSpPr/>
            <p:nvPr/>
          </p:nvGrpSpPr>
          <p:grpSpPr>
            <a:xfrm>
              <a:off x="6974566" y="3174006"/>
              <a:ext cx="4484436" cy="1952000"/>
              <a:chOff x="6808836" y="3100269"/>
              <a:chExt cx="4484436" cy="1952000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55AD485-277A-4F77-852B-72367E0DAB0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6808836" y="3100269"/>
                <a:ext cx="2558476" cy="19520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E736506-322B-436B-900E-0C4FA105DC6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9702415" y="3536384"/>
                <a:ext cx="1590857" cy="122514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28352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single-valley basis states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0F3515-17F9-4681-A9FB-0FDCA6D61439}"/>
              </a:ext>
            </a:extLst>
          </p:cNvPr>
          <p:cNvGrpSpPr/>
          <p:nvPr/>
        </p:nvGrpSpPr>
        <p:grpSpPr>
          <a:xfrm>
            <a:off x="204095" y="4589237"/>
            <a:ext cx="11783809" cy="1481752"/>
            <a:chOff x="204095" y="4789306"/>
            <a:chExt cx="11783809" cy="148175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69CBA83-12E1-4375-B802-81E8C1344FD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9079866" y="4944316"/>
              <a:ext cx="2908038" cy="117173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44115AF-3F51-4DD0-9D13-E2A0368D408E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967733" y="4944316"/>
              <a:ext cx="2908038" cy="117173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AEEA1CC-A15C-487E-88BB-443E42311D45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204095" y="4789306"/>
              <a:ext cx="5559542" cy="148175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F164DCF-FB5C-485A-A8BB-99EFF5F11408}"/>
              </a:ext>
            </a:extLst>
          </p:cNvPr>
          <p:cNvGrpSpPr/>
          <p:nvPr/>
        </p:nvGrpSpPr>
        <p:grpSpPr>
          <a:xfrm>
            <a:off x="1388703" y="1956317"/>
            <a:ext cx="9414595" cy="2357336"/>
            <a:chOff x="1388703" y="1956317"/>
            <a:chExt cx="9414595" cy="2357336"/>
          </a:xfrm>
        </p:grpSpPr>
        <p:pic>
          <p:nvPicPr>
            <p:cNvPr id="15" name="Picture 14" descr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E5037CFE-29E3-4898-A815-9F927E063B8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6140447" y="1956317"/>
              <a:ext cx="4662851" cy="235733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" name="Picture 17" descr="\documentclass{article}&#10;\usepackage{amsmath,bm,eufrak}&#10;\pagestyle{empty}&#10;\begin{document}&#10;&#10;\begin{equation*}&#10;\mathfrak{H}^{(\kappa)}_{\lambda;lm,s}&#10;= &#10;\delta_{s,0}-\kappa\left(1-\gamma\lambda^{2}\right)\mathfrak{Y}_{lm}^{(s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4B188044-A71E-4846-B6E8-018BE08A749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1388703" y="2958984"/>
              <a:ext cx="3553519" cy="374857"/>
            </a:xfrm>
            <a:prstGeom prst="rect">
              <a:avLst/>
            </a:prstGeom>
          </p:spPr>
        </p:pic>
      </p:grpSp>
      <p:pic>
        <p:nvPicPr>
          <p:cNvPr id="12" name="Picture 11" descr="\documentclass{article}&#10;\usepackage{amsmath,bm}&#10;\pagestyle{empty}&#10;\begin{document}&#10;&#10;\begin{align*}&#10;h_{lk,v}^{(\kappa s)}&#10;&amp; =&#10;\left(1-\kappa\right)\delta_{s0}\delta_{v0} + \kappa g_{lk,v}^{(s)}&#10;\\&#10;\end{align*}&#10;&#10;\end{document}" title="IguanaTex Bitmap Display">
            <a:extLst>
              <a:ext uri="{FF2B5EF4-FFF2-40B4-BE49-F238E27FC236}">
                <a16:creationId xmlns:a16="http://schemas.microsoft.com/office/drawing/2014/main" id="{395329E3-A470-4732-9C92-A0084982F8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416510" y="6308136"/>
            <a:ext cx="3236569" cy="37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7" name="Picture 6" descr="\documentclass{article}&#10;\usepackage{amsmath,bm,eufrak}&#10;\pagestyle{empty}&#10;\begin{document}&#10;&#10;\begin{align*}&#10;\alpha&#10;=&#10;\frac{2}{W}\left(l+\frac{1}{W}\right)&#10;\end{align*}&#10;&#10;\end{document}" title="IguanaTex Bitmap Display">
            <a:extLst>
              <a:ext uri="{FF2B5EF4-FFF2-40B4-BE49-F238E27FC236}">
                <a16:creationId xmlns:a16="http://schemas.microsoft.com/office/drawing/2014/main" id="{182D8744-FB25-410F-B932-3F2B460402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38922" y="6282764"/>
            <a:ext cx="1338666" cy="4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18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Symmetrized States, </a:t>
            </a:r>
            <a:r>
              <a:rPr lang="en-US" i="1" dirty="0"/>
              <a:t>m</a:t>
            </a:r>
            <a:r>
              <a:rPr lang="en-US" dirty="0"/>
              <a:t> even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5B99B60-7557-435C-ACAD-8E353225E6F1}"/>
              </a:ext>
            </a:extLst>
          </p:cNvPr>
          <p:cNvGrpSpPr/>
          <p:nvPr/>
        </p:nvGrpSpPr>
        <p:grpSpPr>
          <a:xfrm>
            <a:off x="285220" y="2187935"/>
            <a:ext cx="5595317" cy="793294"/>
            <a:chOff x="285220" y="2187935"/>
            <a:chExt cx="5595317" cy="793294"/>
          </a:xfrm>
        </p:grpSpPr>
        <p:pic>
          <p:nvPicPr>
            <p:cNvPr id="25" name="Picture 24" descr="\documentclass{article}&#10;\usepackage{amsmath,bm}&#10;\pagestyle{empty}&#10;\begin{document}&#10;&#10;\begin{equation*}&#10;\Psi_{m_{e}lkA^{(\sigma)};\lambda\eta}^{\left(W\kappa\right)}&#10;=&#10;\sum_{q = x,y,z} &#10;\left(\frac{1}{\sqrt{3}}\right)&#10;\Phi_{m_{e}(\sigma\mathrm{i}^{m_{e}})lk;\lambda\eta}^{(W\kappa q)}&#10;\Theta^{(q)}_{\sigma\mathrm{i}^{m_{e}}(-1)^{l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0170A23-4DB4-44B3-B2FC-50EF846B6875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31906" y="2271897"/>
              <a:ext cx="5301943" cy="625371"/>
            </a:xfrm>
            <a:prstGeom prst="rect">
              <a:avLst/>
            </a:prstGeom>
          </p:spPr>
        </p:pic>
        <p:sp>
          <p:nvSpPr>
            <p:cNvPr id="29" name="Rounded Rectangle 28"/>
            <p:cNvSpPr/>
            <p:nvPr/>
          </p:nvSpPr>
          <p:spPr>
            <a:xfrm>
              <a:off x="285220" y="2187935"/>
              <a:ext cx="5595317" cy="793294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813A32E-FEBA-4B10-95F5-FC28E486B1A2}"/>
              </a:ext>
            </a:extLst>
          </p:cNvPr>
          <p:cNvGrpSpPr/>
          <p:nvPr/>
        </p:nvGrpSpPr>
        <p:grpSpPr>
          <a:xfrm>
            <a:off x="285220" y="5561193"/>
            <a:ext cx="4286779" cy="746474"/>
            <a:chOff x="285220" y="5561193"/>
            <a:chExt cx="4286779" cy="746474"/>
          </a:xfrm>
        </p:grpSpPr>
        <p:sp>
          <p:nvSpPr>
            <p:cNvPr id="36" name="Rounded Rectangle 35"/>
            <p:cNvSpPr/>
            <p:nvPr/>
          </p:nvSpPr>
          <p:spPr>
            <a:xfrm>
              <a:off x="285220" y="5561193"/>
              <a:ext cx="4286779" cy="746474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\documentclass{article}&#10;\usepackage{amsmath,bm}&#10;\pagestyle{empty}&#10;\begin{document}&#10;&#10;\begin{align*}&#10;\Psi_{m_{e}lkT_{q}^{(\sigma)};\lambda\eta}^{\left(W\kappa\right)}&#10;=&#10;\Phi_{m_{e}(\sigma\mathrm{i}^{m_{e}})lk;\lambda\eta}^{(W\kappa q)}&#10;\Theta_{-\sigma\mathrm{i}^{m_{e}}(-1)^{l}}^{(q)}&#10;\end{align*}&#10;&#10;\end{document}" title="IguanaTex Bitmap Display">
              <a:extLst>
                <a:ext uri="{FF2B5EF4-FFF2-40B4-BE49-F238E27FC236}">
                  <a16:creationId xmlns:a16="http://schemas.microsoft.com/office/drawing/2014/main" id="{1F991F44-564B-48ED-843E-456E29266F4D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09870" y="5719802"/>
              <a:ext cx="4037478" cy="41142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E7AB225-74A8-4544-A7B6-2E9A33EAA0CD}"/>
              </a:ext>
            </a:extLst>
          </p:cNvPr>
          <p:cNvGrpSpPr/>
          <p:nvPr/>
        </p:nvGrpSpPr>
        <p:grpSpPr>
          <a:xfrm>
            <a:off x="285221" y="3874564"/>
            <a:ext cx="5570506" cy="793294"/>
            <a:chOff x="285221" y="3874564"/>
            <a:chExt cx="5570506" cy="793294"/>
          </a:xfrm>
        </p:grpSpPr>
        <p:pic>
          <p:nvPicPr>
            <p:cNvPr id="4" name="Picture 3" descr="\documentclass{article}&#10;\usepackage{amsmath,bm}&#10;\pagestyle{empty}&#10;\begin{document}&#10;&#10;\begin{equation*}&#10;\Psi_{m_{e}lk E_{i}^{\sigma};\lambda\eta}^{\left(W\kappa\right)}&#10;=&#10;\sum_{q = x,y,z}&#10;\left(\beta_{E_{i}}^{(\sigma)}\right)_{q}&#10;\Phi_{m_{e}(\sigma\mathrm{i}^{m_{e}})lk;\lambda\eta}^{(W\kappa q)}&#10;\Theta^{(q)}_{\sigma\mathrm{i}^{m_{e}}(-1)^{l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2F4E90DB-A53A-4085-8D4F-06A767253616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435963" y="3992811"/>
              <a:ext cx="5269023" cy="556800"/>
            </a:xfrm>
            <a:prstGeom prst="rect">
              <a:avLst/>
            </a:prstGeom>
          </p:spPr>
        </p:pic>
        <p:sp>
          <p:nvSpPr>
            <p:cNvPr id="33" name="Rounded Rectangle 32"/>
            <p:cNvSpPr/>
            <p:nvPr/>
          </p:nvSpPr>
          <p:spPr>
            <a:xfrm>
              <a:off x="285221" y="3874564"/>
              <a:ext cx="5570506" cy="793294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80F15C3-D595-41CB-B6AB-8CADA7AC6D83}"/>
              </a:ext>
            </a:extLst>
          </p:cNvPr>
          <p:cNvGrpSpPr/>
          <p:nvPr/>
        </p:nvGrpSpPr>
        <p:grpSpPr>
          <a:xfrm>
            <a:off x="6964171" y="3904230"/>
            <a:ext cx="4048787" cy="763628"/>
            <a:chOff x="6964171" y="3838118"/>
            <a:chExt cx="4048787" cy="76362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FFD8E46-B34A-4FF7-86CB-79EDE9D46181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6964171" y="3838118"/>
              <a:ext cx="2171123" cy="763628"/>
              <a:chOff x="6964171" y="3838118"/>
              <a:chExt cx="2171123" cy="763628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1F407A43-AF9D-49DE-8682-E6D93E3DA97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6964171" y="3838118"/>
                <a:ext cx="2171123" cy="460800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43257" y="4383536"/>
                <a:ext cx="1178819" cy="218210"/>
              </a:xfrm>
              <a:prstGeom prst="rect">
                <a:avLst/>
              </a:prstGeom>
            </p:spPr>
          </p:pic>
        </p:grpSp>
        <p:pic>
          <p:nvPicPr>
            <p:cNvPr id="21" name="Picture 2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520" y="3994408"/>
              <a:ext cx="1282438" cy="451048"/>
            </a:xfrm>
            <a:prstGeom prst="rect">
              <a:avLst/>
            </a:prstGeom>
          </p:spPr>
        </p:pic>
      </p:grpSp>
      <p:pic>
        <p:nvPicPr>
          <p:cNvPr id="7" name="Picture 6" descr="\documentclass{article}&#10;\usepackage{amsmath,bm}&#10;\pagestyle{empty}&#10;\begin{document}&#10;&#10;\begin{align*}&#10;\Theta^{(q)}&#10;&amp; =&#10;\mathrm{e}^{\mathrm{i}\bm{k}_q\cdot \bm{r}}u_{\bm{k}_q}&#10;\\&#10;\Theta_{\Omega}^{(q)}&#10;&amp; =&#10;\frac&#10;{&#10;\Theta^{(q)}&#10;+&#10;\Omega\Theta^{(-q)}&#10;}&#10;{\sqrt{2}}&#10;\\&#10;\end{align*}&#10;&#10;\end{document}" title="IguanaTex Bitmap Display">
            <a:extLst>
              <a:ext uri="{FF2B5EF4-FFF2-40B4-BE49-F238E27FC236}">
                <a16:creationId xmlns:a16="http://schemas.microsoft.com/office/drawing/2014/main" id="{9E46659B-01EA-4988-B004-C6B953A3CE8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386568" y="2037422"/>
            <a:ext cx="2162743" cy="95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09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Symmetrized States, </a:t>
            </a:r>
            <a:r>
              <a:rPr lang="en-US" i="1" dirty="0"/>
              <a:t>m</a:t>
            </a:r>
            <a:r>
              <a:rPr lang="en-US" dirty="0"/>
              <a:t> odd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7692755-B2BF-43D1-AC60-934F4FBA4A6B}"/>
              </a:ext>
            </a:extLst>
          </p:cNvPr>
          <p:cNvGrpSpPr/>
          <p:nvPr/>
        </p:nvGrpSpPr>
        <p:grpSpPr>
          <a:xfrm>
            <a:off x="3029651" y="2966863"/>
            <a:ext cx="6132699" cy="924274"/>
            <a:chOff x="3029651" y="2966863"/>
            <a:chExt cx="6132699" cy="924274"/>
          </a:xfrm>
        </p:grpSpPr>
        <p:sp>
          <p:nvSpPr>
            <p:cNvPr id="36" name="Rounded Rectangle 35"/>
            <p:cNvSpPr/>
            <p:nvPr/>
          </p:nvSpPr>
          <p:spPr>
            <a:xfrm>
              <a:off x="3029651" y="2966863"/>
              <a:ext cx="6132699" cy="924274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 descr="\documentclass{article}&#10;\usepackage{amsmath,bm}&#10;\pagestyle{empty}&#10;\begin{document}&#10;&#10;\begin{align*}&#10;\Psi_{m_{o}lkhT_{q_{1}}^{(\sigma)};\lambda\eta}^{\left(W\kappa\right)}&#10;=&#10;\frac&#10;{&#10;\Phi_{m_{o}hlk;\lambda\eta}^{\left(W\kappa q_{2}\right)}\Theta_{h(-1)^{l}}^{(q_{2})}&#10;- h\sigma\mathrm{i}^{m_{o}}\Phi_{m_{o}\bar{h}lk;\lambda\eta}^{\left(W\kappa q_{3}\right)}\Theta_{h(-1)^{l}}^{(q_{3})}&#10;}&#10;{\sqrt{2}}&#10;\end{align*}&#10;&#10;\end{document}" title="IguanaTex Bitmap Display">
              <a:extLst>
                <a:ext uri="{FF2B5EF4-FFF2-40B4-BE49-F238E27FC236}">
                  <a16:creationId xmlns:a16="http://schemas.microsoft.com/office/drawing/2014/main" id="{F62DAD86-9FF6-4CD2-BDCB-4D9C5DE1882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3144004" y="3098484"/>
              <a:ext cx="5903994" cy="6610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7250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10258773" cy="853311"/>
          </a:xfrm>
          <a:solidFill>
            <a:schemeClr val="tx2"/>
          </a:solidFill>
        </p:spPr>
        <p:txBody>
          <a:bodyPr>
            <a:spAutoFit/>
          </a:bodyPr>
          <a:lstStyle/>
          <a:p>
            <a:r>
              <a:rPr lang="en-US" dirty="0"/>
              <a:t>Integrable Potential 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Forms that might be used</a:t>
            </a:r>
          </a:p>
        </p:txBody>
      </p:sp>
    </p:spTree>
    <p:extLst>
      <p:ext uri="{BB962C8B-B14F-4D97-AF65-F5344CB8AC3E}">
        <p14:creationId xmlns:p14="http://schemas.microsoft.com/office/powerpoint/2010/main" val="188171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Raw potential</a:t>
            </a:r>
          </a:p>
        </p:txBody>
      </p:sp>
      <p:pic>
        <p:nvPicPr>
          <p:cNvPr id="4" name="Picture 3" descr="\documentclass{article}&#10;\usepackage{amsmath,bm,eufrak}&#10;\pagestyle{empty}&#10;\begin{document}&#10;&#10;\begin{align*}&#10;\tilde{U}_{\left\{\bm{r}\right\}}&#10;&amp; =&#10;\left(\frac{r}{a_{0}}\right)^{d}&#10;\sum_{i}&#10;\tilde{\mathfrak{U}}_{i}&#10;\mathcal{U}_{i\left\{\chi,\phi\right\}}&#10;\mathrm{e}^{-\tilde{\alpha}_{i\left\{\chi,\phi\right\}}\frac{r}{a_{0}}}&#10;\mathrm{e}^{-\beta_{i\left\{\chi,\phi\right\}}\left(\frac{r}{a_{0}}\right)^{2}}&#10;\\&#10;&amp; =&#10;\left(\frac{r}{a_{\perp}}\right)^{d}&#10;\sum_{j \in \Gamma\left(T_{d}\right)}&#10;\sum_{\kappa = 1}^{l_{j}}&#10;U^{(j)}_{\kappa\kappa}&#10;\\&#10;U^{(j)}_{\mu\kappa}&#10;&amp; \equiv&#10;\sum_{i}&#10;\sum_{\hat{R}\in\subseteq T_{d}}&#10;\tilde{\mathfrak{U}}_{\mu\kappa;i\hat{R}}^{\left(j\right)}&#10;\mathcal{U}_{i\hat{R}}&#10;\mathrm{e}^{-\alpha_{i\hat{R}}\left(\frac{r}{a_\perp}\right)}\mathrm{e}^{-\beta_{i\hat{R}}\left(\frac{r}{a_\perp}\right)^{2}}&#10;\\&#10;\tilde{\mathfrak{U}}_{\mu\kappa;i\hat{R}}^{\left(j\right)}&#10;&amp; \equiv&#10;\frac{l_{j}}{h}&#10;\tilde{\mathfrak{U}}_{i}&#10;\left(\Gamma_{\hat{R}}^{(j)}\right)_{\mu\kappa}^{*}&#10;\end{align*}&#10;&#10;\end{document}" title="IguanaTex Bitmap Display">
            <a:extLst>
              <a:ext uri="{FF2B5EF4-FFF2-40B4-BE49-F238E27FC236}">
                <a16:creationId xmlns:a16="http://schemas.microsoft.com/office/drawing/2014/main" id="{D23E559E-9DDE-48CB-B49A-4D71C0D1E2D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089529" y="2519113"/>
            <a:ext cx="6012943" cy="326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84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2281159"/>
            <a:ext cx="8866632" cy="1597104"/>
          </a:xfrm>
        </p:spPr>
        <p:txBody>
          <a:bodyPr/>
          <a:lstStyle/>
          <a:p>
            <a:r>
              <a:rPr lang="en-US" dirty="0"/>
              <a:t>GENERAL MATRIX ELEMENT FORMULA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Finding a general form for the multivalley matrix element</a:t>
            </a:r>
          </a:p>
        </p:txBody>
      </p:sp>
    </p:spTree>
    <p:extLst>
      <p:ext uri="{BB962C8B-B14F-4D97-AF65-F5344CB8AC3E}">
        <p14:creationId xmlns:p14="http://schemas.microsoft.com/office/powerpoint/2010/main" val="531913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General matrix element formula</a:t>
            </a:r>
          </a:p>
        </p:txBody>
      </p:sp>
      <p:pic>
        <p:nvPicPr>
          <p:cNvPr id="20" name="Picture 19" descr="\documentclass{article}&#10;\usepackage{amsmath,amssymb,bm}&#10;\pagestyle{empty}&#10;\begin{document}&#10;&#10;\begin{align*}&#10;\left(\bm{\mathcal{M}}\right)_{\left(mlkh\mathcal{W};\lambda\eta\right)_{01}}&#10;&amp; =&#10;\int \mathrm{d}\bm{r}\,&#10;U_{\left\{\bm{r}\right\}}&#10;\Psi_{\left(mlkh;\lambda\eta\right)_{1}}^{\left(\mathcal{W}_{1}W\kappa\right)*}&#10;\Psi_{\left(mlkh;\lambda\eta\right)_{2}}^{\left(\mathcal{W}_{2}W\kappa\right)}&#10;\\&#10;&amp; =&#10;\sum_{j}&#10;\left(&#10;\bm{\mathcal{M}}_{\parallel}&#10;+&#10;\bm{\mathcal{M}}_{\perp}&#10;\right)_{\left(mlkh\mathcal{W};\lambda\eta\right)_{01}}^{(j)}&#10;\\&#10;\left(\bm{\mathcal{M}}\right)_{\parallel\slash\perp\left(mlkh\mathcal{W};\lambda\eta\right)_{01}}^{(j)}&#10;&amp; =&#10;\int \mathrm{d}\bm{r}\,&#10;V_{\parallel\slash\perp,xyz}^{(j)(\mathcal{W})_{01}}\,&#10;\Psi_{\left(mlkh\mathcal{W};\lambda\eta\right)_{0}}^{\left(W\kappa\right)*}&#10;\Psi_{\left(mlkh\mathcal{W};\lambda\eta\right)_{1}}^{\left(W\kappa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0C0BDDCC-BF68-4420-B43E-2DF428DCD70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8570" y="2709750"/>
            <a:ext cx="7094860" cy="19702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6666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Raw potential</a:t>
            </a:r>
          </a:p>
        </p:txBody>
      </p:sp>
      <p:pic>
        <p:nvPicPr>
          <p:cNvPr id="19" name="Picture 18" descr="\documentclass{article}&#10;\usepackage{amsmath,bm,eufrak}&#10;\pagestyle{empty}&#10;\begin{document}&#10;&#10;\begin{align*}&#10;\tilde{U}_{\left\{\bm{r}\right\}}&#10;&amp; =&#10;\left(\frac{r}{a_{0}}\right)^{d}&#10;\sum_{i}&#10;\tilde{\mathfrak{U}}_{i}&#10;\mathcal{U}_{i\left\{\chi,\phi\right\}}&#10;\mathrm{e}^{-\tilde{\alpha}_{i\left\{\chi,\phi\right\}}\frac{r}{a_{0}}}&#10;\mathrm{e}^{-\beta_{i\left\{\chi,\phi\right\}}\left(\frac{r}{a_{0}}\right)^{2}}&#10;\\&#10;&amp; =&#10;\left(\frac{r}{a_{\perp}}\right)^{d}&#10;\sum_{j \in \Gamma\left(T_{d}\right)}&#10;\sum_{\kappa = 1}^{l_{j}}&#10;\tilde{U}^{(j)}_{\kappa\kappa}&#10;\\&#10;\tilde{U}^{(j)}_{\mu\kappa}&#10;&amp; \equiv&#10;\sum_{i}&#10;\tilde{\mathfrak{U}}_{i}&#10;\sum_{\hat{R}\in T_{d}}&#10;\tilde{\mathfrak{U}}_{\mu\kappa;\hat{R}}^{\left(j\right)}&#10;\mathcal{U}_{i\hat{R}}&#10;\mathrm{e}^{-\alpha_{i\hat{R}}\left(\frac{r}{a_\perp}\right)}\mathrm{e}^{-\beta_{i\hat{R}}\left(\frac{r}{a_\perp}\right)^{2}}&#10;\\&#10;\tilde{\mathfrak{U}}_{\mu\kappa;i\hat{R}}^{\left(j\right)}&#10;&amp; \equiv&#10;\frac{l_{j}}{h}&#10;\left(\Gamma_{\hat{R}}^{(j)}\right)_{\mu\kappa}^{*}&#10;\end{align*}&#10;&#10;\end{document}" title="IguanaTex Bitmap Display">
            <a:extLst>
              <a:ext uri="{FF2B5EF4-FFF2-40B4-BE49-F238E27FC236}">
                <a16:creationId xmlns:a16="http://schemas.microsoft.com/office/drawing/2014/main" id="{26A06BD5-0A12-433A-9B06-8B4D2A450A2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089529" y="2519112"/>
            <a:ext cx="6012942" cy="325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675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5" name="Picture 4" descr="\documentclass{article}&#10;\usepackage{amsmath,bm,eufrak}&#10;\pagestyle{empty}&#10;\begin{document}&#10;&#10;\begin{equation*}&#10;V_{\parallel}^{\left(A^{\left(\sigma\right)}\right)(\mathcal{W})_{01}}&#10;=&#10;\begin{pmatrix}&#10;\delta_{\sigma_{0}\sigma_{1}}^{\sigma} &amp;                              0 &amp;                             0 &amp;                             0 &amp;                                &amp; 0 &amp; 0 &amp; 0 \\&#10;                                     0 &amp;            \delta_{+}^{\sigma} &amp; \mathrm{i}\delta_{-}^{\sigma} &amp;                             0 &amp;                                &amp; 0 &amp; 0 &amp; 0 \\&#10;                                     0 &amp; -\mathrm{i}\delta_{-}^{\sigma} &amp;           \delta_{+}^{\sigma} &amp;                             0 &amp;                                &amp; 0 &amp; 0 &amp; 0 \\&#10;                                     0 &amp;                              0 &amp;                             0 &amp;           \delta_{+}^{\sigma} &amp; -\mathrm{i}\delta_{-}^{\sigma} &amp; 0 &amp; 0 &amp; 0 \\&#10;                                     0 &amp;                              0 &amp;                             0 &amp; \mathrm{i}\delta_{-}^{\sigma} &amp;            \delta_{+}^{\sigma} &amp; 0 &amp; 0 &amp; 0 \\&#10;&#10;0 &amp; 0 &amp; 0 &amp; 0 &amp; 0 &amp; \delta_{\sigma_{0}\sigma_{1}}^{\sigma} &amp;                                      0 &amp;                                      0 \\&#10;0 &amp; 0 &amp; 0 &amp; 0 &amp; 0 &amp;                                      0 &amp; \delta_{\sigma_{0}\sigma_{1}}^{\sigma} &amp;                                      0 \\&#10;0 &amp; 0 &amp; 0 &amp; 0 &amp; 0 &amp;                                      0 &amp;                                      0 &amp; \delta_{\sigma_{0}\sigma_{1}}^{\sigma} \\&#10;\end{pmatrix}&#10;U^{\left(A^{\left(\sigma\right)}\right)}&#10;\end{equation*}&#10;&#10;\end{document}" title="IguanaTex Bitmap Display">
            <a:extLst>
              <a:ext uri="{FF2B5EF4-FFF2-40B4-BE49-F238E27FC236}">
                <a16:creationId xmlns:a16="http://schemas.microsoft.com/office/drawing/2014/main" id="{2240A931-2730-4501-AFCA-F5EA392ACAF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60574" y="2390067"/>
            <a:ext cx="8777139" cy="2428919"/>
          </a:xfrm>
          <a:prstGeom prst="rect">
            <a:avLst/>
          </a:prstGeom>
          <a:ln>
            <a:noFill/>
          </a:ln>
        </p:spPr>
      </p:pic>
      <p:pic>
        <p:nvPicPr>
          <p:cNvPr id="18" name="Picture 17" descr="\documentclass{article}&#10;\usepackage{amsmath,bm,eufrak}&#10;\pagestyle{empty}&#10;\begin{document}&#10;&#10;\begin{align*}&#10;\delta_{s}^{\sigma}  &amp; = \frac{1 + \sigma s}{2} \\&#10;\end{align*}&#10;&#10;\end{document}" title="IguanaTex Bitmap Display">
            <a:extLst>
              <a:ext uri="{FF2B5EF4-FFF2-40B4-BE49-F238E27FC236}">
                <a16:creationId xmlns:a16="http://schemas.microsoft.com/office/drawing/2014/main" id="{8AC3894F-F9F5-41BA-8F36-AB1C774B3D2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65715" y="5347068"/>
            <a:ext cx="1060570" cy="4108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4622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perpendicular valleys</a:t>
            </a:r>
          </a:p>
        </p:txBody>
      </p:sp>
      <p:pic>
        <p:nvPicPr>
          <p:cNvPr id="5" name="Picture 4" descr="\documentclass{article}&#10;\usepackage{amsmath,bm,eufrak}&#10;\pagestyle{empty}&#10;\begin{document}&#10;&#10;\begin{equation*}&#10;V_{\perp}^{\left(A^{\left(\sigma\right)}\right)(\mathcal{W})_{01}}&#10;=&#10;\begin{pmatrix}&#10;2\delta_{\sigma_{0}\sigma_{1}}^{\sigma} &amp;                              0 &amp;                              0 &amp;                              0 &amp;                                0 &amp; 0 &amp; 0 &amp; 0 \\&#10;                                      0 &amp;            \phi_{+}^{(\sigma)} &amp;  \mathrm{i}\phi_{-}^{(\sigma)} &amp;                              0 &amp;                                0 &amp; 0 &amp; 0 &amp; 0 \\&#10;                                      0 &amp; -\mathrm{i}\phi_{-}^{(\sigma)} &amp;            \phi_{+}^{(\sigma)} &amp;                              0 &amp;                                0 &amp; 0 &amp; 0 &amp; 0 \\&#10;                                      0 &amp;                              0 &amp;                              0 &amp;           \phi_{+}^{(\sigma)*} &amp;  -\mathrm{i}\phi_{-}^{(\sigma)*} &amp; 0 &amp; 0 &amp; 0 \\&#10;                                      0 &amp;                              0 &amp;                              0 &amp; \mathrm{i}\phi_{-}^{(\sigma)*} &amp;             \phi_{+}^{(\sigma)*} &amp; 0 &amp; 0 &amp; 0 \\&#10;&#10;0 &amp; 0 &amp; 0 &amp; 0 &amp; 0 &amp; 0 &amp; 0 &amp; 0 \\&#10;0 &amp; 0 &amp; 0 &amp; 0 &amp; 0 &amp; 0 &amp; 0 &amp; 0 \\&#10;0 &amp; 0 &amp; 0 &amp; 0 &amp; 0 &amp; 0 &amp; 0 &amp; 0 \\&#10;\end{pmatrix}&#10;U^{\left(A^{\left(\sigma\right)}\right)}&#10;\end{equation*}&#10;&#10;\end{document}" title="IguanaTex Bitmap Display">
            <a:extLst>
              <a:ext uri="{FF2B5EF4-FFF2-40B4-BE49-F238E27FC236}">
                <a16:creationId xmlns:a16="http://schemas.microsoft.com/office/drawing/2014/main" id="{6BB762FE-6736-4C39-89AB-0FD7678E674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62861" y="2139105"/>
            <a:ext cx="8466280" cy="2579792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\documentclass{article}&#10;\usepackage{amsmath,bm,eufrak}&#10;\pagestyle{empty}&#10;\begin{document}&#10;&#10;\begin{align*}&#10;\delta_{s}^{\sigma}  &amp; = \frac{1 + \sigma s}{2} \\&#10;                   \phi_{s}^{(\sigma)}  &amp; = \tau^{2} + \sigma s\tau = -\left(\frac{1+\sigma s}{2}\right) -\mathrm{i}\sqrt{3}\left(\frac{1-\sigma s}{2}\right) \\&#10;\end{align*}&#10;&#10;\end{document}" title="IguanaTex Bitmap Display">
            <a:extLst>
              <a:ext uri="{FF2B5EF4-FFF2-40B4-BE49-F238E27FC236}">
                <a16:creationId xmlns:a16="http://schemas.microsoft.com/office/drawing/2014/main" id="{A0702188-1DDE-4C72-A110-4CA43A8D8AA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73033" y="5347063"/>
            <a:ext cx="4245935" cy="977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8654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15" name="Picture 14" descr="\documentclass{article}&#10;\usepackage{amsmath,bm,eufrak}&#10;\pagestyle{empty}&#10;\begin{document}&#10;&#10;\begin{equation*}&#10;V_{\parallel}^{\left(T^{\left(\sigma\right)}\right)(\mathcal{W})_{01}}&#10;=&#10;\frac{1}{\sqrt{3}}&#10;\begin{pmatrix}&#10;0 &amp; 0 &amp; 0 &amp; 0 &amp; 0 &amp;           \delta_{\sigma_{0}\sigma_{1}}^{\sigma}U_{(x)} &amp;          \delta_{\sigma_{0}\sigma_{1}}^{\sigma}U_{(y)} &amp;   \delta_{\sigma_{0}\sigma_{1}}^{\sigma}U_{(z)} \\&#10;0 &amp; 0 &amp; 0 &amp; 0 &amp; 0 &amp;            \delta_{+\sigma_{1}}^{\sigma}\tau^{2}U_{(x)} &amp;              \delta_{+\sigma_{1}}^{\sigma}\tau U_{(y)} &amp;            \delta_{+\sigma_{1}}^{\sigma}U_{(z)} \\&#10;0 &amp; 0 &amp; 0 &amp; 0 &amp; 0 &amp; -\mathrm{i}\delta_{-\sigma_{1}}^{\sigma}\tau^{2}U_{(x)} &amp;   -\mathrm{i}\delta_{-\sigma_{1}}^{\sigma}\tau U_{(y)} &amp; -\mathrm{i}\delta_{-\sigma_{1}}^{\sigma}U_{(z)} \\&#10;0 &amp; 0 &amp; 0 &amp; 0 &amp; 0 &amp;               \delta_{+\sigma_{1}}^{\sigma}\tau U_{(x)} &amp;           \delta_{+\sigma_{1}}^{\sigma}\tau^{2}U_{(y)} &amp;            \delta_{+\sigma_{1}}^{\sigma}U_{(z)} \\&#10;0 &amp; 0 &amp; 0 &amp; 0 &amp; 0 &amp;     \mathrm{i}\delta_{-\sigma_{1}}^{\sigma}\tau U_{(x)} &amp; \mathrm{i}\delta_{-\sigma_{1}}^{\sigma}\tau^{2}U_{(y)} &amp;  \mathrm{i}\delta_{-\sigma_{1}}^{\sigma}U_{(z)} \\&#10;&#10;\delta_{\sigma_{0}\sigma_{1}}^{\sigma}U_{(x)} &amp;    \delta_{\sigma_{0}+}^{\sigma}\tau U_{(x)} &amp;    \mathrm{i}\delta_{\sigma_{0}-}^{\sigma}\tau U_{(x)} &amp; \delta_{\sigma_{0}+}^{\sigma}\tau^{2}U_{(x)} &amp; -\mathrm{i}\delta_{\sigma_{0}-}^{\sigma}\tau^{2}U_{(x)} &amp; 0 &amp; 0 &amp; 0 \\&#10;\delta_{\sigma_{0}\sigma_{1}}^{\sigma}U_{(y)} &amp; \delta_{\sigma_{0}+}^{\sigma}\tau^{2}U_{(y)} &amp; \mathrm{i}\delta_{\sigma_{0}-}^{\sigma}\tau^{2}U_{(y)} &amp;    \delta_{\sigma_{0}+}^{\sigma}\tau U_{(y)} &amp;    -\mathrm{i}\delta_{\sigma_{0}-}^{\sigma}\tau U_{(y)} &amp; 0 &amp; 0 &amp; 0 \\&#10;\delta_{\sigma_{0}\sigma_{1}}^{\sigma}U_{(z)} &amp;         \delta_{\sigma_{0}+}^{\sigma}U_{(z)} &amp;         \mathrm{i}\delta_{\sigma_{0}-}^{\sigma}U_{(z)} &amp;         \delta_{\sigma_{0}+}^{\sigma}U_{(z)} &amp;         -\mathrm{i}\delta_{\sigma_{0}-}^{\sigma}U_{(z)} &amp; 0 &amp; 0 &amp;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0C9290F7-B46C-4039-AEA4-8C603D88ED3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5162" y="3371847"/>
            <a:ext cx="11601677" cy="19431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" name="Picture 3" descr="\documentclass{article}&#10;\usepackage{amsmath,bm,eufrak}&#10;\pagestyle{empty}&#10;\begin{document}&#10;&#10;\begin{align*}&#10;            U_{(x)} = U_{x,3}^{\left(T^{(\sigma)}\right)} \quad\quad&#10;            U_{(y)} = U_{y,3}^{\left(T^{(\sigma)}\right)} \quad\quad&#10;            U_{(z)} = U_{z}^{\left(T^{(\sigma)}\right)}   \quad\quad&#10;\delta_{s}^{\sigma} = \frac{1 + \sigma s}{2} \\&#10;\end{align*}&#10;&#10;\end{document}" title="IguanaTex Bitmap Display">
            <a:extLst>
              <a:ext uri="{FF2B5EF4-FFF2-40B4-BE49-F238E27FC236}">
                <a16:creationId xmlns:a16="http://schemas.microsoft.com/office/drawing/2014/main" id="{9EA293BA-BA1F-4CDC-B368-9B20D688F10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07622" y="2008188"/>
            <a:ext cx="6115956" cy="41203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0429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Inversion filtered potential involving perpendicular valleys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equation*}&#10;V_{\perp}^{\left(T^{\left(\sigma\right)}\right)(\mathcal{W})_{01}}&#10;=&#10;\frac{1}{\sqrt{3}}&#10;\begin{pmatrix}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2\delta_{\sigma_{0}\sigma_{1}}^{\sigma}U_{x} &amp;          2\delta_{\sigma_{0}\sigma_{1}}^{\sigma}U_{y,1} &amp;  2\delta_{\sigma_{0}\sigma_{1}}^{\sigma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\tau^{2}\phi_{+\sigma_{1}}^{(\sigma)}U_{x} &amp;               \tau \phi_{+\sigma_{1}}^{(\sigma)}U_{y,1} &amp;            \phi_{+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-\mathrm{i}\tau^{2}\phi_{-\sigma_{1}}^{(\sigma)}U_{x} &amp;    -\mathrm{i}\tau \phi_{-\sigma_{1}}^{(\sigma)}U_{y,1} &amp; -\mathrm{i}\phi_{-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  \tau \phi_{+\sigma_{1}}^{(\sigma)*}U_{x} &amp;           \tau^{2}\phi_{+\sigma_{1}}^{(\sigma)*}U_{y,1} &amp;           \phi_{+\sigma_{1}}^{(\sigma)*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\mathrm{i}\tau \phi_{-\sigma_{1}}^{(\sigma)*}U_{x} &amp; \mathrm{i}\tau^{2}\phi_{-\sigma_{1}}^{(\sigma)*}U_{y,1} &amp; \mathrm{i}\phi_{-\sigma_{1}}^{(\sigma)*}U_{z,1} \\&#10;2\delta_{\sigma_{0}\sigma_{1}}^{\sigma}U_{x,2} &amp;   \tau\phi_{\sigma_{0}+}^{(\sigma)}U_{x,2} &amp;   \tau\mathrm{i}\phi_{\sigma_{0}-}^{(\sigma)}U_{x,2} &amp; \tau^{2}\phi_{\sigma_{0}+}^{(\sigma)*}U_{x,2} &amp; -\mathrm{i}\tau^{2}\phi_{\sigma_{0}-}^{(\sigma)*}U_{x,2} &amp;                                                     0 &amp;                         \sigma\sigma_{0}\sigma_{1}U_{z} &amp;                                         U_{y,3} \\&#10;  2\delta_{\sigma_{0}\sigma_{1}}^{\sigma}U_{y} &amp; \tau^{2}\phi_{\sigma_{0}+}^{(\sigma)}U_{y} &amp; \tau^{2}\mathrm{i}\phi_{\sigma_{0}-}^{(\sigma)}U_{y} &amp;       \tau\phi_{\sigma_{0}+}^{(\sigma)*}U_{y} &amp;       -\mathrm{i}\tau\phi_{\sigma_{0}-}^{(\sigma)*}U_{y} &amp;                                                 U_{z} &amp;                                                       0 &amp;               \sigma\sigma_{0}\sigma_{1}U_{x,3} \\&#10;2\delta_{\sigma_{0}\sigma_{1}}^{\sigma}U_{z,2} &amp;       \phi_{\sigma_{0}+}^{(\sigma)}U_{z,2} &amp;       \mathrm{i}\phi_{\sigma_{0}-}^{(\sigma)}U_{z,2} &amp;         \phi_{\sigma_{0}+}^{(\sigma)*}U_{z,2} &amp;         -\mathrm{i}\phi_{\sigma_{0}-}^{(\sigma)*}U_{z,2} &amp;                     \sigma\sigma_{0}\sigma_{1}U_{y,3} &amp;                                               U_{x,3} &amp;                                                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6BA4ACCF-00A8-4062-883F-E32E94A991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68343" y="2425872"/>
            <a:ext cx="11655315" cy="2210132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\documentclass{article}&#10;\usepackage{amsmath,bm,eufrak}&#10;\pagestyle{empty}&#10;\begin{document}&#10;&#10;\begin{align*}&#10;\delta_{s}^{\sigma} &amp; = \frac{1 + \sigma s}{2} \\&#10;\phi_{s}^{(\sigma)} &amp; = \tau^{2} + \sigma s\tau = -\left(\frac{1+\sigma s}{2}\right) -\mathrm{i}\sqrt{3}\left(\frac{1-\sigma s}{2}\right) \\&#10;\end{align*}&#10;&#10;\end{document}" title="IguanaTex Bitmap Display">
            <a:extLst>
              <a:ext uri="{FF2B5EF4-FFF2-40B4-BE49-F238E27FC236}">
                <a16:creationId xmlns:a16="http://schemas.microsoft.com/office/drawing/2014/main" id="{05C76FC8-FE5B-4AC0-9A57-2C5D3A7A38F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73033" y="5230521"/>
            <a:ext cx="4245934" cy="977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1176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equation*}&#10;V_{\parallel}^{\left(E\right)(\mathcal{W})_{01}}&#10;=&#10;\begin{pmatrix}&#10;0                           &amp; W_{2\sigma_{0}+}  &amp; \mathrm{i}W_{2\sigma_{0}-} &amp; W_{1\sigma_{0}+}            &amp; -\mathrm{i}W_{1\sigma_{0}-} &amp; 0 &amp; 0 &amp; 0 \\&#10;W_{1+\sigma_{1}}            &amp; 0                 &amp; 0                          &amp; W_{2++}                     &amp; -\mathrm{i}W_{2+-} &amp; 0 &amp; 0 &amp; 0 \\&#10;-\mathrm{i}W_{1-\sigma_{1}} &amp; 0                 &amp; 0                          &amp; -\mathrm{i}W_{2-+}          &amp; -W_{2--}           &amp; 0 &amp; 0 &amp; 0 \\&#10;W_{2+\sigma_{1}}            &amp; W_{1++}           &amp; \mathrm{i}W_{1+-}          &amp; 0                           &amp; 0                  &amp; 0 &amp; 0 &amp; 0 \\&#10;\mathrm{i}W_{2-\sigma_{1}}  &amp; \mathrm{i}W_{1-+} &amp; -W_{1--}                   &amp; 0                           &amp; 0                  &amp; 0 &amp; 0 &amp; 0 \\&#10;&#10;0 &amp; 0 &amp; 0 &amp; 0 &amp; 0 &amp; W_{x\sigma_{0}\sigma_{1}} &amp;                         0 &amp; 0                         \\&#10;0 &amp; 0 &amp; 0 &amp; 0 &amp; 0 &amp;                         0 &amp; W_{y\sigma_{0}\sigma_{1}} &amp; 0                         \\&#10;0 &amp; 0 &amp; 0 &amp; 0 &amp; 0 &amp;                         0 &amp;                         0 &amp; W_{z\sigma_{0}\sigma_{1}}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34F62FC3-7F9F-42F4-BE1A-0B561B60DE2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69337" y="2364671"/>
            <a:ext cx="10453326" cy="2428916"/>
          </a:xfrm>
          <a:prstGeom prst="rect">
            <a:avLst/>
          </a:prstGeom>
          <a:ln>
            <a:noFill/>
          </a:ln>
        </p:spPr>
      </p:pic>
      <p:pic>
        <p:nvPicPr>
          <p:cNvPr id="33" name="Picture 32" descr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 title="IguanaTex Bitmap Display">
            <a:extLst>
              <a:ext uri="{FF2B5EF4-FFF2-40B4-BE49-F238E27FC236}">
                <a16:creationId xmlns:a16="http://schemas.microsoft.com/office/drawing/2014/main" id="{93E5A01D-6A9E-42F3-A546-1DCD8C2315B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440234" y="5337105"/>
            <a:ext cx="2190621" cy="908190"/>
          </a:xfrm>
          <a:prstGeom prst="rect">
            <a:avLst/>
          </a:prstGeom>
          <a:ln>
            <a:noFill/>
          </a:ln>
        </p:spPr>
      </p:pic>
      <p:pic>
        <p:nvPicPr>
          <p:cNvPr id="27" name="Picture 26" descr="\documentclass{article}&#10;\usepackage{amsmath,bm,eufrak}&#10;\pagestyle{empty}&#10;\begin{document}&#10;&#10;\begin{align*}&#10;W_{x\sigma_{0}\sigma_{1}} &amp; = \tau W_{1\sigma_{0}\sigma_{1}} + \tau^{2}W_{2\sigma_{0}\sigma_{1}} \\&#10;W_{y\sigma_{0}\sigma_{1}} &amp; = \tau^{2}W_{1\sigma_{0}\sigma_{1}} + \tau W_{2\sigma_{0}\sigma_{1}} \\&#10;W_{z\sigma_{0}\sigma_{1}} &amp; = W_{1\sigma_{0}\sigma_{1}} + W_{2\sigma_{0}\sigma_{1}}              \\&#10;\end{align*}&#10;&#10;\end{document}" title="IguanaTex Bitmap Display">
            <a:extLst>
              <a:ext uri="{FF2B5EF4-FFF2-40B4-BE49-F238E27FC236}">
                <a16:creationId xmlns:a16="http://schemas.microsoft.com/office/drawing/2014/main" id="{DB363AF3-6695-476B-9FF4-A30E08672B6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071089" y="5359657"/>
            <a:ext cx="2680676" cy="86308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219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perpendicular valleys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equation*}&#10;V_{\perp}^{\left(E\right)(\mathcal{W})_{01}}&#10;=&#10;\begin{pmatrix}&#10;                          0 &amp;  -W_{2\sigma_{0}+} &amp; -\mathrm{i}W_{2\sigma_{0}-} &amp;   -W_{1\sigma_{0}+} &amp; \mathrm{i}W_{1\sigma_{0}-} &amp; 0 &amp; 0 &amp; 0 \\&#10;          -W_{1+\sigma_{1}} &amp;                  0 &amp;                           0 &amp;            2W_{2++} &amp;        -2\mathrm{i}W_{2+-} &amp; 0 &amp; 0 &amp; 0 \\&#10; \mathrm{i}W_{1-\sigma_{1}} &amp;                  0 &amp;                           0 &amp; -2\mathrm{i}W_{2+-} &amp;                  -2W_{2--} &amp; 0 &amp; 0 &amp; 0 \\&#10;          -W_{2+\sigma_{1}} &amp;           2W_{1++} &amp;          2\mathrm{i}W_{1+-} &amp;                   0 &amp;                          0 &amp; 0 &amp; 0 &amp; 0 \\&#10;-\mathrm{i}W_{2-\sigma_{1}} &amp; 2\mathrm{i}W_{1-+} &amp;                   -2W_{1--}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303942C5-9960-4787-855D-807E68746B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16010" y="2214534"/>
            <a:ext cx="8959981" cy="2428922"/>
          </a:xfrm>
          <a:prstGeom prst="rect">
            <a:avLst/>
          </a:prstGeom>
          <a:ln>
            <a:noFill/>
          </a:ln>
        </p:spPr>
      </p:pic>
      <p:pic>
        <p:nvPicPr>
          <p:cNvPr id="29" name="Picture 28" descr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 title="IguanaTex Bitmap Display">
            <a:extLst>
              <a:ext uri="{FF2B5EF4-FFF2-40B4-BE49-F238E27FC236}">
                <a16:creationId xmlns:a16="http://schemas.microsoft.com/office/drawing/2014/main" id="{4029B753-7004-4951-98C6-0BD9BF66339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000690" y="5121872"/>
            <a:ext cx="2190621" cy="9081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4529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even,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even – Final form</a:t>
            </a:r>
          </a:p>
        </p:txBody>
      </p:sp>
      <p:pic>
        <p:nvPicPr>
          <p:cNvPr id="24" name="Picture 23" descr="\documentclass{article}&#10;\usepackage{amsmath,bm,eufrak}&#10;\pagestyle{empty}&#10;\begin{document}&#10;&#10;\begin{align*}&#10;(\bm{\mathcal{M}})^{(j)}_{\parallel(mlk\mathcal{W})_{01}}&#10;&amp; =&#10;\left(\bm{\mathcal{M}}\right)&#10;^{(j)(\mathcal{W})_{01}(zz)(\pi/2)}&#10;_{\parallel,\left(m\left(\sigma\mathrm{i}^{m}\right)lk\left(\omega\sigma\mathrm{i}^{m}(-1)^{l}\right)\right)_{01}}&#10;\\&#10;(\bm{\mathcal{M}})^{(j)}_{\perp(mlk\mathcal{W})_{01}}&#10;&amp; =&#10;\left(\bm{\mathcal{M}}\right)&#10;^{(j)(\mathcal{W})_{01}(yx)(\pi)}&#10;_{\perp,\left(m\left(\sigma\mathrm{i}^{m}\right)lk\left(\omega\sigma\mathrm{i}^{m}(-1)^{l}\right)\right)_{0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C94047F1-1132-49CA-AF8E-7DFE366A82F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39314" y="4443963"/>
            <a:ext cx="4513372" cy="836572"/>
          </a:xfrm>
          <a:prstGeom prst="rect">
            <a:avLst/>
          </a:prstGeom>
          <a:ln>
            <a:noFill/>
          </a:ln>
        </p:spPr>
      </p:pic>
      <p:pic>
        <p:nvPicPr>
          <p:cNvPr id="22" name="Picture 21" descr="\documentclass{article}&#10;\usepackage{amsmath,bm,eufrak}&#10;\pagestyle{empty}&#10;\begin{document}&#10;&#10;\begin{align*}&#10;(\bm{\mathcal{M}})&#10;_{\left(mlk\mathcal{W}\right)_{01}}^{(j)}&#10;&amp; =&#10;(\bm{\mathcal{M}}_{\parallel}+\bm{\mathcal{M}}_{\perp})^{(j)}_{(mlk\mathcal{W})_{0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52DCE52-96D8-4DB8-9526-A395B19C7DF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23314" y="3566459"/>
            <a:ext cx="3745372" cy="3689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9116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even,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odd – Final form</a:t>
            </a:r>
          </a:p>
        </p:txBody>
      </p:sp>
      <p:pic>
        <p:nvPicPr>
          <p:cNvPr id="6" name="Picture 5" descr="\documentclass{article}&#10;\usepackage{amsmath,bm,eufrak}&#10;\pagestyle{empty}&#10;\begin{document}&#10;&#10;\begin{align*}&#10;(\bm{\mathcal{M}})_{\parallel(mlk\mathcal{W})_{0}(mhlkT_{q}^{\sigma})_{1}}^{(j)}&#10;&amp; =&#10;-\mathrm{i}\sqrt{2}h_{1}\sigma_{1}\left(-1\right)^{\frac{m_{1}-1}{2}}&#10;\bm{\mathcal{M}}^{(j)(y,+x)}_{\parallel,(zxy)(mlk\mathcal{W})_{0}(mhlkT_{q}^{\sigma})_{1}}&#10;\\&#10;(\bm{\mathcal{M}})_{\perp(mlk\mathcal{W})_{0}(mhlkT_{q}^{\sigma})_{1}}^{(j)}&#10;&amp; =&#10;\frac{1}{\sqrt{2}}&#10;\left(&#10;\bm{\mathcal{M}}^{(z,-z)}_{(yzx)}&#10;+&#10;\bm{\mathcal{M}}^{(y,-x)}_{(yzx)}&#10;\right)_{\perp(mlk\mathcal{W})_{0}(mhlkT_{q}^{\sigma})_{1}}^{(j)}&#10;\\&#10;\end{align*}&#10;&#10;\end{document}" title="IguanaTex Bitmap Display">
            <a:extLst>
              <a:ext uri="{FF2B5EF4-FFF2-40B4-BE49-F238E27FC236}">
                <a16:creationId xmlns:a16="http://schemas.microsoft.com/office/drawing/2014/main" id="{D9436C40-87BA-4DFE-9BEA-4E0921ED1D0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527543" y="2425789"/>
            <a:ext cx="7136915" cy="1062857"/>
          </a:xfrm>
          <a:prstGeom prst="rect">
            <a:avLst/>
          </a:prstGeom>
          <a:ln>
            <a:noFill/>
          </a:ln>
        </p:spPr>
      </p:pic>
      <p:pic>
        <p:nvPicPr>
          <p:cNvPr id="32" name="Picture 31" descr="\documentclass{article}&#10;\usepackage{amsmath,bm,eufrak}&#10;\pagestyle{empty}&#10;\begin{document}&#10;&#10;\begin{align*}&#10;\left(\bm{\mathcal{M}}\right)^{(j)(p_{0},s_{1}p_{1})}&#10;_{\aleph,\hat{R}(mlk\mathcal{W})_{0}(mhlkT_{q}^{\sigma})_{1}}&#10;&amp; =&#10;\left(\bm{\mathcal{M}}\right)&#10;^{(j)(\mathcal{W}_{0}T_{q_{1}}^{\sigma_{1}})(p_{0}p_{1})(\pi)}&#10;_{&#10;\aleph,\hat{R}&#10;\left(m\left(\sigma\mathrm{i}^{m}\right)lk\left(\omega\sigma\mathrm{i}^{m}(-1)^{l}\right)\right)_{0}&#10;\left(m\left(-sh\right)lk\left(h(-1)^{l}\right)\right)_{1}&#10;}&#10;\end{align*}&#10;&#10;\end{document}" title="IguanaTex Bitmap Display">
            <a:extLst>
              <a:ext uri="{FF2B5EF4-FFF2-40B4-BE49-F238E27FC236}">
                <a16:creationId xmlns:a16="http://schemas.microsoft.com/office/drawing/2014/main" id="{845B4B93-E46C-4AA3-80E6-23F71B70915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74667" y="4543796"/>
            <a:ext cx="6442667" cy="4022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7609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odd,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even – Final form</a:t>
            </a:r>
          </a:p>
        </p:txBody>
      </p:sp>
      <p:pic>
        <p:nvPicPr>
          <p:cNvPr id="19" name="Picture 18" descr="\documentclass{article}&#10;\usepackage{amsmath,bm,eufrak}&#10;\pagestyle{empty}&#10;\begin{document}&#10;&#10;\begin{align*}&#10;(\bm{\mathcal{M}})_{\parallel(mhlkT_{q}^{\sigma})_{0}(mlk\mathcal{W})_{1}}^{(j)}&#10;&amp; =&#10;\sqrt{2}&#10;\bm{\mathcal{M}}_{\parallel,(yzx)(mhlkT_{q}^{\sigma})_{0}(mlk\mathcal{W})_{1}}^{(j)(-y,x)} &#10;\\&#10;(\bm{\mathcal{M}})_{\perp(mhlkT_{q}^{\sigma})_{0}(mlk\mathcal{W})_{1}}^{(j)}&#10;&amp; =&#10;\frac{\mathrm{i}}{\sqrt{2}}&#10;h_{0}\sigma_{0}\left(-1\right)^{\frac{m_{0}-1}{2}}&#10;\left(&#10;\bm{\mathcal{M}}^{(-z,z)}_{(zxy)}&#10;+&#10;\bm{\mathcal{M}}^{(+y,x)}_{(zxy)}&#10;\right)_{\perp(mhlkT_{q}^{\sigma})_{0}(mlk\mathcal{W})_{1}}^{(j)}&#10;\\&#10;\end{align*}&#10;&#10;\end{document}" title="IguanaTex Bitmap Display">
            <a:extLst>
              <a:ext uri="{FF2B5EF4-FFF2-40B4-BE49-F238E27FC236}">
                <a16:creationId xmlns:a16="http://schemas.microsoft.com/office/drawing/2014/main" id="{3076AA11-F0E9-4AB1-BB73-F0CEC7AA9C9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66516" y="2367079"/>
            <a:ext cx="8458968" cy="1025828"/>
          </a:xfrm>
          <a:prstGeom prst="rect">
            <a:avLst/>
          </a:prstGeom>
        </p:spPr>
      </p:pic>
      <p:pic>
        <p:nvPicPr>
          <p:cNvPr id="27" name="Picture 26" descr="\documentclass{article}&#10;\usepackage{amsmath,bm,eufrak}&#10;\pagestyle{empty}&#10;\begin{document}&#10;&#10;\begin{align*}&#10;(\bm{\mathcal{M}})_{\aleph,\hat{R}(mhlkT_{q}^{\sigma})_{0}(mlk\mathcal{W})_{1}}^{(j)(s_{0}p_{0},p_{1})} &#10;&amp; =&#10;\left(\bm{\mathcal{M}}\right)&#10;^{(j)(T_{q_{0}}^{\sigma_{0}}\mathcal{W}_{1})(p_{0}p_{1})(\pi)}&#10;_{&#10;\aleph,\hat{R}&#10;\left(m\left(-sh\right)lk\left(h\left(-1\right)^{l}\right)\right)_{0}&#10;\left(m\left(\sigma\mathrm{i}^{m}\right)lk\left(\omega\sigma\mathrm{i}^{m}(-1)^{l}\right)\right)_{1}}&#10;\end{align*}&#10;&#10;\end{document}" title="IguanaTex Bitmap Display">
            <a:extLst>
              <a:ext uri="{FF2B5EF4-FFF2-40B4-BE49-F238E27FC236}">
                <a16:creationId xmlns:a16="http://schemas.microsoft.com/office/drawing/2014/main" id="{0FC40CBA-9A22-4495-BB51-D06961FC396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43583" y="4426928"/>
            <a:ext cx="6504835" cy="4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356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odd,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odd – Final form</a:t>
            </a:r>
          </a:p>
        </p:txBody>
      </p:sp>
      <p:pic>
        <p:nvPicPr>
          <p:cNvPr id="22" name="Picture 21" descr="\documentclass{article}&#10;\usepackage{amsmath,bm,eufrak}&#10;\pagestyle{empty}&#10;\begin{document}&#10;&#10;\begin{align*}&#10;\left(\bm{\mathcal{M}}\right)&#10;^{(j)(s_{0}p_{0},s_{1}p_{1})}&#10;_{\aleph,\hat{R}(mlkhT_{q}^{\sigma})_{01}}&#10;&amp; =&#10;\left(\bm{\mathcal{M}}\right)&#10;^{(j)\left(T_{q}^{\sigma}\right)_{01}(p_{0}p_{1})(\pi)}&#10;_{\aleph,\hat{R}\left(m\left(-sh\right)lk\left(h\left(-1\right)^{l}\right)\right)_{0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CD07EA44-D8F0-4A90-8879-76EE9866490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07163" y="4764245"/>
            <a:ext cx="4177674" cy="46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8" name="Picture 17" descr="\documentclass{article}&#10;\usepackage{amsmath,bm,eufrak}&#10;\pagestyle{empty}&#10;\begin{document}&#10;&#10;\begin{align*}&#10;(\bm{\mathcal{M}})_{\parallel\left(mhlkT_{q}^{(\sigma)}\right)_{01}}^{(j)}&#10;&amp; =&#10;\left(&#10;\bm{\mathcal{M}}^{(-z,-z)}_{(zxy)}&#10;+&#10;\mathrm{i}h_{0}\sigma_{0}\left(-1\right)^{\frac{m_{0}-1}{2}}\bm{\mathcal{M}}^{(+y,-x)}_{(xyz)}&#10;\right)&#10;_{\parallel\left(mhlkT_{q}^{(\sigma)}\right)_{01}}&#10;^{(j)}&#10;\\&#10;(\bm{\mathcal{M}})_{\perp\left(mhlkT_{q}^{(\sigma)}\right)_{01}}^{(j)}&#10;&amp; =&#10;\frac{1}{2}\left(&#10;\bm{\mathcal{M}}^{(-y,-x)}_{(zxy)}&#10;-&#10;h_{0}h_{1}\sigma_{0}\sigma_{1}&#10;\left(-1\right)^{\frac{m_{0}+m_{1}}{2}}&#10;\bm{\mathcal{M}}^{(+y,+x)}_{(yzx)}&#10;+&#10;\mathrm{i}\left(&#10;h_{0}\sigma_{0}\left(-1\right)^{\frac{m_{0}-1}{2}}\bm{\mathcal{M}}^{(+z,-z)}_{(xyz)}&#10;-&#10;h_{1}\sigma_{1}\left(-1\right)^{\frac{m_{1}-1}{2}}\bm{\mathcal{M}}^{(-y,+x)}_{(xyz)}&#10;\right)&#10;\right)&#10;_{\perp\left(mhlkT_{q}^{(\sigma)}\right)_{01}}&#10;^{(j)}&#10;\\&#10;\end{align*}&#10;&#10;\end{document}" title="IguanaTex Bitmap Display">
            <a:extLst>
              <a:ext uri="{FF2B5EF4-FFF2-40B4-BE49-F238E27FC236}">
                <a16:creationId xmlns:a16="http://schemas.microsoft.com/office/drawing/2014/main" id="{ECA9D9DE-DE49-4390-AB60-BDAFDA3C23E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68534" y="2467382"/>
            <a:ext cx="11054933" cy="10261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1418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2281159"/>
            <a:ext cx="8866632" cy="1597104"/>
          </a:xfrm>
        </p:spPr>
        <p:txBody>
          <a:bodyPr/>
          <a:lstStyle/>
          <a:p>
            <a:r>
              <a:rPr lang="en-US" dirty="0"/>
              <a:t>Base MATRIX ELEMENT FORMULA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Finding a base computational form for the multivalley matrix element</a:t>
            </a:r>
          </a:p>
        </p:txBody>
      </p:sp>
    </p:spTree>
    <p:extLst>
      <p:ext uri="{BB962C8B-B14F-4D97-AF65-F5344CB8AC3E}">
        <p14:creationId xmlns:p14="http://schemas.microsoft.com/office/powerpoint/2010/main" val="2249009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Integration Formula for Matrix Elements</a:t>
            </a:r>
          </a:p>
        </p:txBody>
      </p:sp>
      <p:pic>
        <p:nvPicPr>
          <p:cNvPr id="20" name="Picture 19" descr="\documentclass{article}&#10;\usepackage{amsmath,bm,eufrak}&#10;\pagestyle{empty}&#10;\begin{document}&#10;&#10;\begin{align*}&#10;\left(\bm{\mathcal{M}}\right)&#10;^{(j)(\mathcal{W})_{01}(p_{0}p_{1})(\tau)}&#10;_{\aleph,\hat{R}\left(m\zeta lk\Omega\right)_{01}}&#10;&amp; =&#10;2&#10;\int_{0}^{1} \mathrm{d}\chi&#10;\int_{-\tau/2}^{+\tau/2} \frac{\mathrm{d}\phi}{\tau}&#10;\int_{0}^{\infty} r^2\mathrm{d}r\,&#10;V_{\aleph,\hat{R}}^{(j)(\mathcal{W})_{01}}\,&#10;2\pi&#10;\left(\Phi_{(m\zeta lk)_{0}}^{\left(W\kappa_{0}p_{0}\right)}\right)^{*}&#10;\Phi_{(m\zeta lk)_{1}}^{\left(W\kappa_{1}p_{1}\right)}&#10;\Theta_{\Omega_{0}}^{(p_{0})*}&#10;\Theta_{\Omega_{1}}^{(p_{1})}&#10;\\&#10;&amp; =&#10;\sum_{\mu\kappa}&#10;\mathfrak{u}_{\aleph,\mu\kappa}^{(j)(\mathcal{W})_{01}}&#10;\left(\bm{\mathcal{M}}\right)&#10;^{(j)(p_{0}p_{1})(\tau)}&#10;_{\mu\kappa,\hat{R}\left(m\zeta lk\Omega\right)_{01}}&#10;\\&#10;\left(\bm{\mathcal{M}}\right)&#10;^{(j)(p_{0}p_{1})(\tau)}&#10;_{\mu\kappa,\hat{R}\left(m\zeta lk\Omega\right)_{01}}&#10;&amp; =&#10;2&#10;\int_{0}^{1} \mathrm{d}\chi&#10;\int_{-\tau/2}^{+\tau/2} \frac{\mathrm{d}\phi}{\tau}&#10;\int_{0}^{\infty} r^2\mathrm{d}r\,&#10;\left[&#10;\left(\frac{r}{a_{\perp}}\right)^{d}&#10;\Theta_{\Omega_{0}}^{(p_{0})*}&#10;\Theta_{\Omega_{1}}^{(p_{1})}&#10;\hat{R}\tilde{U}^{(j)}_{\mu\kappa}&#10;\right]\,&#10;2\pi&#10;\left(\Phi_{\left(\eta\lambda;m\zeta lk\right)_{0}}^{\left(W\kappa_{0}p_{0}\right)}\right)^{*}&#10;      \Phi_{\left(\eta\lambda;m\zeta lk\right)_{1}}^{\left(W\kappa_{1}p_{1}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F7BDBFB3-4B3D-4619-B0D1-CA7ABAEE1C0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5710" y="3234918"/>
            <a:ext cx="10820580" cy="203931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7355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\documentclass{article}&#10;\usepackage{amsmath,amssymb,bm}&#10;\pagestyle{empty}&#10;\begin{document}&#10;&#10;\begin{align*}&#10;\Theta_{\Omega_{0}}^{(z)*}&#10;\Theta_{\Omega_{1}}^{(z)}&#10;&amp; =&#10;\mathcal{Z}\left\{\Theta^{(-z)}\Theta^{(z)},\Omega_{0}\Omega_{1}\right\}&#10;+&#10;\Omega_{0}\mathcal{Z}\left\{\Theta^{(z)}\Theta^{(z)},\Omega_{0}\Omega_{1}\right\}&#10;\\&#10;&amp; =&#10;\left(\frac{1+\Omega_{0}\Omega_{1}}{2}\right)&#10;\left( 1 + \Theta_{\upharpoonleft \! \upharpoonright} \right)&#10;+&#10;\Omega_{0}\Theta_{\upharpoonleft \! \downharpoonright}&#10;\\&#10;\end{align*}&#10;&#10;\end{document}" title="IguanaTex Bitmap Display">
            <a:extLst>
              <a:ext uri="{FF2B5EF4-FFF2-40B4-BE49-F238E27FC236}">
                <a16:creationId xmlns:a16="http://schemas.microsoft.com/office/drawing/2014/main" id="{5F789C26-89C5-45D5-A2F3-89B0601D253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470172" y="2761720"/>
            <a:ext cx="5251657" cy="931352"/>
          </a:xfrm>
          <a:prstGeom prst="rect">
            <a:avLst/>
          </a:prstGeom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Elaboration of the Base Integration Formula</a:t>
            </a:r>
          </a:p>
        </p:txBody>
      </p:sp>
      <p:pic>
        <p:nvPicPr>
          <p:cNvPr id="44" name="Picture 43" descr="\documentclass{article}&#10;\usepackage{amsmath,bm,eufrak}&#10;\pagestyle{empty}&#10;\begin{document}&#10;&#10;\begin{align*}&#10;\left(\bm{\mathcal{M}}\right)&#10;^{(j)(p_{0}p_{1})(\tau)}&#10;_{\mu\kappa,\hat{R}\left(m\zeta lk\Omega\right)_{01}}&#10;&amp; =&#10;2&#10;\int_{0}^{1} \mathrm{d}\chi&#10;\int_{-\tau/2}^{+\tau/2} \frac{\mathrm{d}\phi}{\tau}&#10;\int_{0}^{\infty} r^2\mathrm{d}r\,&#10;\left[&#10;\left(\frac{r}{a_{\perp}}\right)^{d}&#10;\Theta_{\Omega_{0}}^{(p_{0})*}&#10;\Theta_{\Omega_{1}}^{(p_{1})}&#10;\hat{R}\tilde{U}^{(j)}_{\mu\kappa}&#10;\right]\,&#10;2\pi&#10;\left(\Phi_{\left(\eta\lambda;m\zeta lk\right)_{0}}^{\left(W\kappa_{0}p_{0}\right)}\right)^{*}&#10;      \Phi_{\left(\eta\lambda;m\zeta lk\right)_{1}}^{\left(W\kappa_{1}p_{1}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6738037E-53F4-4F70-9F16-AE56C584199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384988" y="1887943"/>
            <a:ext cx="9422024" cy="607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\documentclass{article}&#10;\usepackage{amsmath,bm}&#10;\pagestyle{empty}&#10;\begin{document}&#10;&#10;\begin{align*}&#10;\Theta_{\Omega_{0}}^{(y)*}&#10;\Theta_{\Omega_{1}}^{(x)}&#10;=&#10;\mathcal{Z}\left\{\Theta^{(-y)}\Theta^{(+x)}+\Omega_{0}\Theta^{(+y)}\Theta^{(+x)},\Omega_{0}\Omega_{1}\right\}&#10;=&#10;\Theta_{\perp}&#10;\\&#10;\end{align*}&#10;&#10;\end{document}" title="IguanaTex Bitmap Display">
            <a:extLst>
              <a:ext uri="{FF2B5EF4-FFF2-40B4-BE49-F238E27FC236}">
                <a16:creationId xmlns:a16="http://schemas.microsoft.com/office/drawing/2014/main" id="{8AC3E8C6-AAEC-49C8-8BD3-65F19F11909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496381" y="3959764"/>
            <a:ext cx="5199238" cy="364495"/>
          </a:xfrm>
          <a:prstGeom prst="rect">
            <a:avLst/>
          </a:prstGeom>
          <a:ln>
            <a:noFill/>
          </a:ln>
        </p:spPr>
      </p:pic>
      <p:pic>
        <p:nvPicPr>
          <p:cNvPr id="36" name="Picture 35" descr="\documentclass{article}&#10;\usepackage{amsmath,amssymb,bm}&#10;\pagestyle{empty}&#10;\begin{document}&#10;&#10;\begin{align*}&#10;\left(\bm{\mathcal{M}}\right)&#10;^{(j)(zz)(\tau)}&#10;_{\mu\kappa,\hat{R}\left(m\zeta lk\Omega\right)_{01}}&#10;=&#10;\left(\frac{1+\Omega_{0}\Omega_{1}}{2}\right)&#10;\left(&#10;\left(\bm{\mathcal{M}}\right)&#10;^{(j)(\bullet)(\tau)}&#10;_{\mu\kappa,\hat{R}\left(m\zeta lk\right)_{01}\Omega}&#10;+&#10;\left(\bm{\mathcal{M}}\right)&#10;^{(j)(\upharpoonleft \! \upharpoonright)(\tau)}&#10;_{\mu\kappa,\hat{R}\left(m\zeta lk\right)_{01}\Omega}&#10;\right)&#10;+&#10;\Omega_{0}&#10;\left(\bm{\mathcal{M}}\right)&#10;^{(j)(\upharpoonleft \! \downharpoonright)(\tau)}&#10;_{\mu\kappa,\hat{R}\left(m\zeta lk\Omega\right)_{01}}&#10;\quad\quad&#10;\left(\bm{\mathcal{M}}\right)&#10;^{(j)(yx)(\tau)}&#10;_{\mu\kappa,\hat{R}\left(m\zeta lk\Omega\right)_{01}}&#10;=&#10;\left(\bm{\mathcal{M}}\right)&#10;^{(j)(\perp)(\tau)}&#10;_{\mu\kappa,\hat{R}\left(m\zeta lk\Omega\right)_{0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79C9B36-025E-4422-AB2D-D5D03481BD1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09067" y="6152273"/>
            <a:ext cx="10973867" cy="42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8" name="Picture 47" descr="\documentclass{article}&#10;\usepackage{amsmath,amssymb,bm}&#10;\pagestyle{empty}&#10;\begin{document}&#10;&#10;\begin{align*}&#10;\left(\bm{\mathcal{M}}\right)&#10;^{(j)(\aleph)(\tau)}&#10;_{\mu\kappa,\hat{R}\left(m\zeta lk\Omega\right)_{01}}&#10;&amp; =&#10;2&#10;\int_{0}^{1} \mathrm{d}\chi&#10;\int_{-\tau/2}^{+\tau/2} \frac{\mathrm{d}\phi}{\tau}&#10;\int_{0}^{\infty} r^2\mathrm{d}r\,&#10;\left[&#10;\left(\frac{r}{a_{\perp}}\right)^{d}&#10;\hat{R}\tilde{U}^{(j)}_{\mu\kappa}&#10;\Theta_{\aleph}&#10;\right]\,&#10;2\pi&#10;\left(\Phi_{\left(\eta\lambda;m\zeta lk\right)_{0}}^{\left(W\kappa_{0}p_{0}\right)}\right)^{*}&#10;      \Phi_{\left(\eta\lambda;m\zeta lk\right)_{1}}^{\left(W\kappa_{1}p_{1}\right)}&#10;\\&#10;\left(\bm{\mathcal{M}}\right)&#10;^{(j)(\bullet)(\tau)}&#10;_{\mu\kappa,\hat{R}\left(m\zeta lk\Omega\right)_{01}}&#10;&amp; =&#10;2&#10;\int_{0}^{1} \mathrm{d}\chi&#10;\int_{-\tau/2}^{+\tau/2} \frac{\mathrm{d}\phi}{\tau}&#10;\int_{0}^{\infty} r^2\mathrm{d}r\,&#10;\left[&#10;\left(\frac{r}{a_{\perp}}\right)^{d}&#10;\hat{R}\tilde{U}^{(j)}_{\mu\kappa}&#10;\right]\,&#10;2\pi&#10;\left(\Phi_{\left(\eta\lambda;m\zeta lk\right)_{0}}^{\left(W\kappa_{0}p_{0}\right)}\right)^{*}&#10;      \Phi_{\left(\eta\lambda;m\zeta lk\right)_{1}}^{\left(W\kappa_{1}p_{1}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E5BE25A9-78EE-44BF-A863-8A8D1C559B1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748878" y="4590953"/>
            <a:ext cx="8694244" cy="12946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8176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Bloch integrand</a:t>
            </a:r>
          </a:p>
        </p:txBody>
      </p:sp>
      <p:pic>
        <p:nvPicPr>
          <p:cNvPr id="5" name="Picture 4" descr="\documentclass{article}&#10;\usepackage{amsmath,bm,eufrak}&#10;\pagestyle{empty}&#10;\begin{document}&#10;&#10;\begin{align*}&#10;\mathcal{Z}\left\{\Theta^{(-y)}\Theta^{(+x)}+\Omega_{0}\Theta^{(+y)}\Theta^{(+x)},\Omega_{0}\Omega_{1}\right\}&#10;&amp; =&#10;\Theta_{\perp}&#10;\equiv&#10;\sum_{g}D_{g}^{(\perp)}&#10;\mathcal{Z}\left\{&#10;\sum_{p}&#10;\mathrm{e}^{\mathrm{i}p\phi_{g}^{(\perp)}}&#10;\sum_{n=0,1}\Xi_{n}&#10;\sum_{h(g,p,n)}&#10;\mathrm{e}^{\mathrm{i}\frac{2\pi}{a_{\text{Si}}}\bm{h}_{gpnh}^{(\perp)}\cdot\bm{r}}&#10;,\Omega_{0}\Omega_{1}\right\}&#10;\\&#10;\Xi_{n}&#10;&amp; =&#10;\delta_{n0}+\Omega_{0}\delta_{n1}&#10;\end{align*}&#10;&#10;&#10;&#10;\end{document}" title="IguanaTex Bitmap Display">
            <a:extLst>
              <a:ext uri="{FF2B5EF4-FFF2-40B4-BE49-F238E27FC236}">
                <a16:creationId xmlns:a16="http://schemas.microsoft.com/office/drawing/2014/main" id="{A0251A97-633F-49D9-BEEB-A7E10B4BB79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70665" y="5193501"/>
            <a:ext cx="11850670" cy="1267808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6" name="Picture 15" descr="\documentclass{article}&#10;\usepackage{amsmath,amssymb,bm}&#10;\pagestyle{empty}&#10;\begin{document}&#10;&#10;\begin{align*}&#10;\mathcal{Z}\left\{\Theta^{(-z)}\Theta^{(+z)},\Omega_{0}\Omega_{1}\right\}&#10;=&#10;\left(\frac{1+\Omega_{0}\Omega_{1}}{2}\right)&#10;\left( 1 + \Theta_{\upharpoonleft \! \upharpoonright} \right)&#10;\end{align*}&#10;&#10;\end{document}" title="IguanaTex Bitmap Display">
            <a:extLst>
              <a:ext uri="{FF2B5EF4-FFF2-40B4-BE49-F238E27FC236}">
                <a16:creationId xmlns:a16="http://schemas.microsoft.com/office/drawing/2014/main" id="{1B0A1A98-C4B3-4829-A4C2-FEB6D5EE75C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430094" y="2030604"/>
            <a:ext cx="5331812" cy="608000"/>
          </a:xfrm>
          <a:prstGeom prst="rect">
            <a:avLst/>
          </a:prstGeom>
        </p:spPr>
      </p:pic>
      <p:pic>
        <p:nvPicPr>
          <p:cNvPr id="20" name="Picture 19" descr="\documentclass{article}&#10;\usepackage{amsmath,amssymb,bm}&#10;\pagestyle{empty}&#10;\begin{document}&#10;&#10;\begin{align*}&#10;\mathcal{Z}\left\{\Theta^{(+z)}\Theta^{(+z)},\Omega_{0}\Omega_{1}\right\}&#10;=&#10;\Theta_{\upharpoonleft \! \downharpoonright}&#10;\equiv&#10;\sum_{g} &#10;D_{g}^{(\upharpoonleft \! \downharpoonright)}&#10;\mathcal{Z}\left\{&#10;\sum_{p}&#10;\mathrm{e}^{\mathrm{i}p\phi_{g}^{(\upharpoonleft \! \downharpoonright)}}&#10;\sum_{h(g,p)}&#10;\mathrm{e}^{\mathrm{i}\frac{2\pi}{a_{\text{Si}}}\bm{h}_{gph}^{(\upharpoonleft \! \downharpoonright)}\cdot\bm{r}}&#10;,\Omega_{0}\Omega_{1}\right\}&#10;\\&#10;\end{align*}&#10;&#10;\end{document}" title="IguanaTex Bitmap Display">
            <a:extLst>
              <a:ext uri="{FF2B5EF4-FFF2-40B4-BE49-F238E27FC236}">
                <a16:creationId xmlns:a16="http://schemas.microsoft.com/office/drawing/2014/main" id="{25BE2251-C73C-49CA-BC31-368430A47F3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753906" y="4037621"/>
            <a:ext cx="8684189" cy="912761"/>
          </a:xfrm>
          <a:prstGeom prst="rect">
            <a:avLst/>
          </a:prstGeom>
        </p:spPr>
      </p:pic>
      <p:pic>
        <p:nvPicPr>
          <p:cNvPr id="18" name="Picture 17" descr="\documentclass{article}&#10;\usepackage{amsmath,amssymb,bm}&#10;\pagestyle{empty}&#10;\begin{document}&#10;&#10;\begin{align*}&#10;\Theta_{\upharpoonleft \! \upharpoonright}&#10;\equiv&#10;\sum_{g}&#10;D_{g}^{(\upharpoonleft \! \upharpoonright)}&#10;\mathcal{\text{Re}}\left\{&#10;\mathrm{e}^{\mathrm{i}\phi_{g}^{(\upharpoonleft \! \upharpoonright)}}&#10;\sum_{h(g)}\mathrm{e}^{\mathrm{i}\frac{2\pi}{a_{\text{Si}}}\bm{h}_{gh}^{(\upharpoonleft \! \upharpoonright)}\cdot\bm{r}}&#10;\right\}&#10;\end{align*}&#10;&#10;\end{document}" title="IguanaTex Bitmap Display">
            <a:extLst>
              <a:ext uri="{FF2B5EF4-FFF2-40B4-BE49-F238E27FC236}">
                <a16:creationId xmlns:a16="http://schemas.microsoft.com/office/drawing/2014/main" id="{C1B66382-ABBB-47FE-AAF5-282AB88875C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50666" y="2881734"/>
            <a:ext cx="4490669" cy="91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603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Generalizing Integration Formula</a:t>
            </a:r>
          </a:p>
        </p:txBody>
      </p:sp>
      <p:pic>
        <p:nvPicPr>
          <p:cNvPr id="70" name="Picture 69" descr="\documentclass{article}&#10;\usepackage{amsmath,bm,eufrak}&#10;\pagestyle{empty}&#10;\begin{document}&#10;&#10;\begin{align*}&#10;\left(\bm{\mathcal{M}}\right)&#10;^{(j)(\aleph)(\tau)}&#10;_{\mu\kappa,\hat{R}\left(m\zeta lk\Omega\right)_{01}}&#10;&amp; =&#10;2&#10;\int_{0}^{1} \mathrm{d}\chi&#10;\int_{-\tau/2}^{+\tau/2} \frac{\mathrm{d}\phi}{\tau}&#10;\int_{0}^{\infty} r^2\mathrm{d}r\,&#10;\left[&#10;\left(\frac{r}{a_{\perp}}\right)^{d}&#10;\hat{R}\tilde{U}^{(j)}_{\mu\kappa}&#10;\Theta^{(\aleph)}_{\Omega_{0}\Omega_{1}}&#10;\right]\,&#10;2\pi&#10;\left(\Phi_{\left(\eta\lambda;m\zeta lk\right)_{0}}^{\left(W\kappa_{0}p_{0}\right)}\right)^{*}&#10;      \Phi_{\left(\eta\lambda;m\zeta lk\right)_{1}}^{\left(W\kappa_{1}p_{1}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FE3D9DFC-66D0-4BF2-B9C7-DD8C913AE18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42974" y="1948047"/>
            <a:ext cx="10106052" cy="682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Picture 32" descr="\documentclass{article}&#10;\usepackage{amsmath,amssymb,bm}&#10;\pagestyle{empty}&#10;\begin{document}&#10;&#10;\begin{equation*}&#10;\Theta_{\Omega}^{\left(\aleph\right)}&#10;\equiv&#10;\sum_{g} &#10;\mathfrak{D}_{g}^{(\aleph)}&#10;\mathcal{Z}\left\{&#10;\sum_{k(g,\aleph)}&#10;\mathrm{e}^{\mathrm{i}\phi_{\Omega;k}^{(g\aleph)}}&#10;\mathrm{e}^{\mathrm{i}\frac{2\pi}{a_{\text{Si}}}\bm{h}_{k}^{(g\aleph)}\cdot\bm{r}}&#10;,\Omega_{0}\Omega_{1}\right\}&#10;\quad\quad&#10;\phi_{\Omega;k}^{(g\aleph)} = p_{k}\phi_{g}^{(\aleph)} + \pi n_{k}\left(\frac{1-\Omega}{2}\right)&#10;\end{equation*}&#10;&#10;\end{document}" title="IguanaTex Bitmap Display">
            <a:extLst>
              <a:ext uri="{FF2B5EF4-FFF2-40B4-BE49-F238E27FC236}">
                <a16:creationId xmlns:a16="http://schemas.microsoft.com/office/drawing/2014/main" id="{1E60EE5B-671B-46C6-8788-1E2A40DF140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86403" y="2987867"/>
            <a:ext cx="8419194" cy="821486"/>
          </a:xfrm>
          <a:prstGeom prst="rect">
            <a:avLst/>
          </a:prstGeom>
        </p:spPr>
      </p:pic>
      <p:pic>
        <p:nvPicPr>
          <p:cNvPr id="18" name="Picture 17" descr="\documentclass{article}&#10;\usepackage{amsmath,bm,eufrak}&#10;\pagestyle{empty}&#10;\begin{document}&#10;&#10;\begin{align*}&#10;\left(\bm{\mathcal{M}}\right)&#10;^{(j)(\aleph)(\tau)}&#10;_{\mu\kappa,\hat{R}\left(mlk\zeta\Omega\right)_{01}}&#10;&amp; =&#10;\sum_{g}&#10;2&#10;\int_{0}^{1} \mathrm{d}\chi&#10;\int_{-\tau/2}^{+\tau/2} \frac{\mathrm{d}\phi}{\tau}&#10;\int_{0}^{\infty} r^2\mathrm{d}r\,&#10;\mathfrak{D}_{g}^{(\aleph)}&#10;\tilde{U}^{(j\aleph)}_{\mu\kappa,\hat{R}\Omega;g}\,&#10;2\pi&#10;\left(\Phi_{\left(\eta\lambda;m\zeta lk\right)_{0}}^{\left(W\kappa_{0}p_{0}\right)}\right)^{*}&#10;      \Phi_{\left(\eta\lambda;m\zeta lk\right)_{1}}^{\left(W\kappa_{1}p_{1}\right)}&#10;\end{align*}&#10;&#10;\end{document}" title="IguanaTex Bitmap Display">
            <a:extLst>
              <a:ext uri="{FF2B5EF4-FFF2-40B4-BE49-F238E27FC236}">
                <a16:creationId xmlns:a16="http://schemas.microsoft.com/office/drawing/2014/main" id="{D9F4BD0F-201A-4FB8-B0A4-33E9C42EA83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389944" y="4166206"/>
            <a:ext cx="9412113" cy="666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Picture 34" descr="\documentclass{article}&#10;\usepackage{amsmath,amssymb,bm}&#10;\pagestyle{empty}&#10;\begin{document}&#10;&#10;\begin{align*}&#10;\tilde{U}^{(j,g\aleph)}_{\mu\kappa,\hat{R}\Omega}&#10;&amp; =&#10;\left(\frac{r}{a_{\perp}}\right)^{d}&#10;\sum_{i}&#10;\sum_{\hat{T}\in T_{d}}&#10;\left(&#10;\tilde{\mathfrak{U}}_{i}&#10;\tilde{\mathfrak{U}}_{\hat{R}\mu\kappa;\hat{T}}^{\left(j\right)}&#10;\right)&#10;\mathcal{U}_{i\hat{T}}&#10;\left(&#10;\sum_{k(g,\aleph)}&#10;\mathcal{Z}\left\{&#10;\mathrm{e}^{\mathrm{i}\phi_{\Omega;k}^{(g\aleph)}}&#10;\mathrm{e}^{-\left(\alpha_{i\hat{T}}-\mathrm{i}2\pi\frac{a_{\perp}}{a_{\text{Si}}}\bm{h}_{k}^{(g\aleph)}\cdot\hat{r}\right)\left(\frac{r}{a_\perp}\right)}&#10;,\Omega\right\}&#10;\right)&#10;\mathrm{e}^{-\beta_{i\hat{T}}\left(\frac{r}{a_\perp}\right)^{2}}&#10;\end{align*}&#10;&#10;\end{document}" title="IguanaTex Bitmap Display">
            <a:extLst>
              <a:ext uri="{FF2B5EF4-FFF2-40B4-BE49-F238E27FC236}">
                <a16:creationId xmlns:a16="http://schemas.microsoft.com/office/drawing/2014/main" id="{BF610E6A-6C8B-40D1-A22D-72AC411C5F0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7658" y="5517170"/>
            <a:ext cx="10324114" cy="82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50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Generalizing Integration Formula</a:t>
            </a:r>
          </a:p>
        </p:txBody>
      </p:sp>
      <p:pic>
        <p:nvPicPr>
          <p:cNvPr id="25" name="Picture 24" descr="\documentclass{article}&#10;\usepackage{amsmath,bm,eufrak}&#10;\pagestyle{empty}&#10;\begin{document}&#10;&#10;\begin{align*}&#10;\left(\bm{\mathcal{M}}\right)&#10;^{(j)(\aleph)(\tau)}&#10;_{\mu\kappa,\hat{R}\left(mlk\zeta\Omega\right)_{01}}&#10;&amp; =&#10;\sum_{g}&#10;2&#10;\int_{0}^{1} \mathrm{d}\chi&#10;\int_{-\tau/2}^{+\tau/2} \frac{\mathrm{d}\phi}{\tau}&#10;\int_{0}^{\infty} r^2\mathrm{d}r\,&#10;\mathfrak{D}_{g}^{(\aleph)}&#10;\tilde{U}^{(j\aleph)}_{\mu\kappa,\hat{R}\Omega;g}\,&#10;2\pi&#10;\left(\Phi_{\left(\eta\lambda;m\zeta lk\right)_{0}}^{\left(W\kappa_{0}p_{0}\right)}\right)^{*}&#10;      \Phi_{\left(\eta\lambda;m\zeta lk\right)_{1}}^{\left(W\kappa_{1}p_{1}\right)}&#10;\\&#10;&amp; =&#10;\mathfrak{C}_{0}&#10;\left(\frac{\hbar^{2}}{2m_{0}a_{0}^{2}}\right)^{\kappa_{1}+\kappa_{2}}&#10;\sum_{g}&#10;\int_{\mathcal{S}} \mathrm{d}\Omega\,&#10;\mathfrak{D}_{g}^{(\aleph)}&#10;\hat{\mathcal{V}}&#10;\hat{\Sigma}_{\hat{R}}^{\left(g\aleph\right)}&#10;\hat{\mathcal{Q}}&#10;\\&#10;\hat{\Sigma}_{\hat{R}}^{\left(g\aleph\right)}&#10;&amp; =&#10;\sum_{i}&#10;\sum_{\hat{T}\in\subseteq T_{d}}&#10;\left(&#10;\tilde{\mathfrak{U}}_{i}&#10;\tilde{\mathfrak{U}}_{\hat{R}\mu\kappa;\hat{T}}^{\left(j\right)}&#10;\right)&#10;\mathcal{U}_{i\hat{T}}&#10;\hat{\Sigma}_{\Omega_{1}\Omega_{2};i\hat{T}}^{\left(g\aleph\right)}&#10;\end{align*}&#10;&#10;\end{document}" title="IguanaTex Bitmap Display">
            <a:extLst>
              <a:ext uri="{FF2B5EF4-FFF2-40B4-BE49-F238E27FC236}">
                <a16:creationId xmlns:a16="http://schemas.microsoft.com/office/drawing/2014/main" id="{BE31EF3D-2D4F-45B2-B132-48CF4AB52A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89938" y="2032816"/>
            <a:ext cx="9412125" cy="2192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\documentclass{article}&#10;\usepackage{amsmath,bm,eufrak}&#10;\pagestyle{empty}&#10;\begin{document}&#10;&#10;\begin{equation*}&#10;\hat{z}_{i\hat{T},k}^{\left(g\aleph\right)}&#10;=&#10;\frac&#10;{1}&#10;{&#10;1&#10;+&#10;\delta_{W,1}\left(\alpha_{i\hat{T}}-\mathrm{i}2\pi\frac{a_{\perp}}{a_{\text{Si}}}\bm{h}_{k}^{(g\aleph)}\cdot\hat{r}\right)\frac{\hat{\eta}}{2}&#10;+&#10;\delta_{W,2}\beta_{i\hat{T}}\hat{\eta}^{2}&#10;}&#10;\quad\quad&#10;\hat{\mathcal{Z}}_{i\hat{T},k}^{\left(g\aleph\right)}&#10;=&#10;\frac&#10;{\delta_{W,1}+\left(\alpha_{i\hat{T}}-\mathrm{i}2\pi\frac{a_{\perp}}{a_{\text{Si}}}\bm{h}_{k}^{(g\aleph)}\cdot\hat{r}\right)\frac{\hat{\eta}}{2}}&#10;{\sqrt{\delta_{W,2}+\beta_{i\hat{T}}\hat{\eta}^{2}}}&#10;\end{equation*}&#10;&#10;\end{document}" title="IguanaTex Bitmap Display">
            <a:extLst>
              <a:ext uri="{FF2B5EF4-FFF2-40B4-BE49-F238E27FC236}">
                <a16:creationId xmlns:a16="http://schemas.microsoft.com/office/drawing/2014/main" id="{8F1E1081-77A5-40DA-BD70-7E11FB4BEF6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5658" y="5186630"/>
            <a:ext cx="9960685" cy="883200"/>
          </a:xfrm>
          <a:prstGeom prst="rect">
            <a:avLst/>
          </a:prstGeom>
          <a:noFill/>
        </p:spPr>
      </p:pic>
      <p:pic>
        <p:nvPicPr>
          <p:cNvPr id="6" name="Picture 5" descr="\documentclass{article}&#10;\usepackage{amsmath,bm,eufrak}&#10;\pagestyle{empty}&#10;\begin{document}&#10;&#10;\begin{align*}&#10;\hat{\Sigma}_{\Omega;i\hat{T}}^{\left(g\aleph\right)}&#10;&amp; = &#10;\sum_{s_{1}=-\kappa_{1}}^{+\kappa_{1}}&#10;\sum_{s_{2}=-\kappa_{2}}^{+\kappa_{2}}&#10;\sum_{\left(u\right)_{12}w}&#10;\mathfrak{G}_{\left(su\right)_{12}w}&#10;\hat{\mathcal{P}}_{\left(s\right)_{12}}&#10;\sum_{k(g,\aleph)}&#10;\mathcal{Z}\left\{&#10;\mathrm{e}^{\mathrm{i}\phi_{\Omega;k}^{(g\aleph)}}&#10;\hat{\mathcal{F}}_{i\hat{T},k\left(su\right)_{12}}^{\left(g\aleph\right)}&#10;\hat{\mathcal{G}}_{i\hat{T},k\left(s\right)_{12}w}^{\left(g\aleph\right)}&#10;,\Omega\right\}&#10;\end{align*}&#10;&#10;\end{document}" title="IguanaTex Bitmap Display">
            <a:extLst>
              <a:ext uri="{FF2B5EF4-FFF2-40B4-BE49-F238E27FC236}">
                <a16:creationId xmlns:a16="http://schemas.microsoft.com/office/drawing/2014/main" id="{F08C7557-F5F5-47E8-AF3C-96364738CDB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996111" y="4332074"/>
            <a:ext cx="8199779" cy="7200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5294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EC72D-2E78-46CB-BA4C-B9D05CDEB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2281159"/>
            <a:ext cx="6675120" cy="1597104"/>
          </a:xfrm>
        </p:spPr>
        <p:txBody>
          <a:bodyPr/>
          <a:lstStyle/>
          <a:p>
            <a:r>
              <a:rPr lang="en-US" dirty="0"/>
              <a:t>Computational</a:t>
            </a:r>
            <a:br>
              <a:rPr lang="en-US" dirty="0"/>
            </a:br>
            <a:r>
              <a:rPr lang="en-US" dirty="0" err="1"/>
              <a:t>FormulAe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9365B-EA71-4A99-8C13-D10E32C82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5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D1a. Before integration calculations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34C958-DF66-4069-9F76-755D8D3D12ED}"/>
              </a:ext>
            </a:extLst>
          </p:cNvPr>
          <p:cNvGrpSpPr/>
          <p:nvPr/>
        </p:nvGrpSpPr>
        <p:grpSpPr>
          <a:xfrm>
            <a:off x="2635124" y="2574462"/>
            <a:ext cx="6921752" cy="3059319"/>
            <a:chOff x="2635124" y="2574462"/>
            <a:chExt cx="6921752" cy="3059319"/>
          </a:xfrm>
        </p:grpSpPr>
        <p:pic>
          <p:nvPicPr>
            <p:cNvPr id="6" name="Picture 5" descr="\documentclass{article}&#10;\usepackage{amsmath,bm,eufrak}&#10;\pagestyle{empty}&#10;\begin{document}&#10;&#10;\begin{equation*}&#10;\delta&#10;\equiv&#10;\frac{\eta_{2}^{W}-\eta_{1}^{W}}{\eta_{2}^{W}+\eta_{1}^{W}}&#10;\quad\quad&#10;\eta^{W}&#10;\equiv&#10;\frac&#10;{2\eta_{1}^{W}\eta_{2}^{W}}&#10;{\eta_{2}^{W}+\eta_{1}^{W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0DA5035A-B337-43C3-A9C2-A2DE0E026A6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4564876" y="2574462"/>
              <a:ext cx="3062248" cy="504684"/>
            </a:xfrm>
            <a:prstGeom prst="rect">
              <a:avLst/>
            </a:prstGeom>
            <a:noFill/>
          </p:spPr>
        </p:pic>
        <p:pic>
          <p:nvPicPr>
            <p:cNvPr id="5" name="Picture 4" descr="\documentclass{article}&#10;\usepackage{amsmath,bm,eufrak}&#10;\pagestyle{empty}&#10;\begin{document}&#10;&#10;\begin{equation*}&#10;\mathfrak{C}_{0}&#10;\equiv&#10;\eta^{d-2\kappa_{1}-2\kappa_{2}}&#10;\left(\sqrt{\frac{\eta}{\eta_{1}}}\right)^{\mathfrak{L}_{1}}&#10;\left(\frac{\eta}{\eta_{1}}\right)^{2\kappa_{1}}&#10;\left(\sqrt{\frac{\eta}{\eta_{2}}}\right)^{\mathfrak{L}_{2}}&#10;\left(\frac{\eta}{\eta_{2}}\right)^{2\kappa_{2}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70944D61-8796-414A-92B9-16A2FBCCA28C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3268799" y="3842709"/>
              <a:ext cx="5654402" cy="6089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10" name="Picture 9" descr="\documentclass{article}&#10;\usepackage{amsmath,bm,eufrak}&#10;\pagestyle{empty}&#10;\begin{document}&#10;&#10;\begin{equation*}&#10;\mathfrak{L}_{i}&#10;\equiv&#10;2l_{i}+3-2\kappa_{i}\delta_{W,1}&#10;\quad\quad&#10;\mathfrak{L}_{12}&#10;\equiv&#10;\frac{\mathfrak{L}_{1}+\mathfrak{L}_{2}}{2} + d&#10;=&#10;l_{1}+l_{2}+3+d-\delta_{W,1}\left(\kappa_{1}+\kappa_{2}\right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A67AB1EB-71BA-4C87-9E89-28A32F49B4B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635124" y="5219305"/>
              <a:ext cx="6921752" cy="4144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14709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D1b. Initial integration calculations</a:t>
            </a:r>
          </a:p>
        </p:txBody>
      </p:sp>
      <p:pic>
        <p:nvPicPr>
          <p:cNvPr id="16" name="Picture 15" descr="\documentclass{article}&#10;\usepackage{amsmath,bm,eufrak}&#10;\pagestyle{empty}&#10;\begin{document}&#10;&#10;\begin{equation*}&#10;\hat{\vartheta}_{i}&#10;\equiv&#10;\sqrt{1 + \left(\lambda_{i}^2-1\right)\chi_{p_{i}}^2}&#10;\quad\quad&#10;\hat{\vartheta}^{W}&#10;\equiv&#10;\frac{\hat{\vartheta}_{1}^{W}+\hat{\vartheta}_{2}^{W}}{2}&#10;\quad\quad&#10;\hat{\chi}_{i}&#10;\equiv&#10;\frac{\lambda_{i}\hat{\chi}_{p_{i}}}{\hat{\vartheta}_{i}}&#10;\quad\quad&#10;\hat{\mathcal{N}}_{i}&#10;\equiv&#10;\sqrt{\frac{\lambda_{i}}{\hat{\vartheta}_{i}^{3}}}&#10;\end{equation*}&#10;&#10;\end{document}" title="IguanaTex Bitmap Display">
            <a:extLst>
              <a:ext uri="{FF2B5EF4-FFF2-40B4-BE49-F238E27FC236}">
                <a16:creationId xmlns:a16="http://schemas.microsoft.com/office/drawing/2014/main" id="{29D508DD-1852-4F4F-89D6-5573188EC71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759466" y="1844807"/>
            <a:ext cx="6673068" cy="607084"/>
          </a:xfrm>
          <a:prstGeom prst="rect">
            <a:avLst/>
          </a:prstGeom>
          <a:noFill/>
        </p:spPr>
      </p:pic>
      <p:pic>
        <p:nvPicPr>
          <p:cNvPr id="4" name="Picture 3" descr="\documentclass{article}&#10;\usepackage{amsmath,bm,eufrak}&#10;\pagestyle{empty}&#10;\begin{document}&#10;&#10;\begin{equation*}&#10;\hat{\mathcal{V}}&#10;=&#10;\frac&#10;{\left(\sqrt{\vartheta_{1}}\right)^{\mathfrak{L}_{1}}\left(\sqrt{\vartheta_{2}}\right)^{\mathfrak{L}_{2}}}&#10;{\left(\hat{\vartheta}\hat{\Xi}\right)^{\mathfrak{L}_{12}}}&#10;\quad\quad&#10;\hat{\mathcal{U}}_{i}&#10;=&#10;\mathcal{U}_{i\left\{\chi,\phi\right\}}&#10;\end{equation*}&#10;&#10;\end{document}" title="IguanaTex Bitmap Display">
            <a:extLst>
              <a:ext uri="{FF2B5EF4-FFF2-40B4-BE49-F238E27FC236}">
                <a16:creationId xmlns:a16="http://schemas.microsoft.com/office/drawing/2014/main" id="{00FDBF4E-F47F-4105-BA8C-56A0A195FD5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146514" y="3454113"/>
            <a:ext cx="3898972" cy="85440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7" name="Picture 6" descr="\documentclass{article}&#10;\usepackage{amsmath,bm,eufrak}&#10;\pagestyle{empty}&#10;\begin{document}&#10;&#10;\begin{equation*}&#10;\hat{\epsilon}&#10;\equiv&#10;\frac&#10;{\vartheta_{1}^{W}-\vartheta_{2}^{W}}&#10;{\vartheta_{1}^{W}+\vartheta_{2}^{W}}&#10;\quad\quad&#10;\hat{\Xi}^{W}&#10;\equiv&#10;1+\delta\hat{\epsilon}&#10;\quad\quad&#10;\hat{\eta}&#10;\equiv&#10;\frac{\eta}{\hat{\vartheta}\hat{\Xi}}&#10;\quad\quad&#10;\hat{\Delta} = \frac{\hat{\epsilon}+\delta}{1+\hat{\epsilon}\delta}&#10;\end{equation*}&#10;&#10;\end{document}" title="IguanaTex Bitmap Display">
            <a:extLst>
              <a:ext uri="{FF2B5EF4-FFF2-40B4-BE49-F238E27FC236}">
                <a16:creationId xmlns:a16="http://schemas.microsoft.com/office/drawing/2014/main" id="{DCCB2ADA-B691-4AD6-AEE8-86DD44A80BD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470781" y="2700660"/>
            <a:ext cx="5250439" cy="504684"/>
          </a:xfrm>
          <a:prstGeom prst="rect">
            <a:avLst/>
          </a:prstGeom>
          <a:noFill/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E6673F2-B248-42A0-BE9E-FFB8A09E8752}"/>
              </a:ext>
            </a:extLst>
          </p:cNvPr>
          <p:cNvGrpSpPr/>
          <p:nvPr/>
        </p:nvGrpSpPr>
        <p:grpSpPr>
          <a:xfrm>
            <a:off x="1883531" y="5591123"/>
            <a:ext cx="8424939" cy="1156877"/>
            <a:chOff x="1883530" y="5591123"/>
            <a:chExt cx="8424939" cy="1156877"/>
          </a:xfrm>
        </p:grpSpPr>
        <p:pic>
          <p:nvPicPr>
            <p:cNvPr id="6" name="Picture 5" descr="\documentclass{article}&#10;\usepackage{amsmath,amssymb}&#10;\usepackage{bm}&#10;\pagestyle{empty}&#10;\begin{document}&#10;&#10;\begin{align*}&#10;\hat{\chi}_{z} &amp;\equiv \chi \\&#10;\hat{\chi}_{x} &amp;\equiv \sqrt{1-\chi^{2}}\cos\left(\phi\right) \\&#10;\hat{\chi}_{y} &amp;\equiv \sqrt{1-\chi^{2}}\sin\left(\phi\right) \\&#10;\end{align*}&#10;&#10;&#10;\end{document}" title="IguanaTex Bitmap Display">
              <a:extLst>
                <a:ext uri="{FF2B5EF4-FFF2-40B4-BE49-F238E27FC236}">
                  <a16:creationId xmlns:a16="http://schemas.microsoft.com/office/drawing/2014/main" id="{91392337-0839-4F42-9CB3-B4D354C6DFE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883530" y="5714856"/>
              <a:ext cx="1856609" cy="914286"/>
            </a:xfrm>
            <a:prstGeom prst="rect">
              <a:avLst/>
            </a:prstGeom>
          </p:spPr>
        </p:pic>
        <p:pic>
          <p:nvPicPr>
            <p:cNvPr id="12" name="Picture 11" descr="\documentclass{article}&#10;\usepackage{amsmath,amssymb}&#10;\usepackage{bm}&#10;\pagestyle{empty}&#10;\begin{document}&#10;&#10;\begin{align*}&#10;\hat{\phi}_{z} &amp;\equiv \text{Arg}\left\{\chi_{x} + \mathrm{i}\chi_{y}\right\} = \phi \\&#10;\hat{\phi}_{x} &amp;\equiv \text{Arg}\left\{\chi_{y} + \mathrm{i}\chi_{z}\right\} = \arctan2\left\{\chi, \sqrt{1-\chi^{2}}\sin\left(\phi\right)\right\} \\&#10;\hat{\phi}_{y} &amp;\equiv \text{Arg}\left\{\chi_{z} + \mathrm{i}\chi_{x}\right\} = \arctan2\left\{\sqrt{1-\chi^{2}}\cos\left(\phi\right), \chi\right\} \\&#10;\end{align*}&#10;&#10;&#10;\end{document}" title="IguanaTex Bitmap Display">
              <a:extLst>
                <a:ext uri="{FF2B5EF4-FFF2-40B4-BE49-F238E27FC236}">
                  <a16:creationId xmlns:a16="http://schemas.microsoft.com/office/drawing/2014/main" id="{F15EE37A-B90D-4792-9963-4AA250E9EE3B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5623669" y="5591123"/>
              <a:ext cx="4684800" cy="1156877"/>
            </a:xfrm>
            <a:prstGeom prst="rect">
              <a:avLst/>
            </a:prstGeom>
          </p:spPr>
        </p:pic>
      </p:grpSp>
      <p:pic>
        <p:nvPicPr>
          <p:cNvPr id="9" name="Picture 8" descr="\documentclass{article}&#10;\usepackage{amsmath,bm,eufrak}&#10;\pagestyle{empty}&#10;\begin{document}&#10;&#10;\begin{equation*}&#10;\hat{z}_{i\hat{T},k}^{\left(g\aleph\right)}&#10;=&#10;\frac&#10;{1}&#10;{&#10;1&#10;+&#10;\delta_{W,1}\left(\alpha_{i\hat{T}}-\mathrm{i}2\pi\frac{a_{\perp}}{a_{\text{Si}}}\bm{h}_{k}^{(g\aleph)}\cdot\hat{r}\right)\frac{\hat{\eta}}{2}&#10;+&#10;\delta_{W,2}\beta_{i\hat{T}}\hat{\eta}^{2}&#10;}&#10;\quad\quad&#10;\hat{\mathcal{Z}}_{i\hat{T},k}^{\left(g\aleph\right)}&#10;=&#10;\frac&#10;{\delta_{W,1}+\left(\alpha_{i\hat{T}}-\mathrm{i}2\pi\frac{a_{\perp}}{a_{\text{Si}}}\bm{h}_{k}^{(g\aleph)}\cdot\hat{r}\right)\frac{\hat{\eta}}{2}}&#10;{\sqrt{\delta_{W,2}+\beta_{i\hat{T}}\hat{\eta}^{2}}}&#10;\end{equation*}&#10;&#10;\end{document}" title="IguanaTex Bitmap Display">
            <a:extLst>
              <a:ext uri="{FF2B5EF4-FFF2-40B4-BE49-F238E27FC236}">
                <a16:creationId xmlns:a16="http://schemas.microsoft.com/office/drawing/2014/main" id="{16633B6B-FD61-4EA8-A94A-3DE646064B1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669029" y="4557287"/>
            <a:ext cx="8853942" cy="7850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5866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D2. Full integral formalized</a:t>
            </a:r>
          </a:p>
        </p:txBody>
      </p:sp>
      <p:pic>
        <p:nvPicPr>
          <p:cNvPr id="10" name="Picture 9" descr="\documentclass{article}&#10;\usepackage{amsmath,bm,eufrak}&#10;\pagestyle{empty}&#10;\begin{document}&#10;&#10;\begin{align*}&#10;\left(\bm{\mathcal{M}}\right)&#10;^{(j)(\aleph)(\tau)}&#10;_{\mu\kappa,\hat{R}\left(mlk\zeta\Omega\right)_{01}}&#10;&amp; =&#10;\mathfrak{C}_{0}&#10;\left(\frac{\hbar^{2}}{2m_{0}a_{0}^{2}}\right)^{\kappa_{1}+\kappa_{2}}&#10;\sum_{g}&#10;\int_{\mathcal{S}} \mathrm{d}\Omega\,&#10;\mathfrak{D}_{g}^{(\aleph)}&#10;\hat{\mathcal{V}}&#10;\hat{\Sigma}_{\hat{R}}^{\left(g\aleph\right)}&#10;\hat{\mathcal{Q}}&#10;\\&#10;\hat{\mathcal{Q}}&#10;&amp; =&#10;\frac{1}{2\pi}&#10;\left(\delta_{m_{1}0} + \sqrt{2}\left(1-\delta_{m_{1}0}\right)\right)&#10;\left(\delta_{m_{2}0} + \sqrt{2}\left(1-\delta_{m_{2}0}\right)\right)&#10;\mathcal{Z}\left\{\mathrm{e}^{\mathrm{i}m_{1}\phi_{p_{1}}},\xi_{1}\right\}&#10;\mathcal{Z}\left\{\mathrm{e}^{\mathrm{i}m_{2}\phi_{p_{2}}},\xi_{2}\right\}&#10;\\&#10;\hat{\Sigma}_{\hat{R}}^{\left(g\aleph\right)}&#10;&amp; =&#10;\sum_{i}&#10;\sum_{\hat{T}\in\subseteq T_{d}}&#10;\left(&#10;\tilde{\mathfrak{U}}_{i}&#10;\tilde{\mathfrak{U}}_{\hat{R}\mu\kappa;\hat{T}}^{\left(j\right)}&#10;\right)&#10;\mathcal{U}_{i\hat{T}}&#10;\hat{\Sigma}_{\Omega_{1}\Omega_{2};i\hat{T}}^{\left(g\aleph\right)}&#10;\end{align*}&#10;&#10;\end{document}" title="IguanaTex Bitmap Display">
            <a:extLst>
              <a:ext uri="{FF2B5EF4-FFF2-40B4-BE49-F238E27FC236}">
                <a16:creationId xmlns:a16="http://schemas.microsoft.com/office/drawing/2014/main" id="{24A2877C-419A-4FD9-BC1F-6A0934D82A9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23614" y="2529519"/>
            <a:ext cx="11344772" cy="21805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501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D3. Legendre functions for integrand</a:t>
            </a:r>
          </a:p>
        </p:txBody>
      </p:sp>
      <p:pic>
        <p:nvPicPr>
          <p:cNvPr id="4" name="Picture 3" descr="\documentclass{article}&#10;\usepackage{amsmath,bm,eufrak}&#10;\pagestyle{empty}&#10;\begin{document}&#10;&#10;\begin{align*}&#10;\hat{\mathcal{P}}_{\left(s\right)_{12}}&#10;&amp; =&#10;\frac{\mathfrak{K}^{(\kappa)_{1}}_{\left(mlk;s\right)_{1}}}{\left(\frac{\hat{\eta}\vartheta_{1}}{\eta_{1}}\right)^{W\delta_{s_{1},-1}}}&#10;\frac{\mathfrak{K}^{(\kappa)_{2}}_{\left(mlk;s\right)_{2}}}{\left(\frac{\hat{\eta}\vartheta_{2}}{\eta_{2}}\right)^{W\delta_{s_{2},-1}}}&#10;\hat{\mathcal{P}}_{1}&#10;\hat{\mathcal{P}}_{2}&#10;\\&#10;\mathfrak{K}^{(\kappa)}_{mlk;s}&#10;&amp; =&#10;\delta_{s,0}\left(1-\kappa\frac{k}{k+1}\right)&#10;-\kappa\left(1-\gamma\lambda^{2}\right)\left(&#10;\delta_{s,0}\frac{1}{k+1}\mathfrak{Y}_{lm}^{(0)}&#10;+\delta_{s,+1}\frac{1}{k+1}\mathfrak{Y}_{lm}^{(+1)}&#10;+\delta_{s,-1}\frac{1}{(k+1)(k+2)}\mathfrak{Y}_{lm}^{(-1)}&#10;\right)&#10;\\&#10;\hat{\mathcal{P}}_{j}&#10;&amp; = &#10;\hat{\mathcal{N}}_{j}&#10;\mathcal{P}_{(l+2s_j)m\left\{\hat{\chi}_{j}\right\}}&#10;\\&#10;\mathcal{P}_{lm\left\{\chi\right\}}&#10;&amp; = &#10;\sqrt{\frac{(2l+1)\left(l-m\right)!}{2\left(l+m\right)!}}&#10;P_{lm\left\{\chi\right\}}&#10;\end{align*}&#10;&#10;\end{document}" title="IguanaTex Bitmap Display">
            <a:extLst>
              <a:ext uri="{FF2B5EF4-FFF2-40B4-BE49-F238E27FC236}">
                <a16:creationId xmlns:a16="http://schemas.microsoft.com/office/drawing/2014/main" id="{68E5EDC6-7EA1-4345-850A-CF670C52F5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04335" y="2733849"/>
            <a:ext cx="10583330" cy="270584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2581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D4. Integral summation term restated</a:t>
            </a:r>
          </a:p>
        </p:txBody>
      </p:sp>
      <p:pic>
        <p:nvPicPr>
          <p:cNvPr id="8" name="Picture 7" descr="\documentclass{article}&#10;\usepackage{amsmath,bm,eufrak}&#10;\pagestyle{empty}&#10;\begin{document}&#10;&#10;\begin{align*}&#10;\Delta \ne 0, z \ne 1&#10;\quad &amp;: \quad&#10;\mathcal{F}_{\left(u\right)_{12}\left\{L\Delta z \right\}}&#10;= &#10;\left(1-z(1+\Delta)\right)^{u_{1}}\left(1-z(1-\Delta)\right)^{u_{2}}z^{\frac{L}{W}}&#10;\\&#10;\Delta = 0, z \ne 1&#10;\quad &amp;: \quad&#10;\mathcal{F}_{u\left\{L z\right\}}&#10;= &#10;\left(1-z\right)^{u}z^{\frac{L}{W}}&#10;\\&#10;\Delta \ne 0, z = 1&#10;\quad &amp;: \quad&#10;\mathcal{F}_{u\left\{\Delta\right\}}&#10;= &#10;\Delta^{u}&#10;\\&#10;\end{align*}&#10;&#10;\end{document}" title="IguanaTex Bitmap Display">
            <a:extLst>
              <a:ext uri="{FF2B5EF4-FFF2-40B4-BE49-F238E27FC236}">
                <a16:creationId xmlns:a16="http://schemas.microsoft.com/office/drawing/2014/main" id="{F2D916FC-40F6-48B8-8A90-BE661F9237A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978284" y="3987694"/>
            <a:ext cx="6235432" cy="953293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00F771C-9DA8-4485-BABA-2DA26975538D}"/>
              </a:ext>
            </a:extLst>
          </p:cNvPr>
          <p:cNvGrpSpPr/>
          <p:nvPr/>
        </p:nvGrpSpPr>
        <p:grpSpPr>
          <a:xfrm>
            <a:off x="1914051" y="5296018"/>
            <a:ext cx="8363898" cy="1272815"/>
            <a:chOff x="1914051" y="5277730"/>
            <a:chExt cx="8363898" cy="1272815"/>
          </a:xfrm>
        </p:grpSpPr>
        <p:pic>
          <p:nvPicPr>
            <p:cNvPr id="10" name="Picture 9" descr="\documentclass{article}&#10;\usepackage{amsmath,bm,eufrak}&#10;\pagestyle{empty}&#10;\begin{document}&#10;&#10;\begin{align*}&#10;(W = 1\text{ and }\beta \ne 0)\text{ or }(W = 2\text{ and }\tilde{\alpha} \ne 0)&#10;\quad &amp;: \quad&#10;\mathcal{G}_{L\left\{\mathcal{Z}\right\}}^{(1)}&#10;=&#10;\frac{\sqrt{\pi}}{\Gamma\left[\frac{L+1}{2}\right]}&#10;\mathcal{Z}^{L}&#10;h_{L\left\{\mathcal{Z}\right\}}&#10;\quad\quad&#10;\mathcal{G}_{L\left\{\mathcal{Z}\right\}}^{(2)}&#10;=&#10;h_{L\left\{\mathcal{Z}\right\}}&#10;\\&#10;(W = 1\text{ and }\beta = 0)&#10;\text{ or }&#10;(W = 2\text{ and }\tilde{\alpha} = 0)&#10;\quad &amp;: \quad&#10;\mathcal{G}^{(W)}&#10;=&#10;1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D4BDDD3-9623-4EC8-B338-A6C4E270438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914051" y="5713059"/>
              <a:ext cx="8363898" cy="83748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9" name="Picture 108" descr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92ACC04-D4C9-40EE-99CC-A8C1695C301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3710323" y="5277730"/>
              <a:ext cx="4771354" cy="20358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3" name="Picture 12" descr="\documentclass{article}&#10;\usepackage{amsmath,bm,eufrak}&#10;\pagestyle{empty}&#10;\begin{document}&#10;&#10;\begin{equation*}&#10;\hat{\mathcal{F}}_{i\hat{T},k\left(su\right)_{12}}^{\left(g\aleph\right)}&#10;=&#10;\mathcal{F}_{\left(u\right)_{12}\left\{&#10;\left(\mathfrak{L}_{12}-W\delta_{s_{1}\bar{1}}-W\delta_{s_{2}\bar{1}}\right)\hat{\Delta}\hat{z}_{i\hat{T},k}^{\left(g\aleph\right)}&#10;\right\}}&#10;\quad\quad&#10;\hat{\mathcal{G}}_{i\hat{T},k\left(s\right)_{12}w}^{\left(g\aleph\right)}&#10;=&#10;\mathcal{G}_{\left\{\left(\mathfrak{L}_{12}-W\delta_{s_{1}\bar{1}}-W\delta_{s_{2}\bar{1}}+Ww\right)\hat{Z}_{i\hat{T},k}^{\left(g\aleph\right)}\right\}}^{(W)}&#10;\end{equation*}&#10;&#10;\end{document}" title="IguanaTex Bitmap Display">
            <a:extLst>
              <a:ext uri="{FF2B5EF4-FFF2-40B4-BE49-F238E27FC236}">
                <a16:creationId xmlns:a16="http://schemas.microsoft.com/office/drawing/2014/main" id="{76394980-8166-4620-90AD-BE985615B38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378961" y="3148544"/>
            <a:ext cx="9434079" cy="484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\documentclass{article}&#10;\usepackage{amsmath,bm,eufrak}&#10;\pagestyle{empty}&#10;\begin{document}&#10;&#10;\begin{align*}&#10;\hat{\Sigma}_{\Omega;i\hat{T}}^{\left(g\aleph\right)}&#10;&amp; = &#10;\sum_{s_{1}=-\kappa_{1}}^{+\kappa_{1}}&#10;\sum_{s_{2}=-\kappa_{2}}^{+\kappa_{2}}&#10;\sum_{\left(u\right)_{12}w}&#10;\mathfrak{G}_{\left(su\right)_{12}w}&#10;\hat{\mathcal{P}}_{\left(s\right)_{12}}&#10;\sum_{k(g,\aleph)}&#10;\mathcal{Z}\left\{&#10;\mathrm{e}^{\mathrm{i}\phi_{\Omega;k}^{(g\aleph)}}&#10;\hat{\mathcal{F}}_{i\hat{T},k\left(su\right)_{12}}^{\left(g\aleph\right)}&#10;\hat{\mathcal{G}}_{i\hat{T},k\left(s\right)_{12}w}^{\left(g\aleph\right)}&#10;,\Omega\right\}&#10;\end{align*}&#10;&#10;\end{document}" title="IguanaTex Bitmap Display">
            <a:extLst>
              <a:ext uri="{FF2B5EF4-FFF2-40B4-BE49-F238E27FC236}">
                <a16:creationId xmlns:a16="http://schemas.microsoft.com/office/drawing/2014/main" id="{9F7BCA19-0FAB-41C2-BEA8-9F631E8C581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996111" y="2073506"/>
            <a:ext cx="8199779" cy="7200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92781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D4a. Integral summation term restated (</a:t>
            </a:r>
            <a:r>
              <a:rPr lang="el-GR" dirty="0"/>
              <a:t>Δ</a:t>
            </a:r>
            <a:r>
              <a:rPr lang="en-US" dirty="0"/>
              <a:t> != 0, z != 1)</a:t>
            </a:r>
          </a:p>
        </p:txBody>
      </p:sp>
      <p:pic>
        <p:nvPicPr>
          <p:cNvPr id="19" name="Picture 18" descr="\documentclass{article}&#10;\usepackage{amsmath,bm,eufrak}&#10;\pagestyle{empty}&#10;\begin{document}&#10;&#10;\begin{align*}&#10;\Delta \ne 0, z \ne 1&#10;\quad &amp;: \quad&#10;\hat{\mathcal{F}}_{i\hat{T},k\left(su\right)_{12}}^{\left(g\aleph\right)}&#10;=&#10;\mathcal{F}_{\left(u\right)_{12}\left\{&#10;\left(\mathfrak{L}_{12}-W\delta_{s_{1}\bar{1}}-W\delta_{s_{2}\bar{1}}\right)\hat{\Delta}\hat{z}_{i\hat{T},k}^{\left(g\aleph\right)}&#10;\right\}}&#10;\\&#10;\end{align*}&#10;&#10;\end{document}" title="IguanaTex Bitmap Display">
            <a:extLst>
              <a:ext uri="{FF2B5EF4-FFF2-40B4-BE49-F238E27FC236}">
                <a16:creationId xmlns:a16="http://schemas.microsoft.com/office/drawing/2014/main" id="{047F5580-DF19-446E-8EB0-E70D2867C77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79555" y="1985980"/>
            <a:ext cx="5681982" cy="398628"/>
          </a:xfrm>
          <a:prstGeom prst="rect">
            <a:avLst/>
          </a:prstGeom>
          <a:ln>
            <a:noFill/>
          </a:ln>
        </p:spPr>
      </p:pic>
      <p:pic>
        <p:nvPicPr>
          <p:cNvPr id="11" name="Picture 10" descr="\documentclass{article}&#10;\usepackage{amsmath,bm,eufrak}&#10;\pagestyle{empty}&#10;\begin{document}&#10;&#10;\begin{equation*}&#10;z \ne 1&#10;\text{ when }&#10;(W = 1\text{ and }\tilde{\alpha} \ne 0)&#10;\text{ or }&#10;(W = 2\text{ and }\beta \ne 0)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6FDA6539-5BF3-4D7F-8B91-C725152CCC8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841092" y="2083504"/>
            <a:ext cx="4771354" cy="203580"/>
          </a:xfrm>
          <a:prstGeom prst="rect">
            <a:avLst/>
          </a:prstGeom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5E7BFCB-0CE2-434B-BC6A-677D6F612542}"/>
              </a:ext>
            </a:extLst>
          </p:cNvPr>
          <p:cNvGrpSpPr/>
          <p:nvPr/>
        </p:nvGrpSpPr>
        <p:grpSpPr>
          <a:xfrm>
            <a:off x="2524109" y="2911628"/>
            <a:ext cx="7143782" cy="1099684"/>
            <a:chOff x="2524109" y="2911628"/>
            <a:chExt cx="7143782" cy="1099684"/>
          </a:xfrm>
        </p:grpSpPr>
        <p:pic>
          <p:nvPicPr>
            <p:cNvPr id="5" name="Picture 4" descr="\documentclass{article}&#10;\usepackage{amsmath,bm,eufrak}&#10;\pagestyle{empty}&#10;\begin{document}&#10;&#10;\begin{align*}&#10;\hat{\Sigma}_{\Omega;i\hat{T}}^{\left(g\aleph\right)}&#10;&amp; =&#10;\sum_{s_{1}=-\kappa_{1}}^{+\kappa_{1}}&#10;\sum_{s_{2}=-\kappa_{2}}^{+\kappa_{2}}&#10;\sum_{\left(u\right)_{12}}&#10;\mathfrak{g}_{\left(s\right)_{12}\left(u\right)_{12}}&#10;\hat{\mathcal{P}}_{\left(s\right)_{12}}&#10;\sum_{k(g,\aleph)}&#10;\mathcal{Z}\left\{&#10;\mathrm{e}^{\mathrm{i}\phi_{\Omega;k}^{(g\aleph)}}&#10;\hat{\mathcal{F}}_{i\hat{T},k\left(su\right)_{12}}^{\left(g\aleph\right)}&#10;,\Omega\right\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7340B76D-BC9F-4DE0-B64A-025286F1D45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2524109" y="3291306"/>
              <a:ext cx="7143782" cy="7200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48" name="Picture 47" descr="\documentclass{article}&#10;\usepackage{amsmath,bm,eufrak}&#10;\pagestyle{empty}&#10;\begin{document}&#10;&#10;\begin{equation*}&#10;(W = 1\text{ and }\tilde{\alpha} \ne 0\text{ and }\beta = 0)&#10;\text{ or }&#10;(W = 2\text{ and }\tilde{\alpha} = 0\text{ and }\beta \ne 0)&#10;\quad:\quad&#10;\hat{\mathcal{G}}&#10;=&#10;1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6A742819-42D0-49B1-8208-608586984108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2750930" y="2911628"/>
              <a:ext cx="6690141" cy="24259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21D7E0-875A-4062-84D6-8E70CD8408CF}"/>
              </a:ext>
            </a:extLst>
          </p:cNvPr>
          <p:cNvGrpSpPr/>
          <p:nvPr/>
        </p:nvGrpSpPr>
        <p:grpSpPr>
          <a:xfrm>
            <a:off x="1855538" y="4714185"/>
            <a:ext cx="8480925" cy="1232656"/>
            <a:chOff x="1855538" y="4714185"/>
            <a:chExt cx="8480925" cy="1232656"/>
          </a:xfrm>
        </p:grpSpPr>
        <p:pic>
          <p:nvPicPr>
            <p:cNvPr id="9" name="Picture 8" descr="\documentclass{article}&#10;\usepackage{amsmath,bm,eufrak}&#10;\pagestyle{empty}&#10;\begin{document}&#10;&#10;\begin{align*}&#10;\hat{\Sigma}_{i\hat{T}}^{\left(g\aleph\right)}&#10;&amp; =&#10;\sum_{s_{1}=-\kappa_{1}}^{+\kappa_{1}}&#10;\sum_{s_{2}=-\kappa_{2}}^{+\kappa_{2}}&#10;\sum_{\left(u\right)_{12}w}&#10;\mathfrak{G}_{\left(s\right)_{12}\left(u\right)_{12}w}&#10;\hat{\mathcal{P}}_{\left(s\right)_{12}}&#10;\sum_{k(g,\aleph)}&#10;\mathcal{Z}\left\{&#10;\mathrm{e}^{\mathrm{i}\phi_{\Omega;k}^{(g\aleph)}}&#10;\hat{\mathcal{F}}_{i\hat{T},k\left(su\right)_{12}}^{\left(g\aleph\right)}&#10;\hat{\mathcal{G}}_{i\hat{T},k\left(s\right)_{12}w}^{\left(g\aleph\right)}&#10;,\Omega\right\}&#10;\end{align*}&#10;&#10;\end{document}" title="IguanaTex Bitmap Display">
              <a:extLst>
                <a:ext uri="{FF2B5EF4-FFF2-40B4-BE49-F238E27FC236}">
                  <a16:creationId xmlns:a16="http://schemas.microsoft.com/office/drawing/2014/main" id="{DF231882-2D9E-4F70-9DDB-593B6280BA0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855538" y="5226835"/>
              <a:ext cx="8480925" cy="7200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27" name="Picture 26" descr="\documentclass{article}&#10;\usepackage{amsmath,bm,eufrak}&#10;\pagestyle{empty}&#10;\begin{document}&#10;&#10;\begin{equation*}&#10;\tilde{\alpha},\beta \ne 0&#10;\quad : \quad&#10;\hat{\mathcal{G}}_{i\hat{T},k\left(s\right)_{12}w}^{\left(g\aleph\right)}&#10;=&#10;\mathcal{G}_{\left\{\left(\mathfrak{L}_{12}-W\delta_{s_{1}\bar{1}}-W\delta_{s_{2}\bar{1}}+Ww\right)\hat{\mathcal{Z}}_{i\hat{T},k}^{\left(g\aleph\right)}\right\}}^{(W)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6E9B6685-F65C-4277-94C9-B9446CB3ABEB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481141" y="4714185"/>
              <a:ext cx="5229719" cy="430324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73472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D4b. Integral summation term restated (</a:t>
            </a:r>
            <a:r>
              <a:rPr lang="el-GR" dirty="0"/>
              <a:t>Δ</a:t>
            </a:r>
            <a:r>
              <a:rPr lang="en-US" dirty="0"/>
              <a:t> != 0, z = 1)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60EC534-9CEC-4377-9CE3-67FF4FF629DD}"/>
              </a:ext>
            </a:extLst>
          </p:cNvPr>
          <p:cNvGrpSpPr/>
          <p:nvPr/>
        </p:nvGrpSpPr>
        <p:grpSpPr>
          <a:xfrm>
            <a:off x="1658006" y="2069541"/>
            <a:ext cx="8875988" cy="235276"/>
            <a:chOff x="1658007" y="2069541"/>
            <a:chExt cx="8875988" cy="235276"/>
          </a:xfrm>
        </p:grpSpPr>
        <p:pic>
          <p:nvPicPr>
            <p:cNvPr id="48" name="Picture 47" descr="\documentclass{article}&#10;\usepackage{amsmath,bm,eufrak}&#10;\pagestyle{empty}&#10;\begin{document}&#10;&#10;\begin{align*}&#10;\Delta \ne 0, z = 1&#10;\quad &amp;: \quad&#10;\hat{\mathcal{F}}_{u} = \hat{\Delta}^{u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F156D6A-B9BB-47EF-AD13-CFE568E1CF7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658007" y="2069541"/>
              <a:ext cx="2446629" cy="23527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9" name="Picture 108" descr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92ACC04-D4C9-40EE-99CC-A8C1695C3015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762641" y="2076855"/>
              <a:ext cx="4771354" cy="20358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FA3FCA5-30E5-49C1-9920-BFDB91B913CB}"/>
              </a:ext>
            </a:extLst>
          </p:cNvPr>
          <p:cNvGrpSpPr/>
          <p:nvPr/>
        </p:nvGrpSpPr>
        <p:grpSpPr>
          <a:xfrm>
            <a:off x="4155426" y="2944521"/>
            <a:ext cx="3881149" cy="1169718"/>
            <a:chOff x="4155426" y="2944521"/>
            <a:chExt cx="3881149" cy="1169718"/>
          </a:xfrm>
        </p:grpSpPr>
        <p:pic>
          <p:nvPicPr>
            <p:cNvPr id="34" name="Picture 33" descr="\documentclass{article}&#10;\usepackage{amsmath,bm,eufrak}&#10;\pagestyle{empty}&#10;\begin{document}&#10;&#10;\begin{equation*}&#10;\tilde{\alpha},\beta = 0&#10;\quad:\quad&#10;\hat{\mathcal{G}} = 1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C3639274-133A-4C38-A66E-4A53639806F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210970" y="2944521"/>
              <a:ext cx="1770060" cy="23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Picture 4" descr="\documentclass{article}&#10;\usepackage{amsmath,bm,eufrak}&#10;\pagestyle{empty}&#10;\begin{document}&#10;&#10;\begin{align*}&#10;\hat{\Sigma}^{\left(\bullet\right)}&#10;&amp; =&#10;\sum_{s_{1}=-\kappa_{1}}^{+\kappa_{1}}&#10;\sum_{s_{2}=-\kappa_{2}}^{+\kappa_{2}}&#10;\sum_{u}&#10;\mathfrak{i}_{\left(s\right)_{12}u}&#10;\hat{\mathcal{P}}_{\left(s\right)_{12}}&#10;\hat{\Delta}^{u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A064AE91-4CF1-4780-B83C-CEF5AEE6C1C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55426" y="3443605"/>
              <a:ext cx="3881149" cy="6706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B1E2C7-1F86-43F0-98B3-C962878E5599}"/>
              </a:ext>
            </a:extLst>
          </p:cNvPr>
          <p:cNvGrpSpPr/>
          <p:nvPr/>
        </p:nvGrpSpPr>
        <p:grpSpPr>
          <a:xfrm>
            <a:off x="1021096" y="4753944"/>
            <a:ext cx="10149809" cy="1196341"/>
            <a:chOff x="1021096" y="4753944"/>
            <a:chExt cx="10149809" cy="1196341"/>
          </a:xfrm>
        </p:grpSpPr>
        <p:pic>
          <p:nvPicPr>
            <p:cNvPr id="14" name="Picture 13" descr="\documentclass{article}&#10;\usepackage{amsmath,bm,eufrak}&#10;\pagestyle{empty}&#10;\begin{document}&#10;&#10;\begin{equation*}&#10;(W = 1\text{ and }\tilde{\alpha} = 0\text{ and }\beta \ne 0)&#10;\text{ or }&#10;(W = 2\text{ and }\tilde{\alpha} \ne 0\text{ and }\beta = 0)&#10;\quad : \quad&#10;\hat{\mathcal{G}}_{i\hat{T},k\left(s\right)_{12}w}^{\left(g\aleph\right)}&#10;=&#10;\mathcal{G}_{\left\{\left(\mathfrak{L}_{12}-W\delta_{s_{1}\bar{1}}-W\delta_{s_{2}\bar{1}}+Ww\right)\hat{\mathcal{Z}}_{i\hat{T},k}^{\left(g\aleph\right)}\right\}}^{(W)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7195E664-9E06-4C6B-BB38-EC4495234AA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021096" y="4753944"/>
              <a:ext cx="10149809" cy="43032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Picture 8" descr="\documentclass{article}&#10;\usepackage{amsmath,bm,eufrak}&#10;\pagestyle{empty}&#10;\begin{document}&#10;&#10;\begin{align*}&#10;\hat{\Sigma}_{g;i\hat{T}}^{\left(\aleph\right)}&#10;&amp; = &#10;\sum_{s_{1}=-\kappa_{1}}^{+\kappa_{1}}&#10;\sum_{s_{2}=-\kappa_{2}}^{+\kappa_{2}}&#10;\sum_{uw}&#10;\mathfrak{J}_{\left(s\right)_{12}uw}&#10;\hat{\mathcal{P}}_{\left(s\right)_{12}}&#10;\hat{\Delta}^{u}&#10;\sum_{k(g,\aleph)}&#10;\mathcal{Z}\left\{&#10;\mathrm{e}^{\mathrm{i}\phi_{\Omega;k}^{(g\aleph)}}&#10;\hat{\mathcal{G}}_{i\hat{T},k\left(s\right)_{12}w}^{\left(g\aleph\right)}&#10;,\Omega\right\}&#10;\end{align*}&#10;&#10;\end{document}" title="IguanaTex Bitmap Display">
              <a:extLst>
                <a:ext uri="{FF2B5EF4-FFF2-40B4-BE49-F238E27FC236}">
                  <a16:creationId xmlns:a16="http://schemas.microsoft.com/office/drawing/2014/main" id="{95AF2893-CB58-4E66-B0F2-4B5DE96190D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2511769" y="5242622"/>
              <a:ext cx="7168463" cy="7076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148625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D4c. Integral summation term restated (</a:t>
            </a:r>
            <a:r>
              <a:rPr lang="el-GR" dirty="0"/>
              <a:t>Δ</a:t>
            </a:r>
            <a:r>
              <a:rPr lang="en-US" dirty="0"/>
              <a:t> = 0, z != 1)</a:t>
            </a:r>
          </a:p>
        </p:txBody>
      </p:sp>
      <p:pic>
        <p:nvPicPr>
          <p:cNvPr id="36" name="Picture 35" descr="\documentclass{article}&#10;\usepackage{amsmath,bm,eufrak}&#10;\pagestyle{empty}&#10;\begin{document}&#10;&#10;\begin{equation*}&#10;\Delta = 0, z \ne 1&#10;\quad : \quad&#10;\hat{\mathcal{F}}_{i\hat{T},k\left(s\right)_{12}u}^{\left(g\aleph\right)}&#10;=&#10;\mathcal{F}_{u\left\{\left(\mathfrak{L}_{12}-W\delta_{s_{1}\bar{1}}-W\delta_{s_{2}\bar{1}}\right)\hat{z}_{i\hat{T},k}^{\left(g\aleph\right)}\right\}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551AC9DB-9368-4D3E-8971-418C725EAED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15275" y="2172165"/>
            <a:ext cx="5274821" cy="398626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\documentclass{article}&#10;\usepackage{amsmath,bm,eufrak}&#10;\pagestyle{empty}&#10;\begin{document}&#10;&#10;\begin{equation*}&#10;z \ne 1&#10;\text{ when }&#10;(W = 1\text{ and }\tilde{\alpha} \ne 0)&#10;\text{ or }&#10;(W = 2\text{ and }\beta \ne 0)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92A27E75-6FFB-4E12-B4CC-D3B9B114E32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705371" y="2269688"/>
            <a:ext cx="4771354" cy="203580"/>
          </a:xfrm>
          <a:prstGeom prst="rect">
            <a:avLst/>
          </a:prstGeom>
          <a:ln>
            <a:noFill/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602DF5E-0B49-4F5B-B07C-3146A48C2E06}"/>
              </a:ext>
            </a:extLst>
          </p:cNvPr>
          <p:cNvGrpSpPr/>
          <p:nvPr/>
        </p:nvGrpSpPr>
        <p:grpSpPr>
          <a:xfrm>
            <a:off x="2151766" y="4753942"/>
            <a:ext cx="7888468" cy="1294158"/>
            <a:chOff x="2151766" y="4753942"/>
            <a:chExt cx="7888468" cy="1294158"/>
          </a:xfrm>
        </p:grpSpPr>
        <p:pic>
          <p:nvPicPr>
            <p:cNvPr id="10" name="Picture 9" descr="\documentclass{article}&#10;\usepackage{amsmath,bm,eufrak}&#10;\pagestyle{empty}&#10;\begin{document}&#10;&#10;\begin{align*}&#10;\hat{\Sigma}_{i\hat{T}}^{\left(g\aleph\right)}&#10;&amp; = &#10;\sum_{s_{1}=-\kappa_{1}}^{+\kappa_{1}}&#10;\sum_{s_{2}=-\kappa_{2}}^{+\kappa_{2}}&#10;\sum_{uw}&#10;\mathfrak{h}_{\left(s\right)_{12}uw}&#10;\hat{\mathcal{P}}_{\left(s\right)_{12}}&#10;\sum_{k(g,\aleph)}&#10;\mathcal{Z}\left\{&#10;\mathrm{e}^{\mathrm{i}\phi_{\Omega;k}^{(g\aleph)}}&#10;\hat{\mathcal{F}}_{i\hat{T},k\left(s\right)_{12}u}^{\left(g\aleph\right)}&#10;\hat{\mathcal{G}}_{i\hat{T},k\left(s\right)_{12}w}^{\left(g\aleph\right)}&#10;,\Omega\right\}&#10;\end{align*}&#10;&#10;\end{document}" title="IguanaTex Bitmap Display">
              <a:extLst>
                <a:ext uri="{FF2B5EF4-FFF2-40B4-BE49-F238E27FC236}">
                  <a16:creationId xmlns:a16="http://schemas.microsoft.com/office/drawing/2014/main" id="{8756C1CF-EC69-41C1-9D63-81EE812560CD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2151766" y="5340437"/>
              <a:ext cx="7888468" cy="7076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47" name="Picture 46" descr="\documentclass{article}&#10;\usepackage{amsmath,bm,eufrak}&#10;\pagestyle{empty}&#10;\begin{document}&#10;&#10;\begin{equation*}&#10;\tilde{\alpha},\beta \ne 0&#10;\quad : \quad&#10;\hat{\mathcal{G}}_{i\hat{T},k\left(s\right)_{12}w}^{\left(g\aleph\right)}&#10;=&#10;\mathcal{G}_{\left\{\left(\mathcal{L}_{12}-W\delta_{s_{1}\bar{1}}-W\delta_{s_{2}\bar{1}}+Ww\right)\hat{\mathcal{Z}}_{i\hat{T},k}^{\left(g\aleph\right)}\right\}}^{(W)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97F1E195-E8E2-4E9F-8EB4-52886B66FFBE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480530" y="4753942"/>
              <a:ext cx="5230940" cy="430324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7A18E45-6E12-47D9-B542-C3ED62A23A45}"/>
              </a:ext>
            </a:extLst>
          </p:cNvPr>
          <p:cNvGrpSpPr/>
          <p:nvPr/>
        </p:nvGrpSpPr>
        <p:grpSpPr>
          <a:xfrm>
            <a:off x="2733940" y="3054822"/>
            <a:ext cx="6724120" cy="1114027"/>
            <a:chOff x="2733940" y="3054822"/>
            <a:chExt cx="6724120" cy="1114027"/>
          </a:xfrm>
        </p:grpSpPr>
        <p:pic>
          <p:nvPicPr>
            <p:cNvPr id="23" name="Picture 22" descr="\documentclass{article}&#10;\usepackage{amsmath,bm,eufrak}&#10;\pagestyle{empty}&#10;\begin{document}&#10;&#10;\begin{equation*}&#10;(W = 1\text{ and }\tilde{\alpha} \ne 0\text{ and }\beta = 0)&#10;\text{ or }&#10;(W = 2\text{ and }\tilde{\alpha} = 0\text{ and }\beta \ne 0)&#10;\quad:\quad&#10;\hat{\mathcal{G}} = 1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2C2160DD-75E0-4118-BE50-729A8220717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2750930" y="3054822"/>
              <a:ext cx="6690141" cy="24259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Picture 4" descr="\documentclass{article}&#10;\usepackage{amsmath,bm,eufrak}&#10;\pagestyle{empty}&#10;\begin{document}&#10;&#10;\begin{align*}&#10;\hat{\Sigma}_{i\hat{T}}^{\left(g\aleph\right)}&#10;&amp; = &#10;\sum_{s_{1}=-\kappa_{1}}^{+\kappa_{1}}&#10;\sum_{s_{2}=-\kappa_{2}}^{+\kappa_{2}}&#10;\sum_{u}&#10;\mathfrak{h}_{\left(s\right)_{12}u}&#10;\hat{\mathcal{P}}_{\left(s\right)_{12}}&#10;\sum_{k(g,\aleph)}&#10;\mathcal{Z}\left\{&#10;\mathrm{e}^{\mathrm{i}\phi_{\Omega;k}^{(g\aleph)}}&#10;\hat{\mathcal{F}}_{i\hat{T},k\left(s\right)_{12}u}^{\left(g\aleph\right)}&#10;,\Omega\right\}&#10;\end{align*}&#10;&#10;\end{document}" title="IguanaTex Bitmap Display">
              <a:extLst>
                <a:ext uri="{FF2B5EF4-FFF2-40B4-BE49-F238E27FC236}">
                  <a16:creationId xmlns:a16="http://schemas.microsoft.com/office/drawing/2014/main" id="{807DA461-D12B-4318-A07E-4976826AA92B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2733940" y="3461186"/>
              <a:ext cx="6724120" cy="7076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063968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D4d. Integral summation term restated (</a:t>
            </a:r>
            <a:r>
              <a:rPr lang="el-GR" dirty="0"/>
              <a:t>Δ</a:t>
            </a:r>
            <a:r>
              <a:rPr lang="en-US" dirty="0"/>
              <a:t> = 0, z = 1)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9CA019-088B-42EF-8405-3D6E457C8316}"/>
              </a:ext>
            </a:extLst>
          </p:cNvPr>
          <p:cNvGrpSpPr/>
          <p:nvPr/>
        </p:nvGrpSpPr>
        <p:grpSpPr>
          <a:xfrm>
            <a:off x="4554514" y="2974863"/>
            <a:ext cx="3082973" cy="1110839"/>
            <a:chOff x="4554514" y="2974863"/>
            <a:chExt cx="3082973" cy="1110839"/>
          </a:xfrm>
        </p:grpSpPr>
        <p:pic>
          <p:nvPicPr>
            <p:cNvPr id="7" name="Picture 6" descr="\documentclass{article}&#10;\usepackage{amsmath,bm,eufrak}&#10;\pagestyle{empty}&#10;\begin{document}&#10;&#10;\begin{equation*}&#10;\tilde{\alpha},\beta = 0&#10;\quad:\quad&#10;\hat{\mathcal{G}} = 1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F23AE18F-66AC-42C2-90E9-6033FB6747EB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5210971" y="2974863"/>
              <a:ext cx="1770059" cy="23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Picture 7" descr="\documentclass{article}&#10;\usepackage{amsmath,bm,eufrak}&#10;\pagestyle{empty}&#10;\begin{document}&#10;&#10;\begin{align*}&#10;\hat{\Sigma}^{\left(\bullet\right)}&#10;&amp; = &#10;\sum_{s_{1}=-\kappa_{1}}^{+\kappa_{1}}&#10;\sum_{s_{2}=-\kappa_{2}}^{+\kappa_{2}}&#10;\mathfrak{j}_{\left(s\right)_{12}}&#10;\hat{\mathcal{P}}_{\left(s\right)_{12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60C4747B-DC2F-4544-9E6C-97835016B2BD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554514" y="3415068"/>
              <a:ext cx="3082973" cy="6706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CAB4DA-C41D-46E4-9A73-C362B36F6AF5}"/>
              </a:ext>
            </a:extLst>
          </p:cNvPr>
          <p:cNvGrpSpPr/>
          <p:nvPr/>
        </p:nvGrpSpPr>
        <p:grpSpPr>
          <a:xfrm>
            <a:off x="1657599" y="2076221"/>
            <a:ext cx="8876801" cy="230400"/>
            <a:chOff x="1657599" y="2076221"/>
            <a:chExt cx="8876801" cy="230400"/>
          </a:xfrm>
        </p:grpSpPr>
        <p:pic>
          <p:nvPicPr>
            <p:cNvPr id="4" name="Picture 3" descr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E0CBEFFB-FE46-4D54-A1BA-D10C05D3A72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763046" y="2089631"/>
              <a:ext cx="4771354" cy="20358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Picture 4" descr="\documentclass{article}&#10;\usepackage{amsmath,bm,eufrak}&#10;\pagestyle{empty}&#10;\begin{document}&#10;&#10;\begin{align*}&#10;\Delta = 0, z = 1&#10;\quad &amp;: \quad&#10;\hat{\mathcal{F}}_{u}&#10;= &#10;\delta_{u0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7E65CDF3-87D4-452D-A02E-2F8A39DBA6C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657599" y="2076221"/>
              <a:ext cx="2447848" cy="2304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82078E9-39AE-436B-99BB-CAB2CF10BEDC}"/>
              </a:ext>
            </a:extLst>
          </p:cNvPr>
          <p:cNvGrpSpPr/>
          <p:nvPr/>
        </p:nvGrpSpPr>
        <p:grpSpPr>
          <a:xfrm>
            <a:off x="1021097" y="4753944"/>
            <a:ext cx="10149807" cy="1294154"/>
            <a:chOff x="1021097" y="4753944"/>
            <a:chExt cx="10149807" cy="1294154"/>
          </a:xfrm>
        </p:grpSpPr>
        <p:pic>
          <p:nvPicPr>
            <p:cNvPr id="22" name="Picture 21" descr="\documentclass{article}&#10;\usepackage{amsmath,bm,eufrak}&#10;\pagestyle{empty}&#10;\begin{document}&#10;&#10;\begin{equation*}&#10;(W = 1\text{ and }\tilde{\alpha} = 0\text{ and }\beta \ne 0)&#10;\text{ or }&#10;(W = 2\text{ and }\tilde{\alpha} \ne 0\text{ and }\beta = 0)&#10;\quad : \quad&#10;\hat{\mathcal{G}}_{i\hat{T},k\left(s\right)_{12}w}^{\left(g\aleph\right)}&#10;=&#10;\mathcal{G}_{\left\{\left(\mathfrak{L}_{12}-W\delta_{s_{1}\bar{1}}-W\delta_{s_{2}\bar{1}}+Ww\right)\hat{\mathcal{Z}}_{i\hat{T},k}^{\left(g\aleph\right)}\right\}}^{(W)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784992D1-85FF-4796-999E-99F8EA1C8A21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021097" y="4753944"/>
              <a:ext cx="10149807" cy="43032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0" name="Picture 29" descr="\documentclass{article}&#10;\usepackage{amsmath,bm,eufrak}&#10;\pagestyle{empty}&#10;\begin{document}&#10;&#10;\begin{align*}&#10;\hat{\Sigma}_{i\hat{T}}^{\left(g\aleph\right)}&#10;&amp; = &#10;\sum_{s_{1}=-\kappa_{1}}^{+\kappa_{1}}&#10;\sum_{s_{2}=-\kappa_{2}}^{+\kappa_{2}}&#10;\sum_{w}&#10;\mathfrak{J}_{\left(s\right)_{12}w}&#10;\hat{\mathcal{P}}_{\left(s\right)_{12}}&#10;\sum_{k(g)}&#10;\mathcal{Z}\left\{&#10;\mathrm{e}^{\mathrm{i}\phi_{\Omega;k}^{(g\aleph)}}&#10;\hat{\mathcal{G}}_{i\hat{T},k\left(s\right)_{12}w}^{\left(g\aleph\right)}&#10;,\Omega\right\}&#10;\end{align*}&#10;&#10;\end{document}" title="IguanaTex Bitmap Display">
              <a:extLst>
                <a:ext uri="{FF2B5EF4-FFF2-40B4-BE49-F238E27FC236}">
                  <a16:creationId xmlns:a16="http://schemas.microsoft.com/office/drawing/2014/main" id="{D2D4E053-EE06-4F9E-80F9-7A9AD0BA0233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2799769" y="5340435"/>
              <a:ext cx="6592463" cy="7076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271340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9.9325"/>
  <p:tag name="ORIGINALWIDTH" val="5399.325"/>
  <p:tag name="OUTPUTTYPE" val="PNG"/>
  <p:tag name="IGUANATEXVERSION" val="159"/>
  <p:tag name="LATEXADDIN" val="\documentclass{article}&#10;\usepackage{amsmath,bm}&#10;\pagestyle{empty}&#10;\begin{document}&#10;&#10;\begin{align*}&#10;\hat{\mathcal{R}}_{\eta\lambda;lk,s}^{(W\kappa p)}&#10;&amp; =&#10;\left(\frac{2\vartheta_{\lambda\left\{\chi_{p}\right\}}}{Wa_{0}\eta}\right)^{\frac{3}{2}}&#10;\left[&#10;\sqrt{W}&#10;\rho^{\frac{l}{W}-\kappa\delta_{W,1}-\delta_{s,-1}}\mathrm{e}^{-\rho/2}&#10;\sum_{v=-2\kappa}^{\kappa+\delta_{s,-1}}&#10;h_{lk,sv}^{(\kappa)}&#10;\hat{L}_{k+v}^{\left(\frac{2}{W}\left(l+\frac{1}{W}\right)+\kappa-\delta_{s,-1}\right)}&#10;\right|_{\rho \rightarrow \left(\frac{2r\vartheta_{\lambda\left\{\chi_{p}\right\}}}{Wa_{0}\eta}\right)^{W}}&#10;\\&#10;\end{align*}&#10;&#10;\end{document}"/>
  <p:tag name="IGUANATEXSIZE" val="20"/>
  <p:tag name="IGUANATEXCURSOR" val="555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2058"/>
  <p:tag name="ORIGINALWIDTH" val="3274.091"/>
  <p:tag name="OUTPUTTYPE" val="PNG"/>
  <p:tag name="IGUANATEXVERSION" val="159"/>
  <p:tag name="LATEXADDIN" val="\documentclass{article}&#10;\usepackage{amsmath,bm,eufrak}&#10;\pagestyle{empty}&#10;\begin{document}&#10;&#10;\begin{equation*}&#10;\Phi_{m\zeta lk;\eta\lambda}^{(W\kappa p)}&#10;= &#10;\left(\frac{\hbar^{2}}{2m_{0}a_{0}^{2}\eta^{2}}\right)^{\kappa}&#10;\hat{Q}_{m\zeta}^{(p)}&#10;\sum_{s=-\kappa}^{+\kappa}&#10;\mathfrak{H}^{(\kappa)}_{\lambda;lm,s}&#10;\hat{\mathcal{P}}_{\lambda;(l+2s)m}^{(p)}&#10;\hat{\mathcal{R}}_{\eta\lambda;lk,s}^{(W\kappa p)}&#10;\end{equation*}&#10;&#10;\end{document}"/>
  <p:tag name="IGUANATEXSIZE" val="20"/>
  <p:tag name="IGUANATEXCURSOR" val="39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0.8774"/>
  <p:tag name="ORIGINALWIDTH" val="2710.911"/>
  <p:tag name="OUTPUTTYPE" val="PNG"/>
  <p:tag name="IGUANATEXVERSION" val="159"/>
  <p:tag name="LATEXADDIN" val="\documentclass{article}&#10;\usepackage{amsmath,bm,eufrak}&#10;\pagestyle{empty}&#10;\begin{document}&#10;&#10;\begin{align*}&#10;\vartheta_{\lambda\left\{\chi\right\}}&#10;&amp; =&#10;\sqrt{1 + \left(\lambda^2-1\right)\chi^2}&#10;\\&#10;\hat{\mathcal{P}}_{\lambda;lm}^{(p)}&#10;&amp; = &#10;\sqrt{\frac{\lambda}{\vartheta_{\lambda\left\{\chi\right\}}^{3}}}&#10;\sqrt{\frac{(2l+1)\left(l-m\right)!}{2\left(l+m\right)!}}&#10;P_{lm}\left(\frac{\lambda \chi_{q}}{\vartheta_{\lambda\left\{\chi_{q}\right\}}}\right)&#10;\\&#10;\hat{Q}_{m\xi}^{(p)}&#10;&amp; = &#10;\frac{1}{\sqrt{2\pi}}&#10;\left(\frac{\mathrm{e}^{\mathrm{i}m \phi_{p}}+ \xi\mathrm{e}^{-\mathrm{i}m \phi_{p}}}&#10;{2\delta_{m0} + \sqrt{2}\left(1-\delta_{m0}\right)}\right)&#10;\end{align*}&#10;&#10;\end{document} "/>
  <p:tag name="IGUANATEXSIZE" val="20"/>
  <p:tag name="IGUANATEXCURSOR" val="58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0.6299"/>
  <p:tag name="ORIGINALWIDTH" val="1259.093"/>
  <p:tag name="LATEXADDIN" val="\documentclass{article}&#10;\usepackage{amsmath,bm,eufrak}&#10;\pagestyle{empty}&#10;\begin{document}&#10;&#10;\begin{align*}&#10;\chi_{x}   &amp;= \frac{x}{r} = \sin(\theta)\cos(\phi) \\&#10;\chi_{y}   &amp;= \frac{y}{r} = \sin(\theta)\sin(\phi) \\&#10;\chi_{z}   &amp;= \frac{z}{r} = \cos(\theta) \\&#10;\phi_{q_1} &amp;= \operatorname{Arg}\left(\chi_{q_2} \pm \mathrm{i}\chi_{q_3}\right)&#10;\end{align*}&#10;&#10;\end{document} 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.9246"/>
  <p:tag name="ORIGINALWIDTH" val="782.9021"/>
  <p:tag name="LATEXADDIN" val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/>
  <p:tag name="IGUANATEXSIZE" val="20"/>
  <p:tag name="IGUANATEXCURSOR" val="20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592.801"/>
  <p:tag name="OUTPUTTYPE" val="PNG"/>
  <p:tag name="IGUANATEXVERSION" val="159"/>
  <p:tag name="LATEXADDIN" val="\documentclass{article}&#10;\usepackage{amsmath,bm}&#10;\pagestyle{empty}&#10;\begin{document}&#10;&#10;\begin{align*}&#10;h_{lk,v}^{(\kappa s)}&#10;&amp; =&#10;\left(1-\kappa\right)\delta_{s0}\delta_{v0} + \kappa g_{lk,v}^{(s)}&#10;\\&#10;\end{align*}&#10;&#10;\end{document}"/>
  <p:tag name="IGUANATEXSIZE" val="20"/>
  <p:tag name="IGUANATEXCURSOR" val="166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941.1324"/>
  <p:tag name="LATEXADDIN" val="\documentclass{article}&#10;\usepackage{amsmath,bm,eufrak}&#10;\pagestyle{empty}&#10;\begin{document}&#10;&#10;\begin{align*}&#10;\alpha&#10;=&#10;\frac{2}{W}\left(l+\frac{1}{W}\right)&#10;\end{align*}&#10;&#10;\end{document}"/>
  <p:tag name="IGUANATEXSIZE" val="14"/>
  <p:tag name="IGUANATEXCURSOR" val="13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0.105"/>
  <p:tag name="ORIGINALWIDTH" val="2294.713"/>
  <p:tag name="LATEXADDIN" val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/>
  <p:tag name="IGUANATEXSIZE" val="20"/>
  <p:tag name="IGUANATEXCURSOR" val="4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748.781"/>
  <p:tag name="OUTPUTTYPE" val="PNG"/>
  <p:tag name="IGUANATEXVERSION" val="159"/>
  <p:tag name="LATEXADDIN" val="\documentclass{article}&#10;\usepackage{amsmath,bm,eufrak}&#10;\pagestyle{empty}&#10;\begin{document}&#10;&#10;\begin{equation*}&#10;\mathfrak{H}^{(\kappa)}_{\lambda;lm,s}&#10;= &#10;\delta_{s,0}-\kappa\left(1-\gamma\lambda^{2}\right)\mathfrak{Y}_{lm}^{(s)}&#10;\end{equation*}&#10;&#10;\end{document}"/>
  <p:tag name="IGUANATEXSIZE" val="20"/>
  <p:tag name="IGUANATEXCURSOR" val="13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1.725"/>
  <p:tag name="LATEXADDIN" val="\documentclass{article}&#10;\usepackage{amsmath,bm,eufrak}&#10;\pagestyle{empty}&#10;\begin{document}&#10;&#10;\begin{gather*}&#10;g_{lk,-2}^{(+1)}&#10;=&#10;-\sqrt{(k-1)k(k+\alpha)}&#10;\\&#10;g_{lk,-1}^{(+1)}&#10;=&#10;-\sqrt{k}\left(k+2\alpha+5-2\delta_{W,2}\right)&#10;\\&#10;g_{lk,0}^{(+1)}&#10;=&#10;\sqrt{k+\alpha+1}&#10;\left(k-\alpha-4+2\delta_{W,2}\right)&#10;\\&#10;g_{lk,+1}^{(+1)}&#10;=&#10;\sqrt{(k+1)(k+1+\alpha)(k+2+\alpha)}&#10;\\&#10;\end{gather*}&#10;&#10;\end{document}"/>
  <p:tag name="IGUANATEXSIZE" val="13"/>
  <p:tag name="IGUANATEXCURSOR" val="289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1.725"/>
  <p:tag name="LATEXADDIN" val="\documentclass{article}&#10;\usepackage{amsmath,bm,eufrak}&#10;\pagestyle{empty}&#10;\begin{document}&#10;&#10;\begin{gather*}&#10;g_{lk,-2}^{(0)}&#10;=&#10;-\sqrt{(k-1)k(k+\alpha)}&#10;\\&#10;g_{lk,-1}^{(0)}&#10;=&#10;-\sqrt{k}\left(k+3-2\delta_{W,2}\right)&#10;\\&#10;g_{lk,0}^{(0)}&#10;=&#10;\sqrt{k+\alpha+1}&#10;\left(k+\alpha-2+2\delta_{W,2}\right)&#10;\\&#10;g_{lk,+1}^{(0)}&#10;=&#10;\sqrt{(k+1)(k+1+\alpha)(k+2+\alpha)}&#10;\\&#10;\end{gather*}&#10;&#10;\end{document}"/>
  <p:tag name="IGUANATEXSIZE" val="13"/>
  <p:tag name="IGUANATEXCURSOR" val="27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4209.224"/>
  <p:tag name="LATEXADDIN" val="\documentclass{article}&#10;\usepackage{amsmath,bm,eufrak}&#10;\pagestyle{empty}&#10;\begin{document}&#10;&#10;\begin{gather*}&#10;g_{lk,-2}^{(-1)}&#10;=&#10;-\sqrt{(k-1)k(k-1+\alpha)(k+\alpha)}&#10;\\&#10;g_{lk,-1}^{(-1)}&#10;=&#10;2\sqrt{k(k+\alpha)}\left(\alpha-2-3\delta_{W,2}\right)&#10;\\&#10;g_{lk,0}^{(-1)}&#10;=&#10;2k^{2}-4\left(\alpha-1+\delta_{W,2}\right)\left(\alpha-3+2\delta_{W,2}\right)+(\alpha+1)(2k+3\alpha-8+6\delta_{W,2})&#10;\\&#10;g_{lk,+1}^{(-1)}&#10;=&#10;-2\sqrt{(k+1)(k+1+\alpha)}\left(\alpha-5+3\delta_{W,2}\right)&#10;\\&#10;g_{lk,+2}^{(-1)}&#10;=&#10;-\sqrt{(k+1)(k+2)(k+1+\alpha)(k+2+\alpha)}&#10;\end{gather*}&#10;&#10;\end{document}"/>
  <p:tag name="IGUANATEXSIZE" val="13"/>
  <p:tag name="IGUANATEXCURSOR" val="23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2.6846"/>
  <p:tag name="ORIGINALWIDTH" val="1182.602"/>
  <p:tag name="OUTPUTTYPE" val="PNG"/>
  <p:tag name="IGUANATEXVERSION" val="159"/>
  <p:tag name="LATEXADDIN" val="\documentclass{article}&#10;\usepackage{amsmath,bm}&#10;\pagestyle{empty}&#10;\begin{document}&#10;&#10;\begin{align*}&#10;\Theta^{(q)}&#10;&amp; =&#10;\mathrm{e}^{\mathrm{i}\bm{k}_q\cdot \bm{r}}u_{\bm{k}_q}&#10;\\&#10;\Theta_{\Omega}^{(q)}&#10;&amp; =&#10;\frac&#10;{&#10;\Theta^{(q)}&#10;+&#10;\Omega\Theta^{(-q)}&#10;}&#10;{\sqrt{2}}&#10;\\&#10;\end{align*}&#10;&#10;\end{document}"/>
  <p:tag name="IGUANATEXSIZE" val="18"/>
  <p:tag name="IGUANATEXCURSOR" val="25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4"/>
  <p:tag name="LAYER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7.4653"/>
  <p:tag name="ORIGINALWIDTH" val="788.9014"/>
  <p:tag name="LATEXADDIN" val="\documentclass{article}&#10;\usepackage{amsmath,bm}&#10;\pagestyle{empty}&#10;\begin{document}&#10;&#10;\begin{equation*}&#10;\tau = -\frac{1}{2} + \mathrm{i}\frac{\sqrt{3}}{2}&#10;\end{equation*}&#10;&#10;\end{document}"/>
  <p:tag name="IGUANATEXSIZE" val="16"/>
  <p:tag name="IGUANATEXCURSOR" val="15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1335.583"/>
  <p:tag name="LATEXADDIN" val="\documentclass{article}&#10;\usepackage{amsmath,bm}&#10;\pagestyle{empty}&#10;\begin{document}&#10;&#10;\begin{equation*}&#10;\bm{\beta}_{E_{1}}^{(\sigma)}&#10;=&#10;\mathrm{i}^{\frac{1-\sigma}{2}}&#10;\frac{1}{\sqrt{3}}&#10;\left\{\tau, \tau^{2}, 1\right\}&#10;\end{equation*}&#10;&#10;\end{document}"/>
  <p:tag name="IGUANATEXSIZE" val="16"/>
  <p:tag name="IGUANATEXCURSOR" val="12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725.1594"/>
  <p:tag name="LATEXADDIN" val="\documentclass{article}&#10;\usepackage{amsmath,bm}&#10;\pagestyle{empty}&#10;\begin{document}&#10;&#10;\begin{equation*}&#10;\bm{\beta}_{E_{2}}&#10;=&#10;\left(\bm{\beta}_{E_{1}}\right)^{*}&#10;\end{equation*}&#10;&#10;\end{document}"/>
  <p:tag name="IGUANATEXSIZE" val="16"/>
  <p:tag name="IGUANATEXCURSOR" val="138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4.462"/>
  <p:tag name="ORIGINALWIDTH" val="2881.14"/>
  <p:tag name="LATEXADDIN" val="\documentclass{article}&#10;\usepackage{amsmath,bm}&#10;\pagestyle{empty}&#10;\begin{document}&#10;&#10;\begin{equation*}&#10;\Psi_{m_{e}lk E_{i}^{\sigma};\lambda\eta}^{\left(W\kappa\right)}&#10;=&#10;\sum_{q = x,y,z}&#10;\left(\beta_{E_{i}}^{(\sigma)}\right)_{q}&#10;\Phi_{m_{e}(\sigma\mathrm{i}^{m_{e}})lk;\lambda\eta}^{(W\kappa q)}&#10;\Theta^{(q)}_{\sigma\mathrm{i}^{m_{e}}(-1)^{l}}&#10;\end{equation*}&#10;&#10;\end{document}"/>
  <p:tag name="IGUANATEXSIZE" val="18"/>
  <p:tag name="IGUANATEXCURSOR" val="37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9719"/>
  <p:tag name="ORIGINALWIDTH" val="2207.724"/>
  <p:tag name="OUTPUTTYPE" val="PNG"/>
  <p:tag name="IGUANATEXVERSION" val="159"/>
  <p:tag name="LATEXADDIN" val="\documentclass{article}&#10;\usepackage{amsmath,bm}&#10;\pagestyle{empty}&#10;\begin{document}&#10;&#10;\begin{align*}&#10;\Psi_{m_{e}lkT_{q}^{(\sigma)};\lambda\eta}^{\left(W\kappa\right)}&#10;=&#10;\Phi_{m_{e}(\sigma\mathrm{i}^{m_{e}})lk;\lambda\eta}^{(W\kappa q)}&#10;\Theta_{-\sigma\mathrm{i}^{m_{e}}(-1)^{l}}^{(q)}&#10;\end{align*}&#10;&#10;\end{document}"/>
  <p:tag name="IGUANATEXSIZE" val="18"/>
  <p:tag name="IGUANATEXCURSOR" val="20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9572"/>
  <p:tag name="ORIGINALWIDTH" val="2899.138"/>
  <p:tag name="OUTPUTTYPE" val="PNG"/>
  <p:tag name="IGUANATEXVERSION" val="159"/>
  <p:tag name="LATEXADDIN" val="\documentclass{article}&#10;\usepackage{amsmath,bm}&#10;\pagestyle{empty}&#10;\begin{document}&#10;&#10;\begin{equation*}&#10;\Psi_{m_{e}lkA^{(\sigma)};\lambda\eta}^{\left(W\kappa\right)}&#10;=&#10;\sum_{q = x,y,z} &#10;\left(\frac{1}{\sqrt{3}}\right)&#10;\Phi_{m_{e}(\sigma\mathrm{i}^{m_{e}})lk;\lambda\eta}^{(W\kappa q)}&#10;\Theta^{(q)}_{\sigma\mathrm{i}^{m_{e}}(-1)^{l}}&#10;\end{equation*}&#10;&#10;\end{document}"/>
  <p:tag name="IGUANATEXSIZE" val="18"/>
  <p:tag name="IGUANATEXCURSOR" val="25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1.4548"/>
  <p:tag name="ORIGINALWIDTH" val="3228.346"/>
  <p:tag name="OUTPUTTYPE" val="PNG"/>
  <p:tag name="IGUANATEXVERSION" val="159"/>
  <p:tag name="LATEXADDIN" val="\documentclass{article}&#10;\usepackage{amsmath,bm}&#10;\pagestyle{empty}&#10;\begin{document}&#10;&#10;\begin{align*}&#10;\Psi_{m_{o}lkhT_{q_{1}}^{(\sigma)};\lambda\eta}^{\left(W\kappa\right)}&#10;=&#10;\frac&#10;{&#10;\Phi_{m_{o}hlk;\lambda\eta}^{\left(W\kappa q_{2}\right)}\Theta_{h(-1)^{l}}^{(q_{2})}&#10;- h\sigma\mathrm{i}^{m_{o}}\Phi_{m_{o}\bar{h}lk;\lambda\eta}^{\left(W\kappa q_{3}\right)}\Theta_{h(-1)^{l}}^{(q_{3})}&#10;}&#10;{\sqrt{2}}&#10;\end{align*}&#10;&#10;\end{document}"/>
  <p:tag name="IGUANATEXSIZE" val="18"/>
  <p:tag name="IGUANATEXCURSOR" val="31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06.299"/>
  <p:tag name="ORIGINALWIDTH" val="2959.13"/>
  <p:tag name="LATEXADDIN" val="\documentclass{article}&#10;\usepackage{amsmath,bm,eufrak}&#10;\pagestyle{empty}&#10;\begin{document}&#10;&#10;\begin{align*}&#10;\tilde{U}_{\left\{\bm{r}\right\}}&#10;&amp; =&#10;\left(\frac{r}{a_{0}}\right)^{d}&#10;\sum_{i}&#10;\tilde{\mathfrak{U}}_{i}&#10;\mathcal{U}_{i\left\{\chi,\phi\right\}}&#10;\mathrm{e}^{-\tilde{\alpha}_{i\left\{\chi,\phi\right\}}\frac{r}{a_{0}}}&#10;\mathrm{e}^{-\beta_{i\left\{\chi,\phi\right\}}\left(\frac{r}{a_{0}}\right)^{2}}&#10;\\&#10;&amp; =&#10;\left(\frac{r}{a_{\perp}}\right)^{d}&#10;\sum_{j \in \Gamma\left(T_{d}\right)}&#10;\sum_{\kappa = 1}^{l_{j}}&#10;U^{(j)}_{\kappa\kappa}&#10;\\&#10;U^{(j)}_{\mu\kappa}&#10;&amp; \equiv&#10;\sum_{i}&#10;\sum_{\hat{R}\in\subseteq T_{d}}&#10;\tilde{\mathfrak{U}}_{\mu\kappa;i\hat{R}}^{\left(j\right)}&#10;\mathcal{U}_{i\hat{R}}&#10;\mathrm{e}^{-\alpha_{i\hat{R}}\left(\frac{r}{a_\perp}\right)}\mathrm{e}^{-\beta_{i\hat{R}}\left(\frac{r}{a_\perp}\right)^{2}}&#10;\\&#10;\tilde{\mathfrak{U}}_{\mu\kappa;i\hat{R}}^{\left(j\right)}&#10;&amp; \equiv&#10;\frac{l_{j}}{h}&#10;\tilde{\mathfrak{U}}_{i}&#10;\left(\Gamma_{\hat{R}}^{(j)}\right)_{\mu\kappa}^{*}&#10;\end{align*}&#10;&#10;\end{document}"/>
  <p:tag name="IGUANATEXSIZE" val="20"/>
  <p:tag name="IGUANATEXCURSOR" val="77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9.6288"/>
  <p:tag name="ORIGINALWIDTH" val="3491.563"/>
  <p:tag name="LATEXADDIN" val="\documentclass{article}&#10;\usepackage{amsmath,amssymb,bm}&#10;\pagestyle{empty}&#10;\begin{document}&#10;&#10;\begin{align*}&#10;\left(\bm{\mathcal{M}}\right)_{\left(mlkh\mathcal{W};\lambda\eta\right)_{01}}&#10;&amp; =&#10;\int \mathrm{d}\bm{r}\,&#10;U_{\left\{\bm{r}\right\}}&#10;\Psi_{\left(mlkh;\lambda\eta\right)_{1}}^{\left(\mathcal{W}_{1}W\kappa\right)*}&#10;\Psi_{\left(mlkh;\lambda\eta\right)_{2}}^{\left(\mathcal{W}_{2}W\kappa\right)}&#10;\\&#10;&amp; =&#10;\sum_{j}&#10;\left(&#10;\bm{\mathcal{M}}_{\parallel}&#10;+&#10;\bm{\mathcal{M}}_{\perp}&#10;\right)_{\left(mlkh\mathcal{W};\lambda\eta\right)_{01}}^{(j)}&#10;\\&#10;\left(\bm{\mathcal{M}}\right)_{\parallel\slash\perp\left(mlkh\mathcal{W};\lambda\eta\right)_{01}}^{(j)}&#10;&amp; =&#10;\int \mathrm{d}\bm{r}\,&#10;V_{\parallel\slash\perp,xyz}^{(j)(\mathcal{W})_{01}}\,&#10;\Psi_{\left(mlkh\mathcal{W};\lambda\eta\right)_{0}}^{\left(W\kappa\right)*}&#10;\Psi_{\left(mlkh\mathcal{W};\lambda\eta\right)_{1}}^{\left(W\kappa\right)}&#10;\\&#10;\end{align*}&#10;&#10;\end{document}"/>
  <p:tag name="IGUANATEXSIZE" val="20"/>
  <p:tag name="IGUANATEXCURSOR" val="882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03.3"/>
  <p:tag name="ORIGINALWIDTH" val="2959.13"/>
  <p:tag name="LATEXADDIN" val="\documentclass{article}&#10;\usepackage{amsmath,bm,eufrak}&#10;\pagestyle{empty}&#10;\begin{document}&#10;&#10;\begin{align*}&#10;\tilde{U}_{\left\{\bm{r}\right\}}&#10;&amp; =&#10;\left(\frac{r}{a_{0}}\right)^{d}&#10;\sum_{i}&#10;\tilde{\mathfrak{U}}_{i}&#10;\mathcal{U}_{i\left\{\chi,\phi\right\}}&#10;\mathrm{e}^{-\tilde{\alpha}_{i\left\{\chi,\phi\right\}}\frac{r}{a_{0}}}&#10;\mathrm{e}^{-\beta_{i\left\{\chi,\phi\right\}}\left(\frac{r}{a_{0}}\right)^{2}}&#10;\\&#10;&amp; =&#10;\left(\frac{r}{a_{\perp}}\right)^{d}&#10;\sum_{j \in \Gamma\left(T_{d}\right)}&#10;\sum_{\kappa = 1}^{l_{j}}&#10;\tilde{U}^{(j)}_{\kappa\kappa}&#10;\\&#10;\tilde{U}^{(j)}_{\mu\kappa}&#10;&amp; \equiv&#10;\sum_{i}&#10;\tilde{\mathfrak{U}}_{i}&#10;\sum_{\hat{R}\in T_{d}}&#10;\tilde{\mathfrak{U}}_{\mu\kappa;\hat{R}}^{\left(j\right)}&#10;\mathcal{U}_{i\hat{R}}&#10;\mathrm{e}^{-\alpha_{i\hat{R}}\left(\frac{r}{a_\perp}\right)}\mathrm{e}^{-\beta_{i\hat{R}}\left(\frac{r}{a_\perp}\right)^{2}}&#10;\\&#10;\tilde{\mathfrak{U}}_{\mu\kappa;i\hat{R}}^{\left(j\right)}&#10;&amp; \equiv&#10;\frac{l_{j}}{h}&#10;\left(\Gamma_{\hat{R}}^{(j)}\right)_{\mu\kappa}^{*}&#10;\end{align*}&#10;&#10;\end{document}"/>
  <p:tag name="IGUANATEXSIZE" val="20"/>
  <p:tag name="IGUANATEXCURSOR" val="54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4319.46"/>
  <p:tag name="OUTPUTTYPE" val="PNG"/>
  <p:tag name="IGUANATEXVERSION" val="159"/>
  <p:tag name="LATEXADDIN" val="\documentclass{article}&#10;\usepackage{amsmath,bm,eufrak}&#10;\pagestyle{empty}&#10;\begin{document}&#10;&#10;\begin{equation*}&#10;V_{\parallel}^{\left(A^{\left(\sigma\right)}\right)(\mathcal{W})_{01}}&#10;=&#10;\begin{pmatrix}&#10;\delta_{\sigma_{0}\sigma_{1}}^{\sigma} &amp;                              0 &amp;                             0 &amp;                             0 &amp;                                &amp; 0 &amp; 0 &amp; 0 \\&#10;                                     0 &amp;            \delta_{+}^{\sigma} &amp; \mathrm{i}\delta_{-}^{\sigma} &amp;                             0 &amp;                                &amp; 0 &amp; 0 &amp; 0 \\&#10;                                     0 &amp; -\mathrm{i}\delta_{-}^{\sigma} &amp;           \delta_{+}^{\sigma} &amp;                             0 &amp;                                &amp; 0 &amp; 0 &amp; 0 \\&#10;                                     0 &amp;                              0 &amp;                             0 &amp;           \delta_{+}^{\sigma} &amp; -\mathrm{i}\delta_{-}^{\sigma} &amp; 0 &amp; 0 &amp; 0 \\&#10;                                     0 &amp;                              0 &amp;                             0 &amp; \mathrm{i}\delta_{-}^{\sigma} &amp;            \delta_{+}^{\sigma} &amp; 0 &amp; 0 &amp; 0 \\&#10;&#10;0 &amp; 0 &amp; 0 &amp; 0 &amp; 0 &amp; \delta_{\sigma_{0}\sigma_{1}}^{\sigma} &amp;                                      0 &amp;                                      0 \\&#10;0 &amp; 0 &amp; 0 &amp; 0 &amp; 0 &amp;                                      0 &amp; \delta_{\sigma_{0}\sigma_{1}}^{\sigma} &amp;                                      0 \\&#10;0 &amp; 0 &amp; 0 &amp; 0 &amp; 0 &amp;                                      0 &amp;                                      0 &amp; \delta_{\sigma_{0}\sigma_{1}}^{\sigma} \\&#10;\end{pmatrix}&#10;U^{\left(A^{\left(\sigma\right)}\right)}&#10;\end{equation*}&#10;&#10;\end{document}"/>
  <p:tag name="IGUANATEXSIZE" val="20"/>
  <p:tag name="IGUANATEXCURSOR" val="367"/>
  <p:tag name="TRANSPARENCY" val="True"/>
  <p:tag name="FILENAME" val=""/>
  <p:tag name="LATEXENGINEID" val="0"/>
  <p:tag name="TEMPFOLDER" val="C:\iguanatex\"/>
  <p:tag name="LATEXFORMHEIGHT" val="571.5"/>
  <p:tag name="LATEXFORMWIDTH" val="1901.2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2.7184"/>
  <p:tag name="ORIGINALWIDTH" val="652.4184"/>
  <p:tag name="OUTPUTTYPE" val="PNG"/>
  <p:tag name="IGUANATEXVERSION" val="159"/>
  <p:tag name="LATEXADDIN" val="\documentclass{article}&#10;\usepackage{amsmath,bm,eufrak}&#10;\pagestyle{empty}&#10;\begin{document}&#10;&#10;\begin{align*}&#10;\delta_{s}^{\sigma}  &amp; = \frac{1 + \sigma s}{2} \\&#10;\end{align*}&#10;&#10;\end{document}"/>
  <p:tag name="IGUANATEXSIZE" val="16"/>
  <p:tag name="IGUANATEXCURSOR" val="149"/>
  <p:tag name="TRANSPARENCY" val="True"/>
  <p:tag name="FILENAME" val=""/>
  <p:tag name="LATEXENGINEID" val="0"/>
  <p:tag name="TEMPFOLDER" val="C:\iguanatex\"/>
  <p:tag name="LATEXFORMHEIGHT" val="624"/>
  <p:tag name="LATEXFORMWIDTH" val="1913.2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9.591"/>
  <p:tag name="ORIGINALWIDTH" val="4166.479"/>
  <p:tag name="LATEXADDIN" val="\documentclass{article}&#10;\usepackage{amsmath,bm,eufrak}&#10;\pagestyle{empty}&#10;\begin{document}&#10;&#10;\begin{equation*}&#10;V_{\perp}^{\left(A^{\left(\sigma\right)}\right)(\mathcal{W})_{01}}&#10;=&#10;\begin{pmatrix}&#10;2\delta_{\sigma_{0}\sigma_{1}}^{\sigma} &amp;                              0 &amp;                              0 &amp;                              0 &amp;                                0 &amp; 0 &amp; 0 &amp; 0 \\&#10;                                      0 &amp;            \phi_{+}^{(\sigma)} &amp;  \mathrm{i}\phi_{-}^{(\sigma)} &amp;                              0 &amp;                                0 &amp; 0 &amp; 0 &amp; 0 \\&#10;                                      0 &amp; -\mathrm{i}\phi_{-}^{(\sigma)} &amp;            \phi_{+}^{(\sigma)} &amp;                              0 &amp;                                0 &amp; 0 &amp; 0 &amp; 0 \\&#10;                                      0 &amp;                              0 &amp;                              0 &amp;           \phi_{+}^{(\sigma)*} &amp;  -\mathrm{i}\phi_{-}^{(\sigma)*} &amp; 0 &amp; 0 &amp; 0 \\&#10;                                      0 &amp;                              0 &amp;                              0 &amp; \mathrm{i}\phi_{-}^{(\sigma)*} &amp;             \phi_{+}^{(\sigma)*} &amp; 0 &amp; 0 &amp; 0 \\&#10;&#10;0 &amp; 0 &amp; 0 &amp; 0 &amp; 0 &amp; 0 &amp; 0 &amp; 0 \\&#10;0 &amp; 0 &amp; 0 &amp; 0 &amp; 0 &amp; 0 &amp; 0 &amp; 0 \\&#10;0 &amp; 0 &amp; 0 &amp; 0 &amp; 0 &amp; 0 &amp; 0 &amp; 0 \\&#10;\end{pmatrix}&#10;U^{\left(A^{\left(\sigma\right)}\right)}&#10;\end{equation*}&#10;&#10;\end{document}"/>
  <p:tag name="IGUANATEXSIZE" val="20"/>
  <p:tag name="IGUANATEXCURSOR" val="1110"/>
  <p:tag name="TRANSPARENCY" val="True"/>
  <p:tag name="FILENAME" val=""/>
  <p:tag name="LATEXENGINEID" val="0"/>
  <p:tag name="TEMPFOLDER" val="c:\temp\"/>
  <p:tag name="LATEXFORMHEIGHT" val="624"/>
  <p:tag name="LATEXFORMWIDTH" val="1568.2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1.4248"/>
  <p:tag name="ORIGINALWIDTH" val="2611.924"/>
  <p:tag name="OUTPUTTYPE" val="PNG"/>
  <p:tag name="IGUANATEXVERSION" val="159"/>
  <p:tag name="LATEXADDIN" val="\documentclass{article}&#10;\usepackage{amsmath,bm,eufrak}&#10;\pagestyle{empty}&#10;\begin{document}&#10;&#10;\begin{align*}&#10;\delta_{s}^{\sigma}  &amp; = \frac{1 + \sigma s}{2} \\&#10;                   \phi_{s}^{(\sigma)}  &amp; = \tau^{2} + \sigma s\tau = -\left(\frac{1+\sigma s}{2}\right) -\mathrm{i}\sqrt{3}\left(\frac{1-\sigma s}{2}\right) \\&#10;\end{align*}&#10;&#10;\end{document}"/>
  <p:tag name="IGUANATEXSIZE" val="16"/>
  <p:tag name="IGUANATEXCURSOR" val="149"/>
  <p:tag name="TRANSPARENCY" val="True"/>
  <p:tag name="FILENAME" val=""/>
  <p:tag name="LATEXENGINEID" val="0"/>
  <p:tag name="TEMPFOLDER" val="C:\iguanatex\"/>
  <p:tag name="LATEXFORMHEIGHT" val="624"/>
  <p:tag name="LATEXFORMWIDTH" val="1913.2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7136.858"/>
  <p:tag name="LATEXADDIN" val="\documentclass{article}&#10;\usepackage{amsmath,bm,eufrak}&#10;\pagestyle{empty}&#10;\begin{document}&#10;&#10;\begin{equation*}&#10;V_{\parallel}^{\left(T^{\left(\sigma\right)}\right)(\mathcal{W})_{01}}&#10;=&#10;\frac{1}{\sqrt{3}}&#10;\begin{pmatrix}&#10;0 &amp; 0 &amp; 0 &amp; 0 &amp; 0 &amp;           \delta_{\sigma_{0}\sigma_{1}}^{\sigma}U_{(x)} &amp;          \delta_{\sigma_{0}\sigma_{1}}^{\sigma}U_{(y)} &amp;   \delta_{\sigma_{0}\sigma_{1}}^{\sigma}U_{(z)} \\&#10;0 &amp; 0 &amp; 0 &amp; 0 &amp; 0 &amp;            \delta_{+\sigma_{1}}^{\sigma}\tau^{2}U_{(x)} &amp;              \delta_{+\sigma_{1}}^{\sigma}\tau U_{(y)} &amp;            \delta_{+\sigma_{1}}^{\sigma}U_{(z)} \\&#10;0 &amp; 0 &amp; 0 &amp; 0 &amp; 0 &amp; -\mathrm{i}\delta_{-\sigma_{1}}^{\sigma}\tau^{2}U_{(x)} &amp;   -\mathrm{i}\delta_{-\sigma_{1}}^{\sigma}\tau U_{(y)} &amp; -\mathrm{i}\delta_{-\sigma_{1}}^{\sigma}U_{(z)} \\&#10;0 &amp; 0 &amp; 0 &amp; 0 &amp; 0 &amp;               \delta_{+\sigma_{1}}^{\sigma}\tau U_{(x)} &amp;           \delta_{+\sigma_{1}}^{\sigma}\tau^{2}U_{(y)} &amp;            \delta_{+\sigma_{1}}^{\sigma}U_{(z)} \\&#10;0 &amp; 0 &amp; 0 &amp; 0 &amp; 0 &amp;     \mathrm{i}\delta_{-\sigma_{1}}^{\sigma}\tau U_{(x)} &amp; \mathrm{i}\delta_{-\sigma_{1}}^{\sigma}\tau^{2}U_{(y)} &amp;  \mathrm{i}\delta_{-\sigma_{1}}^{\sigma}U_{(z)} \\&#10;&#10;\delta_{\sigma_{0}\sigma_{1}}^{\sigma}U_{(x)} &amp;    \delta_{\sigma_{0}+}^{\sigma}\tau U_{(x)} &amp;    \mathrm{i}\delta_{\sigma_{0}-}^{\sigma}\tau U_{(x)} &amp; \delta_{\sigma_{0}+}^{\sigma}\tau^{2}U_{(x)} &amp; -\mathrm{i}\delta_{\sigma_{0}-}^{\sigma}\tau^{2}U_{(x)} &amp; 0 &amp; 0 &amp; 0 \\&#10;\delta_{\sigma_{0}\sigma_{1}}^{\sigma}U_{(y)} &amp; \delta_{\sigma_{0}+}^{\sigma}\tau^{2}U_{(y)} &amp; \mathrm{i}\delta_{\sigma_{0}-}^{\sigma}\tau^{2}U_{(y)} &amp;    \delta_{\sigma_{0}+}^{\sigma}\tau U_{(y)} &amp;    -\mathrm{i}\delta_{\sigma_{0}-}^{\sigma}\tau U_{(y)} &amp; 0 &amp; 0 &amp; 0 \\&#10;\delta_{\sigma_{0}\sigma_{1}}^{\sigma}U_{(z)} &amp;         \delta_{\sigma_{0}+}^{\sigma}U_{(z)} &amp;         \mathrm{i}\delta_{\sigma_{0}-}^{\sigma}U_{(z)} &amp;         \delta_{\sigma_{0}+}^{\sigma}U_{(z)} &amp;         -\mathrm{i}\delta_{\sigma_{0}-}^{\sigma}U_{(z)} &amp; 0 &amp; 0 &amp; 0 \\&#10;\end{pmatrix}&#10;\end{equation*}&#10;&#10;\end{document}"/>
  <p:tag name="IGUANATEXSIZE" val="16"/>
  <p:tag name="IGUANATEXCURSOR" val="354"/>
  <p:tag name="TRANSPARENCY" val="False"/>
  <p:tag name="FILENAME" val=""/>
  <p:tag name="LATEXENGINEID" val="0"/>
  <p:tag name="TEMPFOLDER" val="c:\temp\"/>
  <p:tag name="LATEXFORMHEIGHT" val="642.75"/>
  <p:tag name="LATEXFORMWIDTH" val="1882.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3.4684"/>
  <p:tag name="ORIGINALWIDTH" val="3762.28"/>
  <p:tag name="LATEXADDIN" val="\documentclass{article}&#10;\usepackage{amsmath,bm,eufrak}&#10;\pagestyle{empty}&#10;\begin{document}&#10;&#10;\begin{align*}&#10;            U_{(x)} = U_{x,3}^{\left(T^{(\sigma)}\right)} \quad\quad&#10;            U_{(y)} = U_{y,3}^{\left(T^{(\sigma)}\right)} \quad\quad&#10;            U_{(z)} = U_{z}^{\left(T^{(\sigma)}\right)}   \quad\quad&#10;\delta_{s}^{\sigma} = \frac{1 + \sigma s}{2} \\&#10;\end{align*}&#10;&#10;\end{document}"/>
  <p:tag name="IGUANATEXSIZE" val="16"/>
  <p:tag name="IGUANATEXCURSOR" val="360"/>
  <p:tag name="TRANSPARENCY" val="True"/>
  <p:tag name="FILENAME" val=""/>
  <p:tag name="LATEXENGINEID" val="0"/>
  <p:tag name="TEMPFOLDER" val="c:\temp\"/>
  <p:tag name="LATEXFORMHEIGHT" val="624"/>
  <p:tag name="LATEXFORMWIDTH" val="1096.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9.58"/>
  <p:tag name="ORIGINALWIDTH" val="7169.854"/>
  <p:tag name="LATEXADDIN" val="\documentclass{article}&#10;\usepackage{amsmath,bm,eufrak}&#10;\pagestyle{empty}&#10;\begin{document}&#10;&#10;\begin{equation*}&#10;V_{\perp}^{\left(T^{\left(\sigma\right)}\right)(\mathcal{W})_{01}}&#10;=&#10;\frac{1}{\sqrt{3}}&#10;\begin{pmatrix}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2\delta_{\sigma_{0}\sigma_{1}}^{\sigma}U_{x} &amp;          2\delta_{\sigma_{0}\sigma_{1}}^{\sigma}U_{y,1} &amp;  2\delta_{\sigma_{0}\sigma_{1}}^{\sigma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\tau^{2}\phi_{+\sigma_{1}}^{(\sigma)}U_{x} &amp;               \tau \phi_{+\sigma_{1}}^{(\sigma)}U_{y,1} &amp;            \phi_{+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-\mathrm{i}\tau^{2}\phi_{-\sigma_{1}}^{(\sigma)}U_{x} &amp;    -\mathrm{i}\tau \phi_{-\sigma_{1}}^{(\sigma)}U_{y,1} &amp; -\mathrm{i}\phi_{-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  \tau \phi_{+\sigma_{1}}^{(\sigma)*}U_{x} &amp;           \tau^{2}\phi_{+\sigma_{1}}^{(\sigma)*}U_{y,1} &amp;           \phi_{+\sigma_{1}}^{(\sigma)*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\mathrm{i}\tau \phi_{-\sigma_{1}}^{(\sigma)*}U_{x} &amp; \mathrm{i}\tau^{2}\phi_{-\sigma_{1}}^{(\sigma)*}U_{y,1} &amp; \mathrm{i}\phi_{-\sigma_{1}}^{(\sigma)*}U_{z,1} \\&#10;2\delta_{\sigma_{0}\sigma_{1}}^{\sigma}U_{x,2} &amp;   \tau\phi_{\sigma_{0}+}^{(\sigma)}U_{x,2} &amp;   \tau\mathrm{i}\phi_{\sigma_{0}-}^{(\sigma)}U_{x,2} &amp; \tau^{2}\phi_{\sigma_{0}+}^{(\sigma)*}U_{x,2} &amp; -\mathrm{i}\tau^{2}\phi_{\sigma_{0}-}^{(\sigma)*}U_{x,2} &amp;                                                     0 &amp;                         \sigma\sigma_{0}\sigma_{1}U_{z} &amp;                                         U_{y,3} \\&#10;  2\delta_{\sigma_{0}\sigma_{1}}^{\sigma}U_{y} &amp; \tau^{2}\phi_{\sigma_{0}+}^{(\sigma)}U_{y} &amp; \tau^{2}\mathrm{i}\phi_{\sigma_{0}-}^{(\sigma)}U_{y} &amp;       \tau\phi_{\sigma_{0}+}^{(\sigma)*}U_{y} &amp;       -\mathrm{i}\tau\phi_{\sigma_{0}-}^{(\sigma)*}U_{y} &amp;                                                 U_{z} &amp;                                                       0 &amp;               \sigma\sigma_{0}\sigma_{1}U_{x,3} \\&#10;2\delta_{\sigma_{0}\sigma_{1}}^{\sigma}U_{z,2} &amp;       \phi_{\sigma_{0}+}^{(\sigma)}U_{z,2} &amp;       \mathrm{i}\phi_{\sigma_{0}-}^{(\sigma)}U_{z,2} &amp;         \phi_{\sigma_{0}+}^{(\sigma)*}U_{z,2} &amp;         -\mathrm{i}\phi_{\sigma_{0}-}^{(\sigma)*}U_{z,2} &amp;                     \sigma\sigma_{0}\sigma_{1}U_{y,3} &amp;                                               U_{x,3} &amp;                                                 0 \\&#10;\end{pmatrix}&#10;\end{equation*}&#10;&#10;\end{document}"/>
  <p:tag name="IGUANATEXSIZE" val="16"/>
  <p:tag name="IGUANATEXCURSOR" val="174"/>
  <p:tag name="TRANSPARENCY" val="True"/>
  <p:tag name="FILENAME" val=""/>
  <p:tag name="LATEXENGINEID" val="0"/>
  <p:tag name="TEMPFOLDER" val="c:\temp\"/>
  <p:tag name="LATEXFORMHEIGHT" val="624"/>
  <p:tag name="LATEXFORMWIDTH" val="1401"/>
  <p:tag name="LATEXFORMWRAP" val="Fals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1.4248"/>
  <p:tag name="ORIGINALWIDTH" val="2611.924"/>
  <p:tag name="LATEXADDIN" val="\documentclass{article}&#10;\usepackage{amsmath,bm,eufrak}&#10;\pagestyle{empty}&#10;\begin{document}&#10;&#10;\begin{align*}&#10;\delta_{s}^{\sigma} &amp; = \frac{1 + \sigma s}{2} \\&#10;\phi_{s}^{(\sigma)} &amp; = \tau^{2} + \sigma s\tau = -\left(\frac{1+\sigma s}{2}\right) -\mathrm{i}\sqrt{3}\left(\frac{1-\sigma s}{2}\right) \\&#10;\end{align*}&#10;&#10;\end{document}"/>
  <p:tag name="IGUANATEXSIZE" val="16"/>
  <p:tag name="IGUANATEXCURSOR" val="105"/>
  <p:tag name="TRANSPARENCY" val="True"/>
  <p:tag name="FILENAME" val=""/>
  <p:tag name="LATEXENGINEID" val="0"/>
  <p:tag name="TEMPFOLDER" val="c:\temp\"/>
  <p:tag name="LATEXFORMHEIGHT" val="624"/>
  <p:tag name="LATEXFORMWIDTH" val="1913.2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5144.357"/>
  <p:tag name="LATEXADDIN" val="\documentclass{article}&#10;\usepackage{amsmath,bm,eufrak}&#10;\pagestyle{empty}&#10;\begin{document}&#10;&#10;\begin{equation*}&#10;V_{\parallel}^{\left(E\right)(\mathcal{W})_{01}}&#10;=&#10;\begin{pmatrix}&#10;0                           &amp; W_{2\sigma_{0}+}  &amp; \mathrm{i}W_{2\sigma_{0}-} &amp; W_{1\sigma_{0}+}            &amp; -\mathrm{i}W_{1\sigma_{0}-} &amp; 0 &amp; 0 &amp; 0 \\&#10;W_{1+\sigma_{1}}            &amp; 0                 &amp; 0                          &amp; W_{2++}                     &amp; -\mathrm{i}W_{2+-} &amp; 0 &amp; 0 &amp; 0 \\&#10;-\mathrm{i}W_{1-\sigma_{1}} &amp; 0                 &amp; 0                          &amp; -\mathrm{i}W_{2-+}          &amp; -W_{2--}           &amp; 0 &amp; 0 &amp; 0 \\&#10;W_{2+\sigma_{1}}            &amp; W_{1++}           &amp; \mathrm{i}W_{1+-}          &amp; 0                           &amp; 0                  &amp; 0 &amp; 0 &amp; 0 \\&#10;\mathrm{i}W_{2-\sigma_{1}}  &amp; \mathrm{i}W_{1-+} &amp; -W_{1--}                   &amp; 0                           &amp; 0                  &amp; 0 &amp; 0 &amp; 0 \\&#10;&#10;0 &amp; 0 &amp; 0 &amp; 0 &amp; 0 &amp; W_{x\sigma_{0}\sigma_{1}} &amp;                         0 &amp; 0                         \\&#10;0 &amp; 0 &amp; 0 &amp; 0 &amp; 0 &amp;                         0 &amp; W_{y\sigma_{0}\sigma_{1}} &amp; 0                         \\&#10;0 &amp; 0 &amp; 0 &amp; 0 &amp; 0 &amp;                         0 &amp;                         0 &amp; W_{z\sigma_{0}\sigma_{1}} \\&#10;\end{pmatrix}&#10;\end{equation*}&#10;&#10;\end{document}"/>
  <p:tag name="IGUANATEXSIZE" val="20"/>
  <p:tag name="IGUANATEXCURSOR" val="156"/>
  <p:tag name="TRANSPARENCY" val="True"/>
  <p:tag name="FILENAME" val=""/>
  <p:tag name="LATEXENGINEID" val="0"/>
  <p:tag name="TEMPFOLDER" val="c:\temp\"/>
  <p:tag name="LATEXFORMHEIGHT" val="642.75"/>
  <p:tag name="LATEXFORMWIDTH" val="1882.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8.6802"/>
  <p:tag name="ORIGINALWIDTH" val="1347.582"/>
  <p:tag name="OUTPUTTYPE" val="PNG"/>
  <p:tag name="IGUANATEXVERSION" val="159"/>
  <p:tag name="LATEXADDIN" val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/>
  <p:tag name="IGUANATEXSIZE" val="16"/>
  <p:tag name="IGUANATEXCURSOR" val="268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0.9336"/>
  <p:tag name="ORIGINALWIDTH" val="1649.044"/>
  <p:tag name="OUTPUTTYPE" val="PNG"/>
  <p:tag name="IGUANATEXVERSION" val="159"/>
  <p:tag name="LATEXADDIN" val="\documentclass{article}&#10;\usepackage{amsmath,bm,eufrak}&#10;\pagestyle{empty}&#10;\begin{document}&#10;&#10;\begin{align*}&#10;W_{x\sigma_{0}\sigma_{1}} &amp; = \tau W_{1\sigma_{0}\sigma_{1}} + \tau^{2}W_{2\sigma_{0}\sigma_{1}} \\&#10;W_{y\sigma_{0}\sigma_{1}} &amp; = \tau^{2}W_{1\sigma_{0}\sigma_{1}} + \tau W_{2\sigma_{0}\sigma_{1}} \\&#10;W_{z\sigma_{0}\sigma_{1}} &amp; = W_{1\sigma_{0}\sigma_{1}} + W_{2\sigma_{0}\sigma_{1}}              \\&#10;\end{align*}&#10;&#10;\end{document}"/>
  <p:tag name="IGUANATEXSIZE" val="16"/>
  <p:tag name="IGUANATEXCURSOR" val="405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4409.449"/>
  <p:tag name="LATEXADDIN" val="\documentclass{article}&#10;\usepackage{amsmath,bm,eufrak}&#10;\pagestyle{empty}&#10;\begin{document}&#10;&#10;\begin{equation*}&#10;V_{\perp}^{\left(E\right)(\mathcal{W})_{01}}&#10;=&#10;\begin{pmatrix}&#10;                          0 &amp;  -W_{2\sigma_{0}+} &amp; -\mathrm{i}W_{2\sigma_{0}-} &amp;   -W_{1\sigma_{0}+} &amp; \mathrm{i}W_{1\sigma_{0}-} &amp; 0 &amp; 0 &amp; 0 \\&#10;          -W_{1+\sigma_{1}} &amp;                  0 &amp;                           0 &amp;            2W_{2++} &amp;        -2\mathrm{i}W_{2+-} &amp; 0 &amp; 0 &amp; 0 \\&#10; \mathrm{i}W_{1-\sigma_{1}} &amp;                  0 &amp;                           0 &amp; -2\mathrm{i}W_{2+-} &amp;                  -2W_{2--} &amp; 0 &amp; 0 &amp; 0 \\&#10;          -W_{2+\sigma_{1}} &amp;           2W_{1++} &amp;          2\mathrm{i}W_{1+-} &amp;                   0 &amp;                          0 &amp; 0 &amp; 0 &amp; 0 \\&#10;-\mathrm{i}W_{2-\sigma_{1}} &amp; 2\mathrm{i}W_{1-+} &amp;                   -2W_{1--}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\end{pmatrix}&#10;\end{equation*}&#10;&#10;\end{document}"/>
  <p:tag name="IGUANATEXSIZE" val="20"/>
  <p:tag name="IGUANATEXCURSOR" val="152"/>
  <p:tag name="TRANSPARENCY" val="True"/>
  <p:tag name="FILENAME" val=""/>
  <p:tag name="LATEXENGINEID" val="0"/>
  <p:tag name="TEMPFOLDER" val="c:\temp\"/>
  <p:tag name="LATEXFORMHEIGHT" val="624"/>
  <p:tag name="LATEXFORMWIDTH" val="1921.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8.6802"/>
  <p:tag name="ORIGINALWIDTH" val="1347.582"/>
  <p:tag name="OUTPUTTYPE" val="PNG"/>
  <p:tag name="IGUANATEXVERSION" val="159"/>
  <p:tag name="LATEXADDIN" val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/>
  <p:tag name="IGUANATEXSIZE" val="16"/>
  <p:tag name="IGUANATEXCURSOR" val="268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7.4428"/>
  <p:tag name="ORIGINALWIDTH" val="2467.941"/>
  <p:tag name="LATEXADDIN" val="\documentclass{article}&#10;\usepackage{amsmath,bm,eufrak}&#10;\pagestyle{empty}&#10;\begin{document}&#10;&#10;\begin{align*}&#10;(\bm{\mathcal{M}})^{(j)}_{\parallel(mlk\mathcal{W})_{01}}&#10;&amp; =&#10;\left(\bm{\mathcal{M}}\right)&#10;^{(j)(\mathcal{W})_{01}(zz)(\pi/2)}&#10;_{\parallel,\left(m\left(\sigma\mathrm{i}^{m}\right)lk\left(\omega\sigma\mathrm{i}^{m}(-1)^{l}\right)\right)_{01}}&#10;\\&#10;(\bm{\mathcal{M}})^{(j)}_{\perp(mlk\mathcal{W})_{01}}&#10;&amp; =&#10;\left(\bm{\mathcal{M}}\right)&#10;^{(j)(\mathcal{W})_{01}(yx)(\pi)}&#10;_{\perp,\left(m\left(\sigma\mathrm{i}^{m}\right)lk\left(\omega\sigma\mathrm{i}^{m}(-1)^{l}\right)\right)_{01}}&#10;\\&#10;\end{align*}&#10;&#10;\end{document}"/>
  <p:tag name="IGUANATEXSIZE" val="18"/>
  <p:tag name="IGUANATEXCURSOR" val="375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1.7248"/>
  <p:tag name="ORIGINALWIDTH" val="2047.994"/>
  <p:tag name="LATEXADDIN" val="\documentclass{article}&#10;\usepackage{amsmath,bm,eufrak}&#10;\pagestyle{empty}&#10;\begin{document}&#10;&#10;\begin{align*}&#10;(\bm{\mathcal{M}})&#10;_{\left(mlk\mathcal{W}\right)_{01}}^{(j)}&#10;&amp; =&#10;(\bm{\mathcal{M}}_{\parallel}+\bm{\mathcal{M}}_{\perp})^{(j)}_{(mlk\mathcal{W})_{01}}&#10;\\&#10;\end{align*}&#10;&#10;\end{document}"/>
  <p:tag name="IGUANATEXSIZE" val="18"/>
  <p:tag name="IGUANATEXCURSOR" val="127"/>
  <p:tag name="TRANSPARENCY" val="True"/>
  <p:tag name="FILENAME" val=""/>
  <p:tag name="LATEXENGINEID" val="0"/>
  <p:tag name="TEMPFOLDER" val="c:\temp\"/>
  <p:tag name="LATEXFORMHEIGHT" val="571.5"/>
  <p:tag name="LATEXFORMWIDTH" val="1002.7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81.1773"/>
  <p:tag name="ORIGINALWIDTH" val="3902.512"/>
  <p:tag name="LATEXADDIN" val="\documentclass{article}&#10;\usepackage{amsmath,bm,eufrak}&#10;\pagestyle{empty}&#10;\begin{document}&#10;&#10;\begin{align*}&#10;(\bm{\mathcal{M}})_{\parallel(mlk\mathcal{W})_{0}(mhlkT_{q}^{\sigma})_{1}}^{(j)}&#10;&amp; =&#10;-\mathrm{i}\sqrt{2}h_{1}\sigma_{1}\left(-1\right)^{\frac{m_{1}-1}{2}}&#10;\bm{\mathcal{M}}^{(j)(y,+x)}_{\parallel,(zxy)(mlk\mathcal{W})_{0}(mhlkT_{q}^{\sigma})_{1}}&#10;\\&#10;(\bm{\mathcal{M}})_{\perp(mlk\mathcal{W})_{0}(mhlkT_{q}^{\sigma})_{1}}^{(j)}&#10;&amp; =&#10;\frac{1}{\sqrt{2}}&#10;\left(&#10;\bm{\mathcal{M}}^{(z,-z)}_{(yzx)}&#10;+&#10;\bm{\mathcal{M}}^{(y,-x)}_{(yzx)}&#10;\right)_{\perp(mlk\mathcal{W})_{0}(mhlkT_{q}^{\sigma})_{1}}^{(j)}&#10;\\&#10;\end{align*}&#10;&#10;\end{document}"/>
  <p:tag name="IGUANATEXSIZE" val="18"/>
  <p:tag name="IGUANATEXCURSOR" val="595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7.4691"/>
  <p:tag name="ORIGINALWIDTH" val="3963.254"/>
  <p:tag name="LATEXADDIN" val="\documentclass{article}&#10;\usepackage{amsmath,bm,eufrak}&#10;\pagestyle{empty}&#10;\begin{document}&#10;&#10;\begin{align*}&#10;\left(\bm{\mathcal{M}}\right)^{(j)(p_{0},s_{1}p_{1})}&#10;_{\aleph,\hat{R}(mlk\mathcal{W})_{0}(mhlkT_{q}^{\sigma})_{1}}&#10;&amp; =&#10;\left(\bm{\mathcal{M}}\right)&#10;^{(j)(\mathcal{W}_{0}T_{q_{1}}^{\sigma_{1}})(p_{0}p_{1})(\pi)}&#10;_{&#10;\aleph,\hat{R}&#10;\left(m\left(\sigma\mathrm{i}^{m}\right)lk\left(\omega\sigma\mathrm{i}^{m}(-1)^{l}\right)\right)_{0}&#10;\left(m\left(-sh\right)lk\left(h(-1)^{l}\right)\right)_{1}&#10;}&#10;\end{align*}&#10;&#10;\end{document}"/>
  <p:tag name="IGUANATEXSIZE" val="16"/>
  <p:tag name="IGUANATEXCURSOR" val="498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0.9299"/>
  <p:tag name="ORIGINALWIDTH" val="4625.422"/>
  <p:tag name="OUTPUTTYPE" val="PNG"/>
  <p:tag name="IGUANATEXVERSION" val="159"/>
  <p:tag name="LATEXADDIN" val="\documentclass{article}&#10;\usepackage{amsmath,bm,eufrak}&#10;\pagestyle{empty}&#10;\begin{document}&#10;&#10;\begin{align*}&#10;(\bm{\mathcal{M}})_{\parallel(mhlkT_{q}^{\sigma})_{0}(mlk\mathcal{W})_{1}}^{(j)}&#10;&amp; =&#10;\sqrt{2}&#10;\bm{\mathcal{M}}_{\parallel,(yzx)(mhlkT_{q}^{\sigma})_{0}(mlk\mathcal{W})_{1}}^{(j)(-y,x)} &#10;\\&#10;(\bm{\mathcal{M}})_{\perp(mhlkT_{q}^{\sigma})_{0}(mlk\mathcal{W})_{1}}^{(j)}&#10;&amp; =&#10;\frac{\mathrm{i}}{\sqrt{2}}&#10;h_{0}\sigma_{0}\left(-1\right)^{\frac{m_{0}-1}{2}}&#10;\left(&#10;\bm{\mathcal{M}}^{(-z,z)}_{(zxy)}&#10;+&#10;\bm{\mathcal{M}}^{(+y,x)}_{(zxy)}&#10;\right)_{\perp(mhlkT_{q}^{\sigma})_{0}(mlk\mathcal{W})_{1}}^{(j)}&#10;\\&#10;\end{align*}&#10;&#10;\end{document}"/>
  <p:tag name="IGUANATEXSIZE" val="18"/>
  <p:tag name="IGUANATEXCURSOR" val="530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.2175"/>
  <p:tag name="ORIGINALWIDTH" val="4001.5"/>
  <p:tag name="LATEXADDIN" val="\documentclass{article}&#10;\usepackage{amsmath,bm,eufrak}&#10;\pagestyle{empty}&#10;\begin{document}&#10;&#10;\begin{align*}&#10;(\bm{\mathcal{M}})_{\aleph,\hat{R}(mhlkT_{q}^{\sigma})_{0}(mlk\mathcal{W})_{1}}^{(j)(s_{0}p_{0},p_{1})} &#10;&amp; =&#10;\left(\bm{\mathcal{M}}\right)&#10;^{(j)(T_{q_{0}}^{\sigma_{0}}\mathcal{W}_{1})(p_{0}p_{1})(\pi)}&#10;_{&#10;\aleph,\hat{R}&#10;\left(m\left(-sh\right)lk\left(h\left(-1\right)^{l}\right)\right)_{0}&#10;\left(m\left(\sigma\mathrm{i}^{m}\right)lk\left(\omega\sigma\mathrm{i}^{m}(-1)^{l}\right)\right)_{1}}&#10;\end{align*}&#10;&#10;\end{document}"/>
  <p:tag name="IGUANATEXSIZE" val="16"/>
  <p:tag name="IGUANATEXCURSOR" val="132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2569.929"/>
  <p:tag name="LATEXADDIN" val="\documentclass{article}&#10;\usepackage{amsmath,bm,eufrak}&#10;\pagestyle{empty}&#10;\begin{document}&#10;&#10;\begin{align*}&#10;\left(\bm{\mathcal{M}}\right)&#10;^{(j)(s_{0}p_{0},s_{1}p_{1})}&#10;_{\aleph,\hat{R}(mlkhT_{q}^{\sigma})_{01}}&#10;&amp; =&#10;\left(\bm{\mathcal{M}}\right)&#10;^{(j)\left(T_{q}^{\sigma}\right)_{01}(p_{0}p_{1})(\pi)}&#10;_{\aleph,\hat{R}\left(m\left(-sh\right)lk\left(h\left(-1\right)^{l}\right)\right)_{01}}&#10;\\&#10;\end{align*}&#10;&#10;\end{document}"/>
  <p:tag name="IGUANATEXSIZE" val="16"/>
  <p:tag name="IGUANATEXCURSOR" val="389"/>
  <p:tag name="TRANSPARENCY" val="Fals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1.4099"/>
  <p:tag name="ORIGINALWIDTH" val="7772.028"/>
  <p:tag name="OUTPUTTYPE" val="PNG"/>
  <p:tag name="IGUANATEXVERSION" val="159"/>
  <p:tag name="LATEXADDIN" val="\documentclass{article}&#10;\usepackage{amsmath,bm,eufrak}&#10;\pagestyle{empty}&#10;\begin{document}&#10;&#10;\begin{align*}&#10;(\bm{\mathcal{M}})_{\parallel\left(mhlkT_{q}^{(\sigma)}\right)_{01}}^{(j)}&#10;&amp; =&#10;\left(&#10;\bm{\mathcal{M}}^{(-z,-z)}_{(zxy)}&#10;+&#10;\mathrm{i}h_{0}\sigma_{0}\left(-1\right)^{\frac{m_{0}-1}{2}}\bm{\mathcal{M}}^{(+y,-x)}_{(xyz)}&#10;\right)&#10;_{\parallel\left(mhlkT_{q}^{(\sigma)}\right)_{01}}&#10;^{(j)}&#10;\\&#10;(\bm{\mathcal{M}})_{\perp\left(mhlkT_{q}^{(\sigma)}\right)_{01}}^{(j)}&#10;&amp; =&#10;\frac{1}{2}\left(&#10;\bm{\mathcal{M}}^{(-y,-x)}_{(zxy)}&#10;-&#10;h_{0}h_{1}\sigma_{0}\sigma_{1}&#10;\left(-1\right)^{\frac{m_{0}+m_{1}}{2}}&#10;\bm{\mathcal{M}}^{(+y,+x)}_{(yzx)}&#10;+&#10;\mathrm{i}\left(&#10;h_{0}\sigma_{0}\left(-1\right)^{\frac{m_{0}-1}{2}}\bm{\mathcal{M}}^{(+z,-z)}_{(xyz)}&#10;-&#10;h_{1}\sigma_{1}\left(-1\right)^{\frac{m_{1}-1}{2}}\bm{\mathcal{M}}^{(-y,+x)}_{(xyz)}&#10;\right)&#10;\right)&#10;_{\perp\left(mhlkT_{q}^{(\sigma)}\right)_{01}}&#10;^{(j)}&#10;\\&#10;\end{align*}&#10;&#10;\end{document}"/>
  <p:tag name="IGUANATEXSIZE" val="14"/>
  <p:tag name="IGUANATEXCURSOR" val="731"/>
  <p:tag name="TRANSPARENCY" val="True"/>
  <p:tag name="FILENAME" val=""/>
  <p:tag name="LATEXENGINEID" val="0"/>
  <p:tag name="TEMPFOLDER" val="C:\iguanatex\"/>
  <p:tag name="LATEXFORMHEIGHT" val="571.5"/>
  <p:tag name="LATEXFORMWIDTH" val="1085.2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5.111"/>
  <p:tag name="ORIGINALWIDTH" val="5916.76"/>
  <p:tag name="LATEXADDIN" val="\documentclass{article}&#10;\usepackage{amsmath,bm,eufrak}&#10;\pagestyle{empty}&#10;\begin{document}&#10;&#10;\begin{align*}&#10;\left(\bm{\mathcal{M}}\right)&#10;^{(j)(\mathcal{W})_{01}(p_{0}p_{1})(\tau)}&#10;_{\aleph,\hat{R}\left(m\zeta lk\Omega\right)_{01}}&#10;&amp; =&#10;2&#10;\int_{0}^{1} \mathrm{d}\chi&#10;\int_{-\tau/2}^{+\tau/2} \frac{\mathrm{d}\phi}{\tau}&#10;\int_{0}^{\infty} r^2\mathrm{d}r\,&#10;V_{\aleph,\hat{R}}^{(j)(\mathcal{W})_{01}}\,&#10;2\pi&#10;\left(\Phi_{(m\zeta lk)_{0}}^{\left(W\kappa_{0}p_{0}\right)}\right)^{*}&#10;\Phi_{(m\zeta lk)_{1}}^{\left(W\kappa_{1}p_{1}\right)}&#10;\Theta_{\Omega_{0}}^{(p_{0})*}&#10;\Theta_{\Omega_{1}}^{(p_{1})}&#10;\\&#10;&amp; =&#10;\sum_{\mu\kappa}&#10;\mathfrak{u}_{\aleph,\mu\kappa}^{(j)(\mathcal{W})_{01}}&#10;\left(\bm{\mathcal{M}}\right)&#10;^{(j)(p_{0}p_{1})(\tau)}&#10;_{\mu\kappa,\hat{R}\left(m\zeta lk\Omega\right)_{01}}&#10;\\&#10;\left(\bm{\mathcal{M}}\right)&#10;^{(j)(p_{0}p_{1})(\tau)}&#10;_{\mu\kappa,\hat{R}\left(m\zeta lk\Omega\right)_{01}}&#10;&amp; =&#10;2&#10;\int_{0}^{1} \mathrm{d}\chi&#10;\int_{-\tau/2}^{+\tau/2} \frac{\mathrm{d}\phi}{\tau}&#10;\int_{0}^{\infty} r^2\mathrm{d}r\,&#10;\left[&#10;\left(\frac{r}{a_{\perp}}\right)^{d}&#10;\Theta_{\Omega_{0}}^{(p_{0})*}&#10;\Theta_{\Omega_{1}}^{(p_{1})}&#10;\hat{R}\tilde{U}^{(j)}_{\mu\kappa}&#10;\right]\,&#10;2\pi&#10;\left(\Phi_{\left(\eta\lambda;m\zeta lk\right)_{0}}^{\left(W\kappa_{0}p_{0}\right)}\right)^{*}&#10;      \Phi_{\left(\eta\lambda;m\zeta lk\right)_{1}}^{\left(W\kappa_{1}p_{1}\right)}&#10;\\&#10;\end{align*}&#10;&#10;\end{document}"/>
  <p:tag name="IGUANATEXSIZE" val="18"/>
  <p:tag name="IGUANATEXCURSOR" val="1134"/>
  <p:tag name="TRANSPARENCY" val="Fals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72.9283"/>
  <p:tag name="ORIGINALWIDTH" val="3230.596"/>
  <p:tag name="LATEXADDIN" val="\documentclass{article}&#10;\usepackage{amsmath,amssymb,bm}&#10;\pagestyle{empty}&#10;\begin{document}&#10;&#10;\begin{align*}&#10;\Theta_{\Omega_{0}}^{(z)*}&#10;\Theta_{\Omega_{1}}^{(z)}&#10;&amp; =&#10;\mathcal{Z}\left\{\Theta^{(-z)}\Theta^{(z)},\Omega_{0}\Omega_{1}\right\}&#10;+&#10;\Omega_{0}\mathcal{Z}\left\{\Theta^{(z)}\Theta^{(z)},\Omega_{0}\Omega_{1}\right\}&#10;\\&#10;&amp; =&#10;\left(\frac{1+\Omega_{0}\Omega_{1}}{2}\right)&#10;\left( 1 + \Theta_{\upharpoonleft \! \upharpoonright} \right)&#10;+&#10;\Omega_{0}\Theta_{\upharpoonleft \! \downharpoonright}&#10;\\&#10;\end{align*}&#10;&#10;\end{document}"/>
  <p:tag name="IGUANATEXSIZE" val="16"/>
  <p:tag name="IGUANATEXCURSOR" val="447"/>
  <p:tag name="TRANSPARENCY" val="True"/>
  <p:tag name="FILENAME" val=""/>
  <p:tag name="LATEXENGINEID" val="0"/>
  <p:tag name="TEMPFOLDER" val="c:\temp\"/>
  <p:tag name="LATEXFORMHEIGHT" val="463"/>
  <p:tag name="LATEXFORMWIDTH" val="930.75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5796.025"/>
  <p:tag name="LATEXADDIN" val="\documentclass{article}&#10;\usepackage{amsmath,bm,eufrak}&#10;\pagestyle{empty}&#10;\begin{document}&#10;&#10;\begin{align*}&#10;\left(\bm{\mathcal{M}}\right)&#10;^{(j)(p_{0}p_{1})(\tau)}&#10;_{\mu\kappa,\hat{R}\left(m\zeta lk\Omega\right)_{01}}&#10;&amp; =&#10;2&#10;\int_{0}^{1} \mathrm{d}\chi&#10;\int_{-\tau/2}^{+\tau/2} \frac{\mathrm{d}\phi}{\tau}&#10;\int_{0}^{\infty} r^2\mathrm{d}r\,&#10;\left[&#10;\left(\frac{r}{a_{\perp}}\right)^{d}&#10;\Theta_{\Omega_{0}}^{(p_{0})*}&#10;\Theta_{\Omega_{1}}^{(p_{1})}&#10;\hat{R}\tilde{U}^{(j)}_{\mu\kappa}&#10;\right]\,&#10;2\pi&#10;\left(\Phi_{\left(\eta\lambda;m\zeta lk\right)_{0}}^{\left(W\kappa_{0}p_{0}\right)}\right)^{*}&#10;      \Phi_{\left(\eta\lambda;m\zeta lk\right)_{1}}^{\left(W\kappa_{1}p_{1}\right)}&#10;\\&#10;\end{align*}&#10;&#10;\end{document}"/>
  <p:tag name="IGUANATEXSIZE" val="16"/>
  <p:tag name="IGUANATEXCURSOR" val="458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3198.35"/>
  <p:tag name="LATEXADDIN" val="\documentclass{article}&#10;\usepackage{amsmath,bm}&#10;\pagestyle{empty}&#10;\begin{document}&#10;&#10;\begin{align*}&#10;\Theta_{\Omega_{0}}^{(y)*}&#10;\Theta_{\Omega_{1}}^{(x)}&#10;=&#10;\mathcal{Z}\left\{\Theta^{(-y)}\Theta^{(+x)}+\Omega_{0}\Theta^{(+y)}\Theta^{(+x)},\Omega_{0}\Omega_{1}\right\}&#10;=&#10;\Theta_{\perp}&#10;\\&#10;\end{align*}&#10;&#10;\end{document}"/>
  <p:tag name="IGUANATEXSIZE" val="16"/>
  <p:tag name="IGUANATEXCURSOR" val="255"/>
  <p:tag name="TRANSPARENCY" val="True"/>
  <p:tag name="FILENAME" val=""/>
  <p:tag name="LATEXENGINEID" val="0"/>
  <p:tag name="TEMPFOLDER" val="c:\temp\"/>
  <p:tag name="LATEXFORMHEIGHT" val="463"/>
  <p:tag name="LATEXFORMWIDTH" val="930.7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7715.036"/>
  <p:tag name="LATEXADDIN" val="\documentclass{article}&#10;\usepackage{amsmath,amssymb,bm}&#10;\pagestyle{empty}&#10;\begin{document}&#10;&#10;\begin{align*}&#10;\left(\bm{\mathcal{M}}\right)&#10;^{(j)(zz)(\tau)}&#10;_{\mu\kappa,\hat{R}\left(m\zeta lk\Omega\right)_{01}}&#10;=&#10;\left(\frac{1+\Omega_{0}\Omega_{1}}{2}\right)&#10;\left(&#10;\left(\bm{\mathcal{M}}\right)&#10;^{(j)(\bullet)(\tau)}&#10;_{\mu\kappa,\hat{R}\left(m\zeta lk\right)_{01}\Omega}&#10;+&#10;\left(\bm{\mathcal{M}}\right)&#10;^{(j)(\upharpoonleft \! \upharpoonright)(\tau)}&#10;_{\mu\kappa,\hat{R}\left(m\zeta lk\right)_{01}\Omega}&#10;\right)&#10;+&#10;\Omega_{0}&#10;\left(\bm{\mathcal{M}}\right)&#10;^{(j)(\upharpoonleft \! \downharpoonright)(\tau)}&#10;_{\mu\kappa,\hat{R}\left(m\zeta lk\Omega\right)_{01}}&#10;\quad\quad&#10;\left(\bm{\mathcal{M}}\right)&#10;^{(j)(yx)(\tau)}&#10;_{\mu\kappa,\hat{R}\left(m\zeta lk\Omega\right)_{01}}&#10;=&#10;\left(\bm{\mathcal{M}}\right)&#10;^{(j)(\perp)(\tau)}&#10;_{\mu\kappa,\hat{R}\left(m\zeta lk\Omega\right)_{01}}&#10;\\&#10;\end{align*}&#10;&#10;\end{document}"/>
  <p:tag name="IGUANATEXSIZE" val="14"/>
  <p:tag name="IGUANATEXCURSOR" val="841"/>
  <p:tag name="TRANSPARENCY" val="Fals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96.4005"/>
  <p:tag name="ORIGINALWIDTH" val="5348.332"/>
  <p:tag name="LATEXADDIN" val="\documentclass{article}&#10;\usepackage{amsmath,amssymb,bm}&#10;\pagestyle{empty}&#10;\begin{document}&#10;&#10;\begin{align*}&#10;\left(\bm{\mathcal{M}}\right)&#10;^{(j)(\aleph)(\tau)}&#10;_{\mu\kappa,\hat{R}\left(m\zeta lk\Omega\right)_{01}}&#10;&amp; =&#10;2&#10;\int_{0}^{1} \mathrm{d}\chi&#10;\int_{-\tau/2}^{+\tau/2} \frac{\mathrm{d}\phi}{\tau}&#10;\int_{0}^{\infty} r^2\mathrm{d}r\,&#10;\left[&#10;\left(\frac{r}{a_{\perp}}\right)^{d}&#10;\hat{R}\tilde{U}^{(j)}_{\mu\kappa}&#10;\Theta_{\aleph}&#10;\right]\,&#10;2\pi&#10;\left(\Phi_{\left(\eta\lambda;m\zeta lk\right)_{0}}^{\left(W\kappa_{0}p_{0}\right)}\right)^{*}&#10;      \Phi_{\left(\eta\lambda;m\zeta lk\right)_{1}}^{\left(W\kappa_{1}p_{1}\right)}&#10;\\&#10;\left(\bm{\mathcal{M}}\right)&#10;^{(j)(\bullet)(\tau)}&#10;_{\mu\kappa,\hat{R}\left(m\zeta lk\Omega\right)_{01}}&#10;&amp; =&#10;2&#10;\int_{0}^{1} \mathrm{d}\chi&#10;\int_{-\tau/2}^{+\tau/2} \frac{\mathrm{d}\phi}{\tau}&#10;\int_{0}^{\infty} r^2\mathrm{d}r\,&#10;\left[&#10;\left(\frac{r}{a_{\perp}}\right)^{d}&#10;\hat{R}\tilde{U}^{(j)}_{\mu\kappa}&#10;\right]\,&#10;2\pi&#10;\left(\Phi_{\left(\eta\lambda;m\zeta lk\right)_{0}}^{\left(W\kappa_{0}p_{0}\right)}\right)^{*}&#10;      \Phi_{\left(\eta\lambda;m\zeta lk\right)_{1}}^{\left(W\kappa_{1}p_{1}\right)}&#10;\\&#10;\end{align*}&#10;&#10;\end{document}"/>
  <p:tag name="IGUANATEXSIZE" val="16"/>
  <p:tag name="IGUANATEXCURSOR" val="394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3.922"/>
  <p:tag name="ORIGINALWIDTH" val="5832.021"/>
  <p:tag name="LATEXADDIN" val="\documentclass{article}&#10;\usepackage{amsmath,bm,eufrak}&#10;\pagestyle{empty}&#10;\begin{document}&#10;&#10;\begin{align*}&#10;\mathcal{Z}\left\{\Theta^{(-y)}\Theta^{(+x)}+\Omega_{0}\Theta^{(+y)}\Theta^{(+x)},\Omega_{0}\Omega_{1}\right\}&#10;&amp; =&#10;\Theta_{\perp}&#10;\equiv&#10;\sum_{g}D_{g}^{(\perp)}&#10;\mathcal{Z}\left\{&#10;\sum_{p}&#10;\mathrm{e}^{\mathrm{i}p\phi_{g}^{(\perp)}}&#10;\sum_{n=0,1}\Xi_{n}&#10;\sum_{h(g,p,n)}&#10;\mathrm{e}^{\mathrm{i}\frac{2\pi}{a_{\text{Si}}}\bm{h}_{gpnh}^{(\perp)}\cdot\bm{r}}&#10;,\Omega_{0}\Omega_{1}\right\}&#10;\\&#10;\Xi_{n}&#10;&amp; =&#10;\delta_{n0}+\Omega_{0}\delta_{n1}&#10;\end{align*}&#10;&#10;&#10;&#10;\end{document}"/>
  <p:tag name="IGUANATEXSIZE" val="20"/>
  <p:tag name="IGUANATEXCURSOR" val="535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623.922"/>
  <p:tag name="LATEXADDIN" val="\documentclass{article}&#10;\usepackage{amsmath,amssymb,bm}&#10;\pagestyle{empty}&#10;\begin{document}&#10;&#10;\begin{align*}&#10;\mathcal{Z}\left\{\Theta^{(-z)}\Theta^{(+z)},\Omega_{0}\Omega_{1}\right\}&#10;=&#10;\left(\frac{1+\Omega_{0}\Omega_{1}}{2}\right)&#10;\left( 1 + \Theta_{\upharpoonleft \! \upharpoonright} \right)&#10;\end{align*}&#10;&#10;\end{document}"/>
  <p:tag name="IGUANATEXSIZE" val="20"/>
  <p:tag name="IGUANATEXCURSOR" val="28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9.1938"/>
  <p:tag name="ORIGINALWIDTH" val="4273.716"/>
  <p:tag name="LATEXADDIN" val="\documentclass{article}&#10;\usepackage{amsmath,amssymb,bm}&#10;\pagestyle{empty}&#10;\begin{document}&#10;&#10;\begin{align*}&#10;\mathcal{Z}\left\{\Theta^{(+z)}\Theta^{(+z)},\Omega_{0}\Omega_{1}\right\}&#10;=&#10;\Theta_{\upharpoonleft \! \downharpoonright}&#10;\equiv&#10;\sum_{g} &#10;D_{g}^{(\upharpoonleft \! \downharpoonright)}&#10;\mathcal{Z}\left\{&#10;\sum_{p}&#10;\mathrm{e}^{\mathrm{i}p\phi_{g}^{(\upharpoonleft \! \downharpoonright)}}&#10;\sum_{h(g,p)}&#10;\mathrm{e}^{\mathrm{i}\frac{2\pi}{a_{\text{Si}}}\bm{h}_{gph}^{(\upharpoonleft \! \downharpoonright)}\cdot\bm{r}}&#10;,\Omega_{0}\Omega_{1}\right\}&#10;\\&#10;\end{align*}&#10;&#10;\end{document}"/>
  <p:tag name="IGUANATEXSIZE" val="20"/>
  <p:tag name="IGUANATEXCURSOR" val="28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9.1938"/>
  <p:tag name="ORIGINALWIDTH" val="2209.974"/>
  <p:tag name="LATEXADDIN" val="\documentclass{article}&#10;\usepackage{amsmath,amssymb,bm}&#10;\pagestyle{empty}&#10;\begin{document}&#10;&#10;\begin{align*}&#10;\Theta_{\upharpoonleft \! \upharpoonright}&#10;\equiv&#10;\sum_{g}&#10;D_{g}^{(\upharpoonleft \! \upharpoonright)}&#10;\mathcal{\text{Re}}\left\{&#10;\mathrm{e}^{\mathrm{i}\phi_{g}^{(\upharpoonleft \! \upharpoonright)}}&#10;\sum_{h(g)}\mathrm{e}^{\mathrm{i}\frac{2\pi}{a_{\text{Si}}}\bm{h}_{gh}^{(\upharpoonleft \! \upharpoonright)}\cdot\bm{r}}&#10;\right\}&#10;\end{align*}&#10;&#10;\end{document}"/>
  <p:tag name="IGUANATEXSIZE" val="20"/>
  <p:tag name="IGUANATEXCURSOR" val="14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5526.059"/>
  <p:tag name="LATEXADDIN" val="\documentclass{article}&#10;\usepackage{amsmath,bm,eufrak}&#10;\pagestyle{empty}&#10;\begin{document}&#10;&#10;\begin{align*}&#10;\left(\bm{\mathcal{M}}\right)&#10;^{(j)(\aleph)(\tau)}&#10;_{\mu\kappa,\hat{R}\left(m\zeta lk\Omega\right)_{01}}&#10;&amp; =&#10;2&#10;\int_{0}^{1} \mathrm{d}\chi&#10;\int_{-\tau/2}^{+\tau/2} \frac{\mathrm{d}\phi}{\tau}&#10;\int_{0}^{\infty} r^2\mathrm{d}r\,&#10;\left[&#10;\left(\frac{r}{a_{\perp}}\right)^{d}&#10;\hat{R}\tilde{U}^{(j)}_{\mu\kappa}&#10;\Theta^{(\aleph)}_{\Omega_{0}\Omega_{1}}&#10;\right]\,&#10;2\pi&#10;\left(\Phi_{\left(\eta\lambda;m\zeta lk\right)_{0}}^{\left(W\kappa_{0}p_{0}\right)}\right)^{*}&#10;      \Phi_{\left(\eta\lambda;m\zeta lk\right)_{1}}^{\left(W\kappa_{1}p_{1}\right)}&#10;\\&#10;\end{align*}&#10;&#10;\end{document}"/>
  <p:tag name="IGUANATEXSIZE" val="18"/>
  <p:tag name="IGUANATEXCURSOR" val="339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9.1938"/>
  <p:tag name="ORIGINALWIDTH" val="4603.674"/>
  <p:tag name="LATEXADDIN" val="\documentclass{article}&#10;\usepackage{amsmath,amssymb,bm}&#10;\pagestyle{empty}&#10;\begin{document}&#10;&#10;\begin{equation*}&#10;\Theta_{\Omega}^{\left(\aleph\right)}&#10;\equiv&#10;\sum_{g} &#10;\mathfrak{D}_{g}^{(\aleph)}&#10;\mathcal{Z}\left\{&#10;\sum_{k(g,\aleph)}&#10;\mathrm{e}^{\mathrm{i}\phi_{\Omega;k}^{(g\aleph)}}&#10;\mathrm{e}^{\mathrm{i}\frac{2\pi}{a_{\text{Si}}}\bm{h}_{k}^{(g\aleph)}\cdot\bm{r}}&#10;,\Omega_{0}\Omega_{1}\right\}&#10;\quad\quad&#10;\phi_{\Omega;k}^{(g\aleph)} = p_{k}\phi_{g}^{(\aleph)} + \pi n_{k}\left(\frac{1-\Omega}{2}\right)&#10;\end{equation*}&#10;&#10;\end{document}"/>
  <p:tag name="IGUANATEXSIZE" val="18"/>
  <p:tag name="IGUANATEXCURSOR" val="47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4.4544"/>
  <p:tag name="ORIGINALWIDTH" val="5146.606"/>
  <p:tag name="LATEXADDIN" val="\documentclass{article}&#10;\usepackage{amsmath,bm,eufrak}&#10;\pagestyle{empty}&#10;\begin{document}&#10;&#10;\begin{align*}&#10;\left(\bm{\mathcal{M}}\right)&#10;^{(j)(\aleph)(\tau)}&#10;_{\mu\kappa,\hat{R}\left(mlk\zeta\Omega\right)_{01}}&#10;&amp; =&#10;\sum_{g}&#10;2&#10;\int_{0}^{1} \mathrm{d}\chi&#10;\int_{-\tau/2}^{+\tau/2} \frac{\mathrm{d}\phi}{\tau}&#10;\int_{0}^{\infty} r^2\mathrm{d}r\,&#10;\mathfrak{D}_{g}^{(\aleph)}&#10;\tilde{U}^{(j\aleph)}_{\mu\kappa,\hat{R}\Omega;g}\,&#10;2\pi&#10;\left(\Phi_{\left(\eta\lambda;m\zeta lk\right)_{0}}^{\left(W\kappa_{0}p_{0}\right)}\right)^{*}&#10;      \Phi_{\left(\eta\lambda;m\zeta lk\right)_{1}}^{\left(W\kappa_{1}p_{1}\right)}&#10;\end{align*}&#10;&#10;\end{document}"/>
  <p:tag name="IGUANATEXSIZE" val="18"/>
  <p:tag name="IGUANATEXCURSOR" val="368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5645.294"/>
  <p:tag name="LATEXADDIN" val="\documentclass{article}&#10;\usepackage{amsmath,amssymb,bm}&#10;\pagestyle{empty}&#10;\begin{document}&#10;&#10;\begin{align*}&#10;\tilde{U}^{(j,g\aleph)}_{\mu\kappa,\hat{R}\Omega}&#10;&amp; =&#10;\left(\frac{r}{a_{\perp}}\right)^{d}&#10;\sum_{i}&#10;\sum_{\hat{T}\in T_{d}}&#10;\left(&#10;\tilde{\mathfrak{U}}_{i}&#10;\tilde{\mathfrak{U}}_{\hat{R}\mu\kappa;\hat{T}}^{\left(j\right)}&#10;\right)&#10;\mathcal{U}_{i\hat{T}}&#10;\left(&#10;\sum_{k(g,\aleph)}&#10;\mathcal{Z}\left\{&#10;\mathrm{e}^{\mathrm{i}\phi_{\Omega;k}^{(g\aleph)}}&#10;\mathrm{e}^{-\left(\alpha_{i\hat{T}}-\mathrm{i}2\pi\frac{a_{\perp}}{a_{\text{Si}}}\bm{h}_{k}^{(g\aleph)}\cdot\hat{r}\right)\left(\frac{r}{a_\perp}\right)}&#10;,\Omega\right\}&#10;\right)&#10;\mathrm{e}^{-\beta_{i\hat{T}}\left(\frac{r}{a_\perp}\right)^{2}}&#10;\end{align*}&#10;&#10;\end{document}"/>
  <p:tag name="IGUANATEXSIZE" val="18"/>
  <p:tag name="IGUANATEXCURSOR" val="292"/>
  <p:tag name="TRANSPARENCY" val="False"/>
  <p:tag name="FILENAME" val=""/>
  <p:tag name="LATEXENGINEID" val="0"/>
  <p:tag name="TEMPFOLDER" val="c:\temp\"/>
  <p:tag name="LATEXFORMHEIGHT" val="463"/>
  <p:tag name="LATEXFORMWIDTH" val="1094.25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9.1"/>
  <p:tag name="ORIGINALWIDTH" val="5146.606"/>
  <p:tag name="LATEXADDIN" val="\documentclass{article}&#10;\usepackage{amsmath,bm,eufrak}&#10;\pagestyle{empty}&#10;\begin{document}&#10;&#10;\begin{align*}&#10;\left(\bm{\mathcal{M}}\right)&#10;^{(j)(\aleph)(\tau)}&#10;_{\mu\kappa,\hat{R}\left(mlk\zeta\Omega\right)_{01}}&#10;&amp; =&#10;\sum_{g}&#10;2&#10;\int_{0}^{1} \mathrm{d}\chi&#10;\int_{-\tau/2}^{+\tau/2} \frac{\mathrm{d}\phi}{\tau}&#10;\int_{0}^{\infty} r^2\mathrm{d}r\,&#10;\mathfrak{D}_{g}^{(\aleph)}&#10;\tilde{U}^{(j\aleph)}_{\mu\kappa,\hat{R}\Omega;g}\,&#10;2\pi&#10;\left(\Phi_{\left(\eta\lambda;m\zeta lk\right)_{0}}^{\left(W\kappa_{0}p_{0}\right)}\right)^{*}&#10;      \Phi_{\left(\eta\lambda;m\zeta lk\right)_{1}}^{\left(W\kappa_{1}p_{1}\right)}&#10;\\&#10;&amp; =&#10;\mathfrak{C}_{0}&#10;\left(\frac{\hbar^{2}}{2m_{0}a_{0}^{2}}\right)^{\kappa_{1}+\kappa_{2}}&#10;\sum_{g}&#10;\int_{\mathcal{S}} \mathrm{d}\Omega\,&#10;\mathfrak{D}_{g}^{(\aleph)}&#10;\hat{\mathcal{V}}&#10;\hat{\Sigma}_{\hat{R}}^{\left(g\aleph\right)}&#10;\hat{\mathcal{Q}}&#10;\\&#10;\hat{\Sigma}_{\hat{R}}^{\left(g\aleph\right)}&#10;&amp; =&#10;\sum_{i}&#10;\sum_{\hat{T}\in\subseteq T_{d}}&#10;\left(&#10;\tilde{\mathfrak{U}}_{i}&#10;\tilde{\mathfrak{U}}_{\hat{R}\mu\kappa;\hat{T}}^{\left(j\right)}&#10;\right)&#10;\mathcal{U}_{i\hat{T}}&#10;\hat{\Sigma}_{\Omega_{1}\Omega_{2};i\hat{T}}^{\left(g\aleph\right)}&#10;\end{align*}&#10;&#10;\end{document}"/>
  <p:tag name="IGUANATEXSIZE" val="18"/>
  <p:tag name="IGUANATEXCURSOR" val="1013"/>
  <p:tag name="TRANSPARENCY" val="True"/>
  <p:tag name="FILENAME" val=""/>
  <p:tag name="LATEXENGINEID" val="0"/>
  <p:tag name="TEMPFOLDER" val="c:\temp\"/>
  <p:tag name="LATEXFORMHEIGHT" val="571.5"/>
  <p:tag name="LATEXFORMWIDTH" val="1245.75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2.9396"/>
  <p:tag name="ORIGINALWIDTH" val="5446.569"/>
  <p:tag name="OUTPUTTYPE" val="PNG"/>
  <p:tag name="IGUANATEXVERSION" val="159"/>
  <p:tag name="LATEXADDIN" val="\documentclass{article}&#10;\usepackage{amsmath,bm,eufrak}&#10;\pagestyle{empty}&#10;\begin{document}&#10;&#10;\begin{equation*}&#10;\hat{z}_{i\hat{T},k}^{\left(g\aleph\right)}&#10;=&#10;\frac&#10;{1}&#10;{&#10;1&#10;+&#10;\delta_{W,1}\left(\alpha_{i\hat{T}}-\mathrm{i}2\pi\frac{a_{\perp}}{a_{\text{Si}}}\bm{h}_{k}^{(g\aleph)}\cdot\hat{r}\right)\frac{\hat{\eta}}{2}&#10;+&#10;\delta_{W,2}\beta_{i\hat{T}}\hat{\eta}^{2}&#10;}&#10;\quad\quad&#10;\hat{\mathcal{Z}}_{i\hat{T},k}^{\left(g\aleph\right)}&#10;=&#10;\frac&#10;{\delta_{W,1}+\left(\alpha_{i\hat{T}}-\mathrm{i}2\pi\frac{a_{\perp}}{a_{\text{Si}}}\bm{h}_{k}^{(g\aleph)}\cdot\hat{r}\right)\frac{\hat{\eta}}{2}}&#10;{\sqrt{\delta_{W,2}+\beta_{i\hat{T}}\hat{\eta}^{2}}}&#10;\end{equation*}&#10;&#10;\end{document}"/>
  <p:tag name="IGUANATEXSIZE" val="18"/>
  <p:tag name="IGUANATEXCURSOR" val="40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3.7008"/>
  <p:tag name="ORIGINALWIDTH" val="4483.689"/>
  <p:tag name="OUTPUTTYPE" val="PNG"/>
  <p:tag name="IGUANATEXVERSION" val="159"/>
  <p:tag name="LATEXADDIN" val="\documentclass{article}&#10;\usepackage{amsmath,bm,eufrak}&#10;\pagestyle{empty}&#10;\begin{document}&#10;&#10;\begin{align*}&#10;\hat{\Sigma}_{\Omega;i\hat{T}}^{\left(g\aleph\right)}&#10;&amp; = &#10;\sum_{s_{1}=-\kappa_{1}}^{+\kappa_{1}}&#10;\sum_{s_{2}=-\kappa_{2}}^{+\kappa_{2}}&#10;\sum_{\left(u\right)_{12}w}&#10;\mathfrak{G}_{\left(su\right)_{12}w}&#10;\hat{\mathcal{P}}_{\left(s\right)_{12}}&#10;\sum_{k(g,\aleph)}&#10;\mathcal{Z}\left\{&#10;\mathrm{e}^{\mathrm{i}\phi_{\Omega;k}^{(g\aleph)}}&#10;\hat{\mathcal{F}}_{i\hat{T},k\left(su\right)_{12}}^{\left(g\aleph\right)}&#10;\hat{\mathcal{G}}_{i\hat{T},k\left(s\right)_{12}w}^{\left(g\aleph\right)}&#10;,\Omega\right\}&#10;\end{align*}&#10;&#10;\end{document}"/>
  <p:tag name="IGUANATEXSIZE" val="18"/>
  <p:tag name="IGUANATEXCURSOR" val="282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0.4612"/>
  <p:tag name="ORIGINALWIDTH" val="1883.764"/>
  <p:tag name="OUTPUTTYPE" val="PNG"/>
  <p:tag name="IGUANATEXVERSION" val="159"/>
  <p:tag name="LATEXADDIN" val="\documentclass{article}&#10;\usepackage{amsmath,bm,eufrak}&#10;\pagestyle{empty}&#10;\begin{document}&#10;&#10;\begin{equation*}&#10;\delta&#10;\equiv&#10;\frac{\eta_{2}^{W}-\eta_{1}^{W}}{\eta_{2}^{W}+\eta_{1}^{W}}&#10;\quad\quad&#10;\eta^{W}&#10;\equiv&#10;\frac&#10;{2\eta_{1}^{W}\eta_{2}^{W}}&#10;{\eta_{2}^{W}+\eta_{1}^{W}}&#10;\end{equation*}&#10;&#10;\end{document}"/>
  <p:tag name="IGUANATEXSIZE" val="16"/>
  <p:tag name="IGUANATEXCURSOR" val="19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2.9583"/>
  <p:tag name="ORIGINALWIDTH" val="3091.863"/>
  <p:tag name="OUTPUTTYPE" val="PNG"/>
  <p:tag name="IGUANATEXVERSION" val="159"/>
  <p:tag name="LATEXADDIN" val="\documentclass{article}&#10;\usepackage{amsmath,bm,eufrak}&#10;\pagestyle{empty}&#10;\begin{document}&#10;&#10;\begin{equation*}&#10;\mathfrak{C}_{0}&#10;\equiv&#10;\eta^{d-2\kappa_{1}-2\kappa_{2}}&#10;\left(\sqrt{\frac{\eta}{\eta_{1}}}\right)^{\mathfrak{L}_{1}}&#10;\left(\frac{\eta}{\eta_{1}}\right)^{2\kappa_{1}}&#10;\left(\sqrt{\frac{\eta}{\eta_{2}}}\right)^{\mathfrak{L}_{2}}&#10;\left(\frac{\eta}{\eta_{2}}\right)^{2\kappa_{2}}&#10;\\&#10;\end{equation*}&#10;&#10;\end{document}"/>
  <p:tag name="IGUANATEXSIZE" val="18"/>
  <p:tag name="IGUANATEXCURSOR" val="328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9681"/>
  <p:tag name="ORIGINALWIDTH" val="4257.968"/>
  <p:tag name="OUTPUTTYPE" val="PNG"/>
  <p:tag name="IGUANATEXVERSION" val="159"/>
  <p:tag name="LATEXADDIN" val="\documentclass{article}&#10;\usepackage{amsmath,bm,eufrak}&#10;\pagestyle{empty}&#10;\begin{document}&#10;&#10;\begin{equation*}&#10;\mathfrak{L}_{i}&#10;\equiv&#10;2l_{i}+3-2\kappa_{i}\delta_{W,1}&#10;\quad\quad&#10;\mathfrak{L}_{12}&#10;\equiv&#10;\frac{\mathfrak{L}_{1}+\mathfrak{L}_{2}}{2} + d&#10;=&#10;l_{1}+l_{2}+3+d-\delta_{W,1}\left(\kappa_{1}+\kappa_{2}\right)&#10;\\&#10;\end{equation*}&#10;&#10;\end{document}"/>
  <p:tag name="IGUANATEXSIZE" val="16"/>
  <p:tag name="IGUANATEXCURSOR" val="2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4104.987"/>
  <p:tag name="OUTPUTTYPE" val="PNG"/>
  <p:tag name="IGUANATEXVERSION" val="159"/>
  <p:tag name="LATEXADDIN" val="\documentclass{article}&#10;\usepackage{amsmath,bm,eufrak}&#10;\pagestyle{empty}&#10;\begin{document}&#10;&#10;\begin{equation*}&#10;\hat{\vartheta}_{i}&#10;\equiv&#10;\sqrt{1 + \left(\lambda_{i}^2-1\right)\chi_{p_{i}}^2}&#10;\quad\quad&#10;\hat{\vartheta}^{W}&#10;\equiv&#10;\frac{\hat{\vartheta}_{1}^{W}+\hat{\vartheta}_{2}^{W}}{2}&#10;\quad\quad&#10;\hat{\chi}_{i}&#10;\equiv&#10;\frac{\lambda_{i}\hat{\chi}_{p_{i}}}{\hat{\vartheta}_{i}}&#10;\quad\quad&#10;\hat{\mathcal{N}}_{i}&#10;\equiv&#10;\sqrt{\frac{\lambda_{i}}{\hat{\vartheta}_{i}^{3}}}&#10;\end{equation*}&#10;&#10;\end{document}"/>
  <p:tag name="IGUANATEXSIZE" val="16"/>
  <p:tag name="IGUANATEXCURSOR" val="34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67.1916"/>
  <p:tag name="ORIGINALWIDTH" val="2131.983"/>
  <p:tag name="OUTPUTTYPE" val="PNG"/>
  <p:tag name="IGUANATEXVERSION" val="159"/>
  <p:tag name="LATEXADDIN" val="\documentclass{article}&#10;\usepackage{amsmath,bm,eufrak}&#10;\pagestyle{empty}&#10;\begin{document}&#10;&#10;\begin{equation*}&#10;\hat{\mathcal{V}}&#10;=&#10;\frac&#10;{\left(\sqrt{\vartheta_{1}}\right)^{\mathfrak{L}_{1}}\left(\sqrt{\vartheta_{2}}\right)^{\mathfrak{L}_{2}}}&#10;{\left(\hat{\vartheta}\hat{\Xi}\right)^{\mathfrak{L}_{12}}}&#10;\quad\quad&#10;\hat{\mathcal{U}}_{i}&#10;=&#10;\mathcal{U}_{i\left\{\chi,\phi\right\}}&#10;\end{equation*}&#10;&#10;\end{document}"/>
  <p:tag name="IGUANATEXSIZE" val="18"/>
  <p:tag name="IGUANATEXCURSOR" val="291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0.4612"/>
  <p:tag name="ORIGINALWIDTH" val="3229.846"/>
  <p:tag name="OUTPUTTYPE" val="PNG"/>
  <p:tag name="IGUANATEXVERSION" val="159"/>
  <p:tag name="LATEXADDIN" val="\documentclass{article}&#10;\usepackage{amsmath,bm,eufrak}&#10;\pagestyle{empty}&#10;\begin{document}&#10;&#10;\begin{equation*}&#10;\hat{\epsilon}&#10;\equiv&#10;\frac&#10;{\vartheta_{1}^{W}-\vartheta_{2}^{W}}&#10;{\vartheta_{1}^{W}+\vartheta_{2}^{W}}&#10;\quad\quad&#10;\hat{\Xi}^{W}&#10;\equiv&#10;1+\delta\hat{\epsilon}&#10;\quad\quad&#10;\hat{\eta}&#10;\equiv&#10;\frac{\eta}{\hat{\vartheta}\hat{\Xi}}&#10;\quad\quad&#10;\hat{\Delta} = \frac{\hat{\epsilon}+\delta}{1+\hat{\epsilon}\delta}&#10;\end{equation*}&#10;&#10;\end{document}"/>
  <p:tag name="IGUANATEXSIZE" val="16"/>
  <p:tag name="IGUANATEXCURSOR" val="41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2.9396"/>
  <p:tag name="ORIGINALWIDTH" val="5446.569"/>
  <p:tag name="OUTPUTTYPE" val="PNG"/>
  <p:tag name="IGUANATEXVERSION" val="159"/>
  <p:tag name="LATEXADDIN" val="\documentclass{article}&#10;\usepackage{amsmath,bm,eufrak}&#10;\pagestyle{empty}&#10;\begin{document}&#10;&#10;\begin{equation*}&#10;\hat{z}_{i\hat{T},k}^{\left(g\aleph\right)}&#10;=&#10;\frac&#10;{1}&#10;{&#10;1&#10;+&#10;\delta_{W,1}\left(\alpha_{i\hat{T}}-\mathrm{i}2\pi\frac{a_{\perp}}{a_{\text{Si}}}\bm{h}_{k}^{(g\aleph)}\cdot\hat{r}\right)\frac{\hat{\eta}}{2}&#10;+&#10;\delta_{W,2}\beta_{i\hat{T}}\hat{\eta}^{2}&#10;}&#10;\quad\quad&#10;\hat{\mathcal{Z}}_{i\hat{T},k}^{\left(g\aleph\right)}&#10;=&#10;\frac&#10;{\delta_{W,1}+\left(\alpha_{i\hat{T}}-\mathrm{i}2\pi\frac{a_{\perp}}{a_{\text{Si}}}\bm{h}_{k}^{(g\aleph)}\cdot\hat{r}\right)\frac{\hat{\eta}}{2}}&#10;{\sqrt{\delta_{W,2}+\beta_{i\hat{T}}\hat{\eta}^{2}}}&#10;\end{equation*}&#10;&#10;\end{document}"/>
  <p:tag name="IGUANATEXSIZE" val="16"/>
  <p:tag name="IGUANATEXCURSOR" val="40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2.4297"/>
  <p:tag name="ORIGINALWIDTH" val="1142.107"/>
  <p:tag name="OUTPUTTYPE" val="PNG"/>
  <p:tag name="IGUANATEXVERSION" val="159"/>
  <p:tag name="LATEXADDIN" val="\documentclass{article}&#10;\usepackage{amsmath,amssymb}&#10;\usepackage{bm}&#10;\pagestyle{empty}&#10;\begin{document}&#10;&#10;\begin{align*}&#10;\hat{\chi}_{z} &amp;\equiv \chi \\&#10;\hat{\chi}_{x} &amp;\equiv \sqrt{1-\chi^{2}}\cos\left(\phi\right) \\&#10;\hat{\chi}_{y} &amp;\equiv \sqrt{1-\chi^{2}}\sin\left(\phi\right) \\&#10;\end{align*}&#10;&#10;&#10;\end{document}"/>
  <p:tag name="IGUANATEXSIZE" val="16"/>
  <p:tag name="IGUANATEXCURSOR" val="226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1.661"/>
  <p:tag name="ORIGINALWIDTH" val="2881.89"/>
  <p:tag name="OUTPUTTYPE" val="PNG"/>
  <p:tag name="IGUANATEXVERSION" val="159"/>
  <p:tag name="LATEXADDIN" val="\documentclass{article}&#10;\usepackage{amsmath,amssymb}&#10;\usepackage{bm}&#10;\pagestyle{empty}&#10;\begin{document}&#10;&#10;\begin{align*}&#10;\hat{\phi}_{z} &amp;\equiv \text{Arg}\left\{\chi_{x} + \mathrm{i}\chi_{y}\right\} = \phi \\&#10;\hat{\phi}_{x} &amp;\equiv \text{Arg}\left\{\chi_{y} + \mathrm{i}\chi_{z}\right\} = \arctan2\left\{\chi, \sqrt{1-\chi^{2}}\sin\left(\phi\right)\right\} \\&#10;\hat{\phi}_{y} &amp;\equiv \text{Arg}\left\{\chi_{z} + \mathrm{i}\chi_{x}\right\} = \arctan2\left\{\sqrt{1-\chi^{2}}\cos\left(\phi\right), \chi\right\} \\&#10;\end{align*}&#10;&#10;&#10;\end{document}"/>
  <p:tag name="IGUANATEXSIZE" val="16"/>
  <p:tag name="IGUANATEXCURSOR" val="369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3.116"/>
  <p:tag name="ORIGINALWIDTH" val="5583.052"/>
  <p:tag name="OUTPUTTYPE" val="PNG"/>
  <p:tag name="IGUANATEXVERSION" val="159"/>
  <p:tag name="LATEXADDIN" val="\documentclass{article}&#10;\usepackage{amsmath,bm,eufrak}&#10;\pagestyle{empty}&#10;\begin{document}&#10;&#10;\begin{align*}&#10;\left(\bm{\mathcal{M}}\right)&#10;^{(j)(\aleph)(\tau)}&#10;_{\mu\kappa,\hat{R}\left(mlk\zeta\Omega\right)_{01}}&#10;&amp; =&#10;\mathfrak{C}_{0}&#10;\left(\frac{\hbar^{2}}{2m_{0}a_{0}^{2}}\right)^{\kappa_{1}+\kappa_{2}}&#10;\sum_{g}&#10;\int_{\mathcal{S}} \mathrm{d}\Omega\,&#10;\mathfrak{D}_{g}^{(\aleph)}&#10;\hat{\mathcal{V}}&#10;\hat{\Sigma}_{\hat{R}}^{\left(g\aleph\right)}&#10;\hat{\mathcal{Q}}&#10;\\&#10;\hat{\mathcal{Q}}&#10;&amp; =&#10;\frac{1}{2\pi}&#10;\left(\delta_{m_{1}0} + \sqrt{2}\left(1-\delta_{m_{1}0}\right)\right)&#10;\left(\delta_{m_{2}0} + \sqrt{2}\left(1-\delta_{m_{2}0}\right)\right)&#10;\mathcal{Z}\left\{\mathrm{e}^{\mathrm{i}m_{1}\phi_{p_{1}}},\xi_{1}\right\}&#10;\mathcal{Z}\left\{\mathrm{e}^{\mathrm{i}m_{2}\phi_{p_{2}}},\xi_{2}\right\}&#10;\\&#10;\hat{\Sigma}_{\hat{R}}^{\left(g\aleph\right)}&#10;&amp; =&#10;\sum_{i}&#10;\sum_{\hat{T}\in\subseteq T_{d}}&#10;\left(&#10;\tilde{\mathfrak{U}}_{i}&#10;\tilde{\mathfrak{U}}_{\hat{R}\mu\kappa;\hat{T}}^{\left(j\right)}&#10;\right)&#10;\mathcal{U}_{i\hat{T}}&#10;\hat{\Sigma}_{\Omega_{1}\Omega_{2};i\hat{T}}^{\left(g\aleph\right)}&#10;\end{align*}&#10;&#10;\end{document}"/>
  <p:tag name="IGUANATEXSIZE" val="20"/>
  <p:tag name="IGUANATEXCURSOR" val="1079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79.565"/>
  <p:tag name="ORIGINALWIDTH" val="5787.027"/>
  <p:tag name="OUTPUTTYPE" val="PNG"/>
  <p:tag name="IGUANATEXVERSION" val="159"/>
  <p:tag name="LATEXADDIN" val="\documentclass{article}&#10;\usepackage{amsmath,bm,eufrak}&#10;\pagestyle{empty}&#10;\begin{document}&#10;&#10;\begin{align*}&#10;\hat{\mathcal{P}}_{\left(s\right)_{12}}&#10;&amp; =&#10;\frac{\mathfrak{K}^{(\kappa)_{1}}_{\left(mlk;s\right)_{1}}}{\left(\frac{\hat{\eta}\vartheta_{1}}{\eta_{1}}\right)^{W\delta_{s_{1},-1}}}&#10;\frac{\mathfrak{K}^{(\kappa)_{2}}_{\left(mlk;s\right)_{2}}}{\left(\frac{\hat{\eta}\vartheta_{2}}{\eta_{2}}\right)^{W\delta_{s_{2},-1}}}&#10;\hat{\mathcal{P}}_{1}&#10;\hat{\mathcal{P}}_{2}&#10;\\&#10;\mathfrak{K}^{(\kappa)}_{mlk;s}&#10;&amp; =&#10;\delta_{s,0}\left(1-\kappa\frac{k}{k+1}\right)&#10;-\kappa\left(1-\gamma\lambda^{2}\right)\left(&#10;\delta_{s,0}\frac{1}{k+1}\mathfrak{Y}_{lm}^{(0)}&#10;+\delta_{s,+1}\frac{1}{k+1}\mathfrak{Y}_{lm}^{(+1)}&#10;+\delta_{s,-1}\frac{1}{(k+1)(k+2)}\mathfrak{Y}_{lm}^{(-1)}&#10;\right)&#10;\\&#10;\hat{\mathcal{P}}_{j}&#10;&amp; = &#10;\hat{\mathcal{N}}_{j}&#10;\mathcal{P}_{(l+2s_j)m\left\{\hat{\chi}_{j}\right\}}&#10;\\&#10;\mathcal{P}_{lm\left\{\chi\right\}}&#10;&amp; = &#10;\sqrt{\frac{(2l+1)\left(l-m\right)!}{2\left(l+m\right)!}}&#10;P_{lm\left\{\chi\right\}}&#10;\end{align*}&#10;&#10;\end{document}"/>
  <p:tag name="IGUANATEXSIZE" val="18"/>
  <p:tag name="IGUANATEXCURSOR" val="839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86.4267"/>
  <p:tag name="ORIGINALWIDTH" val="3835.771"/>
  <p:tag name="OUTPUTTYPE" val="PNG"/>
  <p:tag name="IGUANATEXVERSION" val="159"/>
  <p:tag name="LATEXADDIN" val="\documentclass{article}&#10;\usepackage{amsmath,bm,eufrak}&#10;\pagestyle{empty}&#10;\begin{document}&#10;&#10;\begin{align*}&#10;\Delta \ne 0, z \ne 1&#10;\quad &amp;: \quad&#10;\mathcal{F}_{\left(u\right)_{12}\left\{L\Delta z \right\}}&#10;= &#10;\left(1-z(1+\Delta)\right)^{u_{1}}\left(1-z(1-\Delta)\right)^{u_{2}}z^{\frac{L}{W}}&#10;\\&#10;\Delta = 0, z \ne 1&#10;\quad &amp;: \quad&#10;\mathcal{F}_{u\left\{L z\right\}}&#10;= &#10;\left(1-z\right)^{u}z^{\frac{L}{W}}&#10;\\&#10;\Delta \ne 0, z = 1&#10;\quad &amp;: \quad&#10;\mathcal{F}_{u\left\{\Delta\right\}}&#10;= &#10;\Delta^{u}&#10;\\&#10;\end{align*}&#10;&#10;\end{document}"/>
  <p:tag name="IGUANATEXSIZE" val="16"/>
  <p:tag name="IGUANATEXCURSOR" val="45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4.7169"/>
  <p:tag name="ORIGINALWIDTH" val="5158.605"/>
  <p:tag name="LATEXADDIN" val="\documentclass{article}&#10;\usepackage{amsmath,bm,eufrak}&#10;\pagestyle{empty}&#10;\begin{document}&#10;&#10;\begin{equation*}&#10;\hat{\mathcal{F}}_{i\hat{T},k\left(su\right)_{12}}^{\left(g\aleph\right)}&#10;=&#10;\mathcal{F}_{\left(u\right)_{12}\left\{&#10;\left(\mathfrak{L}_{12}-W\delta_{s_{1}\bar{1}}-W\delta_{s_{2}\bar{1}}\right)\hat{\Delta}\hat{z}_{i\hat{T},k}^{\left(g\aleph\right)}&#10;\right\}}&#10;\quad\quad&#10;\hat{\mathcal{G}}_{i\hat{T},k\left(s\right)_{12}w}^{\left(g\aleph\right)}&#10;=&#10;\mathcal{G}_{\left\{\left(\mathfrak{L}_{12}-W\delta_{s_{1}\bar{1}}-W\delta_{s_{2}\bar{1}}+Ww\right)\hat{Z}_{i\hat{T},k}^{\left(g\aleph\right)}\right\}}^{(W)}&#10;\end{equation*}&#10;&#10;\end{document}"/>
  <p:tag name="IGUANATEXSIZE" val="18"/>
  <p:tag name="IGUANATEXCURSOR" val="582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3.7008"/>
  <p:tag name="ORIGINALWIDTH" val="4483.689"/>
  <p:tag name="OUTPUTTYPE" val="PNG"/>
  <p:tag name="IGUANATEXVERSION" val="159"/>
  <p:tag name="LATEXADDIN" val="\documentclass{article}&#10;\usepackage{amsmath,bm,eufrak}&#10;\pagestyle{empty}&#10;\begin{document}&#10;&#10;\begin{align*}&#10;\hat{\Sigma}_{\Omega;i\hat{T}}^{\left(g\aleph\right)}&#10;&amp; = &#10;\sum_{s_{1}=-\kappa_{1}}^{+\kappa_{1}}&#10;\sum_{s_{2}=-\kappa_{2}}^{+\kappa_{2}}&#10;\sum_{\left(u\right)_{12}w}&#10;\mathfrak{G}_{\left(su\right)_{12}w}&#10;\hat{\mathcal{P}}_{\left(s\right)_{12}}&#10;\sum_{k(g,\aleph)}&#10;\mathcal{Z}\left\{&#10;\mathrm{e}^{\mathrm{i}\phi_{\Omega;k}^{(g\aleph)}}&#10;\hat{\mathcal{F}}_{i\hat{T},k\left(su\right)_{12}}^{\left(g\aleph\right)}&#10;\hat{\mathcal{G}}_{i\hat{T},k\left(s\right)_{12}w}^{\left(g\aleph\right)}&#10;,\Omega\right\}&#10;\end{align*}&#10;&#10;\end{document}"/>
  <p:tag name="IGUANATEXSIZE" val="18"/>
  <p:tag name="IGUANATEXCURSOR" val="282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5.1856"/>
  <p:tag name="ORIGINALWIDTH" val="5145.107"/>
  <p:tag name="OUTPUTTYPE" val="PNG"/>
  <p:tag name="IGUANATEXVERSION" val="159"/>
  <p:tag name="LATEXADDIN" val="\documentclass{article}&#10;\usepackage{amsmath,bm,eufrak}&#10;\pagestyle{empty}&#10;\begin{document}&#10;&#10;\begin{align*}&#10;(W = 1\text{ and }\beta \ne 0)\text{ or }(W = 2\text{ and }\tilde{\alpha} \ne 0)&#10;\quad &amp;: \quad&#10;\mathcal{G}_{L\left\{\mathcal{Z}\right\}}^{(1)}&#10;=&#10;\frac{\sqrt{\pi}}{\Gamma\left[\frac{L+1}{2}\right]}&#10;\mathcal{Z}^{L}&#10;h_{L\left\{\mathcal{Z}\right\}}&#10;\quad\quad&#10;\mathcal{G}_{L\left\{\mathcal{Z}\right\}}^{(2)}&#10;=&#10;h_{L\left\{\mathcal{Z}\right\}}&#10;\\&#10;(W = 1\text{ and }\beta = 0)&#10;\text{ or }&#10;(W = 2\text{ and }\tilde{\alpha} = 0)&#10;\quad &amp;: \quad&#10;\mathcal{G}^{(W)}&#10;=&#10;1&#10;\\&#10;\end{align*}&#10;&#10;\end{document}"/>
  <p:tag name="IGUANATEXSIZE" val="16"/>
  <p:tag name="IGUANATEXCURSOR" val="417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/>
  <p:tag name="IGUANATEXSIZE" val="16"/>
  <p:tag name="IGUANATEXCURSOR" val="20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5.2194"/>
  <p:tag name="ORIGINALWIDTH" val="3495.313"/>
  <p:tag name="LATEXADDIN" val="\documentclass{article}&#10;\usepackage{amsmath,bm,eufrak}&#10;\pagestyle{empty}&#10;\begin{document}&#10;&#10;\begin{align*}&#10;\Delta \ne 0, z \ne 1&#10;\quad &amp;: \quad&#10;\hat{\mathcal{F}}_{i\hat{T},k\left(su\right)_{12}}^{\left(g\aleph\right)}&#10;=&#10;\mathcal{F}_{\left(u\right)_{12}\left\{&#10;\left(\mathfrak{L}_{12}-W\delta_{s_{1}\bar{1}}-W\delta_{s_{2}\bar{1}}\right)\hat{\Delta}\hat{z}_{i\hat{T},k}^{\left(g\aleph\right)}&#10;\right\}}&#10;\\&#10;\end{align*}&#10;&#10;\end{document}"/>
  <p:tag name="IGUANATEXSIZE" val="16"/>
  <p:tag name="IGUANATEXCURSOR" val="390"/>
  <p:tag name="TRANSPARENCY" val="True"/>
  <p:tag name="FILENAME" val=""/>
  <p:tag name="LATEXENGINEID" val="0"/>
  <p:tag name="TEMPFOLDER" val="c:\temp\"/>
  <p:tag name="LATEXFORMHEIGHT" val="463"/>
  <p:tag name="LATEXFORMWIDTH" val="1141.5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\ne 1&#10;\text{ when }&#10;(W = 1\text{ and }\tilde{\alpha} \ne 0)&#10;\text{ or }&#10;(W = 2\text{ and }\beta \ne 0)&#10;\\&#10;\end{equation*}&#10;&#10;\end{document}"/>
  <p:tag name="IGUANATEXSIZE" val="16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3.7008"/>
  <p:tag name="ORIGINALWIDTH" val="4637.42"/>
  <p:tag name="OUTPUTTYPE" val="PNG"/>
  <p:tag name="IGUANATEXVERSION" val="159"/>
  <p:tag name="LATEXADDIN" val="\documentclass{article}&#10;\usepackage{amsmath,bm,eufrak}&#10;\pagestyle{empty}&#10;\begin{document}&#10;&#10;\begin{align*}&#10;\hat{\Sigma}_{i\hat{T}}^{\left(g\aleph\right)}&#10;&amp; =&#10;\sum_{s_{1}=-\kappa_{1}}^{+\kappa_{1}}&#10;\sum_{s_{2}=-\kappa_{2}}^{+\kappa_{2}}&#10;\sum_{\left(u\right)_{12}w}&#10;\mathfrak{G}_{\left(s\right)_{12}\left(u\right)_{12}w}&#10;\hat{\mathcal{P}}_{\left(s\right)_{12}}&#10;\sum_{k(g,\aleph)}&#10;\mathcal{Z}\left\{&#10;\mathrm{e}^{\mathrm{i}\phi_{\Omega;k}^{(g\aleph)}}&#10;\hat{\mathcal{F}}_{i\hat{T},k\left(su\right)_{12}}^{\left(g\aleph\right)}&#10;\hat{\mathcal{G}}_{i\hat{T},k\left(s\right)_{12}w}^{\left(g\aleph\right)}&#10;,\Omega\right\}&#10;\end{align*}&#10;&#10;\end{document}"/>
  <p:tag name="IGUANATEXSIZE" val="18"/>
  <p:tag name="IGUANATEXCURSOR" val="274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4.7169"/>
  <p:tag name="ORIGINALWIDTH" val="3217.098"/>
  <p:tag name="LATEXADDIN" val="\documentclass{article}&#10;\usepackage{amsmath,bm,eufrak}&#10;\pagestyle{empty}&#10;\begin{document}&#10;&#10;\begin{equation*}&#10;\tilde{\alpha},\beta \ne 0&#10;\quad : \quad&#10;\hat{\mathcal{G}}_{i\hat{T},k\left(s\right)_{12}w}^{\left(g\aleph\right)}&#10;=&#10;\mathcal{G}_{\left\{\left(\mathfrak{L}_{12}-W\delta_{s_{1}\bar{1}}-W\delta_{s_{2}\bar{1}}+Ww\right)\hat{\mathcal{Z}}_{i\hat{T},k}^{\left(g\aleph\right)}\right\}}^{(W)}&#10;\\&#10;\end{equation*}&#10;&#10;\end{document}"/>
  <p:tag name="IGUANATEXSIZE" val="16"/>
  <p:tag name="IGUANATEXCURSOR" val="181"/>
  <p:tag name="TRANSPARENCY" val="True"/>
  <p:tag name="FILENAME" val=""/>
  <p:tag name="LATEXENGINEID" val="0"/>
  <p:tag name="TEMPFOLDER" val="c:\temp\"/>
  <p:tag name="LATEXFORMHEIGHT" val="463"/>
  <p:tag name="LATEXFORMWIDTH" val="1155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3.7008"/>
  <p:tag name="ORIGINALWIDTH" val="3906.262"/>
  <p:tag name="OUTPUTTYPE" val="PNG"/>
  <p:tag name="IGUANATEXVERSION" val="159"/>
  <p:tag name="LATEXADDIN" val="\documentclass{article}&#10;\usepackage{amsmath,bm,eufrak}&#10;\pagestyle{empty}&#10;\begin{document}&#10;&#10;\begin{align*}&#10;\hat{\Sigma}_{\Omega;i\hat{T}}^{\left(g\aleph\right)}&#10;&amp; =&#10;\sum_{s_{1}=-\kappa_{1}}^{+\kappa_{1}}&#10;\sum_{s_{2}=-\kappa_{2}}^{+\kappa_{2}}&#10;\sum_{\left(u\right)_{12}}&#10;\mathfrak{g}_{\left(s\right)_{12}\left(u\right)_{12}}&#10;\hat{\mathcal{P}}_{\left(s\right)_{12}}&#10;\sum_{k(g,\aleph)}&#10;\mathcal{Z}\left\{&#10;\mathrm{e}^{\mathrm{i}\phi_{\Omega;k}^{(g\aleph)}}&#10;\hat{\mathcal{F}}_{i\hat{T},k\left(su\right)_{12}}^{\left(g\aleph\right)}&#10;,\Omega\right\}&#10;\\&#10;\end{align*}&#10;&#10;\end{document}"/>
  <p:tag name="IGUANATEXSIZE" val="18"/>
  <p:tag name="IGUANATEXCURSOR" val="280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4115.485"/>
  <p:tag name="OUTPUTTYPE" val="PNG"/>
  <p:tag name="IGUANATEXVERSION" val="159"/>
  <p:tag name="LATEXADDIN" val="\documentclass{article}&#10;\usepackage{amsmath,bm,eufrak}&#10;\pagestyle{empty}&#10;\begin{document}&#10;&#10;\begin{equation*}&#10;(W = 1\text{ and }\tilde{\alpha} \ne 0\text{ and }\beta = 0)&#10;\text{ or }&#10;(W = 2\text{ and }\tilde{\alpha} = 0\text{ and }\beta \ne 0)&#10;\quad:\quad&#10;\hat{\mathcal{G}}&#10;=&#10;1&#10;\\&#10;\end{equation*}&#10;&#10;\end{document}"/>
  <p:tag name="IGUANATEXSIZE" val="16"/>
  <p:tag name="IGUANATEXCURSOR" val="272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4.7169"/>
  <p:tag name="ORIGINALWIDTH" val="6243.72"/>
  <p:tag name="LATEXADDIN" val="\documentclass{article}&#10;\usepackage{amsmath,bm,eufrak}&#10;\pagestyle{empty}&#10;\begin{document}&#10;&#10;\begin{equation*}&#10;(W = 1\text{ and }\tilde{\alpha} = 0\text{ and }\beta \ne 0)&#10;\text{ or }&#10;(W = 2\text{ and }\tilde{\alpha} \ne 0\text{ and }\beta = 0)&#10;\quad : \quad&#10;\hat{\mathcal{G}}_{i\hat{T},k\left(s\right)_{12}w}^{\left(g\aleph\right)}&#10;=&#10;\mathcal{G}_{\left\{\left(\mathfrak{L}_{12}-W\delta_{s_{1}\bar{1}}-W\delta_{s_{2}\bar{1}}+Ww\right)\hat{\mathcal{Z}}_{i\hat{T},k}^{\left(g\aleph\right)}\right\}}^{(W)}&#10;\\&#10;\end{equation*}&#10;&#10;\end{document}"/>
  <p:tag name="IGUANATEXSIZE" val="16"/>
  <p:tag name="IGUANATEXCURSOR" val="485"/>
  <p:tag name="TRANSPARENCY" val="True"/>
  <p:tag name="FILENAME" val=""/>
  <p:tag name="LATEXENGINEID" val="0"/>
  <p:tag name="TEMPFOLDER" val="c:\temp\"/>
  <p:tag name="LATEXFORMHEIGHT" val="463"/>
  <p:tag name="LATEXFORMWIDTH" val="1155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6.9517"/>
  <p:tag name="ORIGINALWIDTH" val="3919.76"/>
  <p:tag name="OUTPUTTYPE" val="PNG"/>
  <p:tag name="IGUANATEXVERSION" val="159"/>
  <p:tag name="LATEXADDIN" val="\documentclass{article}&#10;\usepackage{amsmath,bm,eufrak}&#10;\pagestyle{empty}&#10;\begin{document}&#10;&#10;\begin{align*}&#10;\hat{\Sigma}_{g;i\hat{T}}^{\left(\aleph\right)}&#10;&amp; = &#10;\sum_{s_{1}=-\kappa_{1}}^{+\kappa_{1}}&#10;\sum_{s_{2}=-\kappa_{2}}^{+\kappa_{2}}&#10;\sum_{uw}&#10;\mathfrak{J}_{\left(s\right)_{12}uw}&#10;\hat{\mathcal{P}}_{\left(s\right)_{12}}&#10;\hat{\Delta}^{u}&#10;\sum_{k(g,\aleph)}&#10;\mathcal{Z}\left\{&#10;\mathrm{e}^{\mathrm{i}\phi_{\Omega;k}^{(g\aleph)}}&#10;\hat{\mathcal{G}}_{i\hat{T},k\left(s\right)_{12}w}^{\left(g\aleph\right)}&#10;,\Omega\right\}&#10;\end{align*}&#10;&#10;\end{document}"/>
  <p:tag name="IGUANATEXSIZE" val="18"/>
  <p:tag name="IGUANATEXCURSOR" val="258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1088.864"/>
  <p:tag name="OUTPUTTYPE" val="PNG"/>
  <p:tag name="IGUANATEXVERSION" val="159"/>
  <p:tag name="LATEXADDIN" val="\documentclass{article}&#10;\usepackage{amsmath,bm,eufrak}&#10;\pagestyle{empty}&#10;\begin{document}&#10;&#10;\begin{equation*}&#10;\tilde{\alpha},\beta = 0&#10;\quad:\quad&#10;\hat{\mathcal{G}} = 1&#10;\\&#10;\end{equation*}&#10;&#10;\end{document}"/>
  <p:tag name="IGUANATEXSIZE" val="16"/>
  <p:tag name="IGUANATEXCURSOR" val="166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6.7042"/>
  <p:tag name="ORIGINALWIDTH" val="2122.235"/>
  <p:tag name="OUTPUTTYPE" val="PNG"/>
  <p:tag name="IGUANATEXVERSION" val="159"/>
  <p:tag name="LATEXADDIN" val="\documentclass{article}&#10;\usepackage{amsmath,bm,eufrak}&#10;\pagestyle{empty}&#10;\begin{document}&#10;&#10;\begin{align*}&#10;\hat{\Sigma}^{\left(\bullet\right)}&#10;&amp; =&#10;\sum_{s_{1}=-\kappa_{1}}^{+\kappa_{1}}&#10;\sum_{s_{2}=-\kappa_{2}}^{+\kappa_{2}}&#10;\sum_{u}&#10;\mathfrak{i}_{\left(s\right)_{12}u}&#10;\hat{\mathcal{P}}_{\left(s\right)_{12}}&#10;\hat{\Delta}^{u}&#10;\\&#10;\end{align*}&#10;&#10;\end{document}"/>
  <p:tag name="IGUANATEXSIZE" val="18"/>
  <p:tag name="IGUANATEXCURSOR" val="244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4.7319"/>
  <p:tag name="ORIGINALWIDTH" val="1505.062"/>
  <p:tag name="OUTPUTTYPE" val="PNG"/>
  <p:tag name="IGUANATEXVERSION" val="159"/>
  <p:tag name="LATEXADDIN" val="\documentclass{article}&#10;\usepackage{amsmath,bm,eufrak}&#10;\pagestyle{empty}&#10;\begin{document}&#10;&#10;\begin{align*}&#10;\Delta \ne 0, z = 1&#10;\quad &amp;: \quad&#10;\hat{\mathcal{F}}_{u} = \hat{\Delta}^{u}&#10;\\&#10;\end{align*}&#10;&#10;\end{document}"/>
  <p:tag name="IGUANATEXSIZE" val="16"/>
  <p:tag name="IGUANATEXCURSOR" val="177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/>
  <p:tag name="IGUANATEXSIZE" val="16"/>
  <p:tag name="IGUANATEXCURSOR" val="20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5.2194"/>
  <p:tag name="ORIGINALWIDTH" val="3244.844"/>
  <p:tag name="LATEXADDIN" val="\documentclass{article}&#10;\usepackage{amsmath,bm,eufrak}&#10;\pagestyle{empty}&#10;\begin{document}&#10;&#10;\begin{equation*}&#10;\Delta = 0, z \ne 1&#10;\quad : \quad&#10;\hat{\mathcal{F}}_{i\hat{T},k\left(s\right)_{12}u}^{\left(g\aleph\right)}&#10;=&#10;\mathcal{F}_{u\left\{\left(\mathfrak{L}_{12}-W\delta_{s_{1}\bar{1}}-W\delta_{s_{2}\bar{1}}\right)\hat{z}_{i\hat{T},k}^{\left(g\aleph\right)}\right\}}&#10;\\&#10;\end{equation*}&#10;&#10;\end{document}"/>
  <p:tag name="IGUANATEXSIZE" val="16"/>
  <p:tag name="IGUANATEXCURSOR" val="359"/>
  <p:tag name="TRANSPARENCY" val="True"/>
  <p:tag name="FILENAME" val=""/>
  <p:tag name="LATEXENGINEID" val="0"/>
  <p:tag name="TEMPFOLDER" val="c:\temp\"/>
  <p:tag name="LATEXFORMHEIGHT" val="463"/>
  <p:tag name="LATEXFORMWIDTH" val="1141.5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\ne 1&#10;\text{ when }&#10;(W = 1\text{ and }\tilde{\alpha} \ne 0)&#10;\text{ or }&#10;(W = 2\text{ and }\beta \ne 0)&#10;\\&#10;\end{equation*}&#10;&#10;\end{document}"/>
  <p:tag name="IGUANATEXSIZE" val="16"/>
  <p:tag name="IGUANATEXCURSOR" val="114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4115.485"/>
  <p:tag name="OUTPUTTYPE" val="PNG"/>
  <p:tag name="IGUANATEXVERSION" val="159"/>
  <p:tag name="LATEXADDIN" val="\documentclass{article}&#10;\usepackage{amsmath,bm,eufrak}&#10;\pagestyle{empty}&#10;\begin{document}&#10;&#10;\begin{equation*}&#10;(W = 1\text{ and }\tilde{\alpha} \ne 0\text{ and }\beta = 0)&#10;\text{ or }&#10;(W = 2\text{ and }\tilde{\alpha} = 0\text{ and }\beta \ne 0)&#10;\quad:\quad&#10;\hat{\mathcal{G}} = 1&#10;\\&#10;\end{equation*}&#10;&#10;\end{document}"/>
  <p:tag name="IGUANATEXSIZE" val="16"/>
  <p:tag name="IGUANATEXCURSOR" val="272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6.9517"/>
  <p:tag name="ORIGINALWIDTH" val="3676.791"/>
  <p:tag name="OUTPUTTYPE" val="PNG"/>
  <p:tag name="IGUANATEXVERSION" val="159"/>
  <p:tag name="LATEXADDIN" val="\documentclass{article}&#10;\usepackage{amsmath,bm,eufrak}&#10;\pagestyle{empty}&#10;\begin{document}&#10;&#10;\begin{align*}&#10;\hat{\Sigma}_{i\hat{T}}^{\left(g\aleph\right)}&#10;&amp; = &#10;\sum_{s_{1}=-\kappa_{1}}^{+\kappa_{1}}&#10;\sum_{s_{2}=-\kappa_{2}}^{+\kappa_{2}}&#10;\sum_{u}&#10;\mathfrak{h}_{\left(s\right)_{12}u}&#10;\hat{\mathcal{P}}_{\left(s\right)_{12}}&#10;\sum_{k(g,\aleph)}&#10;\mathcal{Z}\left\{&#10;\mathrm{e}^{\mathrm{i}\phi_{\Omega;k}^{(g\aleph)}}&#10;\hat{\mathcal{F}}_{i\hat{T},k\left(s\right)_{12}u}^{\left(g\aleph\right)}&#10;,\Omega\right\}&#10;\end{align*}&#10;&#10;\end{document}"/>
  <p:tag name="IGUANATEXSIZE" val="18"/>
  <p:tag name="IGUANATEXCURSOR" val="256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6.9517"/>
  <p:tag name="ORIGINALWIDTH" val="4313.461"/>
  <p:tag name="OUTPUTTYPE" val="PNG"/>
  <p:tag name="IGUANATEXVERSION" val="159"/>
  <p:tag name="LATEXADDIN" val="\documentclass{article}&#10;\usepackage{amsmath,bm,eufrak}&#10;\pagestyle{empty}&#10;\begin{document}&#10;&#10;\begin{align*}&#10;\hat{\Sigma}_{i\hat{T}}^{\left(g\aleph\right)}&#10;&amp; = &#10;\sum_{s_{1}=-\kappa_{1}}^{+\kappa_{1}}&#10;\sum_{s_{2}=-\kappa_{2}}^{+\kappa_{2}}&#10;\sum_{uw}&#10;\mathfrak{h}_{\left(s\right)_{12}uw}&#10;\hat{\mathcal{P}}_{\left(s\right)_{12}}&#10;\sum_{k(g,\aleph)}&#10;\mathcal{Z}\left\{&#10;\mathrm{e}^{\mathrm{i}\phi_{\Omega;k}^{(g\aleph)}}&#10;\hat{\mathcal{F}}_{i\hat{T},k\left(s\right)_{12}u}^{\left(g\aleph\right)}&#10;\hat{\mathcal{G}}_{i\hat{T},k\left(s\right)_{12}w}^{\left(g\aleph\right)}&#10;,\Omega\right\}&#10;\end{align*}&#10;&#10;\end{document}"/>
  <p:tag name="IGUANATEXSIZE" val="18"/>
  <p:tag name="IGUANATEXCURSOR" val="257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4.7169"/>
  <p:tag name="ORIGINALWIDTH" val="3217.848"/>
  <p:tag name="LATEXADDIN" val="\documentclass{article}&#10;\usepackage{amsmath,bm,eufrak}&#10;\pagestyle{empty}&#10;\begin{document}&#10;&#10;\begin{equation*}&#10;\tilde{\alpha},\beta \ne 0&#10;\quad : \quad&#10;\hat{\mathcal{G}}_{i\hat{T},k\left(s\right)_{12}w}^{\left(g\aleph\right)}&#10;=&#10;\mathcal{G}_{\left\{\left(\mathcal{L}_{12}-W\delta_{s_{1}\bar{1}}-W\delta_{s_{2}\bar{1}}+Ww\right)\hat{\mathcal{Z}}_{i\hat{T},k}^{\left(g\aleph\right)}\right\}}^{(W)}&#10;\\&#10;\end{equation*}&#10;&#10;\end{document}"/>
  <p:tag name="IGUANATEXSIZE" val="16"/>
  <p:tag name="IGUANATEXCURSOR" val="377"/>
  <p:tag name="TRANSPARENCY" val="True"/>
  <p:tag name="FILENAME" val=""/>
  <p:tag name="LATEXENGINEID" val="0"/>
  <p:tag name="TEMPFOLDER" val="c:\temp\"/>
  <p:tag name="LATEXFORMHEIGHT" val="463"/>
  <p:tag name="LATEXFORMWIDTH" val="1155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4.7169"/>
  <p:tag name="ORIGINALWIDTH" val="6243.72"/>
  <p:tag name="LATEXADDIN" val="\documentclass{article}&#10;\usepackage{amsmath,bm,eufrak}&#10;\pagestyle{empty}&#10;\begin{document}&#10;&#10;\begin{equation*}&#10;(W = 1\text{ and }\tilde{\alpha} = 0\text{ and }\beta \ne 0)&#10;\text{ or }&#10;(W = 2\text{ and }\tilde{\alpha} \ne 0\text{ and }\beta = 0)&#10;\quad : \quad&#10;\hat{\mathcal{G}}_{i\hat{T},k\left(s\right)_{12}w}^{\left(g\aleph\right)}&#10;=&#10;\mathcal{G}_{\left\{\left(\mathfrak{L}_{12}-W\delta_{s_{1}\bar{1}}-W\delta_{s_{2}\bar{1}}+Ww\right)\hat{\mathcal{Z}}_{i\hat{T},k}^{\left(g\aleph\right)}\right\}}^{(W)}&#10;\\&#10;\end{equation*}&#10;&#10;\end{document}"/>
  <p:tag name="IGUANATEXSIZE" val="16"/>
  <p:tag name="IGUANATEXCURSOR" val="286"/>
  <p:tag name="TRANSPARENCY" val="True"/>
  <p:tag name="FILENAME" val=""/>
  <p:tag name="LATEXENGINEID" val="0"/>
  <p:tag name="TEMPFOLDER" val="c:\temp\"/>
  <p:tag name="LATEXFORMHEIGHT" val="463"/>
  <p:tag name="LATEXFORMWIDTH" val="1155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6.9517"/>
  <p:tag name="ORIGINALWIDTH" val="3604.799"/>
  <p:tag name="LATEXADDIN" val="\documentclass{article}&#10;\usepackage{amsmath,bm,eufrak}&#10;\pagestyle{empty}&#10;\begin{document}&#10;&#10;\begin{align*}&#10;\hat{\Sigma}_{i\hat{T}}^{\left(g\aleph\right)}&#10;&amp; = &#10;\sum_{s_{1}=-\kappa_{1}}^{+\kappa_{1}}&#10;\sum_{s_{2}=-\kappa_{2}}^{+\kappa_{2}}&#10;\sum_{w}&#10;\mathfrak{J}_{\left(s\right)_{12}w}&#10;\hat{\mathcal{P}}_{\left(s\right)_{12}}&#10;\sum_{k(g)}&#10;\mathcal{Z}\left\{&#10;\mathrm{e}^{\mathrm{i}\phi_{\Omega;k}^{(g\aleph)}}&#10;\hat{\mathcal{G}}_{i\hat{T},k\left(s\right)_{12}w}^{\left(g\aleph\right)}&#10;,\Omega\right\}&#10;\end{align*}&#10;&#10;\end{document}"/>
  <p:tag name="IGUANATEXSIZE" val="18"/>
  <p:tag name="IGUANATEXCURSOR" val="387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/>
  <p:tag name="IGUANATEXSIZE" val="16"/>
  <p:tag name="IGUANATEXCURSOR" val="204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1505.812"/>
  <p:tag name="OUTPUTTYPE" val="PNG"/>
  <p:tag name="IGUANATEXVERSION" val="159"/>
  <p:tag name="LATEXADDIN" val="\documentclass{article}&#10;\usepackage{amsmath,bm,eufrak}&#10;\pagestyle{empty}&#10;\begin{document}&#10;&#10;\begin{align*}&#10;\Delta = 0, z = 1&#10;\quad &amp;: \quad&#10;\hat{\mathcal{F}}_{u}&#10;= &#10;\delta_{u0}&#10;\\&#10;\end{align*}&#10;&#10;\end{document}"/>
  <p:tag name="IGUANATEXSIZE" val="16"/>
  <p:tag name="IGUANATEXCURSOR" val="156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1088.864"/>
  <p:tag name="OUTPUTTYPE" val="PNG"/>
  <p:tag name="IGUANATEXVERSION" val="159"/>
  <p:tag name="LATEXADDIN" val="\documentclass{article}&#10;\usepackage{amsmath,bm,eufrak}&#10;\pagestyle{empty}&#10;\begin{document}&#10;&#10;\begin{equation*}&#10;\tilde{\alpha},\beta = 0&#10;\quad:\quad&#10;\hat{\mathcal{G}} = 1&#10;\\&#10;\end{equation*}&#10;&#10;\end{document}"/>
  <p:tag name="IGUANATEXSIZE" val="16"/>
  <p:tag name="IGUANATEXCURSOR" val="166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6.7042"/>
  <p:tag name="ORIGINALWIDTH" val="1685.789"/>
  <p:tag name="OUTPUTTYPE" val="PNG"/>
  <p:tag name="IGUANATEXVERSION" val="159"/>
  <p:tag name="LATEXADDIN" val="\documentclass{article}&#10;\usepackage{amsmath,bm,eufrak}&#10;\pagestyle{empty}&#10;\begin{document}&#10;&#10;\begin{align*}&#10;\hat{\Sigma}^{\left(\bullet\right)}&#10;&amp; = &#10;\sum_{s_{1}=-\kappa_{1}}^{+\kappa_{1}}&#10;\sum_{s_{2}=-\kappa_{2}}^{+\kappa_{2}}&#10;\mathfrak{j}_{\left(s\right)_{12}}&#10;\hat{\mathcal{P}}_{\left(s\right)_{12}}&#10;\\&#10;\end{align*}&#10;&#10;\end{document}"/>
  <p:tag name="IGUANATEXSIZE" val="18"/>
  <p:tag name="IGUANATEXCURSOR" val="236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196690</TotalTime>
  <Words>266</Words>
  <Application>Microsoft Office PowerPoint</Application>
  <PresentationFormat>Widescreen</PresentationFormat>
  <Paragraphs>68</Paragraphs>
  <Slides>36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Georgia</vt:lpstr>
      <vt:lpstr>Gill Sans MT</vt:lpstr>
      <vt:lpstr>LucidaGrande</vt:lpstr>
      <vt:lpstr>UB Powerpoint Template</vt:lpstr>
      <vt:lpstr>Full State Description</vt:lpstr>
      <vt:lpstr>Generalized single-valley basis states</vt:lpstr>
      <vt:lpstr>Generalized single-valley basis states</vt:lpstr>
      <vt:lpstr>Symmetrized States, m even</vt:lpstr>
      <vt:lpstr>Symmetrized States, m odd</vt:lpstr>
      <vt:lpstr>Integrable Potential Forms</vt:lpstr>
      <vt:lpstr>Raw potential</vt:lpstr>
      <vt:lpstr>GENERAL MATRIX ELEMENT FORMULA</vt:lpstr>
      <vt:lpstr>General matrix element formula</vt:lpstr>
      <vt:lpstr>Raw potential</vt:lpstr>
      <vt:lpstr>Filtered potential involving parallel valleys</vt:lpstr>
      <vt:lpstr>Filtered potential involving perpendicular valleys</vt:lpstr>
      <vt:lpstr>Filtered potential involving parallel valleys</vt:lpstr>
      <vt:lpstr>Inversion filtered potential involving perpendicular valleys</vt:lpstr>
      <vt:lpstr>Filtered potential involving parallel valleys</vt:lpstr>
      <vt:lpstr>Filtered potential involving perpendicular valleys</vt:lpstr>
      <vt:lpstr>m0 even, m1 even – Final form</vt:lpstr>
      <vt:lpstr>m0 even, m1 odd – Final form</vt:lpstr>
      <vt:lpstr>m0 odd, m1 even – Final form</vt:lpstr>
      <vt:lpstr>m0 odd, m1 odd – Final form</vt:lpstr>
      <vt:lpstr>Base MATRIX ELEMENT FORMULA</vt:lpstr>
      <vt:lpstr>Base Integration Formula for Matrix Elements</vt:lpstr>
      <vt:lpstr>Elaboration of the Base Integration Formula</vt:lpstr>
      <vt:lpstr>Bloch integrand</vt:lpstr>
      <vt:lpstr>Generalizing Integration Formula</vt:lpstr>
      <vt:lpstr>Generalizing Integration Formula</vt:lpstr>
      <vt:lpstr>Computational FormulAe</vt:lpstr>
      <vt:lpstr>D1a. Before integration calculations</vt:lpstr>
      <vt:lpstr>D1b. Initial integration calculations</vt:lpstr>
      <vt:lpstr>D2. Full integral formalized</vt:lpstr>
      <vt:lpstr>D3. Legendre functions for integrand</vt:lpstr>
      <vt:lpstr>D4. Integral summation term restated</vt:lpstr>
      <vt:lpstr>D4a. Integral summation term restated (Δ != 0, z != 1)</vt:lpstr>
      <vt:lpstr>D4b. Integral summation term restated (Δ != 0, z = 1)</vt:lpstr>
      <vt:lpstr>D4c. Integral summation term restated (Δ = 0, z != 1)</vt:lpstr>
      <vt:lpstr>D4d. Integral summation term restated (Δ = 0, z = 1)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6569</cp:revision>
  <cp:lastPrinted>2016-07-18T17:32:49Z</cp:lastPrinted>
  <dcterms:created xsi:type="dcterms:W3CDTF">2016-06-28T14:05:07Z</dcterms:created>
  <dcterms:modified xsi:type="dcterms:W3CDTF">2023-09-29T16:57:58Z</dcterms:modified>
  <cp:category/>
</cp:coreProperties>
</file>