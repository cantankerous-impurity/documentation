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8.xml" ContentType="application/vnd.openxmlformats-officedocument.presentationml.notesSlide+xml"/>
  <Override PartName="/ppt/tags/tag23.xml" ContentType="application/vnd.openxmlformats-officedocument.presentationml.tags+xml"/>
  <Override PartName="/ppt/notesSlides/notesSlide9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0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1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2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3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4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5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6.xml" ContentType="application/vnd.openxmlformats-officedocument.presentationml.notesSlide+xml"/>
  <Override PartName="/ppt/tags/tag49.xml" ContentType="application/vnd.openxmlformats-officedocument.presentationml.tags+xml"/>
  <Override PartName="/ppt/notesSlides/notesSlide17.xml" ContentType="application/vnd.openxmlformats-officedocument.presentationml.notesSlide+xml"/>
  <Override PartName="/ppt/tags/tag50.xml" ContentType="application/vnd.openxmlformats-officedocument.presentationml.tags+xml"/>
  <Override PartName="/ppt/notesSlides/notesSlide18.xml" ContentType="application/vnd.openxmlformats-officedocument.presentationml.notesSlide+xml"/>
  <Override PartName="/ppt/tags/tag51.xml" ContentType="application/vnd.openxmlformats-officedocument.presentationml.tags+xml"/>
  <Override PartName="/ppt/notesSlides/notesSlide19.xml" ContentType="application/vnd.openxmlformats-officedocument.presentationml.notesSlide+xml"/>
  <Override PartName="/ppt/tags/tag52.xml" ContentType="application/vnd.openxmlformats-officedocument.presentationml.tags+xml"/>
  <Override PartName="/ppt/notesSlides/notesSlide20.xml" ContentType="application/vnd.openxmlformats-officedocument.presentationml.notesSlide+xml"/>
  <Override PartName="/ppt/tags/tag53.xml" ContentType="application/vnd.openxmlformats-officedocument.presentationml.tags+xml"/>
  <Override PartName="/ppt/notesSlides/notesSlide21.xml" ContentType="application/vnd.openxmlformats-officedocument.presentationml.notesSlide+xml"/>
  <Override PartName="/ppt/tags/tag54.xml" ContentType="application/vnd.openxmlformats-officedocument.presentationml.tags+xml"/>
  <Override PartName="/ppt/notesSlides/notesSlide22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23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24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25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26.xml" ContentType="application/vnd.openxmlformats-officedocument.presentationml.notesSlide+xml"/>
  <Override PartName="/ppt/tags/tag74.xml" ContentType="application/vnd.openxmlformats-officedocument.presentationml.tags+xml"/>
  <Override PartName="/ppt/notesSlides/notesSlide27.xml" ContentType="application/vnd.openxmlformats-officedocument.presentationml.notesSlide+xml"/>
  <Override PartName="/ppt/tags/tag75.xml" ContentType="application/vnd.openxmlformats-officedocument.presentationml.tags+xml"/>
  <Override PartName="/ppt/notesSlides/notesSlide28.xml" ContentType="application/vnd.openxmlformats-officedocument.presentationml.notesSlide+xml"/>
  <Override PartName="/ppt/tags/tag76.xml" ContentType="application/vnd.openxmlformats-officedocument.presentationml.tags+xml"/>
  <Override PartName="/ppt/notesSlides/notesSlide29.xml" ContentType="application/vnd.openxmlformats-officedocument.presentationml.notesSlide+xml"/>
  <Override PartName="/ppt/tags/tag77.xml" ContentType="application/vnd.openxmlformats-officedocument.presentationml.tags+xml"/>
  <Override PartName="/ppt/notesSlides/notesSlide30.xml" ContentType="application/vnd.openxmlformats-officedocument.presentationml.notesSlide+xml"/>
  <Override PartName="/ppt/tags/tag78.xml" ContentType="application/vnd.openxmlformats-officedocument.presentationml.tags+xml"/>
  <Override PartName="/ppt/notesSlides/notesSlide31.xml" ContentType="application/vnd.openxmlformats-officedocument.presentationml.notesSlide+xml"/>
  <Override PartName="/ppt/tags/tag79.xml" ContentType="application/vnd.openxmlformats-officedocument.presentationml.tags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42"/>
  </p:notesMasterIdLst>
  <p:handoutMasterIdLst>
    <p:handoutMasterId r:id="rId43"/>
  </p:handoutMasterIdLst>
  <p:sldIdLst>
    <p:sldId id="773" r:id="rId2"/>
    <p:sldId id="778" r:id="rId3"/>
    <p:sldId id="851" r:id="rId4"/>
    <p:sldId id="915" r:id="rId5"/>
    <p:sldId id="917" r:id="rId6"/>
    <p:sldId id="853" r:id="rId7"/>
    <p:sldId id="935" r:id="rId8"/>
    <p:sldId id="896" r:id="rId9"/>
    <p:sldId id="936" r:id="rId10"/>
    <p:sldId id="897" r:id="rId11"/>
    <p:sldId id="934" r:id="rId12"/>
    <p:sldId id="964" r:id="rId13"/>
    <p:sldId id="955" r:id="rId14"/>
    <p:sldId id="965" r:id="rId15"/>
    <p:sldId id="962" r:id="rId16"/>
    <p:sldId id="899" r:id="rId17"/>
    <p:sldId id="966" r:id="rId18"/>
    <p:sldId id="968" r:id="rId19"/>
    <p:sldId id="937" r:id="rId20"/>
    <p:sldId id="938" r:id="rId21"/>
    <p:sldId id="949" r:id="rId22"/>
    <p:sldId id="940" r:id="rId23"/>
    <p:sldId id="950" r:id="rId24"/>
    <p:sldId id="952" r:id="rId25"/>
    <p:sldId id="956" r:id="rId26"/>
    <p:sldId id="953" r:id="rId27"/>
    <p:sldId id="957" r:id="rId28"/>
    <p:sldId id="954" r:id="rId29"/>
    <p:sldId id="958" r:id="rId30"/>
    <p:sldId id="918" r:id="rId31"/>
    <p:sldId id="919" r:id="rId32"/>
    <p:sldId id="921" r:id="rId33"/>
    <p:sldId id="922" r:id="rId34"/>
    <p:sldId id="927" r:id="rId35"/>
    <p:sldId id="932" r:id="rId36"/>
    <p:sldId id="959" r:id="rId37"/>
    <p:sldId id="930" r:id="rId38"/>
    <p:sldId id="960" r:id="rId39"/>
    <p:sldId id="961" r:id="rId40"/>
    <p:sldId id="933" r:id="rId41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61"/>
    <a:srgbClr val="FF7F7F"/>
    <a:srgbClr val="7FD7A7"/>
    <a:srgbClr val="00B050"/>
    <a:srgbClr val="FF0000"/>
    <a:srgbClr val="33A366"/>
    <a:srgbClr val="B797CF"/>
    <a:srgbClr val="7A0000"/>
    <a:srgbClr val="005AC0"/>
    <a:srgbClr val="2F7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4631" autoAdjust="0"/>
  </p:normalViewPr>
  <p:slideViewPr>
    <p:cSldViewPr snapToGrid="0" snapToObjects="1">
      <p:cViewPr varScale="1">
        <p:scale>
          <a:sx n="81" d="100"/>
          <a:sy n="81" d="100"/>
        </p:scale>
        <p:origin x="120" y="18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8/30/2022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8/30/2022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499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17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211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366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947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276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482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825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142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70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7217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278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464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0969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837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4262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1385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93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31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3976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4107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2758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674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1389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0962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985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1947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6396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2272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4869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4075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547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baseline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6930" y="122010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353800" y="199638"/>
            <a:ext cx="731520" cy="45720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tx2"/>
          </a:solidFill>
          <a:latin typeface="Gill Sans MT" panose="020B0502020104020203" pitchFamily="34" charset="0"/>
          <a:ea typeface="Gill Sans MT" panose="020B0502020104020203" pitchFamily="34" charset="0"/>
          <a:cs typeface="Gill Sans MT" panose="020B05020201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image" Target="../media/image16.png"/><Relationship Id="rId3" Type="http://schemas.openxmlformats.org/officeDocument/2006/relationships/tags" Target="../tags/tag7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5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14.png"/><Relationship Id="rId5" Type="http://schemas.openxmlformats.org/officeDocument/2006/relationships/tags" Target="../tags/tag9.xml"/><Relationship Id="rId10" Type="http://schemas.openxmlformats.org/officeDocument/2006/relationships/image" Target="../media/image13.png"/><Relationship Id="rId4" Type="http://schemas.openxmlformats.org/officeDocument/2006/relationships/tags" Target="../tags/tag8.xml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3.xml"/><Relationship Id="rId7" Type="http://schemas.openxmlformats.org/officeDocument/2006/relationships/image" Target="../media/image19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8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16.xml"/><Relationship Id="rId7" Type="http://schemas.openxmlformats.org/officeDocument/2006/relationships/image" Target="../media/image22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1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3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tags" Target="../tags/tag32.xml"/><Relationship Id="rId7" Type="http://schemas.openxmlformats.org/officeDocument/2006/relationships/image" Target="../media/image38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37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tags" Target="../tags/tag35.xml"/><Relationship Id="rId7" Type="http://schemas.openxmlformats.org/officeDocument/2006/relationships/notesSlide" Target="../notesSlides/notesSlide14.xml"/><Relationship Id="rId12" Type="http://schemas.openxmlformats.org/officeDocument/2006/relationships/image" Target="../media/image44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43.png"/><Relationship Id="rId5" Type="http://schemas.openxmlformats.org/officeDocument/2006/relationships/tags" Target="../tags/tag37.xml"/><Relationship Id="rId10" Type="http://schemas.openxmlformats.org/officeDocument/2006/relationships/image" Target="../media/image42.png"/><Relationship Id="rId4" Type="http://schemas.openxmlformats.org/officeDocument/2006/relationships/tags" Target="../tags/tag36.xml"/><Relationship Id="rId9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tags" Target="../tags/tag40.xml"/><Relationship Id="rId7" Type="http://schemas.openxmlformats.org/officeDocument/2006/relationships/notesSlide" Target="../notesSlides/notesSlide15.xml"/><Relationship Id="rId12" Type="http://schemas.openxmlformats.org/officeDocument/2006/relationships/image" Target="../media/image49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48.png"/><Relationship Id="rId5" Type="http://schemas.openxmlformats.org/officeDocument/2006/relationships/tags" Target="../tags/tag42.xml"/><Relationship Id="rId10" Type="http://schemas.openxmlformats.org/officeDocument/2006/relationships/image" Target="../media/image47.png"/><Relationship Id="rId4" Type="http://schemas.openxmlformats.org/officeDocument/2006/relationships/tags" Target="../tags/tag41.xml"/><Relationship Id="rId9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13" Type="http://schemas.openxmlformats.org/officeDocument/2006/relationships/image" Target="../media/image54.png"/><Relationship Id="rId3" Type="http://schemas.openxmlformats.org/officeDocument/2006/relationships/tags" Target="../tags/tag45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53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image" Target="../media/image52.png"/><Relationship Id="rId5" Type="http://schemas.openxmlformats.org/officeDocument/2006/relationships/tags" Target="../tags/tag47.xml"/><Relationship Id="rId10" Type="http://schemas.openxmlformats.org/officeDocument/2006/relationships/image" Target="../media/image51.png"/><Relationship Id="rId4" Type="http://schemas.openxmlformats.org/officeDocument/2006/relationships/tags" Target="../tags/tag46.xml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9.xml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0.xml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1.xml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2.xml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3.xml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4.xml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tags" Target="../tags/tag57.xml"/><Relationship Id="rId7" Type="http://schemas.openxmlformats.org/officeDocument/2006/relationships/image" Target="../media/image63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62.png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tags" Target="../tags/tag60.xml"/><Relationship Id="rId7" Type="http://schemas.openxmlformats.org/officeDocument/2006/relationships/notesSlide" Target="../notesSlides/notesSlide24.xml"/><Relationship Id="rId12" Type="http://schemas.openxmlformats.org/officeDocument/2006/relationships/image" Target="../media/image69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68.png"/><Relationship Id="rId5" Type="http://schemas.openxmlformats.org/officeDocument/2006/relationships/tags" Target="../tags/tag62.xml"/><Relationship Id="rId10" Type="http://schemas.openxmlformats.org/officeDocument/2006/relationships/image" Target="../media/image67.png"/><Relationship Id="rId4" Type="http://schemas.openxmlformats.org/officeDocument/2006/relationships/tags" Target="../tags/tag61.xml"/><Relationship Id="rId9" Type="http://schemas.openxmlformats.org/officeDocument/2006/relationships/image" Target="../media/image6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tags" Target="../tags/tag65.xml"/><Relationship Id="rId7" Type="http://schemas.openxmlformats.org/officeDocument/2006/relationships/notesSlide" Target="../notesSlides/notesSlide25.xml"/><Relationship Id="rId12" Type="http://schemas.openxmlformats.org/officeDocument/2006/relationships/image" Target="../media/image74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73.png"/><Relationship Id="rId5" Type="http://schemas.openxmlformats.org/officeDocument/2006/relationships/tags" Target="../tags/tag67.xml"/><Relationship Id="rId10" Type="http://schemas.openxmlformats.org/officeDocument/2006/relationships/image" Target="../media/image72.png"/><Relationship Id="rId4" Type="http://schemas.openxmlformats.org/officeDocument/2006/relationships/tags" Target="../tags/tag66.xml"/><Relationship Id="rId9" Type="http://schemas.openxmlformats.org/officeDocument/2006/relationships/image" Target="../media/image7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13" Type="http://schemas.openxmlformats.org/officeDocument/2006/relationships/image" Target="../media/image79.png"/><Relationship Id="rId3" Type="http://schemas.openxmlformats.org/officeDocument/2006/relationships/tags" Target="../tags/tag70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8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image" Target="../media/image77.png"/><Relationship Id="rId5" Type="http://schemas.openxmlformats.org/officeDocument/2006/relationships/tags" Target="../tags/tag72.xml"/><Relationship Id="rId10" Type="http://schemas.openxmlformats.org/officeDocument/2006/relationships/image" Target="../media/image76.png"/><Relationship Id="rId4" Type="http://schemas.openxmlformats.org/officeDocument/2006/relationships/tags" Target="../tags/tag71.xml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4.xml"/><Relationship Id="rId4" Type="http://schemas.openxmlformats.org/officeDocument/2006/relationships/image" Target="../media/image8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5.xml"/><Relationship Id="rId4" Type="http://schemas.openxmlformats.org/officeDocument/2006/relationships/image" Target="../media/image8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6.xml"/><Relationship Id="rId4" Type="http://schemas.openxmlformats.org/officeDocument/2006/relationships/image" Target="../media/image8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7.xml"/><Relationship Id="rId4" Type="http://schemas.openxmlformats.org/officeDocument/2006/relationships/image" Target="../media/image8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8.xml"/><Relationship Id="rId4" Type="http://schemas.openxmlformats.org/officeDocument/2006/relationships/image" Target="../media/image8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9.xml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PREFACTOR FORMULATION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Expressing the general matrix elements in terms of the </a:t>
            </a:r>
            <a:r>
              <a:rPr lang="en-US" i="1" dirty="0" err="1"/>
              <a:t>mult</a:t>
            </a:r>
            <a:r>
              <a:rPr lang="en-US" dirty="0" err="1"/>
              <a:t>i</a:t>
            </a:r>
            <a:r>
              <a:rPr lang="en-US" i="1" dirty="0" err="1"/>
              <a:t>valley</a:t>
            </a:r>
            <a:r>
              <a:rPr lang="en-US" i="1" dirty="0"/>
              <a:t> basis using the </a:t>
            </a:r>
            <a:r>
              <a:rPr lang="en-US" i="1" dirty="0" err="1"/>
              <a:t>prefactor</a:t>
            </a:r>
            <a:r>
              <a:rPr lang="en-US" i="1" dirty="0"/>
              <a:t> formulation</a:t>
            </a:r>
          </a:p>
        </p:txBody>
      </p:sp>
    </p:spTree>
    <p:extLst>
      <p:ext uri="{BB962C8B-B14F-4D97-AF65-F5344CB8AC3E}">
        <p14:creationId xmlns:p14="http://schemas.microsoft.com/office/powerpoint/2010/main" val="2908728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GROUP THEORY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Resolving the input potential in terms of the irreducible representations of Td</a:t>
            </a:r>
          </a:p>
        </p:txBody>
      </p:sp>
    </p:spTree>
    <p:extLst>
      <p:ext uri="{BB962C8B-B14F-4D97-AF65-F5344CB8AC3E}">
        <p14:creationId xmlns:p14="http://schemas.microsoft.com/office/powerpoint/2010/main" val="2620057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Symmetrized potential projected onto symmetries of Td -- I</a:t>
            </a:r>
          </a:p>
        </p:txBody>
      </p:sp>
      <p:pic>
        <p:nvPicPr>
          <p:cNvPr id="7" name="Picture 6" descr="\documentclass{article}&#10;\usepackage{amsmath,bm,eufrak}&#10;\pagestyle{empty}&#10;\begin{document}&#10;&#10;\begin{align*}&#10;V^{\left(\mathcal{W}\right)_{01}}_{\parallel\slash\perp}&#10;&amp; =&#10;\sum_{j \in \Gamma\left(T_{d}\right)}&#10;\sum_{\kappa = 1}^{l_{j}}&#10;\sum_{\mu = 1}^{l_{j}}&#10;\mathfrak{q}_{\parallel\slash\perp,\mu\kappa}^{(j)\left(\mathcal{W}\right)_{01}}&#10;U^{(j)}_{\mu\kappa}&#10;\\&#10;\end{align*}&#10;&#10;\end{document}" title="IguanaTex Bitmap Display">
            <a:extLst>
              <a:ext uri="{FF2B5EF4-FFF2-40B4-BE49-F238E27FC236}">
                <a16:creationId xmlns:a16="http://schemas.microsoft.com/office/drawing/2014/main" id="{6DD7CC25-0109-4212-8417-547E7827071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452533" y="3429000"/>
            <a:ext cx="4097525" cy="824384"/>
          </a:xfrm>
          <a:prstGeom prst="rect">
            <a:avLst/>
          </a:prstGeom>
        </p:spPr>
      </p:pic>
      <p:pic>
        <p:nvPicPr>
          <p:cNvPr id="4" name="Picture 3" descr="\documentclass{article}&#10;\usepackage{amsmath,bm,eufrak}&#10;\pagestyle{empty}&#10;\begin{document}&#10;&#10;\begin{align*}&#10;U&#10;&amp;=&#10;\sum_{j \in \Gamma\left(T_{d}\right)}&#10;\sum_{\kappa = 1}^{l_{j}}&#10;U^{(j)}_{\kappa\kappa}&#10;\\&#10;U^{(j)}_{\lambda\kappa}&#10;&amp;=&#10;\frac{l_{j}}{h}&#10;\sum_{\hat{R}\in T_{d}}&#10;\left(\Gamma_{\hat{R}}^{(j)}\right)_{\lambda\kappa}^{*}&#10;U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E4F22FFA-C31B-4A1F-98D4-D8BD572964F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41944" y="2788341"/>
            <a:ext cx="2968380" cy="167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205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A</a:t>
            </a:r>
            <a:r>
              <a:rPr lang="en-US" baseline="30000" dirty="0"/>
              <a:t>(σ)</a:t>
            </a:r>
            <a:r>
              <a:rPr lang="en-US" dirty="0"/>
              <a:t>, and E</a:t>
            </a:r>
          </a:p>
        </p:txBody>
      </p:sp>
      <p:pic>
        <p:nvPicPr>
          <p:cNvPr id="4" name="Picture 3" descr="\documentclass{article}&#10;\usepackage{amsmath,bm,physics,array,multirow}&#10;\pagestyle{empty}&#10;&#10;\newcolumntype{C}{&gt;{$}c&lt;{$}}&#10;&#10;\begin{document}&#10;&#10;\begin{gather*}&#10;\left\{&#10;(xyz),&#10;(x\bar{y}\bar{z}),&#10;(\bar{x}y\bar{z}),&#10;(\bar{x}\bar{y}z),&#10;(yzx),&#10;(y\bar{z}\bar{x}),&#10;(\bar{y}z\bar{x}),&#10;(\bar{y}\bar{z}x),&#10;(zxy),&#10;(\bar{z}x\bar{y}),&#10;(\bar{z}\bar{x}y),&#10;(z\bar{x}\bar{y})&#10;\right\}&#10;\Rightarrow&#10;U^{\left(A^{\left(\sigma\right)}\right)}&#10;\\&#10;\left\{&#10;(xzy),&#10;(x\bar{z}\bar{y}),&#10;(zyx),&#10;(\bar{z}y\bar{x}),&#10;(yxz),&#10;(\bar{y}\bar{x}z),&#10;(\bar{x}\bar{z}y),&#10;(\bar{x}z\bar{y}),&#10;(z\bar{y}\bar{x}),&#10;(\bar{z}\bar{y}x),&#10;(\bar{y}x\bar{z}),&#10;(y\bar{x}\bar{z})&#10;\right\}&#10;\Rightarrow&#10;\sigma U^{\left(A^{\left(\sigma\right)}\right)}&#10;\end{gather*}&#10;&#10;\end{document}" title="IguanaTex Bitmap Display">
            <a:extLst>
              <a:ext uri="{FF2B5EF4-FFF2-40B4-BE49-F238E27FC236}">
                <a16:creationId xmlns:a16="http://schemas.microsoft.com/office/drawing/2014/main" id="{547951B5-0561-4669-892A-D435871C394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84343" y="2551223"/>
            <a:ext cx="6023314" cy="490059"/>
          </a:xfrm>
          <a:prstGeom prst="rect">
            <a:avLst/>
          </a:prstGeom>
        </p:spPr>
      </p:pic>
      <p:pic>
        <p:nvPicPr>
          <p:cNvPr id="7" name="Picture 6" descr="\documentclass{article}&#10;\usepackage{amsmath,bm,physics,array,multirow}&#10;\pagestyle{empty}&#10;&#10;\newcolumntype{C}{&gt;{$}c&lt;{$}}&#10;&#10;\begin{document}&#10;&#10;\begin{gather*}&#10;\left\{&#10;(xyz),&#10;(x\bar{y}\bar{z}),&#10;(\bar{x}y\bar{z}),&#10;(\bar{x}\bar{y}z)&#10;\right\}&#10;\Rightarrow&#10;\begin{pmatrix}&#10;U^{(E)}_{11} &amp; U^{(E)}_{12} \\&#10;U^{(E)}_{21} &amp; U^{(E)}_{22} \\&#10;\end{pmatrix}&#10;\\&#10;\left\{&#10;(yzx),&#10;(y\bar{z}\bar{x}),&#10;(\bar{y}z\bar{x}),&#10;(\bar{y}\bar{z}x)&#10;\right\}&#10;\Rightarrow&#10;\begin{pmatrix}&#10;\tau^{2}U^{(E)}_{11} &amp; \tau^{2}U^{(E)}_{12} \\&#10;\tau U^{(E)}_{21}    &amp; \tau U^{(E)}_{22} \\&#10;\end{pmatrix}&#10;\\&#10;\left\{&#10;(zxy),&#10;(\bar{z}x\bar{y}),&#10;(\bar{z}\bar{x}y),&#10;(z\bar{x}\bar{y})&#10;\right\}&#10;\Rightarrow&#10;\begin{pmatrix}&#10;\tau U^{(E)}_{11}     &amp; \tau U^{(E)}_{12} \\&#10;\tau^{2} U^{(E)}_{21} &amp; \tau^{2} U^{(E)}_{22} \\&#10;\end{pmatrix}&#10;\\&#10;\left\{&#10;(xzy),&#10;(x\bar{z}\bar{y}),&#10;(\bar{x}\bar{z}y),&#10;(\bar{x}z\bar{y})&#10;\right\}&#10;\Rightarrow&#10;\begin{pmatrix}&#10;\tau^{2}U^{(E)}_{21} &amp; \tau^{2}U^{(E)}_{22} \\&#10;\tau U^{(E)}_{11}    &amp; \tau U^{(E)}_{12} \\&#10;\end{pmatrix}&#10;\\&#10;\left\{&#10;(zyx),&#10;(\bar{z}y\bar{x}),&#10;(z\bar{y}\bar{x}),&#10;(\bar{z}\bar{y}x)&#10;\right\}&#10;\Rightarrow&#10;\begin{pmatrix}&#10;\tau U^{(E)}_{21}    &amp; \tau U^{(E)}_{22} \\&#10;\tau^{2}U^{(E)}_{11} &amp; \tau^{2}U^{(E)}_{12} \\&#10;\end{pmatrix}&#10;\\&#10;\left\{&#10;(yxz),&#10;(\bar{y}\bar{x}z),&#10;(\bar{y}x\bar{z}),&#10;(y\bar{x}\bar{z})&#10;\right\}&#10;\Rightarrow&#10;\begin{pmatrix}&#10;U^{(E)}_{21} &amp; U^{(E)}_{22} \\&#10;U^{(E)}_{11} &amp; U^{(E)}_{12} \\&#10;\end{pmatrix}&#10;\end{gather*}&#10;&#10;\end{document}" title="IguanaTex Bitmap Display">
            <a:extLst>
              <a:ext uri="{FF2B5EF4-FFF2-40B4-BE49-F238E27FC236}">
                <a16:creationId xmlns:a16="http://schemas.microsoft.com/office/drawing/2014/main" id="{FD716795-5EEA-42D6-AEF9-4D131699D9E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34744" y="3439578"/>
            <a:ext cx="3322513" cy="303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97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T</a:t>
            </a:r>
            <a:r>
              <a:rPr lang="en-US" baseline="30000" dirty="0"/>
              <a:t>(σ)</a:t>
            </a:r>
          </a:p>
        </p:txBody>
      </p:sp>
      <p:pic>
        <p:nvPicPr>
          <p:cNvPr id="26" name="Picture 25" descr="\documentclass{article}&#10;\usepackage{amsmath,bm,physics,array,multirow}&#10;\pagestyle{empty}&#10;&#10;\newcolumntype{C}{&gt;{$}c&lt;{$}}&#10;&#10;\begin{document}&#10;&#10;&#10;\begin{equation*}&#10;\begin{tabular}{CCC}&#10;(yzx)&#10;&amp; \Rightarrow &amp;&#10;\begin{pmatrix}&#10;U_{x,2} &amp; U_{y}   &amp; U_{z,2}\\&#10;U_{x,3} &amp; U_{y,3} &amp; U_{z}\\&#10;U_{x}   &amp; U_{y,1} &amp; U_{z,1}\\&#10;\end{pmatrix}&#10;\\&#10;(y\bar{z}\bar{x})&#10;&amp; \Rightarrow &amp;&#10;\begin{pmatrix}&#10; U_{x,2} &amp;  U_{y}   &amp;  U_{z,2}\\&#10;-U_{x,3} &amp; -U_{y,3} &amp; -U_{z}\\&#10;-U_{x}   &amp; -U_{y,1} &amp; -U_{z,1}\\&#10;\end{pmatrix}&#10;\\&#10;(\bar{y}z\bar{x})&#10;&amp; \Rightarrow &amp;&#10;\begin{pmatrix}&#10;-U_{x,2} &amp; -U_{y}   &amp; -U_{z,2}\\&#10; U_{x,3} &amp;  U_{y,3} &amp;  U_{z}\\&#10;-U_{x}   &amp; -U_{y,1} &amp; -U_{z,1}\\&#10;\end{pmatrix}&#10;\\&#10;(\bar{y}\bar{z}x)&#10;&amp; \Rightarrow &amp;&#10;\begin{pmatrix}&#10;-U_{x,2} &amp; -U_{y}   &amp; -U_{z,2}\\&#10;-U_{x,3} &amp; -U_{y,3} &amp; -U_{z}\\&#10; U_{x}   &amp;  U_{y,1} &amp;  U_{z,1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EF6CE20C-D55D-4E8A-80FE-0DB38431B66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7437" y="4337874"/>
            <a:ext cx="2562738" cy="2186064"/>
          </a:xfrm>
          <a:prstGeom prst="rect">
            <a:avLst/>
          </a:prstGeom>
        </p:spPr>
      </p:pic>
      <p:pic>
        <p:nvPicPr>
          <p:cNvPr id="14" name="Picture 13" descr="\documentclass{article}&#10;\usepackage{amsmath,bm,physics,array,multirow}&#10;\pagestyle{empty}&#10;&#10;\newcolumntype{C}{&gt;{$}c&lt;{$}}&#10;&#10;\begin{document}&#10;&#10;\begin{equation*}&#10;\begin{tabular}{CCC}&#10;(xyz)&#10;&amp; \Rightarrow &amp;&#10;\begin{pmatrix}&#10;U_{x}   &amp; U_{y,1} &amp; U_{z,1}\\&#10;U_{x,2} &amp; U_{y}   &amp; U_{z,2}\\&#10;U_{x,3} &amp; U_{y,3} &amp; U_{z}\\&#10;\end{pmatrix}&#10;\\&#10;(x\bar{y}\bar{z})&#10;&amp; \Rightarrow &amp;&#10;\begin{pmatrix}&#10;U_{x}    &amp; U_{y,1}  &amp; U_{z,1}\\&#10;-U_{x,2} &amp; -U_{y}   &amp; -U_{z,2}\\&#10;-U_{x,3} &amp; -U_{y,3} &amp; -U_{z}\\&#10;\end{pmatrix}&#10;\\&#10;(\bar{x}y\bar{z})&#10;&amp; \Rightarrow &amp;&#10;\begin{pmatrix}&#10;-U_{x}   &amp; -U_{y,1} &amp; -U_{z,1}\\&#10; U_{x,2} &amp;  U_{y}   &amp;  U_{z,2}\\&#10;-U_{x,3} &amp; -U_{y,3} &amp; -U_{z}\\&#10;\end{pmatrix}&#10;\\&#10;(\bar{x}\bar{y}z)&#10;&amp; \Rightarrow &amp;&#10;\begin{pmatrix}&#10;-U_{x}   &amp; -U_{y,1} &amp; -U_{z,1}\\&#10;-U_{x,2} &amp; -U_{y}   &amp; -U_{z,2}\\&#10; U_{x,3} &amp;  U_{y,3} &amp;  U_{z}\\&#10;\end{pmatrix}&#10;\\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5BF30E86-D26B-4072-B330-9CA1F108EAF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96692" y="1876088"/>
            <a:ext cx="2562742" cy="2186062"/>
          </a:xfrm>
          <a:prstGeom prst="rect">
            <a:avLst/>
          </a:prstGeom>
        </p:spPr>
      </p:pic>
      <p:pic>
        <p:nvPicPr>
          <p:cNvPr id="34" name="Picture 33" descr="\documentclass{article}&#10;\usepackage{amsmath,bm,physics,array,multirow}&#10;\pagestyle{empty}&#10;&#10;\newcolumntype{C}{&gt;{$}c&lt;{$}}&#10;&#10;\begin{document}&#10;&#10;&#10;\begin{equation*}&#10;\begin{tabular}{CCC}&#10;(zxy)&#10;&amp; \Rightarrow &amp;&#10;\begin{pmatrix}&#10;U_{x,3} &amp; U_{y,3} &amp; U_{z}\\&#10;U_{x} &amp; U_{y,1} &amp; U_{z,1}\\&#10;U_{x,2} &amp; U_{y} &amp; U_{z,2}\\&#10;\end{pmatrix}&#10;\\&#10;(\bar{z}x\bar{y})&#10;&amp; \Rightarrow &amp;&#10;\begin{pmatrix}&#10;-U_{x,3} &amp; -U_{y,3} &amp; -U_{z}\\&#10; U_{x}   &amp;  U_{y,1} &amp;  U_{z,1}\\&#10;-U_{x,2} &amp; -U_{y}   &amp; -U_{z,2}\\&#10;\end{pmatrix}&#10;\\&#10;(\bar{z}\bar{x}y)&#10;&amp; \Rightarrow &amp;&#10;\begin{pmatrix}&#10;-U_{x,3} &amp; -U_{y,3} &amp; -U_{z}\\&#10;-U_{x}   &amp; -U_{y,1} &amp; -U_{z,1}\\&#10; U_{x,2} &amp;  U_{y}   &amp;  U_{z,2}\\&#10;\end{pmatrix}&#10;\\&#10;(z\bar{x}\bar{y})&#10;&amp; \Rightarrow &amp;&#10;\begin{pmatrix}&#10; U_{x,3} &amp;  U_{y,3} &amp;  U_{z}\\&#10;-U_{x}   &amp; -U_{y,1} &amp; -U_{z,1}\\&#10;-U_{x,2} &amp; -U_{y}   &amp; -U_{z,2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7686F7FA-C4E0-40D1-8AA9-9A9DAA9227E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756126" y="1876087"/>
            <a:ext cx="2562734" cy="2186065"/>
          </a:xfrm>
          <a:prstGeom prst="rect">
            <a:avLst/>
          </a:prstGeom>
        </p:spPr>
      </p:pic>
      <p:pic>
        <p:nvPicPr>
          <p:cNvPr id="45" name="Picture 44" descr="\documentclass{article}&#10;\usepackage{amsmath,bm,physics,array,multirow}&#10;\pagestyle{empty}&#10;&#10;\newcolumntype{C}{&gt;{$}c&lt;{$}}&#10;&#10;\begin{document}&#10;&#10;&#10;\begin{equation*}&#10;\begin{tabular}{CCC}&#10;(xzy)&#10;&amp; \Rightarrow &amp;&#10;\sigma&#10;\begin{pmatrix}&#10;U_{x}   &amp; U_{y,1} &amp; U_{z,1}\\&#10;U_{x,3} &amp; U_{y,3} &amp; U_{z}\\&#10;U_{x,2} &amp; U_{y}   &amp; U_{z,2}\\&#10;\end{pmatrix}&#10;\\&#10;(x\bar{z}\bar{y})&#10;&amp; \Rightarrow &amp;&#10;\sigma&#10;\begin{pmatrix}&#10; U_{x}   &amp;  U_{y,1} &amp;  U_{z,1}\\&#10;-U_{x,3} &amp; -U_{y,3} &amp; -U_{z}\\&#10;-U_{x,2} &amp; -U_{y}   &amp; -U_{z,2}\\&#10;\end{pmatrix}&#10;\\&#10;(zyx)&#10;&amp; \Rightarrow &amp;&#10;\sigma&#10;\begin{pmatrix}&#10;U_{x,3} &amp; U_{y,3} &amp; U^{(j)}_{z}\\&#10;U_{x,2} &amp; U_{y}   &amp; U^{(j)}_{z,2}\\&#10;U_{x}   &amp; U_{y,1} &amp; U^{(j)}_{z,1}\\&#10;\end{pmatrix}&#10;\\&#10;(\bar{z}y\bar{x})&#10;&amp; \Rightarrow &amp;&#10;\sigma&#10;\begin{pmatrix}&#10;-U_{x,3} &amp; -U_{y,3} &amp; -U_{z}\\&#10; U_{x,2} &amp;  U_{y}   &amp;  U_{z,2}\\&#10;-U_{x}   &amp; -U_{y,1} &amp; -U_{z,1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3EA83D8A-9424-4A4D-8976-FB3C0EC12B4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697612" y="4284846"/>
            <a:ext cx="2679760" cy="2292121"/>
          </a:xfrm>
          <a:prstGeom prst="rect">
            <a:avLst/>
          </a:prstGeom>
        </p:spPr>
      </p:pic>
      <p:pic>
        <p:nvPicPr>
          <p:cNvPr id="50" name="Picture 49" descr="\documentclass{article}&#10;\usepackage{amsmath,bm,physics,array,multirow}&#10;\pagestyle{empty}&#10;&#10;\newcolumntype{C}{&gt;{$}c&lt;{$}}&#10;&#10;\begin{document}&#10;&#10;&#10;\begin{equation*}&#10;\begin{tabular}{CCC}&#10;(yxz)&#10;&amp; \Rightarrow &amp;&#10;\sigma&#10;\begin{pmatrix}&#10;U_{x,2} &amp; U_{y}   &amp; U_{z,2}\\&#10;U_{x}   &amp; U_{y,1} &amp; U_{z,1}\\&#10;U_{x,3} &amp; U_{y,3} &amp; U_{z}\\&#10;\end{pmatrix}&#10;\\&#10;(\bar{y}\bar{x}z)&#10;&amp; \Rightarrow &amp;&#10;\sigma&#10;\begin{pmatrix}&#10;-U_{x,2} &amp; -U_{y,2} &amp; -U_{z,2}\\&#10;-U_{x,1} &amp; -U_{y,1} &amp; -U_{z,1}\\&#10; U_{x,3} &amp;  U_{y,3} &amp;  U_{z}\\&#10;\end{pmatrix}&#10;\\&#10;(\bar{x}\bar{z}y)&#10;&amp; \Rightarrow &amp;&#10;\sigma&#10;\begin{pmatrix}&#10;-U_{x}   &amp; -U_{y,1} &amp; -U_{z,1}\\&#10;-U_{x,3} &amp; -U_{y,3} &amp; -U_{z}\\&#10; U_{x,2} &amp;  U_{y}   &amp;  U_{z,2}\\&#10;\end{pmatrix}&#10;\\&#10;(\bar{x}z\bar{y})&#10;&amp; \Rightarrow &amp;&#10;\sigma&#10;\begin{pmatrix}&#10;-U_{x,1} &amp; -U_{y,1} &amp; -U_{z,1}\\&#10; U_{x,3} &amp;  U_{y,3} &amp;  U_{z,3}\\&#10;-U_{x,2} &amp; -U_{y,2} &amp; -U_{z,2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ECC16AA8-FEAF-4AE3-8B67-ADBFECDA7AF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415551" y="1876087"/>
            <a:ext cx="2679758" cy="2186064"/>
          </a:xfrm>
          <a:prstGeom prst="rect">
            <a:avLst/>
          </a:prstGeom>
        </p:spPr>
      </p:pic>
      <p:pic>
        <p:nvPicPr>
          <p:cNvPr id="55" name="Picture 54" descr="\documentclass{article}&#10;\usepackage{amsmath,bm,physics,array,multirow}&#10;\pagestyle{empty}&#10;&#10;\newcolumntype{C}{&gt;{$}c&lt;{$}}&#10;&#10;\begin{document}&#10;&#10;&#10;\begin{equation*}&#10;\begin{tabular}{CCC}&#10;(z\bar{y}\bar{x})&#10;&amp; \Rightarrow &amp;&#10;\sigma&#10;\begin{pmatrix}&#10; U_{x,3} &amp;  U_{y,3} &amp;  U_{z}\\&#10;-U_{x,2} &amp; -U_{y}   &amp; -U_{z,2}\\&#10;-U_{x}   &amp; -U_{y,1} &amp; -U_{z,1}\\&#10;\end{pmatrix}&#10;\\&#10;(\bar{z}\bar{y}x)&#10;&amp; \Rightarrow &amp;&#10;\sigma&#10;\begin{pmatrix}&#10;-U_{x,3} &amp; -U_{y,3} &amp; -U_{z}\\&#10;-U_{x,2} &amp; -U_{y}   &amp; -U_{z,2}\\&#10; U_{x}   &amp;  U_{y,1} &amp;  U_{z,1}\\&#10;\end{pmatrix}&#10;\\&#10;(\bar{y}x\bar{z})&#10;&amp; \Rightarrow &amp;&#10;\sigma&#10;\begin{pmatrix}&#10;-U_{x,2} &amp; -U_{y}   &amp; -U_{z,2}\\&#10; U_{x,1} &amp;  U_{y,1} &amp;  U_{z,1}\\&#10;-U_{x,3} &amp; -U_{y,3} &amp; -U_{z}\\&#10;\end{pmatrix}&#10;\\&#10;(y\bar{x}\bar{z})&#10;&amp; \Rightarrow &amp;&#10;\sigma&#10;\begin{pmatrix}&#10; U_{x,2} &amp;  U_{y}   &amp;  U_{z,2}\\&#10;-U_{x}   &amp; -U_{y,1} &amp; -U_{z,1}\\&#10;-U_{x,3} &amp; -U_{y,3} &amp; -U_{z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57BF81EF-BAAB-461C-91D4-0CF668C2BF5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444809" y="4337874"/>
            <a:ext cx="2679756" cy="2186064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807475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Potential Matrix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Expressing how potentials slot into integrals given state symmetry</a:t>
            </a:r>
          </a:p>
        </p:txBody>
      </p:sp>
    </p:spTree>
    <p:extLst>
      <p:ext uri="{BB962C8B-B14F-4D97-AF65-F5344CB8AC3E}">
        <p14:creationId xmlns:p14="http://schemas.microsoft.com/office/powerpoint/2010/main" val="3741059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7B7D-E592-42F3-AF95-7F78D5D81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42137"/>
            <a:ext cx="6638544" cy="836126"/>
          </a:xfrm>
        </p:spPr>
        <p:txBody>
          <a:bodyPr/>
          <a:lstStyle/>
          <a:p>
            <a:r>
              <a:rPr lang="en-US" dirty="0"/>
              <a:t>A1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AA4BF-440D-4649-856A-064839DB24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73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32" name="Picture 31" descr="\documentclass{article}&#10;\usepackage{amsmath,bm,eufrak}&#10;\pagestyle{empty}&#10;\begin{document}&#10;&#10;\begin{align*}&#10;V^{\left(A_{1}\right)\mathcal{W}_{0}\mathcal{W}_{0}}_{\parallel}&#10;&amp; =&#10;U^{\left(A_{1}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4A324949-F367-48E9-8A10-F0A5D9B3850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09017" y="3231666"/>
            <a:ext cx="2137904" cy="394668"/>
          </a:xfrm>
          <a:prstGeom prst="rect">
            <a:avLst/>
          </a:prstGeom>
        </p:spPr>
      </p:pic>
      <p:pic>
        <p:nvPicPr>
          <p:cNvPr id="30" name="Picture 29" descr="\documentclass{article}&#10;\usepackage{amsmath,bm,eufrak}&#10;\pagestyle{empty}&#10;\begin{document}&#10;&#10;\begin{align*}&#10;V^{\left(A_{1}\right)A^{\sigma}A^{\sigma}}_{\perp}&#10;&amp; =&#10;2U^{\left(A_{1}\right)}&#10;\\&#10;V^{\left(A_{1}\right)E_{i\sigma}E_{i\sigma}}_{\perp}&#10;&amp; =&#10;-U^{\left(A_{1}\right)}&#10;\\&#10;V^{\left(A_{1}\right)E_{i\sigma}E_{i\bar{\sigma}}}_{\perp}&#10;&amp; =&#10;\sigma\sqrt{3}U^{\left(A_{1}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C9A2BA95-85C7-4CCC-9D5C-0354F6BB1A3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281271" y="2802712"/>
            <a:ext cx="2701713" cy="1252577"/>
          </a:xfrm>
          <a:prstGeom prst="rect">
            <a:avLst/>
          </a:prstGeom>
        </p:spPr>
      </p:pic>
      <p:pic>
        <p:nvPicPr>
          <p:cNvPr id="28" name="Picture 27" descr="\documentclass{article}&#10;\usepackage{amsmath,bm,eufrak}&#10;\pagestyle{empty}&#10;\begin{document}&#10;&#10;\begin{align*}&#10;V^{\left(A_{1}\right)\mathcal{W}_{0}\mathcal{W}_{1}}_{\parallel\slash\perp}&#10;&amp; =&#10;0&#10;\\&#10;\end{align*}&#10;&#10;\end{document}" title="IguanaTex Bitmap Display">
            <a:extLst>
              <a:ext uri="{FF2B5EF4-FFF2-40B4-BE49-F238E27FC236}">
                <a16:creationId xmlns:a16="http://schemas.microsoft.com/office/drawing/2014/main" id="{3FD1130D-4503-4A97-8114-9210C3B6B2A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263239" y="4803944"/>
            <a:ext cx="1665523" cy="39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580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7B7D-E592-42F3-AF95-7F78D5D81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42137"/>
            <a:ext cx="6638544" cy="836126"/>
          </a:xfrm>
        </p:spPr>
        <p:txBody>
          <a:bodyPr/>
          <a:lstStyle/>
          <a:p>
            <a:r>
              <a:rPr lang="en-US" dirty="0"/>
              <a:t>A2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AA4BF-440D-4649-856A-064839DB24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80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8" name="Picture 7" descr="\documentclass{article}&#10;\usepackage{amsmath,bm,eufrak}&#10;\pagestyle{empty}&#10;\begin{document}&#10;&#10;\begin{align*}&#10;V^{\left(A_{2}\right)A^{\sigma}A^{\bar{\sigma}}}_{\parallel}&#10;&amp; =&#10;U^{\left(A_{2}\right)}&#10;\\&#10;V^{\left(A_{2}\right)E_{i\sigma}E_{i\bar{\sigma}}}_{\parallel}&#10;&amp; =&#10;\mathrm{i}\sigma\left(\delta_{i1}-\delta_{i2}\right)U^{\left(A_{2}\right)}&#10;\\&#10;V^{\left(A_{2}\right)T^{\sigma}T^{\bar{\sigma}}}_{\parallel}&#10;&amp; =&#10;U^{\left(A_{2}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1FE14630-3F4B-4DD0-A292-07DE7D31527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24318" y="2718142"/>
            <a:ext cx="3619049" cy="1421717"/>
          </a:xfrm>
          <a:prstGeom prst="rect">
            <a:avLst/>
          </a:prstGeom>
        </p:spPr>
      </p:pic>
      <p:pic>
        <p:nvPicPr>
          <p:cNvPr id="10" name="Picture 9" descr="\documentclass{article}&#10;\usepackage{amsmath,bm,eufrak}&#10;\pagestyle{empty}&#10;\begin{document}&#10;&#10;\begin{align*}&#10;V^{\left(A_{2}\right)A^{\sigma}A^{\bar{\sigma}}}_{\perp}&#10;&amp; =&#10;2U^{\left(A_{2}\right)}&#10;\\&#10;V^{\left(A_{2}\right)E_{i\sigma}E_{i\sigma}}_{\perp}&#10;&amp; =&#10;-\mathrm{i}\left(\delta_{i1}-\delta_{i2}\right)\sqrt{3}U^{\left(A_{2}\right)}&#10;\\&#10;V^{\left(A_{2}\right)E_{i\sigma}E_{i\bar{\sigma}}}_{\perp}&#10;&amp; =&#10;-\mathrm{i}\sigma\left(\delta_{i1}-\delta_{i2}\right)U^{\left(A_{2}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B7EF8D40-66E7-4D0A-9228-883CF4A3778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667683" y="2792807"/>
            <a:ext cx="4000000" cy="1272387"/>
          </a:xfrm>
          <a:prstGeom prst="rect">
            <a:avLst/>
          </a:prstGeom>
        </p:spPr>
      </p:pic>
      <p:pic>
        <p:nvPicPr>
          <p:cNvPr id="19" name="Picture 18" descr="\documentclass{article}&#10;\usepackage{amsmath,bm,eufrak}&#10;\pagestyle{empty}&#10;\begin{document}&#10;&#10;\begin{align*}&#10;V^{\left(A_{2}\right)\mathcal{W}_{0}\mathcal{W}_{1}}_{\parallel\slash\perp}&#10;&amp; =&#10;0&#10;\\&#10;\end{align*}&#10;&#10;\end{document}" title="IguanaTex Bitmap Display">
            <a:extLst>
              <a:ext uri="{FF2B5EF4-FFF2-40B4-BE49-F238E27FC236}">
                <a16:creationId xmlns:a16="http://schemas.microsoft.com/office/drawing/2014/main" id="{016487A6-858F-4861-9FB6-B2AC265576D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263240" y="4803944"/>
            <a:ext cx="1665523" cy="39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03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7B7D-E592-42F3-AF95-7F78D5D81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42137"/>
            <a:ext cx="6638544" cy="836126"/>
          </a:xfrm>
        </p:spPr>
        <p:txBody>
          <a:bodyPr/>
          <a:lstStyle/>
          <a:p>
            <a:r>
              <a:rPr lang="en-US" dirty="0"/>
              <a:t>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AA4BF-440D-4649-856A-064839DB24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00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756E8F4-5104-4594-928B-EE08AC659DA5}"/>
              </a:ext>
            </a:extLst>
          </p:cNvPr>
          <p:cNvGrpSpPr/>
          <p:nvPr/>
        </p:nvGrpSpPr>
        <p:grpSpPr>
          <a:xfrm>
            <a:off x="2521146" y="2146286"/>
            <a:ext cx="7149708" cy="2565429"/>
            <a:chOff x="2521146" y="2146286"/>
            <a:chExt cx="7149708" cy="2565429"/>
          </a:xfrm>
        </p:grpSpPr>
        <p:pic>
          <p:nvPicPr>
            <p:cNvPr id="5" name="Picture 4" descr="\documentclass{article}&#10;\usepackage{amsmath,bm,eufrak}&#10;\pagestyle{empty}&#10;\begin{document}&#10;&#10;\begin{align*}&#10;V^{\left(E\right)A_{+}E_{2+}}_{\parallel} &amp; = U^{\left(E\right)}_{11} + U^{\left(E\right)}_{21}&#10;&amp;&#10;V^{\left(E\right)A_{+}E_{2-}}_{\parallel} &amp; = -\mathrm{i}\left(U^{\left(E\right)}_{11} - U^{\left(E\right)}_{21}\right)&#10;\\&#10;V^{\left(E\right)A_{-}E_{2+}}_{\parallel} &amp; = U^{\left(E\right)}_{11} - U^{\left(E\right)}_{21}&#10;&amp;&#10;V^{\left(E\right)A_{-}E_{2-}}_{\parallel} &amp; = -\mathrm{i}\left(U^{\left(E\right)}_{11} + U^{\left(E\right)}_{21}\right)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721BE05F-D17C-4E06-8F8B-0AD82DA2513B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521146" y="3699903"/>
              <a:ext cx="7149708" cy="1011812"/>
            </a:xfrm>
            <a:prstGeom prst="rect">
              <a:avLst/>
            </a:prstGeom>
          </p:spPr>
        </p:pic>
        <p:pic>
          <p:nvPicPr>
            <p:cNvPr id="20" name="Picture 19" descr="\documentclass{article}&#10;\usepackage{amsmath,bm,eufrak}&#10;\pagestyle{empty}&#10;\begin{document}&#10;&#10;\begin{align*}&#10;V^{\left(E\right)A_{+}E_{1+}}_{\parallel} &amp; = U^{\left(E\right)}_{22} + U^{\left(E\right)}_{12}&#10;&amp;&#10;V^{\left(E\right)A_{+}E_{1-}}_{\parallel} &amp; = \mathrm{i}\left(U^{\left(E\right)}_{22} - U^{\left(E\right)}_{12}\right)&#10;\\&#10;V^{\left(E\right)A_{-}E_{1+}}_{\parallel} &amp; = U^{\left(E\right)}_{22} - U^{\left(E\right)}_{12}&#10;&amp;&#10;V^{\left(E\right)A_{-}E_{1-}}_{\parallel} &amp; = \mathrm{i}\left(U^{\left(E\right)}_{22} + U^{\left(E\right)}_{12}\right)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6360C2D5-C900-41FA-ADED-B240507CA5E4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2586670" y="2146286"/>
              <a:ext cx="7018661" cy="10118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7416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77DAC4-1CFF-43E9-B5C0-5AE7EF8360FF}"/>
              </a:ext>
            </a:extLst>
          </p:cNvPr>
          <p:cNvGrpSpPr/>
          <p:nvPr/>
        </p:nvGrpSpPr>
        <p:grpSpPr>
          <a:xfrm>
            <a:off x="2262098" y="2093280"/>
            <a:ext cx="7667804" cy="2671440"/>
            <a:chOff x="2262098" y="2093280"/>
            <a:chExt cx="7667804" cy="2671440"/>
          </a:xfrm>
        </p:grpSpPr>
        <p:pic>
          <p:nvPicPr>
            <p:cNvPr id="12" name="Picture 11" descr="\documentclass{article}&#10;\usepackage{amsmath,bm,eufrak}&#10;\pagestyle{empty}&#10;\begin{document}&#10;&#10;\begin{align*}&#10;V^{\left(E\right)E_{1+}A_{+}}_{\parallel} &amp; = U^{\left(E\right)}_{11} + U^{\left(E\right)}_{21}&#10;&amp;&#10;V^{\left(E\right)E_{1+}A_{-}}_{\parallel} &amp; = U^{\left(E\right)}_{11} - U^{\left(E\right)}_{21}&#10;\\&#10;V^{\left(E\right)E_{1-}A_{+}}_{\parallel} &amp; = -\mathrm{i}\left(U^{\left(E\right)}_{11} - U^{\left(E\right)}_{21}\right)&#10;&amp;&#10;V^{\left(E\right)E_{1-}A_{-}}_{\parallel} &amp; = -\mathrm{i}\left(U^{\left(E\right)}_{11} + U^{\left(E\right)}_{21}\right)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937FC920-9251-4EB1-AD1F-2FFBE9C2800C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316956" y="2093280"/>
              <a:ext cx="7558089" cy="953907"/>
            </a:xfrm>
            <a:prstGeom prst="rect">
              <a:avLst/>
            </a:prstGeom>
          </p:spPr>
        </p:pic>
        <p:pic>
          <p:nvPicPr>
            <p:cNvPr id="5" name="Picture 4" descr="\documentclass{article}&#10;\usepackage{amsmath,bm,eufrak}&#10;\pagestyle{empty}&#10;\begin{document}&#10;&#10;\begin{align*}&#10;V^{\left(E\right)E_{1+}E_{2+}}_{\parallel} &amp; = U^{\left(E\right)}_{22} + U^{\left(E\right)}_{12}&#10;&amp;&#10;V^{\left(E\right)E_{1+}E_{2-}}_{\parallel} &amp; = -\mathrm{i}\left(U^{\left(E\right)}_{22} - U^{\left(E\right)}_{12}\right)&#10;\\&#10;V^{\left(E\right)E_{1-}E_{2+}}_{\parallel} &amp; = -\mathrm{i}\left(U^{\left(E\right)}_{22} - U^{\left(E\right)}_{12}\right)&#10;&amp;&#10;V^{\left(E\right)E_{1-}E_{2-}}_{\parallel} &amp; = -\left(U^{\left(E\right)}_{22} + U^{\left(E\right)}_{12}\right)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7350CB2D-5265-441C-B507-5BE3FF3C156D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2262098" y="3752908"/>
              <a:ext cx="7667804" cy="10118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1607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C7569A1-EC28-46D4-AFB3-17C1672A280E}"/>
              </a:ext>
            </a:extLst>
          </p:cNvPr>
          <p:cNvGrpSpPr/>
          <p:nvPr/>
        </p:nvGrpSpPr>
        <p:grpSpPr>
          <a:xfrm>
            <a:off x="2350479" y="1968590"/>
            <a:ext cx="7491042" cy="2920821"/>
            <a:chOff x="2350479" y="1968590"/>
            <a:chExt cx="7491042" cy="2920821"/>
          </a:xfrm>
        </p:grpSpPr>
        <p:pic>
          <p:nvPicPr>
            <p:cNvPr id="10" name="Picture 9" descr="\documentclass{article}&#10;\usepackage{amsmath,bm,eufrak}&#10;\pagestyle{empty}&#10;\begin{document}&#10;&#10;\begin{align*}&#10;V^{\left(E\right)E_{2+}E_{1+}}_{\parallel} &amp; = U^{\left(E\right)}_{11} + U^{\left(E\right)}_{21}&#10;&amp;&#10;V^{\left(E\right)E_{2+}E_{1-}}_{\parallel} &amp; = \mathrm{i}\left(U^{\left(E\right)}_{11} - U^{\left(E\right)}_{21}\right)&#10;\\&#10;V^{\left(E\right)E_{2-}E_{1+}}_{\parallel} &amp; = \mathrm{i}\left(U^{\left(E\right)}_{11} - U^{\left(E\right)}_{21}\right)&#10;&amp;&#10;V^{\left(E\right)E_{2-}E_{1-}}_{\parallel} &amp; = -\left(U^{\left(E\right)}_{11} + U^{\left(E\right)}_{21}\right)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65B49A34-D4FF-434A-8246-6DF75774D20C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350479" y="3877599"/>
              <a:ext cx="7491042" cy="1011812"/>
            </a:xfrm>
            <a:prstGeom prst="rect">
              <a:avLst/>
            </a:prstGeom>
          </p:spPr>
        </p:pic>
        <p:pic>
          <p:nvPicPr>
            <p:cNvPr id="12" name="Picture 11" descr="\documentclass{article}&#10;\usepackage{amsmath,bm,eufrak}&#10;\pagestyle{empty}&#10;\begin{document}&#10;&#10;\begin{align*}&#10;V^{\left(E\right)E_{2+}A_{+}}_{\parallel} &amp; = U^{\left(E\right)}_{22} + U^{\left(E\right)}_{12}&#10;&amp;&#10;V^{\left(E\right)E_{2+}A_{-}}_{\parallel} &amp; = \left(U^{\left(E\right)}_{22} - U^{\left(E\right)}_{12}\right)&#10;\\&#10;V^{\left(E\right)E_{2-}A_{+}}_{\parallel} &amp; = \mathrm{i}\left(U^{\left(E\right)}_{22} - U^{\left(E\right)}_{12}\right)&#10;&amp;&#10;V^{\left(E\right)E_{2-}A_{-}}_{\parallel} &amp; = \mathrm{i}\left(U^{\left(E\right)}_{22} + U^{\left(E\right)}_{12}\right)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238D106D-C1E3-49EF-9BBD-A0E00590C11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2448003" y="1968590"/>
              <a:ext cx="7295994" cy="10118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805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5" name="Picture 4" descr="\documentclass{article}&#10;\usepackage{amsmath,amssymb,bm}&#10;\pagestyle{empty}&#10;\begin{document}&#10;&#10;\begin{align*}&#10;V^{\left(E\right)T_{x\sigma}T_{x\sigma}}_{\parallel} &amp; =&#10;   \tau\left(U^{\left(E\right)}_{11} + U^{\left(E\right)}_{21}\right)&#10;   +&#10;   \tau^{2}\left(U^{\left(E\right)}_{22} + U^{\left(E\right)}_{12}\right)&#10;&amp;&#10;V^{\left(E\right)T_{x\sigma}T_{x\bar{\sigma}}}_{\parallel} &amp; =&#10;   \tau\left(U^{\left(E\right)}_{11} - U^{\left(E\right)}_{21}\right)&#10;   +&#10;   \tau^{2}\left(U^{\left(E\right)}_{22} - U^{\left(E\right)}_{12}\right)&#10;\\&#10;V^{\left(E\right)T_{y\sigma}T_{y\sigma}}_{\parallel} &amp; =&#10;   \tau^{2}\left(U^{\left(E\right)}_{11} + U^{\left(E\right)}_{21}\right)&#10;   +&#10;   \tau\left(U^{\left(E\right)}_{22} + U^{\left(E\right)}_{12}\right)&#10;&amp;&#10;V^{\left(E\right)T_{y\sigma}T_{y\bar{\sigma}}}_{\parallel} &amp; =&#10;   \tau^{2}\left(U^{\left(E\right)}_{11} - U^{\left(E\right)}_{21}\right)&#10;   +&#10;   \tau\left(U^{\left(E\right)}_{22} - U^{\left(E\right)}_{12}\right)&#10;\\&#10;V^{\left(E\right)T_{z\sigma}T_{z\sigma}}_{\parallel} &amp; =&#10;   U^{\left(E\right)}_{11} + U^{\left(E\right)}_{21}&#10;   +&#10;   U^{\left(E\right)}_{22} + U^{\left(E\right)}_{12}&#10;&amp;&#10;V^{\left(E\right)T_{z\sigma}T_{z\bar{\sigma}}}_{\parallel} &amp; =&#10;   U^{\left(E\right)}_{11} - U^{\left(E\right)}_{21}&#10;   +&#10;   \left(U^{\left(E\right)}_{22} - U^{\left(E\right)}_{12}\right)&#10;\\&#10;\end{align*}&#10;&#10;\end{document}" title="IguanaTex Bitmap Display">
            <a:extLst>
              <a:ext uri="{FF2B5EF4-FFF2-40B4-BE49-F238E27FC236}">
                <a16:creationId xmlns:a16="http://schemas.microsoft.com/office/drawing/2014/main" id="{8117D436-0EEA-440A-9F9C-741E43362E4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4573" y="2644998"/>
            <a:ext cx="11542855" cy="15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074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BCE44AF-2EC6-4E75-87FE-FA6B9594EA32}"/>
              </a:ext>
            </a:extLst>
          </p:cNvPr>
          <p:cNvGrpSpPr/>
          <p:nvPr/>
        </p:nvGrpSpPr>
        <p:grpSpPr>
          <a:xfrm>
            <a:off x="2079243" y="2146286"/>
            <a:ext cx="7853706" cy="2565429"/>
            <a:chOff x="2079243" y="2146286"/>
            <a:chExt cx="7853706" cy="2565429"/>
          </a:xfrm>
        </p:grpSpPr>
        <p:pic>
          <p:nvPicPr>
            <p:cNvPr id="33" name="Picture 32" descr="\documentclass{article}&#10;\usepackage{amsmath,bm,eufrak}&#10;\pagestyle{empty}&#10;\begin{document}&#10;&#10;\begin{align*}&#10;V^{\left(E\right)A_{+}E_{2+}}_{\perp} &amp; = \tau^{2}U^{\left(E\right)}_{11} + \tau U^{\left(E\right)}_{21}&#10;&amp;&#10;V^{\left(E\right)A_{+}E_{2-}}_{\perp} &amp; = -\mathrm{i}\left(\tau^{2}U^{\left(E\right)}_{11} - \tau U^{\left(E\right)}_{21}\right)&#10;\\&#10;V^{\left(E\right)A_{-}E_{2+}}_{\perp} &amp; = \tau^{2}U^{\left(E\right)}_{11} - \tau U^{\left(E\right)}_{21}&#10;&amp;&#10;V^{\left(E\right)A_{-}E_{2-}}_{\perp} &amp; = -\mathrm{i}\left(\tau^{2}U^{\left(E\right)}_{11} + \tau U^{\left(E\right)}_{21}\right)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82E266EF-F875-4285-9429-05B2AD89D35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259051" y="3699903"/>
              <a:ext cx="7673898" cy="1011812"/>
            </a:xfrm>
            <a:prstGeom prst="rect">
              <a:avLst/>
            </a:prstGeom>
          </p:spPr>
        </p:pic>
        <p:pic>
          <p:nvPicPr>
            <p:cNvPr id="5" name="Picture 4" descr="\documentclass{article}&#10;\usepackage{amsmath,bm,eufrak}&#10;\pagestyle{empty}&#10;\begin{document}&#10;&#10;\begin{align*}&#10;V^{\left(E\right)A_{+}E_{1+}}_{\perp} &amp; = \tau U^{\left(E\right)}_{22} + \tau^{2}U^{\left(E\right)}_{12}&#10;&amp;&#10;V^{\left(E\right)A_{+}E_{1-}}_{\perp} &amp; = \mathrm{i}\left(\tau U^{\left(E\right)}_{22} - \tau^{2}U^{\left(E\right)}_{12}\right)&#10;\\&#10;V^{\left(E\right)A_{-}E_{1+}}_{\perp} &amp; = \left(\tau U^{\left(E\right)}_{22} - \tau^{2}U^{\left(E\right)}_{12}\right)&#10;&amp;&#10;V^{\left(E\right)A_{-}E_{1-}}_{\perp} &amp; = \mathrm{i}\left(\tau U^{\left(E\right)}_{22} + \tau^{2}U^{\left(E\right)}_{12}\right)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10E61B8C-5501-48DF-B2B8-63C471A08F2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2079243" y="2146286"/>
              <a:ext cx="7743991" cy="10118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4720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3ECF1E2-43E3-40F9-8156-DBC1D5609CB4}"/>
              </a:ext>
            </a:extLst>
          </p:cNvPr>
          <p:cNvGrpSpPr/>
          <p:nvPr/>
        </p:nvGrpSpPr>
        <p:grpSpPr>
          <a:xfrm>
            <a:off x="2056384" y="2093280"/>
            <a:ext cx="8079232" cy="2671440"/>
            <a:chOff x="2056384" y="2093280"/>
            <a:chExt cx="8079232" cy="2671440"/>
          </a:xfrm>
        </p:grpSpPr>
        <p:pic>
          <p:nvPicPr>
            <p:cNvPr id="15" name="Picture 14" descr="\documentclass{article}&#10;\usepackage{amsmath,bm,eufrak}&#10;\pagestyle{empty}&#10;\begin{document}&#10;&#10;\begin{align*}&#10;V^{\left(E\right)E_{1+}A_{+}}_{\perp} &amp; = \tau U^{\left(E\right)}_{11} + \tau^{2}U^{\left(E\right)}_{21}&#10;&amp;&#10;V^{\left(E\right)E_{1+}A_{-}}_{\perp} &amp; = \tau U^{\left(E\right)}_{11} - \tau^{2}U^{\left(E\right)}_{21}&#10;\\&#10;V^{\left(E\right)E_{1-}A_{+}}_{\perp} &amp; = -\mathrm{i}\left(\tau U^{\left(E\right)}_{11} - \tau^{2}U^{\left(E\right)}_{21}\right)&#10;&amp;&#10;V^{\left(E\right)E_{1-}A_{-}}_{\perp} &amp; = -\mathrm{i}\left(\tau U^{\left(E\right)}_{11} + \tau^{2}U^{\left(E\right)}_{21}\right)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BBAFB2FB-8006-4C3D-9339-71517038C654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056384" y="2093280"/>
              <a:ext cx="8079232" cy="914288"/>
            </a:xfrm>
            <a:prstGeom prst="rect">
              <a:avLst/>
            </a:prstGeom>
          </p:spPr>
        </p:pic>
        <p:pic>
          <p:nvPicPr>
            <p:cNvPr id="5" name="Picture 4" descr="\documentclass{article}&#10;\usepackage{amsmath,bm,eufrak}&#10;\pagestyle{empty}&#10;\begin{document}&#10;&#10;\begin{align*}&#10;V^{\left(E\right)E_{1+}E_{2+}}_{\perp} &amp; = U^{\left(E\right)}_{22} + U^{\left(E\right)}_{12}&#10;&amp;&#10;V^{\left(E\right)E_{1+}E_{2-}}_{\perp} &amp; = -\mathrm{i}\left(U^{\left(E\right)}_{22} - U^{\left(E\right)}_{12}\right)&#10;\\&#10;V^{\left(E\right)E_{1-}E_{2+}}_{\perp} &amp; = -\mathrm{i}\left(U^{\left(E\right)}_{22} - U^{\left(E\right)}_{12}\right)&#10;&amp;&#10;V^{\left(E\right)E_{1-}E_{2-}}_{\perp} &amp; = -\left(U^{\left(E\right)}_{22} + U^{\left(E\right)}_{12}\right)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B5579E96-A3AD-4529-8A44-F51C50FB34AB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2350479" y="3752908"/>
              <a:ext cx="7667804" cy="10118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323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E095107-DD90-4BA7-AE14-AA0468E811F4}"/>
              </a:ext>
            </a:extLst>
          </p:cNvPr>
          <p:cNvGrpSpPr/>
          <p:nvPr/>
        </p:nvGrpSpPr>
        <p:grpSpPr>
          <a:xfrm>
            <a:off x="2079241" y="1968590"/>
            <a:ext cx="8033519" cy="2920821"/>
            <a:chOff x="2079241" y="1968590"/>
            <a:chExt cx="8033519" cy="2920821"/>
          </a:xfrm>
        </p:grpSpPr>
        <p:pic>
          <p:nvPicPr>
            <p:cNvPr id="20" name="Picture 19" descr="\documentclass{article}&#10;\usepackage{amsmath,bm,eufrak}&#10;\pagestyle{empty}&#10;\begin{document}&#10;&#10;\begin{align*}&#10;V^{\left(E\right)E_{2+}E_{1+}}_{\perp} &amp; = U^{\left(E\right)}_{11} + U^{\left(E\right)}_{21}&#10;&amp;&#10;V^{\left(E\right)E_{2+}E_{1-}}_{\perp} &amp; = \mathrm{i}\left(U^{\left(E\right)}_{11} - U^{\left(E\right)}_{21}\right)&#10;\\&#10;V^{\left(E\right)E_{2-}E_{1+}}_{\perp} &amp; = \mathrm{i}\left(U^{\left(E\right)}_{11} - U^{\left(E\right)}_{21}\right)&#10;&amp;&#10;V^{\left(E\right)E_{2-}E_{1-}}_{\perp} &amp; = -\left(U^{\left(E\right)}_{11} + U^{\left(E\right)}_{21}\right)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5032FF8D-F156-44BF-B3F8-376544AE299D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350479" y="3877599"/>
              <a:ext cx="7491042" cy="1011812"/>
            </a:xfrm>
            <a:prstGeom prst="rect">
              <a:avLst/>
            </a:prstGeom>
          </p:spPr>
        </p:pic>
        <p:pic>
          <p:nvPicPr>
            <p:cNvPr id="16" name="Picture 15" descr="\documentclass{article}&#10;\usepackage{amsmath,bm,eufrak}&#10;\pagestyle{empty}&#10;\begin{document}&#10;&#10;\begin{align*}&#10;V^{\left(E\right)E_{2+}A_{+}}_{\perp} &amp; = \tau U^{\left(E\right)}_{12} + \tau^{2}U^{\left(E\right)}_{22}&#10;&amp;&#10;V^{\left(E\right)E_{2+}A_{-}}_{\perp} &amp; = -\left(\tau U^{\left(E\right)}_{12} - \tau^{2}U^{\left(E\right)}_{22}\right)&#10;\\&#10;V^{\left(E\right)E_{2-}A_{+}}_{\perp} &amp; = -\mathrm{i}\left(\tau U^{\left(E\right)}_{12} - \tau^{2}U^{\left(E\right)}_{22}\right)&#10;&amp;&#10;V^{\left(E\right)E_{2-}A_{-}}_{\perp} &amp; = \mathrm{i}\left(\tau U^{\left(E\right)}_{12} + \tau^{2}U^{\left(E\right)}_{22}\right)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9237939B-21DF-4AD4-A045-ACB2CBEC64F2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2079241" y="1968590"/>
              <a:ext cx="8033519" cy="10118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642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7B7D-E592-42F3-AF95-7F78D5D81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42137"/>
            <a:ext cx="6638544" cy="836126"/>
          </a:xfrm>
        </p:spPr>
        <p:txBody>
          <a:bodyPr/>
          <a:lstStyle/>
          <a:p>
            <a:r>
              <a:rPr lang="en-US" dirty="0"/>
              <a:t>T1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AA4BF-440D-4649-856A-064839DB24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93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28" name="Picture 27" descr="\documentclass{article}&#10;\usepackage{amsmath,bm,eufrak}&#10;\pagestyle{empty}&#10;\begin{document}&#10;&#10;\begin{align*}&#10;V^{\left(T_{1}\right)A^{\sigma}T_{z}^{\bar{\sigma}}}_{\parallel}&#10;=&#10;V^{\left(T_{1}\right)E_{1+}T_{z}^{-}}_{\parallel}&#10;=&#10;V^{\left(T_{1}\right)E_{2+}T_{z}^{-}}_{\parallel}&#10;=&#10;V^{\left(T_{1}\right)T_{z}^{\sigma}A^{\bar{\sigma}}}_{\parallel}&#10;=&#10;V^{\left(T_{1}\right)T_{z}^{-}E_{1+}}_{\parallel}&#10;=&#10;V^{\left(T_{1}\right)T_{z}^{-}E_{2+}}_{\parallel}&#10;&amp; =&#10;\frac{1}{\sqrt{3}}&#10;U^{\left(T_{1}\right)}_{z,xyz}&#10;\\&#10;\end{align*}&#10;&#10;\end{document}" title="IguanaTex Bitmap Display">
            <a:extLst>
              <a:ext uri="{FF2B5EF4-FFF2-40B4-BE49-F238E27FC236}">
                <a16:creationId xmlns:a16="http://schemas.microsoft.com/office/drawing/2014/main" id="{4105D888-313D-4D6A-9247-0B0A487D4E1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00579" y="2957792"/>
            <a:ext cx="10390843" cy="576001"/>
          </a:xfrm>
          <a:prstGeom prst="rect">
            <a:avLst/>
          </a:prstGeom>
        </p:spPr>
      </p:pic>
      <p:pic>
        <p:nvPicPr>
          <p:cNvPr id="30" name="Picture 29" descr="\documentclass{article}&#10;\usepackage{amsmath,bm,eufrak}&#10;\pagestyle{empty}&#10;\begin{document}&#10;&#10;\begin{align*}&#10;V^{\left(T_{1}\right)E_{1-}T_{z}^{+}}_{\parallel}&#10;=&#10;V^{\left(T_{1}\right)T_{z}^{+}E_{2-}}_{\parallel}&#10;&amp; =&#10;-\frac{\mathrm{i}}{\sqrt{3}}U^{\left(T_{1}\right)}_{z,xyz}&#10;\\&#10;\end{align*}&#10;&#10;\end{document}" title="IguanaTex Bitmap Display">
            <a:extLst>
              <a:ext uri="{FF2B5EF4-FFF2-40B4-BE49-F238E27FC236}">
                <a16:creationId xmlns:a16="http://schemas.microsoft.com/office/drawing/2014/main" id="{2888ADF9-AD8D-4665-8D8D-BE33C4216C9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875050" y="4027616"/>
            <a:ext cx="4441901" cy="577525"/>
          </a:xfrm>
          <a:prstGeom prst="rect">
            <a:avLst/>
          </a:prstGeom>
        </p:spPr>
      </p:pic>
      <p:pic>
        <p:nvPicPr>
          <p:cNvPr id="22" name="Picture 21" descr="\documentclass{article}&#10;\usepackage{amsmath,bm,eufrak}&#10;\pagestyle{empty}&#10;\begin{document}&#10;&#10;\begin{align*}&#10;V^{\left(T_{1}\right)E_{2-}T_{z}^{+}}_{\parallel}&#10;=&#10;V^{\left(T_{1}\right)T_{z}^{+}E_{1-}}_{\parallel}&#10;&amp; =&#10;\frac{\mathrm{i}}{\sqrt{3}}U^{\left(T_{1}\right)}_{z,xyz}&#10;\\&#10;\end{align*}&#10;&#10;\end{document}" title="IguanaTex Bitmap Display">
            <a:extLst>
              <a:ext uri="{FF2B5EF4-FFF2-40B4-BE49-F238E27FC236}">
                <a16:creationId xmlns:a16="http://schemas.microsoft.com/office/drawing/2014/main" id="{3D551787-6666-48C3-9AE3-BA48C220429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974097" y="4983974"/>
            <a:ext cx="4243807" cy="57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842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58" name="Picture 57" descr="\documentclass{article}&#10;\usepackage{amsmath,bm,eufrak}&#10;\pagestyle{empty}&#10;\begin{document}&#10;&#10;\begin{align*}&#10;V^{\left(T_{1}\right)A^{\sigma}T_{x}^{\bar{\sigma}}}_{\parallel}&#10;=&#10;V^{\left(T_{1}\right)T_{x}^{\sigma}A^{\bar{\sigma}}}_{\parallel}&#10;&amp; =&#10;\frac{1}{\sqrt{3}}U^{\left(T_{1}\right)}_{x,zxy}&#10;\\&#10;\end{align*}&#10;&#10;\end{document}" title="IguanaTex Bitmap Display">
            <a:extLst>
              <a:ext uri="{FF2B5EF4-FFF2-40B4-BE49-F238E27FC236}">
                <a16:creationId xmlns:a16="http://schemas.microsoft.com/office/drawing/2014/main" id="{3401A4F1-4399-4278-BE10-FDA1F709AD9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101339" y="2851116"/>
            <a:ext cx="3989323" cy="576001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28604273-83D6-448E-9A96-F3D5620C2773}"/>
              </a:ext>
            </a:extLst>
          </p:cNvPr>
          <p:cNvGrpSpPr/>
          <p:nvPr/>
        </p:nvGrpSpPr>
        <p:grpSpPr>
          <a:xfrm>
            <a:off x="1233018" y="3883166"/>
            <a:ext cx="9725965" cy="617144"/>
            <a:chOff x="1233018" y="3883166"/>
            <a:chExt cx="9725965" cy="617144"/>
          </a:xfrm>
        </p:grpSpPr>
        <p:pic>
          <p:nvPicPr>
            <p:cNvPr id="61" name="Picture 60" descr="\documentclass{article}&#10;\usepackage{amsmath,bm,eufrak}&#10;\pagestyle{empty}&#10;\begin{document}&#10;&#10;\begin{align*}&#10;V^{\left(T_{1}\right)E_{1+}T_{x}^{-}}_{\parallel}&#10;=&#10;V^{\left(T_{1}\right)T_{x}^{-}E_{2+}}_{\parallel}&#10;&amp; =&#10;\frac{\tau^{2}}{\sqrt{3}}&#10;U^{\left(T_{1}\right)}_{x,zxy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3E8E3BC5-98E3-49EB-8B6C-89B4AC2B698F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233018" y="3883166"/>
              <a:ext cx="4257520" cy="617144"/>
            </a:xfrm>
            <a:prstGeom prst="rect">
              <a:avLst/>
            </a:prstGeom>
          </p:spPr>
        </p:pic>
        <p:pic>
          <p:nvPicPr>
            <p:cNvPr id="65" name="Picture 64" descr="\documentclass{article}&#10;\usepackage{amsmath,bm,eufrak}&#10;\pagestyle{empty}&#10;\begin{document}&#10;&#10;\begin{align*}&#10;V^{\left(T_{1}\right)E_{2+}T_{x}^{-}}_{\parallel}&#10;=&#10;V^{\left(T_{1}\right)T_{x}^{-}E_{1+}}_{\parallel}&#10;&amp; =&#10;\frac{\tau}{\sqrt{3}}U^{\left(T_{1}\right)}_{x,zxy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FA6DF21C-D8A6-48ED-986A-8F36FBB34714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6701461" y="3933452"/>
              <a:ext cx="4257522" cy="516573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3282EAA-E242-490C-ACED-A956B16432E7}"/>
              </a:ext>
            </a:extLst>
          </p:cNvPr>
          <p:cNvGrpSpPr/>
          <p:nvPr/>
        </p:nvGrpSpPr>
        <p:grpSpPr>
          <a:xfrm>
            <a:off x="1151494" y="4956361"/>
            <a:ext cx="9889013" cy="617142"/>
            <a:chOff x="1151494" y="4956361"/>
            <a:chExt cx="9889013" cy="617142"/>
          </a:xfrm>
        </p:grpSpPr>
        <p:pic>
          <p:nvPicPr>
            <p:cNvPr id="69" name="Picture 68" descr="\documentclass{article}&#10;\usepackage{amsmath,bm,eufrak}&#10;\pagestyle{empty}&#10;\begin{document}&#10;&#10;\begin{align*}&#10;V^{\left(T_{1}\right)E_{1-}T_{x}^{+}}_{\parallel}&#10;=&#10;V^{\left(T_{1}\right)T_{x}^{+}E_{2-}}_{\parallel}&#10;&amp; =&#10;-\frac{\mathrm{i}\tau^{2}}{\sqrt{3}}U^{\left(T_{1}\right)}_{x,zxy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80B1D9D5-39E3-4BD7-A9EE-DB2C4B44AFC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151494" y="4956361"/>
              <a:ext cx="4454092" cy="617142"/>
            </a:xfrm>
            <a:prstGeom prst="rect">
              <a:avLst/>
            </a:prstGeom>
          </p:spPr>
        </p:pic>
        <p:pic>
          <p:nvPicPr>
            <p:cNvPr id="73" name="Picture 72" descr="\documentclass{article}&#10;\usepackage{amsmath,bm,eufrak}&#10;\pagestyle{empty}&#10;\begin{document}&#10;&#10;\begin{align*}&#10;V^{\left(T_{1}\right)E_{2-}T_{x}^{+}}_{\parallel}&#10;=&#10;V^{\left(T_{1}\right)T_{x}^{+}E_{1-}}_{\parallel}&#10;&amp; =&#10;\frac{\mathrm{i}\tau}{\sqrt{3}}U^{\left(T_{1}\right)}_{x,zxy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B4873464-9445-4071-B3C0-B2B2F9D13AE1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6782986" y="4976172"/>
              <a:ext cx="4257521" cy="5775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0803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 descr="\documentclass{article}&#10;\usepackage{amsmath,bm,eufrak}&#10;\pagestyle{empty}&#10;\begin{document}&#10;&#10;\begin{align*}&#10;V^{\left(T_{1}\right)A^{\sigma}T_{y}^{\bar{\sigma}}}_{\parallel}&#10;=&#10;V^{\left(T_{1}\right)T_{y}^{\sigma}A^{\bar{\sigma}}}_{\parallel}&#10;&amp; =&#10;\frac{1}{\sqrt{3}}&#10;U^{\left(T_{1}\right)}_{y,yzx}&#10;\\&#10;\end{align*}&#10;&#10;\end{document}" title="IguanaTex Bitmap Display">
            <a:extLst>
              <a:ext uri="{FF2B5EF4-FFF2-40B4-BE49-F238E27FC236}">
                <a16:creationId xmlns:a16="http://schemas.microsoft.com/office/drawing/2014/main" id="{98318001-7C8D-4F10-8A0B-9459A0AA3F1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105148" y="2851112"/>
            <a:ext cx="3981705" cy="576002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7C60E06-8DAF-4107-A5DE-6F0BC8D43206}"/>
              </a:ext>
            </a:extLst>
          </p:cNvPr>
          <p:cNvGrpSpPr/>
          <p:nvPr/>
        </p:nvGrpSpPr>
        <p:grpSpPr>
          <a:xfrm>
            <a:off x="1238351" y="3898095"/>
            <a:ext cx="9715298" cy="617144"/>
            <a:chOff x="1238351" y="3898095"/>
            <a:chExt cx="9715298" cy="617144"/>
          </a:xfrm>
        </p:grpSpPr>
        <p:pic>
          <p:nvPicPr>
            <p:cNvPr id="71" name="Picture 70" descr="\documentclass{article}&#10;\usepackage{amsmath,bm,eufrak}&#10;\pagestyle{empty}&#10;\begin{document}&#10;&#10;\begin{align*}&#10;V^{\left(T_{1}\right)E_{1+}T_{y}^{-}}_{\parallel}&#10;=&#10;V^{\left(T_{1}\right)T_{y}^{-}E_{2+}}_{\parallel}&#10;&amp; =&#10;\frac{\tau}{\sqrt{3}}&#10;U^{\left(T_{1}\right)}_{y,yzx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47016FF6-7FC3-4D43-9DA7-CA1BF22D6391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6703748" y="3898097"/>
              <a:ext cx="4249901" cy="530287"/>
            </a:xfrm>
            <a:prstGeom prst="rect">
              <a:avLst/>
            </a:prstGeom>
          </p:spPr>
        </p:pic>
        <p:pic>
          <p:nvPicPr>
            <p:cNvPr id="67" name="Picture 66" descr="\documentclass{article}&#10;\usepackage{amsmath,bm,eufrak}&#10;\pagestyle{empty}&#10;\begin{document}&#10;&#10;\begin{align*}&#10;V^{\left(T_{1}\right)E_{2+}T_{y}^{-}}_{\parallel}&#10;=&#10;V^{\left(T_{1}\right)T_{y}^{-}E_{1+}}_{\parallel}&#10;&amp; =&#10;\frac{\tau^{2}}{\sqrt{3}}&#10;U^{\left(T_{1}\right)}_{y,yzx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2B528DF7-BA1E-43B9-8AFB-CF5AB9663C6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238351" y="3898095"/>
              <a:ext cx="4249902" cy="617144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9FB7CC9-BB90-469D-BBCA-3C0E1566BA39}"/>
              </a:ext>
            </a:extLst>
          </p:cNvPr>
          <p:cNvGrpSpPr/>
          <p:nvPr/>
        </p:nvGrpSpPr>
        <p:grpSpPr>
          <a:xfrm>
            <a:off x="1156319" y="4945076"/>
            <a:ext cx="9879362" cy="617143"/>
            <a:chOff x="1156319" y="4945076"/>
            <a:chExt cx="9879362" cy="617143"/>
          </a:xfrm>
        </p:grpSpPr>
        <p:pic>
          <p:nvPicPr>
            <p:cNvPr id="79" name="Picture 78" descr="\documentclass{article}&#10;\usepackage{amsmath,bm,eufrak}&#10;\pagestyle{empty}&#10;\begin{document}&#10;&#10;\begin{align*}&#10;V^{\left(T_{1}\right)E_{1-}T_{y}^{+}}_{\parallel}&#10;=&#10;V^{\left(T_{1}\right)T_{y}^{+}E_{2-}}_{\parallel}&#10;&amp; =&#10;-\frac{\mathrm{i}\tau}{\sqrt{3}}&#10;U^{\left(T_{1}\right)}_{y,yzx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5F0ECFE0-7021-4005-9DF7-FA03F73367B7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6589210" y="4964885"/>
              <a:ext cx="4446471" cy="577524"/>
            </a:xfrm>
            <a:prstGeom prst="rect">
              <a:avLst/>
            </a:prstGeom>
          </p:spPr>
        </p:pic>
        <p:pic>
          <p:nvPicPr>
            <p:cNvPr id="75" name="Picture 74" descr="\documentclass{article}&#10;\usepackage{amsmath,bm,eufrak}&#10;\pagestyle{empty}&#10;\begin{document}&#10;&#10;\begin{align*}&#10;V^{\left(T_{1}\right)E_{2-}T_{y}^{+}}_{\parallel}&#10;=&#10;V^{\left(T_{1}\right)T_{y}^{+}E_{1-}}_{\parallel}&#10;&amp; =&#10;\frac{\mathrm{i}\tau^{2}}{\sqrt{3}}&#10;U^{\left(T_{1}\right)}_{y,yzx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B4AEE832-F90B-4063-B094-39F102589B2F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56319" y="4945076"/>
              <a:ext cx="4249904" cy="617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9599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B2F30DF-4406-474F-B80A-96BD1FC33833}"/>
              </a:ext>
            </a:extLst>
          </p:cNvPr>
          <p:cNvGrpSpPr/>
          <p:nvPr/>
        </p:nvGrpSpPr>
        <p:grpSpPr>
          <a:xfrm>
            <a:off x="1228957" y="1856290"/>
            <a:ext cx="9734086" cy="964855"/>
            <a:chOff x="1228957" y="1856290"/>
            <a:chExt cx="9734086" cy="964855"/>
          </a:xfrm>
        </p:grpSpPr>
        <p:pic>
          <p:nvPicPr>
            <p:cNvPr id="39" name="Picture 38" descr="\documentclass{article}&#10;\usepackage{amsmath,bm,eufrak}&#10;\pagestyle{empty}&#10;\begin{document}&#10;&#10;\begin{align*}&#10;V^{\left(T_{1}\right)T_{x}^{-}T_{y}^{+}}_{\perp}&#10;=&#10;V^{\left(T_{1}\right)T_{y}^{-}T_{x}^{-}}_{\perp}&#10;=&#10;V^{\left(T_{1}\right)T_{y}^{-}T_{x}^{+}}_{\perp}&#10;=&#10;V^{\left(T_{1}\right)T_{x}^{+}T_{y}^{-}}_{\perp}&#10;=&#10;V^{\left(T_{1}\right)T_{y}^{+}T_{x}^{-}}_{\perp}&#10;=&#10;V^{\left(T_{1}\right)T_{y}^{+}T_{x}^{+}}_{\perp}&#10;&amp; =&#10;U^{\left(T_{1}\right)}_{z,xyz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D26BC4F7-C194-4B44-979E-400E74E2AF2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228957" y="1856290"/>
              <a:ext cx="9734086" cy="420572"/>
            </a:xfrm>
            <a:prstGeom prst="rect">
              <a:avLst/>
            </a:prstGeom>
          </p:spPr>
        </p:pic>
        <p:pic>
          <p:nvPicPr>
            <p:cNvPr id="30" name="Picture 29" descr="\documentclass{article}&#10;\usepackage{amsmath,bm,eufrak}&#10;\pagestyle{empty}&#10;\begin{document}&#10;&#10;\begin{align*}&#10;V^{\left(T_{1}\right)T_{x}^{-}T_{y}^{-}}_{\perp}&#10;=&#10;V^{\left(T_{1}\right)T_{x}^{+}T_{y}^{+}}_{\perp}&#10;&amp; =&#10;-U^{\left(T_{1}\right)}_{z,xyz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B57D3C2C-8B32-4B13-9F66-E3168550D2EE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4162288" y="2400573"/>
              <a:ext cx="3867424" cy="420572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AF964F8-1326-457E-B871-3AF2C0043833}"/>
              </a:ext>
            </a:extLst>
          </p:cNvPr>
          <p:cNvGrpSpPr/>
          <p:nvPr/>
        </p:nvGrpSpPr>
        <p:grpSpPr>
          <a:xfrm>
            <a:off x="1222862" y="3705307"/>
            <a:ext cx="9746276" cy="964855"/>
            <a:chOff x="1222862" y="3705307"/>
            <a:chExt cx="9746276" cy="964855"/>
          </a:xfrm>
        </p:grpSpPr>
        <p:pic>
          <p:nvPicPr>
            <p:cNvPr id="43" name="Picture 42" descr="\documentclass{article}&#10;\usepackage{amsmath,bm,eufrak}&#10;\pagestyle{empty}&#10;\begin{document}&#10;&#10;\begin{align*}&#10;V^{\left(T_{1}\right)T_{y}^{-}T_{z}^{+}}_{\perp}&#10;=&#10;V^{\left(T_{1}\right)T_{z}^{-}T_{y}^{-}}_{\perp}&#10;=&#10;V^{\left(T_{1}\right)T_{z}^{-}T_{y}^{+}}_{\perp}&#10;=&#10;V^{\left(T_{1}\right)T_{y}^{+}T_{z}^{-}}_{\perp}&#10;=&#10;V^{\left(T_{1}\right)T_{z}^{+}T_{y}^{-}}_{\perp}&#10;=&#10;V^{\left(T_{1}\right)T_{z}^{+}T_{y}^{+}}_{\perp}&#10;&amp; =&#10;U^{\left(T_{1}\right)}_{x,zxy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A8894EF2-C912-443B-86E4-6EBCB7B3E6B1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222862" y="3705307"/>
              <a:ext cx="9746276" cy="420572"/>
            </a:xfrm>
            <a:prstGeom prst="rect">
              <a:avLst/>
            </a:prstGeom>
          </p:spPr>
        </p:pic>
        <p:pic>
          <p:nvPicPr>
            <p:cNvPr id="48" name="Picture 47" descr="\documentclass{article}&#10;\usepackage{amsmath,bm,eufrak}&#10;\pagestyle{empty}&#10;\begin{document}&#10;&#10;\begin{align*}&#10;V^{\left(T_{1}\right)T_{y}^{-}T_{z}^{-}}_{\perp}&#10;=&#10;V^{\left(T_{1}\right)T_{y}^{+}T_{z}^{+}}_{\perp}&#10;&amp; =&#10;-U^{\left(T_{1}\right)}_{x,zxy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208DBA4A-04FD-41E5-BC36-3A60F27A416E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56192" y="4249590"/>
              <a:ext cx="3879617" cy="420572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32A8165-26EC-4E92-A097-2FA1EA5D7EB8}"/>
              </a:ext>
            </a:extLst>
          </p:cNvPr>
          <p:cNvGrpSpPr/>
          <p:nvPr/>
        </p:nvGrpSpPr>
        <p:grpSpPr>
          <a:xfrm>
            <a:off x="1222863" y="5554324"/>
            <a:ext cx="9738656" cy="940472"/>
            <a:chOff x="1222863" y="5554324"/>
            <a:chExt cx="9738656" cy="940472"/>
          </a:xfrm>
        </p:grpSpPr>
        <p:pic>
          <p:nvPicPr>
            <p:cNvPr id="68" name="Picture 67" descr="\documentclass{article}&#10;\usepackage{amsmath,bm,eufrak}&#10;\pagestyle{empty}&#10;\begin{document}&#10;&#10;\begin{align*}&#10;V^{\left(T_{1}\right)T_{x}^{-}T_{z}^{-}}_{\perp}&#10;=&#10;V^{\left(T_{1}\right)T_{x}^{-}T_{z}^{+}}_{\perp}&#10;=&#10;V^{\left(T_{1}\right)T_{z}^{-}T_{x}^{+}}_{\perp}&#10;=&#10;V^{\left(T_{1}\right)T_{x}^{+}T_{z}^{-}}_{\perp}&#10;=&#10;V^{\left(T_{1}\right)T_{x}^{+}T_{z}^{+}}_{\perp}&#10;=&#10;V^{\left(T_{1}\right)T_{z}^{+}T_{x}^{-}}_{\perp}&#10;&amp; =&#10;U^{\left(T_{1}\right)}_{y,yzx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ED2F3687-CDAE-4296-9333-F472FBD56301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222863" y="5554324"/>
              <a:ext cx="9738656" cy="396191"/>
            </a:xfrm>
            <a:prstGeom prst="rect">
              <a:avLst/>
            </a:prstGeom>
          </p:spPr>
        </p:pic>
        <p:pic>
          <p:nvPicPr>
            <p:cNvPr id="61" name="Picture 60" descr="\documentclass{article}&#10;\usepackage{amsmath,bm,eufrak}&#10;\pagestyle{empty}&#10;\begin{document}&#10;&#10;\begin{align*}&#10;V^{\left(T_{2}\right)T_{z}^{-}T_{x}^{-}}_{\perp}&#10;=&#10;V^{\left(T_{2}\right)T_{z}^{+}T_{x}^{+}}_{\perp}&#10;&amp; =&#10;-U^{\left(T_{1}\right)}_{y,yzx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F7443007-33AA-4F2F-8AD9-26D179D2DC9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4160001" y="6098605"/>
              <a:ext cx="3871999" cy="3961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4613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36" name="Picture 35" descr="\documentclass{article}&#10;\usepackage{amsmath,bm,eufrak}&#10;\pagestyle{empty}&#10;\begin{document}&#10;&#10;\begin{align*}&#10;V^{\left(T_{1}\right)A^{+}T_{x}^{+}}_{\perp}&#10;&amp; =&#10;\frac{2}{\sqrt{3}}U^{\left(T_{1}\right)}_{x,xyz}&#10;&amp;&#10;V^{\left(T_{1}\right)A^{-}T_{x}^{-}}_{\perp}&#10;&amp; =&#10;\frac{2}{\sqrt{3}}U^{\left(T_{1}\right)}_{x,xyz}&#10;\\&#10;V^{\left(T_{1}\right)E_{1+}T_{x}^{-}}_{\perp}&#10;&amp; =&#10;-\frac{\tau^{2}}{\sqrt{3}}U^{\left(T_{1}\right)}_{x,xyz}&#10;&amp;&#10;V^{\left(T_{1}\right)E_{1+}T_{x}^{+}}_{\perp}&#10;&amp; =&#10;-\mathrm{i}\tau^{2}U^{\left(T_{1}\right)}_{x,xyz}&#10;\\&#10;V^{\left(T_{1}\right)E_{1-}T_{x}^{-}}_{\perp}&#10;&amp; =&#10;-\tau^{2}U^{\left(T_{1}\right)}_{x,xyz}&#10;&amp;&#10;V^{\left(T_{1}\right)E_{1-}T_{x}^{+}}_{\perp}&#10;&amp; =&#10;\frac{\mathrm{i}\tau^{2}}{\sqrt{3}}U^{\left(T_{1}\right)}_{x,xyz}&#10;\\&#10;V^{\left(T_{1}\right)E_{2+}T_{x}^{-}}_{\perp}&#10;&amp; =&#10;-\frac{\tau}{\sqrt{3}}U^{\left(T_{2}\right)}_{x,xyz}&#10;&amp;&#10;V^{\left(T_{1}\right)E_{2+}T_{x}^{+}}_{\perp}&#10;&amp; =&#10;\mathrm{i}\tau U^{\left(T_{2}\right)}_{x,xyz}&#10;\\&#10;V^{\left(T_{1}\right)E_{2-}T_{x}^{-}}_{\perp}&#10;&amp; =&#10;-\tau U^{\left(T_{2}\right)}_{x,xyz}&#10;&amp;&#10;V^{\left(T_{1}\right)E_{2-}T_{x}^{+}}_{\perp}&#10;&amp; =&#10;-\frac{\mathrm{i}\tau}{\sqrt{3}}U^{\left(T_{2}\right)}_{x,xyz}&#10;\\&#10;\end{align*}&#10;&#10;\end{document}" title="IguanaTex Bitmap Display">
            <a:extLst>
              <a:ext uri="{FF2B5EF4-FFF2-40B4-BE49-F238E27FC236}">
                <a16:creationId xmlns:a16="http://schemas.microsoft.com/office/drawing/2014/main" id="{D69A262B-9400-4215-A9E0-E9F8F384B41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33718" y="2548012"/>
            <a:ext cx="6724565" cy="331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842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1" name="Picture 10" descr="\documentclass{article}&#10;\usepackage{amsmath,bm,eufrak}&#10;\pagestyle{empty}&#10;\begin{document}&#10;&#10;\begin{align*}&#10;V^{\left(T_{1}\right)T_{x}^{-}A^{+}}_{\perp}&#10;&amp; =&#10;\frac{2}{\sqrt{3}}U^{\left(T_{1}\right)}_{x,yzx}&#10;&amp;&#10;V^{\left(T_{1}\right)T_{x}^{+}A^{-}}_{\perp}&#10;&amp; =&#10;\frac{2}{\sqrt{3}}U^{\left(T_{1}\right)}_{x,yzx}&#10;\\&#10;V^{\left(T_{1}\right)T_{x}^{-}E_{1+}}_{\perp}&#10;&amp; =&#10;-\frac{\tau}{\sqrt{3}}&#10;U^{\left(T_{1}\right)}_{x,yzx}&#10;&amp;&#10;V^{\left(T_{1}\right)T_{x}^{+}E_{1+}}_{\perp}&#10;&amp; =&#10;-\mathrm{i}\tau&#10;U^{\left(T_{1}\right)}_{x,yzx}&#10;\\&#10;V^{\left(T_{1}\right)T_{x}^{-}E_{1-}}_{\perp}&#10;&amp; =&#10;\tau&#10;U^{\left(T_{1}\right)}_{x,yzx}&#10;&amp;&#10;V^{\left(T_{1}\right)T_{x}^{+}E_{1-}}_{\perp}&#10;&amp; =&#10;-\frac{\mathrm{i}\tau}{\sqrt{3}}&#10;U^{\left(T_{1}\right)}_{x,yzx}&#10;\\&#10;V^{\left(T_{1}\right)T_{x}^{-}E_{2+}}_{\perp}&#10;&amp; =&#10;-\frac{\tau^{2}}{\sqrt{3}}&#10;U^{\left(T_{1}\right)}_{x,yzx}&#10;&amp;&#10;V^{\left(T_{2}\right)T_{x}^{+}E_{2+}}_{\perp}&#10;&amp; =&#10;\mathrm{i}\tau^{2}&#10;U^{\left(T_{2}\right)}_{x,yzx}&#10;\\&#10;V^{\left(T_{2}\right)T_{x}^{-}E_{2-}}_{\perp}&#10;&amp; =&#10;\tau^{2}&#10;U^{\left(T_{2}\right)}_{x,yzx}&#10;&amp;&#10;V^{\left(T_{2}\right)T_{x}^{+}E_{2-}}_{\perp}&#10;&amp; =&#10;\frac{\mathrm{i}\tau^{2}}{\sqrt{3}}&#10;U^{\left(T_{2}\right)}_{x,yzx}&#10;\\&#10;\end{align*}&#10;&#10;\end{document}" title="IguanaTex Bitmap Display">
            <a:extLst>
              <a:ext uri="{FF2B5EF4-FFF2-40B4-BE49-F238E27FC236}">
                <a16:creationId xmlns:a16="http://schemas.microsoft.com/office/drawing/2014/main" id="{944A8470-48AF-4DF0-AC75-028C7A944A2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33716" y="2544543"/>
            <a:ext cx="6724568" cy="331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156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29" name="Picture 28" descr="\documentclass{article}&#10;\usepackage{amsmath,bm,eufrak}&#10;\pagestyle{empty}&#10;\begin{document}&#10;&#10;\begin{align*}&#10;V^{\left(T_{1}\right)A^{+}T_{y}^{-}}_{\perp}&#10;&amp; =&#10;\frac{2}{\sqrt{3}}U^{\left(T_{1}\right)}_{y,zxy}&#10;&amp;&#10;V^{\left(T_{1}\right)A^{-}T_{y}^{+}}_{\perp}&#10;&amp; =&#10;\frac{2}{\sqrt{3}}U^{\left(T_{1}\right)}_{y,zxy}&#10;\\&#10;V^{\left(T_{1}\right)E_{1+}T_{y}^{-}}_{\perp}&#10;&amp; =&#10;-\frac{\tau}{\sqrt{3}}&#10;U^{\left(T_{1}\right)}_{y,zxy}&#10;&amp;&#10;V^{\left(T_{1}\right)E_{1+}T_{y}^{+}}_{\perp}&#10;&amp; =&#10;-\mathrm{i}\tau&#10;U^{\left(T_{1}\right)}_{y,zxy}&#10;\\&#10;V^{\left(T_{1}\right)E_{1-}T_{y}^{-}}_{\perp}&#10;&amp; =&#10;-\tau&#10;U^{\left(T_{1}\right)}_{y,zxy}&#10;&amp;&#10;V^{\left(T_{1}\right)E_{1-}T_{y}^{+}}_{\perp}&#10;&amp; =&#10;\frac{\mathrm{i}\tau}{\sqrt{3}}&#10;U^{\left(T_{1}\right)}_{y,zxy}&#10;\\&#10;V^{\left(T_{1}\right)E_{2+}T_{y}^{-}}_{\perp}&#10;&amp; =&#10;-\frac{\tau^{2}}{\sqrt{3}}&#10;U^{\left(T_{1}\right)}_{y,zxy}&#10;&amp;&#10;V^{\left(T_{1}\right)E_{2+}T_{y}^{+}}_{\perp}&#10;&amp; =&#10;\mathrm{i}\tau^{2}&#10;U^{\left(T_{1}\right)}_{y,zxy}&#10;\\&#10;V^{\left(T_{1}\right)E_{2-}T_{y}^{-}}_{\perp}&#10;&amp; =&#10;-\tau^{2}&#10;U^{\left(T_{1}\right)}_{y,zxy}&#10;&amp;&#10;V^{\left(T_{1}\right)E_{2-}T_{y}^{+}}_{\perp}&#10;&amp; =&#10;-\frac{\mathrm{i}\tau^{2}}{\sqrt{3}}&#10;U^{\left(T_{1}\right)}_{y,zxy}&#10;\\&#10;\end{align*}&#10;&#10;\end{document}" title="IguanaTex Bitmap Display">
            <a:extLst>
              <a:ext uri="{FF2B5EF4-FFF2-40B4-BE49-F238E27FC236}">
                <a16:creationId xmlns:a16="http://schemas.microsoft.com/office/drawing/2014/main" id="{746DB50A-00A0-49CD-BAAD-A6D76449C56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36763" y="2531558"/>
            <a:ext cx="6718475" cy="333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158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0" name="Picture 9" descr="\documentclass{article}&#10;\usepackage{amsmath,bm,eufrak}&#10;\pagestyle{empty}&#10;\begin{document}&#10;&#10;\begin{align*}&#10;V^{\left(T_{1}\right)T_{y}^{-}A^{+}}_{\perp}&#10;&amp; =&#10;\frac{2}{\sqrt{3}}U^{\left(T_{1}\right)}_{y,xyz}&#10;&amp;&#10;V^{\left(T_{1}\right)T_{y}^{+}A^{-}}_{\perp}&#10;&amp; =&#10;\frac{2}{\sqrt{3}}U^{\left(T_{1}\right)}_{y,xyz}&#10;\\&#10;V^{\left(T_{1}\right)T_{y}^{-}E_{1+}}_{\perp}&#10;&amp; =&#10;-\frac{\tau^{2}}{\sqrt{3}}&#10;U^{\left(T_{1}\right)}_{y,xyz}&#10;&amp;&#10;V^{\left(T_{1}\right)T_{y}^{+}E_{1+}}_{\perp}&#10;&amp; =&#10;-\mathrm{i}\tau^{2}&#10;U^{\left(T_{1}\right)}_{y,xyz}&#10;\\&#10;V^{\left(T_{1}\right)T_{y}^{-}E_{1-}}_{\perp}&#10;&amp; =&#10;\tau^{2}&#10;U^{\left(T_{1}\right)}_{y,xyz}&#10;&amp;&#10;V^{\left(T_{1}\right)T_{y}^{+}E_{1-}}_{\perp}&#10;&amp; =&#10;-\frac{\mathrm{i}\tau^{2}}{\sqrt{3}}&#10;U^{\left(T_{1}\right)}_{y,xyz}&#10;\\&#10;V^{\left(T_{1}\right)T_{y}^{-}E_{2+}}_{\perp}&#10;&amp; =&#10;-\frac{\tau}{\sqrt{3}}&#10;U^{\left(T_{1}\right)}_{y,xyz}&#10;&amp;&#10;V^{\left(T_{1}\right)T_{y}^{+}E_{2+}}_{\perp}&#10;&amp; =&#10;\mathrm{i}\tau&#10;U^{\left(T_{1}\right)}_{y,xyz}&#10;\\&#10;V^{\left(T_{1}\right)T_{y}^{-}E_{2-}}_{\perp}&#10;&amp; =&#10;\tau&#10;U^{\left(T_{1}\right)}_{y,xyz}&#10;&amp;&#10;V^{\left(T_{1}\right)T_{y}^{+}E_{2-}}_{\perp}&#10;&amp; =&#10;\frac{\mathrm{i}\tau}{\sqrt{3}}&#10;U^{\left(T_{1}\right)}_{y,xyz}&#10;\\&#10;\end{align*}&#10;&#10;\end{document}" title="IguanaTex Bitmap Display">
            <a:extLst>
              <a:ext uri="{FF2B5EF4-FFF2-40B4-BE49-F238E27FC236}">
                <a16:creationId xmlns:a16="http://schemas.microsoft.com/office/drawing/2014/main" id="{76D75A7F-ADAB-409F-8F4D-C69C59F2F42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38294" y="2528250"/>
            <a:ext cx="6715413" cy="333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67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22" name="Picture 21" descr="\documentclass{article}&#10;\usepackage{amsmath,bm,eufrak}&#10;\pagestyle{empty}&#10;\begin{document}&#10;&#10;\begin{align*}&#10;V^{\left(T_{1}\right)A^{+}T_{z}^{-}}_{\perp} &amp; = \frac{2}{\sqrt{3}}U^{\left(T_{1}\right)}_{z,yzx}&#10;&amp;&#10;V^{\left(T_{1}\right)A^{-}T_{z}^{+}}_{\perp} &amp; = \frac{2}{\sqrt{3}}U^{\left(T_{1}\right)}_{z,yzx}&#10;\\&#10;V^{\left(T_{1}\right)E_{1+}T_{z}^{-}}_{\perp} &amp; = -\frac{1}{\sqrt{3}}U^{\left(T_{1}\right)}_{z,yzx}&#10;&amp;&#10;V^{\left(T_{1}\right)E_{1+}T_{z}^{+}}_{\perp} &amp; = -\mathrm{i}U^{\left(T_{1}\right)}_{z,yzx}&#10;\\&#10;V^{\left(T_{1}\right)E_{1-}T_{z}^{-}}_{\perp} &amp; = -U^{\left(T_{1}\right)}_{z,yzx}&#10;&amp;&#10;V^{\left(T_{1}\right)E_{1-}T_{z}^{+}}_{\perp} &amp; = \frac{\mathrm{i}}{\sqrt{3}}U^{\left(T_{1}\right)}_{z,yzx}&#10;\\&#10;V^{\left(T_{1}\right)E_{2+}T_{z}^{-}}_{\perp} &amp; = -\frac{1}{\sqrt{3}}U^{\left(T_{1}\right)}_{z,yzx}&#10;&amp;&#10;V^{\left(T_{1}\right)E_{2+}T_{z}^{+}}_{\perp} &amp; = \mathrm{i}U^{\left(T_{1}\right)}_{z,yzx}&#10;\\&#10;V^{\left(T_{1}\right)E_{2-}T_{z}^{-}}_{\perp} &amp; = -U^{\left(T_{1}\right)}_{z,yzx}&#10;&amp;&#10;V^{\left(T_{1}\right)E_{2-}T_{z}^{+}}_{\perp} &amp; = -\frac{1}{\sqrt{3}}\mathrm{i}U^{\left(T_{1}\right)}_{z,yzx}&#10;\\&#10;\end{align*}&#10;&#10;\end{document}" title="IguanaTex Bitmap Display">
            <a:extLst>
              <a:ext uri="{FF2B5EF4-FFF2-40B4-BE49-F238E27FC236}">
                <a16:creationId xmlns:a16="http://schemas.microsoft.com/office/drawing/2014/main" id="{3542C614-5C0F-48CC-A625-469B9A3C831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17715" y="2544832"/>
            <a:ext cx="6756572" cy="326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45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 descr="\documentclass{article}&#10;\usepackage{amsmath,bm,eufrak}&#10;\pagestyle{empty}&#10;\begin{document}&#10;&#10;\begin{align*}&#10;V^{\left(T_{1}\right)T_{z}^{-}A^{+}}_{\perp} &amp; = \frac{2}{\sqrt{3}}U^{\left(T_{1}\right)}_{z,zxy}&#10;&amp;&#10;V^{\left(T_{1}\right)T_{z}^{+}A^{-}}_{\perp} &amp; = \frac{2}{\sqrt{3}}U^{\left(T_{1}\right)}_{z,zxy}&#10;\\&#10;V^{\left(T_{1}\right)T_{z}^{-}E_{1+}}_{\perp} &amp; = -\frac{1}{\sqrt{3}}U^{\left(T_{1}\right)}_{z,zxy}&#10;&amp;&#10;V^{\left(T_{1}\right)T_{z}^{+}E_{1+}}_{\perp} &amp; = -\mathrm{i}U^{\left(T_{1}\right)}_{z,zxy}&#10;\\&#10;V^{\left(T_{1}\right)T_{z}^{-}E_{1-}}_{\perp} &amp; = U^{\left(T_{1}\right)}_{z,zxy}&#10;&amp;&#10;V^{\left(T_{1}\right)T_{z}^{+}E_{1-}}_{\perp} &amp; = -\frac{\mathrm{i}}{\sqrt{3}}U^{\left(T_{1}\right)}_{z,zxy}&#10;\\&#10;V^{\left(T_{1}\right)T_{z}^{-}E_{2+}}_{\perp} &amp; = -\frac{1}{\sqrt{3}}U^{\left(T_{1}\right)}_{z,zxy}&#10;&amp;&#10;V^{\left(T_{1}\right)T_{z}^{+}E_{2+}}_{\perp} &amp; = \mathrm{i}U^{\left(T_{1}\right)}_{z,zxy}&#10;\\&#10;V^{\left(T_{1}\right)T_{z}^{-}E_{2-}}_{\perp} &amp; = U^{\left(T_{1}\right)}_{z,zxy}&#10;&amp;&#10;V^{\left(T_{1}\right)T_{z}^{+}E_{2-}}_{\perp} &amp; = \frac{\mathrm{i}}{\sqrt{3}}U^{\left(T_{1}\right)}_{z,zxy}&#10;\\&#10;\end{align*}&#10;&#10;\end{document}" title="IguanaTex Bitmap Display">
            <a:extLst>
              <a:ext uri="{FF2B5EF4-FFF2-40B4-BE49-F238E27FC236}">
                <a16:creationId xmlns:a16="http://schemas.microsoft.com/office/drawing/2014/main" id="{D3F4A7DC-A0C2-4753-A120-D0C442D9F1E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40578" y="2516377"/>
            <a:ext cx="6710844" cy="327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3827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7B7D-E592-42F3-AF95-7F78D5D81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42137"/>
            <a:ext cx="6638544" cy="836126"/>
          </a:xfrm>
        </p:spPr>
        <p:txBody>
          <a:bodyPr/>
          <a:lstStyle/>
          <a:p>
            <a:r>
              <a:rPr lang="en-US" dirty="0"/>
              <a:t>T2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AA4BF-440D-4649-856A-064839DB24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11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86" name="Picture 85" descr="\documentclass{article}&#10;\usepackage{amsmath,bm,eufrak}&#10;\pagestyle{empty}&#10;\begin{document}&#10;&#10;\begin{align*}&#10;V^{\left(T_{2}\right)T_{z}^{\sigma}A^{\sigma}}_{\parallel}&#10;=&#10;V^{\left(T_{2}\right)A^{\sigma}T_{z}^{\sigma}}_{\parallel}&#10;=&#10;V^{\left(T_{2}\right)T_{z}^{+}E_{2+}}_{\parallel}&#10;=&#10;V^{\left(T_{2}\right)E_{1+}T_{z}^{+}}_{\parallel}&#10;=&#10;V^{\left(T_{2}\right)T_{z}^{+}E_{1+}}_{\parallel}&#10;=&#10;V^{\left(T_{2}\right)E_{2+}T_{z}^{+}}_{\parallel}&#10;&amp; =&#10;\frac{1}{\sqrt{3}}&#10;U^{\left(T_{2}\right)}_{z,xyz}&#10;\\&#10;\end{align*}&#10;&#10;\end{document}" title="IguanaTex Bitmap Display">
            <a:extLst>
              <a:ext uri="{FF2B5EF4-FFF2-40B4-BE49-F238E27FC236}">
                <a16:creationId xmlns:a16="http://schemas.microsoft.com/office/drawing/2014/main" id="{C01BBDDC-EBFC-42EC-B162-87BC619CF67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15054" y="2957792"/>
            <a:ext cx="10361892" cy="576001"/>
          </a:xfrm>
          <a:prstGeom prst="rect">
            <a:avLst/>
          </a:prstGeom>
        </p:spPr>
      </p:pic>
      <p:pic>
        <p:nvPicPr>
          <p:cNvPr id="90" name="Picture 89" descr="\documentclass{article}&#10;\usepackage{amsmath,bm,eufrak}&#10;\pagestyle{empty}&#10;\begin{document}&#10;&#10;\begin{align*}&#10;V^{\left(T_{2}\right)T_{z}^{-}E_{2-}}_{\parallel}&#10;=&#10;V^{\left(T_{2}\right)E_{1-}T_{z}^{-}}_{\parallel}&#10;&amp; =&#10;-\frac{\mathrm{i}}{\sqrt{3}}U^{\left(T_{2}\right)}_{z,xyz}&#10;\\&#10;\end{align*}&#10;&#10;\end{document}" title="IguanaTex Bitmap Display">
            <a:extLst>
              <a:ext uri="{FF2B5EF4-FFF2-40B4-BE49-F238E27FC236}">
                <a16:creationId xmlns:a16="http://schemas.microsoft.com/office/drawing/2014/main" id="{73AF458B-39FD-4558-BF04-03B1312ACD0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868192" y="4027617"/>
            <a:ext cx="4455617" cy="577525"/>
          </a:xfrm>
          <a:prstGeom prst="rect">
            <a:avLst/>
          </a:prstGeom>
        </p:spPr>
      </p:pic>
      <p:pic>
        <p:nvPicPr>
          <p:cNvPr id="94" name="Picture 93" descr="\documentclass{article}&#10;\usepackage{amsmath,bm,eufrak}&#10;\pagestyle{empty}&#10;\begin{document}&#10;&#10;\begin{align*}&#10;V^{\left(T_{2}\right)E_{2-}T_{z}^{-}}_{\parallel}&#10;=&#10;V^{\left(T_{2}\right)T_{z}^{-}E_{1-}}_{\parallel}&#10;&amp; =&#10;\frac{\mathrm{i}}{\sqrt{3}}U^{\left(T_{2}\right)}_{z,xyz}&#10;\\&#10;\end{align*}&#10;&#10;\end{document}" title="IguanaTex Bitmap Display">
            <a:extLst>
              <a:ext uri="{FF2B5EF4-FFF2-40B4-BE49-F238E27FC236}">
                <a16:creationId xmlns:a16="http://schemas.microsoft.com/office/drawing/2014/main" id="{2B630B08-03E4-43C7-B6E7-EB707416A47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966478" y="4983973"/>
            <a:ext cx="4259045" cy="57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890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31" name="Picture 30" descr="\documentclass{article}&#10;\usepackage{amsmath,bm,eufrak}&#10;\pagestyle{empty}&#10;\begin{document}&#10;&#10;\begin{align*}&#10;V^{\left(T_{2}\right)T_{x}^{\sigma}A^{\sigma}}_{\parallel}&#10;=&#10;V^{\left(T_{2}\right)A^{\sigma}T_{x}^{\sigma}}_{\parallel}&#10;&amp; =&#10;\frac{1}{\sqrt{3}}&#10;U^{\left(T_{2}\right)}_{x,zxy}&#10;\\&#10;\end{align*}&#10;&#10;\end{document}" title="IguanaTex Bitmap Display">
            <a:extLst>
              <a:ext uri="{FF2B5EF4-FFF2-40B4-BE49-F238E27FC236}">
                <a16:creationId xmlns:a16="http://schemas.microsoft.com/office/drawing/2014/main" id="{693879C8-5CDE-4F5D-878F-5EE4ECB766C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101338" y="2851115"/>
            <a:ext cx="3989324" cy="576001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EC195D10-8C73-4A1B-A1B0-E61407B337C9}"/>
              </a:ext>
            </a:extLst>
          </p:cNvPr>
          <p:cNvGrpSpPr/>
          <p:nvPr/>
        </p:nvGrpSpPr>
        <p:grpSpPr>
          <a:xfrm>
            <a:off x="1239875" y="3890024"/>
            <a:ext cx="9712250" cy="617144"/>
            <a:chOff x="1369399" y="3890024"/>
            <a:chExt cx="9712250" cy="617144"/>
          </a:xfrm>
        </p:grpSpPr>
        <p:pic>
          <p:nvPicPr>
            <p:cNvPr id="34" name="Picture 33" descr="\documentclass{article}&#10;\usepackage{amsmath,bm,eufrak}&#10;\pagestyle{empty}&#10;\begin{document}&#10;&#10;\begin{align*}&#10;V^{\left(T_{2}\right)T_{x}^{+}E_{2+}}_{\parallel}&#10;=&#10;V^{\left(T_{2}\right)E_{1+}T_{x}^{+}}_{\parallel}&#10;&amp; =&#10;\frac{\tau^{2}}{\sqrt{3}}&#10;U^{\left(T_{2}\right)}_{x,zxy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971CD86A-05E0-4E64-B35B-930FC3AA4F9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369399" y="3890024"/>
              <a:ext cx="4243805" cy="617144"/>
            </a:xfrm>
            <a:prstGeom prst="rect">
              <a:avLst/>
            </a:prstGeom>
          </p:spPr>
        </p:pic>
        <p:pic>
          <p:nvPicPr>
            <p:cNvPr id="39" name="Picture 38" descr="\documentclass{article}&#10;\usepackage{amsmath,bm,eufrak}&#10;\pagestyle{empty}&#10;\begin{document}&#10;&#10;\begin{align*}&#10;V^{\left(T_{2}\right)T_{x}^{+}E_{1+}}_{\parallel}&#10;=&#10;V^{\left(T_{2}\right)E_{2+}T_{x}^{+}}_{\parallel}&#10;&amp; =&#10;\frac{\tau}{\sqrt{3}}&#10;U^{\left(T_{2}\right)}_{x,zxy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7E98009E-C4ED-4B16-BD4B-3C4955941E21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6837842" y="3890024"/>
              <a:ext cx="4243807" cy="533334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ED35023-389A-4D64-AFDE-EF8ED3AA75DB}"/>
              </a:ext>
            </a:extLst>
          </p:cNvPr>
          <p:cNvGrpSpPr/>
          <p:nvPr/>
        </p:nvGrpSpPr>
        <p:grpSpPr>
          <a:xfrm>
            <a:off x="1143875" y="4956361"/>
            <a:ext cx="9904250" cy="617143"/>
            <a:chOff x="1238351" y="4956361"/>
            <a:chExt cx="9904250" cy="617143"/>
          </a:xfrm>
        </p:grpSpPr>
        <p:pic>
          <p:nvPicPr>
            <p:cNvPr id="45" name="Picture 44" descr="\documentclass{article}&#10;\usepackage{amsmath,bm,eufrak}&#10;\pagestyle{empty}&#10;\begin{document}&#10;&#10;\begin{align*}&#10;V^{\left(T_{2}\right)T_{x}^{-}E_{2-}}_{\parallel}&#10;=&#10;V^{\left(T_{2}\right)E_{1-}T_{x}^{-}}_{\parallel}&#10;&amp; =&#10;-\frac{\mathrm{i}\tau^{2}}{\sqrt{3}}&#10;U^{\left(T_{2}\right)}_{x,zxy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1B32E04D-7E7C-47C4-959F-ABE6AF4028A4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238351" y="4956361"/>
              <a:ext cx="4467805" cy="617143"/>
            </a:xfrm>
            <a:prstGeom prst="rect">
              <a:avLst/>
            </a:prstGeom>
          </p:spPr>
        </p:pic>
        <p:pic>
          <p:nvPicPr>
            <p:cNvPr id="49" name="Picture 48" descr="\documentclass{article}&#10;\usepackage{amsmath,bm,eufrak}&#10;\pagestyle{empty}&#10;\begin{document}&#10;&#10;\begin{align*}&#10;V^{\left(T_{2}\right)T_{x}^{-}E_{1-}}_{\parallel}&#10;=&#10;V^{\left(T_{2}\right)E_{2-}T_{x}^{-}}_{\parallel}&#10;&amp; =&#10;\frac{\mathrm{i}\tau}{\sqrt{3}}&#10;U^{\left(T_{2}\right)}_{x,zxy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E6F32D34-AA51-4DB0-8B06-E6E028028E00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6869841" y="4956361"/>
              <a:ext cx="4272760" cy="5775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60926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\documentclass{article}&#10;\usepackage{amsmath,bm,eufrak}&#10;\pagestyle{empty}&#10;\begin{document}&#10;&#10;\begin{align*}&#10;V^{\left(T_{2}\right)T_{y}^{\sigma}A^{\sigma}}_{\parallel}&#10;=&#10;V^{\left(T_{2}\right)A^{\sigma}T_{y}^{\sigma}}_{\parallel}&#10;&amp; =&#10;\frac{1}{\sqrt{3}}U^{\left(T_{2}\right)}_{y,yzx}&#10;\\&#10;\end{align*}&#10;&#10;\end{document}" title="IguanaTex Bitmap Display">
            <a:extLst>
              <a:ext uri="{FF2B5EF4-FFF2-40B4-BE49-F238E27FC236}">
                <a16:creationId xmlns:a16="http://schemas.microsoft.com/office/drawing/2014/main" id="{D3FD2A15-9F70-4ABD-99C0-DC2B04482CA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105147" y="2851113"/>
            <a:ext cx="3981706" cy="576002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D61E355-86A2-44F1-8B23-3C42CD00C9C3}"/>
              </a:ext>
            </a:extLst>
          </p:cNvPr>
          <p:cNvGrpSpPr/>
          <p:nvPr/>
        </p:nvGrpSpPr>
        <p:grpSpPr>
          <a:xfrm>
            <a:off x="1375494" y="3879448"/>
            <a:ext cx="9700061" cy="617144"/>
            <a:chOff x="1375494" y="3879448"/>
            <a:chExt cx="9700061" cy="617144"/>
          </a:xfrm>
        </p:grpSpPr>
        <p:pic>
          <p:nvPicPr>
            <p:cNvPr id="44" name="Picture 43" descr="\documentclass{article}&#10;\usepackage{amsmath,bm,eufrak}&#10;\pagestyle{empty}&#10;\begin{document}&#10;&#10;\begin{align*}&#10;V^{\left(T_{2}\right)T_{y}^{+}E_{2+}}_{\parallel}&#10;=&#10;V^{\left(T_{2}\right)E_{1+}T_{y}^{+}}_{\parallel}&#10;&amp; =&#10;\frac{\tau}{\sqrt{3}}U^{\left(T_{2}\right)}_{y,yzx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15BD883F-AAA0-4F2A-A373-8996C1CAF468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6840892" y="3909163"/>
              <a:ext cx="4234663" cy="557715"/>
            </a:xfrm>
            <a:prstGeom prst="rect">
              <a:avLst/>
            </a:prstGeom>
          </p:spPr>
        </p:pic>
        <p:pic>
          <p:nvPicPr>
            <p:cNvPr id="40" name="Picture 39" descr="\documentclass{article}&#10;\usepackage{amsmath,bm,eufrak}&#10;\pagestyle{empty}&#10;\begin{document}&#10;&#10;\begin{align*}&#10;V^{\left(T_{2}\right)T_{y}^{+}E_{1+}}_{\parallel}&#10;=&#10;V^{\left(T_{2}\right)E_{2+}T_{y}^{+}}_{\parallel}&#10;&amp; =&#10;\frac{\tau^{2}}{\sqrt{3}}U^{\left(T_{2}\right)}_{y,yzx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E1C65EB2-5A11-419E-A010-71D7CA0B0A6F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375494" y="3879448"/>
              <a:ext cx="4234666" cy="617144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C0B9D31-577F-4E75-B051-AD752AA44E73}"/>
              </a:ext>
            </a:extLst>
          </p:cNvPr>
          <p:cNvGrpSpPr/>
          <p:nvPr/>
        </p:nvGrpSpPr>
        <p:grpSpPr>
          <a:xfrm>
            <a:off x="1243937" y="4944170"/>
            <a:ext cx="9893078" cy="617143"/>
            <a:chOff x="1243937" y="4944170"/>
            <a:chExt cx="9893078" cy="617143"/>
          </a:xfrm>
        </p:grpSpPr>
        <p:pic>
          <p:nvPicPr>
            <p:cNvPr id="52" name="Picture 51" descr="\documentclass{article}&#10;\usepackage{amsmath,bm,eufrak}&#10;\pagestyle{empty}&#10;\begin{document}&#10;&#10;\begin{align*}&#10;V^{\left(T_{2}\right)T_{y}^{-}E_{2-}}_{\parallel}&#10;=&#10;V^{\left(T_{2}\right)E_{1-}T_{y}^{-}}_{\parallel}&#10;&amp; =&#10;-\frac{\mathrm{i}\tau}{\sqrt{3}}&#10;U^{\left(T_{2}\right)}_{y,yzx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B1048D57-03BF-43A3-9CCF-05AEC6F9AC1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6676828" y="4963979"/>
              <a:ext cx="4460187" cy="577524"/>
            </a:xfrm>
            <a:prstGeom prst="rect">
              <a:avLst/>
            </a:prstGeom>
          </p:spPr>
        </p:pic>
        <p:pic>
          <p:nvPicPr>
            <p:cNvPr id="48" name="Picture 47" descr="\documentclass{article}&#10;\usepackage{amsmath,bm,eufrak}&#10;\pagestyle{empty}&#10;\begin{document}&#10;&#10;\begin{align*}&#10;V^{\left(T_{2}\right)T_{y}^{-}E_{1-}}_{\parallel}&#10;=&#10;V^{\left(T_{2}\right)E_{2-}T_{y}^{-}}_{\parallel}&#10;&amp; =&#10;\frac{\mathrm{i}\tau^{2}}{\sqrt{3}}&#10;U^{\left(T_{2}\right)}_{y,yzx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543B079F-59ED-40E9-BF03-C1E0867724C5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243937" y="4944170"/>
              <a:ext cx="4263620" cy="617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8338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B40F110-6F96-416E-9971-F6A6607B3BA5}"/>
              </a:ext>
            </a:extLst>
          </p:cNvPr>
          <p:cNvGrpSpPr/>
          <p:nvPr/>
        </p:nvGrpSpPr>
        <p:grpSpPr>
          <a:xfrm>
            <a:off x="1228958" y="1856290"/>
            <a:ext cx="9734085" cy="964855"/>
            <a:chOff x="1228958" y="1856290"/>
            <a:chExt cx="9734085" cy="964855"/>
          </a:xfrm>
        </p:grpSpPr>
        <p:pic>
          <p:nvPicPr>
            <p:cNvPr id="70" name="Picture 69" descr="\documentclass{article}&#10;\usepackage{amsmath,bm,eufrak}&#10;\pagestyle{empty}&#10;\begin{document}&#10;&#10;\begin{align*}&#10;V^{\left(T_{2}\right)T_{x}^{-}T_{y}^{-}}_{\perp}&#10;=&#10;V^{\left(T_{2}\right)T_{y}^{-}T_{x}^{-}}_{\perp}&#10;=&#10;V^{\left(T_{2}\right)T_{y}^{-}T_{x}^{+}}_{\perp}&#10;=&#10;V^{\left(T_{2}\right)T_{x}^{+}T_{y}^{+}}_{\perp}&#10;=&#10;V^{\left(T_{2}\right)T_{y}^{+}T_{x}^{-}}_{\perp}&#10;=&#10;V^{\left(T_{2}\right)T_{y}^{+}T_{x}^{+}}_{\perp}&#10;&amp; =&#10;U^{\left(T_{2}\right)}_{z,xyz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4EA22BE0-1087-4F55-A260-1427E15DA96E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228958" y="1856290"/>
              <a:ext cx="9734085" cy="420572"/>
            </a:xfrm>
            <a:prstGeom prst="rect">
              <a:avLst/>
            </a:prstGeom>
          </p:spPr>
        </p:pic>
        <p:pic>
          <p:nvPicPr>
            <p:cNvPr id="50" name="Picture 49" descr="\documentclass{article}&#10;\usepackage{amsmath,bm,eufrak}&#10;\pagestyle{empty}&#10;\begin{document}&#10;&#10;\begin{align*}&#10;V^{\left(T_{2}\right)T_{x}^{-}T_{y}^{+}}_{\perp}&#10;=&#10;V^{\left(T_{2}\right)T_{x}^{+}T_{y}^{-}}_{\perp}&#10;&amp; =&#10;-U^{\left(T_{2}\right)}_{z,xyz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B470E692-9A0A-448E-B018-37164208BB97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4162288" y="2400573"/>
              <a:ext cx="3867424" cy="420572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D6B0AB5-08FC-4AF2-AB03-0069F4DE3753}"/>
              </a:ext>
            </a:extLst>
          </p:cNvPr>
          <p:cNvGrpSpPr/>
          <p:nvPr/>
        </p:nvGrpSpPr>
        <p:grpSpPr>
          <a:xfrm>
            <a:off x="1222862" y="3705307"/>
            <a:ext cx="9746276" cy="964855"/>
            <a:chOff x="1222862" y="3705307"/>
            <a:chExt cx="9746276" cy="964855"/>
          </a:xfrm>
        </p:grpSpPr>
        <p:pic>
          <p:nvPicPr>
            <p:cNvPr id="86" name="Picture 85" descr="\documentclass{article}&#10;\usepackage{amsmath,bm,eufrak}&#10;\pagestyle{empty}&#10;\begin{document}&#10;&#10;\begin{align*}&#10;V^{\left(T_{2}\right)T_{y}^{-}T_{z}^{-}}_{\perp}&#10;=&#10;V^{\left(T_{2}\right)T_{z}^{-}T_{y}^{-}}_{\perp}&#10;=&#10;V^{\left(T_{2}\right)T_{z}^{-}T_{y}^{+}}_{\perp}&#10;=&#10;V^{\left(T_{2}\right)T_{y}^{+}T_{z}^{+}}_{\perp}&#10;=&#10;V^{\left(T_{2}\right)T_{z}^{+}T_{y}^{-}}_{\perp}&#10;=&#10;V^{\left(T_{2}\right)T_{z}^{+}T_{y}^{+}}_{\perp}&#10;&amp; =&#10;U^{\left(T_{2}\right)}_{x,zxy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EA97CC61-C28E-4CCE-8C70-F53B672829D4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222862" y="3705307"/>
              <a:ext cx="9746276" cy="420572"/>
            </a:xfrm>
            <a:prstGeom prst="rect">
              <a:avLst/>
            </a:prstGeom>
          </p:spPr>
        </p:pic>
        <p:pic>
          <p:nvPicPr>
            <p:cNvPr id="58" name="Picture 57" descr="\documentclass{article}&#10;\usepackage{amsmath,bm,eufrak}&#10;\pagestyle{empty}&#10;\begin{document}&#10;&#10;\begin{align*}&#10;V^{\left(T_{2}\right)T_{y}^{-}T_{z}^{+}}_{\perp}&#10;=&#10;V^{\left(T_{2}\right)T_{y}^{+}T_{z}^{-}}_{\perp}&#10;&amp; =&#10;-U^{\left(T_{2}\right)}_{x,zxy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515B26BB-2850-419E-B93F-1B272E7D8653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56192" y="4249590"/>
              <a:ext cx="3879616" cy="420572"/>
            </a:xfrm>
            <a:prstGeom prst="rect">
              <a:avLst/>
            </a:prstGeom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F53CE0D-7934-4604-91C2-F338C22C3627}"/>
              </a:ext>
            </a:extLst>
          </p:cNvPr>
          <p:cNvGrpSpPr/>
          <p:nvPr/>
        </p:nvGrpSpPr>
        <p:grpSpPr>
          <a:xfrm>
            <a:off x="1226672" y="5554324"/>
            <a:ext cx="9738656" cy="940472"/>
            <a:chOff x="1226672" y="5554324"/>
            <a:chExt cx="9738656" cy="940472"/>
          </a:xfrm>
        </p:grpSpPr>
        <p:pic>
          <p:nvPicPr>
            <p:cNvPr id="82" name="Picture 81" descr="\documentclass{article}&#10;\usepackage{amsmath,bm,eufrak}&#10;\pagestyle{empty}&#10;\begin{document}&#10;&#10;\begin{align*}&#10;V^{\left(T_{2}\right)T_{x}^{-}T_{z}^{-}}_{\perp}&#10;=&#10;V^{\left(T_{2}\right)T_{x}^{-}T_{z}^{+}}_{\perp}&#10;=&#10;V^{\left(T_{2}\right)T_{z}^{-}T_{x}^{-}}_{\perp}&#10;=&#10;V^{\left(T_{2}\right)T_{x}^{+}T_{z}^{-}}_{\perp}&#10;=&#10;V^{\left(T_{2}\right)T_{x}^{+}T_{z}^{+}}_{\perp}&#10;=&#10;V^{\left(T_{2}\right)T_{z}^{+}T_{x}^{+}}_{\perp}&#10;&amp; =&#10;U^{\left(T_{2}\right)}_{y,yzx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BD6E75E2-297B-46B5-A5A5-BD151B45D5E6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226672" y="5554324"/>
              <a:ext cx="9738656" cy="396191"/>
            </a:xfrm>
            <a:prstGeom prst="rect">
              <a:avLst/>
            </a:prstGeom>
          </p:spPr>
        </p:pic>
        <p:pic>
          <p:nvPicPr>
            <p:cNvPr id="78" name="Picture 77" descr="\documentclass{article}&#10;\usepackage{amsmath,bm,eufrak}&#10;\pagestyle{empty}&#10;\begin{document}&#10;&#10;\begin{align*}&#10;V^{\left(T_{2}\right)T_{z}^{-}T_{x}^{+}}_{\perp}&#10;=&#10;V^{\left(T_{2}\right)T_{z}^{+}T_{x}^{-}}_{\perp}&#10;&amp; =&#10;-U^{\left(T_{2}\right)}_{y,yzx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7CD86953-8A33-4188-A452-A3E36601698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4156193" y="6098605"/>
              <a:ext cx="3871999" cy="3961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18877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65" name="Picture 64" descr="\documentclass{article}&#10;\usepackage{amsmath,bm,eufrak}&#10;\pagestyle{empty}&#10;\begin{document}&#10;&#10;\begin{align*}&#10;V^{\left(T_{2}\right)A^{-}T_{x}^{-}}_{\perp}&#10;&amp; =&#10;\frac{2}{\sqrt{3}}&#10;U^{\left(T_{2}\right)}_{x,xyz}&#10;&amp;&#10;V^{\left(T_{2}\right)A^{+}T_{x}^{+}}_{\perp}&#10;&amp; =&#10;\frac{2}{\sqrt{3}}&#10;U^{\left(T_{2}\right)}_{x,xyz}&#10;\\&#10;V^{\left(T_{2}\right)E_{1+}T_{x}^{-}}_{\perp}&#10;&amp; =&#10;-\mathrm{i}\tau^{2}&#10;U^{\left(T_{2}\right)}_{x,xyz}&#10;&amp;&#10;V^{\left(T_{2}\right)E_{1+}T_{x}^{+}}_{\perp}&#10;&amp; =&#10;-\frac{\tau^{2}}{\sqrt{3}}&#10;U^{\left(T_{2}\right)}_{x,xyz}&#10;\\&#10;V^{\left(T_{2}\right)E_{1-}T_{x}^{-}}_{\perp}&#10;&amp; =&#10;\frac{\mathrm{i}\tau^{2}}{\sqrt{3}}&#10;U^{\left(T_{2}\right)}_{x,xyz}&#10;&amp;&#10;V^{\left(T_{2}\right)E_{1-}T_{x}^{+}}_{\perp}&#10;&amp; =&#10;-\tau^{2}&#10;U^{\left(T_{2}\right)}_{x,xyz}&#10;\\&#10;V^{\left(T_{2}\right)E_{2+}T_{x}^{-}}_{\perp}&#10;&amp; =&#10;\mathrm{i}\tau&#10;U^{\left(T_{2}\right)}_{x,xyz}&#10;&amp;&#10;V^{\left(T_{2}\right)E_{2+}T_{x}^{+}}_{\perp}&#10;&amp; =&#10;-\frac{\tau}{\sqrt{3}}&#10;U^{\left(T_{2}\right)}_{x,xyz}&#10;\\&#10;V^{\left(T_{2}\right)E_{2-}T_{x}^{-}}_{\perp}&#10;&amp; =&#10;-\frac{\mathrm{i}\tau}{\sqrt{3}}&#10;U^{\left(T_{2}\right)}_{x,xyz}&#10;&amp;&#10;V^{\left(T_{2}\right)E_{2-}T_{x}^{+}}_{\perp}&#10;&amp; =&#10;-\tau&#10;U^{\left(T_{2}\right)}_{x,xyz}&#10;\\&#10;\end{align*}&#10;&#10;\end{document}" title="IguanaTex Bitmap Display">
            <a:extLst>
              <a:ext uri="{FF2B5EF4-FFF2-40B4-BE49-F238E27FC236}">
                <a16:creationId xmlns:a16="http://schemas.microsoft.com/office/drawing/2014/main" id="{AD2E7928-8938-477F-B39F-9D62A900BC4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33718" y="2535027"/>
            <a:ext cx="6724564" cy="331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406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1" name="Picture 10" descr="\documentclass{article}&#10;\usepackage{amsmath,bm,eufrak}&#10;\pagestyle{empty}&#10;\begin{document}&#10;&#10;\begin{align*}&#10;V^{\left(T_{2}\right)T_{x}^{-}A^{-}}_{\perp}&#10;&amp; =&#10;\frac{2}{\sqrt{3}}U^{\left(T_{2}\right)}_{x,yzx}&#10;&amp;&#10;V^{\left(T_{2}\right)T_{x}^{+}A^{+}}_{\perp}&#10;&amp; =&#10;\frac{2}{\sqrt{3}}U^{\left(T_{2}\right)}_{x,yzx}&#10;\\&#10;V^{\left(T_{2}\right)T_{x}^{-}E_{1+}}_{\perp}&#10;&amp; =&#10;-\mathrm{i}\tau U^{\left(T_{2}\right)}_{y,zxy}&#10;&amp;&#10;V^{\left(T_{2}\right)T_{x}^{+}E_{1+}}_{\perp}&#10;&amp; =&#10;-\frac{\tau}{\sqrt{3}}U^{\left(T_{2}\right)}_{y,zxy}&#10;\\&#10;V^{\left(T_{2}\right)T_{x}^{-}E_{1-}}_{\perp}&#10;&amp; =&#10;-\frac{\mathrm{i}\tau}{\sqrt{3}}U^{\left(T_{2}\right)}_{y,zxy}&#10;&amp;&#10;V^{\left(T_{2}\right)T_{x}^{+}E_{1-}}_{\perp}&#10;&amp; =&#10;\tau U^{\left(T_{2}\right)}_{y,zxy}&#10;\\&#10;V^{\left(T_{2}\right)T_{x}^{-}E_{2+}}_{\perp}&#10;&amp; =&#10;\mathrm{i}\tau^{2}U^{\left(T_{2}\right)}_{y,zxy}&#10;&amp;&#10;V^{\left(T_{2}\right)T_{x}^{+}E_{2+}}_{\perp}&#10;&amp; =&#10;-\frac{\tau^{2}}{\sqrt{3}}U^{\left(T_{2}\right)}_{y,zxy}&#10;\\&#10;V^{\left(T_{2}\right)T_{x}^{-}E_{2-}}_{\perp}&#10;&amp; =&#10;\frac{\mathrm{i}\tau^{2}}{\sqrt{3}} U^{\left(T_{2}\right)}_{y,zxy}&#10;&amp;&#10;V^{\left(T_{2}\right)T_{x}^{+}E_{2-}}_{\perp}&#10;&amp; =&#10;\tau^{2}U^{\left(T_{2}\right)}_{y,zxy}&#10;\\&#10;\end{align*}&#10;&#10;\end{document}" title="IguanaTex Bitmap Display">
            <a:extLst>
              <a:ext uri="{FF2B5EF4-FFF2-40B4-BE49-F238E27FC236}">
                <a16:creationId xmlns:a16="http://schemas.microsoft.com/office/drawing/2014/main" id="{CAB6E12E-68AC-46B0-AE56-F49213333DE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36764" y="2607285"/>
            <a:ext cx="6718472" cy="331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6179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78" name="Picture 177" descr="\documentclass{article}&#10;\usepackage{amsmath,bm,eufrak}&#10;\pagestyle{empty}&#10;\begin{document}&#10;&#10;\begin{align*}&#10;V^{\left(T_{2}\right)A^{-}T_{y}^{-}}_{\perp}&#10;&amp; =&#10;\frac{2}{\sqrt{3}}U^{\left(T_{2}\right)}_{y,zxy}&#10;&amp;&#10;V^{\left(T_{2}\right)A^{+}T_{y}^{+}}_{\perp}&#10;&amp; =&#10;\frac{2}{\sqrt{3}}U^{\left(T_{2}\right)}_{y,zxy}&#10;\\&#10;V^{\left(T_{2}\right)E_{1+}T_{y}^{-}}_{\perp}&#10;&amp; =&#10;-\mathrm{i}\tau U^{\left(T_{2}\right)}_{y,zxy}&#10;&amp;&#10;V^{\left(T_{2}\right)E_{1+}T_{y}^{+}}_{\perp}&#10;&amp; =&#10;-\frac{\tau}{\sqrt{3}}U^{\left(T_{2}\right)}_{y,zxy}&#10;\\&#10;V^{\left(T_{2}\right)E_{1-}T_{y}^{-}}_{\perp}&#10;&amp; =&#10;\frac{\mathrm{i}\tau}{\sqrt{3}} U^{\left(T_{2}\right)}_{y,zxy}&#10;&amp;&#10;V^{\left(T_{2}\right)E_{1-}T_{y}^{+}}_{\perp}&#10;&amp; =&#10;-\tau U^{\left(T_{2}\right)}_{y,zxy}&#10;\\&#10;V^{\left(T_{2}\right)E_{2+}T_{y}^{-}}_{\perp}&#10;&amp; =&#10;\mathrm{i}\tau^{2}U^{\left(T_{2}\right)}_{y,zxy}&#10;&amp;&#10;V^{\left(T_{2}\right)E_{2+}T_{y}^{+}}_{\perp}&#10;&amp; =&#10;-\frac{\tau^{2}}{\sqrt{3}}U^{\left(T_{2}\right)}_{y,zxy}&#10;\\&#10;V^{\left(T_{2}\right)E_{2-}T_{y}^{-}}_{\perp}&#10;&amp; =&#10;-\frac{\mathrm{i}\tau^{2}}{\sqrt{3}}U^{\left(T_{2}\right)}_{y,zxy}&#10;&amp;&#10;V^{\left(T_{2}\right)E_{2-}T_{y}^{+}}_{\perp}&#10;&amp; =&#10;-\tau^{2}U^{\left(T_{2}\right)}_{y,zxy}&#10;\\&#10;\end{align*}&#10;&#10;\end{document}" title="IguanaTex Bitmap Display">
            <a:extLst>
              <a:ext uri="{FF2B5EF4-FFF2-40B4-BE49-F238E27FC236}">
                <a16:creationId xmlns:a16="http://schemas.microsoft.com/office/drawing/2014/main" id="{E400EAA7-22BF-4A09-80D6-0640DD71C26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36762" y="2426071"/>
            <a:ext cx="6718476" cy="333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975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9" name="Picture 8" descr="\documentclass{article}&#10;\usepackage{amsmath,bm,eufrak}&#10;\pagestyle{empty}&#10;\begin{document}&#10;&#10;\begin{align*}&#10;V^{\left(T_{2}\right)T_{y}^{-}A^{-}}_{\perp}&#10;&amp; =&#10;\frac{2}{\sqrt{3}}U^{\left(T_{2}\right)}_{y,xyz}&#10;&amp;&#10;V^{\left(T_{2}\right)T_{y}^{+}A^{+}}_{\perp}&#10;&amp; =&#10;\frac{2}{\sqrt{3}}U^{\left(T_{2}\right)}_{y,xyz}&#10;\\&#10;V^{\left(T_{2}\right)T_{y}^{-}E_{1+}}_{\perp}&#10;&amp; =&#10;-\mathrm{i}\tau^{2}U^{\left(T_{2}\right)}_{y,xyz}&#10;&amp;&#10;V^{\left(T_{2}\right)T_{y}^{+}E_{1+}}_{\perp}&#10;&amp; =&#10;-\frac{\tau^{2}}{\sqrt{3}}U^{\left(T_{2}\right)}_{y,xyz}&#10;\\&#10;V^{\left(T_{2}\right)T_{y}^{-}E_{1-}}_{\perp}&#10;&amp; =&#10;-\frac{\mathrm{i}\tau^{2}}{\sqrt{3}}U^{\left(T_{2}\right)}_{y,xyz}&#10;&amp;&#10;V^{\left(T_{2}\right)T_{y}^{+}E_{1-}}_{\perp}&#10;&amp; =&#10;\tau^{2}U^{\left(T_{2}\right)}_{y,xyz}&#10;\\&#10;V^{\left(T_{2}\right)T_{y}^{-}E_{2+}}_{\perp}&#10;&amp; =&#10;\mathrm{i}\tau U^{\left(T_{2}\right)}_{y,xyz}&#10;&amp;&#10;V^{\left(T_{2}\right)T_{y}^{+}E_{2+}}_{\perp}&#10;&amp; =&#10;-\frac{\tau}{\sqrt{3}}U^{\left(T_{2}\right)}_{y,xyz}&#10;\\&#10;V^{\left(T_{2}\right)T_{y}^{-}E_{2-}}_{\perp}&#10;&amp; =&#10;\frac{\mathrm{i}\tau}{\sqrt{3}}U^{\left(T_{2}\right)}_{y,xyz}&#10;&amp;&#10;V^{\left(T_{2}\right)T_{y}^{+}E_{2-}}_{\perp}&#10;&amp; =&#10;\tau U^{\left(T_{2}\right)}_{y,xyz}&#10;\\&#10;\end{align*}&#10;&#10;\end{document}" title="IguanaTex Bitmap Display">
            <a:extLst>
              <a:ext uri="{FF2B5EF4-FFF2-40B4-BE49-F238E27FC236}">
                <a16:creationId xmlns:a16="http://schemas.microsoft.com/office/drawing/2014/main" id="{4D4F59CF-9568-469E-B1F6-FF4F4005974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38294" y="2361994"/>
            <a:ext cx="6715413" cy="333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125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7" name="Picture 6" descr="\documentclass{article}&#10;\usepackage{amsmath,bm,eufrak}&#10;\pagestyle{empty}&#10;\begin{document}&#10;&#10;\begin{align*}&#10;V^{\left(T_{2}\right)A^{-}T_{z}^{-}}_{\perp}&#10;&amp; =&#10;\frac{2}{\sqrt{3}}U^{\left(T_{2}\right)}_{z,yzx}&#10;&amp;&#10;V^{\left(T_{2}\right)A^{+}T_{z}^{+}}_{\perp}&#10;&amp; =&#10;\frac{2}{\sqrt{3}}U^{\left(T_{2}\right)}_{z,yzx}&#10;\\&#10;V^{\left(T_{2}\right)E_{1+}T_{z}^{-}}_{\perp} &amp; = -\mathrm{i}U^{\left(T_{2}\right)}_{z,yzx}&#10;&amp;&#10;V^{\left(T_{2}\right)E_{1+}T_{z}^{+}}_{\perp} &amp; = -\frac{1}{\sqrt{3}}U^{\left(T_{2}\right)}_{z,yzx}&#10;\\&#10;V^{\left(T_{2}\right)E_{1-}T_{z}^{-}}_{\perp} &amp; = \frac{\mathrm{i}}{\sqrt{3}}U^{\left(T_{2}\right)}_{z,yzx}&#10;&amp;&#10;V^{\left(T_{2}\right)E_{1-}T_{z}^{+}}_{\perp} &amp; = -U^{\left(T_{2}\right)}_{z,yzx}&#10;\\&#10;V^{\left(T_{2}\right)E_{2+}T_{z}^{-}}_{\perp} &amp; = \mathrm{i}U^{\left(T_{2}\right)}_{z,yzx}&#10;&amp;&#10;V^{\left(T_{2}\right)E_{2+}T_{z}^{+}}_{\perp} &amp; = -\frac{1}{\sqrt{3}}U^{\left(T_{2}\right)}_{z,yzx}&#10;\\&#10;V^{\left(T_{2}\right)E_{2-}T_{z}^{-}}_{\perp} &amp; = -\frac{\mathrm{i}}{\sqrt{3}}U^{\left(T_{2}\right)}_{z,yzx}&#10;&amp;&#10;V^{\left(T_{2}\right)E_{2-}T_{z}^{+}}_{\perp} &amp; = -U^{\left(T_{2}\right)}_{z,yzx}&#10;\\&#10;\end{align*}&#10;&#10;\end{document}" title="IguanaTex Bitmap Display">
            <a:extLst>
              <a:ext uri="{FF2B5EF4-FFF2-40B4-BE49-F238E27FC236}">
                <a16:creationId xmlns:a16="http://schemas.microsoft.com/office/drawing/2014/main" id="{2B5908B2-92CA-46FF-B27A-E07C3CEC837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41334" y="2532951"/>
            <a:ext cx="6709333" cy="327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508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20" name="Picture 19" descr="\documentclass{article}&#10;\usepackage{amsmath,bm,eufrak}&#10;\pagestyle{empty}&#10;\begin{document}&#10;&#10;\begin{align*}&#10;V^{\left(T_{2}\right)T_{z}^{-}A^{-}}_{\perp} &amp; = \frac{2}{\sqrt{3}}U^{\left(T_{2}\right)}_{z,zxy}&#10;&amp;&#10;V^{\left(T_{2}\right)T_{z}^{+}A^{+}}_{\perp} &amp; = \frac{2}{\sqrt{3}}U^{\left(T_{2}\right)}_{z,zxy}&#10;\\&#10;V^{\left(T_{2}\right)T_{z}^{-}E_{1+}}_{\perp} &amp; = -\mathrm{i}U^{\left(T_{2}\right)}_{z,zxy}&#10;&amp;&#10;V^{\left(T_{2}\right)T_{z}^{+}E_{1+}}_{\perp} &amp; = -\frac{1}{\sqrt{3}}U^{\left(T_{2}\right)}_{z,zxy}&#10;\\&#10;V^{\left(T_{2}\right)T_{z}^{-}E_{1-}}_{\perp} &amp; = -\frac{\mathrm{i}}{\sqrt{3}}U^{\left(T_{2}\right)}_{z,zxy}&#10;&amp;&#10;V^{\left(T_{2}\right)T_{z}^{+}E_{1-}}_{\perp} &amp; = U^{\left(T_{2}\right)}_{z,zxy}&#10;\\&#10;V^{\left(T_{2}\right)T_{z}^{-}E_{2+}}_{\perp} &amp; = \mathrm{i}U^{\left(T_{2}\right)}_{z,zxy}&#10;&amp;&#10;V^{\left(T_{2}\right)T_{z}^{+}E_{2+}}_{\perp} &amp; = -\frac{1}{\sqrt{3}}U^{\left(T_{2}\right)}_{z,zxy}&#10;\\&#10;V^{\left(T_{2}\right)T_{z}^{-}E_{2-}}_{\perp} &amp; = \frac{\mathrm{i}}{\sqrt{3}}U^{\left(T_{2}\right)}_{z,zxy}&#10;&amp;&#10;V^{\left(T_{2}\right)T_{z}^{+}E_{2-}}_{\perp} &amp; = U^{\left(T_{2}\right)}_{z,zxy}&#10;\\&#10;\end{align*}&#10;&#10;\end{document}" title="IguanaTex Bitmap Display">
            <a:extLst>
              <a:ext uri="{FF2B5EF4-FFF2-40B4-BE49-F238E27FC236}">
                <a16:creationId xmlns:a16="http://schemas.microsoft.com/office/drawing/2014/main" id="{594CE94A-47E6-40E8-81C1-8F3D5D28866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86295" y="2563876"/>
            <a:ext cx="6710843" cy="327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2032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5.6993"/>
  <p:tag name="ORIGINALWIDTH" val="2016.498"/>
  <p:tag name="OUTPUTTYPE" val="PNG"/>
  <p:tag name="IGUANATEXVERSION" val="159"/>
  <p:tag name="LATEXADDIN" val="\documentclass{article}&#10;\usepackage{amsmath,bm,eufrak}&#10;\pagestyle{empty}&#10;\begin{document}&#10;&#10;\begin{align*}&#10;V^{\left(\mathcal{W}\right)_{01}}_{\parallel\slash\perp}&#10;&amp; =&#10;\sum_{j \in \Gamma\left(T_{d}\right)}&#10;\sum_{\kappa = 1}^{l_{j}}&#10;\sum_{\mu = 1}^{l_{j}}&#10;\mathfrak{q}_{\parallel\slash\perp,\mu\kappa}^{(j)\left(\mathcal{W}\right)_{01}}&#10;U^{(j)}_{\mu\kappa}&#10;\\&#10;\end{align*}&#10;&#10;\end{document}"/>
  <p:tag name="IGUANATEXSIZE" val="20"/>
  <p:tag name="IGUANATEXCURSOR" val="16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4.8969"/>
  <p:tag name="ORIGINALWIDTH" val="1460.817"/>
  <p:tag name="OUTPUTTYPE" val="PNG"/>
  <p:tag name="IGUANATEXVERSION" val="159"/>
  <p:tag name="LATEXADDIN" val="\documentclass{article}&#10;\usepackage{amsmath,bm,eufrak}&#10;\pagestyle{empty}&#10;\begin{document}&#10;&#10;\begin{align*}&#10;U&#10;&amp;=&#10;\sum_{j \in \Gamma\left(T_{d}\right)}&#10;\sum_{\kappa = 1}^{l_{j}}&#10;U^{(j)}_{\kappa\kappa}&#10;\\&#10;U^{(j)}_{\lambda\kappa}&#10;&amp;=&#10;\frac{l_{j}}{h}&#10;\sum_{\hat{R}\in T_{d}}&#10;\left(\Gamma_{\hat{R}}^{(j)}\right)_{\lambda\kappa}^{*}&#10;U_{\hat{R}}&#10;\\&#10;\end{align*}&#10;&#10;\end{document}"/>
  <p:tag name="IGUANATEXSIZE" val="20"/>
  <p:tag name="IGUANATEXCURSOR" val="33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1.9498"/>
  <p:tag name="ORIGINALWIDTH" val="4940.382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gather*}&#10;\left\{&#10;(xyz),&#10;(x\bar{y}\bar{z}),&#10;(\bar{x}y\bar{z}),&#10;(\bar{x}\bar{y}z),&#10;(yzx),&#10;(y\bar{z}\bar{x}),&#10;(\bar{y}z\bar{x}),&#10;(\bar{y}\bar{z}x),&#10;(zxy),&#10;(\bar{z}x\bar{y}),&#10;(\bar{z}\bar{x}y),&#10;(z\bar{x}\bar{y})&#10;\right\}&#10;\Rightarrow&#10;U^{\left(A^{\left(\sigma\right)}\right)}&#10;\\&#10;\left\{&#10;(xzy),&#10;(x\bar{z}\bar{y}),&#10;(zyx),&#10;(\bar{z}y\bar{x}),&#10;(yxz),&#10;(\bar{y}\bar{x}z),&#10;(\bar{x}\bar{z}y),&#10;(\bar{x}z\bar{y}),&#10;(z\bar{y}\bar{x}),&#10;(\bar{z}\bar{y}x),&#10;(\bar{y}x\bar{z}),&#10;(y\bar{x}\bar{z})&#10;\right\}&#10;\Rightarrow&#10;\sigma U^{\left(A^{\left(\sigma\right)}\right)}&#10;\end{gather*}&#10;&#10;\end{document}"/>
  <p:tag name="IGUANATEXSIZE" val="12"/>
  <p:tag name="IGUANATEXCURSOR" val="414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89.689"/>
  <p:tag name="ORIGINALWIDTH" val="2725.159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gather*}&#10;\left\{&#10;(xyz),&#10;(x\bar{y}\bar{z}),&#10;(\bar{x}y\bar{z}),&#10;(\bar{x}\bar{y}z)&#10;\right\}&#10;\Rightarrow&#10;\begin{pmatrix}&#10;U^{(E)}_{11} &amp; U^{(E)}_{12} \\&#10;U^{(E)}_{21} &amp; U^{(E)}_{22} \\&#10;\end{pmatrix}&#10;\\&#10;\left\{&#10;(yzx),&#10;(y\bar{z}\bar{x}),&#10;(\bar{y}z\bar{x}),&#10;(\bar{y}\bar{z}x)&#10;\right\}&#10;\Rightarrow&#10;\begin{pmatrix}&#10;\tau^{2}U^{(E)}_{11} &amp; \tau^{2}U^{(E)}_{12} \\&#10;\tau U^{(E)}_{21}    &amp; \tau U^{(E)}_{22} \\&#10;\end{pmatrix}&#10;\\&#10;\left\{&#10;(zxy),&#10;(\bar{z}x\bar{y}),&#10;(\bar{z}\bar{x}y),&#10;(z\bar{x}\bar{y})&#10;\right\}&#10;\Rightarrow&#10;\begin{pmatrix}&#10;\tau U^{(E)}_{11}     &amp; \tau U^{(E)}_{12} \\&#10;\tau^{2} U^{(E)}_{21} &amp; \tau^{2} U^{(E)}_{22} \\&#10;\end{pmatrix}&#10;\\&#10;\left\{&#10;(xzy),&#10;(x\bar{z}\bar{y}),&#10;(\bar{x}\bar{z}y),&#10;(\bar{x}z\bar{y})&#10;\right\}&#10;\Rightarrow&#10;\begin{pmatrix}&#10;\tau^{2}U^{(E)}_{21} &amp; \tau^{2}U^{(E)}_{22} \\&#10;\tau U^{(E)}_{11}    &amp; \tau U^{(E)}_{12} \\&#10;\end{pmatrix}&#10;\\&#10;\left\{&#10;(zyx),&#10;(\bar{z}y\bar{x}),&#10;(z\bar{y}\bar{x}),&#10;(\bar{z}\bar{y}x)&#10;\right\}&#10;\Rightarrow&#10;\begin{pmatrix}&#10;\tau U^{(E)}_{21}    &amp; \tau U^{(E)}_{22} \\&#10;\tau^{2}U^{(E)}_{11} &amp; \tau^{2}U^{(E)}_{12} \\&#10;\end{pmatrix}&#10;\\&#10;\left\{&#10;(yxz),&#10;(\bar{y}\bar{x}z),&#10;(\bar{y}x\bar{z}),&#10;(y\bar{x}\bar{z})&#10;\right\}&#10;\Rightarrow&#10;\begin{pmatrix}&#10;U^{(E)}_{21} &amp; U^{(E)}_{22} \\&#10;U^{(E)}_{11} &amp; U^{(E)}_{12} \\&#10;\end{pmatrix}&#10;\end{gather*}&#10;&#10;\end{document}"/>
  <p:tag name="IGUANATEXSIZE" val="12"/>
  <p:tag name="IGUANATEXCURSOR" val="313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2101.98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yzx)&#10;&amp; \Rightarrow &amp;&#10;\begin{pmatrix}&#10;U_{x,2} &amp; U_{y}   &amp; U_{z,2}\\&#10;U_{x,3} &amp; U_{y,3} &amp; U_{z}\\&#10;U_{x}   &amp; U_{y,1} &amp; U_{z,1}\\&#10;\end{pmatrix}&#10;\\&#10;(y\bar{z}\bar{x})&#10;&amp; \Rightarrow &amp;&#10;\begin{pmatrix}&#10; U_{x,2} &amp;  U_{y}   &amp;  U_{z,2}\\&#10;-U_{x,3} &amp; -U_{y,3} &amp; -U_{z}\\&#10;-U_{x}   &amp; -U_{y,1} &amp; -U_{z,1}\\&#10;\end{pmatrix}&#10;\\&#10;(\bar{y}z\bar{x})&#10;&amp; \Rightarrow &amp;&#10;\begin{pmatrix}&#10;-U_{x,2} &amp; -U_{y}   &amp; -U_{z,2}\\&#10; U_{x,3} &amp;  U_{y,3} &amp;  U_{z}\\&#10;-U_{x}   &amp; -U_{y,1} &amp; -U_{z,1}\\&#10;\end{pmatrix}&#10;\\&#10;(\bar{y}\bar{z}x)&#10;&amp; \Rightarrow &amp;&#10;\begin{pmatrix}&#10;-U_{x,2} &amp; -U_{y}   &amp; -U_{z,2}\\&#10;-U_{x,3} &amp; -U_{y,3} &amp; -U_{z}\\&#10; U_{x}   &amp;  U_{y,1} &amp;  U_{z,1}\\&#10;\end{pmatrix}&#10;\\&#10;\end{tabular}&#10;\end{equation*}&#10;&#10;&#10;\end{document}"/>
  <p:tag name="IGUANATEXSIZE" val="12"/>
  <p:tag name="IGUANATEXCURSOR" val="719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2101.98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begin{tabular}{CCC}&#10;(xyz)&#10;&amp; \Rightarrow &amp;&#10;\begin{pmatrix}&#10;U_{x}   &amp; U_{y,1} &amp; U_{z,1}\\&#10;U_{x,2} &amp; U_{y}   &amp; U_{z,2}\\&#10;U_{x,3} &amp; U_{y,3} &amp; U_{z}\\&#10;\end{pmatrix}&#10;\\&#10;(x\bar{y}\bar{z})&#10;&amp; \Rightarrow &amp;&#10;\begin{pmatrix}&#10;U_{x}    &amp; U_{y,1}  &amp; U_{z,1}\\&#10;-U_{x,2} &amp; -U_{y}   &amp; -U_{z,2}\\&#10;-U_{x,3} &amp; -U_{y,3} &amp; -U_{z}\\&#10;\end{pmatrix}&#10;\\&#10;(\bar{x}y\bar{z})&#10;&amp; \Rightarrow &amp;&#10;\begin{pmatrix}&#10;-U_{x}   &amp; -U_{y,1} &amp; -U_{z,1}\\&#10; U_{x,2} &amp;  U_{y}   &amp;  U_{z,2}\\&#10;-U_{x,3} &amp; -U_{y,3} &amp; -U_{z}\\&#10;\end{pmatrix}&#10;\\&#10;(\bar{x}\bar{y}z)&#10;&amp; \Rightarrow &amp;&#10;\begin{pmatrix}&#10;-U_{x}   &amp; -U_{y,1} &amp; -U_{z,1}\\&#10;-U_{x,2} &amp; -U_{y}   &amp; -U_{z,2}\\&#10; U_{x,3} &amp;  U_{y,3} &amp;  U_{z}\\&#10;\end{pmatrix}&#10;\\&#10;\end{tabular}&#10;\end{equation*}&#10;&#10;\end{document}"/>
  <p:tag name="IGUANATEXSIZE" val="12"/>
  <p:tag name="IGUANATEXCURSOR" val="750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2101.98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zxy)&#10;&amp; \Rightarrow &amp;&#10;\begin{pmatrix}&#10;U_{x,3} &amp; U_{y,3} &amp; U_{z}\\&#10;U_{x} &amp; U_{y,1} &amp; U_{z,1}\\&#10;U_{x,2} &amp; U_{y} &amp; U_{z,2}\\&#10;\end{pmatrix}&#10;\\&#10;(\bar{z}x\bar{y})&#10;&amp; \Rightarrow &amp;&#10;\begin{pmatrix}&#10;-U_{x,3} &amp; -U_{y,3} &amp; -U_{z}\\&#10; U_{x}   &amp;  U_{y,1} &amp;  U_{z,1}\\&#10;-U_{x,2} &amp; -U_{y}   &amp; -U_{z,2}\\&#10;\end{pmatrix}&#10;\\&#10;(\bar{z}\bar{x}y)&#10;&amp; \Rightarrow &amp;&#10;\begin{pmatrix}&#10;-U_{x,3} &amp; -U_{y,3} &amp; -U_{z}\\&#10;-U_{x}   &amp; -U_{y,1} &amp; -U_{z,1}\\&#10; U_{x,2} &amp;  U_{y}   &amp;  U_{z,2}\\&#10;\end{pmatrix}&#10;\\&#10;(z\bar{x}\bar{y})&#10;&amp; \Rightarrow &amp;&#10;\begin{pmatrix}&#10; U_{x,3} &amp;  U_{y,3} &amp;  U_{z}\\&#10;-U_{x}   &amp; -U_{y,1} &amp; -U_{z,1}\\&#10;-U_{x,2} &amp; -U_{y}   &amp; -U_{z,2}\\&#10;\end{pmatrix}&#10;\\&#10;\end{tabular}&#10;\end{equation*}&#10;&#10;&#10;\end{document}"/>
  <p:tag name="IGUANATEXSIZE" val="12"/>
  <p:tag name="IGUANATEXCURSOR" val="722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80.015"/>
  <p:tag name="ORIGINALWIDTH" val="2197.975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xzy)&#10;&amp; \Rightarrow &amp;&#10;\sigma&#10;\begin{pmatrix}&#10;U_{x}   &amp; U_{y,1} &amp; U_{z,1}\\&#10;U_{x,3} &amp; U_{y,3} &amp; U_{z}\\&#10;U_{x,2} &amp; U_{y}   &amp; U_{z,2}\\&#10;\end{pmatrix}&#10;\\&#10;(x\bar{z}\bar{y})&#10;&amp; \Rightarrow &amp;&#10;\sigma&#10;\begin{pmatrix}&#10; U_{x}   &amp;  U_{y,1} &amp;  U_{z,1}\\&#10;-U_{x,3} &amp; -U_{y,3} &amp; -U_{z}\\&#10;-U_{x,2} &amp; -U_{y}   &amp; -U_{z,2}\\&#10;\end{pmatrix}&#10;\\&#10;(zyx)&#10;&amp; \Rightarrow &amp;&#10;\sigma&#10;\begin{pmatrix}&#10;U_{x,3} &amp; U_{y,3} &amp; U^{(j)}_{z}\\&#10;U_{x,2} &amp; U_{y}   &amp; U^{(j)}_{z,2}\\&#10;U_{x}   &amp; U_{y,1} &amp; U^{(j)}_{z,1}\\&#10;\end{pmatrix}&#10;\\&#10;(\bar{z}y\bar{x})&#10;&amp; \Rightarrow &amp;&#10;\sigma&#10;\begin{pmatrix}&#10;-U_{x,3} &amp; -U_{y,3} &amp; -U_{z}\\&#10; U_{x,2} &amp;  U_{y}   &amp;  U_{z,2}\\&#10;-U_{x}   &amp; -U_{y,1} &amp; -U_{z,1}\\&#10;\end{pmatrix}&#10;\\&#10;\end{tabular}&#10;\end{equation*}&#10;&#10;&#10;\end{document}"/>
  <p:tag name="IGUANATEXSIZE" val="12"/>
  <p:tag name="IGUANATEXCURSOR" val="751"/>
  <p:tag name="TRANSPARENCY" val="True"/>
  <p:tag name="FILENAME" val=""/>
  <p:tag name="LATEXENGINEID" val="0"/>
  <p:tag name="TEMPFOLDER" val="C:\iguanatex\"/>
  <p:tag name="LATEXFORMHEIGHT" val="446.25"/>
  <p:tag name="LATEXFORMWIDTH" val="1018.5"/>
  <p:tag name="LATEXFORMWRAP" val="Fals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2197.975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yxz)&#10;&amp; \Rightarrow &amp;&#10;\sigma&#10;\begin{pmatrix}&#10;U_{x,2} &amp; U_{y}   &amp; U_{z,2}\\&#10;U_{x}   &amp; U_{y,1} &amp; U_{z,1}\\&#10;U_{x,3} &amp; U_{y,3} &amp; U_{z}\\&#10;\end{pmatrix}&#10;\\&#10;(\bar{y}\bar{x}z)&#10;&amp; \Rightarrow &amp;&#10;\sigma&#10;\begin{pmatrix}&#10;-U_{x,2} &amp; -U_{y,2} &amp; -U_{z,2}\\&#10;-U_{x,1} &amp; -U_{y,1} &amp; -U_{z,1}\\&#10; U_{x,3} &amp;  U_{y,3} &amp;  U_{z}\\&#10;\end{pmatrix}&#10;\\&#10;(\bar{x}\bar{z}y)&#10;&amp; \Rightarrow &amp;&#10;\sigma&#10;\begin{pmatrix}&#10;-U_{x}   &amp; -U_{y,1} &amp; -U_{z,1}\\&#10;-U_{x,3} &amp; -U_{y,3} &amp; -U_{z}\\&#10; U_{x,2} &amp;  U_{y}   &amp;  U_{z,2}\\&#10;\end{pmatrix}&#10;\\&#10;(\bar{x}z\bar{y})&#10;&amp; \Rightarrow &amp;&#10;\sigma&#10;\begin{pmatrix}&#10;-U_{x,1} &amp; -U_{y,1} &amp; -U_{z,1}\\&#10; U_{x,3} &amp;  U_{y,3} &amp;  U_{z,3}\\&#10;-U_{x,2} &amp; -U_{y,2} &amp; -U_{z,2}\\&#10;\end{pmatrix}&#10;\\&#10;\end{tabular}&#10;\end{equation*}&#10;&#10;&#10;\end{document}"/>
  <p:tag name="IGUANATEXSIZE" val="12"/>
  <p:tag name="IGUANATEXCURSOR" val="875"/>
  <p:tag name="TRANSPARENCY" val="True"/>
  <p:tag name="FILENAME" val=""/>
  <p:tag name="LATEXENGINEID" val="0"/>
  <p:tag name="TEMPFOLDER" val="C:\iguanatex\"/>
  <p:tag name="LATEXFORMHEIGHT" val="446.25"/>
  <p:tag name="LATEXFORMWIDTH" val="1018.5"/>
  <p:tag name="LATEXFORMWRAP" val="Fals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2197.975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z\bar{y}\bar{x})&#10;&amp; \Rightarrow &amp;&#10;\sigma&#10;\begin{pmatrix}&#10; U_{x,3} &amp;  U_{y,3} &amp;  U_{z}\\&#10;-U_{x,2} &amp; -U_{y}   &amp; -U_{z,2}\\&#10;-U_{x}   &amp; -U_{y,1} &amp; -U_{z,1}\\&#10;\end{pmatrix}&#10;\\&#10;(\bar{z}\bar{y}x)&#10;&amp; \Rightarrow &amp;&#10;\sigma&#10;\begin{pmatrix}&#10;-U_{x,3} &amp; -U_{y,3} &amp; -U_{z}\\&#10;-U_{x,2} &amp; -U_{y}   &amp; -U_{z,2}\\&#10; U_{x}   &amp;  U_{y,1} &amp;  U_{z,1}\\&#10;\end{pmatrix}&#10;\\&#10;(\bar{y}x\bar{z})&#10;&amp; \Rightarrow &amp;&#10;\sigma&#10;\begin{pmatrix}&#10;-U_{x,2} &amp; -U_{y}   &amp; -U_{z,2}\\&#10; U_{x,1} &amp;  U_{y,1} &amp;  U_{z,1}\\&#10;-U_{x,3} &amp; -U_{y,3} &amp; -U_{z}\\&#10;\end{pmatrix}&#10;\\&#10;(y\bar{x}\bar{z})&#10;&amp; \Rightarrow &amp;&#10;\sigma&#10;\begin{pmatrix}&#10; U_{x,2} &amp;  U_{y}   &amp;  U_{z,2}\\&#10;-U_{x}   &amp; -U_{y,1} &amp; -U_{z,1}\\&#10;-U_{x,3} &amp; -U_{y,3} &amp; -U_{z}\\&#10;\end{pmatrix}&#10;\\&#10;\end{tabular}&#10;\end{equation*}&#10;&#10;&#10;\end{document}"/>
  <p:tag name="IGUANATEXSIZE" val="12"/>
  <p:tag name="IGUANATEXCURSOR" val="777"/>
  <p:tag name="TRANSPARENCY" val="False"/>
  <p:tag name="FILENAME" val=""/>
  <p:tag name="LATEXENGINEID" val="0"/>
  <p:tag name="TEMPFOLDER" val="C:\iguanatex\"/>
  <p:tag name="LATEXFORMHEIGHT" val="570.75"/>
  <p:tag name="LATEXFORMWIDTH" val="1018.5"/>
  <p:tag name="LATEXFORMWRAP" val="Fals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1052.119"/>
  <p:tag name="OUTPUTTYPE" val="PNG"/>
  <p:tag name="IGUANATEXVERSION" val="159"/>
  <p:tag name="LATEXADDIN" val="\documentclass{article}&#10;\usepackage{amsmath,bm,eufrak}&#10;\pagestyle{empty}&#10;\begin{document}&#10;&#10;\begin{align*}&#10;V^{\left(A_{1}\right)\mathcal{W}_{0}\mathcal{W}_{0}}_{\parallel}&#10;&amp; =&#10;U^{\left(A_{1}\right)}&#10;\\&#10;\end{align*}&#10;&#10;\end{document}"/>
  <p:tag name="IGUANATEXSIZE" val="20"/>
  <p:tag name="IGUANATEXCURSOR" val="17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6.4229"/>
  <p:tag name="ORIGINALWIDTH" val="1329.584"/>
  <p:tag name="OUTPUTTYPE" val="PNG"/>
  <p:tag name="IGUANATEXVERSION" val="159"/>
  <p:tag name="LATEXADDIN" val="\documentclass{article}&#10;\usepackage{amsmath,bm,eufrak}&#10;\pagestyle{empty}&#10;\begin{document}&#10;&#10;\begin{align*}&#10;V^{\left(A_{1}\right)A^{\sigma}A^{\sigma}}_{\perp}&#10;&amp; =&#10;2U^{\left(A_{1}\right)}&#10;\\&#10;V^{\left(A_{1}\right)E_{i\sigma}E_{i\sigma}}_{\perp}&#10;&amp; =&#10;-U^{\left(A_{1}\right)}&#10;\\&#10;V^{\left(A_{1}\right)E_{i\sigma}E_{i\bar{\sigma}}}_{\perp}&#10;&amp; =&#10;\sigma\sqrt{3}U^{\left(A_{1}\right)}&#10;\\&#10;\end{align*}&#10;&#10;\end{document}"/>
  <p:tag name="IGUANATEXSIZE" val="20"/>
  <p:tag name="IGUANATEXCURSOR" val="34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819.6476"/>
  <p:tag name="OUTPUTTYPE" val="PNG"/>
  <p:tag name="IGUANATEXVERSION" val="159"/>
  <p:tag name="LATEXADDIN" val="\documentclass{article}&#10;\usepackage{amsmath,bm,eufrak}&#10;\pagestyle{empty}&#10;\begin{document}&#10;&#10;\begin{align*}&#10;V^{\left(A_{1}\right)\mathcal{W}_{0}\mathcal{W}_{1}}_{\parallel\slash\perp}&#10;&amp; =&#10;0&#10;\\&#10;\end{align*}&#10;&#10;\end{document}"/>
  <p:tag name="IGUANATEXSIZE" val="20"/>
  <p:tag name="IGUANATEXCURSOR" val="18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9.6625"/>
  <p:tag name="ORIGINALWIDTH" val="1781.027"/>
  <p:tag name="OUTPUTTYPE" val="PNG"/>
  <p:tag name="IGUANATEXVERSION" val="159"/>
  <p:tag name="LATEXADDIN" val="\documentclass{article}&#10;\usepackage{amsmath,bm,eufrak}&#10;\pagestyle{empty}&#10;\begin{document}&#10;&#10;\begin{align*}&#10;V^{\left(A_{2}\right)A^{\sigma}A^{\bar{\sigma}}}_{\parallel}&#10;&amp; =&#10;U^{\left(A_{2}\right)}&#10;\\&#10;V^{\left(A_{2}\right)E_{i\sigma}E_{i\bar{\sigma}}}_{\parallel}&#10;&amp; =&#10;\mathrm{i}\sigma\left(\delta_{i1}-\delta_{i2}\right)U^{\left(A_{2}\right)}&#10;\\&#10;V^{\left(A_{2}\right)T^{\sigma}T^{\bar{\sigma}}}_{\parallel}&#10;&amp; =&#10;U^{\left(A_{2}\right)}&#10;\\&#10;\end{align*}&#10;&#10;\end{document}"/>
  <p:tag name="IGUANATEXSIZE" val="20"/>
  <p:tag name="IGUANATEXCURSOR" val="27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6.1718"/>
  <p:tag name="ORIGINALWIDTH" val="1968.504"/>
  <p:tag name="OUTPUTTYPE" val="PNG"/>
  <p:tag name="IGUANATEXVERSION" val="159"/>
  <p:tag name="LATEXADDIN" val="\documentclass{article}&#10;\usepackage{amsmath,bm,eufrak}&#10;\pagestyle{empty}&#10;\begin{document}&#10;&#10;\begin{align*}&#10;V^{\left(A_{2}\right)A^{\sigma}A^{\bar{\sigma}}}_{\perp}&#10;&amp; =&#10;2U^{\left(A_{2}\right)}&#10;\\&#10;V^{\left(A_{2}\right)E_{i\sigma}E_{i\sigma}}_{\perp}&#10;&amp; =&#10;-\mathrm{i}\left(\delta_{i1}-\delta_{i2}\right)\sqrt{3}U^{\left(A_{2}\right)}&#10;\\&#10;V^{\left(A_{2}\right)E_{i\sigma}E_{i\bar{\sigma}}}_{\perp}&#10;&amp; =&#10;-\mathrm{i}\sigma\left(\delta_{i1}-\delta_{i2}\right)U^{\left(A_{2}\right)}&#10;\\&#10;\end{align*}&#10;&#10;\end{document}"/>
  <p:tag name="IGUANATEXSIZE" val="20"/>
  <p:tag name="IGUANATEXCURSOR" val="31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819.6476"/>
  <p:tag name="OUTPUTTYPE" val="PNG"/>
  <p:tag name="IGUANATEXVERSION" val="159"/>
  <p:tag name="LATEXADDIN" val="\documentclass{article}&#10;\usepackage{amsmath,bm,eufrak}&#10;\pagestyle{empty}&#10;\begin{document}&#10;&#10;\begin{align*}&#10;V^{\left(A_{2}\right)\mathcal{W}_{0}\mathcal{W}_{1}}_{\parallel\slash\perp}&#10;&amp; =&#10;0&#10;\\&#10;\end{align*}&#10;&#10;\end{document}"/>
  <p:tag name="IGUANATEXSIZE" val="20"/>
  <p:tag name="IGUANATEXCURSOR" val="11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7.9377"/>
  <p:tag name="ORIGINALWIDTH" val="3518.56"/>
  <p:tag name="OUTPUTTYPE" val="PNG"/>
  <p:tag name="IGUANATEXVERSION" val="159"/>
  <p:tag name="LATEXADDIN" val="\documentclass{article}&#10;\usepackage{amsmath,bm,eufrak}&#10;\pagestyle{empty}&#10;\begin{document}&#10;&#10;\begin{align*}&#10;V^{\left(E\right)A_{+}E_{2+}}_{\parallel} &amp; = U^{\left(E\right)}_{11} + U^{\left(E\right)}_{21}&#10;&amp;&#10;V^{\left(E\right)A_{+}E_{2-}}_{\parallel} &amp; = -\mathrm{i}\left(U^{\left(E\right)}_{11} - U^{\left(E\right)}_{21}\right)&#10;\\&#10;V^{\left(E\right)A_{-}E_{2+}}_{\parallel} &amp; = U^{\left(E\right)}_{11} - U^{\left(E\right)}_{21}&#10;&amp;&#10;V^{\left(E\right)A_{-}E_{2-}}_{\parallel} &amp; = -\mathrm{i}\left(U^{\left(E\right)}_{11} + U^{\left(E\right)}_{21}\right)&#10;\\&#10;\end{align*}&#10;&#10;\end{document}"/>
  <p:tag name="IGUANATEXSIZE" val="20"/>
  <p:tag name="IGUANATEXCURSOR" val="51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7.9377"/>
  <p:tag name="ORIGINALWIDTH" val="3454.068"/>
  <p:tag name="OUTPUTTYPE" val="PNG"/>
  <p:tag name="IGUANATEXVERSION" val="159"/>
  <p:tag name="LATEXADDIN" val="\documentclass{article}&#10;\usepackage{amsmath,bm,eufrak}&#10;\pagestyle{empty}&#10;\begin{document}&#10;&#10;\begin{align*}&#10;V^{\left(E\right)A_{+}E_{1+}}_{\parallel} &amp; = U^{\left(E\right)}_{22} + U^{\left(E\right)}_{12}&#10;&amp;&#10;V^{\left(E\right)A_{+}E_{1-}}_{\parallel} &amp; = \mathrm{i}\left(U^{\left(E\right)}_{22} - U^{\left(E\right)}_{12}\right)&#10;\\&#10;V^{\left(E\right)A_{-}E_{1+}}_{\parallel} &amp; = U^{\left(E\right)}_{22} - U^{\left(E\right)}_{12}&#10;&amp;&#10;V^{\left(E\right)A_{-}E_{1-}}_{\parallel} &amp; = \mathrm{i}\left(U^{\left(E\right)}_{22} + U^{\left(E\right)}_{12}\right)&#10;\\&#10;\end{align*}&#10;&#10;\end{document}"/>
  <p:tag name="IGUANATEXSIZE" val="20"/>
  <p:tag name="IGUANATEXCURSOR" val="57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69.4413"/>
  <p:tag name="ORIGINALWIDTH" val="3719.535"/>
  <p:tag name="OUTPUTTYPE" val="PNG"/>
  <p:tag name="IGUANATEXVERSION" val="159"/>
  <p:tag name="LATEXADDIN" val="\documentclass{article}&#10;\usepackage{amsmath,bm,eufrak}&#10;\pagestyle{empty}&#10;\begin{document}&#10;&#10;\begin{align*}&#10;V^{\left(E\right)E_{1+}A_{+}}_{\parallel} &amp; = U^{\left(E\right)}_{11} + U^{\left(E\right)}_{21}&#10;&amp;&#10;V^{\left(E\right)E_{1+}A_{-}}_{\parallel} &amp; = U^{\left(E\right)}_{11} - U^{\left(E\right)}_{21}&#10;\\&#10;V^{\left(E\right)E_{1-}A_{+}}_{\parallel} &amp; = -\mathrm{i}\left(U^{\left(E\right)}_{11} - U^{\left(E\right)}_{21}\right)&#10;&amp;&#10;V^{\left(E\right)E_{1-}A_{-}}_{\parallel} &amp; = -\mathrm{i}\left(U^{\left(E\right)}_{11} + U^{\left(E\right)}_{21}\right)&#10;\\&#10;\end{align*}&#10;&#10;\end{document}"/>
  <p:tag name="IGUANATEXSIZE" val="20"/>
  <p:tag name="IGUANATEXCURSOR" val="42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7.9377"/>
  <p:tag name="ORIGINALWIDTH" val="3773.528"/>
  <p:tag name="OUTPUTTYPE" val="PNG"/>
  <p:tag name="IGUANATEXVERSION" val="159"/>
  <p:tag name="LATEXADDIN" val="\documentclass{article}&#10;\usepackage{amsmath,bm,eufrak}&#10;\pagestyle{empty}&#10;\begin{document}&#10;&#10;\begin{align*}&#10;V^{\left(E\right)E_{1+}E_{2+}}_{\parallel} &amp; = U^{\left(E\right)}_{22} + U^{\left(E\right)}_{12}&#10;&amp;&#10;V^{\left(E\right)E_{1+}E_{2-}}_{\parallel} &amp; = -\mathrm{i}\left(U^{\left(E\right)}_{22} - U^{\left(E\right)}_{12}\right)&#10;\\&#10;V^{\left(E\right)E_{1-}E_{2+}}_{\parallel} &amp; = -\mathrm{i}\left(U^{\left(E\right)}_{22} - U^{\left(E\right)}_{12}\right)&#10;&amp;&#10;V^{\left(E\right)E_{1-}E_{2-}}_{\parallel} &amp; = -\left(U^{\left(E\right)}_{22} + U^{\left(E\right)}_{12}\right)&#10;\\&#10;\end{align*}&#10;&#10;\end{document}"/>
  <p:tag name="IGUANATEXSIZE" val="20"/>
  <p:tag name="IGUANATEXCURSOR" val="532"/>
  <p:tag name="TRANSPARENCY" val="True"/>
  <p:tag name="FILENAME" val=""/>
  <p:tag name="LATEXENGINEID" val="0"/>
  <p:tag name="TEMPFOLDER" val="C:\iguanatex\"/>
  <p:tag name="LATEXFORMHEIGHT" val="494.25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7.9377"/>
  <p:tag name="ORIGINALWIDTH" val="3686.539"/>
  <p:tag name="OUTPUTTYPE" val="PNG"/>
  <p:tag name="IGUANATEXVERSION" val="159"/>
  <p:tag name="LATEXADDIN" val="\documentclass{article}&#10;\usepackage{amsmath,bm,eufrak}&#10;\pagestyle{empty}&#10;\begin{document}&#10;&#10;\begin{align*}&#10;V^{\left(E\right)E_{2+}E_{1+}}_{\parallel} &amp; = U^{\left(E\right)}_{11} + U^{\left(E\right)}_{21}&#10;&amp;&#10;V^{\left(E\right)E_{2+}E_{1-}}_{\parallel} &amp; = \mathrm{i}\left(U^{\left(E\right)}_{11} - U^{\left(E\right)}_{21}\right)&#10;\\&#10;V^{\left(E\right)E_{2-}E_{1+}}_{\parallel} &amp; = \mathrm{i}\left(U^{\left(E\right)}_{11} - U^{\left(E\right)}_{21}\right)&#10;&amp;&#10;V^{\left(E\right)E_{2-}E_{1-}}_{\parallel} &amp; = -\left(U^{\left(E\right)}_{11} + U^{\left(E\right)}_{21}\right)&#10;\\&#10;\end{align*}&#10;&#10;\end{document}"/>
  <p:tag name="IGUANATEXSIZE" val="20"/>
  <p:tag name="IGUANATEXCURSOR" val="471"/>
  <p:tag name="TRANSPARENCY" val="True"/>
  <p:tag name="FILENAME" val=""/>
  <p:tag name="LATEXENGINEID" val="0"/>
  <p:tag name="TEMPFOLDER" val="C:\iguanatex\"/>
  <p:tag name="LATEXFORMHEIGHT" val="494.25"/>
  <p:tag name="LATEXFORMWIDTH" val="938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7.9377"/>
  <p:tag name="ORIGINALWIDTH" val="3590.551"/>
  <p:tag name="OUTPUTTYPE" val="PNG"/>
  <p:tag name="IGUANATEXVERSION" val="159"/>
  <p:tag name="LATEXADDIN" val="\documentclass{article}&#10;\usepackage{amsmath,bm,eufrak}&#10;\pagestyle{empty}&#10;\begin{document}&#10;&#10;\begin{align*}&#10;V^{\left(E\right)E_{2+}A_{+}}_{\parallel} &amp; = U^{\left(E\right)}_{22} + U^{\left(E\right)}_{12}&#10;&amp;&#10;V^{\left(E\right)E_{2+}A_{-}}_{\parallel} &amp; = \left(U^{\left(E\right)}_{22} - U^{\left(E\right)}_{12}\right)&#10;\\&#10;V^{\left(E\right)E_{2-}A_{+}}_{\parallel} &amp; = \mathrm{i}\left(U^{\left(E\right)}_{22} - U^{\left(E\right)}_{12}\right)&#10;&amp;&#10;V^{\left(E\right)E_{2-}A_{-}}_{\parallel} &amp; = \mathrm{i}\left(U^{\left(E\right)}_{22} + U^{\left(E\right)}_{12}\right)&#10;\\&#10;\end{align*}&#10;&#10;\end{document}"/>
  <p:tag name="IGUANATEXSIZE" val="20"/>
  <p:tag name="IGUANATEXCURSOR" val="17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71.6536"/>
  <p:tag name="ORIGINALWIDTH" val="5680.54"/>
  <p:tag name="OUTPUTTYPE" val="PNG"/>
  <p:tag name="IGUANATEXVERSION" val="159"/>
  <p:tag name="LATEXADDIN" val="\documentclass{article}&#10;\usepackage{amsmath,amssymb,bm}&#10;\pagestyle{empty}&#10;\begin{document}&#10;&#10;\begin{align*}&#10;V^{\left(E\right)T_{x\sigma}T_{x\sigma}}_{\parallel} &amp; =&#10;   \tau\left(U^{\left(E\right)}_{11} + U^{\left(E\right)}_{21}\right)&#10;   +&#10;   \tau^{2}\left(U^{\left(E\right)}_{22} + U^{\left(E\right)}_{12}\right)&#10;&amp;&#10;V^{\left(E\right)T_{x\sigma}T_{x\bar{\sigma}}}_{\parallel} &amp; =&#10;   \tau\left(U^{\left(E\right)}_{11} - U^{\left(E\right)}_{21}\right)&#10;   +&#10;   \tau^{2}\left(U^{\left(E\right)}_{22} - U^{\left(E\right)}_{12}\right)&#10;\\&#10;V^{\left(E\right)T_{y\sigma}T_{y\sigma}}_{\parallel} &amp; =&#10;   \tau^{2}\left(U^{\left(E\right)}_{11} + U^{\left(E\right)}_{21}\right)&#10;   +&#10;   \tau\left(U^{\left(E\right)}_{22} + U^{\left(E\right)}_{12}\right)&#10;&amp;&#10;V^{\left(E\right)T_{y\sigma}T_{y\bar{\sigma}}}_{\parallel} &amp; =&#10;   \tau^{2}\left(U^{\left(E\right)}_{11} - U^{\left(E\right)}_{21}\right)&#10;   +&#10;   \tau\left(U^{\left(E\right)}_{22} - U^{\left(E\right)}_{12}\right)&#10;\\&#10;V^{\left(E\right)T_{z\sigma}T_{z\sigma}}_{\parallel} &amp; =&#10;   U^{\left(E\right)}_{11} + U^{\left(E\right)}_{21}&#10;   +&#10;   U^{\left(E\right)}_{22} + U^{\left(E\right)}_{12}&#10;&amp;&#10;V^{\left(E\right)T_{z\sigma}T_{z\bar{\sigma}}}_{\parallel} &amp; =&#10;   U^{\left(E\right)}_{11} - U^{\left(E\right)}_{21}&#10;   +&#10;   \left(U^{\left(E\right)}_{22} - U^{\left(E\right)}_{12}\right)&#10;\\&#10;\end{align*}&#10;&#10;\end{document}"/>
  <p:tag name="IGUANATEXSIZE" val="20"/>
  <p:tag name="IGUANATEXCURSOR" val="1341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7.9377"/>
  <p:tag name="ORIGINALWIDTH" val="3776.528"/>
  <p:tag name="OUTPUTTYPE" val="PNG"/>
  <p:tag name="IGUANATEXVERSION" val="159"/>
  <p:tag name="LATEXADDIN" val="\documentclass{article}&#10;\usepackage{amsmath,bm,eufrak}&#10;\pagestyle{empty}&#10;\begin{document}&#10;&#10;\begin{align*}&#10;V^{\left(E\right)A_{+}E_{2+}}_{\perp} &amp; = \tau^{2}U^{\left(E\right)}_{11} + \tau U^{\left(E\right)}_{21}&#10;&amp;&#10;V^{\left(E\right)A_{+}E_{2-}}_{\perp} &amp; = -\mathrm{i}\left(\tau^{2}U^{\left(E\right)}_{11} - \tau U^{\left(E\right)}_{21}\right)&#10;\\&#10;V^{\left(E\right)A_{-}E_{2+}}_{\perp} &amp; = \tau^{2}U^{\left(E\right)}_{11} - \tau U^{\left(E\right)}_{21}&#10;&amp;&#10;V^{\left(E\right)A_{-}E_{2-}}_{\perp} &amp; = -\mathrm{i}\left(\tau^{2}U^{\left(E\right)}_{11} + \tau U^{\left(E\right)}_{21}\right)&#10;\\&#10;\end{align*}&#10;&#10;\end{document}"/>
  <p:tag name="IGUANATEXSIZE" val="20"/>
  <p:tag name="IGUANATEXCURSOR" val="48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7.9377"/>
  <p:tag name="ORIGINALWIDTH" val="3811.024"/>
  <p:tag name="OUTPUTTYPE" val="PNG"/>
  <p:tag name="IGUANATEXVERSION" val="159"/>
  <p:tag name="LATEXADDIN" val="\documentclass{article}&#10;\usepackage{amsmath,bm,eufrak}&#10;\pagestyle{empty}&#10;\begin{document}&#10;&#10;\begin{align*}&#10;V^{\left(E\right)A_{+}E_{1+}}_{\perp} &amp; = \tau U^{\left(E\right)}_{22} + \tau^{2}U^{\left(E\right)}_{12}&#10;&amp;&#10;V^{\left(E\right)A_{+}E_{1-}}_{\perp} &amp; = \mathrm{i}\left(\tau U^{\left(E\right)}_{22} - \tau^{2}U^{\left(E\right)}_{12}\right)&#10;\\&#10;V^{\left(E\right)A_{-}E_{1+}}_{\perp} &amp; = \left(\tau U^{\left(E\right)}_{22} - \tau^{2}U^{\left(E\right)}_{12}\right)&#10;&amp;&#10;V^{\left(E\right)A_{-}E_{1-}}_{\perp} &amp; = \mathrm{i}\left(\tau U^{\left(E\right)}_{22} + \tau^{2}U^{\left(E\right)}_{12}\right)&#10;\\&#10;\end{align*}&#10;&#10;\end{document}"/>
  <p:tag name="IGUANATEXSIZE" val="20"/>
  <p:tag name="IGUANATEXCURSOR" val="55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9.9438"/>
  <p:tag name="ORIGINALWIDTH" val="3976.003"/>
  <p:tag name="OUTPUTTYPE" val="PNG"/>
  <p:tag name="IGUANATEXVERSION" val="159"/>
  <p:tag name="LATEXADDIN" val="\documentclass{article}&#10;\usepackage{amsmath,bm,eufrak}&#10;\pagestyle{empty}&#10;\begin{document}&#10;&#10;\begin{align*}&#10;V^{\left(E\right)E_{1+}A_{+}}_{\perp} &amp; = \tau U^{\left(E\right)}_{11} + \tau^{2}U^{\left(E\right)}_{21}&#10;&amp;&#10;V^{\left(E\right)E_{1+}A_{-}}_{\perp} &amp; = \tau U^{\left(E\right)}_{11} - \tau^{2}U^{\left(E\right)}_{21}&#10;\\&#10;V^{\left(E\right)E_{1-}A_{+}}_{\perp} &amp; = -\mathrm{i}\left(\tau U^{\left(E\right)}_{11} - \tau^{2}U^{\left(E\right)}_{21}\right)&#10;&amp;&#10;V^{\left(E\right)E_{1-}A_{-}}_{\perp} &amp; = -\mathrm{i}\left(\tau U^{\left(E\right)}_{11} + \tau^{2}U^{\left(E\right)}_{21}\right)&#10;\\&#10;\end{align*}&#10;&#10;\end{document}"/>
  <p:tag name="IGUANATEXSIZE" val="20"/>
  <p:tag name="IGUANATEXCURSOR" val="18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7.9377"/>
  <p:tag name="ORIGINALWIDTH" val="3773.528"/>
  <p:tag name="OUTPUTTYPE" val="PNG"/>
  <p:tag name="IGUANATEXVERSION" val="159"/>
  <p:tag name="LATEXADDIN" val="\documentclass{article}&#10;\usepackage{amsmath,bm,eufrak}&#10;\pagestyle{empty}&#10;\begin{document}&#10;&#10;\begin{align*}&#10;V^{\left(E\right)E_{1+}E_{2+}}_{\perp} &amp; = U^{\left(E\right)}_{22} + U^{\left(E\right)}_{12}&#10;&amp;&#10;V^{\left(E\right)E_{1+}E_{2-}}_{\perp} &amp; = -\mathrm{i}\left(U^{\left(E\right)}_{22} - U^{\left(E\right)}_{12}\right)&#10;\\&#10;V^{\left(E\right)E_{1-}E_{2+}}_{\perp} &amp; = -\mathrm{i}\left(U^{\left(E\right)}_{22} - U^{\left(E\right)}_{12}\right)&#10;&amp;&#10;V^{\left(E\right)E_{1-}E_{2-}}_{\perp} &amp; = -\left(U^{\left(E\right)}_{22} + U^{\left(E\right)}_{12}\right)&#10;\\&#10;\end{align*}&#10;&#10;\end{document}"/>
  <p:tag name="IGUANATEXSIZE" val="20"/>
  <p:tag name="IGUANATEXCURSOR" val="198"/>
  <p:tag name="TRANSPARENCY" val="True"/>
  <p:tag name="FILENAME" val=""/>
  <p:tag name="LATEXENGINEID" val="0"/>
  <p:tag name="TEMPFOLDER" val="C:\iguanatex\"/>
  <p:tag name="LATEXFORMHEIGHT" val="494.25"/>
  <p:tag name="LATEXFORMWIDTH" val="938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7.9377"/>
  <p:tag name="ORIGINALWIDTH" val="3686.539"/>
  <p:tag name="OUTPUTTYPE" val="PNG"/>
  <p:tag name="IGUANATEXVERSION" val="159"/>
  <p:tag name="LATEXADDIN" val="\documentclass{article}&#10;\usepackage{amsmath,bm,eufrak}&#10;\pagestyle{empty}&#10;\begin{document}&#10;&#10;\begin{align*}&#10;V^{\left(E\right)E_{2+}E_{1+}}_{\perp} &amp; = U^{\left(E\right)}_{11} + U^{\left(E\right)}_{21}&#10;&amp;&#10;V^{\left(E\right)E_{2+}E_{1-}}_{\perp} &amp; = \mathrm{i}\left(U^{\left(E\right)}_{11} - U^{\left(E\right)}_{21}\right)&#10;\\&#10;V^{\left(E\right)E_{2-}E_{1+}}_{\perp} &amp; = \mathrm{i}\left(U^{\left(E\right)}_{11} - U^{\left(E\right)}_{21}\right)&#10;&amp;&#10;V^{\left(E\right)E_{2-}E_{1-}}_{\perp} &amp; = -\left(U^{\left(E\right)}_{11} + U^{\left(E\right)}_{21}\right)&#10;\\&#10;\end{align*}&#10;&#10;\end{document}"/>
  <p:tag name="IGUANATEXSIZE" val="20"/>
  <p:tag name="IGUANATEXCURSOR" val="475"/>
  <p:tag name="TRANSPARENCY" val="True"/>
  <p:tag name="FILENAME" val=""/>
  <p:tag name="LATEXENGINEID" val="0"/>
  <p:tag name="TEMPFOLDER" val="C:\iguanatex\"/>
  <p:tag name="LATEXFORMHEIGHT" val="494.25"/>
  <p:tag name="LATEXFORMWIDTH" val="938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7.9377"/>
  <p:tag name="ORIGINALWIDTH" val="3953.506"/>
  <p:tag name="OUTPUTTYPE" val="PNG"/>
  <p:tag name="IGUANATEXVERSION" val="159"/>
  <p:tag name="LATEXADDIN" val="\documentclass{article}&#10;\usepackage{amsmath,bm,eufrak}&#10;\pagestyle{empty}&#10;\begin{document}&#10;&#10;\begin{align*}&#10;V^{\left(E\right)E_{2+}A_{+}}_{\perp} &amp; = \tau U^{\left(E\right)}_{12} + \tau^{2}U^{\left(E\right)}_{22}&#10;&amp;&#10;V^{\left(E\right)E_{2+}A_{-}}_{\perp} &amp; = -\left(\tau U^{\left(E\right)}_{12} - \tau^{2}U^{\left(E\right)}_{22}\right)&#10;\\&#10;V^{\left(E\right)E_{2-}A_{+}}_{\perp} &amp; = -\mathrm{i}\left(\tau U^{\left(E\right)}_{12} - \tau^{2}U^{\left(E\right)}_{22}\right)&#10;&amp;&#10;V^{\left(E\right)E_{2-}A_{-}}_{\perp} &amp; = \mathrm{i}\left(\tau U^{\left(E\right)}_{12} + \tau^{2}U^{\left(E\right)}_{22}\right)&#10;\\&#10;\end{align*}&#10;&#10;\end{document}"/>
  <p:tag name="IGUANATEXSIZE" val="20"/>
  <p:tag name="IGUANATEXCURSOR" val="14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5113.611"/>
  <p:tag name="OUTPUTTYPE" val="PNG"/>
  <p:tag name="IGUANATEXVERSION" val="159"/>
  <p:tag name="LATEXADDIN" val="\documentclass{article}&#10;\usepackage{amsmath,bm,eufrak}&#10;\pagestyle{empty}&#10;\begin{document}&#10;&#10;\begin{align*}&#10;V^{\left(T_{1}\right)A^{\sigma}T_{z}^{\bar{\sigma}}}_{\parallel}&#10;=&#10;V^{\left(T_{1}\right)E_{1+}T_{z}^{-}}_{\parallel}&#10;=&#10;V^{\left(T_{1}\right)E_{2+}T_{z}^{-}}_{\parallel}&#10;=&#10;V^{\left(T_{1}\right)T_{z}^{\sigma}A^{\bar{\sigma}}}_{\parallel}&#10;=&#10;V^{\left(T_{1}\right)T_{z}^{-}E_{1+}}_{\parallel}&#10;=&#10;V^{\left(T_{1}\right)T_{z}^{-}E_{2+}}_{\parallel}&#10;&amp; =&#10;\frac{1}{\sqrt{3}}&#10;U^{\left(T_{1}\right)}_{z,xyz}&#10;\\&#10;\end{align*}&#10;&#10;\end{document}"/>
  <p:tag name="IGUANATEXSIZE" val="20"/>
  <p:tag name="IGUANATEXCURSOR" val="43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2145"/>
  <p:tag name="ORIGINALWIDTH" val="2185.977"/>
  <p:tag name="OUTPUTTYPE" val="PNG"/>
  <p:tag name="IGUANATEXVERSION" val="159"/>
  <p:tag name="LATEXADDIN" val="\documentclass{article}&#10;\usepackage{amsmath,bm,eufrak}&#10;\pagestyle{empty}&#10;\begin{document}&#10;&#10;\begin{align*}&#10;V^{\left(T_{1}\right)E_{1-}T_{z}^{+}}_{\parallel}&#10;=&#10;V^{\left(T_{1}\right)T_{z}^{+}E_{2-}}_{\parallel}&#10;&amp; =&#10;-\frac{\mathrm{i}}{\sqrt{3}}U^{\left(T_{1}\right)}_{z,xyz}&#10;\\&#10;\end{align*}&#10;&#10;\end{document}"/>
  <p:tag name="IGUANATEXSIZE" val="20"/>
  <p:tag name="IGUANATEXCURSOR" val="20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2145"/>
  <p:tag name="ORIGINALWIDTH" val="2088.489"/>
  <p:tag name="OUTPUTTYPE" val="PNG"/>
  <p:tag name="IGUANATEXVERSION" val="159"/>
  <p:tag name="LATEXADDIN" val="\documentclass{article}&#10;\usepackage{amsmath,bm,eufrak}&#10;\pagestyle{empty}&#10;\begin{document}&#10;&#10;\begin{align*}&#10;V^{\left(T_{1}\right)E_{2-}T_{z}^{+}}_{\parallel}&#10;=&#10;V^{\left(T_{1}\right)T_{z}^{+}E_{1-}}_{\parallel}&#10;&amp; =&#10;\frac{\mathrm{i}}{\sqrt{3}}U^{\left(T_{1}\right)}_{z,xyz}&#10;\\&#10;\end{align*}&#10;&#10;\end{document}"/>
  <p:tag name="IGUANATEXSIZE" val="20"/>
  <p:tag name="IGUANATEXCURSOR" val="23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1963.255"/>
  <p:tag name="OUTPUTTYPE" val="PNG"/>
  <p:tag name="IGUANATEXVERSION" val="159"/>
  <p:tag name="LATEXADDIN" val="\documentclass{article}&#10;\usepackage{amsmath,bm,eufrak}&#10;\pagestyle{empty}&#10;\begin{document}&#10;&#10;\begin{align*}&#10;V^{\left(T_{1}\right)A^{\sigma}T_{x}^{\bar{\sigma}}}_{\parallel}&#10;=&#10;V^{\left(T_{1}\right)T_{x}^{\sigma}A^{\bar{\sigma}}}_{\parallel}&#10;&amp; =&#10;\frac{1}{\sqrt{3}}U^{\left(T_{1}\right)}_{x,zxy}&#10;\\&#10;\end{align*}&#10;&#10;\end{document}"/>
  <p:tag name="IGUANATEXSIZE" val="20"/>
  <p:tag name="IGUANATEXCURSOR" val="23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3.712"/>
  <p:tag name="ORIGINALWIDTH" val="2191.976"/>
  <p:tag name="OUTPUTTYPE" val="PNG"/>
  <p:tag name="IGUANATEXVERSION" val="159"/>
  <p:tag name="LATEXADDIN" val="\documentclass{article}&#10;\usepackage{amsmath,bm,eufrak}&#10;\pagestyle{empty}&#10;\begin{document}&#10;&#10;\begin{align*}&#10;V^{\left(T_{1}\right)E_{1-}T_{x}^{+}}_{\parallel}&#10;=&#10;V^{\left(T_{1}\right)T_{x}^{+}E_{2-}}_{\parallel}&#10;&amp; =&#10;-\frac{\mathrm{i}\tau^{2}}{\sqrt{3}}U^{\left(T_{1}\right)}_{x,zxy}&#10;\\&#10;\end{align*}&#10;&#10;\end{document}"/>
  <p:tag name="IGUANATEXSIZE" val="20"/>
  <p:tag name="IGUANATEXCURSOR" val="20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2145"/>
  <p:tag name="ORIGINALWIDTH" val="2095.238"/>
  <p:tag name="OUTPUTTYPE" val="PNG"/>
  <p:tag name="IGUANATEXVERSION" val="159"/>
  <p:tag name="LATEXADDIN" val="\documentclass{article}&#10;\usepackage{amsmath,bm,eufrak}&#10;\pagestyle{empty}&#10;\begin{document}&#10;&#10;\begin{align*}&#10;V^{\left(T_{1}\right)E_{2-}T_{x}^{+}}_{\parallel}&#10;=&#10;V^{\left(T_{1}\right)T_{x}^{+}E_{1-}}_{\parallel}&#10;&amp; =&#10;\frac{\mathrm{i}\tau}{\sqrt{3}}U^{\left(T_{1}\right)}_{x,zxy}&#10;\\&#10;\end{align*}&#10;&#10;\end{document}"/>
  <p:tag name="IGUANATEXSIZE" val="20"/>
  <p:tag name="IGUANATEXCURSOR" val="207"/>
  <p:tag name="TRANSPARENCY" val="True"/>
  <p:tag name="FILENAME" val=""/>
  <p:tag name="LATEXENGINEID" val="0"/>
  <p:tag name="TEMPFOLDER" val="C:\iguanatex\"/>
  <p:tag name="LATEXFORMHEIGHT" val="468.75"/>
  <p:tag name="LATEXFORMWIDTH" val="938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3.712"/>
  <p:tag name="ORIGINALWIDTH" val="2095.238"/>
  <p:tag name="OUTPUTTYPE" val="PNG"/>
  <p:tag name="IGUANATEXVERSION" val="159"/>
  <p:tag name="LATEXADDIN" val="\documentclass{article}&#10;\usepackage{amsmath,bm,eufrak}&#10;\pagestyle{empty}&#10;\begin{document}&#10;&#10;\begin{align*}&#10;V^{\left(T_{1}\right)E_{1+}T_{x}^{-}}_{\parallel}&#10;=&#10;V^{\left(T_{1}\right)T_{x}^{-}E_{2+}}_{\parallel}&#10;&amp; =&#10;\frac{\tau^{2}}{\sqrt{3}}&#10;U^{\left(T_{1}\right)}_{x,zxy}&#10;\\&#10;\end{align*}&#10;&#10;\end{document}"/>
  <p:tag name="IGUANATEXSIZE" val="20"/>
  <p:tag name="IGUANATEXCURSOR" val="20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.2182"/>
  <p:tag name="ORIGINALWIDTH" val="2095.238"/>
  <p:tag name="OUTPUTTYPE" val="PNG"/>
  <p:tag name="IGUANATEXVERSION" val="159"/>
  <p:tag name="LATEXADDIN" val="\documentclass{article}&#10;\usepackage{amsmath,bm,eufrak}&#10;\pagestyle{empty}&#10;\begin{document}&#10;&#10;\begin{align*}&#10;V^{\left(T_{1}\right)E_{2+}T_{x}^{-}}_{\parallel}&#10;=&#10;V^{\left(T_{1}\right)T_{x}^{-}E_{1+}}_{\parallel}&#10;&amp; =&#10;\frac{\tau}{\sqrt{3}}U^{\left(T_{1}\right)}_{x,zxy}&#10;\\&#10;\end{align*}&#10;&#10;\end{document}"/>
  <p:tag name="IGUANATEXSIZE" val="20"/>
  <p:tag name="IGUANATEXCURSOR" val="15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1959.505"/>
  <p:tag name="OUTPUTTYPE" val="PNG"/>
  <p:tag name="IGUANATEXVERSION" val="159"/>
  <p:tag name="LATEXADDIN" val="\documentclass{article}&#10;\usepackage{amsmath,bm,eufrak}&#10;\pagestyle{empty}&#10;\begin{document}&#10;&#10;\begin{align*}&#10;V^{\left(T_{1}\right)A^{\sigma}T_{y}^{\bar{\sigma}}}_{\parallel}&#10;=&#10;V^{\left(T_{1}\right)T_{y}^{\sigma}A^{\bar{\sigma}}}_{\parallel}&#10;&amp; =&#10;\frac{1}{\sqrt{3}}&#10;U^{\left(T_{1}\right)}_{y,yzx}&#10;\\&#10;\end{align*}&#10;&#10;\end{document}"/>
  <p:tag name="IGUANATEXSIZE" val="20"/>
  <p:tag name="IGUANATEXCURSOR" val="23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2145"/>
  <p:tag name="ORIGINALWIDTH" val="2188.227"/>
  <p:tag name="OUTPUTTYPE" val="PNG"/>
  <p:tag name="IGUANATEXVERSION" val="159"/>
  <p:tag name="LATEXADDIN" val="\documentclass{article}&#10;\usepackage{amsmath,bm,eufrak}&#10;\pagestyle{empty}&#10;\begin{document}&#10;&#10;\begin{align*}&#10;V^{\left(T_{1}\right)E_{1-}T_{y}^{+}}_{\parallel}&#10;=&#10;V^{\left(T_{1}\right)T_{y}^{+}E_{2-}}_{\parallel}&#10;&amp; =&#10;-\frac{\mathrm{i}\tau}{\sqrt{3}}&#10;U^{\left(T_{1}\right)}_{y,yzx}&#10;\\&#10;\end{align*}&#10;&#10;\end{document}"/>
  <p:tag name="IGUANATEXSIZE" val="20"/>
  <p:tag name="IGUANATEXCURSOR" val="20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3.712"/>
  <p:tag name="ORIGINALWIDTH" val="2091.489"/>
  <p:tag name="OUTPUTTYPE" val="PNG"/>
  <p:tag name="IGUANATEXVERSION" val="159"/>
  <p:tag name="LATEXADDIN" val="\documentclass{article}&#10;\usepackage{amsmath,bm,eufrak}&#10;\pagestyle{empty}&#10;\begin{document}&#10;&#10;\begin{align*}&#10;V^{\left(T_{1}\right)E_{2-}T_{y}^{+}}_{\parallel}&#10;=&#10;V^{\left(T_{1}\right)T_{y}^{+}E_{1-}}_{\parallel}&#10;&amp; =&#10;\frac{\mathrm{i}\tau^{2}}{\sqrt{3}}&#10;U^{\left(T_{1}\right)}_{y,yzx}&#10;\\&#10;\end{align*}&#10;&#10;\end{document}"/>
  <p:tag name="IGUANATEXSIZE" val="20"/>
  <p:tag name="IGUANATEXCURSOR" val="20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0.9674"/>
  <p:tag name="ORIGINALWIDTH" val="2091.489"/>
  <p:tag name="OUTPUTTYPE" val="PNG"/>
  <p:tag name="IGUANATEXVERSION" val="159"/>
  <p:tag name="LATEXADDIN" val="\documentclass{article}&#10;\usepackage{amsmath,bm,eufrak}&#10;\pagestyle{empty}&#10;\begin{document}&#10;&#10;\begin{align*}&#10;V^{\left(T_{1}\right)E_{1+}T_{y}^{-}}_{\parallel}&#10;=&#10;V^{\left(T_{1}\right)T_{y}^{-}E_{2+}}_{\parallel}&#10;&amp; =&#10;\frac{\tau}{\sqrt{3}}&#10;U^{\left(T_{1}\right)}_{y,yzx}&#10;\\&#10;\end{align*}&#10;&#10;\end{document}"/>
  <p:tag name="IGUANATEXSIZE" val="20"/>
  <p:tag name="IGUANATEXCURSOR" val="20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3.712"/>
  <p:tag name="ORIGINALWIDTH" val="2091.489"/>
  <p:tag name="OUTPUTTYPE" val="PNG"/>
  <p:tag name="IGUANATEXVERSION" val="159"/>
  <p:tag name="LATEXADDIN" val="\documentclass{article}&#10;\usepackage{amsmath,bm,eufrak}&#10;\pagestyle{empty}&#10;\begin{document}&#10;&#10;\begin{align*}&#10;V^{\left(T_{1}\right)E_{2+}T_{y}^{-}}_{\parallel}&#10;=&#10;V^{\left(T_{1}\right)T_{y}^{-}E_{1+}}_{\parallel}&#10;&amp; =&#10;\frac{\tau^{2}}{\sqrt{3}}&#10;U^{\left(T_{1}\right)}_{y,yzx}&#10;\\&#10;\end{align*}&#10;&#10;\end{document}"/>
  <p:tag name="IGUANATEXSIZE" val="20"/>
  <p:tag name="IGUANATEXCURSOR" val="20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9756"/>
  <p:tag name="ORIGINALWIDTH" val="4792.651"/>
  <p:tag name="OUTPUTTYPE" val="PNG"/>
  <p:tag name="IGUANATEXVERSION" val="159"/>
  <p:tag name="LATEXADDIN" val="\documentclass{article}&#10;\usepackage{amsmath,bm,eufrak}&#10;\pagestyle{empty}&#10;\begin{document}&#10;&#10;\begin{align*}&#10;V^{\left(T_{1}\right)T_{x}^{-}T_{z}^{-}}_{\perp}&#10;=&#10;V^{\left(T_{1}\right)T_{x}^{-}T_{z}^{+}}_{\perp}&#10;=&#10;V^{\left(T_{1}\right)T_{z}^{-}T_{x}^{+}}_{\perp}&#10;=&#10;V^{\left(T_{1}\right)T_{x}^{+}T_{z}^{-}}_{\perp}&#10;=&#10;V^{\left(T_{1}\right)T_{x}^{+}T_{z}^{+}}_{\perp}&#10;=&#10;V^{\left(T_{1}\right)T_{z}^{+}T_{x}^{-}}_{\perp}&#10;&amp; =&#10;U^{\left(T_{1}\right)}_{y,yzx}&#10;\\&#10;\end{align*}&#10;&#10;\end{document}"/>
  <p:tag name="IGUANATEXSIZE" val="20"/>
  <p:tag name="IGUANATEXCURSOR" val="119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9756"/>
  <p:tag name="ORIGINALWIDTH" val="1905.512"/>
  <p:tag name="OUTPUTTYPE" val="PNG"/>
  <p:tag name="IGUANATEXVERSION" val="159"/>
  <p:tag name="LATEXADDIN" val="\documentclass{article}&#10;\usepackage{amsmath,bm,eufrak}&#10;\pagestyle{empty}&#10;\begin{document}&#10;&#10;\begin{align*}&#10;V^{\left(T_{2}\right)T_{z}^{-}T_{x}^{-}}_{\perp}&#10;=&#10;V^{\left(T_{2}\right)T_{z}^{+}T_{x}^{+}}_{\perp}&#10;&amp; =&#10;-U^{\left(T_{1}\right)}_{y,yzx}&#10;\\&#10;\end{align*}&#10;&#10;\end{document}"/>
  <p:tag name="IGUANATEXSIZE" val="20"/>
  <p:tag name="IGUANATEXCURSOR" val="195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4796.4"/>
  <p:tag name="OUTPUTTYPE" val="PNG"/>
  <p:tag name="IGUANATEXVERSION" val="159"/>
  <p:tag name="LATEXADDIN" val="\documentclass{article}&#10;\usepackage{amsmath,bm,eufrak}&#10;\pagestyle{empty}&#10;\begin{document}&#10;&#10;\begin{align*}&#10;V^{\left(T_{1}\right)T_{y}^{-}T_{z}^{+}}_{\perp}&#10;=&#10;V^{\left(T_{1}\right)T_{z}^{-}T_{y}^{-}}_{\perp}&#10;=&#10;V^{\left(T_{1}\right)T_{z}^{-}T_{y}^{+}}_{\perp}&#10;=&#10;V^{\left(T_{1}\right)T_{y}^{+}T_{z}^{-}}_{\perp}&#10;=&#10;V^{\left(T_{1}\right)T_{z}^{+}T_{y}^{-}}_{\perp}&#10;=&#10;V^{\left(T_{1}\right)T_{z}^{+}T_{y}^{+}}_{\perp}&#10;&amp; =&#10;U^{\left(T_{1}\right)}_{x,zxy}&#10;\\&#10;\end{align*}&#10;&#10;\end{document}"/>
  <p:tag name="IGUANATEXSIZE" val="20"/>
  <p:tag name="IGUANATEXCURSOR" val="182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1909.261"/>
  <p:tag name="OUTPUTTYPE" val="PNG"/>
  <p:tag name="IGUANATEXVERSION" val="159"/>
  <p:tag name="LATEXADDIN" val="\documentclass{article}&#10;\usepackage{amsmath,bm,eufrak}&#10;\pagestyle{empty}&#10;\begin{document}&#10;&#10;\begin{align*}&#10;V^{\left(T_{1}\right)T_{y}^{-}T_{z}^{-}}_{\perp}&#10;=&#10;V^{\left(T_{1}\right)T_{y}^{+}T_{z}^{+}}_{\perp}&#10;&amp; =&#10;-U^{\left(T_{1}\right)}_{x,zxy}&#10;\\&#10;\end{align*}&#10;&#10;\end{document}"/>
  <p:tag name="IGUANATEXSIZE" val="20"/>
  <p:tag name="IGUANATEXCURSOR" val="195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4790.401"/>
  <p:tag name="OUTPUTTYPE" val="PNG"/>
  <p:tag name="IGUANATEXVERSION" val="159"/>
  <p:tag name="LATEXADDIN" val="\documentclass{article}&#10;\usepackage{amsmath,bm,eufrak}&#10;\pagestyle{empty}&#10;\begin{document}&#10;&#10;\begin{align*}&#10;V^{\left(T_{1}\right)T_{x}^{-}T_{y}^{+}}_{\perp}&#10;=&#10;V^{\left(T_{1}\right)T_{y}^{-}T_{x}^{-}}_{\perp}&#10;=&#10;V^{\left(T_{1}\right)T_{y}^{-}T_{x}^{+}}_{\perp}&#10;=&#10;V^{\left(T_{1}\right)T_{x}^{+}T_{y}^{-}}_{\perp}&#10;=&#10;V^{\left(T_{1}\right)T_{y}^{+}T_{x}^{-}}_{\perp}&#10;=&#10;V^{\left(T_{1}\right)T_{y}^{+}T_{x}^{+}}_{\perp}&#10;&amp; =&#10;U^{\left(T_{1}\right)}_{z,xyz}&#10;\\&#10;\end{align*}&#10;&#10;\end{document}"/>
  <p:tag name="IGUANATEXSIZE" val="20"/>
  <p:tag name="IGUANATEXCURSOR" val="156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1903.262"/>
  <p:tag name="OUTPUTTYPE" val="PNG"/>
  <p:tag name="IGUANATEXVERSION" val="159"/>
  <p:tag name="LATEXADDIN" val="\documentclass{article}&#10;\usepackage{amsmath,bm,eufrak}&#10;\pagestyle{empty}&#10;\begin{document}&#10;&#10;\begin{align*}&#10;V^{\left(T_{1}\right)T_{x}^{-}T_{y}^{-}}_{\perp}&#10;=&#10;V^{\left(T_{1}\right)T_{x}^{+}T_{y}^{+}}_{\perp}&#10;&amp; =&#10;-U^{\left(T_{1}\right)}_{z,xyz}&#10;\\&#10;\end{align*}&#10;&#10;\end{document}"/>
  <p:tag name="IGUANATEXSIZE" val="20"/>
  <p:tag name="IGUANATEXCURSOR" val="205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31.046"/>
  <p:tag name="ORIGINALWIDTH" val="3309.336"/>
  <p:tag name="OUTPUTTYPE" val="PNG"/>
  <p:tag name="IGUANATEXVERSION" val="159"/>
  <p:tag name="LATEXADDIN" val="\documentclass{article}&#10;\usepackage{amsmath,bm,eufrak}&#10;\pagestyle{empty}&#10;\begin{document}&#10;&#10;\begin{align*}&#10;V^{\left(T_{1}\right)A^{+}T_{x}^{+}}_{\perp}&#10;&amp; =&#10;\frac{2}{\sqrt{3}}U^{\left(T_{1}\right)}_{x,xyz}&#10;&amp;&#10;V^{\left(T_{1}\right)A^{-}T_{x}^{-}}_{\perp}&#10;&amp; =&#10;\frac{2}{\sqrt{3}}U^{\left(T_{1}\right)}_{x,xyz}&#10;\\&#10;V^{\left(T_{1}\right)E_{1+}T_{x}^{-}}_{\perp}&#10;&amp; =&#10;-\frac{\tau^{2}}{\sqrt{3}}U^{\left(T_{1}\right)}_{x,xyz}&#10;&amp;&#10;V^{\left(T_{1}\right)E_{1+}T_{x}^{+}}_{\perp}&#10;&amp; =&#10;-\mathrm{i}\tau^{2}U^{\left(T_{1}\right)}_{x,xyz}&#10;\\&#10;V^{\left(T_{1}\right)E_{1-}T_{x}^{-}}_{\perp}&#10;&amp; =&#10;-\tau^{2}U^{\left(T_{1}\right)}_{x,xyz}&#10;&amp;&#10;V^{\left(T_{1}\right)E_{1-}T_{x}^{+}}_{\perp}&#10;&amp; =&#10;\frac{\mathrm{i}\tau^{2}}{\sqrt{3}}U^{\left(T_{1}\right)}_{x,xyz}&#10;\\&#10;V^{\left(T_{1}\right)E_{2+}T_{x}^{-}}_{\perp}&#10;&amp; =&#10;-\frac{\tau}{\sqrt{3}}U^{\left(T_{2}\right)}_{x,xyz}&#10;&amp;&#10;V^{\left(T_{1}\right)E_{2+}T_{x}^{+}}_{\perp}&#10;&amp; =&#10;\mathrm{i}\tau U^{\left(T_{2}\right)}_{x,xyz}&#10;\\&#10;V^{\left(T_{1}\right)E_{2-}T_{x}^{-}}_{\perp}&#10;&amp; =&#10;-\tau U^{\left(T_{2}\right)}_{x,xyz}&#10;&amp;&#10;V^{\left(T_{1}\right)E_{2-}T_{x}^{+}}_{\perp}&#10;&amp; =&#10;-\frac{\mathrm{i}\tau}{\sqrt{3}}U^{\left(T_{2}\right)}_{x,xyz}&#10;\\&#10;\end{align*}&#10;&#10;\end{document}"/>
  <p:tag name="IGUANATEXSIZE" val="20"/>
  <p:tag name="IGUANATEXCURSOR" val="153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31.046"/>
  <p:tag name="ORIGINALWIDTH" val="3309.336"/>
  <p:tag name="OUTPUTTYPE" val="PNG"/>
  <p:tag name="IGUANATEXVERSION" val="159"/>
  <p:tag name="LATEXADDIN" val="\documentclass{article}&#10;\usepackage{amsmath,bm,eufrak}&#10;\pagestyle{empty}&#10;\begin{document}&#10;&#10;\begin{align*}&#10;V^{\left(T_{1}\right)T_{x}^{-}A^{+}}_{\perp}&#10;&amp; =&#10;\frac{2}{\sqrt{3}}U^{\left(T_{1}\right)}_{x,yzx}&#10;&amp;&#10;V^{\left(T_{1}\right)T_{x}^{+}A^{-}}_{\perp}&#10;&amp; =&#10;\frac{2}{\sqrt{3}}U^{\left(T_{1}\right)}_{x,yzx}&#10;\\&#10;V^{\left(T_{1}\right)T_{x}^{-}E_{1+}}_{\perp}&#10;&amp; =&#10;-\frac{\tau}{\sqrt{3}}&#10;U^{\left(T_{1}\right)}_{x,yzx}&#10;&amp;&#10;V^{\left(T_{1}\right)T_{x}^{+}E_{1+}}_{\perp}&#10;&amp; =&#10;-\mathrm{i}\tau&#10;U^{\left(T_{1}\right)}_{x,yzx}&#10;\\&#10;V^{\left(T_{1}\right)T_{x}^{-}E_{1-}}_{\perp}&#10;&amp; =&#10;\tau&#10;U^{\left(T_{1}\right)}_{x,yzx}&#10;&amp;&#10;V^{\left(T_{1}\right)T_{x}^{+}E_{1-}}_{\perp}&#10;&amp; =&#10;-\frac{\mathrm{i}\tau}{\sqrt{3}}&#10;U^{\left(T_{1}\right)}_{x,yzx}&#10;\\&#10;V^{\left(T_{1}\right)T_{x}^{-}E_{2+}}_{\perp}&#10;&amp; =&#10;-\frac{\tau^{2}}{\sqrt{3}}&#10;U^{\left(T_{1}\right)}_{x,yzx}&#10;&amp;&#10;V^{\left(T_{2}\right)T_{x}^{+}E_{2+}}_{\perp}&#10;&amp; =&#10;\mathrm{i}\tau^{2}&#10;U^{\left(T_{2}\right)}_{x,yzx}&#10;\\&#10;V^{\left(T_{2}\right)T_{x}^{-}E_{2-}}_{\perp}&#10;&amp; =&#10;\tau^{2}&#10;U^{\left(T_{2}\right)}_{x,yzx}&#10;&amp;&#10;V^{\left(T_{2}\right)T_{x}^{+}E_{2-}}_{\perp}&#10;&amp; =&#10;\frac{\mathrm{i}\tau^{2}}{\sqrt{3}}&#10;U^{\left(T_{2}\right)}_{x,yzx}&#10;\\&#10;\end{align*}&#10;&#10;\end{document}"/>
  <p:tag name="IGUANATEXSIZE" val="20"/>
  <p:tag name="IGUANATEXCURSOR" val="306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43.045"/>
  <p:tag name="ORIGINALWIDTH" val="3306.337"/>
  <p:tag name="OUTPUTTYPE" val="PNG"/>
  <p:tag name="IGUANATEXVERSION" val="159"/>
  <p:tag name="LATEXADDIN" val="\documentclass{article}&#10;\usepackage{amsmath,bm,eufrak}&#10;\pagestyle{empty}&#10;\begin{document}&#10;&#10;\begin{align*}&#10;V^{\left(T_{1}\right)A^{+}T_{y}^{-}}_{\perp}&#10;&amp; =&#10;\frac{2}{\sqrt{3}}U^{\left(T_{1}\right)}_{y,zxy}&#10;&amp;&#10;V^{\left(T_{1}\right)A^{-}T_{y}^{+}}_{\perp}&#10;&amp; =&#10;\frac{2}{\sqrt{3}}U^{\left(T_{1}\right)}_{y,zxy}&#10;\\&#10;V^{\left(T_{1}\right)E_{1+}T_{y}^{-}}_{\perp}&#10;&amp; =&#10;-\frac{\tau}{\sqrt{3}}&#10;U^{\left(T_{1}\right)}_{y,zxy}&#10;&amp;&#10;V^{\left(T_{1}\right)E_{1+}T_{y}^{+}}_{\perp}&#10;&amp; =&#10;-\mathrm{i}\tau&#10;U^{\left(T_{1}\right)}_{y,zxy}&#10;\\&#10;V^{\left(T_{1}\right)E_{1-}T_{y}^{-}}_{\perp}&#10;&amp; =&#10;-\tau&#10;U^{\left(T_{1}\right)}_{y,zxy}&#10;&amp;&#10;V^{\left(T_{1}\right)E_{1-}T_{y}^{+}}_{\perp}&#10;&amp; =&#10;\frac{\mathrm{i}\tau}{\sqrt{3}}&#10;U^{\left(T_{1}\right)}_{y,zxy}&#10;\\&#10;V^{\left(T_{1}\right)E_{2+}T_{y}^{-}}_{\perp}&#10;&amp; =&#10;-\frac{\tau^{2}}{\sqrt{3}}&#10;U^{\left(T_{1}\right)}_{y,zxy}&#10;&amp;&#10;V^{\left(T_{1}\right)E_{2+}T_{y}^{+}}_{\perp}&#10;&amp; =&#10;\mathrm{i}\tau^{2}&#10;U^{\left(T_{1}\right)}_{y,zxy}&#10;\\&#10;V^{\left(T_{1}\right)E_{2-}T_{y}^{-}}_{\perp}&#10;&amp; =&#10;-\tau^{2}&#10;U^{\left(T_{1}\right)}_{y,zxy}&#10;&amp;&#10;V^{\left(T_{1}\right)E_{2-}T_{y}^{+}}_{\perp}&#10;&amp; =&#10;-\frac{\mathrm{i}\tau^{2}}{\sqrt{3}}&#10;U^{\left(T_{1}\right)}_{y,zxy}&#10;\\&#10;\end{align*}&#10;&#10;\end{document}"/>
  <p:tag name="IGUANATEXSIZE" val="20"/>
  <p:tag name="IGUANATEXCURSOR" val="203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43.045"/>
  <p:tag name="ORIGINALWIDTH" val="3304.837"/>
  <p:tag name="OUTPUTTYPE" val="PNG"/>
  <p:tag name="IGUANATEXVERSION" val="159"/>
  <p:tag name="LATEXADDIN" val="\documentclass{article}&#10;\usepackage{amsmath,bm,eufrak}&#10;\pagestyle{empty}&#10;\begin{document}&#10;&#10;\begin{align*}&#10;V^{\left(T_{1}\right)T_{y}^{-}A^{+}}_{\perp}&#10;&amp; =&#10;\frac{2}{\sqrt{3}}U^{\left(T_{1}\right)}_{y,xyz}&#10;&amp;&#10;V^{\left(T_{1}\right)T_{y}^{+}A^{-}}_{\perp}&#10;&amp; =&#10;\frac{2}{\sqrt{3}}U^{\left(T_{1}\right)}_{y,xyz}&#10;\\&#10;V^{\left(T_{1}\right)T_{y}^{-}E_{1+}}_{\perp}&#10;&amp; =&#10;-\frac{\tau^{2}}{\sqrt{3}}&#10;U^{\left(T_{1}\right)}_{y,xyz}&#10;&amp;&#10;V^{\left(T_{1}\right)T_{y}^{+}E_{1+}}_{\perp}&#10;&amp; =&#10;-\mathrm{i}\tau^{2}&#10;U^{\left(T_{1}\right)}_{y,xyz}&#10;\\&#10;V^{\left(T_{1}\right)T_{y}^{-}E_{1-}}_{\perp}&#10;&amp; =&#10;\tau^{2}&#10;U^{\left(T_{1}\right)}_{y,xyz}&#10;&amp;&#10;V^{\left(T_{1}\right)T_{y}^{+}E_{1-}}_{\perp}&#10;&amp; =&#10;-\frac{\mathrm{i}\tau^{2}}{\sqrt{3}}&#10;U^{\left(T_{1}\right)}_{y,xyz}&#10;\\&#10;V^{\left(T_{1}\right)T_{y}^{-}E_{2+}}_{\perp}&#10;&amp; =&#10;-\frac{\tau}{\sqrt{3}}&#10;U^{\left(T_{1}\right)}_{y,xyz}&#10;&amp;&#10;V^{\left(T_{1}\right)T_{y}^{+}E_{2+}}_{\perp}&#10;&amp; =&#10;\mathrm{i}\tau&#10;U^{\left(T_{1}\right)}_{y,xyz}&#10;\\&#10;V^{\left(T_{1}\right)T_{y}^{-}E_{2-}}_{\perp}&#10;&amp; =&#10;\tau&#10;U^{\left(T_{1}\right)}_{y,xyz}&#10;&amp;&#10;V^{\left(T_{1}\right)T_{y}^{+}E_{2-}}_{\perp}&#10;&amp; =&#10;\frac{\mathrm{i}\tau}{\sqrt{3}}&#10;U^{\left(T_{1}\right)}_{y,xyz}&#10;\\&#10;\end{align*}&#10;&#10;\end{document}"/>
  <p:tag name="IGUANATEXSIZE" val="20"/>
  <p:tag name="IGUANATEXCURSOR" val="306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06.299"/>
  <p:tag name="ORIGINALWIDTH" val="3325.084"/>
  <p:tag name="OUTPUTTYPE" val="PNG"/>
  <p:tag name="IGUANATEXVERSION" val="159"/>
  <p:tag name="LATEXADDIN" val="\documentclass{article}&#10;\usepackage{amsmath,bm,eufrak}&#10;\pagestyle{empty}&#10;\begin{document}&#10;&#10;\begin{align*}&#10;V^{\left(T_{1}\right)A^{+}T_{z}^{-}}_{\perp} &amp; = \frac{2}{\sqrt{3}}U^{\left(T_{1}\right)}_{z,yzx}&#10;&amp;&#10;V^{\left(T_{1}\right)A^{-}T_{z}^{+}}_{\perp} &amp; = \frac{2}{\sqrt{3}}U^{\left(T_{1}\right)}_{z,yzx}&#10;\\&#10;V^{\left(T_{1}\right)E_{1+}T_{z}^{-}}_{\perp} &amp; = -\frac{1}{\sqrt{3}}U^{\left(T_{1}\right)}_{z,yzx}&#10;&amp;&#10;V^{\left(T_{1}\right)E_{1+}T_{z}^{+}}_{\perp} &amp; = -\mathrm{i}U^{\left(T_{1}\right)}_{z,yzx}&#10;\\&#10;V^{\left(T_{1}\right)E_{1-}T_{z}^{-}}_{\perp} &amp; = -U^{\left(T_{1}\right)}_{z,yzx}&#10;&amp;&#10;V^{\left(T_{1}\right)E_{1-}T_{z}^{+}}_{\perp} &amp; = \frac{\mathrm{i}}{\sqrt{3}}U^{\left(T_{1}\right)}_{z,yzx}&#10;\\&#10;V^{\left(T_{1}\right)E_{2+}T_{z}^{-}}_{\perp} &amp; = -\frac{1}{\sqrt{3}}U^{\left(T_{1}\right)}_{z,yzx}&#10;&amp;&#10;V^{\left(T_{1}\right)E_{2+}T_{z}^{+}}_{\perp} &amp; = \mathrm{i}U^{\left(T_{1}\right)}_{z,yzx}&#10;\\&#10;V^{\left(T_{1}\right)E_{2-}T_{z}^{-}}_{\perp} &amp; = -U^{\left(T_{1}\right)}_{z,yzx}&#10;&amp;&#10;V^{\left(T_{1}\right)E_{2-}T_{z}^{+}}_{\perp} &amp; = -\frac{1}{\sqrt{3}}\mathrm{i}U^{\left(T_{1}\right)}_{z,yzx}&#10;\\&#10;\end{align*}&#10;&#10;\end{document}"/>
  <p:tag name="IGUANATEXSIZE" val="20"/>
  <p:tag name="IGUANATEXCURSOR" val="151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09.299"/>
  <p:tag name="ORIGINALWIDTH" val="3302.587"/>
  <p:tag name="OUTPUTTYPE" val="PNG"/>
  <p:tag name="IGUANATEXVERSION" val="159"/>
  <p:tag name="LATEXADDIN" val="\documentclass{article}&#10;\usepackage{amsmath,bm,eufrak}&#10;\pagestyle{empty}&#10;\begin{document}&#10;&#10;\begin{align*}&#10;V^{\left(T_{1}\right)T_{z}^{-}A^{+}}_{\perp} &amp; = \frac{2}{\sqrt{3}}U^{\left(T_{1}\right)}_{z,zxy}&#10;&amp;&#10;V^{\left(T_{1}\right)T_{z}^{+}A^{-}}_{\perp} &amp; = \frac{2}{\sqrt{3}}U^{\left(T_{1}\right)}_{z,zxy}&#10;\\&#10;V^{\left(T_{1}\right)T_{z}^{-}E_{1+}}_{\perp} &amp; = -\frac{1}{\sqrt{3}}U^{\left(T_{1}\right)}_{z,zxy}&#10;&amp;&#10;V^{\left(T_{1}\right)T_{z}^{+}E_{1+}}_{\perp} &amp; = -\mathrm{i}U^{\left(T_{1}\right)}_{z,zxy}&#10;\\&#10;V^{\left(T_{1}\right)T_{z}^{-}E_{1-}}_{\perp} &amp; = U^{\left(T_{1}\right)}_{z,zxy}&#10;&amp;&#10;V^{\left(T_{1}\right)T_{z}^{+}E_{1-}}_{\perp} &amp; = -\frac{\mathrm{i}}{\sqrt{3}}U^{\left(T_{1}\right)}_{z,zxy}&#10;\\&#10;V^{\left(T_{1}\right)T_{z}^{-}E_{2+}}_{\perp} &amp; = -\frac{1}{\sqrt{3}}U^{\left(T_{1}\right)}_{z,zxy}&#10;&amp;&#10;V^{\left(T_{1}\right)T_{z}^{+}E_{2+}}_{\perp} &amp; = \mathrm{i}U^{\left(T_{1}\right)}_{z,zxy}&#10;\\&#10;V^{\left(T_{1}\right)T_{z}^{-}E_{2-}}_{\perp} &amp; = U^{\left(T_{1}\right)}_{z,zxy}&#10;&amp;&#10;V^{\left(T_{1}\right)T_{z}^{+}E_{2-}}_{\perp} &amp; = \frac{\mathrm{i}}{\sqrt{3}}U^{\left(T_{1}\right)}_{z,zxy}&#10;\\&#10;\end{align*}&#10;&#10;\end{document}"/>
  <p:tag name="IGUANATEXSIZE" val="20"/>
  <p:tag name="IGUANATEXCURSOR" val="306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5099.362"/>
  <p:tag name="OUTPUTTYPE" val="PNG"/>
  <p:tag name="IGUANATEXVERSION" val="159"/>
  <p:tag name="LATEXADDIN" val="\documentclass{article}&#10;\usepackage{amsmath,bm,eufrak}&#10;\pagestyle{empty}&#10;\begin{document}&#10;&#10;\begin{align*}&#10;V^{\left(T_{2}\right)T_{z}^{\sigma}A^{\sigma}}_{\parallel}&#10;=&#10;V^{\left(T_{2}\right)A^{\sigma}T_{z}^{\sigma}}_{\parallel}&#10;=&#10;V^{\left(T_{2}\right)T_{z}^{+}E_{2+}}_{\parallel}&#10;=&#10;V^{\left(T_{2}\right)E_{1+}T_{z}^{+}}_{\parallel}&#10;=&#10;V^{\left(T_{2}\right)T_{z}^{+}E_{1+}}_{\parallel}&#10;=&#10;V^{\left(T_{2}\right)E_{2+}T_{z}^{+}}_{\parallel}&#10;&amp; =&#10;\frac{1}{\sqrt{3}}&#10;U^{\left(T_{2}\right)}_{z,xyz}&#10;\\&#10;\end{align*}&#10;&#10;\end{document}"/>
  <p:tag name="IGUANATEXSIZE" val="20"/>
  <p:tag name="IGUANATEXCURSOR" val="43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2145"/>
  <p:tag name="ORIGINALWIDTH" val="2192.726"/>
  <p:tag name="OUTPUTTYPE" val="PNG"/>
  <p:tag name="IGUANATEXVERSION" val="159"/>
  <p:tag name="LATEXADDIN" val="\documentclass{article}&#10;\usepackage{amsmath,bm,eufrak}&#10;\pagestyle{empty}&#10;\begin{document}&#10;&#10;\begin{align*}&#10;V^{\left(T_{2}\right)T_{z}^{-}E_{2-}}_{\parallel}&#10;=&#10;V^{\left(T_{2}\right)E_{1-}T_{z}^{-}}_{\parallel}&#10;&amp; =&#10;-\frac{\mathrm{i}}{\sqrt{3}}U^{\left(T_{2}\right)}_{z,xyz}&#10;\\&#10;\end{align*}&#10;&#10;\end{document}"/>
  <p:tag name="IGUANATEXSIZE" val="20"/>
  <p:tag name="IGUANATEXCURSOR" val="23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2145"/>
  <p:tag name="ORIGINALWIDTH" val="2095.988"/>
  <p:tag name="OUTPUTTYPE" val="PNG"/>
  <p:tag name="IGUANATEXVERSION" val="159"/>
  <p:tag name="LATEXADDIN" val="\documentclass{article}&#10;\usepackage{amsmath,bm,eufrak}&#10;\pagestyle{empty}&#10;\begin{document}&#10;&#10;\begin{align*}&#10;V^{\left(T_{2}\right)E_{2-}T_{z}^{-}}_{\parallel}&#10;=&#10;V^{\left(T_{2}\right)T_{z}^{-}E_{1-}}_{\parallel}&#10;&amp; =&#10;\frac{\mathrm{i}}{\sqrt{3}}U^{\left(T_{2}\right)}_{z,xyz}&#10;\\&#10;\end{align*}&#10;&#10;\end{document}"/>
  <p:tag name="IGUANATEXSIZE" val="20"/>
  <p:tag name="IGUANATEXCURSOR" val="21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1963.255"/>
  <p:tag name="OUTPUTTYPE" val="PNG"/>
  <p:tag name="IGUANATEXVERSION" val="159"/>
  <p:tag name="LATEXADDIN" val="\documentclass{article}&#10;\usepackage{amsmath,bm,eufrak}&#10;\pagestyle{empty}&#10;\begin{document}&#10;&#10;\begin{align*}&#10;V^{\left(T_{2}\right)T_{x}^{\sigma}A^{\sigma}}_{\parallel}&#10;=&#10;V^{\left(T_{2}\right)A^{\sigma}T_{x}^{\sigma}}_{\parallel}&#10;&amp; =&#10;\frac{1}{\sqrt{3}}&#10;U^{\left(T_{2}\right)}_{x,zxy}&#10;\\&#10;\end{align*}&#10;&#10;\end{document}"/>
  <p:tag name="IGUANATEXSIZE" val="20"/>
  <p:tag name="IGUANATEXCURSOR" val="24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3.712"/>
  <p:tag name="ORIGINALWIDTH" val="2198.725"/>
  <p:tag name="OUTPUTTYPE" val="PNG"/>
  <p:tag name="IGUANATEXVERSION" val="159"/>
  <p:tag name="LATEXADDIN" val="\documentclass{article}&#10;\usepackage{amsmath,bm,eufrak}&#10;\pagestyle{empty}&#10;\begin{document}&#10;&#10;\begin{align*}&#10;V^{\left(T_{2}\right)T_{x}^{-}E_{2-}}_{\parallel}&#10;=&#10;V^{\left(T_{2}\right)E_{1-}T_{x}^{-}}_{\parallel}&#10;&amp; =&#10;-\frac{\mathrm{i}\tau^{2}}{\sqrt{3}}&#10;U^{\left(T_{2}\right)}_{x,zxy}&#10;\\&#10;\end{align*}&#10;&#10;\end{document}"/>
  <p:tag name="IGUANATEXSIZE" val="20"/>
  <p:tag name="IGUANATEXCURSOR" val="21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2145"/>
  <p:tag name="ORIGINALWIDTH" val="2102.737"/>
  <p:tag name="OUTPUTTYPE" val="PNG"/>
  <p:tag name="IGUANATEXVERSION" val="159"/>
  <p:tag name="LATEXADDIN" val="\documentclass{article}&#10;\usepackage{amsmath,bm,eufrak}&#10;\pagestyle{empty}&#10;\begin{document}&#10;&#10;\begin{align*}&#10;V^{\left(T_{2}\right)T_{x}^{-}E_{1-}}_{\parallel}&#10;=&#10;V^{\left(T_{2}\right)E_{2-}T_{x}^{-}}_{\parallel}&#10;&amp; =&#10;\frac{\mathrm{i}\tau}{\sqrt{3}}&#10;U^{\left(T_{2}\right)}_{x,zxy}&#10;\\&#10;\end{align*}&#10;&#10;\end{document}"/>
  <p:tag name="IGUANATEXSIZE" val="20"/>
  <p:tag name="IGUANATEXCURSOR" val="218"/>
  <p:tag name="TRANSPARENCY" val="True"/>
  <p:tag name="FILENAME" val=""/>
  <p:tag name="LATEXENGINEID" val="0"/>
  <p:tag name="TEMPFOLDER" val="C:\iguanatex\"/>
  <p:tag name="LATEXFORMHEIGHT" val="468.75"/>
  <p:tag name="LATEXFORMWIDTH" val="938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3.712"/>
  <p:tag name="ORIGINALWIDTH" val="2088.489"/>
  <p:tag name="OUTPUTTYPE" val="PNG"/>
  <p:tag name="IGUANATEXVERSION" val="159"/>
  <p:tag name="LATEXADDIN" val="\documentclass{article}&#10;\usepackage{amsmath,bm,eufrak}&#10;\pagestyle{empty}&#10;\begin{document}&#10;&#10;\begin{align*}&#10;V^{\left(T_{2}\right)T_{x}^{+}E_{2+}}_{\parallel}&#10;=&#10;V^{\left(T_{2}\right)E_{1+}T_{x}^{+}}_{\parallel}&#10;&amp; =&#10;\frac{\tau^{2}}{\sqrt{3}}&#10;U^{\left(T_{2}\right)}_{x,zxy}&#10;\\&#10;\end{align*}&#10;&#10;\end{document}"/>
  <p:tag name="IGUANATEXSIZE" val="20"/>
  <p:tag name="IGUANATEXCURSOR" val="21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2.4672"/>
  <p:tag name="ORIGINALWIDTH" val="2088.489"/>
  <p:tag name="OUTPUTTYPE" val="PNG"/>
  <p:tag name="IGUANATEXVERSION" val="159"/>
  <p:tag name="LATEXADDIN" val="\documentclass{article}&#10;\usepackage{amsmath,bm,eufrak}&#10;\pagestyle{empty}&#10;\begin{document}&#10;&#10;\begin{align*}&#10;V^{\left(T_{2}\right)T_{x}^{+}E_{1+}}_{\parallel}&#10;=&#10;V^{\left(T_{2}\right)E_{2+}T_{x}^{+}}_{\parallel}&#10;&amp; =&#10;\frac{\tau}{\sqrt{3}}&#10;U^{\left(T_{2}\right)}_{x,zxy}&#10;\\&#10;\end{align*}&#10;&#10;\end{document}"/>
  <p:tag name="IGUANATEXSIZE" val="20"/>
  <p:tag name="IGUANATEXCURSOR" val="21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1959.505"/>
  <p:tag name="OUTPUTTYPE" val="PNG"/>
  <p:tag name="IGUANATEXVERSION" val="159"/>
  <p:tag name="LATEXADDIN" val="\documentclass{article}&#10;\usepackage{amsmath,bm,eufrak}&#10;\pagestyle{empty}&#10;\begin{document}&#10;&#10;\begin{align*}&#10;V^{\left(T_{2}\right)T_{y}^{\sigma}A^{\sigma}}_{\parallel}&#10;=&#10;V^{\left(T_{2}\right)A^{\sigma}T_{y}^{\sigma}}_{\parallel}&#10;&amp; =&#10;\frac{1}{\sqrt{3}}U^{\left(T_{2}\right)}_{y,yzx}&#10;\\&#10;\end{align*}&#10;&#10;\end{document}"/>
  <p:tag name="IGUANATEXSIZE" val="20"/>
  <p:tag name="IGUANATEXCURSOR" val="24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2145"/>
  <p:tag name="ORIGINALWIDTH" val="2194.976"/>
  <p:tag name="OUTPUTTYPE" val="PNG"/>
  <p:tag name="IGUANATEXVERSION" val="159"/>
  <p:tag name="LATEXADDIN" val="\documentclass{article}&#10;\usepackage{amsmath,bm,eufrak}&#10;\pagestyle{empty}&#10;\begin{document}&#10;&#10;\begin{align*}&#10;V^{\left(T_{2}\right)T_{y}^{-}E_{2-}}_{\parallel}&#10;=&#10;V^{\left(T_{2}\right)E_{1-}T_{y}^{-}}_{\parallel}&#10;&amp; =&#10;-\frac{\mathrm{i}\tau}{\sqrt{3}}&#10;U^{\left(T_{2}\right)}_{y,yzx}&#10;\\&#10;\end{align*}&#10;&#10;\end{document}"/>
  <p:tag name="IGUANATEXSIZE" val="20"/>
  <p:tag name="IGUANATEXCURSOR" val="219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3.712"/>
  <p:tag name="ORIGINALWIDTH" val="2098.238"/>
  <p:tag name="OUTPUTTYPE" val="PNG"/>
  <p:tag name="IGUANATEXVERSION" val="159"/>
  <p:tag name="LATEXADDIN" val="\documentclass{article}&#10;\usepackage{amsmath,bm,eufrak}&#10;\pagestyle{empty}&#10;\begin{document}&#10;&#10;\begin{align*}&#10;V^{\left(T_{2}\right)T_{y}^{-}E_{1-}}_{\parallel}&#10;=&#10;V^{\left(T_{2}\right)E_{2-}T_{y}^{-}}_{\parallel}&#10;&amp; =&#10;\frac{\mathrm{i}\tau^{2}}{\sqrt{3}}&#10;U^{\left(T_{2}\right)}_{y,yzx}&#10;\\&#10;\end{align*}&#10;&#10;\end{document}"/>
  <p:tag name="IGUANATEXSIZE" val="20"/>
  <p:tag name="IGUANATEXCURSOR" val="21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4.4657"/>
  <p:tag name="ORIGINALWIDTH" val="2083.99"/>
  <p:tag name="OUTPUTTYPE" val="PNG"/>
  <p:tag name="IGUANATEXVERSION" val="159"/>
  <p:tag name="LATEXADDIN" val="\documentclass{article}&#10;\usepackage{amsmath,bm,eufrak}&#10;\pagestyle{empty}&#10;\begin{document}&#10;&#10;\begin{align*}&#10;V^{\left(T_{2}\right)T_{y}^{+}E_{2+}}_{\parallel}&#10;=&#10;V^{\left(T_{2}\right)E_{1+}T_{y}^{+}}_{\parallel}&#10;&amp; =&#10;\frac{\tau}{\sqrt{3}}U^{\left(T_{2}\right)}_{y,yzx}&#10;\\&#10;\end{align*}&#10;&#10;\end{document}"/>
  <p:tag name="IGUANATEXSIZE" val="20"/>
  <p:tag name="IGUANATEXCURSOR" val="21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3.712"/>
  <p:tag name="ORIGINALWIDTH" val="2083.99"/>
  <p:tag name="OUTPUTTYPE" val="PNG"/>
  <p:tag name="IGUANATEXVERSION" val="159"/>
  <p:tag name="LATEXADDIN" val="\documentclass{article}&#10;\usepackage{amsmath,bm,eufrak}&#10;\pagestyle{empty}&#10;\begin{document}&#10;&#10;\begin{align*}&#10;V^{\left(T_{2}\right)T_{y}^{+}E_{1+}}_{\parallel}&#10;=&#10;V^{\left(T_{2}\right)E_{2+}T_{y}^{+}}_{\parallel}&#10;&amp; =&#10;\frac{\tau^{2}}{\sqrt{3}}U^{\left(T_{2}\right)}_{y,yzx}&#10;\\&#10;\end{align*}&#10;&#10;\end{document}"/>
  <p:tag name="IGUANATEXSIZE" val="20"/>
  <p:tag name="IGUANATEXCURSOR" val="21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9756"/>
  <p:tag name="ORIGINALWIDTH" val="4792.651"/>
  <p:tag name="OUTPUTTYPE" val="PNG"/>
  <p:tag name="IGUANATEXVERSION" val="159"/>
  <p:tag name="LATEXADDIN" val="\documentclass{article}&#10;\usepackage{amsmath,bm,eufrak}&#10;\pagestyle{empty}&#10;\begin{document}&#10;&#10;\begin{align*}&#10;V^{\left(T_{2}\right)T_{x}^{-}T_{z}^{-}}_{\perp}&#10;=&#10;V^{\left(T_{2}\right)T_{x}^{-}T_{z}^{+}}_{\perp}&#10;=&#10;V^{\left(T_{2}\right)T_{z}^{-}T_{x}^{-}}_{\perp}&#10;=&#10;V^{\left(T_{2}\right)T_{x}^{+}T_{z}^{-}}_{\perp}&#10;=&#10;V^{\left(T_{2}\right)T_{x}^{+}T_{z}^{+}}_{\perp}&#10;=&#10;V^{\left(T_{2}\right)T_{z}^{+}T_{x}^{+}}_{\perp}&#10;&amp; =&#10;U^{\left(T_{2}\right)}_{y,yzx}&#10;\\&#10;\end{align*}&#10;&#10;\end{document}"/>
  <p:tag name="IGUANATEXSIZE" val="20"/>
  <p:tag name="IGUANATEXCURSOR" val="309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9756"/>
  <p:tag name="ORIGINALWIDTH" val="1905.512"/>
  <p:tag name="OUTPUTTYPE" val="PNG"/>
  <p:tag name="IGUANATEXVERSION" val="159"/>
  <p:tag name="LATEXADDIN" val="\documentclass{article}&#10;\usepackage{amsmath,bm,eufrak}&#10;\pagestyle{empty}&#10;\begin{document}&#10;&#10;\begin{align*}&#10;V^{\left(T_{2}\right)T_{z}^{-}T_{x}^{+}}_{\perp}&#10;=&#10;V^{\left(T_{2}\right)T_{z}^{+}T_{x}^{-}}_{\perp}&#10;&amp; =&#10;-U^{\left(T_{2}\right)}_{y,yzx}&#10;\\&#10;\end{align*}&#10;&#10;\end{document}"/>
  <p:tag name="IGUANATEXSIZE" val="20"/>
  <p:tag name="IGUANATEXCURSOR" val="240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4796.4"/>
  <p:tag name="OUTPUTTYPE" val="PNG"/>
  <p:tag name="IGUANATEXVERSION" val="159"/>
  <p:tag name="LATEXADDIN" val="\documentclass{article}&#10;\usepackage{amsmath,bm,eufrak}&#10;\pagestyle{empty}&#10;\begin{document}&#10;&#10;\begin{align*}&#10;V^{\left(T_{2}\right)T_{y}^{-}T_{z}^{-}}_{\perp}&#10;=&#10;V^{\left(T_{2}\right)T_{z}^{-}T_{y}^{-}}_{\perp}&#10;=&#10;V^{\left(T_{2}\right)T_{z}^{-}T_{y}^{+}}_{\perp}&#10;=&#10;V^{\left(T_{2}\right)T_{y}^{+}T_{z}^{+}}_{\perp}&#10;=&#10;V^{\left(T_{2}\right)T_{z}^{+}T_{y}^{-}}_{\perp}&#10;=&#10;V^{\left(T_{2}\right)T_{z}^{+}T_{y}^{+}}_{\perp}&#10;&amp; =&#10;U^{\left(T_{2}\right)}_{x,zxy}&#10;\\&#10;\end{align*}&#10;&#10;\end{document}"/>
  <p:tag name="IGUANATEXSIZE" val="20"/>
  <p:tag name="IGUANATEXCURSOR" val="360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1909.261"/>
  <p:tag name="OUTPUTTYPE" val="PNG"/>
  <p:tag name="IGUANATEXVERSION" val="159"/>
  <p:tag name="LATEXADDIN" val="\documentclass{article}&#10;\usepackage{amsmath,bm,eufrak}&#10;\pagestyle{empty}&#10;\begin{document}&#10;&#10;\begin{align*}&#10;V^{\left(T_{2}\right)T_{y}^{-}T_{z}^{+}}_{\perp}&#10;=&#10;V^{\left(T_{2}\right)T_{y}^{+}T_{z}^{-}}_{\perp}&#10;&amp; =&#10;-U^{\left(T_{2}\right)}_{x,zxy}&#10;\\&#10;\end{align*}&#10;&#10;\end{document}"/>
  <p:tag name="IGUANATEXSIZE" val="20"/>
  <p:tag name="IGUANATEXCURSOR" val="204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4790.401"/>
  <p:tag name="OUTPUTTYPE" val="PNG"/>
  <p:tag name="IGUANATEXVERSION" val="159"/>
  <p:tag name="LATEXADDIN" val="\documentclass{article}&#10;\usepackage{amsmath,bm,eufrak}&#10;\pagestyle{empty}&#10;\begin{document}&#10;&#10;\begin{align*}&#10;V^{\left(T_{2}\right)T_{x}^{-}T_{y}^{-}}_{\perp}&#10;=&#10;V^{\left(T_{2}\right)T_{y}^{-}T_{x}^{-}}_{\perp}&#10;=&#10;V^{\left(T_{2}\right)T_{y}^{-}T_{x}^{+}}_{\perp}&#10;=&#10;V^{\left(T_{2}\right)T_{x}^{+}T_{y}^{+}}_{\perp}&#10;=&#10;V^{\left(T_{2}\right)T_{y}^{+}T_{x}^{-}}_{\perp}&#10;=&#10;V^{\left(T_{2}\right)T_{y}^{+}T_{x}^{+}}_{\perp}&#10;&amp; =&#10;U^{\left(T_{2}\right)}_{z,xyz}&#10;\\&#10;\end{align*}&#10;&#10;\end{document}"/>
  <p:tag name="IGUANATEXSIZE" val="20"/>
  <p:tag name="IGUANATEXCURSOR" val="256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6.9741"/>
  <p:tag name="ORIGINALWIDTH" val="1903.262"/>
  <p:tag name="OUTPUTTYPE" val="PNG"/>
  <p:tag name="IGUANATEXVERSION" val="159"/>
  <p:tag name="LATEXADDIN" val="\documentclass{article}&#10;\usepackage{amsmath,bm,eufrak}&#10;\pagestyle{empty}&#10;\begin{document}&#10;&#10;\begin{align*}&#10;V^{\left(T_{2}\right)T_{x}^{-}T_{y}^{+}}_{\perp}&#10;=&#10;V^{\left(T_{2}\right)T_{x}^{+}T_{y}^{-}}_{\perp}&#10;&amp; =&#10;-U^{\left(T_{2}\right)}_{z,xyz}&#10;\\&#10;\end{align*}&#10;&#10;\end{document}"/>
  <p:tag name="IGUANATEXSIZE" val="20"/>
  <p:tag name="IGUANATEXCURSOR" val="204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31.046"/>
  <p:tag name="ORIGINALWIDTH" val="3309.336"/>
  <p:tag name="OUTPUTTYPE" val="PNG"/>
  <p:tag name="IGUANATEXVERSION" val="159"/>
  <p:tag name="LATEXADDIN" val="\documentclass{article}&#10;\usepackage{amsmath,bm,eufrak}&#10;\pagestyle{empty}&#10;\begin{document}&#10;&#10;\begin{align*}&#10;V^{\left(T_{2}\right)A^{-}T_{x}^{-}}_{\perp}&#10;&amp; =&#10;\frac{2}{\sqrt{3}}&#10;U^{\left(T_{2}\right)}_{x,xyz}&#10;&amp;&#10;V^{\left(T_{2}\right)A^{+}T_{x}^{+}}_{\perp}&#10;&amp; =&#10;\frac{2}{\sqrt{3}}&#10;U^{\left(T_{2}\right)}_{x,xyz}&#10;\\&#10;V^{\left(T_{2}\right)E_{1+}T_{x}^{-}}_{\perp}&#10;&amp; =&#10;-\mathrm{i}\tau^{2}&#10;U^{\left(T_{2}\right)}_{x,xyz}&#10;&amp;&#10;V^{\left(T_{2}\right)E_{1+}T_{x}^{+}}_{\perp}&#10;&amp; =&#10;-\frac{\tau^{2}}{\sqrt{3}}&#10;U^{\left(T_{2}\right)}_{x,xyz}&#10;\\&#10;V^{\left(T_{2}\right)E_{1-}T_{x}^{-}}_{\perp}&#10;&amp; =&#10;\frac{\mathrm{i}\tau^{2}}{\sqrt{3}}&#10;U^{\left(T_{2}\right)}_{x,xyz}&#10;&amp;&#10;V^{\left(T_{2}\right)E_{1-}T_{x}^{+}}_{\perp}&#10;&amp; =&#10;-\tau^{2}&#10;U^{\left(T_{2}\right)}_{x,xyz}&#10;\\&#10;V^{\left(T_{2}\right)E_{2+}T_{x}^{-}}_{\perp}&#10;&amp; =&#10;\mathrm{i}\tau&#10;U^{\left(T_{2}\right)}_{x,xyz}&#10;&amp;&#10;V^{\left(T_{2}\right)E_{2+}T_{x}^{+}}_{\perp}&#10;&amp; =&#10;-\frac{\tau}{\sqrt{3}}&#10;U^{\left(T_{2}\right)}_{x,xyz}&#10;\\&#10;V^{\left(T_{2}\right)E_{2-}T_{x}^{-}}_{\perp}&#10;&amp; =&#10;-\frac{\mathrm{i}\tau}{\sqrt{3}}&#10;U^{\left(T_{2}\right)}_{x,xyz}&#10;&amp;&#10;V^{\left(T_{2}\right)E_{2-}T_{x}^{+}}_{\perp}&#10;&amp; =&#10;-\tau&#10;U^{\left(T_{2}\right)}_{x,xyz}&#10;\\&#10;\end{align*}&#10;&#10;\end{document}"/>
  <p:tag name="IGUANATEXSIZE" val="20"/>
  <p:tag name="IGUANATEXCURSOR" val="1175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31.046"/>
  <p:tag name="ORIGINALWIDTH" val="3306.337"/>
  <p:tag name="OUTPUTTYPE" val="PNG"/>
  <p:tag name="IGUANATEXVERSION" val="159"/>
  <p:tag name="LATEXADDIN" val="\documentclass{article}&#10;\usepackage{amsmath,bm,eufrak}&#10;\pagestyle{empty}&#10;\begin{document}&#10;&#10;\begin{align*}&#10;V^{\left(T_{2}\right)T_{x}^{-}A^{-}}_{\perp}&#10;&amp; =&#10;\frac{2}{\sqrt{3}}U^{\left(T_{2}\right)}_{x,yzx}&#10;&amp;&#10;V^{\left(T_{2}\right)T_{x}^{+}A^{+}}_{\perp}&#10;&amp; =&#10;\frac{2}{\sqrt{3}}U^{\left(T_{2}\right)}_{x,yzx}&#10;\\&#10;V^{\left(T_{2}\right)T_{x}^{-}E_{1+}}_{\perp}&#10;&amp; =&#10;-\mathrm{i}\tau U^{\left(T_{2}\right)}_{y,zxy}&#10;&amp;&#10;V^{\left(T_{2}\right)T_{x}^{+}E_{1+}}_{\perp}&#10;&amp; =&#10;-\frac{\tau}{\sqrt{3}}U^{\left(T_{2}\right)}_{y,zxy}&#10;\\&#10;V^{\left(T_{2}\right)T_{x}^{-}E_{1-}}_{\perp}&#10;&amp; =&#10;-\frac{\mathrm{i}\tau}{\sqrt{3}}U^{\left(T_{2}\right)}_{y,zxy}&#10;&amp;&#10;V^{\left(T_{2}\right)T_{x}^{+}E_{1-}}_{\perp}&#10;&amp; =&#10;\tau U^{\left(T_{2}\right)}_{y,zxy}&#10;\\&#10;V^{\left(T_{2}\right)T_{x}^{-}E_{2+}}_{\perp}&#10;&amp; =&#10;\mathrm{i}\tau^{2}U^{\left(T_{2}\right)}_{y,zxy}&#10;&amp;&#10;V^{\left(T_{2}\right)T_{x}^{+}E_{2+}}_{\perp}&#10;&amp; =&#10;-\frac{\tau^{2}}{\sqrt{3}}U^{\left(T_{2}\right)}_{y,zxy}&#10;\\&#10;V^{\left(T_{2}\right)T_{x}^{-}E_{2-}}_{\perp}&#10;&amp; =&#10;\frac{\mathrm{i}\tau^{2}}{\sqrt{3}} U^{\left(T_{2}\right)}_{y,zxy}&#10;&amp;&#10;V^{\left(T_{2}\right)T_{x}^{+}E_{2-}}_{\perp}&#10;&amp; =&#10;\tau^{2}U^{\left(T_{2}\right)}_{y,zxy}&#10;\\&#10;\end{align*}&#10;&#10;\end{document}"/>
  <p:tag name="IGUANATEXSIZE" val="20"/>
  <p:tag name="IGUANATEXCURSOR" val="983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43.045"/>
  <p:tag name="ORIGINALWIDTH" val="3306.337"/>
  <p:tag name="OUTPUTTYPE" val="PNG"/>
  <p:tag name="IGUANATEXVERSION" val="159"/>
  <p:tag name="LATEXADDIN" val="\documentclass{article}&#10;\usepackage{amsmath,bm,eufrak}&#10;\pagestyle{empty}&#10;\begin{document}&#10;&#10;\begin{align*}&#10;V^{\left(T_{2}\right)A^{-}T_{y}^{-}}_{\perp}&#10;&amp; =&#10;\frac{2}{\sqrt{3}}U^{\left(T_{2}\right)}_{y,zxy}&#10;&amp;&#10;V^{\left(T_{2}\right)A^{+}T_{y}^{+}}_{\perp}&#10;&amp; =&#10;\frac{2}{\sqrt{3}}U^{\left(T_{2}\right)}_{y,zxy}&#10;\\&#10;V^{\left(T_{2}\right)E_{1+}T_{y}^{-}}_{\perp}&#10;&amp; =&#10;-\mathrm{i}\tau U^{\left(T_{2}\right)}_{y,zxy}&#10;&amp;&#10;V^{\left(T_{2}\right)E_{1+}T_{y}^{+}}_{\perp}&#10;&amp; =&#10;-\frac{\tau}{\sqrt{3}}U^{\left(T_{2}\right)}_{y,zxy}&#10;\\&#10;V^{\left(T_{2}\right)E_{1-}T_{y}^{-}}_{\perp}&#10;&amp; =&#10;\frac{\mathrm{i}\tau}{\sqrt{3}} U^{\left(T_{2}\right)}_{y,zxy}&#10;&amp;&#10;V^{\left(T_{2}\right)E_{1-}T_{y}^{+}}_{\perp}&#10;&amp; =&#10;-\tau U^{\left(T_{2}\right)}_{y,zxy}&#10;\\&#10;V^{\left(T_{2}\right)E_{2+}T_{y}^{-}}_{\perp}&#10;&amp; =&#10;\mathrm{i}\tau^{2}U^{\left(T_{2}\right)}_{y,zxy}&#10;&amp;&#10;V^{\left(T_{2}\right)E_{2+}T_{y}^{+}}_{\perp}&#10;&amp; =&#10;-\frac{\tau^{2}}{\sqrt{3}}U^{\left(T_{2}\right)}_{y,zxy}&#10;\\&#10;V^{\left(T_{2}\right)E_{2-}T_{y}^{-}}_{\perp}&#10;&amp; =&#10;-\frac{\mathrm{i}\tau^{2}}{\sqrt{3}}U^{\left(T_{2}\right)}_{y,zxy}&#10;&amp;&#10;V^{\left(T_{2}\right)E_{2-}T_{y}^{+}}_{\perp}&#10;&amp; =&#10;-\tau^{2}U^{\left(T_{2}\right)}_{y,zxy}&#10;\\&#10;\end{align*}&#10;&#10;\end{document}"/>
  <p:tag name="IGUANATEXSIZE" val="20"/>
  <p:tag name="IGUANATEXCURSOR" val="373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43.045"/>
  <p:tag name="ORIGINALWIDTH" val="3304.837"/>
  <p:tag name="OUTPUTTYPE" val="PNG"/>
  <p:tag name="IGUANATEXVERSION" val="159"/>
  <p:tag name="LATEXADDIN" val="\documentclass{article}&#10;\usepackage{amsmath,bm,eufrak}&#10;\pagestyle{empty}&#10;\begin{document}&#10;&#10;\begin{align*}&#10;V^{\left(T_{2}\right)T_{y}^{-}A^{-}}_{\perp}&#10;&amp; =&#10;\frac{2}{\sqrt{3}}U^{\left(T_{2}\right)}_{y,xyz}&#10;&amp;&#10;V^{\left(T_{2}\right)T_{y}^{+}A^{+}}_{\perp}&#10;&amp; =&#10;\frac{2}{\sqrt{3}}U^{\left(T_{2}\right)}_{y,xyz}&#10;\\&#10;V^{\left(T_{2}\right)T_{y}^{-}E_{1+}}_{\perp}&#10;&amp; =&#10;-\mathrm{i}\tau^{2}U^{\left(T_{2}\right)}_{y,xyz}&#10;&amp;&#10;V^{\left(T_{2}\right)T_{y}^{+}E_{1+}}_{\perp}&#10;&amp; =&#10;-\frac{\tau^{2}}{\sqrt{3}}U^{\left(T_{2}\right)}_{y,xyz}&#10;\\&#10;V^{\left(T_{2}\right)T_{y}^{-}E_{1-}}_{\perp}&#10;&amp; =&#10;-\frac{\mathrm{i}\tau^{2}}{\sqrt{3}}U^{\left(T_{2}\right)}_{y,xyz}&#10;&amp;&#10;V^{\left(T_{2}\right)T_{y}^{+}E_{1-}}_{\perp}&#10;&amp; =&#10;\tau^{2}U^{\left(T_{2}\right)}_{y,xyz}&#10;\\&#10;V^{\left(T_{2}\right)T_{y}^{-}E_{2+}}_{\perp}&#10;&amp; =&#10;\mathrm{i}\tau U^{\left(T_{2}\right)}_{y,xyz}&#10;&amp;&#10;V^{\left(T_{2}\right)T_{y}^{+}E_{2+}}_{\perp}&#10;&amp; =&#10;-\frac{\tau}{\sqrt{3}}U^{\left(T_{2}\right)}_{y,xyz}&#10;\\&#10;V^{\left(T_{2}\right)T_{y}^{-}E_{2-}}_{\perp}&#10;&amp; =&#10;\frac{\mathrm{i}\tau}{\sqrt{3}}U^{\left(T_{2}\right)}_{y,xyz}&#10;&amp;&#10;V^{\left(T_{2}\right)T_{y}^{+}E_{2-}}_{\perp}&#10;&amp; =&#10;\tau U^{\left(T_{2}\right)}_{y,xyz}&#10;\\&#10;\end{align*}&#10;&#10;\end{document}"/>
  <p:tag name="IGUANATEXSIZE" val="20"/>
  <p:tag name="IGUANATEXCURSOR" val="1165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09.299"/>
  <p:tag name="ORIGINALWIDTH" val="3301.837"/>
  <p:tag name="OUTPUTTYPE" val="PNG"/>
  <p:tag name="IGUANATEXVERSION" val="159"/>
  <p:tag name="LATEXADDIN" val="\documentclass{article}&#10;\usepackage{amsmath,bm,eufrak}&#10;\pagestyle{empty}&#10;\begin{document}&#10;&#10;\begin{align*}&#10;V^{\left(T_{2}\right)A^{-}T_{z}^{-}}_{\perp}&#10;&amp; =&#10;\frac{2}{\sqrt{3}}U^{\left(T_{2}\right)}_{z,yzx}&#10;&amp;&#10;V^{\left(T_{2}\right)A^{+}T_{z}^{+}}_{\perp}&#10;&amp; =&#10;\frac{2}{\sqrt{3}}U^{\left(T_{2}\right)}_{z,yzx}&#10;\\&#10;V^{\left(T_{2}\right)E_{1+}T_{z}^{-}}_{\perp} &amp; = -\mathrm{i}U^{\left(T_{2}\right)}_{z,yzx}&#10;&amp;&#10;V^{\left(T_{2}\right)E_{1+}T_{z}^{+}}_{\perp} &amp; = -\frac{1}{\sqrt{3}}U^{\left(T_{2}\right)}_{z,yzx}&#10;\\&#10;V^{\left(T_{2}\right)E_{1-}T_{z}^{-}}_{\perp} &amp; = \frac{\mathrm{i}}{\sqrt{3}}U^{\left(T_{2}\right)}_{z,yzx}&#10;&amp;&#10;V^{\left(T_{2}\right)E_{1-}T_{z}^{+}}_{\perp} &amp; = -U^{\left(T_{2}\right)}_{z,yzx}&#10;\\&#10;V^{\left(T_{2}\right)E_{2+}T_{z}^{-}}_{\perp} &amp; = \mathrm{i}U^{\left(T_{2}\right)}_{z,yzx}&#10;&amp;&#10;V^{\left(T_{2}\right)E_{2+}T_{z}^{+}}_{\perp} &amp; = -\frac{1}{\sqrt{3}}U^{\left(T_{2}\right)}_{z,yzx}&#10;\\&#10;V^{\left(T_{2}\right)E_{2-}T_{z}^{-}}_{\perp} &amp; = -\frac{\mathrm{i}}{\sqrt{3}}U^{\left(T_{2}\right)}_{z,yzx}&#10;&amp;&#10;V^{\left(T_{2}\right)E_{2-}T_{z}^{+}}_{\perp} &amp; = -U^{\left(T_{2}\right)}_{z,yzx}&#10;\\&#10;\end{align*}&#10;&#10;\end{document}"/>
  <p:tag name="IGUANATEXSIZE" val="20"/>
  <p:tag name="IGUANATEXCURSOR" val="1057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09.299"/>
  <p:tag name="ORIGINALWIDTH" val="3302.587"/>
  <p:tag name="OUTPUTTYPE" val="PNG"/>
  <p:tag name="IGUANATEXVERSION" val="159"/>
  <p:tag name="LATEXADDIN" val="\documentclass{article}&#10;\usepackage{amsmath,bm,eufrak}&#10;\pagestyle{empty}&#10;\begin{document}&#10;&#10;\begin{align*}&#10;V^{\left(T_{2}\right)T_{z}^{-}A^{-}}_{\perp} &amp; = \frac{2}{\sqrt{3}}U^{\left(T_{2}\right)}_{z,zxy}&#10;&amp;&#10;V^{\left(T_{2}\right)T_{z}^{+}A^{+}}_{\perp} &amp; = \frac{2}{\sqrt{3}}U^{\left(T_{2}\right)}_{z,zxy}&#10;\\&#10;V^{\left(T_{2}\right)T_{z}^{-}E_{1+}}_{\perp} &amp; = -\mathrm{i}U^{\left(T_{2}\right)}_{z,zxy}&#10;&amp;&#10;V^{\left(T_{2}\right)T_{z}^{+}E_{1+}}_{\perp} &amp; = -\frac{1}{\sqrt{3}}U^{\left(T_{2}\right)}_{z,zxy}&#10;\\&#10;V^{\left(T_{2}\right)T_{z}^{-}E_{1-}}_{\perp} &amp; = -\frac{\mathrm{i}}{\sqrt{3}}U^{\left(T_{2}\right)}_{z,zxy}&#10;&amp;&#10;V^{\left(T_{2}\right)T_{z}^{+}E_{1-}}_{\perp} &amp; = U^{\left(T_{2}\right)}_{z,zxy}&#10;\\&#10;V^{\left(T_{2}\right)T_{z}^{-}E_{2+}}_{\perp} &amp; = \mathrm{i}U^{\left(T_{2}\right)}_{z,zxy}&#10;&amp;&#10;V^{\left(T_{2}\right)T_{z}^{+}E_{2+}}_{\perp} &amp; = -\frac{1}{\sqrt{3}}U^{\left(T_{2}\right)}_{z,zxy}&#10;\\&#10;V^{\left(T_{2}\right)T_{z}^{-}E_{2-}}_{\perp} &amp; = \frac{\mathrm{i}}{\sqrt{3}}U^{\left(T_{2}\right)}_{z,zxy}&#10;&amp;&#10;V^{\left(T_{2}\right)T_{z}^{+}E_{2-}}_{\perp} &amp; = U^{\left(T_{2}\right)}_{z,zxy}&#10;\\&#10;\end{align*}&#10;&#10;\end{document}"/>
  <p:tag name="IGUANATEXSIZE" val="20"/>
  <p:tag name="IGUANATEXCURSOR" val="1055"/>
  <p:tag name="TRANSPARENCY" val="True"/>
  <p:tag name="FILENAME" val=""/>
  <p:tag name="LATEXENGINEID" val="0"/>
  <p:tag name="TEMPFOLDER" val="C:\iguanatex\"/>
  <p:tag name="LATEXFORMHEIGHT" val="492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85660</TotalTime>
  <Words>340</Words>
  <Application>Microsoft Office PowerPoint</Application>
  <PresentationFormat>Widescreen</PresentationFormat>
  <Paragraphs>75</Paragraphs>
  <Slides>40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Georgia</vt:lpstr>
      <vt:lpstr>Gill Sans MT</vt:lpstr>
      <vt:lpstr>LucidaGrande</vt:lpstr>
      <vt:lpstr>UB Powerpoint Template</vt:lpstr>
      <vt:lpstr>PREFACTOR FORMULATION</vt:lpstr>
      <vt:lpstr>GROUP THEORY</vt:lpstr>
      <vt:lpstr>Symmetrized potential projected onto symmetries of Td -- I</vt:lpstr>
      <vt:lpstr>Matrix representation of Td – A(σ), and E</vt:lpstr>
      <vt:lpstr>Matrix representation of Td – T(σ)</vt:lpstr>
      <vt:lpstr>Potential Matrix</vt:lpstr>
      <vt:lpstr>A1</vt:lpstr>
      <vt:lpstr>Effect of Td operations upon expanded symmetrized potential</vt:lpstr>
      <vt:lpstr>A2</vt:lpstr>
      <vt:lpstr>Effect of Td operations upon expanded symmetrized potential</vt:lpstr>
      <vt:lpstr>E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T1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T2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3810</cp:revision>
  <cp:lastPrinted>2016-07-18T17:32:49Z</cp:lastPrinted>
  <dcterms:created xsi:type="dcterms:W3CDTF">2016-06-28T14:05:07Z</dcterms:created>
  <dcterms:modified xsi:type="dcterms:W3CDTF">2022-08-30T22:59:18Z</dcterms:modified>
  <cp:category/>
</cp:coreProperties>
</file>