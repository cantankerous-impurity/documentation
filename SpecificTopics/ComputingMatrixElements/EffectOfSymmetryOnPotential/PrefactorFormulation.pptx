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8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3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7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8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9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0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1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2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3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4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5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6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7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8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9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30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31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3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43"/>
  </p:notesMasterIdLst>
  <p:handoutMasterIdLst>
    <p:handoutMasterId r:id="rId44"/>
  </p:handoutMasterIdLst>
  <p:sldIdLst>
    <p:sldId id="773" r:id="rId2"/>
    <p:sldId id="767" r:id="rId3"/>
    <p:sldId id="760" r:id="rId4"/>
    <p:sldId id="768" r:id="rId5"/>
    <p:sldId id="769" r:id="rId6"/>
    <p:sldId id="762" r:id="rId7"/>
    <p:sldId id="771" r:id="rId8"/>
    <p:sldId id="778" r:id="rId9"/>
    <p:sldId id="851" r:id="rId10"/>
    <p:sldId id="853" r:id="rId11"/>
    <p:sldId id="935" r:id="rId12"/>
    <p:sldId id="896" r:id="rId13"/>
    <p:sldId id="936" r:id="rId14"/>
    <p:sldId id="897" r:id="rId15"/>
    <p:sldId id="934" r:id="rId16"/>
    <p:sldId id="898" r:id="rId17"/>
    <p:sldId id="900" r:id="rId18"/>
    <p:sldId id="899" r:id="rId19"/>
    <p:sldId id="901" r:id="rId20"/>
    <p:sldId id="937" r:id="rId21"/>
    <p:sldId id="904" r:id="rId22"/>
    <p:sldId id="902" r:id="rId23"/>
    <p:sldId id="903" r:id="rId24"/>
    <p:sldId id="939" r:id="rId25"/>
    <p:sldId id="905" r:id="rId26"/>
    <p:sldId id="940" r:id="rId27"/>
    <p:sldId id="906" r:id="rId28"/>
    <p:sldId id="942" r:id="rId29"/>
    <p:sldId id="907" r:id="rId30"/>
    <p:sldId id="941" r:id="rId31"/>
    <p:sldId id="938" r:id="rId32"/>
    <p:sldId id="910" r:id="rId33"/>
    <p:sldId id="908" r:id="rId34"/>
    <p:sldId id="909" r:id="rId35"/>
    <p:sldId id="943" r:id="rId36"/>
    <p:sldId id="911" r:id="rId37"/>
    <p:sldId id="944" r:id="rId38"/>
    <p:sldId id="912" r:id="rId39"/>
    <p:sldId id="945" r:id="rId40"/>
    <p:sldId id="913" r:id="rId41"/>
    <p:sldId id="946" r:id="rId4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3" autoAdjust="0"/>
    <p:restoredTop sz="94631" autoAdjust="0"/>
  </p:normalViewPr>
  <p:slideViewPr>
    <p:cSldViewPr snapToGrid="0" snapToObjects="1">
      <p:cViewPr varScale="1">
        <p:scale>
          <a:sx n="99" d="100"/>
          <a:sy n="99" d="100"/>
        </p:scale>
        <p:origin x="37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9/1/2022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501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67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5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55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36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275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66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47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813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92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70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82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55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901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79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45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29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17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608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051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5759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530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5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39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62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828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20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07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58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824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482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741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tags" Target="../tags/tag5.xml"/><Relationship Id="rId16" Type="http://schemas.openxmlformats.org/officeDocument/2006/relationships/image" Target="../media/image16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1.png"/><Relationship Id="rId5" Type="http://schemas.openxmlformats.org/officeDocument/2006/relationships/tags" Target="../tags/tag8.xml"/><Relationship Id="rId15" Type="http://schemas.openxmlformats.org/officeDocument/2006/relationships/image" Target="../media/image15.png"/><Relationship Id="rId10" Type="http://schemas.openxmlformats.org/officeDocument/2006/relationships/notesSlide" Target="../notesSlides/notesSlide2.xml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22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1.png"/><Relationship Id="rId5" Type="http://schemas.openxmlformats.org/officeDocument/2006/relationships/tags" Target="../tags/tag16.xml"/><Relationship Id="rId10" Type="http://schemas.openxmlformats.org/officeDocument/2006/relationships/image" Target="../media/image20.png"/><Relationship Id="rId4" Type="http://schemas.openxmlformats.org/officeDocument/2006/relationships/tags" Target="../tags/tag15.xml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27.png"/><Relationship Id="rId3" Type="http://schemas.openxmlformats.org/officeDocument/2006/relationships/tags" Target="../tags/tag1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2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25.png"/><Relationship Id="rId5" Type="http://schemas.openxmlformats.org/officeDocument/2006/relationships/tags" Target="../tags/tag21.xml"/><Relationship Id="rId10" Type="http://schemas.openxmlformats.org/officeDocument/2006/relationships/image" Target="../media/image24.png"/><Relationship Id="rId4" Type="http://schemas.openxmlformats.org/officeDocument/2006/relationships/tags" Target="../tags/tag20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33.png"/><Relationship Id="rId3" Type="http://schemas.openxmlformats.org/officeDocument/2006/relationships/tags" Target="../tags/tag2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2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1.png"/><Relationship Id="rId5" Type="http://schemas.openxmlformats.org/officeDocument/2006/relationships/tags" Target="../tags/tag27.xml"/><Relationship Id="rId10" Type="http://schemas.openxmlformats.org/officeDocument/2006/relationships/image" Target="../media/image30.png"/><Relationship Id="rId4" Type="http://schemas.openxmlformats.org/officeDocument/2006/relationships/tags" Target="../tags/tag26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39.png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3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37.png"/><Relationship Id="rId5" Type="http://schemas.openxmlformats.org/officeDocument/2006/relationships/tags" Target="../tags/tag33.xml"/><Relationship Id="rId10" Type="http://schemas.openxmlformats.org/officeDocument/2006/relationships/image" Target="../media/image36.png"/><Relationship Id="rId4" Type="http://schemas.openxmlformats.org/officeDocument/2006/relationships/tags" Target="../tags/tag32.xml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39.xml"/><Relationship Id="rId7" Type="http://schemas.openxmlformats.org/officeDocument/2006/relationships/image" Target="../media/image44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3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42.xml"/><Relationship Id="rId7" Type="http://schemas.openxmlformats.org/officeDocument/2006/relationships/image" Target="../media/image4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6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45.xml"/><Relationship Id="rId7" Type="http://schemas.openxmlformats.org/officeDocument/2006/relationships/image" Target="../media/image44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8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48.xml"/><Relationship Id="rId7" Type="http://schemas.openxmlformats.org/officeDocument/2006/relationships/image" Target="../media/image50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51.xml"/><Relationship Id="rId7" Type="http://schemas.openxmlformats.org/officeDocument/2006/relationships/image" Target="../media/image52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tags" Target="../tags/tag54.xml"/><Relationship Id="rId7" Type="http://schemas.openxmlformats.org/officeDocument/2006/relationships/image" Target="../media/image54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57.xml"/><Relationship Id="rId7" Type="http://schemas.openxmlformats.org/officeDocument/2006/relationships/image" Target="../media/image56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60.xml"/><Relationship Id="rId7" Type="http://schemas.openxmlformats.org/officeDocument/2006/relationships/image" Target="../media/image58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63.xml"/><Relationship Id="rId7" Type="http://schemas.openxmlformats.org/officeDocument/2006/relationships/image" Target="../media/image6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60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tags" Target="../tags/tag66.xml"/><Relationship Id="rId7" Type="http://schemas.openxmlformats.org/officeDocument/2006/relationships/image" Target="../media/image4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4.png"/><Relationship Id="rId4" Type="http://schemas.openxmlformats.org/officeDocument/2006/relationships/tags" Target="../tags/tag67.xml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44.png"/><Relationship Id="rId5" Type="http://schemas.openxmlformats.org/officeDocument/2006/relationships/image" Target="../media/image65.png"/><Relationship Id="rId4" Type="http://schemas.openxmlformats.org/officeDocument/2006/relationships/notesSlide" Target="../notesSlides/notesSlid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66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44.png"/><Relationship Id="rId5" Type="http://schemas.openxmlformats.org/officeDocument/2006/relationships/image" Target="../media/image67.png"/><Relationship Id="rId4" Type="http://schemas.openxmlformats.org/officeDocument/2006/relationships/notesSlide" Target="../notesSlides/notesSlid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68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69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70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82.xml"/><Relationship Id="rId7" Type="http://schemas.openxmlformats.org/officeDocument/2006/relationships/image" Target="../media/image71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85.xml"/><Relationship Id="rId7" Type="http://schemas.openxmlformats.org/officeDocument/2006/relationships/image" Target="../media/image73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88.xml"/><Relationship Id="rId7" Type="http://schemas.openxmlformats.org/officeDocument/2006/relationships/image" Target="../media/image76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75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91.xml"/><Relationship Id="rId7" Type="http://schemas.openxmlformats.org/officeDocument/2006/relationships/image" Target="../media/image77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9.png"/><Relationship Id="rId4" Type="http://schemas.openxmlformats.org/officeDocument/2006/relationships/tags" Target="../tags/tag92.xml"/><Relationship Id="rId9" Type="http://schemas.openxmlformats.org/officeDocument/2006/relationships/image" Target="../media/image7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4.png"/><Relationship Id="rId5" Type="http://schemas.openxmlformats.org/officeDocument/2006/relationships/image" Target="../media/image80.png"/><Relationship Id="rId4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44.png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82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83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84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85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PREFACTOR FORMULATION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the general matrix elements in terms of the </a:t>
            </a:r>
            <a:r>
              <a:rPr lang="en-US" i="1" dirty="0" err="1"/>
              <a:t>mult</a:t>
            </a:r>
            <a:r>
              <a:rPr lang="en-US" dirty="0" err="1"/>
              <a:t>i</a:t>
            </a:r>
            <a:r>
              <a:rPr lang="en-US" i="1" dirty="0" err="1"/>
              <a:t>valley</a:t>
            </a:r>
            <a:r>
              <a:rPr lang="en-US" i="1" dirty="0"/>
              <a:t> basis using the </a:t>
            </a:r>
            <a:r>
              <a:rPr lang="en-US" i="1" dirty="0" err="1"/>
              <a:t>prefactor</a:t>
            </a:r>
            <a:r>
              <a:rPr lang="en-US" i="1" dirty="0"/>
              <a:t> formulation</a:t>
            </a:r>
          </a:p>
        </p:txBody>
      </p:sp>
    </p:spTree>
    <p:extLst>
      <p:ext uri="{BB962C8B-B14F-4D97-AF65-F5344CB8AC3E}">
        <p14:creationId xmlns:p14="http://schemas.microsoft.com/office/powerpoint/2010/main" val="290872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 for potentials as seen by symmetric state basis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6F4C37-FAC2-4FE4-B5A9-F5074A285A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63243" y="4750118"/>
            <a:ext cx="5665514" cy="1973313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E83807-57DB-4482-B87B-84A70CE32CE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17144" y="2734298"/>
            <a:ext cx="6957713" cy="1820934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equation*}&#10;f_{P} = f\left(\mathcal{M}_{P}\hat{r}\right)&#10;\qquad&#10;V^{(W_{1}W_{2})}_{\parallel\slash\perp}&#10;=&#10;\sum_{\hat{P} \in T_{d}}&#10;\mathfrak{p}_{\parallel\slash\perp,\hat{P}}^{(\mathcal{W}_{1}\mathcal{W}_{2})}&#10;U_{\hat{P}}&#10;\end{equation*}&#10;&#10;\end{document}" title="IguanaTex Bitmap Display">
            <a:extLst>
              <a:ext uri="{FF2B5EF4-FFF2-40B4-BE49-F238E27FC236}">
                <a16:creationId xmlns:a16="http://schemas.microsoft.com/office/drawing/2014/main" id="{E7FF55B0-9215-4E52-8F77-EF5269AE8DF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88002" y="1917695"/>
            <a:ext cx="5215996" cy="6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vectors, same valley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4DEB527-9B6B-40E8-A285-291FE63FFE0D}"/>
              </a:ext>
            </a:extLst>
          </p:cNvPr>
          <p:cNvGrpSpPr/>
          <p:nvPr/>
        </p:nvGrpSpPr>
        <p:grpSpPr>
          <a:xfrm>
            <a:off x="3226175" y="1706530"/>
            <a:ext cx="3687639" cy="5099733"/>
            <a:chOff x="3131109" y="1743612"/>
            <a:chExt cx="3687639" cy="50997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7DC660-A187-4188-92E8-D1C9A421CE1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131109" y="1743612"/>
              <a:ext cx="1192534" cy="5099733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3994" y="1743612"/>
              <a:ext cx="1188268" cy="5099733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2614" y="1743612"/>
              <a:ext cx="1186134" cy="509973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4652CB-D1BA-4F8D-9752-4FB05E4B57B9}"/>
              </a:ext>
            </a:extLst>
          </p:cNvPr>
          <p:cNvGrpSpPr/>
          <p:nvPr/>
        </p:nvGrpSpPr>
        <p:grpSpPr>
          <a:xfrm>
            <a:off x="169979" y="1684340"/>
            <a:ext cx="2886217" cy="5144112"/>
            <a:chOff x="35002" y="1743612"/>
            <a:chExt cx="2886217" cy="514411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5EBA187-C9EE-43BE-BEB9-A723129FC70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5002" y="1743612"/>
              <a:ext cx="1271467" cy="509973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3D7475B-2E9C-4D8B-B50E-2ABCBEF4929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357490" y="1787991"/>
              <a:ext cx="1563729" cy="5099733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083792" y="1706528"/>
            <a:ext cx="4938230" cy="5099737"/>
            <a:chOff x="7143835" y="1743607"/>
            <a:chExt cx="4938230" cy="5099737"/>
          </a:xfrm>
        </p:grpSpPr>
        <p:pic>
          <p:nvPicPr>
            <p:cNvPr id="8" name="Picture 7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3835" y="1743611"/>
              <a:ext cx="1614934" cy="509973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1882" y="1743609"/>
              <a:ext cx="1610668" cy="5099733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5663" y="1743607"/>
              <a:ext cx="1606402" cy="5099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612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vectors, opposite valley, even-even inversion symmetry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FF0CF-ED36-4BCC-A19A-A471F83437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205132" y="1737140"/>
            <a:ext cx="1563731" cy="5099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D4B4E-36E4-4BAE-A61E-905F84AE0F2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66785" y="1737140"/>
            <a:ext cx="1499733" cy="5099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7A184E-3FFD-4158-B156-113647BAA1E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143374" y="1737140"/>
            <a:ext cx="1495464" cy="50997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B6EAC1-4311-4582-A2AA-652D5EFA4C6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03211" y="1737140"/>
            <a:ext cx="1425066" cy="50997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889" y="1737140"/>
            <a:ext cx="1271467" cy="509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2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vectors, opposite valley, odd-odd inversion symmetry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546230" y="1758259"/>
            <a:ext cx="9099541" cy="5114603"/>
            <a:chOff x="1426128" y="1758259"/>
            <a:chExt cx="9099541" cy="5114603"/>
          </a:xfrm>
        </p:grpSpPr>
        <p:pic>
          <p:nvPicPr>
            <p:cNvPr id="20" name="Picture 1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0652" y="1758264"/>
              <a:ext cx="1516800" cy="509973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6128" y="1758267"/>
              <a:ext cx="1241600" cy="5099733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027" y="1758261"/>
              <a:ext cx="1510400" cy="5099733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003" y="1758260"/>
              <a:ext cx="1514666" cy="509973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4303" y="1758259"/>
              <a:ext cx="1245866" cy="509973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6744" y="1773129"/>
              <a:ext cx="1237333" cy="5099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795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vectors, opposite valley, </a:t>
            </a:r>
            <a:r>
              <a:rPr lang="en-US" dirty="0" err="1"/>
              <a:t>btwn</a:t>
            </a:r>
            <a:r>
              <a:rPr lang="en-US" dirty="0"/>
              <a:t> A and T states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66231" y="1758266"/>
            <a:ext cx="11459539" cy="5099733"/>
            <a:chOff x="366230" y="1758266"/>
            <a:chExt cx="11459539" cy="5099733"/>
          </a:xfrm>
        </p:grpSpPr>
        <p:pic>
          <p:nvPicPr>
            <p:cNvPr id="19" name="Picture 18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230" y="1758266"/>
              <a:ext cx="1783466" cy="5099733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5711" y="1758266"/>
              <a:ext cx="1779200" cy="5099733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0926" y="1758266"/>
              <a:ext cx="1777066" cy="5099733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4007" y="1758266"/>
              <a:ext cx="1783466" cy="5099733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3488" y="1758266"/>
              <a:ext cx="1779198" cy="509973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8703" y="1758266"/>
              <a:ext cx="1777066" cy="5099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373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 err="1"/>
              <a:t>Prefactor</a:t>
            </a:r>
            <a:r>
              <a:rPr lang="en-US" dirty="0"/>
              <a:t> vectors, opposite valley, </a:t>
            </a:r>
            <a:r>
              <a:rPr lang="en-US" dirty="0" err="1"/>
              <a:t>btwn</a:t>
            </a:r>
            <a:r>
              <a:rPr lang="en-US" dirty="0"/>
              <a:t> E and T states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4F7BA1-D0DA-4B54-8A19-54D0D12088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4096" y="1715231"/>
            <a:ext cx="1787733" cy="5099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910BB7-F7BE-41FB-AB55-54CF9436D77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055925" y="1715231"/>
            <a:ext cx="1881597" cy="50997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289AFE-561F-4409-838F-512A1EE5105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071618" y="1715231"/>
            <a:ext cx="1958398" cy="50997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DD69722-1101-4CDD-B4EF-B230F4DC043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164112" y="1715231"/>
            <a:ext cx="1964800" cy="509973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0782856-24E5-477D-AAE3-60CBB97F78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263008" y="1715231"/>
            <a:ext cx="1783465" cy="50997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1B21DFF-6125-42FF-90CE-D4B8F02BBF1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180569" y="1715231"/>
            <a:ext cx="1877333" cy="50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GROUP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Resolving the input potential in terms of the irreducible representations of Td</a:t>
            </a:r>
          </a:p>
        </p:txBody>
      </p:sp>
    </p:spTree>
    <p:extLst>
      <p:ext uri="{BB962C8B-B14F-4D97-AF65-F5344CB8AC3E}">
        <p14:creationId xmlns:p14="http://schemas.microsoft.com/office/powerpoint/2010/main" val="2620057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Symmetrized potential projected onto symmetries of Td -- I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V^{\left(\mathcal{W}\right)_{01}}_{\parallel\slash\perp}&#10;&amp; =&#10;\sum_{\hat{P} \in T_{d}}&#10;\left(\mathfrak{p}_{\parallel\slash\perp}^{\left(\mathcal{W}\right)_{01}}\right)_{\hat{P}}&#10;U_{\hat{P}}&#10;\\&#10;&amp; =&#10;\sum_{j \in \Gamma\left(T_{d}\right)}&#10;\sum_{\kappa = 1}^{l_{j}}&#10;\sum_{\hat{P} \in T_{d}}&#10;\left(\mathfrak{p}_{\parallel\slash\perp}^{\left(\mathcal{W}\right)_{01}}\right)_{\hat{P}}&#10;\left(U^{(j)}_{\kappa\kappa}\right)_{\hat{P}}&#10;\\&#10;&amp; =&#10;\sum_{j \in \Gamma\left(T_{d}\right)}&#10;\sum_{\kappa = 1}^{l_{j}}&#10;\sum_{\mu = 1}^{l_{j}}&#10;\sum_{\hat{P} \in T_{d}}&#10;\left(\mathfrak{p}_{\parallel\slash\perp}^{\left(\mathcal{W}\right)_{01}}\right)_{\hat{P}}&#10;\left(\Gamma_{\hat{P}}^{(j)}\right)_{\mu\kappa}&#10;U^{(j)}_{\mu\kappa}&#10;\\&#10;&amp; =&#10;\sum_{j \in \Gamma\left(T_{d}\right)}&#10;\sum_{\kappa = 1}^{l_{j}}&#10;\sum_{\mu = 1}^{l_{j}}&#10;\mathfrak{q}_{\parallel\slash\perp,\mu\kappa}^{(j)\left(\mathcal{W}\right)_{01}}&#10;U^{(j)}_{\mu\kappa}&#10;\\&#10;\mathfrak{q}_{\parallel\slash\perp,\mu\kappa}^{(j)\left(\mathcal{W}\right)_{01}}&#10;&amp; =&#10;\sum_{\hat{P} \in T_{d}}&#10;\left(\mathfrak{p}_{\parallel\slash\perp}^{\left(\mathcal{W}\right)_{01}}\right)_{\hat{P}}&#10;\left(\Gamma_{\hat{P}}^{(j)}\right)_{\mu\kappa}&#10;\end{align*}&#10;&#10;\end{document}" title="IguanaTex Bitmap Display">
            <a:extLst>
              <a:ext uri="{FF2B5EF4-FFF2-40B4-BE49-F238E27FC236}">
                <a16:creationId xmlns:a16="http://schemas.microsoft.com/office/drawing/2014/main" id="{202307DA-5008-4CFF-97BA-EACF6D25EE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4802" y="2109725"/>
            <a:ext cx="6115050" cy="4426685"/>
          </a:xfrm>
          <a:prstGeom prst="rect">
            <a:avLst/>
          </a:prstGeom>
        </p:spPr>
      </p:pic>
      <p:pic>
        <p:nvPicPr>
          <p:cNvPr id="13" name="Picture 12" descr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left(U^{(j)}_{\lambda\kappa}\right)_{\hat{P}}&#10;&amp;=&#10;\sum_{\mu = 1}^{l_{j}}&#10;\left(\Gamma_{\hat{P}}^{(j)}\right)_{\mu\lambda}&#10;U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0179D16F-B7E6-40C0-9687-B24091EFCA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73866" y="2952303"/>
            <a:ext cx="3413332" cy="26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0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Potential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how potentials slot into integrals given state symmetry</a:t>
            </a:r>
          </a:p>
        </p:txBody>
      </p:sp>
    </p:spTree>
    <p:extLst>
      <p:ext uri="{BB962C8B-B14F-4D97-AF65-F5344CB8AC3E}">
        <p14:creationId xmlns:p14="http://schemas.microsoft.com/office/powerpoint/2010/main" val="374105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A1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CC2A8-65AD-4AA1-8A83-FB71777B71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1111" y="2153800"/>
            <a:ext cx="3876267" cy="255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30DFEC-9123-47AC-A382-DD15136BB5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58489" y="2153799"/>
            <a:ext cx="4742399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80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A2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8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5F5C8-17BF-4CF2-AA59-BB95089BCA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60268" y="2153800"/>
            <a:ext cx="4072532" cy="255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EC585-E842-44DF-A512-0FFBF18CC3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93068" y="2153800"/>
            <a:ext cx="4938665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0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00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29CE9-BCA8-4AB8-85E4-8B9987530F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0000" y="2153798"/>
            <a:ext cx="4633600" cy="255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4949F5-94CE-4769-9B04-29C89F00494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913600" y="2153797"/>
            <a:ext cx="5638399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57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3FA65-779C-4F4E-A9A7-8E163A442D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003022" y="2153800"/>
            <a:ext cx="4437332" cy="255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06B85A-ED3C-42AA-860D-5EBFF07F6BF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1645" y="2153798"/>
            <a:ext cx="5499732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5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381735-2608-4262-BBFA-400D24E5B9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46934" y="2153800"/>
            <a:ext cx="4776533" cy="255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BF6E5-669E-4D26-A213-E024FC49B4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70401" y="2153800"/>
            <a:ext cx="4874666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20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49FE2A-7B81-4609-A919-3658D80013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774755" y="2153800"/>
            <a:ext cx="4462933" cy="255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7519C3-365B-45FD-AF24-DF554C2D47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54311" y="2153799"/>
            <a:ext cx="4866133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2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T1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9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F46C80-D0B4-4D3B-8A57-81780E47712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16802" y="3132570"/>
            <a:ext cx="4358397" cy="255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6D7ABD-AB8B-44BD-85CB-50E65479EE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64533" y="2260071"/>
            <a:ext cx="1262934" cy="2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05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0E10DE-48F3-46E2-B99B-926B41690B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64533" y="2260074"/>
            <a:ext cx="1262934" cy="276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D57A2-6F03-4900-9991-73FFBA9279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18134" y="3130459"/>
            <a:ext cx="4955733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A6B6A7-AD26-412A-8CB1-82D839BFA3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57600" y="3130466"/>
            <a:ext cx="4876801" cy="255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71A346-239F-464C-8888-C8F7F6EB8C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64533" y="2260071"/>
            <a:ext cx="1262934" cy="276267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06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31}^{\left(T_{1}\right)}&#10;&amp; =&#10;\begin{pmatrix}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-1 &amp; 0 &amp; 0 &amp; 1 \\&#10;0 &amp; 0 &amp; 0 &amp; 0 &amp; 0 &amp; 0 &amp; 0 &amp; 1 &amp; 0  &amp; 0 &amp; 1 &amp; 0 \\&#10;0 &amp; 0 &amp; 0 &amp; 0 &amp; 0 &amp; 0 &amp; 0 &amp; 0 &amp; 0  &amp; 0 &amp; 0 &amp; 0 \\&#10;0 &amp; 0 &amp; 0 &amp; 0 &amp; 0 &amp; 0 &amp; 0 &amp; 0 &amp; 1  &amp; 0 &amp; 0 &amp; -1 \\&#10;0 &amp; 0 &amp; 0 &amp; 0 &amp; 0 &amp; 0 &amp; 0 &amp; 1 &amp; 0  &amp; 0 &amp; 1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C64AEA21-45B2-4CCE-B3FE-7B21F54523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73714" y="2518144"/>
            <a:ext cx="3565714" cy="218605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1" name="Picture 10" descr="\documentclass{article}&#10;\usepackage{amsmath,bm,eufrak}&#10;\pagestyle{empty}&#10;\begin{document}&#10;&#10;\setcounter{MaxMatrixCols}{15}&#10;&#10;\begin{align*}&#10;\mathfrak{q}_{\perp,32}^{\left(T_{1}\right)}&#10;&amp; =&#10;\begin{pmatrix}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1 &amp; 0  &amp; 0 &amp; 1 \\&#10;0 &amp; 0 &amp; 0 &amp; 0 &amp; 0 &amp; 0 &amp; 0  &amp; 0 &amp; 0 &amp; 0  &amp; 0 &amp; 0 \\&#10;0 &amp; 0 &amp; 0 &amp; 0 &amp; 0 &amp; 0 &amp; -1 &amp; 0 &amp; 0 &amp; 1  &amp; 0 &amp; 0 \\&#10;0 &amp; 0 &amp; 0 &amp; 0 &amp; 0 &amp; 0 &amp; 0  &amp; 0 &amp; 1 &amp; 0  &amp; 0 &amp; 1 \\&#10;0 &amp; 0 &amp; 0 &amp; 0 &amp; 0 &amp; 0 &amp; 0  &amp; 0 &amp; 0 &amp; 0  &amp; 0 &amp; 0 \\&#10;0 &amp; 0 &amp; 0 &amp; 0 &amp; 0 &amp; 0 &amp; 1  &amp; 0 &amp; 0 &amp; -1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7A2496EA-7C26-4112-B218-5B06EDD67A9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13142" y="2518144"/>
            <a:ext cx="3565714" cy="218605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3" name="Picture 12" descr="\documentclass{article}&#10;\usepackage{amsmath,bm,eufrak}&#10;\pagestyle{empty}&#10;\begin{document}&#10;&#10;\setcounter{MaxMatrixCols}{15}&#10;&#10;\begin{align*}&#10;\mathfrak{q}_{\perp,33}^{\left(T_{1}\right)}&#10;&amp; =&#10;\begin{pmatrix}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-1 &amp; 0 &amp; 0 &amp; 1  &amp; 0 \\&#10;0 &amp; 0 &amp; 0 &amp; 0 &amp; 0 &amp; 0 &amp; 1 &amp; 0  &amp; 0 &amp; 1 &amp; 0  &amp; 0 \\&#10;0 &amp; 0 &amp; 0 &amp; 0 &amp; 0 &amp; 0 &amp; 0 &amp; 0  &amp; 0 &amp; 0 &amp; 0  &amp; 0 \\&#10;0 &amp; 0 &amp; 0 &amp; 0 &amp; 0 &amp; 0 &amp; 0 &amp; 1  &amp; 0 &amp; 0 &amp; -1 &amp; 0 \\&#10;0 &amp; 0 &amp; 0 &amp; 0 &amp; 0 &amp; 0 &amp; 1 &amp; 0  &amp; 0 &amp; 1 &amp; 0  &amp; 0 \\&#10;0 &amp; 0 &amp; 0 &amp; 0 &amp; 0 &amp; 0 &amp; 0 &amp; 0  &amp; 0 &amp; 0 &amp; 0  &amp; 0 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FBB72272-AB77-49A3-A4F3-971EBD2D4C0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52570" y="2518144"/>
            <a:ext cx="3565714" cy="21860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4493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5" name="Picture 4" descr="\documentclass{article}&#10;\usepackage{amsmath,bm,eufrak}&#10;\pagestyle{empty}&#10;\begin{document}&#10;&#10;\setcounter{MaxMatrixCols}{15}&#10;&#10;\begin{align*}&#10;\mathfrak{q}_{\perp,11}^{\left(T_{1}\right)}&#10;&amp; =&#10;\frac{1}{\sqrt{3}}&#10;\begin{pmatrix}&#10;0 &amp; 0 &amp; 0 &amp; 0 &amp; 0 &amp; 0 &amp; 2                 &amp; 0 &amp; 0 &amp; 0                           &amp; 0 &amp; 0 \\&#10;0 &amp; 0 &amp; 0 &amp; 0 &amp; 0 &amp; 0 &amp; 0                 &amp; 0 &amp; 0 &amp; 2                           &amp; 0 &amp; 0 \\&#10;0 &amp; 0 &amp; 0 &amp; 0 &amp; 0 &amp; 0 &amp; -\tau^{2}         &amp; 0 &amp; 0 &amp; -\mathrm{i}\tau^{2}\sqrt{3} &amp; 0 &amp; 0 \\&#10;0 &amp; 0 &amp; 0 &amp; 0 &amp; 0 &amp; 0 &amp; -\tau^{2}\sqrt{3} &amp; 0 &amp; 0 &amp; \mathrm{i}\tau^{2}          &amp; 0 &amp; 0 \\&#10;0 &amp; 0 &amp; 0 &amp; 0 &amp; 0 &amp; 0 &amp; -\tau             &amp; 0 &amp; 0 &amp; \mathrm{i}\tau\sqrt{3}      &amp; 0 &amp; 0 \\&#10;0 &amp; 0 &amp; 0 &amp; 0 &amp; 0 &amp; 0 &amp; -\tau\sqrt{3}     &amp; 0 &amp; 0 &amp; -\mathrm{i}\tau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09EFB756-5C93-420C-82C9-AF2A1C3ECA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44077" y="2532461"/>
            <a:ext cx="5903847" cy="29147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45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21}^{\left(T_{1}\right)}&#10;&amp; =&#10;\frac{1}{\sqrt{3}}&#10;\begin{pmatrix}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2 &amp; 0 &amp; -\tau                   &amp; \tau\sqrt{3}    &amp; -\tau^{2}                  &amp; \tau^{2}\sqrt{3}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2 &amp; -\mathrm{i}\tau\sqrt{3} &amp; -\mathrm{i}\tau &amp; \mathrm{i}\tau^{2}\sqrt{3} &amp; \mathrm{i}\tau^{2}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C8A8A840-D0A0-482B-BE9D-81C63B800D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14286" y="2444992"/>
            <a:ext cx="6363428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2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\documentclass{article}&#10;\usepackage{amsmath,bm,eufrak}&#10;\pagestyle{empty}&#10;\begin{document}&#10;&#10;\setcounter{MaxMatrixCols}{15}&#10;&#10;\begin{align*}&#10;\mathfrak{q}_{\perp,12}^{\left(T_{1}\right)}&#10;&amp; =&#10;\frac{1}{\sqrt{3}}&#10;\begin{pmatrix}&#10;0 &amp; 0 &amp; 0 &amp; 0 &amp; 0 &amp; 0 &amp; 0 &amp; 2                 &amp; 0 &amp; 0 &amp; 0                          &amp; 0 \\&#10;0 &amp; 0 &amp; 0 &amp; 0 &amp; 0 &amp; 0 &amp; 0 &amp; 0                 &amp; 0 &amp; 0 &amp; 2                          &amp; 0 \\&#10;0 &amp; 0 &amp; 0 &amp; 0 &amp; 0 &amp; 0 &amp; 0 &amp; -\tau             &amp; 0 &amp; 0 &amp; -\mathrm{i}\tau\sqrt{3}    &amp; 0 \\&#10;0 &amp; 0 &amp; 0 &amp; 0 &amp; 0 &amp; 0 &amp; 0 &amp; -\tau\sqrt{3}     &amp; 0 &amp; 0 &amp; \mathrm{i}\tau             &amp; 0 \\&#10;0 &amp; 0 &amp; 0 &amp; 0 &amp; 0 &amp; 0 &amp; 0 &amp; -\tau^{2}         &amp; 0 &amp; 0 &amp; \mathrm{i}\tau^{2}\sqrt{3} &amp; 0 \\&#10;0 &amp; 0 &amp; 0 &amp; 0 &amp; 0 &amp; 0 &amp; 0 &amp; -\tau^{2}\sqrt{3} &amp; 0 &amp; 0 &amp; -\mathrm{i}\tau^{2}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A6E86EF6-2272-4DEC-A974-70A0FB42E0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89791" y="2300813"/>
            <a:ext cx="5812419" cy="291474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9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22}^{\left(T_{1}\right)}&#10;&amp; =&#10;\frac{1}{\sqrt{3}}&#10;\begin{pmatrix}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2 &amp; 0 &amp; -\tau^{2}                   &amp; \tau^{2}\sqrt{3}    &amp; -\tau                  &amp; \tau\sqrt{3}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2 &amp; -\mathrm{i}\tau^{2}\sqrt{3} &amp; -\mathrm{i}\tau^{2} &amp; \mathrm{i}\tau\sqrt{3} &amp; \mathrm{i}\tau &amp; 0 &amp; 0 &amp; 0 &amp; 0 &amp; 0 &amp; 0 \\&#10;0 &amp; 0 &amp; 0                           &amp; 0                   &amp; 0                      &amp; 0             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91603629-4130-4330-8148-AB6A6F1EE0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14286" y="2478928"/>
            <a:ext cx="6363428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22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13}^{\left(T_{1}\right)}&#10;&amp; =&#10;\frac{1}{\sqrt{3}}&#10;\begin{pmatrix}&#10;0 &amp; 0 &amp; 0 &amp; 0 &amp; 0 &amp; 0 &amp; 0 &amp; 0 &amp; 2         &amp; 0 &amp; 0 &amp; 0 \\&#10;0 &amp; 0 &amp; 0 &amp; 0 &amp; 0 &amp; 0 &amp; 0 &amp; 0 &amp; 0         &amp; 0 &amp; 0 &amp; 2 \\&#10;0 &amp; 0 &amp; 0 &amp; 0 &amp; 0 &amp; 0 &amp; 0 &amp; 0 &amp; -1        &amp; 0 &amp; 0 &amp; -\mathrm{i}\sqrt{3} \\&#10;0 &amp; 0 &amp; 0 &amp; 0 &amp; 0 &amp; 0 &amp; 0 &amp; 0 &amp; -\sqrt{3} &amp; 0 &amp; 0 &amp; \mathrm{i} \\&#10;0 &amp; 0 &amp; 0 &amp; 0 &amp; 0 &amp; 0 &amp; 0 &amp; 0 &amp; -1        &amp; 0 &amp; 0 &amp; \mathrm{i}\sqrt{3} \\&#10;0 &amp; 0 &amp; 0 &amp; 0 &amp; 0 &amp; 0 &amp; 0 &amp; 0 &amp; -\sqrt{3} &amp; 0 &amp; 0 &amp; -\mathrm{i}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F766BAED-B7B5-46D4-B861-5B8AD7B98C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45829" y="2361014"/>
            <a:ext cx="5500342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45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23}^{\left(T_{1}\right)}&#10;&amp; =&#10;\frac{1}{\sqrt{3}}&#10;\begin{pmatrix}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2 &amp; 0 &amp; -1                  &amp; \sqrt{3}    &amp; -1                 &amp; \sqrt{3}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2 &amp; -\mathrm{i}\sqrt{3} &amp; -\mathrm{i} &amp; \mathrm{i}\sqrt{3} &amp; \mathrm{i}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D646B435-77BF-4463-A6BB-DE0C06DD2C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28191" y="2505952"/>
            <a:ext cx="5735619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30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7B7D-E592-42F3-AF95-7F78D5D81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A4BF-440D-4649-856A-064839DB2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56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5986D-DF01-4CB8-93D4-43D8FC3024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16802" y="3132568"/>
            <a:ext cx="4358397" cy="255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D396A-B499-4D8E-817D-B23416F4E7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464533" y="2260071"/>
            <a:ext cx="1262934" cy="2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47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5EEFDA-0DCF-4B9F-9A82-A7EDD1EDD24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64533" y="2260074"/>
            <a:ext cx="1262934" cy="276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E0A62E-46C7-44B9-981C-9025C5B2470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18134" y="3130459"/>
            <a:ext cx="4955733" cy="2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03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D9DB78-E86B-429C-8845-32011C873B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57600" y="3130466"/>
            <a:ext cx="4876801" cy="255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782FAD-3B1C-493B-B6E0-D3802CB09E0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64533" y="2260071"/>
            <a:ext cx="1262934" cy="276267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50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\documentclass{article}&#10;\usepackage{amsmath,bm,eufrak}&#10;\pagestyle{empty}&#10;\begin{document}&#10;&#10;\setcounter{MaxMatrixCols}{15}&#10;&#10;\begin{align*}&#10;\mathfrak{q}_{\perp,31}^{\left(T_{2}\right)}&#10;&amp; =&#10;\begin{pmatrix}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1  &amp; 0 &amp; 0 &amp; -1 \\&#10;0 &amp; 0 &amp; 0 &amp; 0 &amp; 0 &amp; 0 &amp; 0 &amp; 1 &amp; 0  &amp; 0 &amp; 1 &amp; 0 \\&#10;0 &amp; 0 &amp; 0 &amp; 0 &amp; 0 &amp; 0 &amp; 0 &amp; 0 &amp; 0  &amp; 0 &amp; 0 &amp; 0 \\&#10;0 &amp; 0 &amp; 0 &amp; 0 &amp; 0 &amp; 0 &amp; 0 &amp; 0 &amp; -1 &amp; 0 &amp; 0 &amp; 1 \\&#10;0 &amp; 0 &amp; 0 &amp; 0 &amp; 0 &amp; 0 &amp; 0 &amp; 1 &amp; 0  &amp; 0 &amp; 1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CCD4F231-2DC6-4B7A-B1B1-636DDABE5F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73714" y="2335972"/>
            <a:ext cx="3565714" cy="218605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11" name="Picture 10" descr="\documentclass{article}&#10;\usepackage{amsmath,bm,eufrak}&#10;\pagestyle{empty}&#10;\begin{document}&#10;&#10;\setcounter{MaxMatrixCols}{15}&#10;&#10;\begin{align*}&#10;\mathfrak{q}_{\perp,32}^{\left(T_{2}\right)}&#10;&amp; =&#10;\begin{pmatrix}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1 &amp; 0  &amp; 0 &amp; 1 \\&#10;0 &amp; 0 &amp; 0 &amp; 0 &amp; 0 &amp; 0 &amp; 0  &amp; 0 &amp; 0 &amp; 0  &amp; 0 &amp; 0 \\&#10;0 &amp; 0 &amp; 0 &amp; 0 &amp; 0 &amp; 0 &amp; 1  &amp; 0 &amp; 0 &amp; -1 &amp; 0 &amp; 0 \\&#10;0 &amp; 0 &amp; 0 &amp; 0 &amp; 0 &amp; 0 &amp; 0  &amp; 0 &amp; 1 &amp; 0  &amp; 0 &amp; 1 \\&#10;0 &amp; 0 &amp; 0 &amp; 0 &amp; 0 &amp; 0 &amp; 0  &amp; 0 &amp; 0 &amp; 0  &amp; 0 &amp; 0 \\&#10;0 &amp; 0 &amp; 0 &amp; 0 &amp; 0 &amp; 0 &amp; -1 &amp; 0 &amp; 0 &amp; 1 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FB6C45C3-67DC-4FEA-9E59-44500C2D17E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13142" y="2335972"/>
            <a:ext cx="3565714" cy="218605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3" name="Picture 12" descr="\documentclass{article}&#10;\usepackage{amsmath,bm,eufrak}&#10;\pagestyle{empty}&#10;\begin{document}&#10;&#10;\setcounter{MaxMatrixCols}{15}&#10;&#10;\begin{align*}&#10;\mathfrak{q}_{\perp,33}^{\left(T_{2}\right)}&#10;&amp; =&#10;\begin{pmatrix}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1  &amp; 0 &amp; 0 &amp; -1 &amp; 0 \\&#10;0 &amp; 0 &amp; 0 &amp; 0 &amp; 0 &amp; 0 &amp; 1 &amp; 0  &amp; 0 &amp; 1 &amp; 0  &amp; 0 \\&#10;0 &amp; 0 &amp; 0 &amp; 0 &amp; 0 &amp; 0 &amp; 0 &amp; 0  &amp; 0 &amp; 0 &amp; 0  &amp; 0 \\&#10;0 &amp; 0 &amp; 0 &amp; 0 &amp; 0 &amp; 0 &amp; 0 &amp; -1 &amp; 0 &amp; 0 &amp; 1  &amp; 0 \\&#10;0 &amp; 0 &amp; 0 &amp; 0 &amp; 0 &amp; 0 &amp; 1 &amp; 0  &amp; 0 &amp; 1 &amp; 0  &amp; 0 \\&#10;0 &amp; 0 &amp; 0 &amp; 0 &amp; 0 &amp; 0 &amp; 0 &amp; 0  &amp; 0 &amp; 0 &amp; 0  &amp; 0 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6EC9D1B9-C0A4-44BC-A73E-E4F39F77CB5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52570" y="2335972"/>
            <a:ext cx="3565714" cy="21860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4874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\documentclass{article}&#10;\usepackage{amsmath,bm,eufrak}&#10;\pagestyle{empty}&#10;\begin{document}&#10;&#10;\setcounter{MaxMatrixCols}{15}&#10;&#10;\begin{align*}&#10;\mathfrak{q}_{\perp,11}^{\left(T_{2}\right)}&#10;&amp; =&#10;\frac{1}{\sqrt{3}}&#10;\begin{pmatrix}&#10;0 &amp; 0 &amp; 0 &amp; 0 &amp; 0 &amp; 0 &amp; 0                           &amp; 0 &amp; 0 &amp; 2                 &amp; 0 &amp; 0 \\&#10;0 &amp; 0 &amp; 0 &amp; 0 &amp; 0 &amp; 0 &amp; 2                           &amp; 0 &amp; 0 &amp; 0                 &amp; 0 &amp; 0 \\&#10;0 &amp; 0 &amp; 0 &amp; 0 &amp; 0 &amp; 0 &amp; -\mathrm{i}\tau^{2}\sqrt{3} &amp; 0 &amp; 0 &amp; -\tau^{2}         &amp; 0 &amp; 0 \\&#10;0 &amp; 0 &amp; 0 &amp; 0 &amp; 0 &amp; 0 &amp; \mathrm{i}\tau^{2}          &amp; 0 &amp; 0 &amp; -\tau^{2}\sqrt{3} &amp; 0 &amp; 0 \\&#10;0 &amp; 0 &amp; 0 &amp; 0 &amp; 0 &amp; 0 &amp; \mathrm{i}\tau\sqrt{3}      &amp; 0 &amp; 0 &amp; -\tau             &amp; 0 &amp; 0 \\&#10;0 &amp; 0 &amp; 0 &amp; 0 &amp; 0 &amp; 0 &amp; -\mathrm{i}\tau             &amp; 0 &amp; 0 &amp;  -\tau\sqrt{3}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12447127-926B-4EE5-A17E-A564DFF077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44077" y="2532461"/>
            <a:ext cx="5903847" cy="291474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70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bm,eufrak}&#10;\pagestyle{empty}&#10;\begin{document}&#10;&#10;\setcounter{MaxMatrixCols}{15}&#10;&#10;\begin{align*}&#10;\mathfrak{q}_{\perp,21}^{\left(T_{2}\right)}&#10;&amp; =&#10;\frac{1}{\sqrt{3}}&#10;\begin{pmatrix}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2 &amp; -\mathrm{i}\tau\sqrt{3} &amp; -\mathrm{i}\tau &amp; \mathrm{i}\tau^{2}\sqrt{3} &amp; \mathrm{i}\tau^{2}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2 &amp; 0 &amp; -\tau                   &amp; \tau\sqrt{3}    &amp; -\tau^{2}                  &amp; \tau^{2}\sqrt{3}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06B2B172-8094-4912-830E-1D2FC17096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14286" y="2478233"/>
            <a:ext cx="6363428" cy="291474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6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setcounter{MaxMatrixCols}{15}&#10;&#10;\begin{align*}&#10;\mathfrak{q}_{\perp,12}^{\left(T_{2}\right)}&#10;&amp; =&#10;\frac{1}{\sqrt{3}}&#10;\begin{pmatrix}&#10;0 &amp; 0 &amp; 0 &amp; 0 &amp; 0 &amp; 0 &amp; 0                          &amp; 0 &amp; 0 &amp; 2                 &amp; 0 &amp; 0 \\&#10;0 &amp; 0 &amp; 0 &amp; 0 &amp; 0 &amp; 0 &amp; 2                          &amp; 0 &amp; 0 &amp; 0                 &amp; 0 &amp; 0 \\&#10;0 &amp; 0 &amp; 0 &amp; 0 &amp; 0 &amp; 0 &amp; -\mathrm{i}\sqrt{3}\tau    &amp; 0 &amp; 0 &amp; -\tau             &amp; 0 &amp; 0 \\&#10;0 &amp; 0 &amp; 0 &amp; 0 &amp; 0 &amp; 0 &amp; \mathrm{i}\tau             &amp; 0 &amp; 0 &amp; -\tau\sqrt{3}     &amp; 0 &amp; 0 \\&#10;0 &amp; 0 &amp; 0 &amp; 0 &amp; 0 &amp; 0 &amp; \mathrm{i}\tau^{2}\sqrt{3} &amp; 0 &amp; 0 &amp; -\tau^{2}         &amp; 0 &amp; 0 \\&#10;0 &amp; 0 &amp; 0 &amp; 0 &amp; 0 &amp; 0 &amp; -\mathrm{i}\tau^{2}        &amp; 0 &amp; 0 &amp; -\tau^{2}\sqrt{3}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BD142464-7711-4494-86FB-0E43CABACD5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189791" y="2343393"/>
            <a:ext cx="5812419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24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5" name="Picture 4" descr="\documentclass{article}&#10;\usepackage{amsmath,bm,eufrak}&#10;\pagestyle{empty}&#10;\begin{document}&#10;&#10;\setcounter{MaxMatrixCols}{15}&#10;&#10;\begin{align*}&#10;\mathfrak{q}_{\perp,22}^{\left(T_{2}\right)}&#10;&amp; =&#10;\frac{1}{\sqrt{3}}&#10;\begin{pmatrix}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2 &amp; -\mathrm{i}\tau^{2}\sqrt{3} &amp; -\mathrm{i}\tau^{2} &amp; \mathrm{i}\tau\sqrt{3} &amp; \mathrm{i}\tau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2 &amp; 0 &amp; -\tau^{2}                   &amp; \tau^{2}\sqrt{3}    &amp; -\tau                  &amp; \tau\sqrt{3}   &amp; 0 &amp; 0 &amp; 0 &amp; 0 &amp; 0 &amp; 0 \\&#10;0 &amp; 0 &amp; 0                           &amp; 0                   &amp; 0                      &amp; 0             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84155B7B-35DA-4568-B419-B4D5F7C1EF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14286" y="2439749"/>
            <a:ext cx="6363428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33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setcounter{MaxMatrixCols}{15}&#10;&#10;\begin{align*}&#10;\mathfrak{q}_{\perp,13}^{\left(T_{2}\right)}&#10;&amp; =&#10;\frac{1}{\sqrt{3}}&#10;\begin{pmatrix}&#10;0 &amp; 0 &amp; 0 &amp; 0 &amp; 0 &amp; 0 &amp; 0 &amp; 0 &amp; 0                   &amp; 0 &amp; 0 &amp; 2 \\&#10;0 &amp; 0 &amp; 0 &amp; 0 &amp; 0 &amp; 0 &amp; 0 &amp; 0 &amp; 2                   &amp; 0 &amp; 0 &amp; 0 \\&#10;0 &amp; 0 &amp; 0 &amp; 0 &amp; 0 &amp; 0 &amp; 0 &amp; 0 &amp; -\mathrm{i}\sqrt{3} &amp; 0 &amp; 0 &amp; -1 \\&#10;0 &amp; 0 &amp; 0 &amp; 0 &amp; 0 &amp; 0 &amp; 0 &amp; 0 &amp; \mathrm{i}          &amp; 0 &amp; 0 &amp; -\sqrt{3} \\&#10;0 &amp; 0 &amp; 0 &amp; 0 &amp; 0 &amp; 0 &amp; 0 &amp; 0 &amp; \mathrm{i}\sqrt{3}  &amp; 0 &amp; 0 &amp; -1 \\&#10;0 &amp; 0 &amp; 0 &amp; 0 &amp; 0 &amp; 0 &amp; 0 &amp; 0 &amp; -\mathrm{i}         &amp; 0 &amp; 0 &amp; -\sqrt{3}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4E9D84EF-279D-49C0-B1FF-7C6624C5DB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45829" y="2423080"/>
            <a:ext cx="5500342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79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 of Td operations upon expanded symmetrized potential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F4D37C-932D-4EC1-A21E-574A7592E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524" y="6425364"/>
            <a:ext cx="7772952" cy="265143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setcounter{MaxMatrixCols}{15}&#10;&#10;\begin{align*}&#10;\mathfrak{q}_{\perp,23}^{\left(T_{2}\right)}&#10;&amp; =&#10;\frac{1}{\sqrt{3}}&#10;\begin{pmatrix}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2 &amp; -\mathrm{i}\sqrt{3} &amp; -\mathrm{i} &amp; \mathrm{i}\sqrt{3} &amp; \mathrm{i}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2 &amp; 0 &amp; -1                  &amp; \sqrt{3}    &amp; -1                 &amp; \sqrt{3}   &amp; 0 &amp; 0 &amp; 0 &amp; 0 &amp; 0 &amp; 0 \\&#10;\end{pmatrix}&#10;\\&#10;\end{align*}&#10;&#10;\end{document}" title="IguanaTex Bitmap Display">
            <a:extLst>
              <a:ext uri="{FF2B5EF4-FFF2-40B4-BE49-F238E27FC236}">
                <a16:creationId xmlns:a16="http://schemas.microsoft.com/office/drawing/2014/main" id="{EB747249-C3BB-45B8-8B7A-4B66F4CD7E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28191" y="2419599"/>
            <a:ext cx="5735619" cy="29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06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1.1286"/>
  <p:tag name="ORIGINALWIDTH" val="2788.152"/>
  <p:tag name="LATEXADDIN" val="\documentclass{article}&#10;\usepackage{amsmath,bm,eufrak}&#10;\pagestyle{empty}&#10;\begin{document}&#10;&#10;\begin{equation*}&#10;\mathfrak{p}_{\perp}&#10;=&#10;\begin{pmatrix}&#10;2\mathfrak{p}_{0}    &amp; \mathfrak{p}_{B}        &amp; \mathfrak{p}_{B}^{*}        &amp; \mathfrak{p}_{(Ax)}     &amp; \mathfrak{p}_{(Ay)}     &amp; \mathfrak{p}_{(Az)} \\&#10;\mathfrak{p}_{C}^{*} &amp; \mathfrak{p}_{0^\prime} &amp; 2\mathfrak{p}_{A}           &amp; \mathfrak{p}_{(Ex)}^{*} &amp; \mathfrak{p}_{(Ey)}^{*} &amp; \mathfrak{p}_{(Ez)}^{*} \\&#10;\mathfrak{p}_{C}     &amp; 2\mathfrak{p}_{A}^{*}   &amp; \mathfrak{p}_{0^\prime}^{*} &amp; \mathfrak{p}_{(Ex)}     &amp; \mathfrak{p}_{(Ey)}     &amp; \mathfrak{p}_{(Ez)} \\&#10;\mathfrak{p}_{(xA)}  &amp; \mathfrak{p}_{(xE)}     &amp; \mathfrak{p}_{(xE)}^{*}     &amp; 0                       &amp; \mathfrak{p}_{(xy)}     &amp; \mathfrak{p}_{(xz)} \\&#10;\mathfrak{p}_{(yA)}  &amp; \mathfrak{p}_{(yE)}     &amp; \mathfrak{p}_{(yE)}^{*}     &amp; \mathfrak{p}_{(yx)}     &amp; 0                       &amp; \mathfrak{p}_{(yz)} \\&#10;\mathfrak{p}_{(zA)}  &amp; \mathfrak{p}_{(zE)}     &amp; \mathfrak{p}_{(zE)}^{*}     &amp; \mathfrak{p}_{(zx)}     &amp; \mathfrak{p}_{(zy)}     &amp; 0 \\&#10;\end{pmatrix}&#10;\end{equation*}&#10;&#10;\end{document}"/>
  <p:tag name="IGUANATEXSIZE" val="20"/>
  <p:tag name="IGUANATEXCURSOR" val="128"/>
  <p:tag name="TRANSPARENCY" val="True"/>
  <p:tag name="FILENAME" val=""/>
  <p:tag name="LATEXENGINEID" val="0"/>
  <p:tag name="TEMPFOLDER" val="c:\temp\"/>
  <p:tag name="LATEXFORMHEIGHT" val="624"/>
  <p:tag name="LATEXFORMWIDTH" val="1029.75"/>
  <p:tag name="LATEXFORMWRAP" val="Fals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6.1379"/>
  <p:tag name="ORIGINALWIDTH" val="3424.072"/>
  <p:tag name="LATEXADDIN" val="\documentclass{article}&#10;\usepackage{amsmath,bm,eufrak}&#10;\pagestyle{empty}&#10;\begin{document}&#10;&#10;\begin{equation*}&#10;\mathfrak{p}_{\parallel}&#10;=&#10;\begin{pmatrix}&#10;\mathfrak{p}_{0}                           &amp; \sigma_{2}\phi_{1}\mathfrak{p}_{A}      &amp; \sigma_{2}\phi_{1}^{*}\mathfrak{p}_{A}^{*}  &amp; \mathfrak{p}_{x^\prime}                     &amp; \mathfrak{p}_{y^\prime}                 &amp; \mathfrak{p}_{z^\prime}             \\&#10;\sigma_{1}\phi_{2}^{*}\mathfrak{p}_{A}^{*} &amp; \phi_{0}\mathfrak{p}_{0}                &amp; \mathfrak{p}_{A}                            &amp; \tau^{2}\phi_{1}^{*}\mathfrak{p}_{x^\prime} &amp; \tau\phi_{1}^{*}\mathfrak{p}_{y^\prime} &amp; \phi_{1}^{*}\mathfrak{p}_{z^\prime} \\&#10;\sigma_{1}\phi_{2}\mathfrak{p}_{A}         &amp; \mathfrak{p}_{A}^{*}                    &amp; \phi_{0}^{*}\mathfrak{p}_{0}                &amp; \tau\phi_{1}\mathfrak{p}_{x^\prime}         &amp; \tau^{2}\phi_{1}\mathfrak{p}_{y^\prime} &amp; \phi_{1}\mathfrak{p}_{z^\prime}     \\&#10;\mathfrak{p}_{x^\prime}                    &amp; \tau\phi_{2}\mathfrak{p}_{x^\prime}     &amp; \tau^{2}\phi_{2}^{*}\mathfrak{p}_{x^\prime} &amp; \mathfrak{p}_{x}                            &amp; 0                                       &amp; 0                                   \\&#10;\mathfrak{p}_{y^\prime}                    &amp; \tau^{2}\phi_{2}\mathfrak{p}_{y^\prime} &amp; \tau\phi_{2}^{*}\mathfrak{p}_{y^\prime}     &amp; 0                                           &amp; \mathfrak{p}_{y}                        &amp; 0                                   \\&#10;\mathfrak{p}_{z^\prime}                    &amp; \phi_{2}\mathfrak{p}_{z^\prime}         &amp; \phi_{2}^{*}\mathfrak{p}_{z^\prime}         &amp; 0                                           &amp; 0                                       &amp; \mathfrak{p}_{z}                    \\&#10;\end{pmatrix}&#10;\end{equation*}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569.25"/>
  <p:tag name="LATEXFORMWIDTH" val="1371.75"/>
  <p:tag name="LATEXFORMWRAP" val="Fals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5.7105"/>
  <p:tag name="ORIGINALWIDTH" val="2566.929"/>
  <p:tag name="OUTPUTTYPE" val="PNG"/>
  <p:tag name="IGUANATEXVERSION" val="159"/>
  <p:tag name="LATEXADDIN" val="\documentclass{article}&#10;\usepackage{amsmath,bm,eufrak}&#10;\pagestyle{empty}&#10;\begin{document}&#10;&#10;\begin{equation*}&#10;f_{P} = f\left(\mathcal{M}_{P}\hat{r}\right)&#10;\qquad&#10;V^{(W_{1}W_{2})}_{\parallel\slash\perp}&#10;=&#10;\sum_{\hat{P} \in T_{d}}&#10;\mathfrak{p}_{\parallel\slash\perp,\hat{P}}^{(\mathcal{W}_{1}\mathcal{W}_{2})}&#10;U_{\hat{P}}&#10;\end{equation*}&#10;&#10;\end{document}"/>
  <p:tag name="IGUANATEXSIZE" val="20"/>
  <p:tag name="IGUANATEXCURSOR" val="30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135.358"/>
  <p:tag name="LATEXADDIN" val="\documentclass{article}&#10;\usepackage{amsmath,bm,physics,array,multirow,eufrak}&#10;\pagestyle{empty}&#10;&#10;\begin{document}&#10;&#10;\begin{equation*}&#10;\mathfrak{p}_{x^\prime}&#10;=&#10;\frac{1}{8\sqrt{3}}&#10;\begin{pmatrix}&#10;0                    \\&#10;0                    \\&#10;0                    \\&#10;0                    \\&#10;0                    \\&#10;0                    \\&#10;0                    \\&#10;0                    \\&#10;1                    \\&#10;-1                   \\&#10;-1                   \\&#10;1                    \\&#10;0                    \\&#10;0                    \\&#10;\sigma_{1}\sigma_{2} \\&#10;-\sigma_{1}\sigma_{2} \\&#10;0                    \\&#10;0                    \\&#10;0                    \\&#10;0                    \\&#10;\sigma_{1}\sigma_{2} \\&#10;-\sigma_{1}\sigma_{2} \\&#10;0                    \\&#10;0                    \\&#10;\end{pmatrix}&#10;\end{equation*}&#10;&#10;\end{document}"/>
  <p:tag name="IGUANATEXSIZE" val="14"/>
  <p:tag name="IGUANATEXCURSOR" val="169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132.358"/>
  <p:tag name="LATEXADDIN" val="\documentclass{article}&#10;\usepackage{amsmath,bm,physics,array,multirow,eufrak}&#10;\pagestyle{empty}&#10;&#10;\newcolumntype{C}{&gt;{$}c&lt;{$}}&#10;&#10;\begin{document}&#10;&#10;\begin{equation*}&#10;\mathfrak{p}_{y^\prime}&#10;=&#10;\frac{1}{8\sqrt{3}}&#10;\begin{pmatrix}&#10;0                    \\&#10;0                    \\&#10;0                    \\&#10;0                    \\&#10;1                    \\&#10;-1                   \\&#10;1                    \\&#10;-1                   \\&#10;0                    \\&#10;0                    \\&#10;0                    \\&#10;0                    \\&#10;\sigma_{1}\sigma_{2} \\&#10;-\sigma_{1}\sigma_{2} \\&#10;0                    \\&#10;0                    \\&#10;0                    \\&#10;0                    \\&#10;-\sigma_{1}\sigma_{2} \\&#10;\sigma_{1}\sigma_{2} \\&#10;0                    \\&#10;0                    \\&#10;0                    \\&#10;0                    \\&#10;\end{pmatrix}&#10;\end{equation*}&#10;&#10;\end{document}"/>
  <p:tag name="IGUANATEXSIZE" val="14"/>
  <p:tag name="IGUANATEXCURSOR" val="207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129.359"/>
  <p:tag name="LATEXADDIN" val="\documentclass{article}&#10;\usepackage{amsmath,bm,physics,array,multirow,eufrak}&#10;\pagestyle{empty}&#10;&#10;\newcolumntype{C}{&gt;{$}c&lt;{$}}&#10;&#10;\begin{document}&#10;&#10;\begin{equation*}&#10;\mathfrak{p}_{z^\prime}&#10;=&#10;\frac{1}{8\sqrt{3}}&#10;\begin{pmatrix}&#10;1                    \\&#10;-1                   \\&#10;-1                   \\&#10;1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\sigma_{1}\sigma_{2} \\&#10;\sigma_{1}\sigma_{2} \\&#10;0                    \\&#10;0                    \\&#10;0                    \\&#10;0                    \\&#10;-\sigma_{1}\sigma_{2} \\&#10;-\sigma_{1}\sigma_{2} \\&#10;\end{pmatrix}&#10;\end{equation*}&#10;&#10;\end{document}"/>
  <p:tag name="IGUANATEXSIZE" val="14"/>
  <p:tag name="IGUANATEXCURSOR" val="207"/>
  <p:tag name="TRANSPARENCY" val="Fals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93.8882"/>
  <p:tag name="LATEXADDIN" val="\documentclass{article}&#10;\usepackage{amsmath,bm,eufrak}&#10;\pagestyle{empty}&#10;&#10;&#10;\begin{document}&#10;&#10;\begin{equation*}&#10;\mathfrak{p}_{0}&#10;=&#10;\frac{1}{24}&#10;\begin{pmatrix}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end{pmatrix}&#10;\end{equation*}&#10;&#10;\end{document}"/>
  <p:tag name="IGUANATEXSIZE" val="14"/>
  <p:tag name="IGUANATEXCURSOR" val="24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99.363"/>
  <p:tag name="LATEXADDIN" val="\documentclass{article}&#10;\usepackage{amsmath,bm,eufrak}&#10;\pagestyle{empty}&#10;&#10;\begin{document}&#10;&#10;\begin{equation*}&#10;\mathfrak{p}_{A} =&#10;\frac{\phi_{12}}{24}&#10;\begin{pmatrix}&#10;1        \\&#10;1        \\&#10;1        \\&#10;1        \\&#10;\tau^{2} \\&#10;\tau^{2} \\&#10;\tau^{2} \\&#10;\tau^{2} \\&#10;\tau     \\&#10;\tau     \\&#10;\tau     \\&#10;\tau     \\&#10;\sigma_{1}\sigma_{2}\tau^{2} \\&#10;\sigma_{1}\sigma_{2}\tau^{2} \\&#10;\sigma_{1}\sigma_{2}\tau     \\&#10;\sigma_{1}\sigma_{2}\tau     \\&#10;\sigma_{1}\sigma_{2}         \\&#10;\sigma_{1}\sigma_{2}         \\&#10;\sigma_{1}\sigma_{2}\tau^{2} \\&#10;\sigma_{1}\sigma_{2}\tau^{2} \\&#10;\sigma_{1}\sigma_{2}\tau     \\&#10;\sigma_{1}\sigma_{2}\tau     \\&#10;\sigma_{1}\sigma_{2}         \\&#10;\sigma_{1}\sigma_{2}        &#10;\end{pmatrix}&#10;\end{equation*}&#10;&#10;\end{document}"/>
  <p:tag name="IGUANATEXSIZE" val="14"/>
  <p:tag name="IGUANATEXCURSOR" val="47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38.3952"/>
  <p:tag name="LATEXADDIN" val="\documentclass{article}&#10;\usepackage{amsmath,bm,eufrak}&#10;\pagestyle{empty}&#10;&#10;\begin{document}&#10;&#10;\begin{equation*}&#10;\mathfrak{p}_{x}&#10;=&#10;\frac{1}{8}&#10;\begin{pmatrix}&#10;0                    \\&#10;0                    \\&#10;0                    \\&#10;0                    \\&#10;0                    \\&#10;0                    \\&#10;0                    \\&#10;0                    \\&#10;1                    \\&#10;1                    \\&#10;1                    \\&#10;1                    \\&#10;0                    \\&#10;0                    \\&#10;\sigma_{1}\sigma_{2} \\&#10;\sigma_{1}\sigma_{2} \\&#10;0                    \\&#10;0                    \\&#10;0                    \\&#10;0                    \\&#10;\sigma_{1}\sigma_{2} \\&#10;\sigma_{1}\sigma_{2} \\&#10;0                    \\&#10;0                    \\&#10;\end{pmatrix}&#10;\end{equation*}&#10;&#10;\end{document}"/>
  <p:tag name="IGUANATEXSIZE" val="14"/>
  <p:tag name="IGUANATEXCURSOR" val="72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35.3956"/>
  <p:tag name="LATEXADDIN" val="\documentclass{article}&#10;\usepackage{amsmath,bm,physics,array,multirow,eufrak}&#10;\pagestyle{empty}&#10;&#10;\newcolumntype{C}{&gt;{$}c&lt;{$}}&#10;&#10;\begin{document}&#10;&#10;\begin{equation*}&#10;\mathfrak{p}_{y}&#10;=&#10;\frac{1}{8}&#10;\begin{pmatrix}&#10;0                    \\&#10;0                    \\&#10;0                    \\&#10;0                    \\&#10;1                    \\&#10;1                    \\&#10;1                    \\&#10;1                    \\&#10;0                    \\&#10;0                    \\&#10;0                    \\&#10;0                    \\&#10;\sigma_{1}\sigma_{2} \\&#10;\sigma_{1}\sigma_{2} \\&#10;0                    \\&#10;0                    \\&#10;0                    \\&#10;0                    \\&#10;\sigma_{1}\sigma_{2} \\&#10;\sigma_{1}\sigma_{2} \\&#10;0                    \\&#10;0                    \\&#10;0                    \\&#10;0                    \\&#10;\end{pmatrix}&#10;\end{equation*}&#10;&#10;\end{document}"/>
  <p:tag name="IGUANATEXSIZE" val="14"/>
  <p:tag name="IGUANATEXCURSOR" val="179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33.8958"/>
  <p:tag name="LATEXADDIN" val="\documentclass{article}&#10;\usepackage{amsmath,bm,physics,array,multirow,eufrak}&#10;\pagestyle{empty}&#10;&#10;\newcolumntype{C}{&gt;{$}c&lt;{$}}&#10;&#10;\begin{document}&#10;&#10;\begin{equation*}&#10;\mathfrak{p}_{z}&#10;=&#10;\frac{1}{8}&#10;\begin{pmatrix}&#10;1                    \\&#10;1                    \\&#10;1                    \\&#10;1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0                    \\&#10;\sigma_{1}\sigma_{2} \\&#10;\sigma_{1}\sigma_{2} \\&#10;0                    \\&#10;0                    \\&#10;0                    \\&#10;0                    \\&#10;\sigma_{1}\sigma_{2} \\&#10;\sigma_{1}\sigma_{2} \\&#10;\end{pmatrix}&#10;\end{equation*}&#10;&#10;\end{document}"/>
  <p:tag name="IGUANATEXSIZE" val="14"/>
  <p:tag name="IGUANATEXCURSOR" val="497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99.363"/>
  <p:tag name="LATEXADDIN" val="\documentclass{article}&#10;\usepackage{amsmath,bm,physics,eufrak}&#10;\pagestyle{empty}&#10;&#10;\begin{document}&#10;&#10;\begin{equation*}&#10;\mathfrak{p}_{A} =&#10;\frac{\phi_{12}}{24}&#10;\begin{pmatrix}&#10;1        \\&#10;1        \\&#10;1        \\&#10;1        \\&#10;\tau^{2} \\&#10;\tau^{2} \\&#10;\tau^{2} \\&#10;\tau^{2} \\&#10;\tau     \\&#10;\tau     \\&#10;\tau     \\&#10;\tau     \\&#10;\sigma_{1}\sigma_{2}\tau^{2} \\&#10;\sigma_{1}\sigma_{2}\tau^{2} \\&#10;\sigma_{1}\sigma_{2}\tau     \\&#10;\sigma_{1}\sigma_{2}\tau     \\&#10;\sigma_{1}\sigma_{2}         \\&#10;\sigma_{1}\sigma_{2}         \\&#10;\sigma_{1}\sigma_{2}\tau^{2} \\&#10;\sigma_{1}\sigma_{2}\tau^{2} \\&#10;\sigma_{1}\sigma_{2}\tau     \\&#10;\sigma_{1}\sigma_{2}\tau     \\&#10;\sigma_{1}\sigma_{2}         \\&#10;\sigma_{1}\sigma_{2}        &#10;\end{pmatrix}&#10;\end{equation*}&#10;&#10;\end{document}"/>
  <p:tag name="IGUANATEXSIZE" val="14"/>
  <p:tag name="IGUANATEXCURSOR" val="728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54.368"/>
  <p:tag name="LATEXADDIN" val="\documentclass{article}&#10;\usepackage{amsmath,bm,physics,eufrak}&#10;\pagestyle{empty}&#10;&#10;\begin{document}&#10;&#10;\begin{equation*}&#10;\mathfrak{p}_{B} =&#10;\frac{\phi_{2}}{12}&#10;\begin{pmatrix}&#10;\tau     \\&#10;\tau     \\&#10;\tau     \\&#10;\tau     \\&#10;1        \\&#10;1        \\&#10;1        \\&#10;1        \\&#10;\tau^{2} \\&#10;\tau^{2} \\&#10;\tau^{2} \\&#10;\tau^{2} \\&#10;\sigma_{1}\sigma_{2}\tau     \\&#10;\sigma_{1}\sigma_{2}\tau     \\&#10;\sigma_{1}\sigma_{2}         \\&#10;\sigma_{1}\sigma_{2}         \\&#10;\sigma_{1}\sigma_{2}\tau^{2} \\&#10;\sigma_{1}\sigma_{2}\tau^{2} \\&#10;\sigma_{1}\sigma_{2}\tau     \\&#10;\sigma_{1}\sigma_{2}\tau     \\&#10;\sigma_{1}\sigma_{2}         \\&#10;\sigma_{1}\sigma_{2}         \\&#10;\sigma_{1}\sigma_{2}\tau^{2} \\&#10;\sigma_{1}\sigma_{2}\tau^{2} \\&#10;\end{pmatrix}&#10;\end{equation*}&#10;&#10;\end{document}"/>
  <p:tag name="IGUANATEXSIZE" val="14"/>
  <p:tag name="IGUANATEXCURSOR" val="155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51.369"/>
  <p:tag name="LATEXADDIN" val="\documentclass{article}&#10;\usepackage{amsmath,bm,physics,eufrak}&#10;\pagestyle{empty}&#10;&#10;\begin{document}&#10;&#10;\begin{equation*}&#10;\mathfrak{p}_{C} =&#10;\frac{\phi_{1}}{12}&#10;\begin{pmatrix}&#10;\tau^{2} \\&#10;\tau^{2} \\&#10;\tau^{2} \\&#10;\tau^{2} \\&#10;\tau     \\&#10;\tau     \\&#10;\tau     \\&#10;\tau     \\&#10;1        \\&#10;1        \\&#10;1        \\&#10;1        \\&#10;\sigma_{1}\sigma_{2}         \\&#10;\sigma_{1}\sigma_{2}         \\&#10;\sigma_{1}\sigma_{2}\tau^{2} \\&#10;\sigma_{1}\sigma_{2}\tau^{2} \\&#10;\sigma_{1}\sigma_{2}\tau     \\&#10;\sigma_{1}\sigma_{2}\tau     \\&#10;\sigma_{1}\sigma_{2}         \\&#10;\sigma_{1}\sigma_{2}         \\&#10;\sigma_{1}\sigma_{2}\tau^{2} \\&#10;\sigma_{1}\sigma_{2}\tau^{2} \\&#10;\sigma_{1}\sigma_{2}\tau     \\&#10;\sigma_{1}\sigma_{2}\tau     \\&#10;\end{pmatrix}&#10;\end{equation*}&#10;&#10;\end{document}"/>
  <p:tag name="IGUANATEXSIZE" val="14"/>
  <p:tag name="IGUANATEXCURSOR" val="155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01.875"/>
  <p:tag name="LATEXADDIN" val="\documentclass{article}&#10;\usepackage{amsmath,bm,eufrak}&#10;\pagestyle{empty}&#10;&#10;\begin{document}&#10;&#10;\begin{equation*}&#10;\mathfrak{p}_{0^\prime}&#10;=&#10;\frac{\phi_{0}}{12}&#10;\begin{pmatrix}&#10;\tau^{2} \\&#10;\tau^{2} \\&#10;\tau^{2} \\&#10;\tau^{2} \\&#10;\tau^{2} \\&#10;\tau^{2} \\&#10;\tau^{2} \\&#10;\tau^{2} \\&#10;\tau^{2} \\&#10;\tau^{2} \\&#10;\tau^{2} \\&#10;\tau^{2} \\&#10;\sigma_{1}\sigma_{2}\tau \\&#10;\sigma_{1}\sigma_{2}\tau \\&#10;\sigma_{1}\sigma_{2}\tau \\&#10;\sigma_{1}\sigma_{2}\tau \\&#10;\sigma_{1}\sigma_{2}\tau \\&#10;\sigma_{1}\sigma_{2}\tau \\&#10;\sigma_{1}\sigma_{2}\tau \\&#10;\sigma_{1}\sigma_{2}\tau \\&#10;\sigma_{1}\sigma_{2}\tau \\&#10;\sigma_{1}\sigma_{2}\tau \\&#10;\sigma_{1}\sigma_{2}\tau \\&#10;\sigma_{1}\sigma_{2}\tau \\&#10;\end{pmatrix}&#10;\end{equation*}&#10;&#10;\end{document}"/>
  <p:tag name="IGUANATEXSIZE" val="14"/>
  <p:tag name="IGUANATEXCURSOR" val="150"/>
  <p:tag name="TRANSPARENCY" val="True"/>
  <p:tag name="FILENAME" val=""/>
  <p:tag name="LATEXENGINEID" val="0"/>
  <p:tag name="TEMPFOLDER" val="c:\temp\"/>
  <p:tag name="LATEXFORMHEIGHT" val="585"/>
  <p:tag name="LATEXFORMWIDTH" val="988.5"/>
  <p:tag name="LATEXFORMWRAP" val="Fals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93.8882"/>
  <p:tag name="LATEXADDIN" val="\documentclass{article}&#10;\usepackage{amsmath,bm,physics,array,multirow,eufrak}&#10;\pagestyle{empty}&#10;&#10;\newcolumntype{C}{&gt;{$}c&lt;{$}}&#10;&#10;\begin{document}&#10;&#10;\begin{equation*}&#10;\mathfrak{p}_{0}&#10;=&#10;\frac{1}{24}&#10;\begin{pmatrix}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1                   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sigma_{1}\sigma_{2} \\&#10;\end{pmatrix}&#10;\end{equation*}&#10;&#10;\end{document}"/>
  <p:tag name="IGUANATEXSIZE" val="14"/>
  <p:tag name="IGUANATEXCURSOR" val="179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66.367"/>
  <p:tag name="LATEXADDIN" val="\documentclass{article}&#10;\usepackage{amsmath,bm,physics,eufrak}&#10;\pagestyle{empty}&#10;&#10;\begin{document}&#10;&#10;\begin{equation*}&#10;\mathfrak{p}_{(xy)}&#10;=&#10;\frac{1}{4}&#10;\begin{pmatrix}&#10;0 \\&#10;0 \\&#10;0 \\&#10;0 \\&#10;&#10;0 \\&#10;0 \\&#10;0 \\&#10;0 \\&#10;&#10;0 \\&#10;0 \\&#10;0 \\&#10;0 \\&#10;&#10;0 \\&#10;0 \\&#10;0 \\&#10;0 \\&#10;\sigma_{1}\sigma_{2} \\&#10;\sigma_{1}\sigma_{2} \\&#10;&#10;0 \\&#10;0 \\&#10;0 \\&#10;0 \\&#10;-\sigma_{1}\sigma_{2} \\&#10;-\sigma_{1}\sigma_{2} \\&#10;\end{pmatrix}&#10;\end{equation*}&#10;&#10;\end{document}"/>
  <p:tag name="IGUANATEXSIZE" val="14"/>
  <p:tag name="IGUANATEXCURSOR" val="151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LATEXADDIN" val="\documentclass{article}&#10;\usepackage{amsmath,bm,physics,eufrak}&#10;\pagestyle{empty}&#10;&#10;\begin{document}&#10;&#10;\begin{equation*}&#10;\mathfrak{p}_{(xz)}&#10;=&#10;\frac{1}{4}&#10;\begin{pmatrix}&#10;0 \\&#10;0 \\&#10;0 \\&#10;0 \\&#10;&#10;1 \\&#10;-1 \\&#10;1 \\&#10;-1 \\&#10;&#10;0 \\&#10;0 \\&#10;0 \\&#10;0 \\&#10;&#10;0 \\&#10;0 \\&#10;0 \\&#10;0 \\&#10;0 \\&#10;0 \\&#10;&#10;0 \\&#10;0 \\&#10;0 \\&#10;0 \\&#10;0 \\&#10;0 \\&#10;\end{pmatrix}&#10;\end{equation*}&#10;&#10;\end{document}"/>
  <p:tag name="IGUANATEXSIZE" val="14"/>
  <p:tag name="IGUANATEXCURSOR" val="140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61.867"/>
  <p:tag name="LATEXADDIN" val="\documentclass{article}&#10;\usepackage{amsmath,bm,physics,eufrak}&#10;\pagestyle{empty}&#10;&#10;\begin{document}&#10;&#10;\begin{equation*}&#10;\mathfrak{p}_{(yz)}&#10;=&#10;\frac{1}{4}&#10;\begin{pmatrix}&#10;0 \\&#10;0 \\&#10;0 \\&#10;0 \\&#10;&#10;0 \\&#10;0 \\&#10;0 \\&#10;0 \\&#10;&#10;0 \\&#10;0 \\&#10;0 \\&#10;0 \\&#10;&#10;0 \\&#10;0 \\&#10;\sigma_{1}\sigma_{2} \\&#10;-\sigma_{1}\sigma_{2} \\&#10;0 \\&#10;0 \\&#10;&#10;0 \\&#10;0 \\&#10;\sigma_{1}\sigma_{2} \\&#10;-\sigma_{1}\sigma_{2} \\&#10;0 \\&#10;0 \\&#10;\end{pmatrix}&#10;\end{equation*}&#10;&#10;\end{document}"/>
  <p:tag name="IGUANATEXSIZE" val="14"/>
  <p:tag name="IGUANATEXCURSOR" val="151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064.867"/>
  <p:tag name="LATEXADDIN" val="\documentclass{article}&#10;\usepackage{amsmath,bm,physics,eufrak}&#10;\pagestyle{empty}&#10;&#10;\begin{document}&#10;&#10;\begin{equation*}&#10;\mathfrak{p}_{(zx)}&#10;=&#10;\frac{1}{4}&#10;\begin{pmatrix}&#10;0 \\&#10;0 \\&#10;0 \\&#10;0 \\&#10;&#10;0 \\&#10;0 \\&#10;0 \\&#10;0 \\&#10;&#10;0 \\&#10;0 \\&#10;0 \\&#10;0 \\&#10;&#10;\sigma_{1}\sigma_{2} \\&#10;-\sigma_{1}\sigma_{2} \\&#10;0 \\&#10;0 \\&#10;0 \\&#10;0 \\&#10;&#10;-\sigma_{1}\sigma_{2} \\&#10;\sigma_{1}\sigma_{2} \\&#10;0 \\&#10;0 \\&#10;0 \\&#10;0 \\&#10;\end{pmatrix}&#10;\end{equation*}&#10;&#10;\end{document}"/>
  <p:tag name="IGUANATEXSIZE" val="14"/>
  <p:tag name="IGUANATEXCURSOR" val="151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5.8905"/>
  <p:tag name="LATEXADDIN" val="\documentclass{article}&#10;\usepackage{amsmath,bm,physics,eufrak}&#10;\pagestyle{empty}&#10;&#10;\begin{document}&#10;&#10;\begin{equation*}&#10;\mathfrak{p}_{(yx)}&#10;=&#10;\frac{1}{4}&#10;\begin{pmatrix}&#10;1 \\&#10;-1 \\&#10;-1 \\&#10;1 \\&#10;&#10;0 \\&#10;0 \\&#10;0 \\&#10;0 \\&#10;&#10;0 \\&#10;0 \\&#10;0 \\&#10;0 \\&#10;&#10;0 \\&#10;0 \\&#10;0 \\&#10;0 \\&#10;0 \\&#10;0 \\&#10;&#10;0 \\&#10;0 \\&#10;0 \\&#10;0 \\&#10;0 \\&#10;0 \\&#10;\end{pmatrix}&#10;\end{equation*}&#10;&#10;\end{document}"/>
  <p:tag name="IGUANATEXSIZE" val="14"/>
  <p:tag name="IGUANATEXCURSOR" val="151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LATEXADDIN" val="\documentclass{article}&#10;\usepackage{amsmath,bm,physics,eufrak}&#10;\pagestyle{empty}&#10;&#10;\begin{document}&#10;&#10;\begin{equation*}&#10;\mathfrak{p}_{(zy)}&#10;=&#10;\frac{1}{4}&#10;\begin{pmatrix}&#10;0 \\&#10;0 \\&#10;0 \\&#10;0 \\&#10;&#10;0 \\&#10;0 \\&#10;0 \\&#10;0 \\&#10;&#10;1 \\&#10;-1 \\&#10;-1 \\&#10;1 \\&#10;&#10;0 \\&#10;0 \\&#10;0 \\&#10;0 \\&#10;0 \\&#10;0 \\&#10;&#10;0 \\&#10;0 \\&#10;0 \\&#10;0 \\&#10;0 \\&#10;0 \\&#10;\end{pmatrix}&#10;\end{equation*}&#10;&#10;\end{document}"/>
  <p:tag name="IGUANATEXSIZE" val="14"/>
  <p:tag name="IGUANATEXCURSOR" val="151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3.843"/>
  <p:tag name="LATEXADDIN" val="\documentclass{article}&#10;\usepackage{amsmath,bm,physics,eufrak}&#10;\pagestyle{empty}&#10;&#10;\begin{document}&#10;&#10;\begin{equation*}&#10;\mathfrak{p}_{(Ax)}&#10;=&#10;\frac{1}{4\sqrt{3}}&#10;\begin{pmatrix}&#10;1  \\&#10;1  \\&#10;-1 \\&#10;-1 \\&#10;0  \\&#10;0  \\&#10;0  \\&#10;0  \\&#10;0  \\&#10;0  \\&#10;0  \\&#10;0  \\&#10;\sigma_{1}\sigma_{2} \\&#10;\sigma_{1}\sigma_{2} \\&#10;0  \\&#10;0  \\&#10;0  \\&#10;0  \\&#10;-\sigma_{1}\sigma_{2} \\&#10;-\sigma_{1}\sigma_{2} \\&#10;0  \\&#10;0  \\&#10;0  \\&#10;0  \\&#10;\end{pmatrix}&#10;\end{equation*}&#10;&#10;\end{document}"/>
  <p:tag name="IGUANATEXSIZE" val="14"/>
  <p:tag name="IGUANATEXCURSOR" val="139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0.844"/>
  <p:tag name="LATEXADDIN" val="\documentclass{article}&#10;\usepackage{amsmath,bm,physics,eufrak}&#10;\pagestyle{empty}&#10;&#10;\begin{document}&#10;&#10;\begin{equation*}&#10;\mathfrak{p}_{(Ay)}&#10;=&#10;\frac{1}{4\sqrt{3}}&#10;\begin{pmatrix}&#10;0  \\&#10;0  \\&#10;0  \\&#10;0  \\&#10;0  \\&#10;0  \\&#10;0  \\&#10;0  \\&#10;1  \\&#10;1  \\&#10;-1 \\&#10;-1 \\&#10;0  \\&#10;0  \\&#10;0  \\&#10;0  \\&#10;\sigma_{1}\sigma_{2} \\&#10;-\sigma_{1}\sigma_{2} \\&#10;0  \\&#10;0  \\&#10;0  \\&#10;0  \\&#10;\sigma_{1}\sigma_{2} \\&#10;-\sigma_{1}\sigma_{2} \\&#10;\end{pmatrix}&#10;\end{equation*}&#10;&#10;\end{document}"/>
  <p:tag name="IGUANATEXSIZE" val="14"/>
  <p:tag name="IGUANATEXCURSOR" val="345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49.344"/>
  <p:tag name="LATEXADDIN" val="\documentclass{article}&#10;\usepackage{amsmath,bm,physics,eufrak}&#10;\pagestyle{empty}&#10;&#10;\begin{document}&#10;&#10;\begin{equation*}&#10;\mathfrak{p}_{(Az)}&#10;=&#10;\frac{1}{4\sqrt{3}}&#10;\begin{pmatrix}&#10;0  \\&#10;0  \\&#10;0  \\&#10;0  \\&#10;1  \\&#10;-1  \\&#10;-1 \\&#10;1 \\&#10;0  \\&#10;0  \\&#10;0  \\&#10;0  \\&#10;0  \\&#10;0  \\&#10;\sigma_{1}\sigma_{2} \\&#10;-\sigma_{1}\sigma_{2} \\&#10;0  \\&#10;0  \\&#10;0  \\&#10;0  \\&#10;-\sigma_{1}\sigma_{2} \\&#10;\sigma_{1}\sigma_{2} \\&#10;0  \\&#10;0  \\&#10;\end{pmatrix}&#10;\end{equation*}&#10;&#10;\end{document}"/>
  <p:tag name="IGUANATEXSIZE" val="14"/>
  <p:tag name="IGUANATEXCURSOR" val="334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3.843"/>
  <p:tag name="LATEXADDIN" val="\documentclass{article}&#10;\usepackage{amsmath,bm,physics,eufrak}&#10;\pagestyle{empty}&#10;&#10;\begin{document}&#10;&#10;\begin{equation*}&#10;\mathfrak{p}_{(xA)}&#10;=&#10;\frac{1}{4\sqrt{3}}&#10;\begin{pmatrix}&#10;0  \\&#10;0  \\&#10;0  \\&#10;0  \\&#10;1  \\&#10;1  \\&#10;-1 \\&#10;-1 \\&#10;0  \\&#10;0  \\&#10;0  \\&#10;0  \\&#10;0  \\&#10;0  \\&#10;0  \\&#10;0  \\&#10;\sigma_{1}\sigma_{2} \\&#10;-\sigma_{1}\sigma_{2} \\&#10;0  \\&#10;0  \\&#10;0  \\&#10;0  \\&#10;-\sigma_{1}\sigma_{2} \\&#10;\sigma_{1}\sigma_{2} \\&#10;\end{pmatrix}&#10;\end{equation*}&#10;&#10;\end{document}"/>
  <p:tag name="IGUANATEXSIZE" val="14"/>
  <p:tag name="IGUANATEXCURSOR" val="297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0.844"/>
  <p:tag name="LATEXADDIN" val="\documentclass{article}&#10;\usepackage{amsmath,bm,physics,eufrak}&#10;\pagestyle{empty}&#10;&#10;\begin{document}&#10;&#10;\begin{equation*}&#10;\mathfrak{p}_{(yA)}&#10;=&#10;\frac{1}{4\sqrt{3}}&#10;\begin{pmatrix}&#10;1  \\&#10;-1  \\&#10;1 \\&#10;-1 \\&#10;&#10;0  \\&#10;0  \\&#10;0  \\&#10;0  \\&#10;&#10;0  \\&#10;0  \\&#10;0  \\&#10;0  \\&#10;&#10;0  \\&#10;0  \\&#10;\sigma_{1}\sigma_{2} \\&#10;\sigma_{1}\sigma_{2} \\&#10;0  \\&#10;0  \\&#10;&#10;0  \\&#10;0  \\&#10;-\sigma_{1}\sigma_{2} \\&#10;-\sigma_{1}\sigma_{2} \\&#10;0  \\&#10;0  \\&#10;\end{pmatrix}&#10;\end{equation*}&#10;&#10;\end{document}"/>
  <p:tag name="IGUANATEXSIZE" val="14"/>
  <p:tag name="IGUANATEXCURSOR" val="287"/>
  <p:tag name="TRANSPARENCY" val="Tru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49.344"/>
  <p:tag name="LATEXADDIN" val="\documentclass{article}&#10;\usepackage{amsmath,bm,physics,eufrak}&#10;\pagestyle{empty}&#10;&#10;\begin{document}&#10;&#10;\begin{equation*}&#10;\mathfrak{p}_{(zA)}&#10;=&#10;\frac{1}{4\sqrt{3}}&#10;\begin{pmatrix}&#10;0  \\&#10;0  \\&#10;0  \\&#10;0  \\&#10;&#10;0  \\&#10;0  \\&#10;0  \\&#10;0  \\&#10;&#10;1  \\&#10;-1  \\&#10;1 \\&#10;-1 \\&#10;&#10;\sigma_{1}\sigma_{2} \\&#10;-\sigma_{1}\sigma_{2} \\&#10;0  \\&#10;0  \\&#10;0  \\&#10;0  \\&#10;&#10;\sigma_{1}\sigma_{2} \\&#10;-\sigma_{1}\sigma_{2} \\&#10;0  \\&#10;0  \\&#10;0  \\&#10;0  \\&#10;\end{pmatrix}&#10;\end{equation*}&#10;&#10;\end{document}"/>
  <p:tag name="IGUANATEXSIZE" val="14"/>
  <p:tag name="IGUANATEXCURSOR" val="350"/>
  <p:tag name="TRANSPARENCY" val="False"/>
  <p:tag name="FILENAME" val=""/>
  <p:tag name="LATEXENGINEID" val="0"/>
  <p:tag name="TEMPFOLDER" val="D:\Temp\"/>
  <p:tag name="LATEXFORMHEIGHT" val="536.25"/>
  <p:tag name="LATEXFORMWIDTH" val="988.5"/>
  <p:tag name="LATEXFORMWRAP" val="Fals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6.843"/>
  <p:tag name="LATEXADDIN" val="\documentclass{article}&#10;\usepackage{amsmath,bm,physics,eufrak}&#10;\pagestyle{empty}&#10;&#10;\begin{document}&#10;&#10;\begin{equation*}&#10;\mathfrak{p}_{(Ex)}&#10;=&#10;\frac{\phi_{1}}{4\sqrt{3}}&#10;\begin{pmatrix}&#10;\tau^{2} \\&#10;\tau^{2}  \\&#10;-\tau^{2} \\&#10;-\tau^{2} \\&#10;0  \\&#10;0  \\&#10;0  \\&#10;0  \\&#10;0  \\&#10;0  \\&#10;0  \\&#10;0  \\&#10;\sigma_{1}\sigma_{2} \\&#10;\sigma_{1}\sigma_{2} \\&#10;0  \\&#10;0  \\&#10;0  \\&#10;0  \\&#10;-\sigma_{1}\sigma_{2} \\&#10;-\sigma_{1}\sigma_{2} \\&#10;0  \\&#10;0  \\&#10;0  \\&#10;0  \\&#10;\end{pmatrix}&#10;\end{equation*}&#10;&#10;\end{document}"/>
  <p:tag name="IGUANATEXSIZE" val="14"/>
  <p:tag name="IGUANATEXCURSOR" val="146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322.835"/>
  <p:tag name="LATEXADDIN" val="\documentclass{article}&#10;\usepackage{amsmath,bm,physics,eufrak}&#10;\pagestyle{empty}&#10;&#10;\begin{document}&#10;&#10;\begin{equation*}&#10;\mathfrak{p}_{(Ey)}&#10;=&#10;\frac{\phi_{1}}{4\sqrt{3}}&#10;\begin{pmatrix}&#10;0  \\&#10;0  \\&#10;0  \\&#10;0  \\&#10;0  \\&#10;0  \\&#10;0  \\&#10;0  \\&#10;1 \\&#10;1 \\&#10;-1 \\&#10;-1 \\&#10;0  \\&#10;0  \\&#10;0  \\&#10;0  \\&#10;\sigma_{1}\sigma_{2}\tau \\&#10;-\sigma_{1}\sigma_{2}\tau \\&#10;0  \\&#10;0  \\&#10;0  \\&#10;0  \\&#10;\sigma_{1}\sigma_{2}\tau \\&#10;-\sigma_{1}\sigma_{2}\tau \\&#10;\end{pmatrix}&#10;\end{equation*}&#10;&#10;\end{document}"/>
  <p:tag name="IGUANATEXSIZE" val="14"/>
  <p:tag name="IGUANATEXCURSOR" val="154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376.828"/>
  <p:tag name="LATEXADDIN" val="\documentclass{article}&#10;\usepackage{amsmath,bm,physics,eufrak}&#10;\pagestyle{empty}&#10;&#10;\begin{document}&#10;&#10;\begin{equation*}&#10;\mathfrak{p}_{(Ez)}&#10;=&#10;\frac{\phi_{1}}{4\sqrt{3}}&#10;\begin{pmatrix}&#10;0  \\&#10;0  \\&#10;0  \\&#10;0  \\&#10;\tau \\&#10;-\tau \\&#10;-\tau \\&#10;\tau \\&#10;0  \\&#10;0  \\&#10;0  \\&#10;0  \\&#10;0  \\&#10;0  \\&#10;\sigma_{1}\sigma_{2}\tau^{2} \\&#10;-\sigma_{1}\sigma_{2}\tau^{2} \\&#10;0  \\&#10;0  \\&#10;0  \\&#10;0  \\&#10;-\sigma_{1}\sigma_{2}\tau^{2} \\&#10;\sigma_{1}\sigma_{2}\tau^{2} \\&#10;0  \\&#10;0  \\&#10;\end{pmatrix}&#10;\end{equation*}&#10;&#10;\end{document}"/>
  <p:tag name="IGUANATEXSIZE" val="14"/>
  <p:tag name="IGUANATEXCURSOR" val="154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381.327"/>
  <p:tag name="LATEXADDIN" val="\documentclass{article}&#10;\usepackage{amsmath,bm,physics,eufrak}&#10;\pagestyle{empty}&#10;&#10;\begin{document}&#10;&#10;\begin{equation*}&#10;\mathfrak{p}_{(xE)}&#10;=&#10;\frac{\phi_{2}}{4\sqrt{3}}&#10;\begin{pmatrix}&#10;0  \\&#10;0  \\&#10;0  \\&#10;0  \\&#10;1 \\&#10;1 \\&#10;-1 \\&#10;-1 \\&#10;0  \\&#10;0  \\&#10;0  \\&#10;0  \\&#10;0  \\&#10;0  \\&#10;0  \\&#10;0  \\&#10;\sigma_{1}\sigma_{2}\tau^{2} \\&#10;-\sigma_{1}\sigma_{2}\tau^{2} \\&#10;0  \\&#10;0  \\&#10;0  \\&#10;0  \\&#10;-\sigma_{1}\sigma_{2}\tau^{2} \\&#10;\sigma_{1}\sigma_{2}\tau^{2} \\&#10;\end{pmatrix}&#10;\end{equation*}&#10;&#10;\end{document}"/>
  <p:tag name="IGUANATEXSIZE" val="14"/>
  <p:tag name="IGUANATEXCURSOR" val="146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253.843"/>
  <p:tag name="LATEXADDIN" val="\documentclass{article}&#10;\usepackage{amsmath,bm,physics,eufrak}&#10;\pagestyle{empty}&#10;&#10;\begin{document}&#10;&#10;\begin{equation*}&#10;\mathfrak{p}_{(yE)}&#10;=&#10;\frac{\phi_{2}}{4\sqrt{3}}&#10;\begin{pmatrix}&#10;\tau  \\&#10;-\tau  \\&#10;\tau \\&#10;-\tau \\&#10;&#10;0  \\&#10;0  \\&#10;0  \\&#10;0  \\&#10;&#10;0  \\&#10;0  \\&#10;0  \\&#10;0  \\&#10;&#10;0  \\&#10;0  \\&#10;\sigma_{1}\sigma_{2} \\&#10;\sigma_{1}\sigma_{2} \\&#10;0  \\&#10;0  \\&#10;&#10;0  \\&#10;0  \\&#10;-\sigma_{1}\sigma_{2} \\&#10;-\sigma_{1}\sigma_{2} \\&#10;0  \\&#10;0  \\&#10;\end{pmatrix}&#10;\end{equation*}&#10;&#10;\end{document}"/>
  <p:tag name="IGUANATEXSIZE" val="14"/>
  <p:tag name="IGUANATEXCURSOR" val="154"/>
  <p:tag name="TRANSPARENCY" val="Tru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1319.835"/>
  <p:tag name="LATEXADDIN" val="\documentclass{article}&#10;\usepackage{amsmath,bm,physics,eufrak}&#10;\pagestyle{empty}&#10;&#10;\begin{document}&#10;&#10;\begin{equation*}&#10;\mathfrak{p}_{(zE)}&#10;=&#10;\frac{\phi_{2}}{4\sqrt{3}}&#10;\begin{pmatrix}&#10;0  \\&#10;0  \\&#10;0  \\&#10;0  \\&#10;&#10;0  \\&#10;0  \\&#10;0  \\&#10;0  \\&#10;&#10;\tau^{2} \\&#10;-\tau^{2} \\&#10;\tau^{2} \\&#10;-\tau^{2} \\&#10;&#10;\sigma_{1}\sigma_{2}\tau \\&#10;-\sigma_{1}\sigma_{2}\tau \\&#10;0  \\&#10;0  \\&#10;0  \\&#10;0  \\&#10;&#10;\sigma_{1}\sigma_{2}\tau \\&#10;-\sigma_{1}\sigma_{2}\tau \\&#10;0  \\&#10;0  \\&#10;0  \\&#10;0  \\&#10;\end{pmatrix}&#10;\end{equation*}&#10;&#10;\end{document}"/>
  <p:tag name="IGUANATEXSIZE" val="14"/>
  <p:tag name="IGUANATEXCURSOR" val="154"/>
  <p:tag name="TRANSPARENCY" val="False"/>
  <p:tag name="FILENAME" val=""/>
  <p:tag name="LATEXENGINEID" val="0"/>
  <p:tag name="TEMPFOLDER" val="c:\temp\"/>
  <p:tag name="LATEXFORMHEIGHT" val="536.25"/>
  <p:tag name="LATEXFORMWIDTH" val="988.5"/>
  <p:tag name="LATEXFORMWRAP" val="Fals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78.478"/>
  <p:tag name="ORIGINALWIDTH" val="3009.374"/>
  <p:tag name="OUTPUTTYPE" val="PNG"/>
  <p:tag name="IGUANATEXVERSION" val="159"/>
  <p:tag name="LATEXADDIN" val="\documentclass{article}&#10;\usepackage{amsmath,bm,eufrak}&#10;\pagestyle{empty}&#10;\begin{document}&#10;&#10;\begin{align*}&#10;V^{\left(\mathcal{W}\right)_{01}}_{\parallel\slash\perp}&#10;&amp; =&#10;\sum_{\hat{P} \in T_{d}}&#10;\left(\mathfrak{p}_{\parallel\slash\perp}^{\left(\mathcal{W}\right)_{01}}\right)_{\hat{P}}&#10;U_{\hat{P}}&#10;\\&#10;&amp; =&#10;\sum_{j \in \Gamma\left(T_{d}\right)}&#10;\sum_{\kappa = 1}^{l_{j}}&#10;\sum_{\hat{P} \in T_{d}}&#10;\left(\mathfrak{p}_{\parallel\slash\perp}^{\left(\mathcal{W}\right)_{01}}\right)_{\hat{P}}&#10;\left(U^{(j)}_{\kappa\kappa}\right)_{\hat{P}}&#10;\\&#10;&amp; =&#10;\sum_{j \in \Gamma\left(T_{d}\right)}&#10;\sum_{\kappa = 1}^{l_{j}}&#10;\sum_{\mu = 1}^{l_{j}}&#10;\sum_{\hat{P} \in T_{d}}&#10;\left(\mathfrak{p}_{\parallel\slash\perp}^{\left(\mathcal{W}\right)_{01}}\right)_{\hat{P}}&#10;\left(\Gamma_{\hat{P}}^{(j)}\right)_{\mu\kappa}&#10;U^{(j)}_{\mu\kappa}&#10;\\&#10;&amp; =&#10;\sum_{j \in \Gamma\left(T_{d}\right)}&#10;\sum_{\kappa = 1}^{l_{j}}&#10;\sum_{\mu = 1}^{l_{j}}&#10;\mathfrak{q}_{\parallel\slash\perp,\mu\kappa}^{(j)\left(\mathcal{W}\right)_{01}}&#10;U^{(j)}_{\mu\kappa}&#10;\\&#10;\mathfrak{q}_{\parallel\slash\perp,\mu\kappa}^{(j)\left(\mathcal{W}\right)_{01}}&#10;&amp; =&#10;\sum_{\hat{P} \in T_{d}}&#10;\left(\mathfrak{p}_{\parallel\slash\perp}^{\left(\mathcal{W}\right)_{01}}\right)_{\hat{P}}&#10;\left(\Gamma_{\hat{P}}^{(j)}\right)_{\mu\kappa}&#10;\end{align*}&#10;&#10;\end{document}"/>
  <p:tag name="IGUANATEXSIZE" val="20"/>
  <p:tag name="IGUANATEXCURSOR" val="11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2.089"/>
  <p:tag name="ORIGINALWIDTH" val="1679.79"/>
  <p:tag name="OUTPUTTYPE" val="PNG"/>
  <p:tag name="IGUANATEXVERSION" val="159"/>
  <p:tag name="LATEXADDIN" val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left(U^{(j)}_{\lambda\kappa}\right)_{\hat{P}}&#10;&amp;=&#10;\sum_{\mu = 1}^{l_{j}}&#10;\left(\Gamma_{\hat{P}}^{(j)}\right)_{\mu\lambda}&#10;U^{(j)}_{\mu\kappa}&#10;\\&#10;\end{align*}&#10;&#10;\end{document}"/>
  <p:tag name="IGUANATEXSIZE" val="20"/>
  <p:tag name="IGUANATEXCURSOR" val="43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725.159"/>
  <p:tag name="LATEXADDIN" val="\documentclass{article}&#10;\usepackage{amsmath,bm,eufrak}&#10;\pagestyle{empty}&#10;\begin{document}&#10;&#10;\setcounter{MaxMatrixCols}{15}&#10;&#10;\begin{align*}&#10;\mathfrak{q}_{\parallel}^{\left(A_{1}\right)}&#10;&amp; =&#10;\begin{pmatrix}&#10;1 &amp; 0 &amp; 0 &amp; 0 &amp; 0 &amp; 0 &amp; 0 &amp; 0 &amp; 0 &amp; 0 &amp; 0 &amp; 0 \\&#10;0 &amp; 1 &amp; 0 &amp; 0 &amp; 0 &amp; 0 &amp; 0 &amp; 0 &amp; 0 &amp; 0 &amp; 0 &amp; 0 \\&#10;0 &amp; 0 &amp; 1 &amp; 0 &amp; 0 &amp; 0 &amp; 0 &amp; 0 &amp; 0 &amp; 0 &amp; 0 &amp; 0 \\&#10;0 &amp; 0 &amp; 0 &amp; 1 &amp; 0 &amp; 0 &amp; 0 &amp; 0 &amp; 0 &amp; 0 &amp; 0 &amp; 0 \\&#10;0 &amp; 0 &amp; 0 &amp; 0 &amp; 1 &amp; 0 &amp; 0 &amp; 0 &amp; 0 &amp; 0 &amp; 0 &amp; 0 \\&#10;0 &amp; 0 &amp; 0 &amp; 0 &amp; 0 &amp; 1 &amp; 0 &amp; 0 &amp; 0 &amp; 0 &amp; 0 &amp; 0 \\&#10;0 &amp; 0 &amp; 0 &amp; 0 &amp; 0 &amp; 0 &amp; 1 &amp; 0 &amp; 0 &amp; 0 &amp; 0 &amp; 0 \\&#10;0 &amp; 0 &amp; 0 &amp; 0 &amp; 0 &amp; 0 &amp; 0 &amp; 1 &amp; 0 &amp; 0 &amp; 0 &amp; 0 \\&#10;0 &amp; 0 &amp; 0 &amp; 0 &amp; 0 &amp; 0 &amp; 0 &amp; 0 &amp; 1 &amp; 0 &amp; 0 &amp; 0 \\&#10;0 &amp; 0 &amp; 0 &amp; 0 &amp; 0 &amp; 0 &amp; 0 &amp; 0 &amp; 0 &amp; 1 &amp; 0 &amp; 0 \\&#10;0 &amp; 0 &amp; 0 &amp; 0 &amp; 0 &amp; 0 &amp; 0 &amp; 0 &amp; 0 &amp; 0 &amp; 1 &amp; 0 \\&#10;0 &amp; 0 &amp; 0 &amp; 0 &amp; 0 &amp; 0 &amp; 0 &amp; 0 &amp; 0 &amp; 0 &amp; 0 &amp; 1 \\&#10;\end{pmatrix}&#10;\\&#10;\end{align*}&#10;&#10;\end{document}"/>
  <p:tag name="IGUANATEXSIZE" val="14"/>
  <p:tag name="IGUANATEXCURSOR" val="805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334.083"/>
  <p:tag name="LATEXADDIN" val="\documentclass{article}&#10;\usepackage{amsmath,bm,eufrak}&#10;\pagestyle{empty}&#10;\begin{document}&#10;&#10;\setcounter{MaxMatrixCols}{15}&#10;&#10;\begin{align*}&#10;\mathfrak{q}_{\perp}^{\left(A_{1}\right)}&#10;&amp; =&#10;\begin{pmatrix}&#10;2 &amp; 0 &amp; 0         &amp; 0        &amp; 0         &amp; 0        &amp; 0 &amp; 0 &amp; 0 &amp; 0 &amp; 0 &amp; 0 \\&#10;0 &amp; 2 &amp; 0         &amp; 0        &amp; 0         &amp; 0        &amp; 0 &amp; 0 &amp; 0 &amp; 0 &amp; 0 &amp; 0 \\&#10;0 &amp; 0 &amp; -1        &amp; \sqrt{3} &amp; 0         &amp; 0        &amp; 0 &amp; 0 &amp; 0 &amp; 0 &amp; 0 &amp; 0 \\&#10;0 &amp; 0 &amp; -\sqrt{3} &amp; -1       &amp; 0         &amp; 0        &amp; 0 &amp; 0 &amp; 0 &amp; 0 &amp; 0 &amp; 0 \\&#10;0 &amp; 0 &amp; 0         &amp; 0        &amp; -1        &amp; \sqrt{3} &amp; 0 &amp; 0 &amp; 0 &amp; 0 &amp; 0 &amp; 0 \\&#10;0 &amp; 0 &amp; 0         &amp; 0        &amp; -\sqrt{3} &amp; -1       &amp; 0 &amp; 0 &amp; 0 &amp; 0 &amp; 0 &amp; 0 \\&#10;0 &amp; 0 &amp; 0         &amp; 0        &amp; 0         &amp; 0        &amp; 0 &amp; 0 &amp; 0 &amp; 0 &amp; 0 &amp; 0 \\&#10;0 &amp; 0 &amp; 0         &amp; 0        &amp; 0         &amp; 0        &amp; 0 &amp; 0 &amp; 0 &amp; 0 &amp; 0 &amp; 0 \\&#10;0 &amp; 0 &amp; 0         &amp; 0        &amp; 0         &amp; 0        &amp; 0 &amp; 0 &amp; 0 &amp; 0 &amp; 0 &amp; 0 \\&#10;0 &amp; 0 &amp; 0         &amp; 0        &amp; 0         &amp; 0        &amp; 0 &amp; 0 &amp; 0 &amp; 0 &amp; 0 &amp; 0 \\&#10;0 &amp; 0 &amp; 0         &amp; 0        &amp; 0         &amp; 0        &amp; 0 &amp; 0 &amp; 0 &amp; 0 &amp; 0 &amp; 0 \\&#10;0 &amp; 0 &amp; 0         &amp; 0        &amp; 0         &amp; 0        &amp; 0 &amp; 0 &amp; 0 &amp; 0 &amp; 0 &amp; 0 \\&#10;\end{pmatrix}&#10;\\&#10;\end{align*}&#10;&#10;\end{document}"/>
  <p:tag name="IGUANATEXSIZE" val="14"/>
  <p:tag name="IGUANATEXCURSOR" val="116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863.142"/>
  <p:tag name="LATEXADDIN" val="\documentclass{article}&#10;\usepackage{amsmath,bm,eufrak}&#10;\pagestyle{empty}&#10;\begin{document}&#10;&#10;\setcounter{MaxMatrixCols}{15}&#10;&#10;\begin{align*}&#10;\mathfrak{q}_{\parallel}^{\left(A_{2}\right)}&#10;&amp; =&#10;\begin{pmatrix}&#10;0 &amp; 1 &amp; 0           &amp; 0          &amp; 0          &amp; 0           &amp; 0 &amp; 0 &amp; 0 &amp; 0 &amp; 0 &amp; 0 \\&#10;1 &amp; 0 &amp; 0           &amp; 0          &amp; 0          &amp; 0           &amp; 0 &amp; 0 &amp; 0 &amp; 0 &amp; 0 &amp; 0 \\&#10;0 &amp; 0 &amp; 0           &amp; \mathrm{i} &amp; 0          &amp; 0           &amp; 0 &amp; 0 &amp; 0 &amp; 0 &amp; 0 &amp; 0 \\&#10;0 &amp; 0 &amp; -\mathrm{i} &amp; 0          &amp; 0          &amp; 0           &amp; 0 &amp; 0 &amp; 0 &amp; 0 &amp; 0 &amp; 0 \\&#10;0 &amp; 0 &amp; 0           &amp; 0          &amp; 0          &amp; -\mathrm{i} &amp; 0 &amp; 0 &amp; 0 &amp; 0 &amp; 0 &amp; 0 \\&#10;0 &amp; 0 &amp; 0           &amp; 0          &amp; \mathrm{i} &amp; 0           &amp; 0 &amp; 0 &amp; 0 &amp; 0 &amp; 0 &amp; 0 \\&#10;0 &amp; 0 &amp; 0           &amp; 0          &amp; 0          &amp; 0           &amp; 0 &amp; 0 &amp; 0 &amp; 1 &amp; 0 &amp; 0 \\&#10;0 &amp; 0 &amp; 0           &amp; 0          &amp; 0          &amp; 0           &amp; 0 &amp; 0 &amp; 0 &amp; 0 &amp; 1 &amp; 0 \\&#10;0 &amp; 0 &amp; 0           &amp; 0          &amp; 0          &amp; 0           &amp; 0 &amp; 0 &amp; 0 &amp; 0 &amp; 0 &amp; 1 \\&#10;0 &amp; 0 &amp; 0           &amp; 0          &amp; 0          &amp; 0           &amp; 1 &amp; 0 &amp; 0 &amp; 0 &amp; 0 &amp; 0 \\&#10;0 &amp; 0 &amp; 0           &amp; 0          &amp; 0          &amp; 0           &amp; 0 &amp; 1 &amp; 0 &amp; 0 &amp; 0 &amp; 0 \\&#10;0 &amp; 0 &amp; 0           &amp; 0          &amp; 0          &amp; 0           &amp; 0 &amp; 0 &amp; 1 &amp; 0 &amp; 0 &amp; 0 \\&#10;\end{pmatrix}&#10;\\&#10;\end{align*}&#10;&#10;\end{document}"/>
  <p:tag name="IGUANATEXSIZE" val="14"/>
  <p:tag name="IGUANATEXCURSOR" val="126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72.066"/>
  <p:tag name="LATEXADDIN" val="\documentclass{article}&#10;\usepackage{amsmath,bm,eufrak}&#10;\pagestyle{empty}&#10;\begin{document}&#10;&#10;\setcounter{MaxMatrixCols}{15}&#10;&#10;\begin{align*}&#10;\mathfrak{q}_{\perp}^{\left(A_{2}\right)}&#10;&amp; =&#10;\begin{pmatrix}&#10;0 &amp; 2 &amp; 0                   &amp; 0                   &amp; 0                  &amp; 0                  &amp; 0 &amp; 0 &amp; 0 &amp; 0 &amp; 0 &amp; 0 \\&#10;2 &amp; 0 &amp; 0                   &amp; 0                   &amp; 0                  &amp; 0                  &amp; 0 &amp; 0 &amp; 0 &amp; 0 &amp; 0 &amp; 0 \\&#10;0 &amp; 0 &amp; -\mathrm{i}\sqrt{3} &amp; -\mathrm{i}         &amp; 0                  &amp; 0                  &amp; 0 &amp; 0 &amp; 0 &amp; 0 &amp; 0 &amp; 0 \\&#10;0 &amp; 0 &amp; \mathrm{i}          &amp; -\mathrm{i}\sqrt{3} &amp; 0                  &amp; 0                  &amp; 0 &amp; 0 &amp; 0 &amp; 0 &amp; 0 &amp; 0 \\&#10;0 &amp; 0 &amp; 0                   &amp; 0                   &amp; \mathrm{i}\sqrt{3} &amp; \mathrm{i}         &amp; 0 &amp; 0 &amp; 0 &amp; 0 &amp; 0 &amp; 0 \\&#10;0 &amp; 0 &amp; 0                   &amp; 0                   &amp; -\mathrm{i}        &amp; \mathrm{i}\sqrt{3} &amp; 0 &amp; 0 &amp; 0 &amp; 0 &amp; 0 &amp; 0 \\&#10;0 &amp; 0 &amp; 0                   &amp; 0                   &amp; 0                  &amp; 0                  &amp; 0 &amp; 0 &amp; 0 &amp; 0 &amp; 0 &amp; 0 \\&#10;0 &amp; 0 &amp; 0                   &amp; 0                   &amp; 0                  &amp; 0                  &amp; 0 &amp; 0 &amp; 0 &amp; 0 &amp; 0 &amp; 0 \\&#10;0 &amp; 0 &amp; 0                   &amp; 0                   &amp; 0                  &amp; 0                  &amp; 0 &amp; 0 &amp; 0 &amp; 0 &amp; 0 &amp; 0 \\&#10;0 &amp; 0 &amp; 0                   &amp; 0                   &amp; 0                  &amp; 0                  &amp; 0 &amp; 0 &amp; 0 &amp; 0 &amp; 0 &amp; 0 \\&#10;0 &amp; 0 &amp; 0                   &amp; 0                   &amp; 0                  &amp; 0                  &amp; 0 &amp; 0 &amp; 0 &amp; 0 &amp; 0 &amp; 0 \\&#10;0 &amp; 0 &amp; 0                   &amp; 0                   &amp; 0                  &amp; 0                  &amp; 0 &amp; 0 &amp; 0 &amp; 0 &amp; 0 &amp; 0 \\&#10;\end{pmatrix}&#10;\\&#10;\end{align*}&#10;&#10;\end{document}"/>
  <p:tag name="IGUANATEXSIZE" val="14"/>
  <p:tag name="IGUANATEXCURSOR" val="164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257.593"/>
  <p:tag name="LATEXADDIN" val="\documentclass{article}&#10;\usepackage{amsmath,bm,eufrak}&#10;\pagestyle{empty}&#10;\begin{document}&#10;&#10;\setcounter{MaxMatrixCols}{15}&#10;&#10;\begin{align*}&#10;\mathfrak{q}_{\parallel,11}^{\left(E\right)}&#10;&amp; =&#10;\frac{1}{2}&#10;\begin{pmatrix}&#10; 0          &amp;  0          &amp;  0          &amp;  0          &amp;  1          &amp; -\mathrm{i} &amp; 0     &amp; 0         &amp; 0  &amp; 0     &amp; 0         &amp; 0  \\&#10; 0          &amp;  0          &amp;  0          &amp;  0          &amp;  1          &amp; -\mathrm{i} &amp; 0     &amp; 0         &amp; 0  &amp; 0     &amp; 0         &amp; 0  \\&#10; 1          &amp;  1          &amp;  0          &amp;  0          &amp;  0          &amp; 0           &amp; 0     &amp; 0         &amp; 0  &amp; 0     &amp; 0         &amp; 0  \\&#10;-\mathrm{i} &amp; -\mathrm{i} &amp;  0          &amp;  0          &amp;  0          &amp; 0           &amp; 0     &amp; 0         &amp; 0  &amp; 0     &amp; 0         &amp; 0  \\&#10; 0          &amp;  0          &amp;  1          &amp;  \mathrm{i} &amp;  0          &amp; 0           &amp; 0     &amp; 0         &amp; 0  &amp; 0     &amp; 0         &amp; 0  \\&#10; 0          &amp;  0          &amp;  \mathrm{i} &amp; -1          &amp;  0          &amp; 0           &amp; 0     &amp; 0         &amp; 0  &amp; 0     &amp; 0         &amp; 0  \\&#10; 0          &amp;  0          &amp;  0          &amp;  0          &amp;  0          &amp; 0           &amp;  \tau &amp; 0         &amp; 0  &amp;  \tau &amp; 0         &amp; 0  \\&#10; 0          &amp;  0          &amp;  0          &amp;  0          &amp;  0          &amp; 0           &amp; 0     &amp;  \tau^{2} &amp; 0  &amp; 0     &amp;  \tau^{2} &amp; 0  \\&#10; 0          &amp;  0          &amp;  0          &amp;  0          &amp;  0          &amp; 0           &amp; 0     &amp; 0         &amp;  1 &amp; 0     &amp; 0         &amp;  1 \\&#10; 0          &amp;  0          &amp;  0          &amp;  0          &amp;  0          &amp; 0           &amp;  \tau &amp; 0         &amp; 0  &amp;  \tau &amp; 0         &amp; 0  \\&#10; 0          &amp;  0          &amp;  0          &amp;  0          &amp;  0          &amp; 0           &amp; 0     &amp;  \tau^{2} &amp; 0  &amp; 0     &amp;  \tau^{2} &amp; 0  \\&#10; 0          &amp;  0          &amp;  0          &amp;  0          &amp;  0          &amp; 0           &amp; 0     &amp; 0         &amp;  1 &amp; 0     &amp; 0         &amp;  1 \\&#10;\end{pmatrix}&#10;\\&#10;\end{align*}&#10;&#10;\end{document}"/>
  <p:tag name="IGUANATEXSIZE" val="14"/>
  <p:tag name="IGUANATEXCURSOR" val="1848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964.004"/>
  <p:tag name="LATEXADDIN" val="\documentclass{article}&#10;\usepackage{amsmath,bm,eufrak}&#10;\pagestyle{empty}&#10;\begin{document}&#10;&#10;\setcounter{MaxMatrixCols}{15}&#10;&#10;\begin{align*}&#10;\mathfrak{q}_{\parallel,21}^{\left(E\right)}&#10;&amp; =&#10;\frac{1}{2}&#10;\begin{pmatrix}&#10;0           &amp; 0           &amp; 0           &amp; 0           &amp;  1          &amp;  \mathrm{i} &amp; 0     &amp; 0         &amp; 0  &amp; 0     &amp; 0         &amp; 0  \\&#10;0           &amp; 0           &amp; 0           &amp; 0           &amp; -1          &amp; -\mathrm{i} &amp; 0     &amp; 0         &amp; 0  &amp; 0     &amp; 0         &amp; 0  \\&#10; 1          &amp; -1          &amp; 0           &amp; 0           &amp; 0           &amp; 0           &amp; 0     &amp; 0         &amp; 0  &amp; 0     &amp; 0         &amp; 0  \\&#10; \mathrm{i} &amp; -\mathrm{i} &amp; 0           &amp; 0           &amp; 0           &amp; 0           &amp; 0     &amp; 0         &amp; 0  &amp; 0     &amp; 0         &amp; 0  \\&#10;0           &amp; 0           &amp; 1           &amp; -\mathrm{i} &amp; 0           &amp; 0           &amp; 0     &amp; 0         &amp; 0  &amp; 0     &amp; 0         &amp; 0  \\&#10;0           &amp; 0           &amp; -\mathrm{i} &amp; -1          &amp; 0           &amp; 0           &amp; 0     &amp; 0         &amp; 0  &amp; 0     &amp; 0         &amp; 0  \\&#10;0           &amp; 0           &amp; 0           &amp; 0           &amp; 0           &amp; 0           &amp;  \tau &amp; 0         &amp; 0  &amp; -\tau &amp; 0         &amp; 0  \\&#10;0           &amp; 0           &amp; 0           &amp; 0           &amp; 0           &amp; 0           &amp; 0     &amp;  \tau^{2} &amp; 0  &amp; 0     &amp; -\tau^{2} &amp; 0  \\&#10;0           &amp; 0           &amp; 0           &amp; 0           &amp; 0           &amp; 0           &amp; 0     &amp; 0         &amp;  1 &amp; 0     &amp; 0         &amp; -1 \\&#10;0           &amp; 0           &amp; 0           &amp; 0           &amp; 0           &amp; 0           &amp; -\tau &amp; 0         &amp; 0  &amp;  \tau &amp; 0         &amp; 0  \\&#10;0           &amp; 0           &amp; 0           &amp; 0           &amp; 0           &amp; 0           &amp; 0     &amp; -\tau^{2} &amp; 0  &amp; 0     &amp;  \tau^{2} &amp; 0  \\&#10;0           &amp; 0           &amp; 0           &amp; 0           &amp; 0           &amp; 0           &amp; 0     &amp; 0         &amp; -1 &amp; 0     &amp; 0         &amp;  1 \\&#10;\end{pmatrix}&#10;\\&#10;\end{align*}&#10;&#10;\end{document}"/>
  <p:tag name="IGUANATEXSIZE" val="14"/>
  <p:tag name="IGUANATEXCURSOR" val="1848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119.61"/>
  <p:tag name="LATEXADDIN" val="\documentclass{article}&#10;\usepackage{amsmath,bm,eufrak}&#10;\pagestyle{empty}&#10;\begin{document}&#10;&#10;\setcounter{MaxMatrixCols}{15}&#10;&#10;\begin{align*}&#10;\mathfrak{q}_{\parallel,22}^{\left(E\right)}&#10;&amp; =&#10;\frac{1}{2}&#10;\begin{pmatrix}&#10;0          &amp; 0          &amp; 1 &amp; \mathrm{i} &amp; 0           &amp; 0           &amp; 0        &amp; 0    &amp; 0 &amp; 0        &amp; 0    &amp; 0 \\&#10;0          &amp; 0          &amp; 1 &amp; \mathrm{i} &amp; 0           &amp; 0           &amp; 0        &amp; 0    &amp; 0 &amp; 0        &amp; 0    &amp; 0 \\&#10;0          &amp; 0          &amp; 0 &amp; 0          &amp; 1           &amp; -\mathrm{i} &amp; 0        &amp; 0    &amp; 0 &amp; 0        &amp; 0    &amp; 0 \\&#10;0          &amp; 0          &amp; 0 &amp; 0          &amp; -\mathrm{i} &amp; -1          &amp; 0        &amp; 0    &amp; 0 &amp; 0        &amp; 0    &amp; 0 \\&#10;1          &amp; 1          &amp; 0 &amp; 0          &amp; 0           &amp; 0           &amp; 0        &amp; 0    &amp; 0 &amp; 0        &amp; 0    &amp; 0 \\&#10;\mathrm{i} &amp; \mathrm{i} &amp; 0 &amp; 0          &amp; 0           &amp; 0           &amp; 0        &amp; 0    &amp; 0 &amp; 0        &amp; 0    &amp; 0 \\&#10;0          &amp; 0          &amp; 0 &amp; 0          &amp; 0           &amp; 0           &amp; \tau^{2} &amp; 0    &amp; 0 &amp; \tau^{2} &amp; 0    &amp; 0 \\&#10;0          &amp; 0          &amp; 0 &amp; 0          &amp; 0           &amp; 0           &amp; 0        &amp; \tau &amp; 0 &amp; 0        &amp; \tau &amp; 0 \\&#10;0          &amp; 0          &amp; 0 &amp; 0          &amp; 0           &amp; 0           &amp; 0        &amp; 0    &amp; 1 &amp; 0        &amp; 0    &amp; 1 \\&#10;0          &amp; 0          &amp; 0 &amp; 0          &amp; 0           &amp; 0           &amp; \tau^{2} &amp; 0    &amp; 0 &amp; \tau^{2} &amp; 0    &amp; 0 \\&#10;0          &amp; 0          &amp; 0 &amp; 0          &amp; 0           &amp; 0           &amp; 0        &amp; \tau &amp; 0 &amp; 0        &amp; \tau &amp; 0 \\&#10;0          &amp; 0          &amp; 0 &amp; 0          &amp; 0           &amp; 0           &amp; 0        &amp; 0    &amp; 1 &amp; 0        &amp; 0    &amp; 1 \\&#10;\end{pmatrix}&#10;\\&#10;\end{align*}&#10;&#10;\end{document}"/>
  <p:tag name="IGUANATEXSIZE" val="14"/>
  <p:tag name="IGUANATEXCURSOR" val="1620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866.517"/>
  <p:tag name="LATEXADDIN" val="\documentclass{article}&#10;\usepackage{amsmath,bm,eufrak}&#10;\pagestyle{empty}&#10;\begin{document}&#10;&#10;\setcounter{MaxMatrixCols}{15}&#10;&#10;\begin{align*}&#10;\mathfrak{q}_{\parallel,12}^{\left(E\right)}&#10;&amp; =&#10;\frac{1}{2}&#10;\begin{pmatrix}&#10; 0          &amp;  0          &amp;  1          &amp; -\mathrm{i} &amp;  0          &amp; 0           &amp; 0          &amp; 0         &amp; 0  &amp; 0         &amp; 0         &amp; 0  \\&#10; 0          &amp;  0          &amp; -1          &amp;  \mathrm{i} &amp;  0          &amp; 0           &amp; 0          &amp; 0         &amp; 0  &amp; 0         &amp; 0         &amp; 0  \\&#10; 0          &amp;  0          &amp;  0          &amp;  0          &amp;  1          &amp; \mathrm{i}  &amp; 0          &amp; 0         &amp; 0  &amp; 0         &amp; 0         &amp; 0  \\&#10; 0          &amp;  0          &amp;  0          &amp;  0          &amp;  \mathrm{i} &amp; -1          &amp; 0          &amp; 0         &amp; 0  &amp; 0         &amp; 0         &amp; 0  \\&#10; 1          &amp; -1          &amp;  0          &amp;  0          &amp;  0          &amp; 0           &amp; 0          &amp; 0         &amp; 0  &amp; 0         &amp; 0         &amp; 0  \\&#10;-\mathrm{i} &amp;  \mathrm{i} &amp;  0          &amp;  0          &amp;  0          &amp; 0           &amp; 0          &amp; 0         &amp; 0  &amp; 0         &amp; 0         &amp; 0  \\&#10; 0          &amp;  0          &amp;  0          &amp;  0          &amp;  0          &amp; 0           &amp;  \tau^{2}  &amp; 0         &amp; 0  &amp; -\tau^{2} &amp; 0         &amp; 0  \\&#10; 0          &amp;  0          &amp;  0          &amp;  0          &amp;  0          &amp; 0           &amp; 0          &amp;  \tau     &amp; 0  &amp; 0         &amp; -\tau     &amp; 0  \\&#10; 0          &amp;  0          &amp;  0          &amp;  0          &amp;  0          &amp; 0           &amp; 0          &amp; 0         &amp;  1 &amp; 0         &amp; 0         &amp; -1 \\&#10; 0          &amp;  0          &amp;  0          &amp;  0          &amp;  0          &amp; 0           &amp;  -\tau^{2} &amp; 0         &amp; 0  &amp;  \tau^{2} &amp; 0         &amp; 0  \\&#10; 0          &amp;  0          &amp;  0          &amp;  0          &amp;  0          &amp; 0           &amp; 0          &amp;  -\tau    &amp; 0  &amp; 0         &amp;  \tau     &amp; 0  \\&#10; 0          &amp;  0          &amp;  0          &amp;  0          &amp;  0          &amp; 0           &amp; 0          &amp; 0         &amp;  1 &amp; 0         &amp; 0         &amp;  1 \\&#10;\end{pmatrix}&#10;\\&#10;\end{align*}&#10;&#10;\end{document}"/>
  <p:tag name="IGUANATEXSIZE" val="14"/>
  <p:tag name="IGUANATEXCURSOR" val="1956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358.08"/>
  <p:tag name="LATEXADDIN" val="\documentclass{article}&#10;\usepackage{amsmath,bm,eufrak}&#10;\pagestyle{empty}&#10;\begin{document}&#10;&#10;\setcounter{MaxMatrixCols}{15}&#10;&#10;\begin{align*}&#10;\mathfrak{q}_{\perp,11}^{\left(E\right)}&#10;&amp; =&#10;\begin{pmatrix}&#10;0               &amp; 0               &amp; 0          &amp; 0          &amp; \tau^{2} &amp; -\mathrm{i}\tau^{2} &amp; 0 &amp; 0 &amp; 0 &amp; 0 &amp; 0 &amp; 0 \\&#10;0               &amp; 0               &amp; 0          &amp; 0          &amp; \tau^{2} &amp; -\mathrm{i}\tau^{2} &amp; 0 &amp; 0 &amp; 0 &amp; 0 &amp; 0 &amp; 0 \\&#10;\tau            &amp; \tau            &amp; 0          &amp; 0          &amp; 0        &amp; 0                   &amp; 0 &amp; 0 &amp; 0 &amp; 0 &amp; 0 &amp; 0 \\&#10;-\mathrm{i}\tau &amp; -\mathrm{i}\tau &amp; 0          &amp; 0          &amp; 0        &amp; 0                   &amp; 0 &amp; 0 &amp; 0 &amp; 0 &amp; 0 &amp; 0 \\&#10;0               &amp; 0               &amp; 1          &amp; \mathrm{i} &amp; 0        &amp; 0                   &amp; 0 &amp; 0 &amp; 0 &amp; 0 &amp; 0 &amp; 0 \\&#10;0               &amp; 0               &amp; \mathrm{i} &amp; -1         &amp; 0        &amp; 0                   &amp; 0 &amp; 0 &amp; 0 &amp; 0 &amp; 0 &amp; 0 \\&#10;0               &amp; 0               &amp; 0          &amp; 0          &amp; 0        &amp; 0                   &amp; 0 &amp; 0 &amp; 0 &amp; 0 &amp; 0 &amp; 0 \\&#10;0               &amp; 0               &amp; 0          &amp; 0          &amp; 0        &amp; 0                   &amp; 0 &amp; 0 &amp; 0 &amp; 0 &amp; 0 &amp; 0 \\&#10;0               &amp; 0               &amp; 0          &amp; 0          &amp; 0        &amp; 0                   &amp; 0 &amp; 0 &amp; 0 &amp; 0 &amp; 0 &amp; 0 \\&#10;0               &amp; 0               &amp; 0          &amp; 0          &amp; 0        &amp; 0                   &amp; 0 &amp; 0 &amp; 0 &amp; 0 &amp; 0 &amp; 0 \\&#10;0               &amp; 0               &amp; 0          &amp; 0          &amp; 0        &amp; 0                   &amp; 0 &amp; 0 &amp; 0 &amp; 0 &amp; 0 &amp; 0 \\&#10;0               &amp; 0               &amp; 0          &amp; 0          &amp; 0        &amp; 0                   &amp; 0 &amp; 0 &amp; 0 &amp; 0 &amp; 0 &amp; 0 \\&#10;\end{pmatrix}&#10;\\&#10;\end{align*}&#10;&#10;\end{document}"/>
  <p:tag name="IGUANATEXSIZE" val="14"/>
  <p:tag name="IGUANATEXCURSOR" val="165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27.072"/>
  <p:tag name="LATEXADDIN" val="\documentclass{article}&#10;\usepackage{amsmath,bm,eufrak}&#10;\pagestyle{empty}&#10;\begin{document}&#10;&#10;\setcounter{MaxMatrixCols}{15}&#10;&#10;\begin{align*}&#10;\mathfrak{q}_{\perp,21}^{\left(E\right)}&#10;&amp; =&#10;\begin{pmatrix}&#10;0                  &amp; 0                   &amp; 0           &amp; 0           &amp; \tau  &amp; \mathrm{i}\tau  &amp; 0 &amp; 0 &amp; 0 &amp; 0 &amp; 0 &amp; 0 \\&#10;0                  &amp; 0                   &amp; 0           &amp; 0           &amp; -\tau &amp; -\mathrm{i}\tau &amp; 0 &amp; 0 &amp; 0 &amp; 0 &amp; 0 &amp; 0 \\&#10;\tau^{2}           &amp; -\tau^{2}           &amp; 0           &amp; 0           &amp; 0     &amp; 0               &amp; 0 &amp; 0 &amp; 0 &amp; 0 &amp; 0 &amp; 0 \\&#10;\mathrm{i}\tau^{2} &amp; -\mathrm{i}\tau^{2} &amp; 0           &amp; 0           &amp; 0     &amp; 0               &amp; 0 &amp; 0 &amp; 0 &amp; 0 &amp; 0 &amp; 0 \\&#10;0                  &amp; 0                   &amp; 1           &amp; -\mathrm{i} &amp; 0     &amp; 0               &amp; 0 &amp; 0 &amp; 0 &amp; 0 &amp; 0 &amp; 0 \\&#10;0                  &amp; 0                   &amp; -\mathrm{i} &amp; -1          &amp; 0     &amp; 0               &amp; 0 &amp; 0 &amp; 0 &amp; 0 &amp; 0 &amp; 0 \\&#10;0                  &amp; 0                   &amp; 0           &amp; 0           &amp; 0     &amp; 0               &amp; 0 &amp; 0 &amp; 0 &amp; 0 &amp; 0 &amp; 0 \\&#10;0                  &amp; 0                   &amp; 0           &amp; 0           &amp; 0     &amp; 0               &amp; 0 &amp; 0 &amp; 0 &amp; 0 &amp; 0 &amp; 0 \\&#10;0                  &amp; 0                   &amp; 0           &amp; 0           &amp; 0     &amp; 0               &amp; 0 &amp; 0 &amp; 0 &amp; 0 &amp; 0 &amp; 0 \\&#10;0                  &amp; 0                   &amp; 0           &amp; 0           &amp; 0     &amp; 0               &amp; 0 &amp; 0 &amp; 0 &amp; 0 &amp; 0 &amp; 0 \\&#10;0                  &amp; 0                   &amp; 0           &amp; 0           &amp; 0     &amp; 0               &amp; 0 &amp; 0 &amp; 0 &amp; 0 &amp; 0 &amp; 0 \\&#10;0                  &amp; 0                   &amp; 0           &amp; 0           &amp; 0     &amp; 0               &amp; 0 &amp; 0 &amp; 0 &amp; 0 &amp; 0 &amp; 0 \\&#10;\end{pmatrix}&#10;\\&#10;\end{align*}&#10;&#10;\end{document}"/>
  <p:tag name="IGUANATEXSIZE" val="14"/>
  <p:tag name="IGUANATEXCURSOR" val="167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137.608"/>
  <p:tag name="LATEXADDIN" val="\documentclass{article}&#10;\usepackage{amsmath,bm,eufrak}&#10;\pagestyle{empty}&#10;\begin{document}&#10;&#10;\setcounter{MaxMatrixCols}{15}&#10;&#10;\begin{align*}&#10;\mathfrak{q}_{\perp,22}^{\left(E\right)}&#10;&amp; =&#10;\begin{pmatrix}&#10;0                  &amp; 0                  &amp; \tau &amp; \mathrm{i}\tau &amp; 0           &amp; 0           &amp; 0 &amp; 0 &amp; 0 &amp; 0 &amp; 0 &amp; 0 \\&#10;0                  &amp; 0                  &amp; \tau &amp; \mathrm{i}\tau &amp; 0           &amp; 0           &amp; 0 &amp; 0 &amp; 0 &amp; 0 &amp; 0 &amp; 0 \\&#10;0                  &amp; 0                  &amp; 0    &amp; 0              &amp; 1           &amp; -\mathrm{i} &amp; 0 &amp; 0 &amp; 0 &amp; 0 &amp; 0 &amp; 0 \\&#10;0                  &amp; 0                  &amp; 0    &amp; 0              &amp; -\mathrm{i} &amp; -1          &amp; 0 &amp; 0 &amp; 0 &amp; 0 &amp; 0 &amp; 0 \\&#10;\tau^{2}           &amp; \tau^{2}           &amp; 0    &amp; 0              &amp; 0           &amp; 0           &amp; 0 &amp; 0 &amp; 0 &amp; 0 &amp; 0 &amp; 0 \\&#10;\mathrm{i}\tau^{2} &amp; \mathrm{i}\tau^{2}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0                  &amp; 0                  &amp; 0    &amp; 0              &amp; 0           &amp; 0           &amp; 0 &amp; 0 &amp; 0 &amp; 0 &amp; 0 &amp; 0 \\&#10;\end{pmatrix}&#10;\\&#10;\end{align*}&#10;&#10;\end{document}"/>
  <p:tag name="IGUANATEXSIZE" val="14"/>
  <p:tag name="IGUANATEXCURSOR" val="164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21.073"/>
  <p:tag name="LATEXADDIN" val="\documentclass{article}&#10;\usepackage{amsmath,bm,eufrak}&#10;\pagestyle{empty}&#10;\begin{document}&#10;&#10;\setcounter{MaxMatrixCols}{15}&#10;&#10;\begin{align*}&#10;\mathfrak{q}_{\perp,12}^{\left(E\right)}&#10;&amp; =&#10;\begin{pmatrix}&#10;0               &amp; 0              &amp; \tau^{2}  &amp; -\mathrm{i}\tau^{2} &amp; 0          &amp; 0          &amp; 0 &amp; 0 &amp; 0 &amp; 0 &amp; 0 &amp; 0 \\&#10;0               &amp; 0              &amp; -\tau^{2} &amp; \mathrm{i}\tau^{2}  &amp; 0          &amp; 0          &amp; 0 &amp; 0 &amp; 0 &amp; 0 &amp; 0 &amp; 0 \\&#10;0               &amp; 0              &amp; 0         &amp; 0                   &amp; 1          &amp; \mathrm{i} &amp; 0 &amp; 0 &amp; 0 &amp; 0 &amp; 0 &amp; 0 \\&#10;0               &amp; 0              &amp; 0         &amp; 0                   &amp; \mathrm{i} &amp; -1         &amp; 0 &amp; 0 &amp; 0 &amp; 0 &amp; 0 &amp; 0 \\&#10;\tau            &amp; -\tau          &amp; 0         &amp; 0                   &amp; 0          &amp; 0          &amp; 0 &amp; 0 &amp; 0 &amp; 0 &amp; 0 &amp; 0 \\&#10;-\mathrm{i}\tau &amp; \mathrm{i}\tau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0               &amp; 0              &amp; 0         &amp; 0                   &amp; 0          &amp; 0          &amp; 0 &amp; 0 &amp; 0 &amp; 0 &amp; 0 &amp; 0 \\&#10;\end{pmatrix}&#10;\\&#10;\end{align*}&#10;&#10;\end{document}"/>
  <p:tag name="IGUANATEXSIZE" val="14"/>
  <p:tag name="IGUANATEXCURSOR" val="165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064.117"/>
  <p:tag name="LATEXADDIN" val="\documentclass{article}&#10;\usepackage{amsmath,bm,eufrak}&#10;\pagestyle{empty}&#10;\begin{document}&#10;&#10;\setcounter{MaxMatrixCols}{15}&#10;&#10;\begin{align*}&#10;\mathfrak{q}_{\parallel,33}^{\left(T_{1}\right)}&#10;&amp; =&#10;\frac{1}{\sqrt{3}}&#10;\begin{pmatrix}&#10;0 &amp; 0 &amp; 0 &amp; 0          &amp; 0 &amp; 0           &amp; 0 &amp; 0 &amp; 1 &amp; 0 &amp; 0 &amp; 0 \\&#10;0 &amp; 0 &amp; 0 &amp; 0          &amp; 0 &amp; 0           &amp; 0 &amp; 0 &amp; 0 &amp; 0 &amp; 0 &amp; 1 \\&#10;0 &amp; 0 &amp; 0 &amp; 0          &amp; 0 &amp; 0           &amp; 0 &amp; 0 &amp; 1 &amp; 0 &amp; 0 &amp; 0 \\&#10;0 &amp; 0 &amp; 0 &amp; 0          &amp; 0 &amp; 0           &amp; 0 &amp; 0 &amp; 0 &amp; 0 &amp; 0 &amp; -\mathrm{i} \\&#10;0 &amp; 0 &amp; 0 &amp; 0          &amp; 0 &amp; 0           &amp; 0 &amp; 0 &amp; 1 &amp; 0 &amp; 0 &amp; 0 \\&#10;0 &amp; 0 &amp; 0 &amp; 0          &amp; 0 &amp; 0           &amp; 0 &amp; 0 &amp; 0 &amp; 0 &amp; 0 &amp; \mathrm{i} \\&#10;0 &amp; 0 &amp; 0 &amp; 0          &amp; 0 &amp; 0           &amp; 0 &amp; 0 &amp; 0 &amp; 0 &amp; 0 &amp; 0 \\&#10;0 &amp; 0 &amp; 0 &amp; 0          &amp; 0 &amp; 0           &amp; 0 &amp; 0 &amp; 0 &amp; 0 &amp; 0 &amp; 0 \\&#10;1 &amp; 0 &amp; 1 &amp; 0          &amp; 1 &amp; 0           &amp; 0 &amp; 0 &amp; 0 &amp; 0 &amp; 0 &amp; 0 \\&#10;0 &amp; 0 &amp; 0 &amp; 0          &amp; 0 &amp; 0           &amp; 0 &amp; 0 &amp; 0 &amp; 0 &amp; 0 &amp; 0 \\&#10;0 &amp; 0 &amp; 0 &amp; 0          &amp; 0 &amp; 0           &amp; 0 &amp; 0 &amp; 0 &amp; 0 &amp; 0 &amp; 0 \\&#10;0 &amp; 1 &amp; 0 &amp; \mathrm{i} &amp; 0 &amp; -\mathrm{i} &amp; 0 &amp; 0 &amp; 0 &amp; 0 &amp; 0 &amp; 0  \\&#10;\end{pmatrix}&#10;\\&#10;\end{align*}&#10;&#10;\end{document}"/>
  <p:tag name="IGUANATEXSIZE" val="14"/>
  <p:tag name="IGUANATEXCURSOR" val="1075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3}^{\left(T_{1}\right)}&#10;=&#10;\mathfrak{q}_{\parallel,23}^{\left(T_{1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1}^{\left(T_{1}\right)}&#10;=&#10;\mathfrak{q}_{\parallel,21}^{\left(T_{1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84.064"/>
  <p:tag name="LATEXADDIN" val="\documentclass{article}&#10;\usepackage{amsmath,bm,eufrak}&#10;\pagestyle{empty}&#10;\begin{document}&#10;&#10;\setcounter{MaxMatrixCols}{15}&#10;&#10;\begin{align*}&#10;\mathfrak{q}_{\parallel,31}^{\left(T_{1}\right)}&#10;&amp; =&#10;\frac{1}{\sqrt{3}}&#10;\begin{pmatrix}&#10;0 &amp; 0 &amp; 0    &amp; 0              &amp; 0        &amp; 0                   &amp; 1        &amp; 0 &amp; 0 &amp; 0                   &amp; 0 &amp; 0 \\&#10;0 &amp; 0 &amp; 0    &amp; 0              &amp; 0        &amp; 0                   &amp; 0        &amp; 0 &amp; 0 &amp; 1                   &amp; 0 &amp; 0 \\&#10;0 &amp; 0 &amp; 0    &amp; 0              &amp; 0        &amp; 0                   &amp; \tau^{2} &amp; 0 &amp; 0 &amp; 0                   &amp; 0 &amp; 0 \\&#10;0 &amp; 0 &amp; 0    &amp; 0              &amp; 0        &amp; 0                   &amp; 0        &amp; 0 &amp; 0 &amp; -\mathrm{i}\tau^{2} &amp; 0 &amp; 0 \\&#10;0 &amp; 0 &amp; 0    &amp; 0              &amp; 0        &amp; 0                   &amp; \tau     &amp; 0 &amp; 0 &amp; 0                   &amp; 0 &amp; 0 \\&#10;0 &amp; 0 &amp; 0    &amp; 0              &amp; 0        &amp; 0                   &amp; 0        &amp; 0 &amp; 0 &amp; \mathrm{i}\tau      &amp; 0 &amp; 0 \\&#10;1 &amp; 0 &amp; \tau &amp; 0              &amp; \tau^{2} &amp; 0                   &amp; 0        &amp; 0 &amp; 0 &amp; 0                   &amp; 0 &amp; 0 \\&#10;0 &amp; 0 &amp; 0    &amp; 0              &amp; 0        &amp; 0                   &amp; 0        &amp; 0 &amp; 0 &amp; 0                   &amp; 0 &amp; 0 \\&#10;0 &amp; 0 &amp; 0    &amp; 0              &amp; 0        &amp; 0                   &amp; 0        &amp; 0 &amp; 0 &amp; 0                   &amp; 0 &amp; 0 \\&#10;0 &amp; 1 &amp; 0    &amp; \mathrm{i}\tau &amp; 0        &amp; -\mathrm{i}\tau^{2} &amp; 0        &amp; 0 &amp; 0 &amp; 0                   &amp; 0 &amp; 0 \\&#10;0 &amp; 0 &amp; 0    &amp; 0              &amp; 0        &amp; 0                   &amp; 0        &amp; 0 &amp; 0 &amp; 0                   &amp; 0 &amp; 0 \\&#10;0 &amp; 0 &amp; 0    &amp; 0              &amp; 0        &amp; 0                   &amp; 0        &amp; 0 &amp; 0 &amp; 0                   &amp; 0 &amp; 0 \\&#10;\end{pmatrix}&#10;\\&#10;\end{align*}&#10;&#10;\end{document}"/>
  <p:tag name="IGUANATEXSIZE" val="14"/>
  <p:tag name="IGUANATEXCURSOR" val="1619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28.571"/>
  <p:tag name="LATEXADDIN" val="\documentclass{article}&#10;\usepackage{amsmath,bm,eufrak}&#10;\pagestyle{empty}&#10;\begin{document}&#10;&#10;\setcounter{MaxMatrixCols}{15}&#10;&#10;\begin{align*}&#10;\mathfrak{q}_{\parallel,32}^{\left(T_{1}\right)}&#10;&amp; =&#10;\frac{1}{\sqrt{3}}&#10;\begin{pmatrix}&#10;0 &amp; 0 &amp; 0        &amp; 0                  &amp; 0    &amp; 0               &amp; 0 &amp; 1        &amp; 0 &amp; 0 &amp; 0                  &amp; 0 \\&#10;0 &amp; 0 &amp; 0        &amp; 0                  &amp; 0    &amp; 0               &amp; 0 &amp; 0        &amp; 0 &amp; 0 &amp; 1                  &amp; 0 \\&#10;0 &amp; 0 &amp; 0        &amp; 0                  &amp; 0    &amp; 0               &amp; 0 &amp; \tau     &amp; 0 &amp; 0 &amp; 0                  &amp; 0 \\&#10;0 &amp; 0 &amp; 0        &amp; 0                  &amp; 0    &amp; 0               &amp; 0 &amp; 0        &amp; 0 &amp; 0 &amp; -\mathrm{i}\tau    &amp; 0 \\&#10;0 &amp; 0 &amp; 0        &amp; 0                  &amp; 0    &amp; 0               &amp; 0 &amp; \tau^{2} &amp; 0 &amp; 0 &amp; 0                  &amp; 0 \\&#10;0 &amp; 0 &amp; 0        &amp; 0                  &amp; 0    &amp; 0               &amp; 0 &amp; 0        &amp; 0 &amp; 0 &amp; \mathrm{i}\tau^{2} &amp; 0 \\&#10;0 &amp; 0 &amp; 0        &amp; 0                  &amp; 0    &amp; 0               &amp; 0 &amp; 0        &amp; 0 &amp; 0 &amp; 0                  &amp; 0 \\&#10;1 &amp; 0 &amp; \tau^{2} &amp; 0                  &amp; \tau &amp; 0               &amp; 0 &amp; 0        &amp; 0 &amp; 0 &amp; 0                  &amp; 0 \\&#10;0 &amp; 0 &amp; 0        &amp; 0                  &amp; 0    &amp; 0               &amp; 0 &amp; 0        &amp; 0 &amp; 0 &amp; 0                  &amp; 0 \\&#10;0 &amp; 0 &amp; 0        &amp; 0                  &amp; 0    &amp; 0               &amp; 0 &amp; 0        &amp; 0 &amp; 0 &amp; 0                  &amp; 0 \\&#10;0 &amp; 1 &amp; 0        &amp; \mathrm{i}\tau^{2} &amp; 0    &amp; -\mathrm{i}\tau &amp; 0 &amp; 0        &amp; 0 &amp; 0 &amp; 0                  &amp; 0 \\&#10;0 &amp; 0 &amp; 0        &amp; 0                  &amp; 0    &amp; 0               &amp; 0 &amp; 0        &amp; 0 &amp; 0 &amp; 0                  &amp; 0 \\&#10;\end{pmatrix}&#10;\\&#10;\end{align*}&#10;&#10;\end{document}"/>
  <p:tag name="IGUANATEXSIZE" val="14"/>
  <p:tag name="IGUANATEXCURSOR" val="1607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2}^{\left(T_{1}\right)}&#10;=&#10;\mathfrak{q}_{\parallel,22}^{\left(T_{1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1}^{\left(T_{1}\right)}&#10;&amp; =&#10;\begin{pmatrix}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-1 &amp; 0 &amp; 0 &amp; 1 \\&#10;0 &amp; 0 &amp; 0 &amp; 0 &amp; 0 &amp; 0 &amp; 0 &amp; 1 &amp; 0  &amp; 0 &amp; 1 &amp; 0 \\&#10;0 &amp; 0 &amp; 0 &amp; 0 &amp; 0 &amp; 0 &amp; 0 &amp; 0 &amp; 0  &amp; 0 &amp; 0 &amp; 0 \\&#10;0 &amp; 0 &amp; 0 &amp; 0 &amp; 0 &amp; 0 &amp; 0 &amp; 0 &amp; 1  &amp; 0 &amp; 0 &amp; -1 \\&#10;0 &amp; 0 &amp; 0 &amp; 0 &amp; 0 &amp; 0 &amp; 0 &amp; 1 &amp; 0  &amp; 0 &amp; 1 &amp; 0 \\&#10;\end{pmatrix}&#10;\\&#10;\end{align*}&#10;&#10;\end{document}"/>
  <p:tag name="IGUANATEXSIZE" val="12"/>
  <p:tag name="IGUANATEXCURSOR" val="817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2}^{\left(T_{1}\right)}&#10;&amp; =&#10;\begin{pmatrix}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1 &amp; 0  &amp; 0 &amp; 1 \\&#10;0 &amp; 0 &amp; 0 &amp; 0 &amp; 0 &amp; 0 &amp; 0  &amp; 0 &amp; 0 &amp; 0  &amp; 0 &amp; 0 \\&#10;0 &amp; 0 &amp; 0 &amp; 0 &amp; 0 &amp; 0 &amp; -1 &amp; 0 &amp; 0 &amp; 1  &amp; 0 &amp; 0 \\&#10;0 &amp; 0 &amp; 0 &amp; 0 &amp; 0 &amp; 0 &amp; 0  &amp; 0 &amp; 1 &amp; 0  &amp; 0 &amp; 1 \\&#10;0 &amp; 0 &amp; 0 &amp; 0 &amp; 0 &amp; 0 &amp; 0  &amp; 0 &amp; 0 &amp; 0  &amp; 0 &amp; 0 \\&#10;0 &amp; 0 &amp; 0 &amp; 0 &amp; 0 &amp; 0 &amp; 1  &amp; 0 &amp; 0 &amp; -1 &amp; 0 &amp; 0 \\&#10;\end{pmatrix}&#10;\\&#10;\end{align*}&#10;&#10;\end{document}"/>
  <p:tag name="IGUANATEXSIZE" val="12"/>
  <p:tag name="IGUANATEXCURSOR" val="186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3}^{\left(T_{1}\right)}&#10;&amp; =&#10;\begin{pmatrix}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-1 &amp; 0 &amp; 0 &amp; 1  &amp; 0 \\&#10;0 &amp; 0 &amp; 0 &amp; 0 &amp; 0 &amp; 0 &amp; 1 &amp; 0  &amp; 0 &amp; 1 &amp; 0  &amp; 0 \\&#10;0 &amp; 0 &amp; 0 &amp; 0 &amp; 0 &amp; 0 &amp; 0 &amp; 0  &amp; 0 &amp; 0 &amp; 0  &amp; 0 \\&#10;0 &amp; 0 &amp; 0 &amp; 0 &amp; 0 &amp; 0 &amp; 0 &amp; 1  &amp; 0 &amp; 0 &amp; -1 &amp; 0 \\&#10;0 &amp; 0 &amp; 0 &amp; 0 &amp; 0 &amp; 0 &amp; 1 &amp; 0  &amp; 0 &amp; 1 &amp; 0  &amp; 0 \\&#10;0 &amp; 0 &amp; 0 &amp; 0 &amp; 0 &amp; 0 &amp; 0 &amp; 0  &amp; 0 &amp; 0 &amp; 0  &amp; 0  \\&#10;\end{pmatrix}&#10;\\&#10;\end{align*}&#10;&#10;\end{document}"/>
  <p:tag name="IGUANATEXSIZE" val="12"/>
  <p:tag name="IGUANATEXCURSOR" val="829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631.796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1}^{\left(T_{1}\right)}&#10;&amp; =&#10;\frac{1}{\sqrt{3}}&#10;\begin{pmatrix}&#10;0 &amp; 0 &amp; 0 &amp; 0 &amp; 0 &amp; 0 &amp; 2                 &amp; 0 &amp; 0 &amp; 0                           &amp; 0 &amp; 0 \\&#10;0 &amp; 0 &amp; 0 &amp; 0 &amp; 0 &amp; 0 &amp; 0                 &amp; 0 &amp; 0 &amp; 2                           &amp; 0 &amp; 0 \\&#10;0 &amp; 0 &amp; 0 &amp; 0 &amp; 0 &amp; 0 &amp; -\tau^{2}         &amp; 0 &amp; 0 &amp; -\mathrm{i}\tau^{2}\sqrt{3} &amp; 0 &amp; 0 \\&#10;0 &amp; 0 &amp; 0 &amp; 0 &amp; 0 &amp; 0 &amp; -\tau^{2}\sqrt{3} &amp; 0 &amp; 0 &amp; \mathrm{i}\tau^{2}          &amp; 0 &amp; 0 \\&#10;0 &amp; 0 &amp; 0 &amp; 0 &amp; 0 &amp; 0 &amp; -\tau             &amp; 0 &amp; 0 &amp; \mathrm{i}\tau\sqrt{3}      &amp; 0 &amp; 0 \\&#10;0 &amp; 0 &amp; 0 &amp; 0 &amp; 0 &amp; 0 &amp; -\tau\sqrt{3}     &amp; 0 &amp; 0 &amp; -\mathrm{i}\tau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0 &amp; 0 &amp; 0 &amp; 0 &amp; 0 &amp; 0 &amp; 0                 &amp; 0 &amp; 0 &amp; 0                           &amp; 0 &amp; 0 \\&#10;\end{pmatrix}&#10;\\&#10;\end{align*}&#10;&#10;\end{document}"/>
  <p:tag name="IGUANATEXSIZE" val="16"/>
  <p:tag name="IGUANATEXCURSOR" val="1327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914.51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1}^{\left(T_{1}\right)}&#10;&amp; =&#10;\frac{1}{\sqrt{3}}&#10;\begin{pmatrix}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2 &amp; 0 &amp; -\tau                   &amp; \tau\sqrt{3}    &amp; -\tau^{2}                  &amp; \tau^{2}\sqrt{3}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2 &amp; -\mathrm{i}\tau\sqrt{3} &amp; -\mathrm{i}\tau &amp; \mathrm{i}\tau^{2}\sqrt{3} &amp; \mathrm{i}\tau^{2}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\end{pmatrix}&#10;\\&#10;\end{align*}&#10;&#10;\end{document}"/>
  <p:tag name="IGUANATEXSIZE" val="16"/>
  <p:tag name="IGUANATEXCURSOR" val="1759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575.553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2}^{\left(T_{1}\right)}&#10;&amp; =&#10;\frac{1}{\sqrt{3}}&#10;\begin{pmatrix}&#10;0 &amp; 0 &amp; 0 &amp; 0 &amp; 0 &amp; 0 &amp; 0 &amp; 2                 &amp; 0 &amp; 0 &amp; 0                          &amp; 0 \\&#10;0 &amp; 0 &amp; 0 &amp; 0 &amp; 0 &amp; 0 &amp; 0 &amp; 0                 &amp; 0 &amp; 0 &amp; 2                          &amp; 0 \\&#10;0 &amp; 0 &amp; 0 &amp; 0 &amp; 0 &amp; 0 &amp; 0 &amp; -\tau             &amp; 0 &amp; 0 &amp; -\mathrm{i}\tau\sqrt{3}    &amp; 0 \\&#10;0 &amp; 0 &amp; 0 &amp; 0 &amp; 0 &amp; 0 &amp; 0 &amp; -\tau\sqrt{3}     &amp; 0 &amp; 0 &amp; \mathrm{i}\tau             &amp; 0 \\&#10;0 &amp; 0 &amp; 0 &amp; 0 &amp; 0 &amp; 0 &amp; 0 &amp; -\tau^{2}         &amp; 0 &amp; 0 &amp; \mathrm{i}\tau^{2}\sqrt{3} &amp; 0 \\&#10;0 &amp; 0 &amp; 0 &amp; 0 &amp; 0 &amp; 0 &amp; 0 &amp; -\tau^{2}\sqrt{3} &amp; 0 &amp; 0 &amp; -\mathrm{i}\tau^{2}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0 &amp; 0 &amp; 0 &amp; 0 &amp; 0 &amp; 0 &amp; 0 &amp; 0                 &amp; 0 &amp; 0 &amp; 0                          &amp; 0 \\&#10;\end{pmatrix}&#10;\\&#10;\end{align*}&#10;&#10;\end{document}"/>
  <p:tag name="IGUANATEXSIZE" val="16"/>
  <p:tag name="IGUANATEXCURSOR" val="1315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914.51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2}^{\left(T_{1}\right)}&#10;&amp; =&#10;\frac{1}{\sqrt{3}}&#10;\begin{pmatrix}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2 &amp; 0 &amp; -\tau^{2}                   &amp; \tau^{2}\sqrt{3}    &amp; -\tau                  &amp; \tau\sqrt{3}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2 &amp; -\mathrm{i}\tau^{2}\sqrt{3} &amp; -\mathrm{i}\tau^{2} &amp; \mathrm{i}\tau\sqrt{3} &amp; \mathrm{i}\tau &amp; 0 &amp; 0 &amp; 0 &amp; 0 &amp; 0 &amp; 0 \\&#10;0 &amp; 0 &amp; 0                           &amp; 0                   &amp; 0                      &amp; 0              &amp; 0 &amp; 0 &amp; 0 &amp; 0 &amp; 0 &amp; 0 \\&#10;\end{pmatrix}&#10;\\&#10;\end{align*}&#10;&#10;\end{document}"/>
  <p:tag name="IGUANATEXSIZE" val="16"/>
  <p:tag name="IGUANATEXCURSOR" val="1759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383.577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3}^{\left(T_{1}\right)}&#10;&amp; =&#10;\frac{1}{\sqrt{3}}&#10;\begin{pmatrix}&#10;0 &amp; 0 &amp; 0 &amp; 0 &amp; 0 &amp; 0 &amp; 0 &amp; 0 &amp; 2         &amp; 0 &amp; 0 &amp; 0 \\&#10;0 &amp; 0 &amp; 0 &amp; 0 &amp; 0 &amp; 0 &amp; 0 &amp; 0 &amp; 0         &amp; 0 &amp; 0 &amp; 2 \\&#10;0 &amp; 0 &amp; 0 &amp; 0 &amp; 0 &amp; 0 &amp; 0 &amp; 0 &amp; -1        &amp; 0 &amp; 0 &amp; -\mathrm{i}\sqrt{3} \\&#10;0 &amp; 0 &amp; 0 &amp; 0 &amp; 0 &amp; 0 &amp; 0 &amp; 0 &amp; -\sqrt{3} &amp; 0 &amp; 0 &amp; \mathrm{i} \\&#10;0 &amp; 0 &amp; 0 &amp; 0 &amp; 0 &amp; 0 &amp; 0 &amp; 0 &amp; -1        &amp; 0 &amp; 0 &amp; \mathrm{i}\sqrt{3} \\&#10;0 &amp; 0 &amp; 0 &amp; 0 &amp; 0 &amp; 0 &amp; 0 &amp; 0 &amp; -\sqrt{3} &amp; 0 &amp; 0 &amp; -\mathrm{i}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0 &amp; 0 &amp; 0 &amp; 0 &amp; 0 &amp; 0 &amp; 0 &amp; 0 &amp; 0         &amp; 0 &amp; 0 &amp; 0 \\&#10;\end{pmatrix}&#10;\\&#10;\end{align*}&#10;&#10;\end{document}"/>
  <p:tag name="IGUANATEXSIZE" val="16"/>
  <p:tag name="IGUANATEXCURSOR" val="150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528.309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3}^{\left(T_{1}\right)}&#10;&amp; =&#10;\frac{1}{\sqrt{3}}&#10;\begin{pmatrix}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2 &amp; 0 &amp; -1                  &amp; \sqrt{3}    &amp; -1                 &amp; \sqrt{3}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2 &amp; -\mathrm{i}\sqrt{3} &amp; -\mathrm{i} &amp; \mathrm{i}\sqrt{3} &amp; \mathrm{i} &amp; 0 &amp; 0 &amp; 0 &amp; 0 &amp; 0 &amp; 0 \\&#10;\end{pmatrix}&#10;\\&#10;\end{align*}&#10;&#10;\end{document}"/>
  <p:tag name="IGUANATEXSIZE" val="16"/>
  <p:tag name="IGUANATEXCURSOR" val="1471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064.117"/>
  <p:tag name="LATEXADDIN" val="\documentclass{article}&#10;\usepackage{amsmath,bm,eufrak}&#10;\pagestyle{empty}&#10;\begin{document}&#10;&#10;\setcounter{MaxMatrixCols}{15}&#10;&#10;\begin{align*}&#10;\mathfrak{q}_{\parallel,33}^{\left(T_{2}\right)}&#10;&amp; =&#10;\frac{1}{\sqrt{3}}&#10;\begin{pmatrix}&#10;0 &amp; 0 &amp; 0 &amp; 0          &amp; 0 &amp; 0           &amp; 0 &amp; 0 &amp; 0           &amp; 0 &amp; 0 &amp; 1 \\&#10;0 &amp; 0 &amp; 0 &amp; 0          &amp; 0 &amp; 0           &amp; 0 &amp; 0 &amp; 1           &amp; 0 &amp; 0 &amp; 0 \\&#10;0 &amp; 0 &amp; 0 &amp; 0          &amp; 0 &amp; 0           &amp; 0 &amp; 0 &amp; 0           &amp; 0 &amp; 0 &amp; 1 \\&#10;0 &amp; 0 &amp; 0 &amp; 0          &amp; 0 &amp; 0           &amp; 0 &amp; 0 &amp; -\mathrm{i} &amp; 0 &amp; 0 &amp; 0 \\&#10;0 &amp; 0 &amp; 0 &amp; 0          &amp; 0 &amp; 0           &amp; 0 &amp; 0 &amp; 0           &amp; 0 &amp; 0 &amp; 1 \\&#10;0 &amp; 0 &amp; 0 &amp; 0          &amp; 0 &amp; 0           &amp; 0 &amp; 0 &amp; \mathrm{i}  &amp; 0 &amp; 0 &amp; 0 \\&#10;0 &amp; 0 &amp; 0 &amp; 0          &amp; 0 &amp; 0           &amp; 0 &amp; 0 &amp; 0           &amp; 0 &amp; 0 &amp; 0 \\&#10;0 &amp; 0 &amp; 0 &amp; 0          &amp; 0 &amp; 0           &amp; 0 &amp; 0 &amp; 0           &amp; 0 &amp; 0 &amp; 0 \\&#10;0 &amp; 1 &amp; 0 &amp; \mathrm{i} &amp; 0 &amp; -\mathrm{i} &amp; 0 &amp; 0 &amp; 0           &amp; 0 &amp; 0 &amp; 0 \\&#10;0 &amp; 0 &amp; 0 &amp; 0          &amp; 0 &amp; 0           &amp; 0 &amp; 0 &amp; 0           &amp; 0 &amp; 0 &amp; 0 \\&#10;0 &amp; 0 &amp; 0 &amp; 0          &amp; 0 &amp; 0           &amp; 0 &amp; 0 &amp; 0           &amp; 0 &amp; 0 &amp; 0 \\&#10;1 &amp; 0 &amp; 1 &amp; 0          &amp; 1 &amp; 0           &amp; 0 &amp; 0 &amp; 0           &amp; 0 &amp; 0 &amp; 0 \\&#10;\end{pmatrix}&#10;\\&#10;\end{align*}&#10;&#10;\end{document}"/>
  <p:tag name="IGUANATEXSIZE" val="14"/>
  <p:tag name="IGUANATEXCURSOR" val="1175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3}^{\left(T_{2}\right)}&#10;=&#10;\mathfrak{q}_{\parallel,23}^{\left(T_{2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1}^{\left(T_{2}\right)}&#10;=&#10;\mathfrak{q}_{\parallel,21}^{\left(T_{2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84.064"/>
  <p:tag name="LATEXADDIN" val="\documentclass{article}&#10;\usepackage{amsmath,bm,eufrak}&#10;\pagestyle{empty}&#10;\begin{document}&#10;&#10;\setcounter{MaxMatrixCols}{15}&#10;&#10;\begin{align*}&#10;\mathfrak{q}_{\parallel,31}^{\left(T_{2}\right)}&#10;&amp; =&#10;\frac{1}{\sqrt{3}}&#10;\begin{pmatrix}&#10;0 &amp; 0 &amp; 0    &amp; 0              &amp; 0        &amp; 0                   &amp; 0                   &amp; 0 &amp; 0 &amp; 1        &amp; 0 &amp; 0 \\&#10;0 &amp; 0 &amp; 0    &amp; 0              &amp; 0        &amp; 0                   &amp; 1                   &amp; 0 &amp; 0 &amp; 0        &amp; 0 &amp; 0 \\&#10;0 &amp; 0 &amp; 0    &amp; 0              &amp; 0        &amp; 0                   &amp; 0                   &amp; 0 &amp; 0 &amp; \tau^{2} &amp; 0 &amp; 0 \\&#10;0 &amp; 0 &amp; 0    &amp; 0              &amp; 0        &amp; 0                   &amp; -\mathrm{i}\tau^{2} &amp; 0 &amp; 0 &amp; 0        &amp; 0 &amp; 0 \\&#10;0 &amp; 0 &amp; 0    &amp; 0              &amp; 0        &amp; 0                   &amp; 0                   &amp; 0 &amp; 0 &amp; \tau     &amp; 0 &amp; 0 \\&#10;0 &amp; 0 &amp; 0    &amp; 0              &amp; 0        &amp; 0                   &amp; \mathrm{i}\tau      &amp; 0 &amp; 0 &amp; 0        &amp; 0 &amp; 0 \\&#10;0 &amp; 1 &amp; 0    &amp; \mathrm{i}\tau &amp; 0        &amp; -\mathrm{i}\tau^{2} &amp; 0                   &amp; 0 &amp; 0 &amp; 0        &amp; 0 &amp; 0 \\&#10;0 &amp; 0 &amp; 0    &amp; 0              &amp; 0        &amp; 0                   &amp; 0                   &amp; 0 &amp; 0 &amp; 0        &amp; 0 &amp; 0 \\&#10;0 &amp; 0 &amp; 0    &amp; 0              &amp; 0        &amp; 0                   &amp; 0                   &amp; 0 &amp; 0 &amp; 0        &amp; 0 &amp; 0 \\&#10;1 &amp; 0 &amp; \tau &amp; 0              &amp; \tau^{2} &amp; 0                   &amp; 0                   &amp; 0 &amp; 0 &amp; 0        &amp; 0 &amp; 0 \\&#10;0 &amp; 0 &amp; 0    &amp; 0              &amp; 0        &amp; 0                   &amp; 0                   &amp; 0 &amp; 0 &amp; 0        &amp; 0 &amp; 0 \\&#10;0 &amp; 0 &amp; 0    &amp; 0              &amp; 0        &amp; 0                   &amp; 0                   &amp; 0 &amp; 0 &amp; 0        &amp; 0 &amp; 0 \\&#10;\end{pmatrix}&#10;\\&#10;\end{align*}&#10;&#10;\end{document}"/>
  <p:tag name="IGUANATEXSIZE" val="14"/>
  <p:tag name="IGUANATEXCURSOR" val="1619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428.571"/>
  <p:tag name="LATEXADDIN" val="\documentclass{article}&#10;\usepackage{amsmath,bm,eufrak}&#10;\pagestyle{empty}&#10;\begin{document}&#10;&#10;\setcounter{MaxMatrixCols}{15}&#10;&#10;\begin{align*}&#10;\mathfrak{q}_{\parallel,32}^{\left(T_{2}\right)}&#10;&amp; =&#10;\frac{1}{\sqrt{3}}&#10;\begin{pmatrix}&#10;0 &amp; 0 &amp; 0        &amp; 0                  &amp; 0    &amp; 0               &amp; 0 &amp; 0                  &amp; 0 &amp; 0 &amp; 1        &amp; 0 \\&#10;0 &amp; 0 &amp; 0        &amp; 0                  &amp; 0    &amp; 0               &amp; 0 &amp; 1                  &amp; 0 &amp; 0 &amp; 0        &amp; 0 \\&#10;0 &amp; 0 &amp; 0        &amp; 0                  &amp; 0    &amp; 0               &amp; 0 &amp; 0                  &amp; 0 &amp; 0 &amp; \tau     &amp; 0 \\&#10;0 &amp; 0 &amp; 0        &amp; 0                  &amp; 0    &amp; 0               &amp; 0 &amp; -\mathrm{i}\tau    &amp; 0 &amp; 0 &amp; 0        &amp; 0 \\&#10;0 &amp; 0 &amp; 0        &amp; 0                  &amp; 0    &amp; 0               &amp; 0 &amp; 0                  &amp; 0 &amp; 0 &amp; \tau^{2} &amp; 0 \\&#10;0 &amp; 0 &amp; 0        &amp; 0                  &amp; 0    &amp; 0               &amp; 0 &amp; \mathrm{i}\tau^{2} &amp; 0 &amp; 0 &amp; 0        &amp; 0 \\&#10;0 &amp; 0 &amp; 0        &amp; 0                  &amp; 0    &amp; 0               &amp; 0 &amp; 0                  &amp; 0 &amp; 0 &amp; 0        &amp; 0 \\&#10;0 &amp; 1 &amp; 0        &amp; \mathrm{i}\tau^{2} &amp; 0    &amp; -\mathrm{i}\tau &amp; 0 &amp; 0                  &amp; 0 &amp; 0 &amp; 0        &amp; 0 \\&#10;0 &amp; 0 &amp; 0        &amp; 0                  &amp; 0    &amp; 0               &amp; 0 &amp; 0                  &amp; 0 &amp; 0 &amp; 0        &amp; 0 \\&#10;0 &amp; 0 &amp; 0        &amp; 0                  &amp; 0    &amp; 0               &amp; 0 &amp; 0                  &amp; 0 &amp; 0 &amp; 0        &amp; 0 \\&#10;1 &amp; 0 &amp; \tau^{2} &amp; 0                  &amp; \tau &amp; 0               &amp; 0 &amp; 0                  &amp; 0 &amp; 0 &amp; 0        &amp; 0 \\&#10;0 &amp; 0 &amp; 0        &amp; 0                  &amp; 0    &amp; 0               &amp; 0 &amp; 0                  &amp; 0 &amp; 0 &amp; 0        &amp; 0 \\&#10;\end{pmatrix}&#10;\\&#10;\end{align*}&#10;&#10;\end{document}"/>
  <p:tag name="IGUANATEXSIZE" val="14"/>
  <p:tag name="IGUANATEXCURSOR" val="1607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887.889"/>
  <p:tag name="LATEXADDIN" val="\documentclass{article}&#10;\usepackage{amsmath,bm,eufrak}&#10;\pagestyle{empty}&#10;\begin{document}&#10;&#10;\setcounter{MaxMatrixCols}{15}&#10;&#10;\begin{align*}&#10;\mathfrak{q}_{\parallel,12}^{\left(T_{2}\right)}&#10;=&#10;\mathfrak{q}_{\parallel,22}^{\left(T_{2}\right)}&#10;=&#10;0&#10;\\&#10;\end{align*}&#10;&#10;\end{document}"/>
  <p:tag name="IGUANATEXSIZE" val="14"/>
  <p:tag name="IGUANATEXCURSOR" val="201"/>
  <p:tag name="TRANSPARENCY" val="True"/>
  <p:tag name="FILENAME" val=""/>
  <p:tag name="LATEXENGINEID" val="0"/>
  <p:tag name="TEMPFOLDER" val="c:\temp\"/>
  <p:tag name="LATEXFORMHEIGHT" val="463"/>
  <p:tag name="LATEXFORMWIDTH" val="1305.7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1}^{\left(T_{2}\right)}&#10;&amp; =&#10;\begin{pmatrix}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0  &amp; 0 &amp; 0 &amp; 0 \\&#10;0 &amp; 0 &amp; 0 &amp; 0 &amp; 0 &amp; 0 &amp; 0 &amp; 0 &amp; 1  &amp; 0 &amp; 0 &amp; -1 \\&#10;0 &amp; 0 &amp; 0 &amp; 0 &amp; 0 &amp; 0 &amp; 0 &amp; 1 &amp; 0  &amp; 0 &amp; 1 &amp; 0 \\&#10;0 &amp; 0 &amp; 0 &amp; 0 &amp; 0 &amp; 0 &amp; 0 &amp; 0 &amp; 0  &amp; 0 &amp; 0 &amp; 0 \\&#10;0 &amp; 0 &amp; 0 &amp; 0 &amp; 0 &amp; 0 &amp; 0 &amp; 0 &amp; -1 &amp; 0 &amp; 0 &amp; 1 \\&#10;0 &amp; 0 &amp; 0 &amp; 0 &amp; 0 &amp; 0 &amp; 0 &amp; 1 &amp; 0  &amp; 0 &amp; 1 &amp; 0 \\&#10;\end{pmatrix}&#10;\\&#10;\end{align*}&#10;&#10;\end{document}"/>
  <p:tag name="IGUANATEXSIZE" val="12"/>
  <p:tag name="IGUANATEXCURSOR" val="186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2}^{\left(T_{2}\right)}&#10;&amp; =&#10;\begin{pmatrix}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0 &amp; 0  &amp; 0 &amp; 0 \\&#10;0 &amp; 0 &amp; 0 &amp; 0 &amp; 0 &amp; 0 &amp; 0  &amp; 0 &amp; 1 &amp; 0  &amp; 0 &amp; 1 \\&#10;0 &amp; 0 &amp; 0 &amp; 0 &amp; 0 &amp; 0 &amp; 0  &amp; 0 &amp; 0 &amp; 0  &amp; 0 &amp; 0 \\&#10;0 &amp; 0 &amp; 0 &amp; 0 &amp; 0 &amp; 0 &amp; 1  &amp; 0 &amp; 0 &amp; -1 &amp; 0 &amp; 0 \\&#10;0 &amp; 0 &amp; 0 &amp; 0 &amp; 0 &amp; 0 &amp; 0  &amp; 0 &amp; 1 &amp; 0  &amp; 0 &amp; 1 \\&#10;0 &amp; 0 &amp; 0 &amp; 0 &amp; 0 &amp; 0 &amp; 0  &amp; 0 &amp; 0 &amp; 0  &amp; 0 &amp; 0 \\&#10;0 &amp; 0 &amp; 0 &amp; 0 &amp; 0 &amp; 0 &amp; -1 &amp; 0 &amp; 0 &amp; 1  &amp; 0 &amp; 0 \\&#10;\end{pmatrix}&#10;\\&#10;\end{align*}&#10;&#10;\end{document}"/>
  <p:tag name="IGUANATEXSIZE" val="12"/>
  <p:tag name="IGUANATEXCURSOR" val="186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2924.634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33}^{\left(T_{2}\right)}&#10;&amp; =&#10;\begin{pmatrix}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0  &amp; 0 &amp; 0 &amp; 0  &amp; 0 \\&#10;0 &amp; 0 &amp; 0 &amp; 0 &amp; 0 &amp; 0 &amp; 0 &amp; 1  &amp; 0 &amp; 0 &amp; -1 &amp; 0 \\&#10;0 &amp; 0 &amp; 0 &amp; 0 &amp; 0 &amp; 0 &amp; 1 &amp; 0  &amp; 0 &amp; 1 &amp; 0  &amp; 0 \\&#10;0 &amp; 0 &amp; 0 &amp; 0 &amp; 0 &amp; 0 &amp; 0 &amp; 0  &amp; 0 &amp; 0 &amp; 0  &amp; 0 \\&#10;0 &amp; 0 &amp; 0 &amp; 0 &amp; 0 &amp; 0 &amp; 0 &amp; -1 &amp; 0 &amp; 0 &amp; 1  &amp; 0 \\&#10;0 &amp; 0 &amp; 0 &amp; 0 &amp; 0 &amp; 0 &amp; 1 &amp; 0  &amp; 0 &amp; 1 &amp; 0  &amp; 0 \\&#10;0 &amp; 0 &amp; 0 &amp; 0 &amp; 0 &amp; 0 &amp; 0 &amp; 0  &amp; 0 &amp; 0 &amp; 0  &amp; 0  \\&#10;\end{pmatrix}&#10;\\&#10;\end{align*}&#10;&#10;\end{document}"/>
  <p:tag name="IGUANATEXSIZE" val="12"/>
  <p:tag name="IGUANATEXCURSOR" val="829"/>
  <p:tag name="TRANSPARENCY" val="Fals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631.796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1}^{\left(T_{2}\right)}&#10;&amp; =&#10;\frac{1}{\sqrt{3}}&#10;\begin{pmatrix}&#10;0 &amp; 0 &amp; 0 &amp; 0 &amp; 0 &amp; 0 &amp; 0                           &amp; 0 &amp; 0 &amp; 2                 &amp; 0 &amp; 0 \\&#10;0 &amp; 0 &amp; 0 &amp; 0 &amp; 0 &amp; 0 &amp; 2                           &amp; 0 &amp; 0 &amp; 0                 &amp; 0 &amp; 0 \\&#10;0 &amp; 0 &amp; 0 &amp; 0 &amp; 0 &amp; 0 &amp; -\mathrm{i}\tau^{2}\sqrt{3} &amp; 0 &amp; 0 &amp; -\tau^{2}         &amp; 0 &amp; 0 \\&#10;0 &amp; 0 &amp; 0 &amp; 0 &amp; 0 &amp; 0 &amp; \mathrm{i}\tau^{2}          &amp; 0 &amp; 0 &amp; -\tau^{2}\sqrt{3} &amp; 0 &amp; 0 \\&#10;0 &amp; 0 &amp; 0 &amp; 0 &amp; 0 &amp; 0 &amp; \mathrm{i}\tau\sqrt{3}      &amp; 0 &amp; 0 &amp; -\tau             &amp; 0 &amp; 0 \\&#10;0 &amp; 0 &amp; 0 &amp; 0 &amp; 0 &amp; 0 &amp; -\mathrm{i}\tau             &amp; 0 &amp; 0 &amp;  -\tau\sqrt{3}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0 &amp; 0 &amp; 0 &amp; 0 &amp; 0 &amp; 0 &amp; 0                           &amp; 0 &amp; 0 &amp; 0                 &amp; 0 &amp; 0 \\&#10;\end{pmatrix}&#10;\\&#10;\end{align*}&#10;&#10;\end{document}"/>
  <p:tag name="IGUANATEXSIZE" val="16"/>
  <p:tag name="IGUANATEXCURSOR" val="1327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914.51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1}^{\left(T_{2}\right)}&#10;&amp; =&#10;\frac{1}{\sqrt{3}}&#10;\begin{pmatrix}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0 &amp; 2 &amp; -\mathrm{i}\tau\sqrt{3} &amp; -\mathrm{i}\tau &amp; \mathrm{i}\tau^{2}\sqrt{3} &amp; \mathrm{i}\tau^{2}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2 &amp; 0 &amp; -\tau                   &amp; \tau\sqrt{3}    &amp; -\tau^{2}                  &amp; \tau^{2}\sqrt{3}   &amp; 0 &amp; 0 &amp; 0 &amp; 0 &amp; 0 &amp; 0 \\&#10;0 &amp; 0 &amp; 0                       &amp; 0               &amp; 0                          &amp; 0                  &amp; 0 &amp; 0 &amp; 0 &amp; 0 &amp; 0 &amp; 0 \\&#10;0 &amp; 0 &amp; 0                       &amp; 0               &amp; 0                          &amp; 0                  &amp; 0 &amp; 0 &amp; 0 &amp; 0 &amp; 0 &amp; 0 \\&#10;\end{pmatrix}&#10;\\&#10;\end{align*}&#10;&#10;\end{document}"/>
  <p:tag name="IGUANATEXSIZE" val="16"/>
  <p:tag name="IGUANATEXCURSOR" val="1759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575.553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2}^{\left(T_{2}\right)}&#10;&amp; =&#10;\frac{1}{\sqrt{3}}&#10;\begin{pmatrix}&#10;0 &amp; 0 &amp; 0 &amp; 0 &amp; 0 &amp; 0 &amp; 0                          &amp; 0 &amp; 0 &amp; 2                 &amp; 0 &amp; 0 \\&#10;0 &amp; 0 &amp; 0 &amp; 0 &amp; 0 &amp; 0 &amp; 2                          &amp; 0 &amp; 0 &amp; 0                 &amp; 0 &amp; 0 \\&#10;0 &amp; 0 &amp; 0 &amp; 0 &amp; 0 &amp; 0 &amp; -\mathrm{i}\sqrt{3}\tau    &amp; 0 &amp; 0 &amp; -\tau             &amp; 0 &amp; 0 \\&#10;0 &amp; 0 &amp; 0 &amp; 0 &amp; 0 &amp; 0 &amp; \mathrm{i}\tau             &amp; 0 &amp; 0 &amp; -\tau\sqrt{3}     &amp; 0 &amp; 0 \\&#10;0 &amp; 0 &amp; 0 &amp; 0 &amp; 0 &amp; 0 &amp; \mathrm{i}\tau^{2}\sqrt{3} &amp; 0 &amp; 0 &amp; -\tau^{2}         &amp; 0 &amp; 0 \\&#10;0 &amp; 0 &amp; 0 &amp; 0 &amp; 0 &amp; 0 &amp; -\mathrm{i}\tau^{2}        &amp; 0 &amp; 0 &amp; -\tau^{2}\sqrt{3}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0 &amp; 0 &amp; 0 &amp; 0 &amp; 0 &amp; 0 &amp; 0                          &amp; 0 &amp; 0 &amp; 0                 &amp; 0 &amp; 0 \\&#10;\end{pmatrix}&#10;\\&#10;\end{align*}&#10;&#10;\end{document}"/>
  <p:tag name="IGUANATEXSIZE" val="16"/>
  <p:tag name="IGUANATEXCURSOR" val="1315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914.51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2}^{\left(T_{2}\right)}&#10;&amp; =&#10;\frac{1}{\sqrt{3}}&#10;\begin{pmatrix}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0 &amp; 2 &amp; -\mathrm{i}\tau^{2}\sqrt{3} &amp; -\mathrm{i}\tau^{2} &amp; \mathrm{i}\tau\sqrt{3} &amp; \mathrm{i}\tau &amp; 0 &amp; 0 &amp; 0 &amp; 0 &amp; 0 &amp; 0 \\&#10;0 &amp; 0 &amp; 0                           &amp; 0                   &amp; 0                      &amp; 0              &amp; 0 &amp; 0 &amp; 0 &amp; 0 &amp; 0 &amp; 0 \\&#10;0 &amp; 0 &amp; 0                           &amp; 0                   &amp; 0                      &amp; 0              &amp; 0 &amp; 0 &amp; 0 &amp; 0 &amp; 0 &amp; 0 \\&#10;2 &amp; 0 &amp; -\tau^{2}                   &amp; \tau^{2}\sqrt{3}    &amp; -\tau                  &amp; \tau\sqrt{3}   &amp; 0 &amp; 0 &amp; 0 &amp; 0 &amp; 0 &amp; 0 \\&#10;0 &amp; 0 &amp; 0                           &amp; 0                   &amp; 0                      &amp; 0              &amp; 0 &amp; 0 &amp; 0 &amp; 0 &amp; 0 &amp; 0 \\&#10;\end{pmatrix}&#10;\\&#10;\end{align*}&#10;&#10;\end{document}"/>
  <p:tag name="IGUANATEXSIZE" val="16"/>
  <p:tag name="IGUANATEXCURSOR" val="1759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383.577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13}^{\left(T_{2}\right)}&#10;&amp; =&#10;\frac{1}{\sqrt{3}}&#10;\begin{pmatrix}&#10;0 &amp; 0 &amp; 0 &amp; 0 &amp; 0 &amp; 0 &amp; 0 &amp; 0 &amp; 0                   &amp; 0 &amp; 0 &amp; 2 \\&#10;0 &amp; 0 &amp; 0 &amp; 0 &amp; 0 &amp; 0 &amp; 0 &amp; 0 &amp; 2                   &amp; 0 &amp; 0 &amp; 0 \\&#10;0 &amp; 0 &amp; 0 &amp; 0 &amp; 0 &amp; 0 &amp; 0 &amp; 0 &amp; -\mathrm{i}\sqrt{3} &amp; 0 &amp; 0 &amp; -1 \\&#10;0 &amp; 0 &amp; 0 &amp; 0 &amp; 0 &amp; 0 &amp; 0 &amp; 0 &amp; \mathrm{i}          &amp; 0 &amp; 0 &amp; -\sqrt{3} \\&#10;0 &amp; 0 &amp; 0 &amp; 0 &amp; 0 &amp; 0 &amp; 0 &amp; 0 &amp; \mathrm{i}\sqrt{3}  &amp; 0 &amp; 0 &amp; -1 \\&#10;0 &amp; 0 &amp; 0 &amp; 0 &amp; 0 &amp; 0 &amp; 0 &amp; 0 &amp; -\mathrm{i}         &amp; 0 &amp; 0 &amp; -\sqrt{3}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0 &amp; 0 &amp; 0 &amp; 0 &amp; 0 &amp; 0 &amp; 0 &amp; 0 &amp; 0                   &amp; 0 &amp; 0 &amp; 0 \\&#10;\end{pmatrix}&#10;\\&#10;\end{align*}&#10;&#10;\end{document}"/>
  <p:tag name="IGUANATEXSIZE" val="16"/>
  <p:tag name="IGUANATEXCURSOR" val="174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825.272"/>
  <p:tag name="LATEXADDIN" val="\documentclass{article}&#10;\usepackage{amsmath,bm,eufrak}&#10;\pagestyle{empty}&#10;\begin{document}&#10;&#10;\begin{equation*}&#10;W = \left\{A_{+},A_{-},E_{1,+},E_{1,-},E_{2,+},E_{2,-},T_{x,-},T_{y,-},T_{z,-},T_{x,+},T_{y,+},T_{z,+}\right\}&#10;\end{equation*}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3.026"/>
  <p:tag name="ORIGINALWIDTH" val="3528.309"/>
  <p:tag name="OUTPUTTYPE" val="PNG"/>
  <p:tag name="IGUANATEXVERSION" val="159"/>
  <p:tag name="LATEXADDIN" val="\documentclass{article}&#10;\usepackage{amsmath,bm,eufrak}&#10;\pagestyle{empty}&#10;\begin{document}&#10;&#10;\setcounter{MaxMatrixCols}{15}&#10;&#10;\begin{align*}&#10;\mathfrak{q}_{\perp,23}^{\left(T_{2}\right)}&#10;&amp; =&#10;\frac{1}{\sqrt{3}}&#10;\begin{pmatrix}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0 &amp; 2 &amp; -\mathrm{i}\sqrt{3} &amp; -\mathrm{i} &amp; \mathrm{i}\sqrt{3} &amp; \mathrm{i} &amp; 0 &amp; 0 &amp; 0 &amp; 0 &amp; 0 &amp; 0 \\&#10;0 &amp; 0 &amp; 0                   &amp; 0           &amp; 0                  &amp; 0          &amp; 0 &amp; 0 &amp; 0 &amp; 0 &amp; 0 &amp; 0 \\&#10;0 &amp; 0 &amp; 0                   &amp; 0           &amp; 0                  &amp; 0          &amp; 0 &amp; 0 &amp; 0 &amp; 0 &amp; 0 &amp; 0 \\&#10;2 &amp; 0 &amp; -1                  &amp; \sqrt{3}    &amp; -1                 &amp; \sqrt{3}   &amp; 0 &amp; 0 &amp; 0 &amp; 0 &amp; 0 &amp; 0 \\&#10;\end{pmatrix}&#10;\\&#10;\end{align*}&#10;&#10;\end{document}"/>
  <p:tag name="IGUANATEXSIZE" val="16"/>
  <p:tag name="IGUANATEXCURSOR" val="1471"/>
  <p:tag name="TRANSPARENCY" val="True"/>
  <p:tag name="FILENAME" val=""/>
  <p:tag name="LATEXENGINEID" val="0"/>
  <p:tag name="TEMPFOLDER" val="C:\iguanatex\"/>
  <p:tag name="LATEXFORMHEIGHT" val="463"/>
  <p:tag name="LATEXFORMWIDTH" val="1305.75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84313</TotalTime>
  <Words>352</Words>
  <Application>Microsoft Office PowerPoint</Application>
  <PresentationFormat>Widescreen</PresentationFormat>
  <Paragraphs>77</Paragraphs>
  <Slides>41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Georgia</vt:lpstr>
      <vt:lpstr>Gill Sans MT</vt:lpstr>
      <vt:lpstr>LucidaGrande</vt:lpstr>
      <vt:lpstr>UB Powerpoint Template</vt:lpstr>
      <vt:lpstr>PREFACTOR FORMULATION</vt:lpstr>
      <vt:lpstr>Prefactor vectors for potentials as seen by symmetric state basis</vt:lpstr>
      <vt:lpstr>Prefactor vectors, same valley</vt:lpstr>
      <vt:lpstr>Prefactor vectors, opposite valley, even-even inversion symmetry</vt:lpstr>
      <vt:lpstr>Prefactor vectors, opposite valley, odd-odd inversion symmetry</vt:lpstr>
      <vt:lpstr>Prefactor vectors, opposite valley, btwn A and T states</vt:lpstr>
      <vt:lpstr>Prefactor vectors, opposite valley, btwn E and T states</vt:lpstr>
      <vt:lpstr>GROUP THEORY</vt:lpstr>
      <vt:lpstr>Symmetrized potential projected onto symmetries of Td -- I</vt:lpstr>
      <vt:lpstr>Potential Matrix</vt:lpstr>
      <vt:lpstr>A1</vt:lpstr>
      <vt:lpstr>Effect of Td operations upon expanded symmetrized potential</vt:lpstr>
      <vt:lpstr>A2</vt:lpstr>
      <vt:lpstr>Effect of Td operations upon expanded symmetrized potential</vt:lpstr>
      <vt:lpstr>E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T1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T2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  <vt:lpstr>Effect of Td operations upon expanded symmetrized potential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3703</cp:revision>
  <cp:lastPrinted>2016-07-18T17:32:49Z</cp:lastPrinted>
  <dcterms:created xsi:type="dcterms:W3CDTF">2016-06-28T14:05:07Z</dcterms:created>
  <dcterms:modified xsi:type="dcterms:W3CDTF">2022-09-01T17:30:15Z</dcterms:modified>
  <cp:category/>
</cp:coreProperties>
</file>