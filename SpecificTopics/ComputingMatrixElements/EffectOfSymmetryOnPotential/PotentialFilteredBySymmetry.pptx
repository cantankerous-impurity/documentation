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7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8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9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0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2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4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6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7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8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19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0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21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22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23.xml" ContentType="application/vnd.openxmlformats-officedocument.presentationml.notesSlide+xml"/>
  <Override PartName="/ppt/tags/tag125.xml" ContentType="application/vnd.openxmlformats-officedocument.presentationml.tags+xml"/>
  <Override PartName="/ppt/notesSlides/notesSlide24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25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26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27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7"/>
  </p:notesMasterIdLst>
  <p:handoutMasterIdLst>
    <p:handoutMasterId r:id="rId38"/>
  </p:handoutMasterIdLst>
  <p:sldIdLst>
    <p:sldId id="510" r:id="rId2"/>
    <p:sldId id="848" r:id="rId3"/>
    <p:sldId id="847" r:id="rId4"/>
    <p:sldId id="1116" r:id="rId5"/>
    <p:sldId id="699" r:id="rId6"/>
    <p:sldId id="851" r:id="rId7"/>
    <p:sldId id="817" r:id="rId8"/>
    <p:sldId id="816" r:id="rId9"/>
    <p:sldId id="1119" r:id="rId10"/>
    <p:sldId id="1120" r:id="rId11"/>
    <p:sldId id="1142" r:id="rId12"/>
    <p:sldId id="1205" r:id="rId13"/>
    <p:sldId id="1207" r:id="rId14"/>
    <p:sldId id="1143" r:id="rId15"/>
    <p:sldId id="1171" r:id="rId16"/>
    <p:sldId id="1172" r:id="rId17"/>
    <p:sldId id="1193" r:id="rId18"/>
    <p:sldId id="1198" r:id="rId19"/>
    <p:sldId id="1199" r:id="rId20"/>
    <p:sldId id="1208" r:id="rId21"/>
    <p:sldId id="1206" r:id="rId22"/>
    <p:sldId id="1211" r:id="rId23"/>
    <p:sldId id="1212" r:id="rId24"/>
    <p:sldId id="1200" r:id="rId25"/>
    <p:sldId id="1123" r:id="rId26"/>
    <p:sldId id="1218" r:id="rId27"/>
    <p:sldId id="1220" r:id="rId28"/>
    <p:sldId id="1227" r:id="rId29"/>
    <p:sldId id="1226" r:id="rId30"/>
    <p:sldId id="1201" r:id="rId31"/>
    <p:sldId id="1219" r:id="rId32"/>
    <p:sldId id="1149" r:id="rId33"/>
    <p:sldId id="1194" r:id="rId34"/>
    <p:sldId id="1191" r:id="rId35"/>
    <p:sldId id="1192" r:id="rId3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3" autoAdjust="0"/>
    <p:restoredTop sz="95291" autoAdjust="0"/>
  </p:normalViewPr>
  <p:slideViewPr>
    <p:cSldViewPr snapToGrid="0" snapToObjects="1">
      <p:cViewPr varScale="1">
        <p:scale>
          <a:sx n="114" d="100"/>
          <a:sy n="114" d="100"/>
        </p:scale>
        <p:origin x="10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9/24/2022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54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5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329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3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74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465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202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534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100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84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071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97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601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35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4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33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21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1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370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95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95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73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42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136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98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32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9" Type="http://schemas.openxmlformats.org/officeDocument/2006/relationships/image" Target="../media/image22.png"/><Relationship Id="rId21" Type="http://schemas.openxmlformats.org/officeDocument/2006/relationships/tags" Target="../tags/tag29.xml"/><Relationship Id="rId34" Type="http://schemas.openxmlformats.org/officeDocument/2006/relationships/image" Target="../media/image17.png"/><Relationship Id="rId42" Type="http://schemas.openxmlformats.org/officeDocument/2006/relationships/image" Target="../media/image25.png"/><Relationship Id="rId47" Type="http://schemas.openxmlformats.org/officeDocument/2006/relationships/image" Target="../media/image30.png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image" Target="../media/image15.png"/><Relationship Id="rId37" Type="http://schemas.openxmlformats.org/officeDocument/2006/relationships/image" Target="../media/image20.png"/><Relationship Id="rId40" Type="http://schemas.openxmlformats.org/officeDocument/2006/relationships/image" Target="../media/image23.png"/><Relationship Id="rId45" Type="http://schemas.openxmlformats.org/officeDocument/2006/relationships/image" Target="../media/image28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36" Type="http://schemas.openxmlformats.org/officeDocument/2006/relationships/image" Target="../media/image19.png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notesSlide" Target="../notesSlides/notesSlide3.xml"/><Relationship Id="rId44" Type="http://schemas.openxmlformats.org/officeDocument/2006/relationships/image" Target="../media/image27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slideLayout" Target="../slideLayouts/slideLayout12.xml"/><Relationship Id="rId35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image" Target="../media/image31.png"/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image" Target="../media/image16.png"/><Relationship Id="rId38" Type="http://schemas.openxmlformats.org/officeDocument/2006/relationships/image" Target="../media/image21.png"/><Relationship Id="rId46" Type="http://schemas.openxmlformats.org/officeDocument/2006/relationships/image" Target="../media/image29.png"/><Relationship Id="rId20" Type="http://schemas.openxmlformats.org/officeDocument/2006/relationships/tags" Target="../tags/tag28.xml"/><Relationship Id="rId41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7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36.png"/><Relationship Id="rId2" Type="http://schemas.openxmlformats.org/officeDocument/2006/relationships/tags" Target="../tags/tag41.xml"/><Relationship Id="rId16" Type="http://schemas.openxmlformats.org/officeDocument/2006/relationships/image" Target="../media/image40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35.png"/><Relationship Id="rId5" Type="http://schemas.openxmlformats.org/officeDocument/2006/relationships/tags" Target="../tags/tag44.xml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tags" Target="../tags/tag43.xml"/><Relationship Id="rId9" Type="http://schemas.openxmlformats.org/officeDocument/2006/relationships/notesSlide" Target="../notesSlides/notesSlide5.xml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tags" Target="../tags/tag49.xml"/><Relationship Id="rId21" Type="http://schemas.openxmlformats.org/officeDocument/2006/relationships/image" Target="../media/image49.png"/><Relationship Id="rId7" Type="http://schemas.openxmlformats.org/officeDocument/2006/relationships/tags" Target="../tags/tag53.xml"/><Relationship Id="rId12" Type="http://schemas.openxmlformats.org/officeDocument/2006/relationships/notesSlide" Target="../notesSlides/notesSlide6.xml"/><Relationship Id="rId17" Type="http://schemas.openxmlformats.org/officeDocument/2006/relationships/image" Target="../media/image45.png"/><Relationship Id="rId2" Type="http://schemas.openxmlformats.org/officeDocument/2006/relationships/tags" Target="../tags/tag48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51.xml"/><Relationship Id="rId15" Type="http://schemas.openxmlformats.org/officeDocument/2006/relationships/image" Target="../media/image43.png"/><Relationship Id="rId10" Type="http://schemas.openxmlformats.org/officeDocument/2006/relationships/tags" Target="../tags/tag56.xml"/><Relationship Id="rId19" Type="http://schemas.openxmlformats.org/officeDocument/2006/relationships/image" Target="../media/image47.png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image" Target="../media/image42.png"/><Relationship Id="rId22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tags" Target="../tags/tag59.xml"/><Relationship Id="rId21" Type="http://schemas.openxmlformats.org/officeDocument/2006/relationships/image" Target="../media/image58.png"/><Relationship Id="rId7" Type="http://schemas.openxmlformats.org/officeDocument/2006/relationships/tags" Target="../tags/tag63.xml"/><Relationship Id="rId12" Type="http://schemas.openxmlformats.org/officeDocument/2006/relationships/notesSlide" Target="../notesSlides/notesSlide7.xml"/><Relationship Id="rId17" Type="http://schemas.openxmlformats.org/officeDocument/2006/relationships/image" Target="../media/image54.png"/><Relationship Id="rId2" Type="http://schemas.openxmlformats.org/officeDocument/2006/relationships/tags" Target="../tags/tag58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61.xml"/><Relationship Id="rId15" Type="http://schemas.openxmlformats.org/officeDocument/2006/relationships/image" Target="../media/image52.png"/><Relationship Id="rId10" Type="http://schemas.openxmlformats.org/officeDocument/2006/relationships/tags" Target="../tags/tag66.xml"/><Relationship Id="rId19" Type="http://schemas.openxmlformats.org/officeDocument/2006/relationships/image" Target="../media/image56.pn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51.png"/><Relationship Id="rId22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tags" Target="../tags/tag69.xml"/><Relationship Id="rId7" Type="http://schemas.openxmlformats.org/officeDocument/2006/relationships/image" Target="../media/image59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2.png"/><Relationship Id="rId4" Type="http://schemas.openxmlformats.org/officeDocument/2006/relationships/tags" Target="../tags/tag70.xml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73.xml"/><Relationship Id="rId7" Type="http://schemas.openxmlformats.org/officeDocument/2006/relationships/image" Target="../media/image64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63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13" Type="http://schemas.openxmlformats.org/officeDocument/2006/relationships/image" Target="../media/image70.png"/><Relationship Id="rId3" Type="http://schemas.openxmlformats.org/officeDocument/2006/relationships/tags" Target="../tags/tag7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69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68.png"/><Relationship Id="rId5" Type="http://schemas.openxmlformats.org/officeDocument/2006/relationships/tags" Target="../tags/tag78.xml"/><Relationship Id="rId10" Type="http://schemas.openxmlformats.org/officeDocument/2006/relationships/image" Target="../media/image67.png"/><Relationship Id="rId4" Type="http://schemas.openxmlformats.org/officeDocument/2006/relationships/tags" Target="../tags/tag77.xml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82.xml"/><Relationship Id="rId7" Type="http://schemas.openxmlformats.org/officeDocument/2006/relationships/image" Target="../media/image66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72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75.png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81.png"/><Relationship Id="rId3" Type="http://schemas.openxmlformats.org/officeDocument/2006/relationships/tags" Target="../tags/tag8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80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image" Target="../media/image79.png"/><Relationship Id="rId5" Type="http://schemas.openxmlformats.org/officeDocument/2006/relationships/tags" Target="../tags/tag91.xml"/><Relationship Id="rId10" Type="http://schemas.openxmlformats.org/officeDocument/2006/relationships/image" Target="../media/image78.png"/><Relationship Id="rId4" Type="http://schemas.openxmlformats.org/officeDocument/2006/relationships/tags" Target="../tags/tag90.xml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95.xml"/><Relationship Id="rId7" Type="http://schemas.openxmlformats.org/officeDocument/2006/relationships/image" Target="../media/image83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15.xml"/><Relationship Id="rId11" Type="http://schemas.openxmlformats.org/officeDocument/2006/relationships/image" Target="../media/image87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86.png"/><Relationship Id="rId4" Type="http://schemas.openxmlformats.org/officeDocument/2006/relationships/tags" Target="../tags/tag96.xml"/><Relationship Id="rId9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notesSlide" Target="../notesSlides/notesSlide16.xml"/><Relationship Id="rId18" Type="http://schemas.openxmlformats.org/officeDocument/2006/relationships/image" Target="../media/image91.png"/><Relationship Id="rId3" Type="http://schemas.openxmlformats.org/officeDocument/2006/relationships/tags" Target="../tags/tag99.xml"/><Relationship Id="rId21" Type="http://schemas.openxmlformats.org/officeDocument/2006/relationships/image" Target="../media/image94.png"/><Relationship Id="rId7" Type="http://schemas.openxmlformats.org/officeDocument/2006/relationships/tags" Target="../tags/tag103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90.png"/><Relationship Id="rId25" Type="http://schemas.openxmlformats.org/officeDocument/2006/relationships/image" Target="../media/image98.png"/><Relationship Id="rId2" Type="http://schemas.openxmlformats.org/officeDocument/2006/relationships/tags" Target="../tags/tag98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image" Target="../media/image97.png"/><Relationship Id="rId5" Type="http://schemas.openxmlformats.org/officeDocument/2006/relationships/tags" Target="../tags/tag101.xml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10" Type="http://schemas.openxmlformats.org/officeDocument/2006/relationships/tags" Target="../tags/tag106.xml"/><Relationship Id="rId19" Type="http://schemas.openxmlformats.org/officeDocument/2006/relationships/image" Target="../media/image92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image" Target="../media/image800.png"/><Relationship Id="rId22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tags" Target="../tags/tag114.xml"/><Relationship Id="rId7" Type="http://schemas.openxmlformats.org/officeDocument/2006/relationships/image" Target="../media/image105.pn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103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tags" Target="../tags/tag117.xml"/><Relationship Id="rId7" Type="http://schemas.openxmlformats.org/officeDocument/2006/relationships/image" Target="../media/image108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107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tags" Target="../tags/tag120.xml"/><Relationship Id="rId7" Type="http://schemas.openxmlformats.org/officeDocument/2006/relationships/image" Target="../media/image111.pn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110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notesSlide" Target="../notesSlides/notesSlid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notesSlide" Target="../notesSlides/notesSlide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5.xml"/><Relationship Id="rId4" Type="http://schemas.openxmlformats.org/officeDocument/2006/relationships/image" Target="../media/image11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tags" Target="../tags/tag128.xml"/><Relationship Id="rId7" Type="http://schemas.openxmlformats.org/officeDocument/2006/relationships/image" Target="../media/image119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22.png"/><Relationship Id="rId4" Type="http://schemas.openxmlformats.org/officeDocument/2006/relationships/tags" Target="../tags/tag129.xml"/><Relationship Id="rId9" Type="http://schemas.openxmlformats.org/officeDocument/2006/relationships/image" Target="../media/image1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tags" Target="../tags/tag132.xml"/><Relationship Id="rId7" Type="http://schemas.openxmlformats.org/officeDocument/2006/relationships/image" Target="../media/image124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123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tags" Target="../tags/tag135.xml"/><Relationship Id="rId7" Type="http://schemas.openxmlformats.org/officeDocument/2006/relationships/image" Target="../media/image126.pn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125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126.png"/><Relationship Id="rId5" Type="http://schemas.openxmlformats.org/officeDocument/2006/relationships/image" Target="../media/image128.png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MultI-Valley Basis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basis states appropriately symmetrized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even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1F632F-EFF7-47C4-B8F6-04C3BE318B58}"/>
              </a:ext>
            </a:extLst>
          </p:cNvPr>
          <p:cNvGrpSpPr/>
          <p:nvPr/>
        </p:nvGrpSpPr>
        <p:grpSpPr>
          <a:xfrm>
            <a:off x="285221" y="2187935"/>
            <a:ext cx="5339402" cy="793294"/>
            <a:chOff x="285221" y="2187935"/>
            <a:chExt cx="5339402" cy="793294"/>
          </a:xfrm>
        </p:grpSpPr>
        <p:pic>
          <p:nvPicPr>
            <p:cNvPr id="4" name="Picture 3" descr="\documentclass{article}&#10;\usepackage{amsmath,bm}&#10;\pagestyle{empty}&#10;\begin{document}&#10;&#10;\begin{equation*}&#10;\Psi_{m_{e}lk;\lambda\eta}^{\left(A^{(\sigma)}W\kappa\right)}&#10;=&#10;\sum_{q = x,y,z} &#10;\left(\frac{1}{\sqrt{3}}\right)&#10;\Phi_{m_{e}lk(\sigma\mathrm{i}^{m_{e}})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22467A0-F3DF-4256-B3A8-CC7EB17F6BA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98579" y="2271897"/>
              <a:ext cx="5112686" cy="625371"/>
            </a:xfrm>
            <a:prstGeom prst="rect">
              <a:avLst/>
            </a:prstGeom>
          </p:spPr>
        </p:pic>
        <p:sp>
          <p:nvSpPr>
            <p:cNvPr id="29" name="Rounded Rectangle 28"/>
            <p:cNvSpPr/>
            <p:nvPr/>
          </p:nvSpPr>
          <p:spPr>
            <a:xfrm>
              <a:off x="285221" y="2187935"/>
              <a:ext cx="5339402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B7B69F-B351-4919-A1A5-9380A299ECB1}"/>
              </a:ext>
            </a:extLst>
          </p:cNvPr>
          <p:cNvGrpSpPr/>
          <p:nvPr/>
        </p:nvGrpSpPr>
        <p:grpSpPr>
          <a:xfrm>
            <a:off x="285221" y="5561193"/>
            <a:ext cx="4084760" cy="746474"/>
            <a:chOff x="285221" y="5561193"/>
            <a:chExt cx="4084760" cy="746474"/>
          </a:xfrm>
        </p:grpSpPr>
        <p:sp>
          <p:nvSpPr>
            <p:cNvPr id="36" name="Rounded Rectangle 35"/>
            <p:cNvSpPr/>
            <p:nvPr/>
          </p:nvSpPr>
          <p:spPr>
            <a:xfrm>
              <a:off x="285221" y="5561193"/>
              <a:ext cx="4084760" cy="7464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 descr="\documentclass{article}&#10;\usepackage{amsmath,bm}&#10;\pagestyle{empty}&#10;\begin{document}&#10;&#10;\begin{align*}&#10;\Psi_{m_{e}lk;\lambda\eta}^{\left(T_{q}^{(\sigma)}W\kappa\right)}&#10;=&#10;\Phi_{m_{e}lk(\sigma\mathrm{i}^{m_{e}});\lambda\eta}^{(W\kappa q)}&#10;\Theta_{-\sigma\mathrm{i}^{m_{e}}(-1)^{l}}^{(q)}&#10;\end{align*}&#10;&#10;\end{document}" title="IguanaTex Bitmap Display">
              <a:extLst>
                <a:ext uri="{FF2B5EF4-FFF2-40B4-BE49-F238E27FC236}">
                  <a16:creationId xmlns:a16="http://schemas.microsoft.com/office/drawing/2014/main" id="{029ADC6E-68C1-427C-A26B-F12E50C3726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02805" y="5719802"/>
              <a:ext cx="3849593" cy="429257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D6ACFA-BF10-4705-92CA-CEA89FBFFBE3}"/>
              </a:ext>
            </a:extLst>
          </p:cNvPr>
          <p:cNvGrpSpPr/>
          <p:nvPr/>
        </p:nvGrpSpPr>
        <p:grpSpPr>
          <a:xfrm>
            <a:off x="285221" y="3874564"/>
            <a:ext cx="5339402" cy="793294"/>
            <a:chOff x="285221" y="3874564"/>
            <a:chExt cx="5339402" cy="793294"/>
          </a:xfrm>
        </p:grpSpPr>
        <p:pic>
          <p:nvPicPr>
            <p:cNvPr id="8" name="Picture 7" descr="\documentclass{article}&#10;\usepackage{amsmath,bm}&#10;\pagestyle{empty}&#10;\begin{document}&#10;&#10;\begin{equation*}&#10;\Psi_{m_{e}lk\sigma;\lambda\eta}^{\left(E_{i}W\kappa\right)}&#10;=&#10;\sum_{q = x,y,z}&#10;\left(\beta_{E_{i}}^{(\sigma)}\right)_{q}&#10;\Phi_{m_{e}lk(\sigma\mathrm{i}^{m_{e}})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3E2A26BD-A01A-4E93-B7B5-3C9222301EA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90355" y="3992811"/>
              <a:ext cx="5129135" cy="556800"/>
            </a:xfrm>
            <a:prstGeom prst="rect">
              <a:avLst/>
            </a:prstGeom>
          </p:spPr>
        </p:pic>
        <p:sp>
          <p:nvSpPr>
            <p:cNvPr id="33" name="Rounded Rectangle 32"/>
            <p:cNvSpPr/>
            <p:nvPr/>
          </p:nvSpPr>
          <p:spPr>
            <a:xfrm>
              <a:off x="285221" y="3874564"/>
              <a:ext cx="5339402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0F15C3-D595-41CB-B6AB-8CADA7AC6D83}"/>
              </a:ext>
            </a:extLst>
          </p:cNvPr>
          <p:cNvGrpSpPr/>
          <p:nvPr/>
        </p:nvGrpSpPr>
        <p:grpSpPr>
          <a:xfrm>
            <a:off x="6964171" y="3904230"/>
            <a:ext cx="4048787" cy="763628"/>
            <a:chOff x="6964171" y="3838118"/>
            <a:chExt cx="4048787" cy="7636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D8E46-B34A-4FF7-86CB-79EDE9D46181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6964171" y="3838118"/>
              <a:ext cx="2171123" cy="763628"/>
              <a:chOff x="6964171" y="3838118"/>
              <a:chExt cx="2171123" cy="76362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F407A43-AF9D-49DE-8682-E6D93E3DA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6964171" y="3838118"/>
                <a:ext cx="2171123" cy="460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257" y="4383536"/>
                <a:ext cx="1178819" cy="218210"/>
              </a:xfrm>
              <a:prstGeom prst="rect">
                <a:avLst/>
              </a:prstGeom>
            </p:spPr>
          </p:pic>
        </p:grpSp>
        <p:pic>
          <p:nvPicPr>
            <p:cNvPr id="21" name="Picture 2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520" y="3994408"/>
              <a:ext cx="1282438" cy="45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30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odd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04CE1D-C60C-40B6-B24B-FEFE22164BC3}"/>
              </a:ext>
            </a:extLst>
          </p:cNvPr>
          <p:cNvGrpSpPr/>
          <p:nvPr/>
        </p:nvGrpSpPr>
        <p:grpSpPr>
          <a:xfrm>
            <a:off x="3184722" y="2966863"/>
            <a:ext cx="5822556" cy="924274"/>
            <a:chOff x="2779184" y="2966863"/>
            <a:chExt cx="5822556" cy="924274"/>
          </a:xfrm>
        </p:grpSpPr>
        <p:sp>
          <p:nvSpPr>
            <p:cNvPr id="36" name="Rounded Rectangle 35"/>
            <p:cNvSpPr/>
            <p:nvPr/>
          </p:nvSpPr>
          <p:spPr>
            <a:xfrm>
              <a:off x="2779184" y="2966863"/>
              <a:ext cx="5822556" cy="9242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\documentclass{article}&#10;\usepackage{amsmath,bm}&#10;\pagestyle{empty}&#10;\begin{document}&#10;&#10;\begin{align*}&#10;\Psi_{m_{o}lkh;\lambda\eta}^{\left(T_{q_{1}}^{(\sigma)}W\kappa\right)}&#10;=&#10;\frac&#10;{&#10;\Phi_{m_{o}lkh;\lambda\eta}^{\left(W\kappa q_{2}\right)}\Theta_{h(-1)^{l}}^{(q_{2})}&#10;- h\sigma\mathrm{i}^{m_{o}}\Phi_{m_{o}lk\bar{h};\lambda\eta}^{\left(W\kappa q_{3}\right)}\Theta_{h(-1)^{l}}^{(q_{3})}&#10;}&#10;{\sqrt{2}}&#10;\end{align*}&#10;&#10;\end{document}" title="IguanaTex Bitmap Display">
              <a:extLst>
                <a:ext uri="{FF2B5EF4-FFF2-40B4-BE49-F238E27FC236}">
                  <a16:creationId xmlns:a16="http://schemas.microsoft.com/office/drawing/2014/main" id="{D4C6DACE-DE6C-4C12-B224-AAFBEAF4297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2887951" y="3098485"/>
              <a:ext cx="5605022" cy="661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25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Effect of Td operations on symmetrized states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593A4D6-48D1-42C6-B343-34893D5BEF72}"/>
              </a:ext>
            </a:extLst>
          </p:cNvPr>
          <p:cNvGrpSpPr/>
          <p:nvPr/>
        </p:nvGrpSpPr>
        <p:grpSpPr>
          <a:xfrm>
            <a:off x="478949" y="3443884"/>
            <a:ext cx="3017520" cy="2797106"/>
            <a:chOff x="478949" y="3443884"/>
            <a:chExt cx="3017520" cy="279710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B455BD8-45B6-42BC-BAA5-A3EEF6F68F21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478949" y="3443884"/>
              <a:ext cx="3017519" cy="1188720"/>
              <a:chOff x="478949" y="3443884"/>
              <a:chExt cx="3017519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78949" y="3443884"/>
                <a:ext cx="3017519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844708" y="3494805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77C1121-ACCD-4761-AEB6-F76B682E7974}"/>
                  </a:ext>
                </a:extLst>
              </p:cNvPr>
              <p:cNvGrpSpPr/>
              <p:nvPr>
                <p:custDataLst>
                  <p:tags r:id="rId20"/>
                </p:custDataLst>
              </p:nvPr>
            </p:nvGrpSpPr>
            <p:grpSpPr>
              <a:xfrm>
                <a:off x="689509" y="3963510"/>
                <a:ext cx="2535257" cy="569589"/>
                <a:chOff x="689509" y="3963510"/>
                <a:chExt cx="2535257" cy="569589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4A1C3E04-003F-49BA-A174-F72FF852D4DB}"/>
                    </a:ext>
                  </a:extLst>
                </p:cNvPr>
                <p:cNvGrpSpPr/>
                <p:nvPr>
                  <p:custDataLst>
                    <p:tags r:id="rId21"/>
                  </p:custDataLst>
                </p:nvPr>
              </p:nvGrpSpPr>
              <p:grpSpPr>
                <a:xfrm>
                  <a:off x="689509" y="3963510"/>
                  <a:ext cx="455426" cy="569589"/>
                  <a:chOff x="689509" y="3963510"/>
                  <a:chExt cx="455426" cy="569589"/>
                </a:xfrm>
              </p:grpSpPr>
              <p:pic>
                <p:nvPicPr>
                  <p:cNvPr id="179" name="Picture 178"/>
                  <p:cNvPicPr>
                    <a:picLocks noChangeAspect="1"/>
                  </p:cNvPicPr>
                  <p:nvPr>
                    <p:custDataLst>
                      <p:tags r:id="rId28"/>
                    </p:custDataLst>
                  </p:nvPr>
                </p:nvPicPr>
                <p:blipFill>
                  <a:blip r:embed="rId3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0649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5" name="Picture 4" descr="\documentclass{article}&#10;\usepackage{amsmath,bm}&#10;\pagestyle{empty}&#10;\begin{document}&#10;&#10;\begin{equation*}&#10;\Psi_{mlh}^{(1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A285AEF7-176D-4ABF-A652-E20D5A8817D1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9"/>
                    </p:custDataLst>
                  </p:nvPr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689509" y="4277100"/>
                    <a:ext cx="410285" cy="25599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78F170FB-0E1E-4498-82DC-4B4B19304E4E}"/>
                    </a:ext>
                  </a:extLst>
                </p:cNvPr>
                <p:cNvGrpSpPr/>
                <p:nvPr>
                  <p:custDataLst>
                    <p:tags r:id="rId22"/>
                  </p:custDataLst>
                </p:nvPr>
              </p:nvGrpSpPr>
              <p:grpSpPr>
                <a:xfrm>
                  <a:off x="1729425" y="3963510"/>
                  <a:ext cx="455426" cy="569589"/>
                  <a:chOff x="1729425" y="3963510"/>
                  <a:chExt cx="455426" cy="569589"/>
                </a:xfrm>
              </p:grpSpPr>
              <p:pic>
                <p:nvPicPr>
                  <p:cNvPr id="177" name="Picture 176"/>
                  <p:cNvPicPr>
                    <a:picLocks noChangeAspect="1"/>
                  </p:cNvPicPr>
                  <p:nvPr>
                    <p:custDataLst>
                      <p:tags r:id="rId26"/>
                    </p:custDataLst>
                  </p:nvPr>
                </p:nvPicPr>
                <p:blipFill>
                  <a:blip r:embed="rId3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90565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5" name="Picture 14" descr="\documentclass{article}&#10;\usepackage{amsmath,bm}&#10;\pagestyle{empty}&#10;\begin{document}&#10;&#10;\begin{equation*}&#10;\Psi_{mlh}^{(3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13AF1ED2-504B-488A-9217-B22486B8E972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7"/>
                    </p:custDataLst>
                  </p:nvPr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1729425" y="4277100"/>
                    <a:ext cx="410285" cy="25599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29945B60-3682-4FC4-87F8-37FBE437C0BA}"/>
                    </a:ext>
                  </a:extLst>
                </p:cNvPr>
                <p:cNvGrpSpPr/>
                <p:nvPr>
                  <p:custDataLst>
                    <p:tags r:id="rId23"/>
                  </p:custDataLst>
                </p:nvPr>
              </p:nvGrpSpPr>
              <p:grpSpPr>
                <a:xfrm>
                  <a:off x="2769340" y="3963510"/>
                  <a:ext cx="455426" cy="569589"/>
                  <a:chOff x="2769340" y="3963510"/>
                  <a:chExt cx="455426" cy="569589"/>
                </a:xfrm>
              </p:grpSpPr>
              <p:pic>
                <p:nvPicPr>
                  <p:cNvPr id="175" name="Picture 174"/>
                  <p:cNvPicPr>
                    <a:picLocks noChangeAspect="1"/>
                  </p:cNvPicPr>
                  <p:nvPr>
                    <p:custDataLst>
                      <p:tags r:id="rId24"/>
                    </p:custDataLst>
                  </p:nvPr>
                </p:nvPicPr>
                <p:blipFill>
                  <a:blip r:embed="rId3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30480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22" name="Picture 21" descr="\documentclass{article}&#10;\usepackage{amsmath,bm}&#10;\pagestyle{empty}&#10;\begin{document}&#10;&#10;\begin{equation*}&#10;\Psi_{mlh}^{(2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0E8DD26E-7D42-453C-B6DB-0A5542D84662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5"/>
                    </p:custDataLst>
                  </p:nvPr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2769340" y="4277100"/>
                    <a:ext cx="410285" cy="25599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E0D0BC-EF6D-4A54-9D7B-059DEB2F05D7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478949" y="5052270"/>
              <a:ext cx="3017520" cy="1188720"/>
              <a:chOff x="478949" y="5052270"/>
              <a:chExt cx="3017520" cy="118872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478949" y="5052270"/>
                <a:ext cx="301752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 Placeholder 1 5 2 2 1 2 2"/>
              <p:cNvSpPr txBox="1">
                <a:spLocks/>
              </p:cNvSpPr>
              <p:nvPr/>
            </p:nvSpPr>
            <p:spPr>
              <a:xfrm>
                <a:off x="769978" y="5103191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270D662-6872-4446-87DD-92BC0AE4BDA2}"/>
                  </a:ext>
                </a:extLst>
              </p:cNvPr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674207" y="5571896"/>
                <a:ext cx="2526434" cy="569589"/>
                <a:chOff x="674207" y="5571896"/>
                <a:chExt cx="2526434" cy="569589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6396776-08E9-4B8D-9799-7B7C3AF98072}"/>
                    </a:ext>
                  </a:extLst>
                </p:cNvPr>
                <p:cNvGrpSpPr/>
                <p:nvPr>
                  <p:custDataLst>
                    <p:tags r:id="rId11"/>
                  </p:custDataLst>
                </p:nvPr>
              </p:nvGrpSpPr>
              <p:grpSpPr>
                <a:xfrm>
                  <a:off x="674207" y="5571896"/>
                  <a:ext cx="528000" cy="569589"/>
                  <a:chOff x="674207" y="5571896"/>
                  <a:chExt cx="528000" cy="569589"/>
                </a:xfrm>
              </p:grpSpPr>
              <p:pic>
                <p:nvPicPr>
                  <p:cNvPr id="46" name="Picture 45"/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3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91349" y="5571896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29" name="Picture 28" descr="\documentclass{article}&#10;\usepackage{amsmath,bm}&#10;\pagestyle{empty}&#10;\begin{document}&#10;&#10;\begin{equation*}&#10;\sigma\Psi_{mlh}^{(1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78FFC561-5970-4E64-BDF9-85E1EC100F5E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9"/>
                    </p:custDataLst>
                  </p:nvPr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674207" y="5885486"/>
                    <a:ext cx="528000" cy="25599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7750C8F3-B005-45A8-981F-0EC9F3BCE443}"/>
                    </a:ext>
                  </a:extLst>
                </p:cNvPr>
                <p:cNvGrpSpPr/>
                <p:nvPr>
                  <p:custDataLst>
                    <p:tags r:id="rId12"/>
                  </p:custDataLst>
                </p:nvPr>
              </p:nvGrpSpPr>
              <p:grpSpPr>
                <a:xfrm>
                  <a:off x="1673424" y="5571896"/>
                  <a:ext cx="528000" cy="569589"/>
                  <a:chOff x="1673424" y="5571896"/>
                  <a:chExt cx="528000" cy="569589"/>
                </a:xfrm>
              </p:grpSpPr>
              <p:pic>
                <p:nvPicPr>
                  <p:cNvPr id="52" name="Picture 51"/>
                  <p:cNvPicPr>
                    <a:picLocks noChangeAspect="1"/>
                  </p:cNvPicPr>
                  <p:nvPr>
                    <p:custDataLst>
                      <p:tags r:id="rId16"/>
                    </p:custDataLst>
                  </p:nvPr>
                </p:nvPicPr>
                <p:blipFill>
                  <a:blip r:embed="rId4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90566" y="5571896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38" name="Picture 37" descr="\documentclass{article}&#10;\usepackage{amsmath,bm}&#10;\pagestyle{empty}&#10;\begin{document}&#10;&#10;\begin{equation*}&#10;\sigma&#10;\Psi_{mlh}^{(3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38B96A40-746E-4ED4-B039-4EE1159040F2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673424" y="5885486"/>
                    <a:ext cx="528000" cy="25599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B2CB431C-02D9-4F92-A79C-8A3CDC0598AD}"/>
                    </a:ext>
                  </a:extLst>
                </p:cNvPr>
                <p:cNvGrpSpPr/>
                <p:nvPr>
                  <p:custDataLst>
                    <p:tags r:id="rId13"/>
                  </p:custDataLst>
                </p:nvPr>
              </p:nvGrpSpPr>
              <p:grpSpPr>
                <a:xfrm>
                  <a:off x="2672641" y="5571896"/>
                  <a:ext cx="528000" cy="569589"/>
                  <a:chOff x="2672641" y="5571896"/>
                  <a:chExt cx="528000" cy="569589"/>
                </a:xfrm>
              </p:grpSpPr>
              <p:pic>
                <p:nvPicPr>
                  <p:cNvPr id="58" name="Picture 57"/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4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89783" y="5571896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49" name="Picture 48" descr="\documentclass{article}&#10;\usepackage{amsmath,bm}&#10;\pagestyle{empty}&#10;\begin{document}&#10;&#10;\begin{equation*}&#10;\sigma\Psi_{mlh}^{(2\sigma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B1F6AE87-F736-4AEB-90B1-71BAF273C1D1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2672641" y="5885486"/>
                    <a:ext cx="528000" cy="255999"/>
                  </a:xfrm>
                  <a:prstGeom prst="rect">
                    <a:avLst/>
                  </a:prstGeom>
                </p:spPr>
              </p:pic>
            </p:grpSp>
          </p:grpSp>
        </p:grpSp>
      </p:grpSp>
      <p:grpSp>
        <p:nvGrpSpPr>
          <p:cNvPr id="59" name="Group 58"/>
          <p:cNvGrpSpPr/>
          <p:nvPr/>
        </p:nvGrpSpPr>
        <p:grpSpPr>
          <a:xfrm>
            <a:off x="4109574" y="4322115"/>
            <a:ext cx="4297680" cy="1188720"/>
            <a:chOff x="4071471" y="386491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071471" y="386491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031591" y="393201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4676784" y="4395074"/>
              <a:ext cx="3203870" cy="199999"/>
              <a:chOff x="4618376" y="4395074"/>
              <a:chExt cx="3203870" cy="199999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8376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3168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4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7960" y="4395074"/>
                <a:ext cx="394286" cy="199999"/>
              </a:xfrm>
              <a:prstGeom prst="rect">
                <a:avLst/>
              </a:prstGeom>
            </p:spPr>
          </p:pic>
        </p:grpSp>
      </p:grpSp>
      <p:pic>
        <p:nvPicPr>
          <p:cNvPr id="63" name="Picture 62" descr="\documentclass{article}&#10;\usepackage{amsmath,bm}&#10;\pagestyle{empty}&#10;\begin{document}&#10;&#10;\begin{equation*}&#10;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5FBE167A-9A7D-4751-B73E-2D7DADE612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544033" y="5116533"/>
            <a:ext cx="410285" cy="255999"/>
          </a:xfrm>
          <a:prstGeom prst="rect">
            <a:avLst/>
          </a:prstGeom>
        </p:spPr>
      </p:pic>
      <p:pic>
        <p:nvPicPr>
          <p:cNvPr id="4" name="Picture 3" descr="\documentclass{article}&#10;\usepackage{amsmath,bm}&#10;\pagestyle{empty}&#10;\begin{document}&#10;&#10;\begin{equation*}&#10;\omega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FF3ABA2A-AB37-47BA-9F47-C23A13A427D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6033149" y="5116415"/>
            <a:ext cx="542856" cy="255999"/>
          </a:xfrm>
          <a:prstGeom prst="rect">
            <a:avLst/>
          </a:prstGeom>
        </p:spPr>
      </p:pic>
      <p:pic>
        <p:nvPicPr>
          <p:cNvPr id="10" name="Picture 9" descr="\documentclass{article}&#10;\usepackage{amsmath,bm}&#10;\pagestyle{empty}&#10;\begin{document}&#10;&#10;\begin{equation*}&#10;\omega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FE286C64-55AB-4553-B56C-AAE990AE1E9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7203604" y="5134674"/>
            <a:ext cx="542856" cy="255999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8833827" y="4459275"/>
            <a:ext cx="2011680" cy="914400"/>
            <a:chOff x="8195019" y="3870561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8195019" y="3870561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8377899" y="3968419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</p:grpSp>
      <p:pic>
        <p:nvPicPr>
          <p:cNvPr id="12" name="Picture 11" descr="\documentclass{article}&#10;\usepackage{amsmath,bm}&#10;\pagestyle{empty}&#10;\begin{document}&#10;&#10;\begin{equation*}&#10;\omega(-1)^{l+m}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2B4FDD5E-277C-4A86-8A3E-F26FCA254F6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9218525" y="4926465"/>
            <a:ext cx="1242285" cy="2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General Potential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the matrix elements in terms of the </a:t>
            </a:r>
            <a:r>
              <a:rPr lang="en-US" i="1" dirty="0" err="1"/>
              <a:t>mult</a:t>
            </a:r>
            <a:r>
              <a:rPr lang="en-US" dirty="0" err="1"/>
              <a:t>i</a:t>
            </a:r>
            <a:r>
              <a:rPr lang="en-US" i="1" dirty="0" err="1"/>
              <a:t>valley</a:t>
            </a:r>
            <a:r>
              <a:rPr lang="en-US" i="1" dirty="0"/>
              <a:t> basis</a:t>
            </a:r>
          </a:p>
        </p:txBody>
      </p:sp>
    </p:spTree>
    <p:extLst>
      <p:ext uri="{BB962C8B-B14F-4D97-AF65-F5344CB8AC3E}">
        <p14:creationId xmlns:p14="http://schemas.microsoft.com/office/powerpoint/2010/main" val="394363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Potential projected onto symmetries of Td -- I</a:t>
            </a:r>
          </a:p>
        </p:txBody>
      </p:sp>
      <p:pic>
        <p:nvPicPr>
          <p:cNvPr id="13" name="Picture 12" descr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left(U^{(j)}_{\lambda\kappa}\right)_{\hat{P}}&#10;&amp;=&#10;\sum_{\mu = 1}^{l_{j}}&#10;\left(\Gamma_{\hat{P}}^{(j)}\right)_{\mu\lambda}&#10;U^{(j)}_{\mu\kappa}&#10;\\&#10;\end{align*}&#10;&#10;\end{document}" title="IguanaTex Bitmap Display">
            <a:extLst>
              <a:ext uri="{FF2B5EF4-FFF2-40B4-BE49-F238E27FC236}">
                <a16:creationId xmlns:a16="http://schemas.microsoft.com/office/drawing/2014/main" id="{0179D16F-B7E6-40C0-9687-B24091EFCA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24166" y="2351168"/>
            <a:ext cx="3413332" cy="2625536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U&#10;&amp;=&#10;U^{\left(A_{1}\right)}&#10;+&#10;U^{\left(A_{2}\right)}&#10;+&#10;U^{\left(E\right)}_{11}&#10;+&#10;U^{\left(E\right)}_{22}&#10;+&#10;U^{\left(T_{1}\right)}_{x}&#10;+&#10;U^{\left(T_{1}\right)}_{y}&#10;+&#10;U^{\left(T_{1}\right)}_{z}&#10;+&#10;U^{\left(T_{2}\right)}_{x}&#10;+&#10;U^{\left(T_{2}\right)}_{y}&#10;+&#10;U^{\left(T_{2}\right)}_{z}&#10;\\&#10;\end{align*}&#10;&#10;\end{document}" title="IguanaTex Bitmap Display">
            <a:extLst>
              <a:ext uri="{FF2B5EF4-FFF2-40B4-BE49-F238E27FC236}">
                <a16:creationId xmlns:a16="http://schemas.microsoft.com/office/drawing/2014/main" id="{5B384DD9-784F-49DF-8C1F-E01979C10C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41335" y="5806048"/>
            <a:ext cx="9109330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0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and E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D0BF9AF-0980-4740-8D91-FC053D2F4DD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991846" y="1199597"/>
            <a:ext cx="2566094" cy="668955"/>
          </a:xfrm>
          <a:prstGeom prst="rect">
            <a:avLst/>
          </a:prstGeom>
        </p:spPr>
      </p:pic>
      <p:pic>
        <p:nvPicPr>
          <p:cNvPr id="35" name="Picture 34" descr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1B77329-8D4C-4D1B-A7FB-84F19001CA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1421" y="2154171"/>
            <a:ext cx="1040457" cy="4371200"/>
          </a:xfrm>
          <a:prstGeom prst="rect">
            <a:avLst/>
          </a:prstGeom>
        </p:spPr>
      </p:pic>
      <p:pic>
        <p:nvPicPr>
          <p:cNvPr id="37" name="Picture 36" descr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C581E38-5F96-4FD0-9669-F084518AA6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683299" y="2154171"/>
            <a:ext cx="1159314" cy="4371200"/>
          </a:xfrm>
          <a:prstGeom prst="rect">
            <a:avLst/>
          </a:prstGeom>
        </p:spPr>
      </p:pic>
      <p:pic>
        <p:nvPicPr>
          <p:cNvPr id="39" name="Picture 38" descr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C07BF5D-FDF5-46CA-AA16-CD7BDAA99F9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664034" y="2154171"/>
            <a:ext cx="1060571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01E8376-8E4B-433C-B639-67EF8D900B5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46026" y="2154171"/>
            <a:ext cx="1060571" cy="4371200"/>
          </a:xfrm>
          <a:prstGeom prst="rect">
            <a:avLst/>
          </a:prstGeom>
        </p:spPr>
      </p:pic>
      <p:pic>
        <p:nvPicPr>
          <p:cNvPr id="49" name="Picture 48" descr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     \\&#10;\tau     \\&#10;1        \\&#10;1        \\&#10;\tau^{2} \\&#10;\tau^{2} \\&#10;\tau     \\&#10;\tau    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B183AB8-D6B9-43E4-9BF2-595C2D9C7B6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428018" y="2154171"/>
            <a:ext cx="1060571" cy="4371200"/>
          </a:xfrm>
          <a:prstGeom prst="rect">
            <a:avLst/>
          </a:prstGeom>
        </p:spPr>
      </p:pic>
      <p:pic>
        <p:nvPicPr>
          <p:cNvPr id="51" name="Picture 50" descr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^{2} \\&#10;\tau^{2} \\&#10;1        \\&#10;1        \\&#10;\tau     \\&#10;\tau     \\&#10;\tau^{2} \\&#10;\tau^{2} \\&#10;1        \\&#10;1      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FACB506-F064-4201-BF30-DF73A8D098D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310010" y="2154171"/>
            <a:ext cx="1060571" cy="43712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4291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T</a:t>
            </a:r>
            <a:r>
              <a:rPr lang="en-US" baseline="-25000" dirty="0"/>
              <a:t>1</a:t>
            </a:r>
            <a:endParaRPr lang="en-US" dirty="0"/>
          </a:p>
        </p:txBody>
      </p:sp>
      <p:pic>
        <p:nvPicPr>
          <p:cNvPr id="45" name="Picture 44" descr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EFE4D76-4FDC-4944-AFEA-FF56BA698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61394" y="2127091"/>
            <a:ext cx="1064229" cy="4371200"/>
          </a:xfrm>
          <a:prstGeom prst="rect">
            <a:avLst/>
          </a:prstGeom>
        </p:spPr>
      </p:pic>
      <p:pic>
        <p:nvPicPr>
          <p:cNvPr id="43" name="Picture 42" descr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EBFAF4-B9E9-4451-A3FE-69EDFEA8A6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87017" y="2127091"/>
            <a:ext cx="1064229" cy="4371200"/>
          </a:xfrm>
          <a:prstGeom prst="rect">
            <a:avLst/>
          </a:prstGeom>
        </p:spPr>
      </p:pic>
      <p:pic>
        <p:nvPicPr>
          <p:cNvPr id="41" name="Picture 40" descr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AF9775C-961B-4327-B26E-CEBB3225E8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912640" y="2127091"/>
            <a:ext cx="1064229" cy="4371200"/>
          </a:xfrm>
          <a:prstGeom prst="rect">
            <a:avLst/>
          </a:prstGeom>
        </p:spPr>
      </p:pic>
      <p:pic>
        <p:nvPicPr>
          <p:cNvPr id="51" name="Picture 50" descr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BAED8E6-98A3-4DCF-8987-4EF5F86D8CB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238263" y="2127091"/>
            <a:ext cx="1064229" cy="4371200"/>
          </a:xfrm>
          <a:prstGeom prst="rect">
            <a:avLst/>
          </a:prstGeom>
        </p:spPr>
      </p:pic>
      <p:pic>
        <p:nvPicPr>
          <p:cNvPr id="57" name="Picture 56" descr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B1E06E1-2E9D-4BB1-82DD-8A6D146116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215131" y="2127091"/>
            <a:ext cx="1064228" cy="4371200"/>
          </a:xfrm>
          <a:prstGeom prst="rect">
            <a:avLst/>
          </a:prstGeom>
        </p:spPr>
      </p:pic>
      <p:pic>
        <p:nvPicPr>
          <p:cNvPr id="53" name="Picture 52" descr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BD39AC02-480F-4866-83E7-C1A9C3D6D71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563886" y="2127091"/>
            <a:ext cx="1064228" cy="4371200"/>
          </a:xfrm>
          <a:prstGeom prst="rect">
            <a:avLst/>
          </a:prstGeom>
        </p:spPr>
      </p:pic>
      <p:pic>
        <p:nvPicPr>
          <p:cNvPr id="59" name="Picture 58" descr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1EEE22B8-05B3-4E98-821B-9D7234E737D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540753" y="2127091"/>
            <a:ext cx="1064229" cy="4371200"/>
          </a:xfrm>
          <a:prstGeom prst="rect">
            <a:avLst/>
          </a:prstGeom>
        </p:spPr>
      </p:pic>
      <p:pic>
        <p:nvPicPr>
          <p:cNvPr id="63" name="Picture 62" descr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FEC95855-48BE-4946-9341-0E69766E9B1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866377" y="2127091"/>
            <a:ext cx="1064229" cy="43712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5" name="Picture 54" descr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91817A6B-2042-4E30-B403-ACDB8440CFC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6889508" y="2127091"/>
            <a:ext cx="1064229" cy="4371200"/>
          </a:xfrm>
          <a:prstGeom prst="rect">
            <a:avLst/>
          </a:prstGeom>
        </p:spPr>
      </p:pic>
      <p:pic>
        <p:nvPicPr>
          <p:cNvPr id="49" name="Picture 48" descr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EB31286-F411-422B-A376-1D7D0309232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991846" y="1199597"/>
            <a:ext cx="2566094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Symmetrized potential – T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24" name="Picture 23" descr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743A1577-3217-48EC-B843-64DD9B4184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61395" y="2127091"/>
            <a:ext cx="1064229" cy="4371200"/>
          </a:xfrm>
          <a:prstGeom prst="rect">
            <a:avLst/>
          </a:prstGeom>
        </p:spPr>
      </p:pic>
      <p:pic>
        <p:nvPicPr>
          <p:cNvPr id="26" name="Picture 25" descr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487BE572-16F5-4522-A17D-9036A88603E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87018" y="2127091"/>
            <a:ext cx="1064229" cy="4371200"/>
          </a:xfrm>
          <a:prstGeom prst="rect">
            <a:avLst/>
          </a:prstGeom>
        </p:spPr>
      </p:pic>
      <p:pic>
        <p:nvPicPr>
          <p:cNvPr id="28" name="Picture 27" descr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CCD4F2C-5B1B-46A6-9CA8-BA25E2D0ED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912641" y="2127091"/>
            <a:ext cx="1064229" cy="4371200"/>
          </a:xfrm>
          <a:prstGeom prst="rect">
            <a:avLst/>
          </a:prstGeom>
        </p:spPr>
      </p:pic>
      <p:pic>
        <p:nvPicPr>
          <p:cNvPr id="30" name="Picture 29" descr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D7BF6C8-FEBE-4B14-B42F-C82897EA809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238264" y="2127091"/>
            <a:ext cx="1064229" cy="4371200"/>
          </a:xfrm>
          <a:prstGeom prst="rect">
            <a:avLst/>
          </a:prstGeom>
        </p:spPr>
      </p:pic>
      <p:pic>
        <p:nvPicPr>
          <p:cNvPr id="36" name="Picture 35" descr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A8F7FE0-7A96-48B1-A703-C68C07A4CBB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215131" y="2127091"/>
            <a:ext cx="1064228" cy="4371200"/>
          </a:xfrm>
          <a:prstGeom prst="rect">
            <a:avLst/>
          </a:prstGeom>
        </p:spPr>
      </p:pic>
      <p:pic>
        <p:nvPicPr>
          <p:cNvPr id="32" name="Picture 31" descr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E038E00E-69C3-4EA3-BA38-5895A88D86C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563886" y="2127091"/>
            <a:ext cx="1064228" cy="4371200"/>
          </a:xfrm>
          <a:prstGeom prst="rect">
            <a:avLst/>
          </a:prstGeom>
        </p:spPr>
      </p:pic>
      <p:pic>
        <p:nvPicPr>
          <p:cNvPr id="38" name="Picture 37" descr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6B7147F8-3EB6-4923-BDBD-53B02914CA7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540754" y="2127091"/>
            <a:ext cx="1064229" cy="4371200"/>
          </a:xfrm>
          <a:prstGeom prst="rect">
            <a:avLst/>
          </a:prstGeom>
        </p:spPr>
      </p:pic>
      <p:pic>
        <p:nvPicPr>
          <p:cNvPr id="40" name="Picture 39" descr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0476591-A7D1-415A-87E8-9A2090771A1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866378" y="2127091"/>
            <a:ext cx="1064229" cy="43712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4" name="Picture 33" descr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857DEE03-2DE8-4B06-B89D-3A40308B500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6889509" y="2127091"/>
            <a:ext cx="1064229" cy="4371200"/>
          </a:xfrm>
          <a:prstGeom prst="rect">
            <a:avLst/>
          </a:prstGeom>
        </p:spPr>
      </p:pic>
      <p:pic>
        <p:nvPicPr>
          <p:cNvPr id="49" name="Picture 48" descr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1EB31286-F411-422B-A376-1D7D0309232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991846" y="1199597"/>
            <a:ext cx="2566094" cy="6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General Potential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the matrix elements in terms of the </a:t>
            </a:r>
            <a:r>
              <a:rPr lang="en-US" i="1" dirty="0" err="1"/>
              <a:t>mult</a:t>
            </a:r>
            <a:r>
              <a:rPr lang="en-US" dirty="0" err="1"/>
              <a:t>i</a:t>
            </a:r>
            <a:r>
              <a:rPr lang="en-US" i="1" dirty="0" err="1"/>
              <a:t>valley</a:t>
            </a:r>
            <a:r>
              <a:rPr lang="en-US" i="1" dirty="0"/>
              <a:t> basis</a:t>
            </a:r>
          </a:p>
        </p:txBody>
      </p:sp>
    </p:spTree>
    <p:extLst>
      <p:ext uri="{BB962C8B-B14F-4D97-AF65-F5344CB8AC3E}">
        <p14:creationId xmlns:p14="http://schemas.microsoft.com/office/powerpoint/2010/main" val="370564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Reducing number of integrand terms using transformations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(\bm{\mathcal{M}})_{\mathcal{W}_{0}\mathcal{W}_{1}}&#10;&amp; =&#10;\sum_{j}&#10;\int \mathrm{d}\bm{r}\,&#10;\Psi_{\mathcal{W}_{0}}^{*}&#10;\Psi_{\mathcal{W}_{1}}&#10;U^{(j)}&#10;\\&#10;&amp; =&#10;\sum_{j}&#10;\int \mathrm{d}\bm{r}\,&#10;\sum_{q q^{\prime}}&#10;\left(\beta_{q\mathcal{W}_{0}}\psi_{i}^{(q)}\right)^{*}&#10;\beta_{q^{\prime}\mathcal{W}_{1}}\psi_{j}^{(q^{\prime})}&#10;U^{(j)}&#10;\\&#10;&amp; =&#10;\sum_{j}&#10;\int \mathrm{d}\bm{r}\,&#10;\sum_{q q^{\prime}}&#10;\left(\beta_{q\mathcal{W}_{0}}\right)^{*}&#10;U^{(j)}&#10;\beta_{q^{\prime}\mathcal{W}_{1}}&#10;\left(\psi_{i}^{(q)}\right)^{*}&#10;\psi_{j}^{(q^{\prime})}&#10;\\&#10;&amp; =&#10;\sum_{j}&#10;\int \mathrm{d}\bm{r}\,&#10;\left[&#10;\bm{\beta}_{\mathcal{W}_{0}}^{\dagger}&#10;\bm{U}^{(j)}_{\parallel}&#10;\bm{\beta}_{\mathcal{W}_{1}}&#10;\left(\psi_{\mathcal{W}_{0}}^{(z)}\right)^{*}&#10;\psi_{\mathcal{W}_{1}}^{(z)} &#10;+&#10;\bm{\beta}_{\mathcal{W}_{0}}^{\dagger}&#10;\bm{U}^{(j)}_{\perp}&#10;\bm{\beta}_{\mathcal{W}_{1}}&#10;\left(\psi_{\mathcal{W}_{0}}^{(y)}\right)^{*}&#10;\psi_{\mathcal{W}_{1}}^{(x)} &#10;\right]&#10;\\&#10;&amp; =&#10;\int \mathrm{d}\bm{r}\,&#10;\left[&#10;U_{\parallel}^{\left(\mathcal{W}_{0}\mathcal{W}_{1}\right)}&#10;\left(\psi_{\mathcal{W}_{0}}^{(z)}\right)^{*}&#10;\psi_{\mathcal{W}_{1}}^{(z)} &#10;+&#10;U_{\perp}^{\left(\mathcal{W}_{0}\mathcal{W}_{1}\right)}&#10;\left(\psi_{\mathcal{W}_{0}}^{(y)}\right)^{*}&#10;\psi_{\mathcal{W}_{1}}^{(x)} &#10;\right]&#10;\\&#10;\end{align*}&#10;&#10;\end{document}" title="IguanaTex Bitmap Display">
            <a:extLst>
              <a:ext uri="{FF2B5EF4-FFF2-40B4-BE49-F238E27FC236}">
                <a16:creationId xmlns:a16="http://schemas.microsoft.com/office/drawing/2014/main" id="{6B3EB4E7-47A4-482D-934F-6E4F66E572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69332" y="1804689"/>
            <a:ext cx="8853336" cy="3785161"/>
          </a:xfrm>
          <a:prstGeom prst="rect">
            <a:avLst/>
          </a:prstGeom>
          <a:ln>
            <a:noFill/>
          </a:ln>
        </p:spPr>
      </p:pic>
      <p:pic>
        <p:nvPicPr>
          <p:cNvPr id="42" name="Picture 41" descr="\documentclass{article}&#10;\usepackage{amsmath,bm,eufrak}&#10;\pagestyle{empty}&#10;\begin{document}&#10;&#10;\begin{align*}&#10;U_{\parallel\slash\perp}^{\left(j\right)\left(\mathcal{W}_{0}\mathcal{W}_{1}\right)}&#10;= &#10;\hat{\bm{\beta}}_{\mathcal{W}_{0}}^{\dagger}&#10;\bm{U}_{\parallel\slash\perp}^{\left(j\right)}&#10;\hat{\bm{\beta}}_{\mathcal{W}_{1}}&#10;\end{align*}&#10;&#10;\end{document}" title="IguanaTex Bitmap Display">
            <a:extLst>
              <a:ext uri="{FF2B5EF4-FFF2-40B4-BE49-F238E27FC236}">
                <a16:creationId xmlns:a16="http://schemas.microsoft.com/office/drawing/2014/main" id="{1E1ED5D8-9C88-42C4-944E-8C3938AB66A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95312" y="5979700"/>
            <a:ext cx="3801907" cy="49333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6" name="Picture 45" descr="\documentclass{article}&#10;\usepackage{amsmath,bm}&#10;\pagestyle{empty}&#10;\begin{document}&#10;&#10;\begin{equation*}&#10;\bm{U}_{\perp}^{\left(j\right)}&#10;=&#10;\begin{pmatrix}&#10;0                                            &amp; \sigma_{0}\sigma_{1}U_{yxz}^{\left(j\right)} &amp; U_{yzx}^{\left(j\right)} \\&#10;U_{xyz}^{\left(j\right)}                     &amp; 0                                            &amp; \sigma_{0}\sigma_{1}U_{zyx}^{\left(j\right)} \\&#10;\sigma_{0}\sigma_{1}U_{xzy}^{\left(j\right)} &amp; U_{zxy}^{\left(j\right)}                     &amp; 0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DAE65F65-2786-4780-8470-74369BF83A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98362" y="5747739"/>
            <a:ext cx="4302168" cy="9572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2" name="Picture 31" descr="\documentclass{article}&#10;\usepackage{amsmath,bm}&#10;\pagestyle{empty}&#10;\begin{document}&#10;&#10;\begin{equation*}&#10;\bm{U}_{\parallel}^{\left(j\right)}&#10;=&#10;\begin{pmatrix}&#10;U_{zxy}^{\left(j\right)} &amp; 0                        &amp; 0 \\&#10;0                        &amp; U_{yzx}^{\left(j\right)} &amp; 0 \\&#10;0                        &amp; 0                        &amp; U_{xyz}^{\left(j\right)}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8D97FBC3-89DE-4604-9DA2-91BBAE31E01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94782" y="5747739"/>
            <a:ext cx="2908798" cy="9572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583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Can symmetrize further w/ coordinate inversions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bm{V}_{\parallel}^{\left(j\right)}&#10;&amp; =&#10;\frac{&#10;\left[&#10;\left(xyz\right)&#10;+&#10;\omega_{0}\omega_{1}\left( \left(x\bar{y}\bar{z}\right) + \left(\bar{x}y\bar{z}\right) \right)&#10;+&#10;\left(\bar{x}\bar{y}z\right)&#10;\right]&#10;+&#10;\sigma_{0}\sigma_{1}&#10;\left[&#10;\left(yxz\right)&#10;+&#10;\omega_{0}\omega_{1}\left( \left(\bar{y}x\bar{z}\right) + \left(y\bar{x}\bar{z}\right)\right)&#10;+&#10;\left(\bar{y}\bar{x}z\right)&#10;\right]&#10;}{8}&#10;\bm{U}_{\parallel}^{\left(j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D18568D-9871-4177-9071-B0A567C1100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63772" y="3922076"/>
            <a:ext cx="9664457" cy="486857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bm,eufrak}&#10;\pagestyle{empty}&#10;\begin{document}&#10;&#10;\begin{align*}&#10;V_{\perp}^{\left(j\right)\left(\mathcal{W}_{0}\mathcal{W}_{1}\right)}&#10;&amp; =&#10;\frac{&#10;\left(xyz\right)&#10;+ \omega_{0}\left(x\bar{y}\bar{z}\right)&#10;+ \omega_{1}\left(\bar{x}y\bar{z}\right)&#10;+ \omega_{0}\omega_{1}\left(\bar{x}\bar{y}z\right)&#10;}{4}&#10;U_{\perp}^{\left(j\right)\left(\mathcal{W}_{0}\mathcal{W}_{1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7709D41-1735-4AAF-8A14-28E207125D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88114" y="4867835"/>
            <a:ext cx="6615772" cy="481372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align*}&#10;(\bm{\mathcal{M}})_{\mathcal{W}_{0}\mathcal{W}_{1}}&#10;&amp; =&#10;\int \mathrm{d}\bm{r}\,&#10;\left[&#10;U_{\parallel}^{\left(j\right)\left(\mathcal{W}_{0}\mathcal{W}_{1}\right)}&#10;\left(\psi_{\mathcal{W}_{0}}^{(z)}\right)^{*}&#10;\psi_{\mathcal{W}_{1}}^{(z)} &#10;+&#10;U_{\perp}^{\left(j\right)\left(\mathcal{W}_{0}\mathcal{W}_{1}\right)}&#10;\left(\psi_{\mathcal{W}_{0}}^{(y)}\right)^{*}&#10;\psi_{\mathcal{W}_{1}}^{(x)} &#10;\right]&#10;\\&#10;&amp; =&#10;\int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 title="IguanaTex Bitmap Display">
            <a:extLst>
              <a:ext uri="{FF2B5EF4-FFF2-40B4-BE49-F238E27FC236}">
                <a16:creationId xmlns:a16="http://schemas.microsoft.com/office/drawing/2014/main" id="{E2C0D0CD-3EF6-4B34-88FE-4C7C7CE8EF1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102094" y="2168592"/>
            <a:ext cx="7987813" cy="12266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2137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“Folded over” potential form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5E3FEC8-CB1D-4702-8BEC-C695D2F15842}"/>
              </a:ext>
            </a:extLst>
          </p:cNvPr>
          <p:cNvGrpSpPr/>
          <p:nvPr/>
        </p:nvGrpSpPr>
        <p:grpSpPr>
          <a:xfrm>
            <a:off x="284571" y="5468605"/>
            <a:ext cx="11622859" cy="1093028"/>
            <a:chOff x="284571" y="5468605"/>
            <a:chExt cx="11622859" cy="1093028"/>
          </a:xfrm>
        </p:grpSpPr>
        <p:pic>
          <p:nvPicPr>
            <p:cNvPr id="64" name="Picture 63" descr="\documentclass{article}&#10;\usepackage{amsmath,bm,eufrak}&#10;\pagestyle{empty}&#10;\begin{document}&#10;&#10;\begin{align*}&#10;V_{\parallel\slash\perp}^{\left(j\right)\left(\mathcal{W}_{0}\mathcal{W}_{1}\right)}&#10;= &#10;\hat{\bm{\beta}}_{\mathcal{W}_{0}}^{\dagger}&#10;\bm{V}_{\parallel\slash\perp}^{\left(j\right)}&#10;\hat{\bm{\beta}}_{\mathcal{W}_{1}}&#10;\end{align*}&#10;&#10;\end{document}" title="IguanaTex Bitmap Display">
              <a:extLst>
                <a:ext uri="{FF2B5EF4-FFF2-40B4-BE49-F238E27FC236}">
                  <a16:creationId xmlns:a16="http://schemas.microsoft.com/office/drawing/2014/main" id="{844B6003-73D5-4CB1-B1A6-0E847AB809A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135997" y="5768452"/>
              <a:ext cx="3771433" cy="4933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51" name="Picture 50" descr="\documentclass{article}&#10;\usepackage{amsmath,bm}&#10;\pagestyle{empty}&#10;\begin{document}&#10;&#10;\begin{equation*}&#10;\bm{V}_{\perp}^{\left(j\right)}&#10;=&#10;\begin{pmatrix}&#10;0                                                 &amp; \sigma_{0}\sigma_{1}V_{\perp,17}^{\left(j\right)} &amp; V_{\perp,5}^{\left(j\right)} \\&#10;V_{\perp,1}^{\left(j\right)}                      &amp; 0                                                 &amp; \sigma_{0}\sigma_{1}V_{\perp,15}^{\left(j\right)} \\&#10;\sigma_{0}\sigma_{1}V_{\perp,13}^{\left(j\right)} &amp; V_{\perp,9}^{\left(j\right)}                      &amp; 0&#10;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10FE1DB7-2AF2-4F02-AC2C-5FDEB92FE3F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362742" y="5509062"/>
              <a:ext cx="4488684" cy="10121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13" descr="\documentclass{article}&#10;\usepackage{amsmath,bm}&#10;\pagestyle{empty}&#10;\begin{document}&#10;&#10;\begin{equation*}&#10;\bm{V}_{\parallel}^{\left(j\right)}&#10;=&#10;\begin{pmatrix}&#10;V_{\parallel,9}^{\left(j\right)} &amp; 0                                &amp; 0 \\&#10;0                                &amp; V_{\parallel,5}^{\left(j\right)} &amp; 0 \\&#10;0                                &amp; 0                                &amp; V_{\parallel,1}^{\left(j\right)}&#10;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C2F8A281-EB5E-4050-B71A-7E0511AA11B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84571" y="5468605"/>
              <a:ext cx="2793600" cy="10930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" name="Picture 90" descr="\documentclass{article}&#10;\usepackage{amsmath,bm,eufrak}&#10;\pagestyle{empty}&#10;\begin{document}&#10;&#10;\begin{align*}&#10;V_{\parallel,1}  &amp; =  \frac{ (1) + \omega_{0}\omega_{1}\left( (2) +  (3)\right) +  (4) + \sigma_{0}\sigma_{1}\left((17) + \omega_{0}\omega_{1}\left((23) + (24)\right) + (18)\right) }{8}    U^{\left(j\right)} \\&#10;V_{\parallel,5}  &amp; =  \frac{ (5) + \omega_{0}\omega_{1}\left( (8) +  (6)\right) +  (7) + \sigma_{0}\sigma_{1}\left((13) + \omega_{0}\omega_{1}\left((19) + (14)\right) + (20)\right) }{8}   U^{\left(j\right)} \\&#10;V_{\parallel,9}  &amp; =  \frac{ (9) + \omega_{0}\omega_{1}\left((10) + (11)\right) + (12) + \sigma_{0}\sigma_{1}\left((15) + \omega_{0}\omega_{1}\left((22) + (16)\right) + (21)\right) }{8} U^{\left(j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F1F0B116-2DF5-4422-9559-DFAAEF6FDC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418751" y="1932737"/>
            <a:ext cx="7354498" cy="1449446"/>
          </a:xfrm>
          <a:prstGeom prst="rect">
            <a:avLst/>
          </a:prstGeom>
          <a:ln>
            <a:noFill/>
          </a:ln>
        </p:spPr>
      </p:pic>
      <p:pic>
        <p:nvPicPr>
          <p:cNvPr id="70" name="Picture 69" descr="\documentclass{article}&#10;\usepackage{amsmath,bm,eufrak}&#10;\pagestyle{empty}&#10;\begin{document}&#10;&#10;\begin{align*}&#10;V_{\perp,1}  &amp; =  \frac{ (1) + \omega_{0} (2) + \omega_{1} (3) + \omega_{0}\omega_{1} (4) }{4}U^{\left(j\right)} \\&#10;V_{\perp,5}  &amp; =  \frac{ (5) + \omega_{0} (8) + \omega_{1} (6) + \omega_{0}\omega_{1} (7) }{4}U^{\left(j\right)} \\&#10;V_{\perp,9}  &amp; =  \frac{ (9) + \omega_{0}(10) + \omega_{1}(11) + \omega_{0}\omega_{1}(12) }{4}U^{\left(j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75AD21E4-777C-428E-969C-1095ECB0100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47964" y="3703112"/>
            <a:ext cx="3982627" cy="1444569"/>
          </a:xfrm>
          <a:prstGeom prst="rect">
            <a:avLst/>
          </a:prstGeom>
          <a:ln>
            <a:noFill/>
          </a:ln>
        </p:spPr>
      </p:pic>
      <p:pic>
        <p:nvPicPr>
          <p:cNvPr id="95" name="Picture 94" descr="\documentclass{article}&#10;\usepackage{amsmath,bm,eufrak}&#10;\pagestyle{empty}&#10;\begin{document}&#10;&#10;\begin{align*}&#10;V_{\perp,17}  &amp; =  \frac{ (17) + \omega_{0}(23)  + \omega_{1}(24)  + \omega_{0}\omega_{1}(18) }{4}U^{\left(j\right)} \\&#10;V_{\perp,13}  &amp; =  \frac{ (13) + \omega_{0}(14)  + \omega_{1}(19)  + \omega_{0}\omega_{1}(20) }{4}U^{\left(j\right)} \\&#10;V_{\perp,15}  &amp; =  \frac{ (15) + \omega_{0}(21)  + \omega_{1}(16)  + \omega_{0}\omega_{1}(22) }{4}U^{\left(j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3A4B77D3-D156-4050-8BA7-5CA2C2CEA9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678555" y="3703112"/>
            <a:ext cx="4165481" cy="14445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052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Restatement of potential form</a:t>
            </a:r>
          </a:p>
        </p:txBody>
      </p:sp>
      <p:pic>
        <p:nvPicPr>
          <p:cNvPr id="16" name="Picture 15" descr="\documentclass{article}&#10;\usepackage{amsmath,bm}&#10;\pagestyle{empty}&#10;\begin{document}&#10;&#10;\begin{equation*}&#10;\bm{V}_{\parallel}^{\left(j\right)}&#10;=&#10;\begin{pmatrix}&#10;V_{\parallel,9}^{\left(j\right)} &amp; 0                                &amp; 0 \\&#10;0                                &amp; V_{\parallel,5}^{\left(j\right)} &amp; 0 \\&#10;0                                &amp; 0                                &amp; V_{\parallel,1}^{\left(j\right)}&#10;\end{pmatrix}&#10;\quad\quad&#10;\bm{V}_{\perp}^{\left(j\right)}&#10;=&#10;\begin{pmatrix}&#10;0                                                 &amp; \sigma_{0}\sigma_{1}V_{\perp,17}^{\left(j\right)} &amp; V_{\perp,5}^{\left(j\right)} \\&#10;V_{\perp,1}^{\left(j\right)}                      &amp; 0                                                 &amp; \sigma_{0}\sigma_{1}V_{\perp,15}^{\left(j\right)} \\&#10;\sigma_{0}\sigma_{1}V_{\perp,13}^{\left(j\right)} &amp; V_{\perp,9}^{\left(j\right)}                      &amp; 0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DADE277-D555-4D3E-A125-B25EFC1F4C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32574" y="3213037"/>
            <a:ext cx="8726852" cy="1214476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V_{\parallel\slash\perp}^{\left(j\right)\left(\mathcal{W}_{0}\mathcal{W}_{1}\right)}&#10;= &#10;\hat{\bm{\beta}}_{\mathcal{W}_{0}}^{\dagger}&#10;\bm{V}_{\parallel\slash\perp}^{\left(j\right)}&#10;\hat{\bm{\beta}}_{\mathcal{W}_{1}}&#10;\end{align*}&#10;&#10;\end{document}" title="IguanaTex Bitmap Display">
            <a:extLst>
              <a:ext uri="{FF2B5EF4-FFF2-40B4-BE49-F238E27FC236}">
                <a16:creationId xmlns:a16="http://schemas.microsoft.com/office/drawing/2014/main" id="{19911B07-93A6-4194-B29F-DD0D074054C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10285" y="2066517"/>
            <a:ext cx="3771431" cy="493334"/>
          </a:xfrm>
          <a:prstGeom prst="rect">
            <a:avLst/>
          </a:prstGeom>
          <a:ln>
            <a:noFill/>
          </a:ln>
        </p:spPr>
      </p:pic>
      <p:pic>
        <p:nvPicPr>
          <p:cNvPr id="20" name="Picture 19" descr="\documentclass{article}&#10;\usepackage{amsmath,bm,eufrak}&#10;\pagestyle{empty}&#10;\begin{document}&#10;&#10;\begin{equation*}&#10;\beta_{q\mathcal{W}}&#10;=&#10;\begin{pmatrix}&#10;  \frac{1}{\sqrt{3}}&#10;&#10;&amp; \frac{\tau}{\sqrt{3}}     &amp;  \frac{\mathrm{i}\tau}{\sqrt{3}}&#10;&amp; \frac{\tau^{2}}{\sqrt{3}} &amp; \frac{-\mathrm{i}\tau^{2}}{\sqrt{3}}&#10;&#10;&amp; 1 &amp; 0 &amp; 0 \\&#10;&#10;  \frac{1}{\sqrt{3}}&#10;&#10;&amp; \frac{\tau^{2}}{\sqrt{3}} &amp; \frac{\mathrm{i}\tau^{2}}{\sqrt{3}} &#10;&amp; \frac{\tau}{\sqrt{3}}     &amp; \frac{-\mathrm{i}\tau}{\sqrt{3}}&#10;&#10;&amp; 0 &amp; 1 &amp; 0 \\&#10;&#10;\frac{1}{\sqrt{3}} &#10;&#10;&amp; \frac{1}{\sqrt{3}}         &amp; \frac{\mathrm{i}}{\sqrt{3}}&#10;&amp; \frac{1}{\sqrt{3}}         &amp; \frac{-\mathrm{i}}{\sqrt{3}}     &#10;&#10;&amp; 0 &amp; 0 &amp; 1 \\&#10;\end{pmatrix}&#10;\quad\quad&#10;\bm{\beta}_{\mathcal{W}}&#10;=&#10;\begin{pmatrix}&#10;\beta_{\mathcal{W}x} \\&#10;\beta_{\mathcal{W}y} \\&#10;\beta_{\mathcal{W}z}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AFAF6158-B23C-43B7-8F01-241EA8DE63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29718" y="5005270"/>
            <a:ext cx="7332564" cy="11489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711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U_{\parallel}^{(\mathcal{W}_{0}\mathcal{W}_{1})}&#10;=&#10;\begin{pmatrix}&#10;U_{(A)}                            &amp; U_{\left(AE_{1}\right)}           &amp; \mathrm{i}U_{\left(AE_{1}\right)}    &amp; U_{\left(AE_{2}\right)}            &amp; -\mathrm{i}U_{\left(AE_{2}\right)} &amp; \frac{1}{\sqrt{3}}U_{(x)}                   &amp; \frac{1}{\sqrt{3}}U_{(y)}                  &amp; \frac{1}{\sqrt{3}}U_{(z)}             \\&#10;U_{\left(AE_{2}\right)}            &amp; U_{(A)}                           &amp; \mathrm{i}U_{(A)}                    &amp; U_{\left(AE_{1}\right)}            &amp; -\mathrm{i}U_{\left(AE_{1}\right)} &amp; \frac{\tau^{2}}{\sqrt{3}}U_{(x)}            &amp; \frac{\tau}{\sqrt{3}}U_{(y)}               &amp; \frac{1}{\sqrt{3}}U_{(z)}             \\&#10;-\mathrm{i}U_{\left(AE_{2}\right)} &amp; -\mathrm{i}U_{(A)}                &amp; U_{(A)}                              &amp; -\mathrm{i}U_{\left(AE_{1}\right)} &amp; -U_{\left(AE_{1}\right)}           &amp; \frac{-\mathrm{i}\tau^{2}}{\sqrt{3}}U_{(x)} &amp; \frac{-\mathrm{i}\tau}{\sqrt{3}}U_{(y)}    &amp; \frac{-\mathrm{i}}{\sqrt{3}}U_{(z)}   \\&#10;U_{\left(AE_{1}\right)}            &amp; U_{\left(AE_{2}\right)}           &amp; \mathrm{i}U_{\left(AE_{2}\right)}    &amp; U_{(A)}                            &amp; -\mathrm{i}U_{(A)}                 &amp; \frac{\tau}{\sqrt{3}}U_{(x)}                &amp; \frac{\tau^{2}}{\sqrt{3}}U_{(y)}           &amp; \frac{1}{\sqrt{3}}U_{(z)}             \\&#10;\mathrm{i}U_{\left(AE_{1}\right)}  &amp; \mathrm{i}U_{\left(AE_{2}\right)} &amp; -U_{\left(AE_{2}\right)}             &amp; \mathrm{i}U_{(A)}                  &amp; U_{(A)}                            &amp; \frac{\mathrm{i}\tau}{\sqrt{3}}U_{(x)}      &amp; \frac{\mathrm{i}\tau^{2}}{\sqrt{3}}U_{(y)} &amp; \frac{\mathrm{i}}{\sqrt{3}}U_{(z)}    \\&#10;&#10;&#10;&#10;\frac{1}{\sqrt{3}}U_{(x)} &amp; \frac{\tau}{\sqrt{3}}U_{(x)}     &amp;  \frac{\mathrm{i}\tau}{\sqrt{3}}U_{(x)}    &amp; \frac{\tau^{2}}{\sqrt{3}}U_{(x)} &amp; \frac{-\mathrm{i}\tau^{2}}{\sqrt{3}}U_{(x)} &amp; U_{(x)} &amp;       0 &amp; 0       \\&#10;\frac{1}{\sqrt{3}}U_{(y)} &amp; \frac{\tau^{2}}{\sqrt{3}}U_{(y)} &amp; \frac{\mathrm{i}\tau^{2}}{\sqrt{3}}U_{(y)} &amp; \frac{\tau}{\sqrt{3}}U_{(y)}     &amp; \frac{-\mathrm{i}\tau}{\sqrt{3}}U_{(y)}     &amp;       0 &amp; U_{(y)} &amp; 0       \\&#10;\frac{1}{\sqrt{3}}U_{(z)} &amp; \frac{1}{\sqrt{3}}U_{(z)}        &amp; \frac{\mathrm{i}}{\sqrt{3}}U_{(z)}         &amp; \frac{1}{\sqrt{3}}U_{(z)}        &amp; \frac{-\mathrm{i}}{\sqrt{3}}U_{(z)}         &amp;       0 &amp;       0 &amp; U_{(z)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53998E1D-DC84-43A5-A718-5C9D1CCC47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7814" y="3371845"/>
            <a:ext cx="10776375" cy="3082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(\bm{\mathcal{M}})^{\left(j\right)}_{\mathcal{W}_{0}\mathcal{W}_{1}}&#10;&amp; =&#10;\int 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 title="IguanaTex Bitmap Display">
            <a:extLst>
              <a:ext uri="{FF2B5EF4-FFF2-40B4-BE49-F238E27FC236}">
                <a16:creationId xmlns:a16="http://schemas.microsoft.com/office/drawing/2014/main" id="{60FFDDD7-51F4-43D2-B6E8-CB16DB70AB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02094" y="2141567"/>
            <a:ext cx="7987812" cy="5622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2415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5" name="Picture 4" descr="\documentclass{article}&#10;\usepackage{amsmath,bm,eufrak}&#10;\pagestyle{empty}&#10;\begin{document}&#10;&#10;\begin{equation*}&#10;U_{\perp}^{(\mathcal{W}_{0}\mathcal{W}_{1})}&#10;=&#10;\begin{pmatrix}&#10;                           T_{(A)} &amp;               T_{\left(AE_{1}\right)} &amp;     \mathrm{i}T_{\left(AE_{1}\right)} &amp;                T_{\left(AE_{2}\right)} &amp;     -\mathrm{i}T_{\left(AE_{2}\right)} &amp;                           T_{(Ax)} &amp;                           T_{(Ay)} &amp;                           T_{(Az)} \\&#10;           T_{\left(E_{1}A\right)} &amp;                T_{\left(E_{1}\right)} &amp;      \mathrm{i}T_{\left(E_{1}\right)} &amp;            T_{\left(E_{1}E_{2}\right)} &amp; -\mathrm{i}T_{\left(E_{1}E_{2}\right)} &amp;            T_{\left(E_{1}x\right)} &amp;            T_{\left(E_{1}y\right)} &amp;            T_{\left(E_{1}z\right)} \\&#10;-\mathrm{i}T_{\left(E_{1}A\right)} &amp;     -\mathrm{i}T_{\left(E_{1}\right)} &amp;                T_{\left(E_{1}\right)} &amp; -\mathrm{i}T_{\left(E_{1}E_{2}\right)} &amp;           -T_{\left(E_{1}E_{2}\right)} &amp; -\mathrm{i}T_{\left(E_{1}x\right)} &amp; -\mathrm{i}T_{\left(E_{1}y\right)} &amp; -\mathrm{i}T_{\left(E_{1}z\right)} \\&#10;           T_{\left(E_{2}A\right)} &amp;           T_{\left(E_{2}E_{1}\right)} &amp; \mathrm{i}T_{\left(E_{2}E_{1}\right)} &amp;                 T_{\left(E_{2}\right)} &amp;      -\mathrm{i}T_{\left(E_{2}\right)} &amp;            T_{\left(E_{2}x\right)} &amp;            T_{\left(E_{2}y\right)} &amp;            T_{\left(E_{2}z\right)} \\&#10; \mathrm{i}T_{\left(E_{2}A\right)} &amp; \mathrm{i}T_{\left(E_{2}E_{1}\right)} &amp;          -T_{\left(E_{2}E_{1}\right)} &amp;       \mathrm{i}T_{\left(E_{2}\right)} &amp;                 T_{\left(E_{2}\right)} &amp;  \mathrm{i}T_{\left(E_{2}x\right)} &amp;  \mathrm{i}T_{\left(E_{2}y\right)} &amp;  \mathrm{i}T_{\left(E_{2}z\right)} \\&#10;                          T_{(xA)} &amp;               T_{\left(xE_{1}\right)} &amp;     \mathrm{i}T_{\left(xE_{1}\right)} &amp;                T_{\left(xE_{2}\right)} &amp;     -\mathrm{i}T_{\left(xE_{2}\right)} &amp;                                  0 &amp;                 O_{\left(z\right)} &amp;                 U_{\left(y\right)} \\&#10;                          T_{(yA)} &amp;               T_{\left(yE_{1}\right)} &amp;     \mathrm{i}T_{\left(yE_{1}\right)} &amp;                T_{\left(yE_{2}\right)} &amp;     -\mathrm{i}T_{\left(yE_{2}\right)} &amp;                 U_{\left(z\right)} &amp;                                  0 &amp;                 O_{\left(x\right)} \\&#10;                          T_{(zA)} &amp;               T_{\left(zE_{1}\right)} &amp;     \mathrm{i}T_{\left(zE_{1}\right)} &amp;                T_{\left(zE_{2}\right)} &amp;     -\mathrm{i}T_{\left(zE_{2}\right)} &amp;                 O_{\left(y\right)} &amp;                 U_{\left(x\right)} &amp;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F62FED3-9A6B-44EA-BED2-0680F017985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8768" y="3578899"/>
            <a:ext cx="11294464" cy="242893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(\bm{\mathcal{M}})^{\left(j\right)}_{\mathcal{W}_{0}\mathcal{W}_{1}}&#10;&amp; =&#10;\int 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 title="IguanaTex Bitmap Display">
            <a:extLst>
              <a:ext uri="{FF2B5EF4-FFF2-40B4-BE49-F238E27FC236}">
                <a16:creationId xmlns:a16="http://schemas.microsoft.com/office/drawing/2014/main" id="{E9D51820-F523-4BA1-A58E-C38B201FE1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02094" y="2141567"/>
            <a:ext cx="7987812" cy="5622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0175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Terms of filtered potential matrices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U_{(x)} &amp; = V_{9} \\&#10;U_{(y)} &amp; = V_{5} \\&#10;U_{(z)} &amp; = V_{1} \\&#10;O_{(x)} &amp; = \sigma_{0}\sigma_{1}V_{15} \\&#10;O_{(y)} &amp; = \sigma_{0}\sigma_{1}V_{13} \\&#10;O_{(z)} &amp; = \sigma_{0}\sigma_{1}V_{17} \\&#10;\end{align*}&#10;&#10;\end{document}" title="IguanaTex Bitmap Display">
            <a:extLst>
              <a:ext uri="{FF2B5EF4-FFF2-40B4-BE49-F238E27FC236}">
                <a16:creationId xmlns:a16="http://schemas.microsoft.com/office/drawing/2014/main" id="{4D79878A-F8B6-4AF2-88E7-BAE08845A25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26050" y="4633523"/>
            <a:ext cx="1332418" cy="1727389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U_{(A)}                  &amp; = \frac{ V_{1} +         V_{5} +         V_{9} }{3} \\&#10;U_{\left(AE_{1}\right)}  &amp; = \frac{ V_{1} + \tau^{2}V_{5} +    \tau V_{9} }{3} \\&#10;U_{\left(AE_{2}\right)}  &amp; = \frac{ V_{1} +    \tau V_{5} + \tau^{2}V_{9} }{3} \\&#10;\end{align*}&#10;&#10;&#10;\end{document}" title="IguanaTex Bitmap Display">
            <a:extLst>
              <a:ext uri="{FF2B5EF4-FFF2-40B4-BE49-F238E27FC236}">
                <a16:creationId xmlns:a16="http://schemas.microsoft.com/office/drawing/2014/main" id="{766FA4AE-B55E-44E1-94CB-9334B7C4BA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6489" y="2044700"/>
            <a:ext cx="2310091" cy="1460418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eufrak}&#10;\pagestyle{empty}&#10;\begin{document}&#10;&#10;\begin{align*}&#10;O_{(A)}                 &amp; = \sigma_{0}\sigma_{1}\frac{ V_{13} +         V_{15} +         V_{17} }{3} \\&#10;O_{\left(AE_{1}\right)} &amp; = \sigma_{0}\sigma_{1}\frac{ V_{13} + \tau^{2}V_{15} +    \tau V_{17} }{3} \\&#10;O_{\left(AE_{2}\right)} &amp; = \sigma_{0}\sigma_{1}\frac{ V_{13} +    \tau V_{15} + \tau^{2}V_{17} }{3} \\&#10;\end{align*}&#10;&#10;\end{document}" title="IguanaTex Bitmap Display">
            <a:extLst>
              <a:ext uri="{FF2B5EF4-FFF2-40B4-BE49-F238E27FC236}">
                <a16:creationId xmlns:a16="http://schemas.microsoft.com/office/drawing/2014/main" id="{7A6B0AD2-DA86-4599-BD9B-A3D07FDEBA7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204022" y="2044700"/>
            <a:ext cx="2984227" cy="1460418"/>
          </a:xfrm>
          <a:prstGeom prst="rect">
            <a:avLst/>
          </a:prstGeom>
          <a:ln>
            <a:noFill/>
          </a:ln>
        </p:spPr>
      </p:pic>
      <p:pic>
        <p:nvPicPr>
          <p:cNvPr id="30" name="Picture 29" descr="\documentclass{article}&#10;\usepackage{amsmath,bm,eufrak}&#10;\pagestyle{empty}&#10;\begin{document}&#10;&#10;\begin{align*}&#10;T_{(A)}                     &amp; = U_{(A)}                               +                          O_{(A)} \\&#10;T_{\left(E_{1}\right)}      &amp; = \tau^{2}U_{(A)}                       +                     \tau O_{(A)} \\&#10;T_{\left(E_{2}\right)}      &amp; = \tau U_{(A)}                          +                  \tau^{2}O_{(A)} \\&#10;T_{\left(AE_{1}\right)}     &amp; = \tau\left(U_{\left(AE_{1}\right)}     +   O_{\left(AE_{1}\right)}\right) \\&#10;T_{\left(AE_{2}\right)}     &amp; = \tau^{2}\left(U_{\left(AE_{2}\right)} +   O_{\left(AE_{2}\right)}\right) \\&#10;T_{\left(E_{1}A\right)}     &amp; = \tau U_{\left(AE_{2}\right)}          +          O_{\left(AE_{2}\right)} \\&#10;T_{\left(E_{2}A\right)}     &amp; = \tau^{2}U_{\left(AE_{1}\right)}       +          O_{\left(AE_{1}\right)} \\&#10;T_{\left(E_{1}E_{2}\right)} &amp; = U_{\left(AE_{1}\right)}               + \tau^{2} O_{\left(AE_{1}\right)} \\&#10;T_{\left(E_{2}E_{1}\right)} &amp; = U_{\left(AE_{2}\right)}               +     \tau O_{\left(AE_{2}\right)} \\&#10;\end{align*}&#10;&#10;\end{document}" title="IguanaTex Bitmap Display">
            <a:extLst>
              <a:ext uri="{FF2B5EF4-FFF2-40B4-BE49-F238E27FC236}">
                <a16:creationId xmlns:a16="http://schemas.microsoft.com/office/drawing/2014/main" id="{412C90E4-9C53-4DC8-A132-7F370C2053A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347261" y="3899607"/>
            <a:ext cx="2758702" cy="2790402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align*}&#10;T_{(Ax)}                &amp; = \frac{         V_{1} +          \sigma_{0}\sigma_{1}V_{13} }{ \sqrt{3} } \\&#10;T_{(Ay)}                &amp; = \frac{         V_{9} +          \sigma_{0}\sigma_{1}V_{17} }{ \sqrt{3} } \\&#10;T_{(Az)}                &amp; = \frac{         V_{5} +          \sigma_{0}\sigma_{1}V_{15} }{ \sqrt{3} } \\&#10;T_{\left(E_{1}x\right)} &amp; = \frac{    \tau V_{1} +          \sigma_{0}\sigma_{1}V_{13} }{ \sqrt{3} } \\&#10;T_{\left(E_{1}y\right)} &amp; = \frac{         V_{9} + \sigma_{0}\sigma_{1}\tau^{2} V_{17} }{ \sqrt{3} } \\&#10;T_{\left(E_{1}z\right)} &amp; = \frac{ \tau^{2}V_{5} +     \sigma_{0}\sigma_{1}\tau V_{15} }{ \sqrt{3} } \\&#10;T_{\left(E_{2}x\right)} &amp; = \frac{ \tau^{2}V_{1} +          \sigma_{0}\sigma_{1}V_{13} }{ \sqrt{3} } \\&#10;T_{\left(E_{2}y\right)} &amp; = \frac{         V_{9} +     \sigma_{0}\sigma_{1}\tau V_{17} }{ \sqrt{3} } \\&#10;T_{\left(E_{2}z\right)} &amp; = \frac{    \tau V_{5} +  \sigma_{0}\sigma_{1}\tau^{2}V_{15} }{ \sqrt{3} } \\&#10;\end{align*}&#10;&#10;\end{document}" title="IguanaTex Bitmap Display">
            <a:extLst>
              <a:ext uri="{FF2B5EF4-FFF2-40B4-BE49-F238E27FC236}">
                <a16:creationId xmlns:a16="http://schemas.microsoft.com/office/drawing/2014/main" id="{F2764926-FABF-4CDA-9FDF-1E0D72809A3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665691" y="1536700"/>
            <a:ext cx="2307657" cy="4923736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align*}&#10;               T_{(xA)} &amp; = \frac{         V_{5} +          \sigma_{0}\sigma_{1}V_{17} }{ \sqrt{3} } \\&#10;               T_{(yA)} &amp; = \frac{         V_{1} +          \sigma_{0}\sigma_{1}V_{15} }{ \sqrt{3} } \\&#10;               T_{(zA)} &amp; = \frac{         V_{9} +          \sigma_{0}\sigma_{1}V_{13} }{ \sqrt{3} } \\&#10;T_{\left(xE_{1}\right)} &amp; = \frac{         V_{5} + \sigma_{0}\sigma_{1}\tau^{2} V_{17} }{ \sqrt{3} } \\&#10;T_{\left(yE_{1}\right)} &amp; = \frac{    \tau V_{1} +          \sigma_{0}\sigma_{1}V_{15} }{ \sqrt{3} } \\&#10;T_{\left(zE_{1}\right)} &amp; = \frac{ \tau^{2}V_{9} +     \sigma_{0}\sigma_{1}\tau V_{13} }{ \sqrt{3} } \\&#10;T_{\left(xE_{2}\right)} &amp; = \frac{         V_{5} +     \sigma_{0}\sigma_{1}\tau V_{17} }{ \sqrt{3} } \\&#10;T_{\left(yE_{2}\right)} &amp; = \frac{ \tau^{2}V_{1} +          \sigma_{0}\sigma_{1}V_{15} }{ \sqrt{3} } \\&#10;T_{\left(zE_{2}\right)} &amp; = \frac{    \tau V_{9} + \sigma_{0}\sigma_{1}\tau^{2} V_{13} }{ \sqrt{3} } \\&#10;\end{align*}&#10;&#10;\end{document}" title="IguanaTex Bitmap Display">
            <a:extLst>
              <a:ext uri="{FF2B5EF4-FFF2-40B4-BE49-F238E27FC236}">
                <a16:creationId xmlns:a16="http://schemas.microsoft.com/office/drawing/2014/main" id="{76F162B0-125C-43C0-80BE-912854EEA43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428846" y="1536700"/>
            <a:ext cx="2307658" cy="492373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523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Symmetric Potentials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Expressing the matrix elements in terms of the </a:t>
            </a:r>
            <a:r>
              <a:rPr lang="en-US" i="1" dirty="0" err="1"/>
              <a:t>mult</a:t>
            </a:r>
            <a:r>
              <a:rPr lang="en-US" dirty="0" err="1"/>
              <a:t>i</a:t>
            </a:r>
            <a:r>
              <a:rPr lang="en-US" i="1" dirty="0" err="1"/>
              <a:t>valley</a:t>
            </a:r>
            <a:r>
              <a:rPr lang="en-US" i="1" dirty="0"/>
              <a:t> basis</a:t>
            </a:r>
          </a:p>
        </p:txBody>
      </p:sp>
    </p:spTree>
    <p:extLst>
      <p:ext uri="{BB962C8B-B14F-4D97-AF65-F5344CB8AC3E}">
        <p14:creationId xmlns:p14="http://schemas.microsoft.com/office/powerpoint/2010/main" val="1734817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CFAB-D6A5-46F2-946D-F0A18B3D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98343"/>
            <a:ext cx="6638544" cy="1579920"/>
          </a:xfrm>
        </p:spPr>
        <p:txBody>
          <a:bodyPr/>
          <a:lstStyle/>
          <a:p>
            <a:r>
              <a:rPr lang="en-US" dirty="0"/>
              <a:t>Specific </a:t>
            </a:r>
            <a:r>
              <a:rPr lang="en-US" dirty="0" err="1"/>
              <a:t>SYmmetry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l="-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113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“Folded over” potential form  --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7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\documentclass{article}&#10;\usepackage{amsmath,bm,eufrak}&#10;\pagestyle{empty}&#10;\begin{document}&#10;&#10;\begin{align*}&#10;V_{\parallel,1} = V_{\parallel,5} = V_{\parallel,9}  &amp; =  \left(\frac{1+\omega_{0}\omega_{1}}{2}\right)\left(\frac{1+\sigma\sigma_{0}\sigma_{1}}{2}\right)U^{\left(A^{\left(\sigma\right)}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85164C25-7E44-487F-ABED-BC00DD0077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60957" y="3871681"/>
            <a:ext cx="4870086" cy="486400"/>
          </a:xfrm>
          <a:prstGeom prst="rect">
            <a:avLst/>
          </a:prstGeom>
          <a:ln>
            <a:noFill/>
          </a:ln>
        </p:spPr>
      </p:pic>
      <p:pic>
        <p:nvPicPr>
          <p:cNvPr id="42" name="Picture 41" descr="\documentclass{article}&#10;\usepackage{amsmath,bm,eufrak}&#10;\pagestyle{empty}&#10;\begin{document}&#10;&#10;\begin{align*}&#10;V_{\perp,1} = V_{\perp,5} = V_{\perp,9} &amp; = \left(\frac{1+\omega_{0}}{2}\right)\left(\frac{1+\omega_{1}}{2}\right)U^{\left(A^{\left(\sigma\right)}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FB95FEF1-842D-4689-A0A7-440738B05BF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55025" y="4955797"/>
            <a:ext cx="4464151" cy="486399"/>
          </a:xfrm>
          <a:prstGeom prst="rect">
            <a:avLst/>
          </a:prstGeom>
          <a:ln>
            <a:noFill/>
          </a:ln>
        </p:spPr>
      </p:pic>
      <p:pic>
        <p:nvPicPr>
          <p:cNvPr id="49" name="Picture 48" descr="\documentclass{article}&#10;\usepackage{amsmath,bm,eufrak}&#10;\pagestyle{empty}&#10;\begin{document}&#10;&#10;\begin{align*}&#10;V_{\perp,13} = V_{\perp,15} = V_{\perp,17}  &amp; = \sigma\left(\frac{1+\omega_{0}}{2}\right)\left(\frac{1+\omega_{1}}{2}\right)U^{\left(A^{\left(\sigma\right)}\right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098E944B-6589-4FF5-A16E-6D5CAA34E70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74201" y="4955797"/>
            <a:ext cx="4862775" cy="486399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U^{\left(A^{\left(\sigma\right)}\right)}&#10;=&#10;U^{\left(A^{\left(\sigma\right)}\right)}&#10;\\&#10;\left\{&#10;(xzy),&#10;(x\bar{z}\bar{y}),&#10;(zyx),&#10;(\bar{z}y\bar{x}),&#10;(yxz),&#10;(\bar{y}\bar{x}z),&#10;(\bar{x}\bar{z}y),&#10;(\bar{x}z\bar{y}),&#10;(z\bar{y}\bar{x}),&#10;(\bar{z}\bar{y}x),&#10;(\bar{y}x\bar{z}),&#10;(y\bar{x}\bar{z})&#10;\right\}&#10;U^{\left(A^{\left(\sigma\right)}\right)}&#10;=&#10;\sigma U^{\left(A^{\left(\sigma\right)}\right)}&#10;\end{gather*}&#10;&#10;\end{document}" title="IguanaTex Bitmap Display">
            <a:extLst>
              <a:ext uri="{FF2B5EF4-FFF2-40B4-BE49-F238E27FC236}">
                <a16:creationId xmlns:a16="http://schemas.microsoft.com/office/drawing/2014/main" id="{EA842107-B527-4B1E-B383-66ED8301C35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73524" y="2457205"/>
            <a:ext cx="10844953" cy="8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0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Terms of filtered potential matrices --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14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B40E2D0-608F-4897-97AE-D34711995EF1}"/>
              </a:ext>
            </a:extLst>
          </p:cNvPr>
          <p:cNvGrpSpPr/>
          <p:nvPr/>
        </p:nvGrpSpPr>
        <p:grpSpPr>
          <a:xfrm>
            <a:off x="265449" y="2097851"/>
            <a:ext cx="4245936" cy="4291693"/>
            <a:chOff x="178593" y="2098524"/>
            <a:chExt cx="4245936" cy="4291693"/>
          </a:xfrm>
        </p:grpSpPr>
        <p:pic>
          <p:nvPicPr>
            <p:cNvPr id="65" name="Picture 64" descr="\documentclass{article}&#10;\usepackage{amsmath,bm,eufrak}&#10;\pagestyle{empty}&#10;\begin{document}&#10;&#10;\begin{align*}&#10;U_{\parallel(A)} &amp; = U_{(x)} = U_{(y)} = U_{(z)} = \delta_{(A)}U^{\left(A^{\left(\sigma\right)}\right)} \\&#10;    U_{\perp(A)} &amp; = U^{\left(A^{\left(\sigma\right)}\right)}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33BCE7C9-E6E5-465B-817C-09121C04EEF9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477260" y="2098524"/>
              <a:ext cx="3648603" cy="67413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" name="Picture 66" descr="\documentclass{article}&#10;\usepackage{amsmath,bm,eufrak}&#10;\pagestyle{empty}&#10;\begin{document}&#10;&#10;\begin{align*}&#10;U_{\perp(A)} &amp; =                           U^{\left(A^{\left(\sigma\right)}\right)} \\&#10;    O_{(A)}  &amp; = \sigma\sigma_{0}\sigma_{1}U^{\left(A^{\left(\sigma\right)}\right)} \\&#10;\end{align*}&#10;&#10;\end{document}" title="IguanaTex Bitmap Display">
              <a:extLst>
                <a:ext uri="{FF2B5EF4-FFF2-40B4-BE49-F238E27FC236}">
                  <a16:creationId xmlns:a16="http://schemas.microsoft.com/office/drawing/2014/main" id="{7AB4C845-76FA-4A97-8A3E-4A853273D55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31810" y="3076822"/>
              <a:ext cx="1939503" cy="67413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5" name="Picture 54" descr="\documentclass{article}&#10;\usepackage{amsmath,bm,eufrak}&#10;\pagestyle{empty}&#10;\begin{document}&#10;&#10;\begin{align*}&#10;T_{(A)}                     &amp; = 2\delta_{(A)}U^{\left(A^{\left(\sigma\right)}\right)} \\&#10;T_{\left(E_{1}\right)}      &amp; = \phi_{\sigma_{0}\sigma_{1}}^{(\sigma)}U^{\left(A^{\left(\sigma\right)}\right)} \\&#10;T_{\left(E_{2}\right)}      &amp; = \phi_{\sigma_{0}\sigma_{1}}^{(\sigma)*}U^{\left(A^{\left(\sigma\right)}\right)} \\&#10;\end{align*}&#10;&#10;\end{document}" title="IguanaTex Bitmap Display">
              <a:extLst>
                <a:ext uri="{FF2B5EF4-FFF2-40B4-BE49-F238E27FC236}">
                  <a16:creationId xmlns:a16="http://schemas.microsoft.com/office/drawing/2014/main" id="{CC324825-8F84-4CAC-835E-EF64009D75F6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391543" y="4055119"/>
              <a:ext cx="1820036" cy="105325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" name="Picture 26" descr="\documentclass{article}&#10;\usepackage{amsmath,bm,eufrak}&#10;\pagestyle{empty}&#10;\begin{document}&#10;&#10;\begin{align*}&#10;       \delta_{(A)}  &amp; = \frac{1 + \sigma\sigma_{0}\sigma_{1}}{2} \\&#10;\phi_{s}^{(\sigma)}  &amp; = \tau^{2} + \sigma s\tau = -\left(\frac{1+\sigma s}{2}\right) -\mathrm{i}\sqrt{3}\left(\frac{1-\sigma s}{2}\right) \\&#10;\end{align*}&#10;&#10;\end{document}" title="IguanaTex Bitmap Display">
              <a:extLst>
                <a:ext uri="{FF2B5EF4-FFF2-40B4-BE49-F238E27FC236}">
                  <a16:creationId xmlns:a16="http://schemas.microsoft.com/office/drawing/2014/main" id="{441E75C6-A03A-40C0-8A1A-78DC6BBB7BE6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78593" y="5412541"/>
              <a:ext cx="4245936" cy="97767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659BEBB-5BA6-4733-B212-B47EA7A1F108}"/>
              </a:ext>
            </a:extLst>
          </p:cNvPr>
          <p:cNvGrpSpPr/>
          <p:nvPr/>
        </p:nvGrpSpPr>
        <p:grpSpPr>
          <a:xfrm>
            <a:off x="4776834" y="1888720"/>
            <a:ext cx="7149718" cy="4709954"/>
            <a:chOff x="4776834" y="1888720"/>
            <a:chExt cx="7149718" cy="4709954"/>
          </a:xfrm>
        </p:grpSpPr>
        <p:pic>
          <p:nvPicPr>
            <p:cNvPr id="69" name="Picture 68" descr="\documentclass{article}&#10;\usepackage{amsmath,bm,eufrak}&#10;\pagestyle{empty}&#10;\begin{document}&#10;&#10;\begin{align*}&#10;U_{\perp(x)} = U_{\perp(y)} = U_{\perp(z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036325D0-950F-4D99-8C72-86C90985360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7174094" y="4145563"/>
              <a:ext cx="2355198" cy="209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9" name="Picture 78" descr="\documentclass{article}&#10;\usepackage{amsmath,bm,eufrak}&#10;\pagestyle{empty}&#10;\begin{document}&#10;&#10;\begin{align*}&#10;T_{(Ax)} = T_{(Ay)} = T_{(Az)} = T_{\left(E_{1}x\right)} = T_{\left(E_{1}y\right)} = T_{\left(E_{1}z\right)} = T_{\left(E_{2}x\right)} = T_{\left(E_{2}y\right)} = T_{\left(E_{2}z\right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C44FED3D-6698-4BA7-B45F-87F7DFCBC94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4776837" y="5642404"/>
              <a:ext cx="7149715" cy="208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75" name="Picture 74" descr="\documentclass{article}&#10;\usepackage{amsmath,bm,eufrak}&#10;\pagestyle{empty}&#10;\begin{document}&#10;&#10;\begin{align*}&#10;T_{(xA)} = T_{(yA)} = T_{(zA)} = T_{\left(xE_{1}\right)} = T_{\left(yE_{1}\right)} = T_{\left(zE_{1}\right)} = T_{\left(xE_{2}\right)} = T_{\left(yE_{2}\right)} = T_{\left(zE_{2}\right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A5677F55-14EB-4BD3-8188-0185C2CF74B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4776834" y="6390217"/>
              <a:ext cx="7149718" cy="2084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42" name="Picture 41" descr="\documentclass{article}&#10;\usepackage{amsmath,bm,eufrak}&#10;\pagestyle{empty}&#10;\begin{document}&#10;&#10;\begin{align*}&#10;U_{\left(AE_{1}\right)} = U_{\left(AE_{2}\right)} &amp; = 0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BB4FE73D-BE15-4A40-B1D7-56204CC78CF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7447162" y="1888720"/>
              <a:ext cx="1809063" cy="2096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7" name="Picture 46" descr="\documentclass{article}&#10;\usepackage{amsmath,bm,eufrak}&#10;\pagestyle{empty}&#10;\begin{document}&#10;&#10;\begin{align*}&#10;O_{\left(AE_{1}\right)} = O_{\left(AE_{2}\right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F6A7C4F2-A412-4098-B22B-8053CD17589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7429484" y="2637750"/>
              <a:ext cx="1844418" cy="21455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2" name="Picture 51" descr="\documentclass{article}&#10;\usepackage{amsmath,bm,eufrak}&#10;\pagestyle{empty}&#10;\begin{document}&#10;&#10;\begin{align*}&#10;O_{(x)} = O_{(y)} = O_{(z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EFCAD77B-F937-4388-AEF9-1231D01FFB8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7337446" y="3391657"/>
              <a:ext cx="2028494" cy="21455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9" name="Picture 58" descr="\documentclass{article}&#10;\usepackage{amsmath,bm,eufrak}&#10;\pagestyle{empty}&#10;\begin{document}&#10;&#10;\begin{align*}&#10;T_{\left(AE_{1}\right)} = T_{\left(AE_{2}\right)} = T_{\left(E_{1}A\right)} = T_{\left(E_{2}A\right)} = T_{\left(E_{1}E_{2}\right)} = T_{\left(E_{2}E_{1}\right)} &amp; = 0 \\&#10;\end{align*}&#10;&#10;\end{document}" title="IguanaTex Bitmap Display">
              <a:extLst>
                <a:ext uri="{FF2B5EF4-FFF2-40B4-BE49-F238E27FC236}">
                  <a16:creationId xmlns:a16="http://schemas.microsoft.com/office/drawing/2014/main" id="{5CDA171A-B8A7-46C5-B159-274DDA1E46AA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5697829" y="4894593"/>
              <a:ext cx="5307728" cy="20845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63284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equation*}&#10;V_{\parallel}^{\left(A^{\left(\sigma\right)}\right)(\mathcal{W}_{0}\mathcal{W}_{1})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01384A0A-E5A0-4210-AFC2-215C4FBD3B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60764" y="2390067"/>
            <a:ext cx="9470472" cy="2428921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8AC3894F-F9F5-41BA-8F36-AB1C774B3D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65715" y="5389013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683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7" name="Picture 6" descr="\documentclass{article}&#10;\usepackage{amsmath,bm,eufrak}&#10;\pagestyle{empty}&#10;\begin{document}&#10;&#10;\begin{equation*}&#10;V_{\perp}^{\left(A^{\left(\sigma\right)}\right)(\mathcal{W}_{0}\mathcal{W}_{1})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A5AF85A6-C4FA-430D-BA23-C93BF9B8899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63051" y="2139105"/>
            <a:ext cx="8665898" cy="2579790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A0702188-1DDE-4C72-A110-4CA43A8D8A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347063"/>
            <a:ext cx="4245935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8946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CFAB-D6A5-46F2-946D-F0A18B3D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98343"/>
            <a:ext cx="6638544" cy="1579920"/>
          </a:xfrm>
        </p:spPr>
        <p:txBody>
          <a:bodyPr/>
          <a:lstStyle/>
          <a:p>
            <a:r>
              <a:rPr lang="en-US" dirty="0"/>
              <a:t>Specific </a:t>
            </a:r>
            <a:r>
              <a:rPr lang="en-US" dirty="0" err="1"/>
              <a:t>SYmmetry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891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8:\bar{y}\bar{z}x)&#10;&amp; \Rightarrow &amp;&#10;\begin{pmatrix}&#10;-U_{x,2} &amp; -U_{y}   &amp; -U_{z,2}\\&#10;-U_{x,3} &amp; -U_{y,3} &amp; -U_{z}\\&#10; U_{x}   &amp;  U_{y,1} &amp; 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09B7A17-AED8-435D-A569-8BF834E797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75662" y="2619568"/>
            <a:ext cx="2763880" cy="2731894"/>
          </a:xfrm>
          <a:prstGeom prst="rect">
            <a:avLst/>
          </a:prstGeom>
        </p:spPr>
      </p:pic>
      <p:pic>
        <p:nvPicPr>
          <p:cNvPr id="11" name="Picture 10" descr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 title="IguanaTex Bitmap Display">
            <a:extLst>
              <a:ext uri="{FF2B5EF4-FFF2-40B4-BE49-F238E27FC236}">
                <a16:creationId xmlns:a16="http://schemas.microsoft.com/office/drawing/2014/main" id="{CBD37FC5-B6B6-4508-8F1F-83FBDDC21E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5889" y="2619570"/>
            <a:ext cx="2763885" cy="2731891"/>
          </a:xfrm>
          <a:prstGeom prst="rect">
            <a:avLst/>
          </a:prstGeom>
        </p:spPr>
      </p:pic>
      <p:pic>
        <p:nvPicPr>
          <p:cNvPr id="15" name="Picture 14" descr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18A85F1F-135C-4874-9FE3-6DECF7BAF8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95433" y="2619568"/>
            <a:ext cx="2840676" cy="27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9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T</a:t>
            </a:r>
            <a:r>
              <a:rPr lang="en-US" baseline="30000" dirty="0"/>
              <a:t>(σ)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68286862-5C8E-44D5-8FE9-47E96931E3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17149" y="2583754"/>
            <a:ext cx="2957702" cy="2731892"/>
          </a:xfrm>
          <a:prstGeom prst="rect">
            <a:avLst/>
          </a:prstGeom>
        </p:spPr>
      </p:pic>
      <p:pic>
        <p:nvPicPr>
          <p:cNvPr id="12" name="Picture 11" descr="\documentclass{article}&#10;\usepackage{amsmath,bm,physics,array,multirow}&#10;\pagestyle{empty}&#10;&#10;\newcolumntype{C}{&gt;{$}c&lt;{$}}&#10;&#10;\begin{document}&#10;&#10;&#10;\begin{equation*}&#10;\begin{tabular}{CCC}&#10;(15:zyx)&#10;&amp; \Rightarrow &amp;&#10;\sigma&#10;\begin{pmatrix}&#10;U_{x,3} &amp; U_{y,3} &amp; U_{z}\\&#10;U_{x,2} &amp; U_{y}   &amp; U_{z,2}\\&#10;U_{x}   &amp; U_{y,1} &amp; 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21:z\bar{y}\bar{x})&#10;&amp; \Rightarrow &amp;&#10;\sigma&#10;\begin{pmatrix}&#10; U_{x,3} &amp;  U_{y,3} &amp;  U_{z}\\&#10;-U_{x,2} &amp; -U_{y}   &amp; -U_{z,2}\\&#10;-U_{x}   &amp; -U_{y,1} &amp; -U_{z,1}\\&#10;\end{pmatrix}&#10;\\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F69E5493-C6AF-43F0-BC48-4689E84A85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404575" y="2583753"/>
            <a:ext cx="2957702" cy="2731894"/>
          </a:xfrm>
          <a:prstGeom prst="rect">
            <a:avLst/>
          </a:prstGeom>
        </p:spPr>
      </p:pic>
      <p:pic>
        <p:nvPicPr>
          <p:cNvPr id="18" name="Picture 17" descr="\documentclass{article}&#10;\usepackage{amsmath,bm,physics,array,multirow}&#10;\pagestyle{empty}&#10;&#10;\newcolumntype{C}{&gt;{$}c&lt;{$}}&#10;&#10;\begin{document}&#10;&#10;&#10;\begin{equation*}&#10;\begin{tabular}{CCC}&#10;(17:yxz)&#10;&amp; \Rightarrow &amp;&#10;\sigma&#10;\begin{pmatrix}&#10;U_{x,2} &amp; U_{y}   &amp; U_{z,2}\\&#10;U_{x}   &amp; U_{y,1} &amp; U_{z,1}\\&#10;U_{x,3} &amp; U_{y,3} &amp; U_{z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 title="IguanaTex Bitmap Display">
            <a:extLst>
              <a:ext uri="{FF2B5EF4-FFF2-40B4-BE49-F238E27FC236}">
                <a16:creationId xmlns:a16="http://schemas.microsoft.com/office/drawing/2014/main" id="{4DF3BCEC-5016-4EB6-A3EE-3CF467E46A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29723" y="2583754"/>
            <a:ext cx="2957702" cy="273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35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“Folded over” potential form</a:t>
            </a:r>
          </a:p>
        </p:txBody>
      </p:sp>
      <p:pic>
        <p:nvPicPr>
          <p:cNvPr id="11" name="Picture 10" descr="\documentclass{article}&#10;\usepackage{amsmath,bm,eufrak}&#10;\pagestyle{empty}&#10;\begin{document}&#10;&#10;\begin{align*}&#10;V_{\perp,1}  &amp; =  \left(\frac{1+\omega_{0}}{2}\right)\left(\frac{1-\omega_{1}}{2}\right)U_{x} &#10;                + \left(\frac{1-\omega_{0}}{2}\right)\left(\frac{1+\omega_{1}}{2}\right)U_{y}&#10;                + \left(\frac{1-\omega_{0}}{2}\right)\left(\frac{1-\omega_{1}}{2}\right)U_{z} \\&#10;V_{\perp,5}  &amp; =  \left(\frac{1+\omega_{0}}{2}\right)\left(\frac{1-\omega_{1}}{2}\right)U_{z,1} &#10;                + \left(\frac{1-\omega_{0}}{2}\right)\left(\frac{1+\omega_{1}}{2}\right)U_{x,2}&#10;                + \left(\frac{1-\omega_{0}}{2}\right)\left(\frac{1-\omega_{1}}{2}\right)U_{y,3} \\&#10;V_{\perp,9}  &amp; =  \left(\frac{1+\omega_{0}}{2}\right)\left(\frac{1-\omega_{1}}{2}\right)U_{y,1}&#10;                + \left(\frac{1-\omega_{0}}{2}\right)\left(\frac{1+\omega_{1}}{2}\right)U_{z,2}&#10;                + \left(\frac{1-\omega_{0}}{2}\right)\left(\frac{1-\omega_{1}}{2}\right)U_{x,3} \\&#10;\end{align*}&#10;&#10;&#10;\end{document}" title="IguanaTex Bitmap Display">
            <a:extLst>
              <a:ext uri="{FF2B5EF4-FFF2-40B4-BE49-F238E27FC236}">
                <a16:creationId xmlns:a16="http://schemas.microsoft.com/office/drawing/2014/main" id="{CF709977-CD7E-4D47-A9BF-682BA2DD61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53604" y="2879476"/>
            <a:ext cx="7884792" cy="1620113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align*}&#10;V_{\perp,13}  &amp; = \sigma\left\{&#10;   \left(\frac{1+\omega_{0}}{2}\right)\left(\frac{1-\omega_{1}}{2}\right)U_{x} &#10; + \left(\frac{1-\omega_{0}}{2}\right)\left(\frac{1+\omega_{1}}{2}\right)U_{z,2}&#10; + \left(\frac{1-\omega_{0}}{2}\right)\left(\frac{1-\omega_{1}}{2}\right)U_{y,3} \right\}&#10;\\&#10;V_{\perp,15}  &amp; = \sigma\left\{&#10;   \left(\frac{1+\omega_{0}}{2}\right)\left(\frac{1-\omega_{1}}{2}\right)U_{z,1}&#10; + \left(\frac{1-\omega_{0}}{2}\right)\left(\frac{1+\omega_{1}}{2}\right)U_{y}&#10; + \left(\frac{1-\omega_{0}}{2}\right)\left(\frac{1-\omega_{1}}{2}\right)U_{x,3} \right\}&#10;\\&#10;V_{\perp,17}  &amp; = \sigma\left\{&#10;   \left(\frac{1+\omega_{0}}{2}\right)\left(\frac{1-\omega_{1}}{2}\right)U_{y,1}&#10; + \left(\frac{1-\omega_{0}}{2}\right)\left(\frac{1+\omega_{1}}{2}\right)U_{x,2}&#10; + \left(\frac{1-\omega_{0}}{2}\right)\left(\frac{1-\omega_{1}}{2}\right)U_{z}   \right\}&#10;\\&#10;\end{align*}&#10;&#10;&#10;\end{document}" title="IguanaTex Bitmap Display">
            <a:extLst>
              <a:ext uri="{FF2B5EF4-FFF2-40B4-BE49-F238E27FC236}">
                <a16:creationId xmlns:a16="http://schemas.microsoft.com/office/drawing/2014/main" id="{CE3B2D90-9814-47C1-834D-85DCFCD24E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51853" y="4879543"/>
            <a:ext cx="8288295" cy="1620114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\documentclass{article}&#10;\usepackage{amsmath,bm,eufrak}&#10;\pagestyle{empty}&#10;\begin{document}&#10;&#10;\begin{align*}&#10;U^{\left(T^{(\sigma)}\right)}  &amp; =  U_{x}^{\left(T^{(\sigma)}\right)} + U_{y}^{\left(T^{(\sigma)}\right)} + U_{z}^{\left(T^{(\sigma)}\right)}&#10;\end{align*}&#10;&#10;&#10;\end{document}" title="IguanaTex Bitmap Display">
            <a:extLst>
              <a:ext uri="{FF2B5EF4-FFF2-40B4-BE49-F238E27FC236}">
                <a16:creationId xmlns:a16="http://schemas.microsoft.com/office/drawing/2014/main" id="{2EAFDEBB-E3F4-456D-80DF-8F8D29DE142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433832" y="2174036"/>
            <a:ext cx="3324336" cy="3254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302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5" name="Picture 14" descr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C9290F7-B46C-4039-AEA4-8C603D88ED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162" y="3371847"/>
            <a:ext cx="11601677" cy="19431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9EA293BA-BA1F-4CDC-B368-9B20D688F1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07622" y="2008188"/>
            <a:ext cx="6115956" cy="4120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1335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Inversion filtered potential involving perpendicular valleys</a:t>
            </a:r>
          </a:p>
        </p:txBody>
      </p:sp>
      <p:pic>
        <p:nvPicPr>
          <p:cNvPr id="9" name="Picture 8" descr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25C2A27-773B-42CB-9CCE-F5FF947C15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9105" y="2425872"/>
            <a:ext cx="11813791" cy="221013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05C76FC8-FE5B-4AC0-9A57-2C5D3A7A38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230521"/>
            <a:ext cx="4245934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740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CFAB-D6A5-46F2-946D-F0A18B3D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98343"/>
            <a:ext cx="6638544" cy="1579920"/>
          </a:xfrm>
        </p:spPr>
        <p:txBody>
          <a:bodyPr/>
          <a:lstStyle/>
          <a:p>
            <a:r>
              <a:rPr lang="en-US" dirty="0"/>
              <a:t>Specific </a:t>
            </a:r>
            <a:r>
              <a:rPr lang="en-US" dirty="0" err="1"/>
              <a:t>SYmmetry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236612F-8C1B-40DA-9EB5-9BBBF2297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981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Matrix representation of T</a:t>
            </a:r>
            <a:r>
              <a:rPr lang="en-US" baseline="-25000" dirty="0"/>
              <a:t>d</a:t>
            </a:r>
            <a:r>
              <a:rPr lang="en-US" dirty="0"/>
              <a:t> – E</a:t>
            </a:r>
          </a:p>
        </p:txBody>
      </p:sp>
      <p:pic>
        <p:nvPicPr>
          <p:cNvPr id="4" name="Picture 3" descr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 title="IguanaTex Bitmap Display">
            <a:extLst>
              <a:ext uri="{FF2B5EF4-FFF2-40B4-BE49-F238E27FC236}">
                <a16:creationId xmlns:a16="http://schemas.microsoft.com/office/drawing/2014/main" id="{59545BEC-8CFB-4D06-B297-7024AEC7BF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38591" y="2225324"/>
            <a:ext cx="5914819" cy="404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83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Terms of inversion filtering</a:t>
            </a:r>
          </a:p>
        </p:txBody>
      </p:sp>
      <p:pic>
        <p:nvPicPr>
          <p:cNvPr id="45" name="Picture 44" descr="\documentclass{article}&#10;\usepackage{amsmath,amssymb,bm}&#10;\pagestyle{empty}&#10;\begin{document}&#10;&#10;\begin{align*}&#10;V_{\parallel,1} &amp; = \left(\frac{1+\omega_{0}\omega_{1}}{2}\right)\left(        V_{(1)} +         V_{(2)}\right) \\&#10;V_{\parallel,5} &amp; = \left(\frac{1+\omega_{0}\omega_{1}}{2}\right)\left(\tau^{2}V_{(1)} +    \tau V_{(2)}\right) \\&#10;V_{\parallel,9} &amp; = \left(\frac{1+\omega_{0}\omega_{1}}{2}\right)\left(   \tau V_{(1)} + \tau^{2}V_{(2)}\right) \\&#10;\end{align*}&#10;&#10;&#10;\end{document}" title="IguanaTex Bitmap Display">
            <a:extLst>
              <a:ext uri="{FF2B5EF4-FFF2-40B4-BE49-F238E27FC236}">
                <a16:creationId xmlns:a16="http://schemas.microsoft.com/office/drawing/2014/main" id="{E5B24528-C625-487E-A820-72838F4A33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63112" y="2161743"/>
            <a:ext cx="3146359" cy="1620114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\documentclass{article}&#10;\usepackage{amsmath,bm,eufrak}&#10;\pagestyle{empty}&#10;\begin{document}&#10;&#10;\begin{align*}&#10;V_{\perp,1} &amp; = \left(\frac{1+\omega_{0}}{2}\right)\left(\frac{1+\omega_{1}}{2}\right)\left(        U_{11} +         U_{22}\right) \\&#10;V_{\perp,5} &amp; = \left(\frac{1+\omega_{0}}{2}\right)\left(\frac{1+\omega_{1}}{2}\right)\left(\tau^{2}U_{11} +    \tau U_{22}\right) \\&#10;V_{\perp,9} &amp; = \left(\frac{1+\omega_{0}}{2}\right)\left(\frac{1+\omega_{1}}{2}\right)\left(   \tau U_{11} + \tau^{2}U_{22}\right) \\&#10;\end{align*}&#10;&#10;&#10;\end{document}" title="IguanaTex Bitmap Display">
            <a:extLst>
              <a:ext uri="{FF2B5EF4-FFF2-40B4-BE49-F238E27FC236}">
                <a16:creationId xmlns:a16="http://schemas.microsoft.com/office/drawing/2014/main" id="{645CFE6E-87BA-47D9-BE24-E3ED1249D9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58492" y="4441939"/>
            <a:ext cx="3868034" cy="1620112"/>
          </a:xfrm>
          <a:prstGeom prst="rect">
            <a:avLst/>
          </a:prstGeom>
          <a:ln>
            <a:noFill/>
          </a:ln>
        </p:spPr>
      </p:pic>
      <p:pic>
        <p:nvPicPr>
          <p:cNvPr id="21" name="Picture 20" descr="\documentclass{article}&#10;\usepackage{amsmath,bm,eufrak}&#10;\pagestyle{empty}&#10;\begin{document}&#10;&#10;\begin{align*}&#10;V_{\perp,13} &amp; = \left(\frac{1+\omega_{0}}{2}\right)\left(\frac{1+\omega_{1}}{2}\right)\left(\tau^{2}U_{21} +    \tau U_{12}\right) \\&#10;V_{\perp,15} &amp; = \left(\frac{1+\omega_{0}}{2}\right)\left(\frac{1+\omega_{1}}{2}\right)\left(   \tau U_{21} +    \tau^{2}U_{12}\right) \\&#10;V_{\perp,17} &amp; = \left(\frac{1+\omega_{0}}{2}\right)\left(\frac{1+\omega_{1}}{2}\right)\left(        U_{21} +            U_{12}\right) \\&#10;\end{align*}&#10;&#10;&#10;\end{document}" title="IguanaTex Bitmap Display">
            <a:extLst>
              <a:ext uri="{FF2B5EF4-FFF2-40B4-BE49-F238E27FC236}">
                <a16:creationId xmlns:a16="http://schemas.microsoft.com/office/drawing/2014/main" id="{E258F617-73E5-41B2-BCD9-69C167BBEA1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785018" y="4441939"/>
            <a:ext cx="3948491" cy="1620112"/>
          </a:xfrm>
          <a:prstGeom prst="rect">
            <a:avLst/>
          </a:prstGeom>
          <a:ln>
            <a:noFill/>
          </a:ln>
        </p:spPr>
      </p:pic>
      <p:pic>
        <p:nvPicPr>
          <p:cNvPr id="43" name="Picture 42" descr="\documentclass{article}&#10;\usepackage{amsmath,amssymb,bm}&#10;\pagestyle{empty}&#10;\begin{document}&#10;&#10;\begin{align*}&#10;V_{(1)} &amp; = \frac{ U_{11} + \sigma_{0}\sigma_{1}U_{21} }{ 2 } \\&#10;V_{(2)} &amp; = \frac{ U_{22} + \sigma_{0}\sigma_{1}U_{12} }{ 2 } \\&#10;\end{align*}&#10;&#10;&#10;\end{document}" title="IguanaTex Bitmap Display">
            <a:extLst>
              <a:ext uri="{FF2B5EF4-FFF2-40B4-BE49-F238E27FC236}">
                <a16:creationId xmlns:a16="http://schemas.microsoft.com/office/drawing/2014/main" id="{A4117F1B-3FCD-4FAA-B05D-EDEC280B302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382528" y="2517705"/>
            <a:ext cx="1898056" cy="9081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5498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Terms of filtered potential matrices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U_{(x)} &amp; = U_{9} \\&#10;U_{(y)} &amp; = U_{5} \\&#10;U_{(z)} &amp; = U_{1} \\&#10;\end{align*}&#10;&#10;\end{document}" title="IguanaTex Bitmap Display">
            <a:extLst>
              <a:ext uri="{FF2B5EF4-FFF2-40B4-BE49-F238E27FC236}">
                <a16:creationId xmlns:a16="http://schemas.microsoft.com/office/drawing/2014/main" id="{617DCF87-4539-44A5-8B4D-EB420EC326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86173" y="3020619"/>
            <a:ext cx="833828" cy="816761"/>
          </a:xfrm>
          <a:prstGeom prst="rect">
            <a:avLst/>
          </a:prstGeom>
          <a:ln>
            <a:noFill/>
          </a:ln>
        </p:spPr>
      </p:pic>
      <p:pic>
        <p:nvPicPr>
          <p:cNvPr id="32" name="Picture 31" descr="\documentclass{article}&#10;\usepackage{amsmath,bm,eufrak}&#10;\pagestyle{empty}&#10;\begin{document}&#10;&#10;\begin{align*}&#10;U_{(A)}                  &amp; = 0 \\&#10;U_{\left(AE_{1}\right)}  &amp; = V_{(2)} \\&#10;U_{\left(AE_{2}\right)}  &amp; = V_{(1)} \\&#10;\end{align*}&#10;&#10;&#10;\end{document}" title="IguanaTex Bitmap Display">
            <a:extLst>
              <a:ext uri="{FF2B5EF4-FFF2-40B4-BE49-F238E27FC236}">
                <a16:creationId xmlns:a16="http://schemas.microsoft.com/office/drawing/2014/main" id="{80A93E85-52E9-4B79-A6B0-20A120368F0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62821" y="3020618"/>
            <a:ext cx="1160531" cy="816761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\documentclass{article}&#10;\usepackage{amsmath,amssymb,bm}&#10;\pagestyle{empty}&#10;\begin{document}&#10;&#10;\begin{align*}&#10;V_{\parallel,1} &amp; = \left(\frac{1+\omega_{0}\omega_{1}}{2}\right)\left(        V_{(1)} +         V_{(2)}\right) \\&#10;V_{\parallel,5} &amp; = \left(\frac{1+\omega_{0}\omega_{1}}{2}\right)\left(\tau^{2}V_{(1)} +    \tau V_{(2)}\right) \\&#10;V_{\parallel,9} &amp; = \left(\frac{1+\omega_{0}\omega_{1}}{2}\right)\left(   \tau V_{(1)} + \tau^{2}V_{(2)}\right) \\&#10;\end{align*}&#10;&#10;&#10;\end{document}" title="IguanaTex Bitmap Display">
            <a:extLst>
              <a:ext uri="{FF2B5EF4-FFF2-40B4-BE49-F238E27FC236}">
                <a16:creationId xmlns:a16="http://schemas.microsoft.com/office/drawing/2014/main" id="{F46616D5-457C-4E97-8943-5665559A5FB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282822" y="2618943"/>
            <a:ext cx="3146359" cy="16201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1782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31" name="Picture 30" descr="\documentclass{article}&#10;\usepackage{amsmath,bm,eufrak}&#10;\pagestyle{empty}&#10;\begin{document}&#10;&#10;\begin{equation*}&#10;V_{\parallel}^{\left(E\right)(\mathcal{W}_{0}\mathcal{W}_{1})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9FEC4412-9644-4F5D-8BC5-4F967D8780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9527" y="2364671"/>
            <a:ext cx="10652946" cy="2428917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93E5A01D-6A9E-42F3-A546-1DCD8C2315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40234" y="5337105"/>
            <a:ext cx="2190621" cy="9081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<a:extLst>
              <a:ext uri="{FF2B5EF4-FFF2-40B4-BE49-F238E27FC236}">
                <a16:creationId xmlns:a16="http://schemas.microsoft.com/office/drawing/2014/main" id="{DB363AF3-6695-476B-9FF4-A30E08672B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71089" y="5359657"/>
            <a:ext cx="2680676" cy="863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904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41" name="Picture 40" descr="\documentclass{article}&#10;\usepackage{amsmath,bm,eufrak}&#10;\pagestyle{empty}&#10;\begin{document}&#10;&#10;\begin{equation*}&#10;V_{\perp}^{\left(E\right)(\mathcal{W}_{0}\mathcal{W}_{1})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10A2460-535C-4182-A050-6D1BB129EF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16200" y="2214534"/>
            <a:ext cx="9159601" cy="2428923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4029B753-7004-4951-98C6-0BD9BF6633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00690" y="5121872"/>
            <a:ext cx="2190621" cy="908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5262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"/>
  <p:tag name="LAYER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335.583"/>
  <p:tag name="LATEXADDIN" val="\documentclass{article}&#10;\usepackage{amsmath,bm}&#10;\pagestyle{empty}&#10;\begin{document}&#10;&#10;\begin{equation*}&#10;\bm{\beta}_{E_{1}}^{(\sigma)}&#10;=&#10;\mathrm{i}^{\frac{1-\sigma}{2}}&#10;\frac{1}{\sqrt{3}}&#10;\left\{\tau, \tau^{2}, 1\right\}&#10;\end{equation*}&#10;&#10;\end{document}"/>
  <p:tag name="IGUANATEXSIZE" val="16"/>
  <p:tag name="IGUANATEXCURSOR" val="12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25.1594"/>
  <p:tag name="LATEXADDIN" val="\documentclass{article}&#10;\usepackage{amsmath,bm}&#10;\pagestyle{empty}&#10;\begin{document}&#10;&#10;\begin{equation*}&#10;\bm{\beta}_{E_{2}}&#10;=&#10;\left(\bm{\beta}_{E_{1}}\right)^{*}&#10;\end{equation*}&#10;&#10;\end{document}"/>
  <p:tag name="IGUANATEXSIZE" val="16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2804.649"/>
  <p:tag name="OUTPUTTYPE" val="PNG"/>
  <p:tag name="IGUANATEXVERSION" val="159"/>
  <p:tag name="LATEXADDIN" val="\documentclass{article}&#10;\usepackage{amsmath,bm}&#10;\pagestyle{empty}&#10;\begin{document}&#10;&#10;\begin{equation*}&#10;\Psi_{m_{e}lk\sigma;\lambda\eta}^{\left(E_{i}W\kappa\right)}&#10;=&#10;\sum_{q = x,y,z}&#10;\left(\beta_{E_{i}}^{(\sigma)}\right)_{q}&#10;\Phi_{m_{e}lk(\sigma\mathrm{i}^{m_{e}});\lambda\eta}^{(W\kappa q)}&#10;\Theta^{(q)}_{\sigma\mathrm{i}^{m_{e}}(-1)^{l}}&#10;\end{equation*}&#10;&#10;\end{document}"/>
  <p:tag name="IGUANATEXSIZE" val="18"/>
  <p:tag name="IGUANATEXCURSOR" val="33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4.7206"/>
  <p:tag name="ORIGINALWIDTH" val="2104.987"/>
  <p:tag name="OUTPUTTYPE" val="PNG"/>
  <p:tag name="IGUANATEXVERSION" val="159"/>
  <p:tag name="LATEXADDIN" val="\documentclass{article}&#10;\usepackage{amsmath,bm}&#10;\pagestyle{empty}&#10;\begin{document}&#10;&#10;\begin{align*}&#10;\Psi_{m_{e}lk;\lambda\eta}^{\left(T_{q}^{(\sigma)}W\kappa\right)}&#10;=&#10;\Phi_{m_{e}lk(\sigma\mathrm{i}^{m_{e}});\lambda\eta}^{(W\kappa q)}&#10;\Theta_{-\sigma\mathrm{i}^{m_{e}}(-1)^{l}}^{(q)}&#10;\end{align*}&#10;&#10;\end{document}"/>
  <p:tag name="IGUANATEXSIZE" val="18"/>
  <p:tag name="IGUANATEXCURSOR" val="2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2795.65"/>
  <p:tag name="OUTPUTTYPE" val="PNG"/>
  <p:tag name="IGUANATEXVERSION" val="159"/>
  <p:tag name="LATEXADDIN" val="\documentclass{article}&#10;\usepackage{amsmath,bm}&#10;\pagestyle{empty}&#10;\begin{document}&#10;&#10;\begin{equation*}&#10;\Psi_{m_{e}lk;\lambda\eta}^{\left(A^{(\sigma)}W\kappa\right)}&#10;=&#10;\sum_{q = x,y,z} &#10;\left(\frac{1}{\sqrt{3}}\right)&#10;\Phi_{m_{e}lk(\sigma\mathrm{i}^{m_{e}});\lambda\eta}^{(W\kappa q)}&#10;\Theta^{(q)}_{\sigma\mathrm{i}^{m_{e}}(-1)^{l}}&#10;\end{equation*}&#10;&#10;\end{document}"/>
  <p:tag name="IGUANATEXSIZE" val="18"/>
  <p:tag name="IGUANATEXCURSOR" val="32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3064.867"/>
  <p:tag name="OUTPUTTYPE" val="PNG"/>
  <p:tag name="IGUANATEXVERSION" val="159"/>
  <p:tag name="LATEXADDIN" val="\documentclass{article}&#10;\usepackage{amsmath,bm}&#10;\pagestyle{empty}&#10;\begin{document}&#10;&#10;\begin{align*}&#10;\Psi_{m_{o}lkh;\lambda\eta}^{\left(T_{q_{1}}^{(\sigma)}W\kappa\right)}&#10;=&#10;\frac&#10;{&#10;\Phi_{m_{o}lkh;\lambda\eta}^{\left(W\kappa q_{2}\right)}\Theta_{h(-1)^{l}}^{(q_{2})}&#10;- h\sigma\mathrm{i}^{m_{o}}\Phi_{m_{o}lk\bar{h};\lambda\eta}^{\left(W\kappa q_{3}\right)}\Theta_{h(-1)^{l}}^{(q_{3})}&#10;}&#10;{\sqrt{2}}&#10;\end{align*}&#10;&#10;\end{document}"/>
  <p:tag name="IGUANATEXSIZE" val="18"/>
  <p:tag name="IGUANATEXCURSOR" val="35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1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56.2054"/>
  <p:tag name="OUTPUTTYPE" val="PNG"/>
  <p:tag name="IGUANATEXVERSION" val="159"/>
  <p:tag name="LATEXADDIN" val="\documentclass{article}&#10;\usepackage{amsmath,bm}&#10;\pagestyle{empty}&#10;\begin{document}&#10;&#10;\begin{equation*}&#10;\omega\Psi_{mlh}^{(1\sigma)}&#10;\end{equation*}&#10;&#10;\end{document}"/>
  <p:tag name="IGUANATEXSIZE" val="15"/>
  <p:tag name="IGUANATEXCURSOR" val="108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56.2054"/>
  <p:tag name="OUTPUTTYPE" val="PNG"/>
  <p:tag name="IGUANATEXVERSION" val="159"/>
  <p:tag name="LATEXADDIN" val="\documentclass{article}&#10;\usepackage{amsmath,bm}&#10;\pagestyle{empty}&#10;\begin{document}&#10;&#10;\begin{equation*}&#10;\omega\Psi_{mlh}^{(1\sigma)}&#10;\end{equation*}&#10;&#10;\end{document}"/>
  <p:tag name="IGUANATEXSIZE" val="15"/>
  <p:tag name="IGUANATEXCURSOR" val="108"/>
  <p:tag name="TRANSPARENCY" val="True"/>
  <p:tag name="FILENAME" val=""/>
  <p:tag name="LATEXENGINEID" val="0"/>
  <p:tag name="TEMPFOLDER" val="C: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815.1481"/>
  <p:tag name="OUTPUTTYPE" val="PNG"/>
  <p:tag name="IGUANATEXVERSION" val="159"/>
  <p:tag name="LATEXADDIN" val="\documentclass{article}&#10;\usepackage{amsmath,bm}&#10;\pagestyle{empty}&#10;\begin{document}&#10;&#10;\begin{equation*}&#10;\omega(-1)^{l+m}\Psi_{mlh}^{(1\sigma)}&#10;\end{equation*}&#10;&#10;\end{document}"/>
  <p:tag name="IGUANATEXSIZE" val="15"/>
  <p:tag name="IGUANATEXCURSOR" val="11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4"/>
  <p:tag name="LAYER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2"/>
  <p:tag name="LAYER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0"/>
  <p:tag name="LAYER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9"/>
  <p:tag name="LAYER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8"/>
  <p:tag name="LAY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9"/>
  <p:tag name="LAY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46.4567"/>
  <p:tag name="LATEXADDIN" val="\documentclass{article}&#10;\usepackage{amsmath,bm}&#10;\pagestyle{empty}&#10;\begin{document}&#10;&#10;\begin{equation*}&#10;\sigma\Psi_{mlh}^{(2\sigma)}&#10;\end{equation*}&#10;&#10;\end{document}"/>
  <p:tag name="IGUANATEXSIZE" val="15"/>
  <p:tag name="IGUANATEXCURSOR" val="10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46.4567"/>
  <p:tag name="LATEXADDIN" val="\documentclass{article}&#10;\usepackage{amsmath,bm}&#10;\pagestyle{empty}&#10;\begin{document}&#10;&#10;\begin{equation*}&#10;\sigma&#10;\Psi_{mlh}^{(3\sigma)}&#10;\end{equation*}&#10;&#10;\end{document}"/>
  <p:tag name="IGUANATEXSIZE" val="15"/>
  <p:tag name="IGUANATEXCURSOR" val="13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46.4567"/>
  <p:tag name="LATEXADDIN" val="\documentclass{article}&#10;\usepackage{amsmath,bm}&#10;\pagestyle{empty}&#10;\begin{document}&#10;&#10;\begin{equation*}&#10;\sigma\Psi_{mlh}^{(1\sigma)}&#10;\end{equation*}&#10;&#10;\end{document}"/>
  <p:tag name="IGUANATEXSIZE" val="15"/>
  <p:tag name="IGUANATEXCURSOR" val="1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3"/>
  <p:tag name="LAYER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"/>
  <p:tag name="LAY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5"/>
  <p:tag name="LAYER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"/>
  <p:tag name="LAYER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2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3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1\sigma)}&#10;\end{equation*}&#10;&#10;\end{document}"/>
  <p:tag name="IGUANATEXSIZE" val="15"/>
  <p:tag name="IGUANATEXCURSOR" val="10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2.089"/>
  <p:tag name="ORIGINALWIDTH" val="1679.79"/>
  <p:tag name="OUTPUTTYPE" val="PNG"/>
  <p:tag name="IGUANATEXVERSION" val="159"/>
  <p:tag name="LATEXADDIN" val="\documentclass{article}&#10;\usepackage{amsmath,bm,eufrak}&#10;\pagestyle{empty}&#10;\begin{document}&#10;&#10;\begin{align*}&#10;U&#10;&amp;=&#10;\sum_{j \in \Gamma\left(T_{d}\right)}&#10;\sum_{\kappa = 1}^{l_{j}}&#10;U^{(j)}_{\kappa\kappa}&#10;\\&#10;U^{(j)}_{\lambda\kappa}&#10;&amp;=&#10;\frac{l_{j}}{h}&#10;\sum_{\hat{R}\in T_{d}}&#10;\left(\Gamma_{\hat{R}}^{(j)}\right)_{\lambda\kappa}^{*}&#10;U_{\hat{R}}&#10;\\&#10;\left(U^{(j)}_{\lambda\kappa}\right)_{\hat{P}}&#10;&amp;=&#10;\sum_{\mu = 1}^{l_{j}}&#10;\left(\Gamma_{\hat{P}}^{(j)}\right)_{\mu\lambda}&#10;U^{(j)}_{\mu\kappa}&#10;\\&#10;\end{align*}&#10;&#10;\end{document}"/>
  <p:tag name="IGUANATEXSIZE" val="20"/>
  <p:tag name="IGUANATEXCURSOR" val="43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.4777"/>
  <p:tag name="ORIGINALWIDTH" val="4482.939"/>
  <p:tag name="OUTPUTTYPE" val="PNG"/>
  <p:tag name="IGUANATEXVERSION" val="159"/>
  <p:tag name="LATEXADDIN" val="\documentclass{article}&#10;\usepackage{amsmath,bm,eufrak}&#10;\pagestyle{empty}&#10;\begin{document}&#10;&#10;\begin{align*}&#10;U&#10;&amp;=&#10;U^{\left(A_{1}\right)}&#10;+&#10;U^{\left(A_{2}\right)}&#10;+&#10;U^{\left(E\right)}_{11}&#10;+&#10;U^{\left(E\right)}_{22}&#10;+&#10;U^{\left(T_{1}\right)}_{x}&#10;+&#10;U^{\left(T_{1}\right)}_{y}&#10;+&#10;U^{\left(T_{1}\right)}_{z}&#10;+&#10;U^{\left(T_{2}\right)}_{x}&#10;+&#10;U^{\left(T_{2}\right)}_{y}&#10;+&#10;U^{\left(T_{2}\right)}_{z}&#10;\\&#10;\end{align*}&#10;&#10;\end{document}"/>
  <p:tag name="IGUANATEXSIZE" val="20"/>
  <p:tag name="IGUANATEXCURSOR" val="38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62.842"/>
  <p:tag name="OUTPUTTYPE" val="PNG"/>
  <p:tag name="IGUANATEXVERSION" val="159"/>
  <p:tag name="LATEXADDIN" val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/>
  <p:tag name="IGUANATEXSIZE" val="20"/>
  <p:tag name="IGUANATEXCURSOR" val="13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53.3933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1}\right)}&#10;=&#10;\frac{1}{24}&#10;\begin{pmatrix}&#10;1 \\&#10;1 \\&#10;1 \\&#10;1 \\&#10;1 \\&#10;1 \\&#10;1 \\&#10;1 \\&#10;1 \\&#10;1 \\&#10;1 \\&#10;1 \\&#10;1 \\&#10;1 \\&#10;1 \\&#10;1 \\&#10;1 \\&#10;1 \\&#10;1 \\&#10;1 \\&#10;1 \\&#10;1 \\&#10;1 \\&#10;1 \\&#10;\end{pmatrix}&#10;\end{equation*}&#10;&#10;\end{document}"/>
  <p:tag name="IGUANATEXSIZE" val="12"/>
  <p:tag name="IGUANATEXCURSOR" val="206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950.8811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A_{2}\right)}&#10;=&#10;\frac{1}{24}&#10;\begin{pmatrix}&#10;+1 \\&#10;+1 \\&#10;+1 \\&#10;+1 \\&#10;+1 \\&#10;+1 \\&#10;+1 \\&#10;+1 \\&#10;+1 \\&#10;+1 \\&#10;+1 \\&#10;+1 \\&#10;-1 \\&#10;-1 \\&#10;-1 \\&#10;-1 \\&#10;-1 \\&#10;-1 \\&#10;-1 \\&#10;-1 \\&#10;-1 \\&#10;-1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1}&#10;=&#10;\frac{1}{12}&#10;\begin{pmatrix}&#10;1        \\&#10;1        \\&#10;1        \\&#10;1        \\&#10;\tau     \\&#10;\tau     \\&#10;\tau     \\&#10;\tau     \\&#10;\tau^{2} \\&#10;\tau^{2} \\&#10;\tau^{2} \\&#10;\tau^{2}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2}&#10;=&#10;\frac{1}{12}&#10;\begin{pmatrix}&#10;1        \\&#10;1        \\&#10;1        \\&#10;1        \\&#10;\tau^{2} \\&#10;\tau^{2} \\&#10;\tau^{2} \\&#10;\tau^{2} \\&#10;\tau     \\&#10;\tau     \\&#10;\tau     \\&#10;\tau     \\&#10;0        \\&#10;0        \\&#10;0        \\&#10;0        \\&#10;0        \\&#10;0        \\&#10;0        \\&#10;0        \\&#10;0        \\&#10;0        \\&#10;0        \\&#10;0        \\&#10;\end{pmatrix}&#10;\end{equation*}&#10;&#10;\end{document}"/>
  <p:tag name="IGUANATEXSIZE" val="12"/>
  <p:tag name="IGUANATEXCURSOR" val="13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12}&#10;=&#10;\frac{1}{12}&#10;\begin{pmatrix}&#10;0        \\&#10;0        \\&#10;0        \\&#10;0        \\&#10;0        \\&#10;0        \\&#10;0        \\&#10;0        \\&#10;0        \\&#10;0        \\&#10;0        \\&#10;0        \\&#10;\tau^{2} \\&#10;\tau^{2} \\&#10;\tau     \\&#10;\tau     \\&#10;1        \\&#10;1        \\&#10;\tau^{2} \\&#10;\tau^{2} \\&#10;\tau     \\&#10;\tau     \\&#10;1        \\&#10;1        \\&#10;\end{pmatrix}&#10;\end{equation*}&#10;&#10;\end{document}"/>
  <p:tag name="IGUANATEXSIZE" val="12"/>
  <p:tag name="IGUANATEXCURSOR" val="392"/>
  <p:tag name="TRANSPARENCY" val="Tru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69.8912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E\right)}_{21}&#10;=&#10;\frac{1}{12}&#10;\begin{pmatrix}&#10;0        \\&#10;0        \\&#10;0        \\&#10;0        \\&#10;0        \\&#10;0        \\&#10;0        \\&#10;0        \\&#10;0        \\&#10;0        \\&#10;0        \\&#10;0        \\&#10;\tau     \\&#10;\tau     \\&#10;\tau^{2} \\&#10;\tau^{2} \\&#10;1        \\&#10;1        \\&#10;\tau     \\&#10;\tau     \\&#10;\tau^{2} \\&#10;\tau^{2} \\&#10;1        \\&#10;1        \\&#10;\end{pmatrix}&#10;\end{equation*}&#10;&#10;\end{document}"/>
  <p:tag name="IGUANATEXSIZE" val="12"/>
  <p:tag name="IGUANATEXCURSOR" val="392"/>
  <p:tag name="TRANSPARENCY" val="False"/>
  <p:tag name="FILENAME" val=""/>
  <p:tag name="LATEXENGINEID" val="0"/>
  <p:tag name="TEMPFOLDER" val="C:\iguanatex\"/>
  <p:tag name="LATEXFORMHEIGHT" val="536.25"/>
  <p:tag name="LATEXFORMWIDTH" val="988.5"/>
  <p:tag name="LATEXFORMWRAP" val="Fals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}&#10;=&#10;\frac{1}{8}&#10;\begin{pmatrix}&#10;+1 \\&#10;+1 \\&#10;-1 \\&#10;-1 \\&#10;0  \\&#10;0  \\&#10;0  \\&#10;0  \\&#10;0  \\&#10;0  \\&#10;0  \\&#10;0  \\&#10;-1 \\&#10;-1 \\&#10;0  \\&#10;0  \\&#10;0  \\&#10;0  \\&#10;+1 \\&#10;+1 \\&#10;0  \\&#10;0  \\&#10;0  \\&#10;0  \\&#10;\end{pmatrix}&#10;\end{equation*}&#10;&#10;\end{document}"/>
  <p:tag name="IGUANATEXSIZE" val="12"/>
  <p:tag name="IGUANATEXCURSOR" val="322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}&#10;=&#10;\frac{1}{8}&#10;\begin{pmatrix}&#10;+1 \\&#10;-1 \\&#10;+1 \\&#10;-1 \\&#10;0  \\&#10;0  \\&#10;0  \\&#10;0  \\&#10;0  \\&#10;0  \\&#10;0  \\&#10;0  \\&#10;0  \\&#10;0  \\&#10;-1 \\&#10;-1 \\&#10;0  \\&#10;0  \\&#10;0  \\&#10;0  \\&#10;+1 \\&#10;+1 \\&#10;0  \\&#10;0  \\&#10;\end{pmatrix}&#10;\end{equation*}&#10;&#10;\end{document}"/>
  <p:tag name="IGUANATEXSIZE" val="12"/>
  <p:tag name="IGUANATEXCURSOR" val="2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}&#10;=&#10;\frac{1}{8}&#10;\begin{pmatrix}&#10;+1 \\&#10;-1 \\&#10;-1 \\&#10;+1 \\&#10;0  \\&#10;0  \\&#10;0  \\&#10;0  \\&#10;0  \\&#10;0  \\&#10;0  \\&#10;0  \\&#10;0  \\&#10;0  \\&#10;0  \\&#10;0  \\&#10;-1 \\&#10;-1 \\&#10;0  \\&#10;0  \\&#10;0  \\&#10;0  \\&#10;+1 \\&#10;+1 \\&#10;\end{pmatrix}&#10;\end{equation*}&#10;&#10;\end{document}"/>
  <p:tag name="IGUANATEXSIZE" val="12"/>
  <p:tag name="IGUANATEXCURSOR" val="198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1}&#10;=&#10;\frac{1}{8}\begin{pmatrix}&#10;0  \\&#10;0  \\&#10;0  \\&#10;0  \\&#10;0  \\&#10;0  \\&#10;0  \\&#10;0  \\&#10;+1 \\&#10;+1 \\&#10;-1 \\&#10;-1 \\&#10;0  \\&#10;0  \\&#10;0  \\&#10;0  \\&#10;-1 \\&#10;+1 \\&#10;0  \\&#10;0  \\&#10;0  \\&#10;0  \\&#10;-1 \\&#10;+1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1}&#10;=&#10;\frac{1}{8}&#10;\begin{pmatrix}&#10;0  \\&#10;0  \\&#10;0  \\&#10;0  \\&#10;+1 \\&#10;-1 \\&#10;-1 \\&#10;+1 \\&#10;0  \\&#10;0  \\&#10;0  \\&#10;0  \\&#10;0  \\&#10;0  \\&#10;-1 \\&#10;+1 \\&#10;0  \\&#10;0  \\&#10;0  \\&#10;0  \\&#10;+1 \\&#10;-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z,2}&#10;=&#10;\frac{1}{8}&#10;\begin{pmatrix}&#10;0  \\&#10;0  \\&#10;0  \\&#10;0  \\&#10;0  \\&#10;0  \\&#10;0  \\&#10;0  \\&#10;+1 \\&#10;-1 \\&#10;+1 \\&#10;-1 \\&#10;-1 \\&#10;+1 \\&#10;0  \\&#10;0  \\&#10;0  \\&#10;0  \\&#10;-1 \\&#10;+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y,3}&#10;=&#10;\frac{1}{8}&#10;\begin{pmatrix}&#10;0  \\&#10;0  \\&#10;0  \\&#10;0  \\&#10;+1 \\&#10;-1 \\&#10;+1 \\&#10;+1 \\&#10;0  \\&#10;0  \\&#10;0  \\&#10;0  \\&#10;-1 \\&#10;+1 \\&#10;0  \\&#10;0  \\&#10;0  \\&#10;0  \\&#10;+1 \\&#10;-1 \\&#10;0  \\&#10;0 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2}&#10;=&#10;\frac{1}{8}&#10;\begin{pmatrix}&#10;0  \\&#10;0  \\&#10;0  \\&#10;0  \\&#10;+1 \\&#10;+1 \\&#10;-1 \\&#10;-1 \\&#10;0  \\&#10;0  \\&#10;0  \\&#10;0  \\&#10;0  \\&#10;0  \\&#10;0  \\&#10;0  \\&#10;-1 \\&#10;+1 \\&#10;0  \\&#10;0  \\&#10;0  \\&#10;0  \\&#10;+1 \\&#10;-1 \\&#10;\end{pmatrix}&#10;\end{equation*}&#10;&#10;\end{document}"/>
  <p:tag name="IGUANATEXSIZE" val="12"/>
  <p:tag name="IGUANATEXCURSOR" val="149"/>
  <p:tag name="TRANSPARENCY" val="Fals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1}\right)}_{x,3}&#10;=&#10;\frac{1}{8}&#10;\begin{pmatrix}&#10;0  \\&#10;0  \\&#10;0  \\&#10;0  \\&#10;0  \\&#10;0  \\&#10;0  \\&#10;0  \\&#10;+1 \\&#10;-1 \\&#10;-1 \\&#10;+1 \\&#10;0  \\&#10;0  \\&#10;-1 \\&#10;+1 \\&#10;0  \\&#10;0  \\&#10;0  \\&#10;0  \\&#10;-1 \\&#10;+1 \\&#10;0  \\&#10;0  \\&#10;\end{pmatrix}&#10;\end{equation*}&#10;&#10;\end{document}"/>
  <p:tag name="IGUANATEXSIZE" val="12"/>
  <p:tag name="IGUANATEXCURSOR" val="149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62.842"/>
  <p:tag name="OUTPUTTYPE" val="PNG"/>
  <p:tag name="IGUANATEXVERSION" val="159"/>
  <p:tag name="LATEXADDIN" val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/>
  <p:tag name="IGUANATEXSIZE" val="20"/>
  <p:tag name="IGUANATEXCURSOR" val="13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}&#10;=&#10;\frac{1}{8}&#10;\begin{pmatrix}&#10;+1 \\&#10;+1 \\&#10;-1 \\&#10;-1 \\&#10;0  \\&#10;0  \\&#10;0  \\&#10;0  \\&#10;0  \\&#10;0  \\&#10;0  \\&#10;0  \\&#10;+1 \\&#10;+1 \\&#10;0  \\&#10;0  \\&#10;0  \\&#10;0  \\&#10;-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}&#10;=&#10;\frac{1}{8}&#10;\begin{pmatrix}&#10;+1 \\&#10;-1 \\&#10;+1 \\&#10;-1 \\&#10;0  \\&#10;0  \\&#10;0  \\&#10;0  \\&#10;0  \\&#10;0  \\&#10;0  \\&#10;0  \\&#10;0  \\&#10;0  \\&#10;+1 \\&#10;+1 \\&#10;0  \\&#10;0  \\&#10;0  \\&#10;0  \\&#10;-1 \\&#10;-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}&#10;=&#10;\frac{1}{8}&#10;\begin{pmatrix}&#10;+1 \\&#10;-1 \\&#10;-1 \\&#10;+1 \\&#10;0  \\&#10;0  \\&#10;0  \\&#10;0  \\&#10;0  \\&#10;0  \\&#10;0  \\&#10;0  \\&#10;0  \\&#10;0  \\&#10;0  \\&#10;0  \\&#10;+1 \\&#10;+1 \\&#10;0  \\&#10;0  \\&#10;0  \\&#10;0  \\&#10;-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1}&#10;=&#10;\frac{1}{8}\begin{pmatrix}&#10;0  \\&#10;0  \\&#10;0  \\&#10;0  \\&#10;0  \\&#10;0  \\&#10;0  \\&#10;0  \\&#10;+1 \\&#10;+1 \\&#10;-1 \\&#10;-1 \\&#10;0  \\&#10;0  \\&#10;0  \\&#10;0  \\&#10;+1 \\&#10;-1 \\&#10;0  \\&#10;0  \\&#10;0  \\&#10;0  \\&#10;+1 \\&#10;-1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1}&#10;=&#10;\frac{1}{8}&#10;\begin{pmatrix}&#10;0  \\&#10;0  \\&#10;0  \\&#10;0  \\&#10;+1 \\&#10;-1 \\&#10;-1 \\&#10;+1 \\&#10;0  \\&#10;0  \\&#10;0  \\&#10;0  \\&#10;0  \\&#10;0  \\&#10;+1 \\&#10;-1 \\&#10;0  \\&#10;0  \\&#10;0  \\&#10;0  \\&#10;-1 \\&#10;+1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z,2}&#10;=&#10;\frac{1}{8}&#10;\begin{pmatrix}&#10;0  \\&#10;0  \\&#10;0  \\&#10;0  \\&#10;0  \\&#10;0  \\&#10;0  \\&#10;0  \\&#10;+1 \\&#10;-1 \\&#10;+1 \\&#10;-1 \\&#10;+1 \\&#10;-1 \\&#10;0  \\&#10;0  \\&#10;0  \\&#10;0  \\&#10;+1 \\&#10;-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y,3}&#10;=&#10;\frac{1}{8}&#10;\begin{pmatrix}&#10;0  \\&#10;0  \\&#10;0  \\&#10;0  \\&#10;+1 \\&#10;-1 \\&#10;+1 \\&#10;+1 \\&#10;0  \\&#10;0  \\&#10;0  \\&#10;0  \\&#10;+1 \\&#10;-1 \\&#10;0  \\&#10;0  \\&#10;0  \\&#10;0  \\&#10;-1 \\&#10;+1 \\&#10;0  \\&#10;0  \\&#10;0  \\&#10;0  \\&#10;\end{pmatrix}&#10;\end{equation*}&#10;&#10;\end{document}"/>
  <p:tag name="IGUANATEXSIZE" val="12"/>
  <p:tag name="IGUANATEXCURSOR" val="135"/>
  <p:tag name="TRANSPARENCY" val="Tru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2}&#10;=&#10;\frac{1}{8}&#10;\begin{pmatrix}&#10;0  \\&#10;0  \\&#10;0  \\&#10;0  \\&#10;+1 \\&#10;+1 \\&#10;-1 \\&#10;-1 \\&#10;0  \\&#10;0  \\&#10;0  \\&#10;0  \\&#10;0  \\&#10;0  \\&#10;0  \\&#10;0  \\&#10;+1 \\&#10;-1 \\&#10;0  \\&#10;0  \\&#10;0  \\&#10;0  \\&#10;-1 \\&#10;+1 \\&#10;\end{pmatrix}&#10;\end{equation*}&#10;&#10;\end{document}"/>
  <p:tag name="IGUANATEXSIZE" val="12"/>
  <p:tag name="IGUANATEXCURSOR" val="135"/>
  <p:tag name="TRANSPARENCY" val="False"/>
  <p:tag name="FILENAME" val=""/>
  <p:tag name="LATEXENGINEID" val="0"/>
  <p:tag name="TEMPFOLDER" val="C:\iguanatex\"/>
  <p:tag name="LATEXFORMHEIGHT" val="616.5"/>
  <p:tag name="LATEXFORMWIDTH" val="988.5"/>
  <p:tag name="LATEXFORMWRAP" val="Fals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5.302"/>
  <p:tag name="ORIGINALWIDTH" val="872.8909"/>
  <p:tag name="OUTPUTTYPE" val="PNG"/>
  <p:tag name="IGUANATEXVERSION" val="159"/>
  <p:tag name="LATEXADDIN" val="\documentclass{article}&#10;\usepackage{amsmath,bm,eufrak}&#10;\pagestyle{empty}&#10;&#10;&#10;\begin{document}&#10;&#10;\begin{equation*}&#10;\mathfrak{p}^{\left(T_{2}\right)}_{x,3}&#10;=&#10;\frac{1}{8}&#10;\begin{pmatrix}&#10;0  \\&#10;0  \\&#10;0  \\&#10;0  \\&#10;0  \\&#10;0  \\&#10;0  \\&#10;0  \\&#10;+1 \\&#10;-1 \\&#10;-1 \\&#10;+1 \\&#10;0  \\&#10;0  \\&#10;+1 \\&#10;-1 \\&#10;0  \\&#10;0  \\&#10;0  \\&#10;0  \\&#10;+1 \\&#10;-1 \\&#10;0  \\&#10;0  \\&#10;\end{pmatrix}&#10;\end{equation*}&#10;&#10;\end{document}"/>
  <p:tag name="IGUANATEXSIZE" val="12"/>
  <p:tag name="IGUANATEXCURSOR" val="370"/>
  <p:tag name="TRANSPARENCY" val="True"/>
  <p:tag name="FILENAME" val=""/>
  <p:tag name="LATEXENGINEID" val="0"/>
  <p:tag name="TEMPFOLDER" val="C:\iguanatex\"/>
  <p:tag name="LATEXFORMHEIGHT" val="618"/>
  <p:tag name="LATEXFORMWIDTH" val="988.5"/>
  <p:tag name="LATEXFORMWRAP" val="Fals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262.842"/>
  <p:tag name="OUTPUTTYPE" val="PNG"/>
  <p:tag name="IGUANATEXVERSION" val="159"/>
  <p:tag name="LATEXADDIN" val="\documentclass{article}&#10;\usepackage{amsmath,bm,eufrak}&#10;\pagestyle{empty}&#10;\begin{document}&#10;&#10;\begin{align*}&#10;U^{(j)}_{\lambda\kappa}&#10;&amp;=&#10;\sum_{\hat{R}\in T_{d}}&#10;\left(\mathfrak{p}_{\lambda\kappa}^{(j)}\right)_{\hat{R}}&#10;U_{\hat{R}}&#10;\\&#10;\end{align*}&#10;&#10;\end{document}"/>
  <p:tag name="IGUANATEXSIZE" val="20"/>
  <p:tag name="IGUANATEXCURSOR" val="13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2.767"/>
  <p:tag name="ORIGINALWIDTH" val="4356.955"/>
  <p:tag name="OUTPUTTYPE" val="PNG"/>
  <p:tag name="IGUANATEXVERSION" val="159"/>
  <p:tag name="LATEXADDIN" val="\documentclass{article}&#10;\usepackage{amsmath,bm,eufrak}&#10;\pagestyle{empty}&#10;\begin{document}&#10;&#10;\begin{align*}&#10;(\bm{\mathcal{M}})_{\mathcal{W}_{0}\mathcal{W}_{1}}&#10;&amp; =&#10;\sum_{j}&#10;\int \mathrm{d}\bm{r}\,&#10;\Psi_{\mathcal{W}_{0}}^{*}&#10;\Psi_{\mathcal{W}_{1}}&#10;U^{(j)}&#10;\\&#10;&amp; =&#10;\sum_{j}&#10;\int \mathrm{d}\bm{r}\,&#10;\sum_{q q^{\prime}}&#10;\left(\beta_{q\mathcal{W}_{0}}\psi_{i}^{(q)}\right)^{*}&#10;\beta_{q^{\prime}\mathcal{W}_{1}}\psi_{j}^{(q^{\prime})}&#10;U^{(j)}&#10;\\&#10;&amp; =&#10;\sum_{j}&#10;\int \mathrm{d}\bm{r}\,&#10;\sum_{q q^{\prime}}&#10;\left(\beta_{q\mathcal{W}_{0}}\right)^{*}&#10;U^{(j)}&#10;\beta_{q^{\prime}\mathcal{W}_{1}}&#10;\left(\psi_{i}^{(q)}\right)^{*}&#10;\psi_{j}^{(q^{\prime})}&#10;\\&#10;&amp; =&#10;\sum_{j}&#10;\int \mathrm{d}\bm{r}\,&#10;\left[&#10;\bm{\beta}_{\mathcal{W}_{0}}^{\dagger}&#10;\bm{U}^{(j)}_{\parallel}&#10;\bm{\beta}_{\mathcal{W}_{1}}&#10;\left(\psi_{\mathcal{W}_{0}}^{(z)}\right)^{*}&#10;\psi_{\mathcal{W}_{1}}^{(z)} &#10;+&#10;\bm{\beta}_{\mathcal{W}_{0}}^{\dagger}&#10;\bm{U}^{(j)}_{\perp}&#10;\bm{\beta}_{\mathcal{W}_{1}}&#10;\left(\psi_{\mathcal{W}_{0}}^{(y)}\right)^{*}&#10;\psi_{\mathcal{W}_{1}}^{(x)} &#10;\right]&#10;\\&#10;&amp; =&#10;\int \mathrm{d}\bm{r}\,&#10;\left[&#10;U_{\parallel}^{\left(\mathcal{W}_{0}\mathcal{W}_{1}\right)}&#10;\left(\psi_{\mathcal{W}_{0}}^{(z)}\right)^{*}&#10;\psi_{\mathcal{W}_{1}}^{(z)} &#10;+&#10;U_{\perp}^{\left(\mathcal{W}_{0}\mathcal{W}_{1}\right)}&#10;\left(\psi_{\mathcal{W}_{0}}^{(y)}\right)^{*}&#10;\psi_{\mathcal{W}_{1}}^{(x)} &#10;\right]&#10;\\&#10;\end{align*}&#10;&#10;\end{document}"/>
  <p:tag name="IGUANATEXSIZE" val="20"/>
  <p:tag name="IGUANATEXCURSOR" val="903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496.813"/>
  <p:tag name="OUTPUTTYPE" val="PNG"/>
  <p:tag name="IGUANATEXVERSION" val="159"/>
  <p:tag name="LATEXADDIN" val="\documentclass{article}&#10;\usepackage{amsmath,bm,eufrak}&#10;\pagestyle{empty}&#10;\begin{document}&#10;&#10;\begin{align*}&#10;U_{\parallel\slash\perp}^{\left(j\right)\left(\mathcal{W}_{0}\mathcal{W}_{1}\right)}&#10;= &#10;\hat{\bm{\beta}}_{\mathcal{W}_{0}}^{\dagger}&#10;\bm{U}_{\parallel\slash\perp}^{\left(j\right)}&#10;\hat{\bm{\beta}}_{\mathcal{W}_{1}}&#10;\end{align*}&#10;&#10;\end{document}"/>
  <p:tag name="IGUANATEXSIZE" val="25"/>
  <p:tag name="IGUANATEXCURSOR" val="31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2352.456"/>
  <p:tag name="OUTPUTTYPE" val="PNG"/>
  <p:tag name="IGUANATEXVERSION" val="159"/>
  <p:tag name="LATEXADDIN" val="\documentclass{article}&#10;\usepackage{amsmath,bm}&#10;\pagestyle{empty}&#10;\begin{document}&#10;&#10;\begin{equation*}&#10;\bm{U}_{\perp}^{\left(j\right)}&#10;=&#10;\begin{pmatrix}&#10;0                                            &amp; \sigma_{0}\sigma_{1}U_{yxz}^{\left(j\right)} &amp; U_{yzx}^{\left(j\right)} \\&#10;U_{xyz}^{\left(j\right)}                     &amp; 0                                            &amp; \sigma_{0}\sigma_{1}U_{zyx}^{\left(j\right)} \\&#10;\sigma_{0}\sigma_{1}U_{xzy}^{\left(j\right)} &amp; U_{zxy}^{\left(j\right)}                     &amp; 0&#10;\end{pmatrix}&#10;\end{equation*}&#10;&#10;\end{document}"/>
  <p:tag name="IGUANATEXSIZE" val="18"/>
  <p:tag name="IGUANATEXCURSOR" val="508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1590.551"/>
  <p:tag name="OUTPUTTYPE" val="PNG"/>
  <p:tag name="IGUANATEXVERSION" val="159"/>
  <p:tag name="LATEXADDIN" val="\documentclass{article}&#10;\usepackage{amsmath,bm}&#10;\pagestyle{empty}&#10;\begin{document}&#10;&#10;\begin{equation*}&#10;\bm{U}_{\parallel}^{\left(j\right)}&#10;=&#10;\begin{pmatrix}&#10;U_{zxy}^{\left(j\right)} &amp; 0                        &amp; 0 \\&#10;0                        &amp; U_{yzx}^{\left(j\right)} &amp; 0 \\&#10;0                        &amp; 0                        &amp; U_{xyz}^{\left(j\right)}&#10;\end{pmatrix}&#10;\end{equation*}&#10;&#10;\end{document}"/>
  <p:tag name="IGUANATEXSIZE" val="18"/>
  <p:tag name="IGUANATEXCURSOR" val="12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5284.59"/>
  <p:tag name="OUTPUTTYPE" val="PNG"/>
  <p:tag name="IGUANATEXVERSION" val="159"/>
  <p:tag name="LATEXADDIN" val="\documentclass{article}&#10;\usepackage{amsmath,bm,eufrak}&#10;\pagestyle{empty}&#10;\begin{document}&#10;&#10;\begin{align*}&#10;\bm{V}_{\parallel}^{\left(j\right)}&#10;&amp; =&#10;\frac{&#10;\left[&#10;\left(xyz\right)&#10;+&#10;\omega_{0}\omega_{1}\left( \left(x\bar{y}\bar{z}\right) + \left(\bar{x}y\bar{z}\right) \right)&#10;+&#10;\left(\bar{x}\bar{y}z\right)&#10;\right]&#10;+&#10;\sigma_{0}\sigma_{1}&#10;\left[&#10;\left(yxz\right)&#10;+&#10;\omega_{0}\omega_{1}\left( \left(\bar{y}x\bar{z}\right) + \left(y\bar{x}\bar{z}\right)\right)&#10;+&#10;\left(\bar{y}\bar{x}z\right)&#10;\right]&#10;}{8}&#10;\bm{U}_{\parallel}^{\left(j\right)}&#10;\\&#10;\end{align*}&#10;&#10;\end{document}"/>
  <p:tag name="IGUANATEXSIZE" val="18"/>
  <p:tag name="IGUANATEXCURSOR" val="53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2171"/>
  <p:tag name="ORIGINALWIDTH" val="3617.548"/>
  <p:tag name="OUTPUTTYPE" val="PNG"/>
  <p:tag name="IGUANATEXVERSION" val="159"/>
  <p:tag name="LATEXADDIN" val="\documentclass{article}&#10;\usepackage{amsmath,bm,eufrak}&#10;\pagestyle{empty}&#10;\begin{document}&#10;&#10;\begin{align*}&#10;V_{\perp}^{\left(j\right)\left(\mathcal{W}_{0}\mathcal{W}_{1}\right)}&#10;&amp; =&#10;\frac{&#10;\left(xyz\right)&#10;+ \omega_{0}\left(x\bar{y}\bar{z}\right)&#10;+ \omega_{1}\left(\bar{x}y\bar{z}\right)&#10;+ \omega_{0}\omega_{1}\left(\bar{x}\bar{y}z\right)&#10;}{4}&#10;U_{\perp}^{\left(j\right)\left(\mathcal{W}_{0}\mathcal{W}_{1}\right)}&#10;\\&#10;\end{align*}&#10;&#10;\end{document}"/>
  <p:tag name="IGUANATEXSIZE" val="18"/>
  <p:tag name="IGUANATEXCURSOR" val="336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3.6746"/>
  <p:tag name="ORIGINALWIDTH" val="3931.009"/>
  <p:tag name="OUTPUTTYPE" val="PNG"/>
  <p:tag name="IGUANATEXVERSION" val="159"/>
  <p:tag name="LATEXADDIN" val="\documentclass{article}&#10;\usepackage{amsmath,bm,eufrak}&#10;\pagestyle{empty}&#10;\begin{document}&#10;&#10;\begin{align*}&#10;(\bm{\mathcal{M}})_{\mathcal{W}_{0}\mathcal{W}_{1}}&#10;&amp; =&#10;\int \mathrm{d}\bm{r}\,&#10;\left[&#10;U_{\parallel}^{\left(j\right)\left(\mathcal{W}_{0}\mathcal{W}_{1}\right)}&#10;\left(\psi_{\mathcal{W}_{0}}^{(z)}\right)^{*}&#10;\psi_{\mathcal{W}_{1}}^{(z)} &#10;+&#10;U_{\perp}^{\left(j\right)\left(\mathcal{W}_{0}\mathcal{W}_{1}\right)}&#10;\left(\psi_{\mathcal{W}_{0}}^{(y)}\right)^{*}&#10;\psi_{\mathcal{W}_{1}}^{(x)} &#10;\right]&#10;\\&#10;&amp; =&#10;\int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/>
  <p:tag name="IGUANATEXSIZE" val="20"/>
  <p:tag name="IGUANATEXCURSOR" val="833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1.6385"/>
  <p:tag name="ORIGINALWIDTH" val="4524.185"/>
  <p:tag name="OUTPUTTYPE" val="PNG"/>
  <p:tag name="IGUANATEXVERSION" val="159"/>
  <p:tag name="LATEXADDIN" val="\documentclass{article}&#10;\usepackage{amsmath,bm,eufrak}&#10;\pagestyle{empty}&#10;\begin{document}&#10;&#10;\begin{align*}&#10;V_{\parallel,1}  &amp; =  \frac{ (1) + \omega_{0}\omega_{1}\left( (2) +  (3)\right) +  (4) + \sigma_{0}\sigma_{1}\left((17) + \omega_{0}\omega_{1}\left((23) + (24)\right) + (18)\right) }{8}    U^{\left(j\right)} \\&#10;V_{\parallel,5}  &amp; =  \frac{ (5) + \omega_{0}\omega_{1}\left( (8) +  (6)\right) +  (7) + \sigma_{0}\sigma_{1}\left((13) + \omega_{0}\omega_{1}\left((19) + (14)\right) + (20)\right) }{8}   U^{\left(j\right)} \\&#10;V_{\parallel,9}  &amp; =  \frac{ (9) + \omega_{0}\omega_{1}\left((10) + (11)\right) + (12) + \sigma_{0}\sigma_{1}\left((15) + \omega_{0}\omega_{1}\left((22) + (16)\right) + (21)\right) }{8} U^{\left(j\right)} \\&#10;\end{align*}&#10;&#10;&#10;\end{document}"/>
  <p:tag name="IGUANATEXSIZE" val="16"/>
  <p:tag name="IGUANATEXCURSOR" val="490"/>
  <p:tag name="TRANSPARENCY" val="True"/>
  <p:tag name="FILENAME" val=""/>
  <p:tag name="LATEXENGINEID" val="0"/>
  <p:tag name="TEMPFOLDER" val="C:\iguanatex\"/>
  <p:tag name="LATEXFORMHEIGHT" val="631.5"/>
  <p:tag name="LATEXFORMWIDTH" val="1415.2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8.6389"/>
  <p:tag name="ORIGINALWIDTH" val="2449.944"/>
  <p:tag name="OUTPUTTYPE" val="PNG"/>
  <p:tag name="IGUANATEXVERSION" val="159"/>
  <p:tag name="LATEXADDIN" val="\documentclass{article}&#10;\usepackage{amsmath,bm,eufrak}&#10;\pagestyle{empty}&#10;\begin{document}&#10;&#10;\begin{align*}&#10;V_{\perp,1}  &amp; =  \frac{ (1) + \omega_{0} (2) + \omega_{1} (3) + \omega_{0}\omega_{1} (4) }{4}U^{\left(j\right)} \\&#10;V_{\perp,5}  &amp; =  \frac{ (5) + \omega_{0} (8) + \omega_{1} (6) + \omega_{0}\omega_{1} (7) }{4}U^{\left(j\right)} \\&#10;V_{\perp,9}  &amp; =  \frac{ (9) + \omega_{0}(10) + \omega_{1}(11) + \omega_{0}\omega_{1}(12) }{4}U^{\left(j\right)} \\&#10;\end{align*}&#10;&#10;&#10;\end{document}"/>
  <p:tag name="IGUANATEXSIZE" val="16"/>
  <p:tag name="IGUANATEXCURSOR" val="453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8.6389"/>
  <p:tag name="ORIGINALWIDTH" val="2562.43"/>
  <p:tag name="OUTPUTTYPE" val="PNG"/>
  <p:tag name="IGUANATEXVERSION" val="159"/>
  <p:tag name="LATEXADDIN" val="\documentclass{article}&#10;\usepackage{amsmath,bm,eufrak}&#10;\pagestyle{empty}&#10;\begin{document}&#10;&#10;\begin{align*}&#10;V_{\perp,17}  &amp; =  \frac{ (17) + \omega_{0}(23)  + \omega_{1}(24)  + \omega_{0}\omega_{1}(18) }{4}U^{\left(j\right)} \\&#10;V_{\perp,13}  &amp; =  \frac{ (13) + \omega_{0}(14)  + \omega_{1}(19)  + \omega_{0}\omega_{1}(20) }{4}U^{\left(j\right)} \\&#10;V_{\perp,15}  &amp; =  \frac{ (15) + \omega_{0}(21)  + \omega_{1}(16)  + \omega_{0}\omega_{1}(22) }{4}U^{\left(j\right)} \\&#10;\end{align*}&#10;&#10;&#10;\end{document}"/>
  <p:tag name="IGUANATEXSIZE" val="16"/>
  <p:tag name="IGUANATEXCURSOR" val="225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484.814"/>
  <p:tag name="OUTPUTTYPE" val="PNG"/>
  <p:tag name="IGUANATEXVERSION" val="159"/>
  <p:tag name="LATEXADDIN" val="\documentclass{article}&#10;\usepackage{amsmath,bm,eufrak}&#10;\pagestyle{empty}&#10;\begin{document}&#10;&#10;\begin{align*}&#10;V_{\parallel\slash\perp}^{\left(j\right)\left(\mathcal{W}_{0}\mathcal{W}_{1}\right)}&#10;= &#10;\hat{\bm{\beta}}_{\mathcal{W}_{0}}^{\dagger}&#10;\bm{V}_{\parallel\slash\perp}^{\left(j\right)}&#10;\hat{\bm{\beta}}_{\mathcal{W}_{1}}&#10;\end{align*}&#10;&#10;\end{document}"/>
  <p:tag name="IGUANATEXSIZE" val="25"/>
  <p:tag name="IGUANATEXCURSOR" val="244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3.4308"/>
  <p:tag name="ORIGINALWIDTH" val="2454.443"/>
  <p:tag name="OUTPUTTYPE" val="PNG"/>
  <p:tag name="IGUANATEXVERSION" val="159"/>
  <p:tag name="LATEXADDIN" val="\documentclass{article}&#10;\usepackage{amsmath,bm}&#10;\pagestyle{empty}&#10;\begin{document}&#10;&#10;\begin{equation*}&#10;\bm{V}_{\perp}^{\left(j\right)}&#10;=&#10;\begin{pmatrix}&#10;0                                                 &amp; \sigma_{0}\sigma_{1}V_{\perp,17}^{\left(j\right)} &amp; V_{\perp,5}^{\left(j\right)} \\&#10;V_{\perp,1}^{\left(j\right)}                      &amp; 0                                                 &amp; \sigma_{0}\sigma_{1}V_{\perp,15}^{\left(j\right)} \\&#10;\sigma_{0}\sigma_{1}V_{\perp,13}^{\left(j\right)} &amp; V_{\perp,9}^{\left(j\right)}                      &amp; 0&#10;\end{pmatrix}&#10;\end{equation*}&#10;&#10;\end{document}"/>
  <p:tag name="IGUANATEXSIZE" val="18"/>
  <p:tag name="IGUANATEXCURSOR" val="107"/>
  <p:tag name="TRANSPARENCY" val="False"/>
  <p:tag name="FILENAME" val=""/>
  <p:tag name="LATEXENGINEID" val="0"/>
  <p:tag name="TEMPFOLDER" val="C:\iguanatex\"/>
  <p:tag name="LATEXFORMHEIGHT" val="463"/>
  <p:tag name="LATEXFORMWIDTH" val="1363.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7.6753"/>
  <p:tag name="ORIGINALWIDTH" val="1527.559"/>
  <p:tag name="OUTPUTTYPE" val="PNG"/>
  <p:tag name="IGUANATEXVERSION" val="159"/>
  <p:tag name="LATEXADDIN" val="\documentclass{article}&#10;\usepackage{amsmath,bm}&#10;\pagestyle{empty}&#10;\begin{document}&#10;&#10;\begin{equation*}&#10;\bm{V}_{\parallel}^{\left(j\right)}&#10;=&#10;\begin{pmatrix}&#10;V_{\parallel,9}^{\left(j\right)} &amp; 0                                &amp; 0 \\&#10;0                                &amp; V_{\parallel,5}^{\left(j\right)} &amp; 0 \\&#10;0                                &amp; 0                                &amp; V_{\parallel,1}^{\left(j\right)}&#10;\end{pmatrix}&#10;\end{equation*}&#10;&#10;\end{document}"/>
  <p:tag name="IGUANATEXSIZE" val="18"/>
  <p:tag name="IGUANATEXCURSOR" val="10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7.6753"/>
  <p:tag name="ORIGINALWIDTH" val="4294.713"/>
  <p:tag name="OUTPUTTYPE" val="PNG"/>
  <p:tag name="IGUANATEXVERSION" val="159"/>
  <p:tag name="LATEXADDIN" val="\documentclass{article}&#10;\usepackage{amsmath,bm}&#10;\pagestyle{empty}&#10;\begin{document}&#10;&#10;\begin{equation*}&#10;\bm{V}_{\parallel}^{\left(j\right)}&#10;=&#10;\begin{pmatrix}&#10;V_{\parallel,9}^{\left(j\right)} &amp; 0                                &amp; 0 \\&#10;0                                &amp; V_{\parallel,5}^{\left(j\right)} &amp; 0 \\&#10;0                                &amp; 0                                &amp; V_{\parallel,1}^{\left(j\right)}&#10;\end{pmatrix}&#10;\quad\quad&#10;\bm{V}_{\perp}^{\left(j\right)}&#10;=&#10;\begin{pmatrix}&#10;0                                                 &amp; \sigma_{0}\sigma_{1}V_{\perp,17}^{\left(j\right)} &amp; V_{\perp,5}^{\left(j\right)} \\&#10;V_{\perp,1}^{\left(j\right)}                      &amp; 0                                                 &amp; \sigma_{0}\sigma_{1}V_{\perp,15}^{\left(j\right)} \\&#10;\sigma_{0}\sigma_{1}V_{\perp,13}^{\left(j\right)} &amp; V_{\perp,9}^{\left(j\right)}                      &amp; 0&#10;\end{pmatrix}&#10;\end{equation*}&#10;&#10;\end{document}"/>
  <p:tag name="IGUANATEXSIZE" val="20"/>
  <p:tag name="IGUANATEXCURSOR" val="8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1484.814"/>
  <p:tag name="OUTPUTTYPE" val="PNG"/>
  <p:tag name="IGUANATEXVERSION" val="159"/>
  <p:tag name="LATEXADDIN" val="\documentclass{article}&#10;\usepackage{amsmath,bm,eufrak}&#10;\pagestyle{empty}&#10;\begin{document}&#10;&#10;\begin{align*}&#10;V_{\parallel\slash\perp}^{\left(j\right)\left(\mathcal{W}_{0}\mathcal{W}_{1}\right)}&#10;= &#10;\hat{\bm{\beta}}_{\mathcal{W}_{0}}^{\dagger}&#10;\bm{V}_{\parallel\slash\perp}^{\left(j\right)}&#10;\hat{\bm{\beta}}_{\mathcal{W}_{1}}&#10;\end{align*}&#10;&#10;\end{document}"/>
  <p:tag name="IGUANATEXSIZE" val="25"/>
  <p:tag name="IGUANATEXCURSOR" val="32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5.4293"/>
  <p:tag name="ORIGINALWIDTH" val="3608.549"/>
  <p:tag name="OUTPUTTYPE" val="PNG"/>
  <p:tag name="IGUANATEXVERSION" val="159"/>
  <p:tag name="LATEXADDIN" val="\documentclass{article}&#10;\usepackage{amsmath,bm,eufrak}&#10;\pagestyle{empty}&#10;\begin{document}&#10;&#10;\begin{equation*}&#10;\beta_{q\mathcal{W}}&#10;=&#10;\begin{pmatrix}&#10;  \frac{1}{\sqrt{3}}&#10;&#10;&amp; \frac{\tau}{\sqrt{3}}     &amp;  \frac{\mathrm{i}\tau}{\sqrt{3}}&#10;&amp; \frac{\tau^{2}}{\sqrt{3}} &amp; \frac{-\mathrm{i}\tau^{2}}{\sqrt{3}}&#10;&#10;&amp; 1 &amp; 0 &amp; 0 \\&#10;&#10;  \frac{1}{\sqrt{3}}&#10;&#10;&amp; \frac{\tau^{2}}{\sqrt{3}} &amp; \frac{\mathrm{i}\tau^{2}}{\sqrt{3}} &#10;&amp; \frac{\tau}{\sqrt{3}}     &amp; \frac{-\mathrm{i}\tau}{\sqrt{3}}&#10;&#10;&amp; 0 &amp; 1 &amp; 0 \\&#10;&#10;\frac{1}{\sqrt{3}} &#10;&#10;&amp; \frac{1}{\sqrt{3}}         &amp; \frac{\mathrm{i}}{\sqrt{3}}&#10;&amp; \frac{1}{\sqrt{3}}         &amp; \frac{-\mathrm{i}}{\sqrt{3}}     &#10;&#10;&amp; 0 &amp; 0 &amp; 1 \\&#10;\end{pmatrix}&#10;\quad\quad&#10;\bm{\beta}_{\mathcal{W}}&#10;=&#10;\begin{pmatrix}&#10;\beta_{\mathcal{W}x} \\&#10;\beta_{\mathcal{W}y} \\&#10;\beta_{\mathcal{W}z}&#10;\end{pmatrix}&#10;\end{equation*}&#10;&#10;\end{document}"/>
  <p:tag name="IGUANATEXSIZE" val="20"/>
  <p:tag name="IGUANATEXCURSOR" val="797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17.06"/>
  <p:tag name="ORIGINALWIDTH" val="5303.337"/>
  <p:tag name="OUTPUTTYPE" val="PNG"/>
  <p:tag name="IGUANATEXVERSION" val="159"/>
  <p:tag name="LATEXADDIN" val="\documentclass{article}&#10;\usepackage{amsmath,bm,eufrak}&#10;\pagestyle{empty}&#10;\begin{document}&#10;&#10;\begin{equation*}&#10;U_{\parallel}^{(\mathcal{W}_{0}\mathcal{W}_{1})}&#10;=&#10;\begin{pmatrix}&#10;U_{(A)}                            &amp; U_{\left(AE_{1}\right)}           &amp; \mathrm{i}U_{\left(AE_{1}\right)}    &amp; U_{\left(AE_{2}\right)}            &amp; -\mathrm{i}U_{\left(AE_{2}\right)} &amp; \frac{1}{\sqrt{3}}U_{(x)}                   &amp; \frac{1}{\sqrt{3}}U_{(y)}                  &amp; \frac{1}{\sqrt{3}}U_{(z)}             \\&#10;U_{\left(AE_{2}\right)}            &amp; U_{(A)}                           &amp; \mathrm{i}U_{(A)}                    &amp; U_{\left(AE_{1}\right)}            &amp; -\mathrm{i}U_{\left(AE_{1}\right)} &amp; \frac{\tau^{2}}{\sqrt{3}}U_{(x)}            &amp; \frac{\tau}{\sqrt{3}}U_{(y)}               &amp; \frac{1}{\sqrt{3}}U_{(z)}             \\&#10;-\mathrm{i}U_{\left(AE_{2}\right)} &amp; -\mathrm{i}U_{(A)}                &amp; U_{(A)}                              &amp; -\mathrm{i}U_{\left(AE_{1}\right)} &amp; -U_{\left(AE_{1}\right)}           &amp; \frac{-\mathrm{i}\tau^{2}}{\sqrt{3}}U_{(x)} &amp; \frac{-\mathrm{i}\tau}{\sqrt{3}}U_{(y)}    &amp; \frac{-\mathrm{i}}{\sqrt{3}}U_{(z)}   \\&#10;U_{\left(AE_{1}\right)}            &amp; U_{\left(AE_{2}\right)}           &amp; \mathrm{i}U_{\left(AE_{2}\right)}    &amp; U_{(A)}                            &amp; -\mathrm{i}U_{(A)}                 &amp; \frac{\tau}{\sqrt{3}}U_{(x)}                &amp; \frac{\tau^{2}}{\sqrt{3}}U_{(y)}           &amp; \frac{1}{\sqrt{3}}U_{(z)}             \\&#10;\mathrm{i}U_{\left(AE_{1}\right)}  &amp; \mathrm{i}U_{\left(AE_{2}\right)} &amp; -U_{\left(AE_{2}\right)}             &amp; \mathrm{i}U_{(A)}                  &amp; U_{(A)}                            &amp; \frac{\mathrm{i}\tau}{\sqrt{3}}U_{(x)}      &amp; \frac{\mathrm{i}\tau^{2}}{\sqrt{3}}U_{(y)} &amp; \frac{\mathrm{i}}{\sqrt{3}}U_{(z)}    \\&#10;&#10;&#10;&#10;\frac{1}{\sqrt{3}}U_{(x)} &amp; \frac{\tau}{\sqrt{3}}U_{(x)}     &amp;  \frac{\mathrm{i}\tau}{\sqrt{3}}U_{(x)}    &amp; \frac{\tau^{2}}{\sqrt{3}}U_{(x)} &amp; \frac{-\mathrm{i}\tau^{2}}{\sqrt{3}}U_{(x)} &amp; U_{(x)} &amp;       0 &amp; 0       \\&#10;\frac{1}{\sqrt{3}}U_{(y)} &amp; \frac{\tau^{2}}{\sqrt{3}}U_{(y)} &amp; \frac{\mathrm{i}\tau^{2}}{\sqrt{3}}U_{(y)} &amp; \frac{\tau}{\sqrt{3}}U_{(y)}     &amp; \frac{-\mathrm{i}\tau}{\sqrt{3}}U_{(y)}     &amp;       0 &amp; U_{(y)} &amp; 0       \\&#10;\frac{1}{\sqrt{3}}U_{(z)} &amp; \frac{1}{\sqrt{3}}U_{(z)}        &amp; \frac{\mathrm{i}}{\sqrt{3}}U_{(z)}         &amp; \frac{1}{\sqrt{3}}U_{(z)}        &amp; \frac{-\mathrm{i}}{\sqrt{3}}U_{(z)}         &amp;       0 &amp;       0 &amp; U_{(z)} \\&#10;\end{pmatrix}&#10;\end{equation*}&#10;&#10;\end{document}"/>
  <p:tag name="IGUANATEXSIZE" val="20"/>
  <p:tag name="IGUANATEXCURSOR" val="985"/>
  <p:tag name="TRANSPARENCY" val="False"/>
  <p:tag name="FILENAME" val=""/>
  <p:tag name="LATEXENGINEID" val="0"/>
  <p:tag name="TEMPFOLDER" val="C:\iguanatex\"/>
  <p:tag name="LATEXFORMHEIGHT" val="642.75"/>
  <p:tag name="LATEXFORMWIDTH" val="1882.5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3931.009"/>
  <p:tag name="OUTPUTTYPE" val="PNG"/>
  <p:tag name="IGUANATEXVERSION" val="159"/>
  <p:tag name="LATEXADDIN" val="\documentclass{article}&#10;\usepackage{amsmath,bm,eufrak}&#10;\pagestyle{empty}&#10;\begin{document}&#10;&#10;\begin{align*}&#10;(\bm{\mathcal{M}})^{\left(j\right)}_{\mathcal{W}_{0}\mathcal{W}_{1}}&#10;&amp; =&#10;\int 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/>
  <p:tag name="IGUANATEXSIZE" val="20"/>
  <p:tag name="IGUANATEXCURSOR" val="14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5558.305"/>
  <p:tag name="OUTPUTTYPE" val="PNG"/>
  <p:tag name="IGUANATEXVERSION" val="159"/>
  <p:tag name="LATEXADDIN" val="\documentclass{article}&#10;\usepackage{amsmath,bm,eufrak}&#10;\pagestyle{empty}&#10;\begin{document}&#10;&#10;\begin{equation*}&#10;U_{\perp}^{(\mathcal{W}_{0}\mathcal{W}_{1})}&#10;=&#10;\begin{pmatrix}&#10;                           T_{(A)} &amp;               T_{\left(AE_{1}\right)} &amp;     \mathrm{i}T_{\left(AE_{1}\right)} &amp;                T_{\left(AE_{2}\right)} &amp;     -\mathrm{i}T_{\left(AE_{2}\right)} &amp;                           T_{(Ax)} &amp;                           T_{(Ay)} &amp;                           T_{(Az)} \\&#10;           T_{\left(E_{1}A\right)} &amp;                T_{\left(E_{1}\right)} &amp;      \mathrm{i}T_{\left(E_{1}\right)} &amp;            T_{\left(E_{1}E_{2}\right)} &amp; -\mathrm{i}T_{\left(E_{1}E_{2}\right)} &amp;            T_{\left(E_{1}x\right)} &amp;            T_{\left(E_{1}y\right)} &amp;            T_{\left(E_{1}z\right)} \\&#10;-\mathrm{i}T_{\left(E_{1}A\right)} &amp;     -\mathrm{i}T_{\left(E_{1}\right)} &amp;                T_{\left(E_{1}\right)} &amp; -\mathrm{i}T_{\left(E_{1}E_{2}\right)} &amp;           -T_{\left(E_{1}E_{2}\right)} &amp; -\mathrm{i}T_{\left(E_{1}x\right)} &amp; -\mathrm{i}T_{\left(E_{1}y\right)} &amp; -\mathrm{i}T_{\left(E_{1}z\right)} \\&#10;           T_{\left(E_{2}A\right)} &amp;           T_{\left(E_{2}E_{1}\right)} &amp; \mathrm{i}T_{\left(E_{2}E_{1}\right)} &amp;                 T_{\left(E_{2}\right)} &amp;      -\mathrm{i}T_{\left(E_{2}\right)} &amp;            T_{\left(E_{2}x\right)} &amp;            T_{\left(E_{2}y\right)} &amp;            T_{\left(E_{2}z\right)} \\&#10; \mathrm{i}T_{\left(E_{2}A\right)} &amp; \mathrm{i}T_{\left(E_{2}E_{1}\right)} &amp;          -T_{\left(E_{2}E_{1}\right)} &amp;       \mathrm{i}T_{\left(E_{2}\right)} &amp;                 T_{\left(E_{2}\right)} &amp;  \mathrm{i}T_{\left(E_{2}x\right)} &amp;  \mathrm{i}T_{\left(E_{2}y\right)} &amp;  \mathrm{i}T_{\left(E_{2}z\right)} \\&#10;                          T_{(xA)} &amp;               T_{\left(xE_{1}\right)} &amp;     \mathrm{i}T_{\left(xE_{1}\right)} &amp;                T_{\left(xE_{2}\right)} &amp;     -\mathrm{i}T_{\left(xE_{2}\right)} &amp;                                  0 &amp;                 O_{\left(z\right)} &amp;                 U_{\left(y\right)} \\&#10;                          T_{(yA)} &amp;               T_{\left(yE_{1}\right)} &amp;     \mathrm{i}T_{\left(yE_{1}\right)} &amp;                T_{\left(yE_{2}\right)} &amp;     -\mathrm{i}T_{\left(yE_{2}\right)} &amp;                 U_{\left(z\right)} &amp;                                  0 &amp;                 O_{\left(x\right)} \\&#10;                          T_{(zA)} &amp;               T_{\left(zE_{1}\right)} &amp;     \mathrm{i}T_{\left(zE_{1}\right)} &amp;                T_{\left(zE_{2}\right)} &amp;     -\mathrm{i}T_{\left(zE_{2}\right)} &amp;                 O_{\left(y\right)} &amp;                 U_{\left(x\right)} &amp;                                  0 \\&#10;\end{pmatrix}&#10;\end{equation*}&#10;&#10;\end{document}"/>
  <p:tag name="IGUANATEXSIZE" val="20"/>
  <p:tag name="IGUANATEXCURSOR" val="1440"/>
  <p:tag name="TRANSPARENCY" val="False"/>
  <p:tag name="FILENAME" val=""/>
  <p:tag name="LATEXENGINEID" val="0"/>
  <p:tag name="TEMPFOLDER" val="C:\iguanatex\"/>
  <p:tag name="LATEXFORMHEIGHT" val="624"/>
  <p:tag name="LATEXFORMWIDTH" val="1921.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3931.009"/>
  <p:tag name="OUTPUTTYPE" val="PNG"/>
  <p:tag name="IGUANATEXVERSION" val="159"/>
  <p:tag name="LATEXADDIN" val="\documentclass{article}&#10;\usepackage{amsmath,bm,eufrak}&#10;\pagestyle{empty}&#10;\begin{document}&#10;&#10;\begin{align*}&#10;(\bm{\mathcal{M}})^{\left(j\right)}_{\mathcal{W}_{0}\mathcal{W}_{1}}&#10;&amp; =&#10;\int \mathrm{d}\bm{r}\,&#10;\left[&#10;V_{\parallel}^{\left(j\right)\left(\mathcal{W}_{0}\mathcal{W}_{1}\right)}&#10;\left(\psi_{\mathcal{W}_{0}}^{(z)}\right)^{*}&#10;\psi_{\mathcal{W}_{1}}^{(z)} &#10;+&#10;V_{\perp}^{\left(j\right)\left(\mathcal{W}_{0}\mathcal{W}_{1}\right)}&#10;\left(\psi_{\mathcal{W}_{0}}^{(y)}\right)^{*}&#10;\psi_{\mathcal{W}_{1}}^{(x)} &#10;\right]&#10;\\&#10;\end{align*}&#10;&#10;\end{document}"/>
  <p:tag name="IGUANATEXSIZE" val="20"/>
  <p:tag name="IGUANATEXCURSOR" val="14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2.617"/>
  <p:tag name="ORIGINALWIDTH" val="819.6476"/>
  <p:tag name="OUTPUTTYPE" val="PNG"/>
  <p:tag name="IGUANATEXVERSION" val="159"/>
  <p:tag name="LATEXADDIN" val="\documentclass{article}&#10;\usepackage{amsmath,bm,eufrak}&#10;\pagestyle{empty}&#10;\begin{document}&#10;&#10;\begin{align*}&#10;U_{(x)} &amp; = V_{9} \\&#10;U_{(y)} &amp; = V_{5} \\&#10;U_{(z)} &amp; = V_{1} \\&#10;O_{(x)} &amp; = \sigma_{0}\sigma_{1}V_{15} \\&#10;O_{(y)} &amp; = \sigma_{0}\sigma_{1}V_{13} \\&#10;O_{(z)} &amp; = \sigma_{0}\sigma_{1}V_{17} \\&#10;\end{align*}&#10;&#10;\end{document}"/>
  <p:tag name="IGUANATEXSIZE" val="16"/>
  <p:tag name="IGUANATEXCURSOR" val="286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8.3877"/>
  <p:tag name="ORIGINALWIDTH" val="1421.072"/>
  <p:tag name="OUTPUTTYPE" val="PNG"/>
  <p:tag name="IGUANATEXVERSION" val="159"/>
  <p:tag name="LATEXADDIN" val="\documentclass{article}&#10;\usepackage{amsmath,bm,eufrak}&#10;\pagestyle{empty}&#10;\begin{document}&#10;&#10;\begin{align*}&#10;U_{(A)}                  &amp; = \frac{ V_{1} +         V_{5} +         V_{9} }{3} \\&#10;U_{\left(AE_{1}\right)}  &amp; = \frac{ V_{1} + \tau^{2}V_{5} +    \tau V_{9} }{3} \\&#10;U_{\left(AE_{2}\right)}  &amp; = \frac{ V_{1} +    \tau V_{5} + \tau^{2}V_{9} }{3} \\&#10;\end{align*}&#10;&#10;&#10;\end{document}"/>
  <p:tag name="IGUANATEXSIZE" val="16"/>
  <p:tag name="IGUANATEXCURSOR" val="349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8.3877"/>
  <p:tag name="ORIGINALWIDTH" val="1835.77"/>
  <p:tag name="OUTPUTTYPE" val="PNG"/>
  <p:tag name="IGUANATEXVERSION" val="159"/>
  <p:tag name="LATEXADDIN" val="\documentclass{article}&#10;\usepackage{amsmath,bm,eufrak}&#10;\pagestyle{empty}&#10;\begin{document}&#10;&#10;\begin{align*}&#10;O_{(A)}                 &amp; = \sigma_{0}\sigma_{1}\frac{ V_{13} +         V_{15} +         V_{17} }{3} \\&#10;O_{\left(AE_{1}\right)} &amp; = \sigma_{0}\sigma_{1}\frac{ V_{13} + \tau^{2}V_{15} +    \tau V_{17} }{3} \\&#10;O_{\left(AE_{2}\right)} &amp; = \sigma_{0}\sigma_{1}\frac{ V_{13} +    \tau V_{15} + \tau^{2}V_{17} }{3} \\&#10;\end{align*}&#10;&#10;\end{document}"/>
  <p:tag name="IGUANATEXSIZE" val="16"/>
  <p:tag name="IGUANATEXCURSOR" val="404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6.535"/>
  <p:tag name="ORIGINALWIDTH" val="1697.038"/>
  <p:tag name="OUTPUTTYPE" val="PNG"/>
  <p:tag name="IGUANATEXVERSION" val="159"/>
  <p:tag name="LATEXADDIN" val="\documentclass{article}&#10;\usepackage{amsmath,bm,eufrak}&#10;\pagestyle{empty}&#10;\begin{document}&#10;&#10;\begin{align*}&#10;T_{(A)}                     &amp; = U_{(A)}                               +                          O_{(A)} \\&#10;T_{\left(E_{1}\right)}      &amp; = \tau^{2}U_{(A)}                       +                     \tau O_{(A)} \\&#10;T_{\left(E_{2}\right)}      &amp; = \tau U_{(A)}                          +                  \tau^{2}O_{(A)} \\&#10;T_{\left(AE_{1}\right)}     &amp; = \tau\left(U_{\left(AE_{1}\right)}     +   O_{\left(AE_{1}\right)}\right) \\&#10;T_{\left(AE_{2}\right)}     &amp; = \tau^{2}\left(U_{\left(AE_{2}\right)} +   O_{\left(AE_{2}\right)}\right) \\&#10;T_{\left(E_{1}A\right)}     &amp; = \tau U_{\left(AE_{2}\right)}          +          O_{\left(AE_{2}\right)} \\&#10;T_{\left(E_{2}A\right)}     &amp; = \tau^{2}U_{\left(AE_{1}\right)}       +          O_{\left(AE_{1}\right)} \\&#10;T_{\left(E_{1}E_{2}\right)} &amp; = U_{\left(AE_{1}\right)}               + \tau^{2} O_{\left(AE_{1}\right)} \\&#10;T_{\left(E_{2}E_{1}\right)} &amp; = U_{\left(AE_{2}\right)}               +     \tau O_{\left(AE_{2}\right)} \\&#10;\end{align*}&#10;&#10;\end{document}"/>
  <p:tag name="IGUANATEXSIZE" val="16"/>
  <p:tag name="IGUANATEXCURSOR" val="321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8.871"/>
  <p:tag name="ORIGINALWIDTH" val="1419.573"/>
  <p:tag name="OUTPUTTYPE" val="PNG"/>
  <p:tag name="IGUANATEXVERSION" val="159"/>
  <p:tag name="LATEXADDIN" val="\documentclass{article}&#10;\usepackage{amsmath,bm,eufrak}&#10;\pagestyle{empty}&#10;\begin{document}&#10;&#10;\begin{align*}&#10;T_{(Ax)}                &amp; = \frac{         V_{1} +          \sigma_{0}\sigma_{1}V_{13} }{ \sqrt{3} } \\&#10;T_{(Ay)}                &amp; = \frac{         V_{9} +          \sigma_{0}\sigma_{1}V_{17} }{ \sqrt{3} } \\&#10;T_{(Az)}                &amp; = \frac{         V_{5} +          \sigma_{0}\sigma_{1}V_{15} }{ \sqrt{3} } \\&#10;T_{\left(E_{1}x\right)} &amp; = \frac{    \tau V_{1} +          \sigma_{0}\sigma_{1}V_{13} }{ \sqrt{3} } \\&#10;T_{\left(E_{1}y\right)} &amp; = \frac{         V_{9} + \sigma_{0}\sigma_{1}\tau^{2} V_{17} }{ \sqrt{3} } \\&#10;T_{\left(E_{1}z\right)} &amp; = \frac{ \tau^{2}V_{5} +     \sigma_{0}\sigma_{1}\tau V_{15} }{ \sqrt{3} } \\&#10;T_{\left(E_{2}x\right)} &amp; = \frac{ \tau^{2}V_{1} +          \sigma_{0}\sigma_{1}V_{13} }{ \sqrt{3} } \\&#10;T_{\left(E_{2}y\right)} &amp; = \frac{         V_{9} +     \sigma_{0}\sigma_{1}\tau V_{17} }{ \sqrt{3} } \\&#10;T_{\left(E_{2}z\right)} &amp; = \frac{    \tau V_{5} +  \sigma_{0}\sigma_{1}\tau^{2}V_{15} }{ \sqrt{3} } \\&#10;\end{align*}&#10;&#10;\end{document}"/>
  <p:tag name="IGUANATEXSIZE" val="16"/>
  <p:tag name="IGUANATEXCURSOR" val="1019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28.871"/>
  <p:tag name="ORIGINALWIDTH" val="1419.573"/>
  <p:tag name="OUTPUTTYPE" val="PNG"/>
  <p:tag name="IGUANATEXVERSION" val="159"/>
  <p:tag name="LATEXADDIN" val="\documentclass{article}&#10;\usepackage{amsmath,bm,eufrak}&#10;\pagestyle{empty}&#10;\begin{document}&#10;&#10;\begin{align*}&#10;               T_{(xA)} &amp; = \frac{         V_{5} +          \sigma_{0}\sigma_{1}V_{17} }{ \sqrt{3} } \\&#10;               T_{(yA)} &amp; = \frac{         V_{1} +          \sigma_{0}\sigma_{1}V_{15} }{ \sqrt{3} } \\&#10;               T_{(zA)} &amp; = \frac{         V_{9} +          \sigma_{0}\sigma_{1}V_{13} }{ \sqrt{3} } \\&#10;T_{\left(xE_{1}\right)} &amp; = \frac{         V_{5} + \sigma_{0}\sigma_{1}\tau^{2} V_{17} }{ \sqrt{3} } \\&#10;T_{\left(yE_{1}\right)} &amp; = \frac{    \tau V_{1} +          \sigma_{0}\sigma_{1}V_{15} }{ \sqrt{3} } \\&#10;T_{\left(zE_{1}\right)} &amp; = \frac{ \tau^{2}V_{9} +     \sigma_{0}\sigma_{1}\tau V_{13} }{ \sqrt{3} } \\&#10;T_{\left(xE_{2}\right)} &amp; = \frac{         V_{5} +     \sigma_{0}\sigma_{1}\tau V_{17} }{ \sqrt{3} } \\&#10;T_{\left(yE_{2}\right)} &amp; = \frac{ \tau^{2}V_{1} +          \sigma_{0}\sigma_{1}V_{15} }{ \sqrt{3} } \\&#10;T_{\left(zE_{2}\right)} &amp; = \frac{    \tau V_{9} + \sigma_{0}\sigma_{1}\tau^{2} V_{13} }{ \sqrt{3} } \\&#10;\end{align*}&#10;&#10;\end{document}"/>
  <p:tag name="IGUANATEXSIZE" val="16"/>
  <p:tag name="IGUANATEXCURSOR" val="1019"/>
  <p:tag name="TRANSPARENCY" val="Fals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995.875"/>
  <p:tag name="OUTPUTTYPE" val="PNG"/>
  <p:tag name="IGUANATEXVERSION" val="159"/>
  <p:tag name="LATEXADDIN" val="\documentclass{article}&#10;\usepackage{amsmath,bm,eufrak}&#10;\pagestyle{empty}&#10;\begin{document}&#10;&#10;\begin{align*}&#10;V_{\parallel,1} = V_{\parallel,5} = V_{\parallel,9}  &amp; =  \left(\frac{1+\omega_{0}\omega_{1}}{2}\right)\left(\frac{1+\sigma\sigma_{0}\sigma_{1}}{2}\right)U^{\left(A^{\left(\sigma\right)}\right)} \\&#10;\end{align*}&#10;&#10;&#10;\end{document}"/>
  <p:tag name="IGUANATEXSIZE" val="16"/>
  <p:tag name="IGUANATEXCURSOR" val="303"/>
  <p:tag name="TRANSPARENCY" val="True"/>
  <p:tag name="FILENAME" val=""/>
  <p:tag name="LATEXENGINEID" val="0"/>
  <p:tag name="TEMPFOLDER" val="C:\iguanatex\"/>
  <p:tag name="LATEXFORMHEIGHT" val="631.5"/>
  <p:tag name="LATEXFORMWIDTH" val="1415.2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746.157"/>
  <p:tag name="OUTPUTTYPE" val="PNG"/>
  <p:tag name="IGUANATEXVERSION" val="159"/>
  <p:tag name="LATEXADDIN" val="\documentclass{article}&#10;\usepackage{amsmath,bm,eufrak}&#10;\pagestyle{empty}&#10;\begin{document}&#10;&#10;\begin{align*}&#10;V_{\perp,1} = V_{\perp,5} = V_{\perp,9} &amp; = \left(\frac{1+\omega_{0}}{2}\right)\left(\frac{1+\omega_{1}}{2}\right)U^{\left(A^{\left(\sigma\right)}\right)} \\&#10;\end{align*}&#10;&#10;&#10;\end{document}"/>
  <p:tag name="IGUANATEXSIZE" val="16"/>
  <p:tag name="IGUANATEXCURSOR" val="150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991.376"/>
  <p:tag name="OUTPUTTYPE" val="PNG"/>
  <p:tag name="IGUANATEXVERSION" val="159"/>
  <p:tag name="LATEXADDIN" val="\documentclass{article}&#10;\usepackage{amsmath,bm,eufrak}&#10;\pagestyle{empty}&#10;\begin{document}&#10;&#10;\begin{align*}&#10;V_{\perp,13} = V_{\perp,15} = V_{\perp,17}  &amp; = \sigma\left(\frac{1+\omega_{0}}{2}\right)\left(\frac{1+\omega_{1}}{2}\right)U^{\left(A^{\left(\sigma\right)}\right)} \\&#10;\end{align*}&#10;&#10;&#10;\end{document}"/>
  <p:tag name="IGUANATEXSIZE" val="16"/>
  <p:tag name="IGUANATEXCURSOR" val="230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5337.083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xyz),&#10;(x\bar{y}\bar{z}),&#10;(\bar{x}y\bar{z}),&#10;(\bar{x}\bar{y}z),&#10;(yzx),&#10;(y\bar{z}\bar{x}),&#10;(\bar{y}z\bar{x}),&#10;(\bar{y}\bar{z}x),&#10;(zxy),&#10;(\bar{z}x\bar{y}),&#10;(\bar{z}\bar{x}y),&#10;(z\bar{x}\bar{y})&#10;\right\}&#10;U^{\left(A^{\left(\sigma\right)}\right)}&#10;=&#10;U^{\left(A^{\left(\sigma\right)}\right)}&#10;\\&#10;\left\{&#10;(xzy),&#10;(x\bar{z}\bar{y}),&#10;(zyx),&#10;(\bar{z}y\bar{x}),&#10;(yxz),&#10;(\bar{y}\bar{x}z),&#10;(\bar{x}\bar{z}y),&#10;(\bar{x}z\bar{y}),&#10;(z\bar{y}\bar{x}),&#10;(\bar{z}\bar{y}x),&#10;(\bar{y}x\bar{z}),&#10;(y\bar{x}\bar{z})&#10;\right\}&#10;U^{\left(A^{\left(\sigma\right)}\right)}&#10;=&#10;\sigma U^{\left(A^{\left(\sigma\right)}\right)}&#10;\end{gather*}&#10;&#10;\end{document}"/>
  <p:tag name="IGUANATEXSIZE" val="20"/>
  <p:tag name="IGUANATEXCURSOR" val="699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9839"/>
  <p:tag name="ORIGINALWIDTH" val="1448.819"/>
  <p:tag name="OUTPUTTYPE" val="PNG"/>
  <p:tag name="IGUANATEXVERSION" val="159"/>
  <p:tag name="LATEXADDIN" val="\documentclass{article}&#10;\usepackage{amsmath,bm,eufrak}&#10;\pagestyle{empty}&#10;\begin{document}&#10;&#10;\begin{align*}&#10;U_{\perp(x)} = U_{\perp(y)} = U_{\perp(z)} &amp; = 0 \\&#10;\end{align*}&#10;&#10;\end{document}"/>
  <p:tag name="IGUANATEXSIZE" val="16"/>
  <p:tag name="IGUANATEXCURSOR" val="154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398.2"/>
  <p:tag name="OUTPUTTYPE" val="PNG"/>
  <p:tag name="IGUANATEXVERSION" val="159"/>
  <p:tag name="LATEXADDIN" val="\documentclass{article}&#10;\usepackage{amsmath,bm,eufrak}&#10;\pagestyle{empty}&#10;\begin{document}&#10;&#10;\begin{align*}&#10;T_{(Ax)} = T_{(Ay)} = T_{(Az)} = T_{\left(E_{1}x\right)} = T_{\left(E_{1}y\right)} = T_{\left(E_{1}z\right)} = T_{\left(E_{2}x\right)} = T_{\left(E_{2}y\right)} = T_{\left(E_{2}z\right)} &amp; = 0 \\&#10;\end{align*}&#10;&#10;\end{document}"/>
  <p:tag name="IGUANATEXSIZE" val="16"/>
  <p:tag name="IGUANATEXCURSOR" val="269"/>
  <p:tag name="TRANSPARENCY" val="False"/>
  <p:tag name="FILENAME" val=""/>
  <p:tag name="LATEXENGINEID" val="0"/>
  <p:tag name="TEMPFOLDER" val="C:\iguanatex\"/>
  <p:tag name="LATEXFORMHEIGHT" val="624"/>
  <p:tag name="LATEXFORMWIDTH" val="1220.25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398.2"/>
  <p:tag name="OUTPUTTYPE" val="PNG"/>
  <p:tag name="IGUANATEXVERSION" val="159"/>
  <p:tag name="LATEXADDIN" val="\documentclass{article}&#10;\usepackage{amsmath,bm,eufrak}&#10;\pagestyle{empty}&#10;\begin{document}&#10;&#10;\begin{align*}&#10;T_{(xA)} = T_{(yA)} = T_{(zA)} = T_{\left(xE_{1}\right)} = T_{\left(yE_{1}\right)} = T_{\left(zE_{1}\right)} = T_{\left(xE_{2}\right)} = T_{\left(yE_{2}\right)} = T_{\left(zE_{2}\right)} &amp; = 0 \\&#10;\end{align*}&#10;&#10;\end{document}"/>
  <p:tag name="IGUANATEXSIZE" val="16"/>
  <p:tag name="IGUANATEXCURSOR" val="106"/>
  <p:tag name="TRANSPARENCY" val="False"/>
  <p:tag name="FILENAME" val=""/>
  <p:tag name="LATEXENGINEID" val="0"/>
  <p:tag name="TEMPFOLDER" val="C:\iguanatex\"/>
  <p:tag name="LATEXFORMHEIGHT" val="624"/>
  <p:tag name="LATEXFORMWIDTH" val="1476.75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9839"/>
  <p:tag name="ORIGINALWIDTH" val="1112.861"/>
  <p:tag name="OUTPUTTYPE" val="PNG"/>
  <p:tag name="IGUANATEXVERSION" val="159"/>
  <p:tag name="LATEXADDIN" val="\documentclass{article}&#10;\usepackage{amsmath,bm,eufrak}&#10;\pagestyle{empty}&#10;\begin{document}&#10;&#10;\begin{align*}&#10;U_{\left(AE_{1}\right)} = U_{\left(AE_{2}\right)} &amp; = 0 \\&#10;\end{align*}&#10;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1134.608"/>
  <p:tag name="OUTPUTTYPE" val="PNG"/>
  <p:tag name="IGUANATEXVERSION" val="159"/>
  <p:tag name="LATEXADDIN" val="\documentclass{article}&#10;\usepackage{amsmath,bm,eufrak}&#10;\pagestyle{empty}&#10;\begin{document}&#10;&#10;\begin{align*}&#10;O_{\left(AE_{1}\right)} = O_{\left(AE_{2}\right)} &amp; = 0 \\&#10;\end{align*}&#10;&#10;\end{document}"/>
  <p:tag name="IGUANATEXSIZE" val="16"/>
  <p:tag name="IGUANATEXCURSOR" val="132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1247.844"/>
  <p:tag name="OUTPUTTYPE" val="PNG"/>
  <p:tag name="IGUANATEXVERSION" val="159"/>
  <p:tag name="LATEXADDIN" val="\documentclass{article}&#10;\usepackage{amsmath,bm,eufrak}&#10;\pagestyle{empty}&#10;\begin{document}&#10;&#10;\begin{align*}&#10;O_{(x)} = O_{(y)} = O_{(z)} &amp; = 0 \\&#10;\end{align*}&#10;&#10;\end{document}"/>
  <p:tag name="IGUANATEXSIZE" val="16"/>
  <p:tag name="IGUANATEXCURSOR" val="126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3265.092"/>
  <p:tag name="OUTPUTTYPE" val="PNG"/>
  <p:tag name="IGUANATEXVERSION" val="159"/>
  <p:tag name="LATEXADDIN" val="\documentclass{article}&#10;\usepackage{amsmath,bm,eufrak}&#10;\pagestyle{empty}&#10;\begin{document}&#10;&#10;\begin{align*}&#10;T_{\left(AE_{1}\right)} = T_{\left(AE_{2}\right)} = T_{\left(E_{1}A\right)} = T_{\left(E_{2}A\right)} = T_{\left(E_{1}E_{2}\right)} = T_{\left(E_{2}E_{1}\right)} &amp; = 0 \\&#10;\end{align*}&#10;&#10;\end{document}"/>
  <p:tag name="IGUANATEXSIZE" val="16"/>
  <p:tag name="IGUANATEXCURSOR" val="130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4.6982"/>
  <p:tag name="ORIGINALWIDTH" val="2244.469"/>
  <p:tag name="OUTPUTTYPE" val="PNG"/>
  <p:tag name="IGUANATEXVERSION" val="159"/>
  <p:tag name="LATEXADDIN" val="\documentclass{article}&#10;\usepackage{amsmath,bm,eufrak}&#10;\pagestyle{empty}&#10;\begin{document}&#10;&#10;\begin{align*}&#10;U_{\parallel(A)} &amp; = U_{(x)} = U_{(y)} = U_{(z)} = \delta_{(A)}U^{\left(A^{\left(\sigma\right)}\right)} \\&#10;    U_{\perp(A)} &amp; = U^{\left(A^{\left(\sigma\right)}\right)} \\&#10;\end{align*}&#10;&#10;&#10;\end{document}"/>
  <p:tag name="IGUANATEXSIZE" val="16"/>
  <p:tag name="IGUANATEXCURSOR" val="15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4.6982"/>
  <p:tag name="ORIGINALWIDTH" val="1193.101"/>
  <p:tag name="OUTPUTTYPE" val="PNG"/>
  <p:tag name="IGUANATEXVERSION" val="159"/>
  <p:tag name="LATEXADDIN" val="\documentclass{article}&#10;\usepackage{amsmath,bm,eufrak}&#10;\pagestyle{empty}&#10;\begin{document}&#10;&#10;\begin{align*}&#10;U_{\perp(A)} &amp; =                           U^{\left(A^{\left(\sigma\right)}\right)} \\&#10;    O_{(A)}  &amp; = \sigma\sigma_{0}\sigma_{1}U^{\left(A^{\left(\sigma\right)}\right)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47.919"/>
  <p:tag name="ORIGINALWIDTH" val="1119.61"/>
  <p:tag name="OUTPUTTYPE" val="PNG"/>
  <p:tag name="IGUANATEXVERSION" val="159"/>
  <p:tag name="LATEXADDIN" val="\documentclass{article}&#10;\usepackage{amsmath,bm,eufrak}&#10;\pagestyle{empty}&#10;\begin{document}&#10;&#10;\begin{align*}&#10;T_{(A)}                     &amp; = 2\delta_{(A)}U^{\left(A^{\left(\sigma\right)}\right)} \\&#10;T_{\left(E_{1}\right)}      &amp; = \phi_{\sigma_{0}\sigma_{1}}^{(\sigma)}U^{\left(A^{\left(\sigma\right)}\right)} \\&#10;T_{\left(E_{2}\right)}      &amp; = \phi_{\sigma_{0}\sigma_{1}}^{(\sigma)*}U^{\left(A^{\left(\sigma\right)}\right)} \\&#10;\end{align*}&#10;&#10;\end{document}"/>
  <p:tag name="IGUANATEXSIZE" val="16"/>
  <p:tag name="IGUANATEXCURSOR" val="423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       \delta_{(A)}  &amp; = \frac{1 + \sigma\sigma_{0}\sigma_{1}}{2} \\&#10;\phi_{s}^{(\sigma)}  &amp; = \tau^{2} + \sigma s\tau = -\left(\frac{1+\sigma s}{2}\right) -\mathrm{i}\sqrt{3}\left(\frac{1-\sigma s}{2}\right) \\&#10;\end{align*}&#10;&#10;\end{document}"/>
  <p:tag name="IGUANATEXSIZE" val="16"/>
  <p:tag name="IGUANATEXCURSOR" val="144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660.667"/>
  <p:tag name="OUTPUTTYPE" val="PNG"/>
  <p:tag name="IGUANATEXVERSION" val="159"/>
  <p:tag name="LATEXADDIN" val="\documentclass{article}&#10;\usepackage{amsmath,bm,eufrak}&#10;\pagestyle{empty}&#10;\begin{document}&#10;&#10;\begin{equation*}&#10;V_{\parallel}^{\left(A^{\left(\sigma\right)}\right)(\mathcal{W}_{0}\mathcal{W}_{1})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/>
  <p:tag name="IGUANATEXSIZE" val="20"/>
  <p:tag name="IGUANATEXCURSOR" val="1356"/>
  <p:tag name="TRANSPARENCY" val="True"/>
  <p:tag name="FILENAME" val=""/>
  <p:tag name="LATEXENGINEID" val="0"/>
  <p:tag name="TEMPFOLDER" val="C:\iguanatex\"/>
  <p:tag name="LATEXFORMHEIGHT" val="571.5"/>
  <p:tag name="LATEXFORMWIDTH" val="1901.25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9.591"/>
  <p:tag name="ORIGINALWIDTH" val="4264.717"/>
  <p:tag name="OUTPUTTYPE" val="PNG"/>
  <p:tag name="IGUANATEXVERSION" val="159"/>
  <p:tag name="LATEXADDIN" val="\documentclass{article}&#10;\usepackage{amsmath,bm,eufrak}&#10;\pagestyle{empty}&#10;\begin{document}&#10;&#10;\begin{equation*}&#10;V_{\perp}^{\left(A^{\left(\sigma\right)}\right)(\mathcal{W}_{0}\mathcal{W}_{1})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/>
  <p:tag name="IGUANATEXSIZE" val="20"/>
  <p:tag name="IGUANATEXCURSOR" val="992"/>
  <p:tag name="TRANSPARENCY" val="True"/>
  <p:tag name="FILENAME" val=""/>
  <p:tag name="LATEXENGINEID" val="0"/>
  <p:tag name="TEMPFOLDER" val="C:\iguanatex\"/>
  <p:tag name="LATEXFORMHEIGHT" val="624"/>
  <p:tag name="LATEXFORMWIDTH" val="1568.2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5:yzx)&#10;&amp; \Rightarrow &amp;&#10;\begin{pmatrix}&#10;U_{x,2} &amp; U_{y}   &amp; U_{z,2}\\&#10;U_{x,3} &amp; U_{y,3} &amp; U_{z}\\&#10;U_{x}   &amp; U_{y,1} &amp; U_{z,1}\\&#10;\end{pmatrix}&#10;\\\\&#10;(8:\bar{y}\bar{z}x)&#10;&amp; \Rightarrow &amp;&#10;\begin{pmatrix}&#10;-U_{x,2} &amp; -U_{y}   &amp; -U_{z,2}\\&#10;-U_{x,3} &amp; -U_{y,3} &amp; -U_{z}\\&#10; U_{x}   &amp;  U_{y,1} &amp;  U_{z,1}\\&#10;\end{pmatrix}&#10;\\\\&#10;(6:y\bar{z}\bar{x})&#10;&amp; \Rightarrow &amp;&#10;\begin{pmatrix}&#10; U_{x,2} &amp;  U_{y}   &amp;  U_{z,2}\\&#10;-U_{x,3} &amp; -U_{y,3} &amp; -U_{z}\\&#10;-U_{x}   &amp; -U_{y,1} &amp; -U_{z,1}\\&#10;\end{pmatrix}&#10;\\\\&#10;(7:\bar{y}z\bar{x})&#10;&amp; \Rightarrow &amp;&#10;\begin{pmatrix}&#10;-U_{x,2} &amp; -U_{y}   &amp; -U_{z,2}\\&#10; U_{x,3} &amp;  U_{y,3} &amp;  U_{z}\\&#10;-U_{x}   &amp; -U_{y,1} &amp; -U_{z,1}\\&#10;\end{pmatrix}&#10;\end{tabular}&#10;\end{equation*}&#10;&#10;&#10;\end{document}"/>
  <p:tag name="IGUANATEXSIZE" val="12"/>
  <p:tag name="IGUANATEXCURSOR" val="82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266.96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equation*}&#10;\begin{tabular}{CCC}&#10;(1:xyz)&#10;&amp; \Rightarrow &amp;&#10;\begin{pmatrix}&#10;U_{x}   &amp; U_{y,1} &amp; U_{z,1}\\&#10;U_{x,2} &amp; U_{y}   &amp; U_{z,2}\\&#10;U_{x,3} &amp; U_{y,3} &amp; U_{z}\\&#10;\end{pmatrix}&#10;\\\\&#10;(2:x\bar{y}\bar{z})&#10;&amp; \Rightarrow &amp;&#10;\begin{pmatrix}&#10;U_{x}    &amp; U_{y,1}  &amp; U_{z,1}\\&#10;-U_{x,2} &amp; -U_{y}   &amp; -U_{z,2}\\&#10;-U_{x,3} &amp; -U_{y,3} &amp; -U_{z}\\&#10;\end{pmatrix}&#10;\\\\&#10;(3:\bar{x}y\bar{z})&#10;&amp; \Rightarrow &amp;&#10;\begin{pmatrix}&#10;-U_{x}   &amp; -U_{y,1} &amp; -U_{z,1}\\&#10; U_{x,2} &amp;  U_{y}   &amp;  U_{z,2}\\&#10;-U_{x,3} &amp; -U_{y,3} &amp; -U_{z}\\&#10;\end{pmatrix}&#10;\\\\&#10;(4:\bar{x}\bar{y}z)&#10;&amp; \Rightarrow &amp;&#10;\begin{pmatrix}&#10;-U_{x}   &amp; -U_{y,1} &amp; -U_{z,1}\\&#10;-U_{x,2} &amp; -U_{y}   &amp; -U_{z,2}\\&#10; U_{x,3} &amp;  U_{y,3} &amp;  U_{z}\\&#10;\end{pmatrix}&#10;\\&#10;\end{tabular}&#10;\end{equation*}&#10;&#10;\end{document}"/>
  <p:tag name="IGUANATEXSIZE" val="12"/>
  <p:tag name="IGUANATEXCURSOR" val="85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329.959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9:zxy)&#10;&amp; \Rightarrow &amp;&#10;\begin{pmatrix}&#10;U_{x,3} &amp; U_{y,3} &amp; U_{z}\\&#10;U_{x} &amp; U_{y,1} &amp; U_{z,1}\\&#10;U_{x,2} &amp; U_{y} &amp; U_{z,2}\\&#10;\end{pmatrix}&#10;\\\\&#10;(10:\bar{z}x\bar{y})&#10;&amp; \Rightarrow &amp;&#10;\begin{pmatrix}&#10;-U_{x,3} &amp; -U_{y,3} &amp; -U_{z}\\&#10; U_{x}   &amp;  U_{y,1} &amp;  U_{z,1}\\&#10;-U_{x,2} &amp; -U_{y}   &amp; -U_{z,2}\\&#10;\end{pmatrix}&#10;\\\\&#10;(11:\bar{z}\bar{x}y)&#10;&amp; \Rightarrow &amp;&#10;\begin{pmatrix}&#10;-U_{x,3} &amp; -U_{y,3} &amp; -U_{z}\\&#10;-U_{x}   &amp; -U_{y,1} &amp; -U_{z,1}\\&#10; U_{x,2} &amp;  U_{y}   &amp;  U_{z,2}\\&#10;\end{pmatrix}&#10;\\\\&#10;(12:z\bar{x}\bar{y})&#10;&amp; \Rightarrow &amp;&#10;\begin{pmatrix}&#10; U_{x,3} &amp;  U_{y,3} &amp;  U_{z}\\&#10;-U_{x}   &amp; -U_{y,1} &amp; -U_{z,1}\\&#10;-U_{x,2} &amp; -U_{y}   &amp; -U_{z,2}\\&#10;\end{pmatrix}&#10;\\&#10;\end{tabular}&#10;\end{equation*}&#10;&#10;&#10;\end{document}"/>
  <p:tag name="IGUANATEXSIZE" val="12"/>
  <p:tag name="IGUANATEXCURSOR" val="663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3:xzy)&#10;&amp; \Rightarrow &amp;&#10;\sigma&#10;\begin{pmatrix}&#10;U_{x}   &amp; U_{y,1} &amp; U_{z,1}\\&#10;U_{x,3} &amp; U_{y,3} &amp; U_{z}\\&#10;U_{x,2} &amp; U_{y}   &amp; U_{z,2}\\&#10;\end{pmatrix}&#10;\\\\&#10;(14:x\bar{z}\bar{y})&#10;&amp; \Rightarrow &amp;&#10;\sigma&#10;\begin{pmatrix}&#10; U_{x}   &amp;  U_{y,1} &amp;  U_{z,1}\\&#10;-U_{x,3} &amp; -U_{y,3} &amp; -U_{z}\\&#10;-U_{x,2} &amp; -U_{y}   &amp; -U_{z,2}\\&#10;\end{pmatrix}&#10;\\\\&#10;(19:\bar{x}\bar{z}y)&#10;&amp; \Rightarrow &amp;&#10;\sigma&#10;\begin{pmatrix}&#10;-U_{x}   &amp; -U_{y,1} &amp; -U_{z,1}\\&#10;-U_{x,3} &amp; -U_{y,3} &amp; -U_{z}\\&#10; U_{x,2} &amp;  U_{y}   &amp;  U_{z,2}\\&#10;\end{pmatrix}&#10;\\\\&#10;(20:\bar{x}z\bar{y})&#10;&amp; \Rightarrow &amp;&#10;\sigma&#10;\begin{pmatrix}&#10;-U_{x,1} &amp; -U_{y,1} &amp; -U_{z,1}\\&#10; U_{x,3} &amp;  U_{y,3} &amp;  U_{z,3}\\&#10;-U_{x,2} &amp; -U_{y,2} &amp; -U_{z,2}\\&#10;\end{pmatrix}&#10;\\\\&#10;\end{tabular}&#10;\end{equation*}&#10;&#10;&#10;\end{document}"/>
  <p:tag name="IGUANATEXSIZE" val="12"/>
  <p:tag name="IGUANATEXCURSOR" val="862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5:zyx)&#10;&amp; \Rightarrow &amp;&#10;\sigma&#10;\begin{pmatrix}&#10;U_{x,3} &amp; U_{y,3} &amp; U_{z}\\&#10;U_{x,2} &amp; U_{y}   &amp; U_{z,2}\\&#10;U_{x}   &amp; U_{y,1} &amp; U_{z,1}\\&#10;\end{pmatrix}&#10;\\\\&#10;(22:\bar{z}\bar{y}x)&#10;&amp; \Rightarrow &amp;&#10;\sigma&#10;\begin{pmatrix}&#10;-U_{x,3} &amp; -U_{y,3} &amp; -U_{z}\\&#10;-U_{x,2} &amp; -U_{y}   &amp; -U_{z,2}\\&#10; U_{x}   &amp;  U_{y,1} &amp;  U_{z,1}\\&#10;\end{pmatrix}&#10;\\\\&#10;(16:\bar{z}y\bar{x})&#10;&amp; \Rightarrow &amp;&#10;\sigma&#10;\begin{pmatrix}&#10;-U_{x,3} &amp; -U_{y,3} &amp; -U_{z}\\&#10; U_{x,2} &amp;  U_{y}   &amp;  U_{z,2}\\&#10;-U_{x}   &amp; -U_{y,1} &amp; -U_{z,1}\\&#10;\end{pmatrix}&#10;\\\\&#10;(21:z\bar{y}\bar{x})&#10;&amp; \Rightarrow &amp;&#10;\sigma&#10;\begin{pmatrix}&#10; U_{x,3} &amp;  U_{y,3} &amp;  U_{z}\\&#10;-U_{x,2} &amp; -U_{y}   &amp; -U_{z,2}\\&#10;-U_{x}   &amp; -U_{y,1} &amp; -U_{z,1}\\&#10;\end{pmatrix}&#10;\\\\&#10;\end{tabular}&#10;\end{equation*}&#10;&#10;&#10;\end{document}"/>
  <p:tag name="IGUANATEXSIZE" val="12"/>
  <p:tag name="IGUANATEXCURSOR" val="860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0.72"/>
  <p:tag name="ORIGINALWIDTH" val="2425.947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&#10;\begin{equation*}&#10;\begin{tabular}{CCC}&#10;(17:yxz)&#10;&amp; \Rightarrow &amp;&#10;\sigma&#10;\begin{pmatrix}&#10;U_{x,2} &amp; U_{y}   &amp; U_{z,2}\\&#10;U_{x}   &amp; U_{y,1} &amp; U_{z,1}\\&#10;U_{x,3} &amp; U_{y,3} &amp; U_{z}\\&#10;\end{pmatrix}&#10;\\\\&#10;(23:\bar{y}x\bar{z})&#10;&amp; \Rightarrow &amp;&#10;\sigma&#10;\begin{pmatrix}&#10;-U_{x,2} &amp; -U_{y}   &amp; -U_{z,2}\\&#10; U_{x,1} &amp;  U_{y,1} &amp;  U_{z,1}\\&#10;-U_{x,3} &amp; -U_{y,3} &amp; -U_{z}\\&#10;\end{pmatrix}&#10;\\\\&#10;(24:y\bar{x}\bar{z})&#10;&amp; \Rightarrow &amp;&#10;\sigma&#10;\begin{pmatrix}&#10; U_{x,2} &amp;  U_{y}   &amp;  U_{z,2}\\&#10;-U_{x}   &amp; -U_{y,1} &amp; -U_{z,1}\\&#10;-U_{x,3} &amp; -U_{y,3} &amp; -U_{z}\\&#10;\end{pmatrix}&#10;\\\\&#10;(18:\bar{y}\bar{x}z)&#10;&amp; \Rightarrow &amp;&#10;\sigma&#10;\begin{pmatrix}&#10;-U_{x,2} &amp; -U_{y,2} &amp; -U_{z,2}\\&#10;-U_{x,1} &amp; -U_{y,1} &amp; -U_{z,1}\\&#10; U_{x,3} &amp;  U_{y,3} &amp;  U_{z}\\&#10;\end{pmatrix}&#10;\\&#10;\end{tabular}&#10;\end{equation*}&#10;&#10;&#10;\end{document}"/>
  <p:tag name="IGUANATEXSIZE" val="12"/>
  <p:tag name="IGUANATEXCURSOR" val="684"/>
  <p:tag name="TRANSPARENCY" val="True"/>
  <p:tag name="FILENAME" val=""/>
  <p:tag name="LATEXENGINEID" val="0"/>
  <p:tag name="TEMPFOLDER" val="C:\iguanatex\"/>
  <p:tag name="LATEXFORMHEIGHT" val="446.25"/>
  <p:tag name="LATEXFORMWIDTH" val="1018.5"/>
  <p:tag name="LATEXFORMWRAP" val="Fals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4850.394"/>
  <p:tag name="OUTPUTTYPE" val="PNG"/>
  <p:tag name="IGUANATEXVERSION" val="159"/>
  <p:tag name="LATEXADDIN" val="\documentclass{article}&#10;\usepackage{amsmath,bm,eufrak}&#10;\pagestyle{empty}&#10;\begin{document}&#10;&#10;\begin{align*}&#10;V_{\perp,1}  &amp; =  \left(\frac{1+\omega_{0}}{2}\right)\left(\frac{1-\omega_{1}}{2}\right)U_{x} &#10;                + \left(\frac{1-\omega_{0}}{2}\right)\left(\frac{1+\omega_{1}}{2}\right)U_{y}&#10;                + \left(\frac{1-\omega_{0}}{2}\right)\left(\frac{1-\omega_{1}}{2}\right)U_{z} \\&#10;V_{\perp,5}  &amp; =  \left(\frac{1+\omega_{0}}{2}\right)\left(\frac{1-\omega_{1}}{2}\right)U_{z,1} &#10;                + \left(\frac{1-\omega_{0}}{2}\right)\left(\frac{1+\omega_{1}}{2}\right)U_{x,2}&#10;                + \left(\frac{1-\omega_{0}}{2}\right)\left(\frac{1-\omega_{1}}{2}\right)U_{y,3} \\&#10;V_{\perp,9}  &amp; =  \left(\frac{1+\omega_{0}}{2}\right)\left(\frac{1-\omega_{1}}{2}\right)U_{y,1}&#10;                + \left(\frac{1-\omega_{0}}{2}\right)\left(\frac{1+\omega_{1}}{2}\right)U_{z,2}&#10;                + \left(\frac{1-\omega_{0}}{2}\right)\left(\frac{1-\omega_{1}}{2}\right)U_{x,3} \\&#10;\end{align*}&#10;&#10;&#10;\end{document}"/>
  <p:tag name="IGUANATEXSIZE" val="16"/>
  <p:tag name="IGUANATEXCURSOR" val="486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5098.613"/>
  <p:tag name="OUTPUTTYPE" val="PNG"/>
  <p:tag name="IGUANATEXVERSION" val="159"/>
  <p:tag name="LATEXADDIN" val="\documentclass{article}&#10;\usepackage{amsmath,bm,eufrak}&#10;\pagestyle{empty}&#10;\begin{document}&#10;&#10;\begin{align*}&#10;V_{\perp,13}  &amp; = \sigma\left\{&#10;   \left(\frac{1+\omega_{0}}{2}\right)\left(\frac{1-\omega_{1}}{2}\right)U_{x} &#10; + \left(\frac{1-\omega_{0}}{2}\right)\left(\frac{1+\omega_{1}}{2}\right)U_{z,2}&#10; + \left(\frac{1-\omega_{0}}{2}\right)\left(\frac{1-\omega_{1}}{2}\right)U_{y,3} \right\}&#10;\\&#10;V_{\perp,15}  &amp; = \sigma\left\{&#10;   \left(\frac{1+\omega_{0}}{2}\right)\left(\frac{1-\omega_{1}}{2}\right)U_{z,1}&#10; + \left(\frac{1-\omega_{0}}{2}\right)\left(\frac{1+\omega_{1}}{2}\right)U_{y}&#10; + \left(\frac{1-\omega_{0}}{2}\right)\left(\frac{1-\omega_{1}}{2}\right)U_{x,3} \right\}&#10;\\&#10;V_{\perp,17}  &amp; = \sigma\left\{&#10;   \left(\frac{1+\omega_{0}}{2}\right)\left(\frac{1-\omega_{1}}{2}\right)U_{y,1}&#10; + \left(\frac{1-\omega_{0}}{2}\right)\left(\frac{1+\omega_{1}}{2}\right)U_{x,2}&#10; + \left(\frac{1-\omega_{0}}{2}\right)\left(\frac{1-\omega_{1}}{2}\right)U_{z}   \right\}&#10;\\&#10;\end{align*}&#10;&#10;&#10;\end{document}"/>
  <p:tag name="IGUANATEXSIZE" val="16"/>
  <p:tag name="IGUANATEXCURSOR" val="708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.225"/>
  <p:tag name="ORIGINALWIDTH" val="2044.994"/>
  <p:tag name="OUTPUTTYPE" val="PNG"/>
  <p:tag name="IGUANATEXVERSION" val="159"/>
  <p:tag name="LATEXADDIN" val="\documentclass{article}&#10;\usepackage{amsmath,bm,eufrak}&#10;\pagestyle{empty}&#10;\begin{document}&#10;&#10;\begin{align*}&#10;U^{\left(T^{(\sigma)}\right)}  &amp; =  U_{x}^{\left(T^{(\sigma)}\right)} + U_{y}^{\left(T^{(\sigma)}\right)} + U_{z}^{\left(T^{(\sigma)}\right)}&#10;\end{align*}&#10;&#10;&#10;\end{document}"/>
  <p:tag name="IGUANATEXSIZE" val="16"/>
  <p:tag name="IGUANATEXCURSOR" val="107"/>
  <p:tag name="TRANSPARENCY" val="True"/>
  <p:tag name="FILENAME" val=""/>
  <p:tag name="LATEXENGINEID" val="0"/>
  <p:tag name="TEMPFOLDER" val="C:\iguanatex\"/>
  <p:tag name="LATEXFORMHEIGHT" val="631.5"/>
  <p:tag name="LATEXFORMWIDTH" val="1415.25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7136.858"/>
  <p:tag name="LATEXADDIN" val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/>
  <p:tag name="IGUANATEXSIZE" val="16"/>
  <p:tag name="IGUANATEXCURSOR" val="354"/>
  <p:tag name="TRANSPARENCY" val="Fals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4684"/>
  <p:tag name="ORIGINALWIDTH" val="3762.28"/>
  <p:tag name="LATEXADDIN" val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/>
  <p:tag name="IGUANATEXSIZE" val="16"/>
  <p:tag name="IGUANATEXCURSOR" val="360"/>
  <p:tag name="TRANSPARENCY" val="True"/>
  <p:tag name="FILENAME" val=""/>
  <p:tag name="LATEXENGINEID" val="0"/>
  <p:tag name="TEMPFOLDER" val="c:\temp\"/>
  <p:tag name="LATEXFORMHEIGHT" val="624"/>
  <p:tag name="LATEXFORMWIDTH" val="1096.5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9.58"/>
  <p:tag name="ORIGINALWIDTH" val="7267.342"/>
  <p:tag name="LATEXADDIN" val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/>
  <p:tag name="IGUANATEXSIZE" val="16"/>
  <p:tag name="IGUANATEXCURSOR" val="261"/>
  <p:tag name="TRANSPARENCY" val="True"/>
  <p:tag name="FILENAME" val=""/>
  <p:tag name="LATEXENGINEID" val="0"/>
  <p:tag name="TEMPFOLDER" val="c:\temp\"/>
  <p:tag name="LATEXFORMHEIGHT" val="624"/>
  <p:tag name="LATEXFORMWIDTH" val="1401"/>
  <p:tag name="LATEXFORMWRAP" val="Fals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LATEXADDIN" val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/>
  <p:tag name="IGUANATEXSIZE" val="16"/>
  <p:tag name="IGUANATEXCURSOR" val="105"/>
  <p:tag name="TRANSPARENCY" val="True"/>
  <p:tag name="FILENAME" val=""/>
  <p:tag name="LATEXENGINEID" val="0"/>
  <p:tag name="TEMPFOLDER" val="c:\temp\"/>
  <p:tag name="LATEXFORMHEIGHT" val="624"/>
  <p:tag name="LATEXFORMWIDTH" val="1913.25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9.689"/>
  <p:tag name="ORIGINALWIDTH" val="3638.545"/>
  <p:tag name="OUTPUTTYPE" val="PNG"/>
  <p:tag name="IGUANATEXVERSION" val="159"/>
  <p:tag name="LATEXADDIN" val="\documentclass{article}&#10;\usepackage{amsmath,bm,physics,array,multirow}&#10;\pagestyle{empty}&#10;&#10;\newcolumntype{C}{&gt;{$}c&lt;{$}}&#10;&#10;\begin{document}&#10;&#10;\begin{gather*}&#10;\left\{&#10;(1:xyz),&#10;(2:x\bar{y}\bar{z}),&#10;(3:\bar{x}y\bar{z}),&#10;(4:\bar{x}\bar{y}z)&#10;\right\}&#10;\Rightarrow&#10;\begin{pmatrix}&#10;U^{(E)}_{11} &amp; U^{(E)}_{12} \\&#10;U^{(E)}_{21} &amp; U^{(E)}_{22} \\&#10;\end{pmatrix}&#10;\\&#10;\left\{&#10;(5:yzx),&#10;(6:y\bar{z}\bar{x}),&#10;(7:\bar{y}z\bar{x}),&#10;(8:\bar{y}\bar{z}x)&#10;\right\}&#10;\Rightarrow&#10;\begin{pmatrix}&#10;\tau^{2}U^{(E)}_{11} &amp; \tau^{2}U^{(E)}_{12} \\&#10;\tau U^{(E)}_{21}    &amp; \tau U^{(E)}_{22} \\&#10;\end{pmatrix}&#10;\\&#10;\left\{&#10; (9:zxy),&#10;(10:\bar{z}x\bar{y}),&#10;(11:\bar{z}\bar{x}y),&#10;(12:z\bar{x}\bar{y})&#10;\right\}&#10;\Rightarrow&#10;\begin{pmatrix}&#10;\tau U^{(E)}_{11}     &amp; \tau U^{(E)}_{12} \\&#10;\tau^{2} U^{(E)}_{21} &amp; \tau^{2} U^{(E)}_{22} \\&#10;\end{pmatrix}&#10;\\&#10;\left\{&#10;(13:xzy),&#10;(14:x\bar{z}\bar{y}),&#10;(19:\bar{x}\bar{z}y),&#10;(20:\bar{x}z\bar{y})&#10;\right\}&#10;\Rightarrow&#10;\begin{pmatrix}&#10;\tau^{2}U^{(E)}_{21} &amp; \tau^{2}U^{(E)}_{22} \\&#10;\tau U^{(E)}_{11}    &amp; \tau U^{(E)}_{12} \\&#10;\end{pmatrix}&#10;\\&#10;\left\{&#10;(15:zyx),&#10;(16:\bar{z}y\bar{x}),&#10;(21:z\bar{y}\bar{x}),&#10;(22:\bar{z}\bar{y}x)&#10;\right\}&#10;\Rightarrow&#10;\begin{pmatrix}&#10;\tau U^{(E)}_{21}    &amp; \tau U^{(E)}_{22} \\&#10;\tau^{2}U^{(E)}_{11} &amp; \tau^{2}U^{(E)}_{12} \\&#10;\end{pmatrix}&#10;\\&#10;\left\{&#10;(17:yxz),&#10;(18:\bar{y}\bar{x}z),&#10;(23:\bar{y}x\bar{z}),&#10;(24:y\bar{x}\bar{z})&#10;\right\}&#10;\Rightarrow&#10;\begin{pmatrix}&#10;U^{(E)}_{21} &amp; U^{(E)}_{22} \\&#10;U^{(E)}_{11} &amp; U^{(E)}_{12} \\&#10;\end{pmatrix}&#10;\end{gather*}&#10;&#10;\end{document}"/>
  <p:tag name="IGUANATEXSIZE" val="16"/>
  <p:tag name="IGUANATEXCURSOR" val="1326"/>
  <p:tag name="TRANSPARENCY" val="True"/>
  <p:tag name="FILENAME" val=""/>
  <p:tag name="LATEXENGINEID" val="0"/>
  <p:tag name="TEMPFOLDER" val="C:\iguanatex\"/>
  <p:tag name="LATEXFORMHEIGHT" val="536.25"/>
  <p:tag name="LATEXFORMWIDTH" val="1018.5"/>
  <p:tag name="LATEXFORMWRAP" val="Fals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1935.508"/>
  <p:tag name="OUTPUTTYPE" val="PNG"/>
  <p:tag name="IGUANATEXVERSION" val="159"/>
  <p:tag name="LATEXADDIN" val="\documentclass{article}&#10;\usepackage{amsmath,amssymb,bm}&#10;\pagestyle{empty}&#10;\begin{document}&#10;&#10;\begin{align*}&#10;V_{\parallel,1} &amp; = \left(\frac{1+\omega_{0}\omega_{1}}{2}\right)\left(        V_{(1)} +         V_{(2)}\right) \\&#10;V_{\parallel,5} &amp; = \left(\frac{1+\omega_{0}\omega_{1}}{2}\right)\left(\tau^{2}V_{(1)} +    \tau V_{(2)}\right) \\&#10;V_{\parallel,9} &amp; = \left(\frac{1+\omega_{0}\omega_{1}}{2}\right)\left(   \tau V_{(1)} + \tau^{2}V_{(2)}\right) \\&#10;\end{align*}&#10;&#10;&#10;\end{document}"/>
  <p:tag name="IGUANATEXSIZE" val="16"/>
  <p:tag name="IGUANATEXCURSOR" val="186"/>
  <p:tag name="TRANSPARENCY" val="True"/>
  <p:tag name="FILENAME" val=""/>
  <p:tag name="LATEXENGINEID" val="0"/>
  <p:tag name="TEMPFOLDER" val="C:\iguanatex\"/>
  <p:tag name="LATEXFORMHEIGHT" val="631.5"/>
  <p:tag name="LATEXFORMWIDTH" val="1563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2379.453"/>
  <p:tag name="OUTPUTTYPE" val="PNG"/>
  <p:tag name="IGUANATEXVERSION" val="159"/>
  <p:tag name="LATEXADDIN" val="\documentclass{article}&#10;\usepackage{amsmath,bm,eufrak}&#10;\pagestyle{empty}&#10;\begin{document}&#10;&#10;\begin{align*}&#10;V_{\perp,1} &amp; = \left(\frac{1+\omega_{0}}{2}\right)\left(\frac{1+\omega_{1}}{2}\right)\left(        U_{11} +         U_{22}\right) \\&#10;V_{\perp,5} &amp; = \left(\frac{1+\omega_{0}}{2}\right)\left(\frac{1+\omega_{1}}{2}\right)\left(\tau^{2}U_{11} +    \tau U_{22}\right) \\&#10;V_{\perp,9} &amp; = \left(\frac{1+\omega_{0}}{2}\right)\left(\frac{1+\omega_{1}}{2}\right)\left(   \tau U_{11} + \tau^{2}U_{22}\right) \\&#10;\end{align*}&#10;&#10;&#10;\end{document}"/>
  <p:tag name="IGUANATEXSIZE" val="16"/>
  <p:tag name="IGUANATEXCURSOR" val="223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2428.947"/>
  <p:tag name="OUTPUTTYPE" val="PNG"/>
  <p:tag name="IGUANATEXVERSION" val="159"/>
  <p:tag name="LATEXADDIN" val="\documentclass{article}&#10;\usepackage{amsmath,bm,eufrak}&#10;\pagestyle{empty}&#10;\begin{document}&#10;&#10;\begin{align*}&#10;V_{\perp,13} &amp; = \left(\frac{1+\omega_{0}}{2}\right)\left(\frac{1+\omega_{1}}{2}\right)\left(\tau^{2}U_{21} +    \tau U_{12}\right) \\&#10;V_{\perp,15} &amp; = \left(\frac{1+\omega_{0}}{2}\right)\left(\frac{1+\omega_{1}}{2}\right)\left(   \tau U_{21} +    \tau^{2}U_{12}\right) \\&#10;V_{\perp,17} &amp; = \left(\frac{1+\omega_{0}}{2}\right)\left(\frac{1+\omega_{1}}{2}\right)\left(        U_{21} +            U_{12}\right) \\&#10;\end{align*}&#10;&#10;&#10;\end{document}"/>
  <p:tag name="IGUANATEXSIZE" val="16"/>
  <p:tag name="IGUANATEXCURSOR" val="478"/>
  <p:tag name="TRANSPARENCY" val="True"/>
  <p:tag name="FILENAME" val=""/>
  <p:tag name="LATEXENGINEID" val="0"/>
  <p:tag name="TEMPFOLDER" val="C:\iguanatex\"/>
  <p:tag name="LATEXFORMHEIGHT" val="631.5"/>
  <p:tag name="LATEXFORMWIDTH" val="1096.5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167.604"/>
  <p:tag name="OUTPUTTYPE" val="PNG"/>
  <p:tag name="IGUANATEXVERSION" val="159"/>
  <p:tag name="LATEXADDIN" val="\documentclass{article}&#10;\usepackage{amsmath,amssymb,bm}&#10;\pagestyle{empty}&#10;\begin{document}&#10;&#10;\begin{align*}&#10;V_{(1)} &amp; = \frac{ U_{11} + \sigma_{0}\sigma_{1}U_{21} }{ 2 } \\&#10;V_{(2)} &amp; = \frac{ U_{22} + \sigma_{0}\sigma_{1}U_{12} }{ 2 } \\&#10;\end{align*}&#10;&#10;&#10;\end{document}"/>
  <p:tag name="IGUANATEXSIZE" val="16"/>
  <p:tag name="IGUANATEXCURSOR" val="234"/>
  <p:tag name="TRANSPARENCY" val="True"/>
  <p:tag name="FILENAME" val=""/>
  <p:tag name="LATEXENGINEID" val="0"/>
  <p:tag name="TEMPFOLDER" val="C:\iguanatex\"/>
  <p:tag name="LATEXFORMHEIGHT" val="660.75"/>
  <p:tag name="LATEXFORMWIDTH" val="1563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2.4372"/>
  <p:tag name="ORIGINALWIDTH" val="512.9359"/>
  <p:tag name="OUTPUTTYPE" val="PNG"/>
  <p:tag name="IGUANATEXVERSION" val="159"/>
  <p:tag name="LATEXADDIN" val="\documentclass{article}&#10;\usepackage{amsmath,bm,eufrak}&#10;\pagestyle{empty}&#10;\begin{document}&#10;&#10;\begin{align*}&#10;U_{(x)} &amp; = U_{9} \\&#10;U_{(y)} &amp; = U_{5} \\&#10;U_{(z)} &amp; = U_{1} \\&#10;\end{align*}&#10;&#10;\end{document}"/>
  <p:tag name="IGUANATEXSIZE" val="16"/>
  <p:tag name="IGUANATEXCURSOR" val="1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2.4372"/>
  <p:tag name="ORIGINALWIDTH" val="713.9108"/>
  <p:tag name="OUTPUTTYPE" val="PNG"/>
  <p:tag name="IGUANATEXVERSION" val="159"/>
  <p:tag name="LATEXADDIN" val="\documentclass{article}&#10;\usepackage{amsmath,bm,eufrak}&#10;\pagestyle{empty}&#10;\begin{document}&#10;&#10;\begin{align*}&#10;U_{(A)}                  &amp; = 0 \\&#10;U_{\left(AE_{1}\right)}  &amp; = V_{(2)} \\&#10;U_{\left(AE_{2}\right)}  &amp; = V_{(1)} \\&#10;\end{align*}&#10;&#10;&#10;\end{document}"/>
  <p:tag name="IGUANATEXSIZE" val="16"/>
  <p:tag name="IGUANATEXCURSOR" val="216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1935.508"/>
  <p:tag name="OUTPUTTYPE" val="PNG"/>
  <p:tag name="IGUANATEXVERSION" val="159"/>
  <p:tag name="LATEXADDIN" val="\documentclass{article}&#10;\usepackage{amsmath,amssymb,bm}&#10;\pagestyle{empty}&#10;\begin{document}&#10;&#10;\begin{align*}&#10;V_{\parallel,1} &amp; = \left(\frac{1+\omega_{0}\omega_{1}}{2}\right)\left(        V_{(1)} +         V_{(2)}\right) \\&#10;V_{\parallel,5} &amp; = \left(\frac{1+\omega_{0}\omega_{1}}{2}\right)\left(\tau^{2}V_{(1)} +    \tau V_{(2)}\right) \\&#10;V_{\parallel,9} &amp; = \left(\frac{1+\omega_{0}\omega_{1}}{2}\right)\left(   \tau V_{(1)} + \tau^{2}V_{(2)}\right) \\&#10;\end{align*}&#10;&#10;&#10;\end{document}"/>
  <p:tag name="IGUANATEXSIZE" val="16"/>
  <p:tag name="IGUANATEXCURSOR" val="186"/>
  <p:tag name="TRANSPARENCY" val="True"/>
  <p:tag name="FILENAME" val=""/>
  <p:tag name="LATEXENGINEID" val="0"/>
  <p:tag name="TEMPFOLDER" val="C:\iguanatex\"/>
  <p:tag name="LATEXFORMHEIGHT" val="631.5"/>
  <p:tag name="LATEXFORMWIDTH" val="1563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5242.595"/>
  <p:tag name="OUTPUTTYPE" val="PNG"/>
  <p:tag name="IGUANATEXVERSION" val="159"/>
  <p:tag name="LATEXADDIN" val="\documentclass{article}&#10;\usepackage{amsmath,bm,eufrak}&#10;\pagestyle{empty}&#10;\begin{document}&#10;&#10;\begin{equation*}&#10;V_{\parallel}^{\left(E\right)(\mathcal{W}_{0}\mathcal{W}_{1})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/>
  <p:tag name="IGUANATEXSIZE" val="20"/>
  <p:tag name="IGUANATEXCURSOR" val="878"/>
  <p:tag name="TRANSPARENCY" val="True"/>
  <p:tag name="FILENAME" val=""/>
  <p:tag name="LATEXENGINEID" val="0"/>
  <p:tag name="TEMPFOLDER" val="C:\iguanatex\"/>
  <p:tag name="LATEXFORMHEIGHT" val="642.75"/>
  <p:tag name="LATEXFORMWIDTH" val="1882.5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507.687"/>
  <p:tag name="OUTPUTTYPE" val="PNG"/>
  <p:tag name="IGUANATEXVERSION" val="159"/>
  <p:tag name="LATEXADDIN" val="\documentclass{article}&#10;\usepackage{amsmath,bm,eufrak}&#10;\pagestyle{empty}&#10;\begin{document}&#10;&#10;\begin{equation*}&#10;V_{\perp}^{\left(E\right)(\mathcal{W}_{0}\mathcal{W}_{1})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/>
  <p:tag name="IGUANATEXSIZE" val="20"/>
  <p:tag name="IGUANATEXCURSOR" val="0"/>
  <p:tag name="TRANSPARENCY" val="True"/>
  <p:tag name="FILENAME" val=""/>
  <p:tag name="LATEXENGINEID" val="0"/>
  <p:tag name="TEMPFOLDER" val="C:\iguanatex\"/>
  <p:tag name="LATEXFORMHEIGHT" val="624"/>
  <p:tag name="LATEXFORMWIDTH" val="1921.5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83494</TotalTime>
  <Words>255</Words>
  <Application>Microsoft Office PowerPoint</Application>
  <PresentationFormat>Widescreen</PresentationFormat>
  <Paragraphs>74</Paragraphs>
  <Slides>35</Slides>
  <Notes>28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Georgia</vt:lpstr>
      <vt:lpstr>Gill Sans MT</vt:lpstr>
      <vt:lpstr>LucidaGrande</vt:lpstr>
      <vt:lpstr>UB Powerpoint Template</vt:lpstr>
      <vt:lpstr>MultI-Valley Basis</vt:lpstr>
      <vt:lpstr>Symmetrized States, m even</vt:lpstr>
      <vt:lpstr>Symmetrized States, m odd</vt:lpstr>
      <vt:lpstr>6. Effect of Td operations on symmetrized states</vt:lpstr>
      <vt:lpstr>General Potential</vt:lpstr>
      <vt:lpstr>Potential projected onto symmetries of Td -- I</vt:lpstr>
      <vt:lpstr>Symmetrized potential – A1, A2, and E</vt:lpstr>
      <vt:lpstr>Symmetrized potential – T1</vt:lpstr>
      <vt:lpstr>Symmetrized potential – T2</vt:lpstr>
      <vt:lpstr>General Potential</vt:lpstr>
      <vt:lpstr>Reducing number of integrand terms using transformations</vt:lpstr>
      <vt:lpstr>Can symmetrize further w/ coordinate inversions</vt:lpstr>
      <vt:lpstr>“Folded over” potential form</vt:lpstr>
      <vt:lpstr>Restatement of potential form</vt:lpstr>
      <vt:lpstr>Filtered potential involving parallel valleys</vt:lpstr>
      <vt:lpstr>Filtered potential involving perpendicular valleys</vt:lpstr>
      <vt:lpstr>Terms of filtered potential matrices</vt:lpstr>
      <vt:lpstr>Symmetric Potentials </vt:lpstr>
      <vt:lpstr>Specific SYmmetry</vt:lpstr>
      <vt:lpstr>“Folded over” potential form  -- A^((σ))</vt:lpstr>
      <vt:lpstr>Terms of filtered potential matrices -- A^((σ))</vt:lpstr>
      <vt:lpstr>Filtered potential involving parallel valleys</vt:lpstr>
      <vt:lpstr>Filtered potential involving perpendicular valleys</vt:lpstr>
      <vt:lpstr>Specific SYmmetry</vt:lpstr>
      <vt:lpstr>Matrix representation of Td – T(σ)</vt:lpstr>
      <vt:lpstr>Matrix representation of Td – T(σ)</vt:lpstr>
      <vt:lpstr>“Folded over” potential form</vt:lpstr>
      <vt:lpstr>Filtered potential involving parallel valleys</vt:lpstr>
      <vt:lpstr>Inversion filtered potential involving perpendicular valleys</vt:lpstr>
      <vt:lpstr>Specific SYmmetry</vt:lpstr>
      <vt:lpstr>Matrix representation of Td – E</vt:lpstr>
      <vt:lpstr>Terms of inversion filtering</vt:lpstr>
      <vt:lpstr>Terms of filtered potential matrices</vt:lpstr>
      <vt:lpstr>Filtered potential involving parallel valleys</vt:lpstr>
      <vt:lpstr>Filtered potential involving perpendicular valleys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3750</cp:revision>
  <cp:lastPrinted>2016-07-18T17:32:49Z</cp:lastPrinted>
  <dcterms:created xsi:type="dcterms:W3CDTF">2016-06-28T14:05:07Z</dcterms:created>
  <dcterms:modified xsi:type="dcterms:W3CDTF">2022-09-24T22:09:01Z</dcterms:modified>
  <cp:category/>
</cp:coreProperties>
</file>