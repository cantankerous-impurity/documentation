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9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3"/>
  </p:notesMasterIdLst>
  <p:handoutMasterIdLst>
    <p:handoutMasterId r:id="rId14"/>
  </p:handoutMasterIdLst>
  <p:sldIdLst>
    <p:sldId id="400" r:id="rId2"/>
    <p:sldId id="799" r:id="rId3"/>
    <p:sldId id="679" r:id="rId4"/>
    <p:sldId id="789" r:id="rId5"/>
    <p:sldId id="790" r:id="rId6"/>
    <p:sldId id="795" r:id="rId7"/>
    <p:sldId id="796" r:id="rId8"/>
    <p:sldId id="797" r:id="rId9"/>
    <p:sldId id="792" r:id="rId10"/>
    <p:sldId id="793" r:id="rId11"/>
    <p:sldId id="794" r:id="rId12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B458"/>
    <a:srgbClr val="005961"/>
    <a:srgbClr val="FF7F7F"/>
    <a:srgbClr val="7FD7A7"/>
    <a:srgbClr val="00B050"/>
    <a:srgbClr val="FF0000"/>
    <a:srgbClr val="33A366"/>
    <a:srgbClr val="B797CF"/>
    <a:srgbClr val="7A0000"/>
    <a:srgbClr val="005A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5330" autoAdjust="0"/>
  </p:normalViewPr>
  <p:slideViewPr>
    <p:cSldViewPr snapToGrid="0" snapToObjects="1">
      <p:cViewPr varScale="1">
        <p:scale>
          <a:sx n="107" d="100"/>
          <a:sy n="107" d="100"/>
        </p:scale>
        <p:origin x="12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5/28/2022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5/28/2022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The basis,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as always, has been tinkered with a little bit. A given basis state breaks down into a loose set of “radial”, “longitudinal” and “azimuthal” parts. </a:t>
            </a:r>
            <a:endParaRPr lang="en-US" sz="1600" kern="1200" dirty="0">
              <a:solidFill>
                <a:schemeClr val="tx1"/>
              </a:solidFill>
              <a:latin typeface="Arial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845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Note that the different parts of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the</a:t>
            </a: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state are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now</a:t>
            </a: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normalized. Explain that the normalization integrals decouple with the introduce of the vartheta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function as a normalization “constant”.</a:t>
            </a:r>
            <a:endParaRPr lang="en-US" sz="1600" kern="1200" dirty="0">
              <a:solidFill>
                <a:schemeClr val="tx1"/>
              </a:solidFill>
              <a:latin typeface="Arial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753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Note that the different parts of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the</a:t>
            </a: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state are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now</a:t>
            </a: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normalized. Explain that the normalization integrals decouple with the introduce of the vartheta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function as a normalization “constant”.</a:t>
            </a:r>
            <a:endParaRPr lang="en-US" sz="1600" kern="1200" dirty="0">
              <a:solidFill>
                <a:schemeClr val="tx1"/>
              </a:solidFill>
              <a:latin typeface="Arial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894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The basis,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as always, has been tinkered with a little bit. A given basis state breaks down into a loose set of “radial”, “longitudinal” and “azimuthal” parts. </a:t>
            </a:r>
            <a:endParaRPr lang="en-US" sz="1600" kern="1200" dirty="0">
              <a:solidFill>
                <a:schemeClr val="tx1"/>
              </a:solidFill>
              <a:latin typeface="Arial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735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The basis,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as always, has been tinkered with a little bit. A given basis state breaks down into a loose set of “radial”, “longitudinal” and “azimuthal” parts. </a:t>
            </a:r>
            <a:endParaRPr lang="en-US" sz="1600" kern="1200" dirty="0">
              <a:solidFill>
                <a:schemeClr val="tx1"/>
              </a:solidFill>
              <a:latin typeface="Arial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213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The basis,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as always, has been tinkered with a little bit. A given basis state breaks down into a loose set of “radial”, “longitudinal” and “azimuthal” parts. </a:t>
            </a:r>
            <a:endParaRPr lang="en-US" sz="1600" kern="1200" dirty="0">
              <a:solidFill>
                <a:schemeClr val="tx1"/>
              </a:solidFill>
              <a:latin typeface="Arial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647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The basis,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as always, has been tinkered with a little bit. A given basis state breaks down into a loose set of “radial”, “longitudinal” and “azimuthal” parts. </a:t>
            </a:r>
            <a:endParaRPr lang="en-US" sz="1600" kern="1200" dirty="0">
              <a:solidFill>
                <a:schemeClr val="tx1"/>
              </a:solidFill>
              <a:latin typeface="Arial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756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Note that the different parts of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the</a:t>
            </a: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state are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now</a:t>
            </a: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normalized. Explain that the normalization integrals decouple with the introduce of the vartheta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function as a normalization “constant”.</a:t>
            </a:r>
            <a:endParaRPr lang="en-US" sz="1600" kern="1200" dirty="0">
              <a:solidFill>
                <a:schemeClr val="tx1"/>
              </a:solidFill>
              <a:latin typeface="Arial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422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Note that the different parts of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the</a:t>
            </a: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state are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now</a:t>
            </a: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normalized. Explain that the normalization integrals decouple with the introduce of the vartheta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function as a normalization “constant”.</a:t>
            </a:r>
            <a:endParaRPr lang="en-US" sz="1600" kern="1200" dirty="0">
              <a:solidFill>
                <a:schemeClr val="tx1"/>
              </a:solidFill>
              <a:latin typeface="Arial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659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Note that the different parts of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the</a:t>
            </a: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state are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now</a:t>
            </a:r>
            <a:r>
              <a:rPr lang="en-US" sz="1600" kern="120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normalized. Explain that the normalization integrals decouple with the introduce of the vartheta</a:t>
            </a:r>
            <a:r>
              <a:rPr lang="en-US" sz="1600" kern="1200" baseline="0" dirty="0">
                <a:solidFill>
                  <a:schemeClr val="tx1"/>
                </a:solidFill>
                <a:latin typeface="Arial" charset="0"/>
                <a:ea typeface="+mn-ea"/>
                <a:cs typeface="Arial" panose="020B0604020202020204" pitchFamily="34" charset="0"/>
              </a:rPr>
              <a:t> function as a normalization “constant”.</a:t>
            </a:r>
            <a:endParaRPr lang="en-US" sz="1600" kern="1200" dirty="0">
              <a:solidFill>
                <a:schemeClr val="tx1"/>
              </a:solidFill>
              <a:latin typeface="Arial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83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97136"/>
            <a:ext cx="6638544" cy="157992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baseline="0">
                <a:solidFill>
                  <a:schemeClr val="tx1"/>
                </a:solidFill>
                <a:latin typeface="+mj-lt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42137"/>
            <a:ext cx="6638544" cy="836126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+mj-lt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-50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-50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-50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2000" b="0" i="0" spc="-50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838200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+mn-lt"/>
                <a:ea typeface="Arial" charset="0"/>
                <a:cs typeface="Arial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6928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+mn-lt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663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  <p:sldLayoutId id="214748391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Gill Sans MT" panose="020B0502020104020203" pitchFamily="34" charset="0"/>
          <a:ea typeface="Gill Sans MT" panose="020B0502020104020203" pitchFamily="34" charset="0"/>
          <a:cs typeface="Gill Sans MT" panose="020B05020201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Gill Sans MT" panose="020B0502020104020203" pitchFamily="34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Gill Sans MT" panose="020B0502020104020203" pitchFamily="34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+mn-lt"/>
          <a:ea typeface="Gill Sans MT" panose="020B0502020104020203" pitchFamily="34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0.xml"/><Relationship Id="rId7" Type="http://schemas.openxmlformats.org/officeDocument/2006/relationships/image" Target="../media/image16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5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13" Type="http://schemas.openxmlformats.org/officeDocument/2006/relationships/image" Target="../media/image22.png"/><Relationship Id="rId3" Type="http://schemas.openxmlformats.org/officeDocument/2006/relationships/tags" Target="../tags/tag13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21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20.png"/><Relationship Id="rId5" Type="http://schemas.openxmlformats.org/officeDocument/2006/relationships/tags" Target="../tags/tag15.xml"/><Relationship Id="rId10" Type="http://schemas.openxmlformats.org/officeDocument/2006/relationships/image" Target="../media/image19.png"/><Relationship Id="rId4" Type="http://schemas.openxmlformats.org/officeDocument/2006/relationships/tags" Target="../tags/tag14.xml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19.xml"/><Relationship Id="rId7" Type="http://schemas.openxmlformats.org/officeDocument/2006/relationships/image" Target="../media/image24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5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 function that needs to be calculated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58368" y="2279952"/>
            <a:ext cx="6638544" cy="1597104"/>
          </a:xfrm>
        </p:spPr>
        <p:txBody>
          <a:bodyPr/>
          <a:lstStyle/>
          <a:p>
            <a:r>
              <a:rPr lang="en-US" dirty="0"/>
              <a:t>Hypergeometric Function</a:t>
            </a:r>
          </a:p>
        </p:txBody>
      </p:sp>
    </p:spTree>
    <p:extLst>
      <p:ext uri="{BB962C8B-B14F-4D97-AF65-F5344CB8AC3E}">
        <p14:creationId xmlns:p14="http://schemas.microsoft.com/office/powerpoint/2010/main" val="381008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14" y="2591473"/>
            <a:ext cx="10122972" cy="1131276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Hypergeometric function to be calculated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6D446-22A8-43D6-A119-BCF5B9D5A3E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07467" y="5348859"/>
            <a:ext cx="8977066" cy="10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54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Asymptotic Form</a:t>
            </a:r>
          </a:p>
        </p:txBody>
      </p:sp>
      <p:pic>
        <p:nvPicPr>
          <p:cNvPr id="37" name="Picture 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20" y="1865581"/>
            <a:ext cx="9827961" cy="650971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00" y="4382133"/>
            <a:ext cx="11912000" cy="61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33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/>
          <a:lstStyle/>
          <a:p>
            <a:r>
              <a:rPr lang="en-US" dirty="0"/>
              <a:t>2. Asymptotic Form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075" y="1865581"/>
            <a:ext cx="7276501" cy="6363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571" y="4382133"/>
            <a:ext cx="6016004" cy="59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27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7" y="1957895"/>
            <a:ext cx="12091427" cy="758857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Asymptotic Form</a:t>
            </a:r>
          </a:p>
        </p:txBody>
      </p:sp>
    </p:spTree>
    <p:extLst>
      <p:ext uri="{BB962C8B-B14F-4D97-AF65-F5344CB8AC3E}">
        <p14:creationId xmlns:p14="http://schemas.microsoft.com/office/powerpoint/2010/main" val="322072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Asymptotic Form</a:t>
            </a:r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950" y="1910646"/>
            <a:ext cx="3273143" cy="30323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93" y="4762455"/>
            <a:ext cx="10793145" cy="18575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620" y="2671458"/>
            <a:ext cx="6776381" cy="151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7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Asymptotic Form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E7FFE7FF-7DE5-4494-B77C-CD1AA1BE90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281524" y="1887288"/>
            <a:ext cx="5628952" cy="6080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8C7650A7-DE3C-4A3D-9256-84EA942C9A5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875811" y="3456330"/>
            <a:ext cx="8397715" cy="74514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32D3BB53-BDDC-4AFC-92DC-C46F4E9A952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518095" y="5831998"/>
            <a:ext cx="6688003" cy="668953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4876F9CC-EFFB-4E55-A173-C961B93E9FD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21904" y="4548835"/>
            <a:ext cx="10307046" cy="74514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EE2E48C-6DF3-4FA8-8926-B394A63B81E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123401" y="2614310"/>
            <a:ext cx="1406477" cy="6080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38DBE19-C7D9-4608-B697-AF9C071C4F5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862096" y="2873572"/>
            <a:ext cx="1950477" cy="25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49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/>
              <a:t>Asymptotic </a:t>
            </a:r>
            <a:r>
              <a:rPr lang="en-US" dirty="0"/>
              <a:t>Form </a:t>
            </a:r>
            <a:r>
              <a:rPr lang="en-US"/>
              <a:t>– Final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143" y="2173535"/>
            <a:ext cx="4909714" cy="4548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28" y="3695424"/>
            <a:ext cx="10793145" cy="85485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571" y="5617312"/>
            <a:ext cx="5718858" cy="66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279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Buchholz Polynomial Form -- I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65" y="2125840"/>
            <a:ext cx="9918172" cy="26063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66" y="5185585"/>
            <a:ext cx="3261715" cy="146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869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Buchholz Polynomial Form -- II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12" y="2257000"/>
            <a:ext cx="8888001" cy="2344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71" y="5174155"/>
            <a:ext cx="3211429" cy="146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296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Buchholz Polynomial Form -- III</a:t>
            </a:r>
          </a:p>
        </p:txBody>
      </p:sp>
      <p:pic>
        <p:nvPicPr>
          <p:cNvPr id="4" name="Picture 3" descr="\documentclass{article}&#10;\usepackage{amsmath,bm}&#10;\pagestyle{empty}&#10;\begin{document}&#10;&#10;\begin{align*}&#10;h_{j}\left(Z\right)&#10;= &amp;&#10;{{_1}F_1}\left(\frac{j}{2};\frac{1}{2};Z^2\right)&#10;-2Z&#10;\frac{\Gamma\left(\frac{j+1}{2}\right)}{\Gamma\left(\frac{j}{2}\right)}&#10;{{_1}F_1}\left(\frac{j+1}{2};\frac{3}{2};Z^2\right) \\&#10;= &amp;&#10;\mathrm{e}^{Z^2/2}&#10;\left[&#10;\cos\left(Q\right)&#10;+&#10;Z\sum_{k=0}&#10;\left(&#10;Z D_{k+1}&#10;-2 \left(\frac{\Gamma\left(\frac{j+1}{2}\right)}{\Gamma\left(\frac{j}{2}\right)}\right)E_{k}&#10;\right)&#10;\left(\frac{Z^2}{Q}\right)^{k}&#10;j_{k}\left(Q\right)&#10;\right]&#10;\end{align*}&#10;&#10;\end{document}" title="IguanaTex Bitmap Display">
            <a:extLst>
              <a:ext uri="{FF2B5EF4-FFF2-40B4-BE49-F238E27FC236}">
                <a16:creationId xmlns:a16="http://schemas.microsoft.com/office/drawing/2014/main" id="{12EA9363-AF78-4CF6-81C9-261606EFEB4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89143" y="2382729"/>
            <a:ext cx="6330290" cy="1176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622" y="5015532"/>
            <a:ext cx="1290286" cy="22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339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7.9565"/>
  <p:tag name="ORIGINALWIDTH" val="3113.611"/>
  <p:tag name="LATEXADDIN" val="\documentclass{article}&#10;\usepackage{amsmath,bm}&#10;\pagestyle{empty}&#10;\begin{document}&#10;&#10;\begin{equation*}&#10;h_{j}\left(Z\right)&#10;=&#10;{{_1}F_1}\left(\frac{j}{2};\frac{1}{2};Z^2\right)&#10;-2Z&#10;\frac{\Gamma\left(\frac{j+1}{2}\right)}{\Gamma\left(\frac{j}{2}\right)}&#10;{{_1}F_1}\left(\frac{j+1}{2};\frac{3}{2};Z^2\right)&#10;\end{equation*}&#10;&#10;\end{document}"/>
  <p:tag name="IGUANATEXSIZE" val="32"/>
  <p:tag name="IGUANATEXCURSOR" val="175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3.9595"/>
  <p:tag name="ORIGINALWIDTH" val="2761.155"/>
  <p:tag name="LATEXADDIN" val="\documentclass{article}&#10;\usepackage{amsmath,bm}&#10;\pagestyle{empty}&#10;\begin{document}&#10;&#10;\begin{equation*}&#10;h_{\gamma}\left(Z\right)&#10;=&#10;\frac{\Gamma\left(\frac{\gamma+1}{2}\right)}{\sqrt{\pi}}&#10;U\left(\frac{\gamma}{2};\frac{1}{2};Z^{2}\right)&#10;\quad\quad&#10;\text{for }\mbox{Re}\left(Z\right) &gt; 0&#10;\end{equation*}&#10;&#10;\end{document}"/>
  <p:tag name="IGUANATEXSIZE" val="32"/>
  <p:tag name="IGUANATEXCURSOR" val="28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0.4499"/>
  <p:tag name="ORIGINALWIDTH" val="6045.744"/>
  <p:tag name="LATEXADDIN" val="\documentclass{article}&#10;\usepackage{amsmath,bm}&#10;\pagestyle{empty}&#10;\begin{document}&#10;&#10;\begin{equation*}&#10;{{_1}F_1}\left(\frac{j}{2};\frac{1}{2};Z^2\right)&#10;=&#10;\frac{&#10;\Gamma\left(\frac{1}{2}\right)\mathrm{e}^{Z^2}\left(Z^2\right)^{\frac{j-1}{2}}&#10;}{&#10;\Gamma\left(\frac{j}{2}\right)&#10;}&#10;\sum_{k=0} \frac{\left(\frac{1-j}{2}\right)_{k}\left(\frac{2-j}{2}\right)_{k}}{k!}\left(Z^2\right)^{-k}&#10;+&#10;\frac{&#10;\Gamma\left(\frac{1}{2}\right)\mathrm{e}^{\pm \mathrm{i}\pi \frac{j}{2}}\left(Z^2\right)^{-\frac{j}{2}}&#10;}{&#10;\Gamma\left(\frac{1-j}{2}\right)&#10;}&#10;\sum_{k=0} \frac{\left(\frac{j}{2}\right)_{k}\left(\frac{1+j}{2}\right)_{k}}{k!}\left(-Z^2\right)^{-k}&#10;\end{equation*}&#10;&#10;\end{document}"/>
  <p:tag name="IGUANATEXSIZE" val="16"/>
  <p:tag name="IGUANATEXCURSOR" val="480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0.4499"/>
  <p:tag name="ORIGINALWIDTH" val="7816.273"/>
  <p:tag name="LATEXADDIN" val="\documentclass{article}&#10;\usepackage{amsmath,bm}&#10;\pagestyle{empty}&#10;\begin{document}&#10;&#10;\begin{equation*}&#10;2Z\frac{\Gamma\left(\frac{j+1}{2}\right)}{\Gamma\left(\frac{j}{2}\right)}&#10;{{_1}F_1}\left(\frac{j+1}{2};\frac{3}{2};Z^2\right)&#10;=&#10;\frac{&#10;2\Gamma\left(\frac{3}{2}\right)\mathrm{e}^{Z^2}Z\left(Z^2\right)^{\frac{j-2}{2}}&#10;}{&#10;\Gamma\left(\frac{j}{2}\right)&#10;}&#10;\sum_{k=0} \frac{\left(\frac{1-j}{2}\right)_{k}\left(\frac{2-j}{2}\right)_{k}}{k!}\left(Z^2\right)^{-k}&#10;+&#10;\frac{&#10;2\Gamma\left(\frac{3}{2}\right)\Gamma\left(\frac{j+1}{2}\right)\mathrm{e}^{\pm \mathrm{i}\pi \frac{j+1}{2}}Z\left(Z^2\right)^{-\frac{j+1}{2}}&#10;}{&#10;\Gamma\left(\frac{j}{2}\right)\Gamma\left(\frac{2-j}{2}\right)&#10;}&#10;\sum_{k=0} \frac{\left(\frac{j}{2}\right)_{k}\left(\frac{1+j}{2}\right)_{k}}{k!}\left(-Z^2\right)^{-k}&#10;\end{equation*}&#10;&#10;\end{document}"/>
  <p:tag name="IGUANATEXSIZE" val="15"/>
  <p:tag name="IGUANATEXCURSOR" val="63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1.4511"/>
  <p:tag name="ORIGINALWIDTH" val="4476.19"/>
  <p:tag name="LATEXADDIN" val="\documentclass{article}&#10;\usepackage{amsmath,bm}&#10;\pagestyle{empty}&#10;\begin{document}&#10;&#10;\begin{equation*}&#10;\frac{&#10;\Gamma\left(\frac{1}{2}\right)\mathrm{e}^{Z^2}\left(Z^2\right)^{\frac{j-1}{2}}&#10;}{&#10;\Gamma\left(\frac{j}{2}\right)&#10;}&#10;-&#10;\frac{&#10;2\Gamma\left(\frac{3}{2}\right)\mathrm{e}^{Z^2}Z\left(Z^2\right)^{\frac{j-2}{2}}&#10;}{&#10;\Gamma\left(\frac{j}{2}\right)&#10;}&#10;=&#10;\frac{&#10;2\sqrt{\pi}\mathrm{e}^{Z^2}\left(-Z\right)^{j-1}&#10;}{&#10;\Gamma\left(\frac{j}{2}\right)&#10;}&#10;\left(&#10;\frac{1-\text{Sign}\left(\text{Re}\left(Z\right)\right)}{2}&#10;\right)&#10;\end{equation*}&#10;&#10;\end{document}"/>
  <p:tag name="IGUANATEXSIZE" val="16"/>
  <p:tag name="IGUANATEXCURSOR" val="393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91.4511"/>
  <p:tag name="ORIGINALWIDTH" val="3947.506"/>
  <p:tag name="LATEXADDIN" val="\documentclass{article}&#10;\usepackage{amsmath,bm}&#10;\pagestyle{empty}&#10;\begin{document}&#10;&#10;\begin{equation*}&#10;\frac{&#10;\Gamma\left(\frac{1}{2}\right)\mathrm{e}^{\pm \mathrm{i}\pi \frac{j}{2}}\left(Z^2\right)^{-\frac{j}{2}}&#10;}{&#10;\Gamma\left(\frac{1-j}{2}\right)&#10;}&#10;-&#10;\frac{&#10;2\Gamma\left(\frac{3}{2}\right)\Gamma\left(\frac{j+1}{2}\right)\mathrm{e}^{\pm \mathrm{i}\pi \frac{j+1}{2}}Z\left(Z^2\right)^{-\frac{j+1}{2}}&#10;}{&#10;\Gamma\left(\frac{j}{2}\right)\Gamma\left(\frac{2-j}{2}\right)&#10;}&#10;=&#10;\frac{\Gamma\left(\frac{j+1}{2}\right)Z^{-j}}{\sqrt{\pi}}&#10;\end{equation*}&#10;&#10;\end{document}"/>
  <p:tag name="IGUANATEXSIZE" val="15"/>
  <p:tag name="IGUANATEXCURSOR" val="51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5950.506"/>
  <p:tag name="LATEXADDIN" val="\documentclass{article}&#10;\usepackage{amsmath,bm}&#10;\pagestyle{empty}&#10;\begin{document}&#10;&#10;\begin{equation*}&#10;h_{j}\left(Z\right)&#10;=&#10;\sum_{k=0} &#10;\left(&#10;\frac{&#10;2\sqrt{\pi}\mathrm{e}^{Z^2}\left(-Z\right)^{j-1}&#10;}{&#10;\Gamma\left(\frac{j}{2}\right)&#10;}&#10;\left(&#10;\frac{1-\text{Sign}\left(\text{Re}\left(Z\right)\right)}{2}&#10;\right)&#10;\frac{\left(\frac{1-j}{2}\right)_{k}\left(\frac{2-j}{2}\right)_{k}}{k!}&#10;+&#10;\frac{\Gamma\left(\frac{j+1}{2}\right)Z^{-j}}{\sqrt{\pi}}&#10;\left(-1\right)^{k}\frac{\left(\frac{j}{2}\right)_{k}\left(\frac{1+j}{2}\right)_{k}}{k!}&#10;\right)\frac{1}{Z^{2k}}&#10;\end{equation*}&#10;&#10;\end{document}"/>
  <p:tag name="IGUANATEXSIZE" val="20"/>
  <p:tag name="IGUANATEXCURSOR" val="423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1610.799"/>
  <p:tag name="LATEXADDIN" val="\documentclass{article}&#10;\usepackage{amsmath,bm}&#10;\pagestyle{empty}&#10;\begin{document}&#10;&#10;\begin{equation*}&#10;h_{j}\left(Z\right)&#10;=&#10;\left(h_0\right)_{j}\left(Z\right)&#10;+&#10;\left(h_1\right)_{j}\left(Z\right)&#10;\end{equation*}&#10;&#10;\end{document}"/>
  <p:tag name="IGUANATEXSIZE" val="20"/>
  <p:tag name="IGUANATEXCURSOR" val="16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4.1357"/>
  <p:tag name="ORIGINALWIDTH" val="5311.586"/>
  <p:tag name="LATEXADDIN" val="\documentclass{article}&#10;\usepackage{amsmath,bm}&#10;\pagestyle{empty}&#10;\begin{document}&#10;&#10;\begin{align*}&#10;\left(h_0\right)_{j}\left(Z\right)&#10;&amp; =&#10;\frac{&#10;2\sqrt{\pi}\mathrm{e}^{Z^2}\left(-Z\right)^{j-1}&#10;}{&#10;\Gamma\left(\frac{j}{2}\right)&#10;}&#10;\left(&#10;\frac{1-\text{Sign}\left(\text{Re}\left(Z\right)\right)}{2}&#10;\right)&#10;\sum_{k=0}^{\left\lfloor\frac{j+1}{2}\right\rfloor-1}&#10;\frac{\Gamma\left(j\right)}{\Gamma\left(j-2k\right)\Gamma\left(k+1\right)}\frac{1}{\left(2Z\right)^{2k}} \\&#10;&amp; =&#10;\left(&#10;\frac{1-\text{Sign}\left(\text{Re}\left(Z\right)\right)}{2}&#10;\right)&#10;2\left(-1\right)^{j-1}\Gamma\left(\frac{j+1}{2}\right)\mathrm{e}^{Z^2}\left(2Z\right)^{j-1}&#10;\sum_{k=0}^{\left\lfloor\frac{j+1}{2}\right\rfloor-1}&#10;\frac{1}{\left(j-1-2k\right)!k!}\left(2Z\right)^{-2k}&#10;\end{align*}&#10;&#10;\end{document}"/>
  <p:tag name="IGUANATEXSIZE" val="20"/>
  <p:tag name="IGUANATEXCURSOR" val="713"/>
  <p:tag name="TRANSPARENCY" val="False"/>
  <p:tag name="FILENAME" val=""/>
  <p:tag name="LATEXENGINEID" val="0"/>
  <p:tag name="TEMPFOLDER" val="D:\Temp\"/>
  <p:tag name="LATEXFORMHEIGHT" val="525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6.1567"/>
  <p:tag name="ORIGINALWIDTH" val="3334.833"/>
  <p:tag name="LATEXADDIN" val="\documentclass{article}&#10;\usepackage{amsmath,bm}&#10;\pagestyle{empty}&#10;\begin{document}&#10;&#10;\begin{align*}&#10;\left(h_1\right)_{j}\left(Z\right)&#10;= &amp;&#10;\frac{\Gamma\left(\frac{j+1}{2}\right)Z^{-j}}{\sqrt{\pi}}&#10;\sum_{k=0}&#10;\left(-1\right)^{k}&#10;\frac{&#10;\Gamma\left(\frac{j}{2}+k\right)\Gamma\left(\frac{1+j}{2}+k\right)&#10;}{&#10;\Gamma\left(\frac{j}{2}\right)\Gamma\left(\frac{1+j}{2}\right)\Gamma\left(k+1\right)&#10;}&#10;\frac{1}{Z^{2k}} \\&#10;= &amp;&#10;\frac{ 2 }{ \Gamma\left(\frac{j}{2}\right) }&#10;\sum_{k=0}&#10;\left(-1\right)^{k}&#10;\frac{&#10;\left(j-1+2k\right)!&#10;}{&#10;\left(k\right)!&#10;}&#10;\left(2Z\right)^{-2k-j} \\&#10;\end{align*}&#10;&#10;\end{document}"/>
  <p:tag name="IGUANATEXSIZE" val="20"/>
  <p:tag name="IGUANATEXCURSOR" val="522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2770.154"/>
  <p:tag name="LATEXADDIN" val="\documentclass{article}&#10;\usepackage{amsmath,bm}&#10;\pagestyle{empty}&#10;\begin{document}&#10;&#10;\begin{equation*}&#10;h_{j}\left(Z\right)&#10;=&#10;\left(&#10;\frac{1-\text{Sign}\left(\text{Re}\left(Z\right)\right)}{2}&#10;\right)&#10;\left(h_0\right)_{j}\left(Z\right)&#10;+&#10;\left(h_1\right)_{j}\left(Z\right)&#10;\end{equation*}&#10;&#10;\end{document}"/>
  <p:tag name="IGUANATEXSIZE" val="20"/>
  <p:tag name="IGUANATEXCURSOR" val="19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.7042"/>
  <p:tag name="ORIGINALWIDTH" val="4132.733"/>
  <p:tag name="LATEXADDIN" val="\documentclass{article}&#10;\usepackage{amsmath,bm}&#10;\pagestyle{empty}&#10;\begin{document}&#10;&#10;\begin{equation*}&#10;\left|2Z\right| &gt; 1&#10;\quad\quad&#10;\left(h_0\right)_{j}\left(Z\right)&#10;=&#10;2\frac{\Gamma\left(\frac{j+1}{2}\right)}{\Gamma\left(j\right)}\mathrm{e}^{Z^2}\left(-2Z\right)^{j-1}&#10;\sum_{k=0}^{N-1}&#10;\frac{\left(j-1\right)!}{\left(j-1-2k\right)!k!}\left(2Z\right)^{-2k}&#10;\end{equation*}&#10;&#10;\end{document}"/>
  <p:tag name="IGUANATEXSIZE" val="20"/>
  <p:tag name="IGUANATEXCURSOR" val="232"/>
  <p:tag name="TRANSPARENCY" val="False"/>
  <p:tag name="FILENAME" val=""/>
  <p:tag name="LATEXENGINEID" val="0"/>
  <p:tag name="TEMPFOLDER" val="c:\temp\"/>
  <p:tag name="LATEXFORMHEIGHT" val="525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3291.339"/>
  <p:tag name="LATEXADDIN" val="\documentclass{article}&#10;\usepackage{amsmath,bm}&#10;\pagestyle{empty}&#10;\begin{document}&#10;&#10;\begin{equation*}&#10;\left(h_1\right)_{j}\left(Z\right)&#10;=&#10;\frac{ 2\left(j-1\right)! }{ \Gamma\left(\frac{j}{2}\right) }&#10;\left(2Z\right)^{-j}&#10;\sum_{k=0}&#10;\left(-1\right)^{k}&#10;\frac{&#10;\left(j-1+2k\right)!&#10;}{&#10;\left(j-1\right)\left(k\right)!&#10;}&#10;\left(2Z\right)^{-2k}&#10;\end{equation*}&#10;&#10;\end{document}"/>
  <p:tag name="IGUANATEXSIZE" val="20"/>
  <p:tag name="IGUANATEXCURSOR" val="16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6.7042"/>
  <p:tag name="ORIGINALWIDTH" val="5072.366"/>
  <p:tag name="LATEXADDIN" val="\documentclass{article}&#10;\usepackage{amsmath,bm}&#10;\pagestyle{empty}&#10;\begin{document}&#10;&#10;\begin{equation*}&#10;\left|2Z\right| &lt; 1&#10;\quad\quad&#10;\left(h_0\right)_{j}\left(Z\right)&#10;=&#10;2\left(-1\right)^{j-1}&#10;\frac&#10;{\Gamma\left(2N+d\right)}&#10;{\Gamma\left(d+1\right)\Gamma\left(N\right)}&#10;\mathrm{e}^{Z^2}\left(2Z\right)^{d}&#10;\sum_{k=0}^{N-1}&#10;\frac&#10;{d!(N-1)!}&#10;{\left(d+2k\right)!(N-1-k)!}&#10;\left(2Z\right)^{2k}&#10;\end{equation*}&#10;&#10;\end{document}"/>
  <p:tag name="IGUANATEXSIZE" val="20"/>
  <p:tag name="IGUANATEXCURSOR" val="192"/>
  <p:tag name="TRANSPARENCY" val="False"/>
  <p:tag name="FILENAME" val=""/>
  <p:tag name="LATEXENGINEID" val="0"/>
  <p:tag name="TEMPFOLDER" val="c:\temp\"/>
  <p:tag name="LATEXFORMHEIGHT" val="525"/>
  <p:tag name="LATEXFORMWIDTH" val="938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692.1635"/>
  <p:tag name="LATEXADDIN" val="\documentclass{article}&#10;\usepackage{amsmath,bm}&#10;\pagestyle{empty}&#10;\begin{document}&#10;&#10;\begin{equation*}&#10;N&#10;=&#10;\left\lfloor\frac{j+1}{2}\right\rfloor&#10;\end{equation*}&#10;&#10;\end{document}"/>
  <p:tag name="IGUANATEXSIZE" val="20"/>
  <p:tag name="IGUANATEXCURSOR" val="161"/>
  <p:tag name="TRANSPARENCY" val="True"/>
  <p:tag name="FILENAME" val=""/>
  <p:tag name="LATEXENGINEID" val="0"/>
  <p:tag name="TEMPFOLDER" val="c:\temp\"/>
  <p:tag name="LATEXFORMHEIGHT" val="525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959.88"/>
  <p:tag name="LATEXADDIN" val="\documentclass{article}&#10;\usepackage{amsmath,bm}&#10;\pagestyle{empty}&#10;\begin{document}&#10;&#10;\begin{equation*}&#10;d&#10;=&#10;(j+1)\bmod 2&#10;\end{equation*}&#10;&#10;\end{document}"/>
  <p:tag name="IGUANATEXSIZE" val="20"/>
  <p:tag name="IGUANATEXCURSOR" val="118"/>
  <p:tag name="TRANSPARENCY" val="True"/>
  <p:tag name="FILENAME" val=""/>
  <p:tag name="LATEXENGINEID" val="0"/>
  <p:tag name="TEMPFOLDER" val="c:\temp\"/>
  <p:tag name="LATEXFORMHEIGHT" val="525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1610.799"/>
  <p:tag name="LATEXADDIN" val="\documentclass{article}&#10;\usepackage{amsmath,bm}&#10;\pagestyle{empty}&#10;\begin{document}&#10;&#10;\begin{equation*}&#10;h_{j}\left(Z\right)&#10;=&#10;\left(h_0\right)_{j}\left(Z\right)&#10;+&#10;\left(h_1\right)_{j}\left(Z\right)&#10;\end{equation*}&#10;&#10;\end{document}"/>
  <p:tag name="IGUANATEXSIZE" val="30"/>
  <p:tag name="IGUANATEXCURSOR" val="161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0.6974"/>
  <p:tag name="ORIGINALWIDTH" val="5311.586"/>
  <p:tag name="LATEXADDIN" val="\documentclass{article}&#10;\usepackage{amsmath,bm}&#10;\pagestyle{empty}&#10;\begin{document}&#10;&#10;\begin{equation*}&#10;\left(h_0\right)_{j}\left(Z\right)&#10;=&#10;\left(&#10;\frac{1-\text{Sign}\left(\text{Re}\left(Z\right)\right)}{2}&#10;\right)&#10;2\left(-1\right)^{j-1}\Gamma\left(\frac{j+1}{2}\right)\mathrm{e}^{Z^2}\left(2Z\right)^{j-1}&#10;\sum_{k=0}^{\left\lfloor\frac{j+1}{2}\right\rfloor-1}&#10;\frac{1}{\left(j-1-2k\right)!k!}\left(2Z\right)^{-2k}&#10;\end{equation*}&#10;&#10;\end{document}"/>
  <p:tag name="IGUANATEXSIZE" val="20"/>
  <p:tag name="IGUANATEXCURSOR" val="427"/>
  <p:tag name="TRANSPARENCY" val="False"/>
  <p:tag name="FILENAME" val=""/>
  <p:tag name="LATEXENGINEID" val="0"/>
  <p:tag name="TEMPFOLDER" val="D:\Temp\"/>
  <p:tag name="LATEXFORMHEIGHT" val="525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9.2088"/>
  <p:tag name="ORIGINALWIDTH" val="2814.398"/>
  <p:tag name="LATEXADDIN" val="\documentclass{article}&#10;\usepackage{amsmath,bm}&#10;\pagestyle{empty}&#10;\begin{document}&#10;&#10;\begin{equation*}&#10;\left(h_1\right)_{j}\left(Z\right)&#10;=&#10;\frac{ 2 }{ \Gamma\left(\frac{j}{2}\right) }&#10;\sum_{k=0}&#10;\left(-1\right)^{k}&#10;\frac{&#10;\left(j-1+2k\right)!&#10;}{&#10;\left(k\right)!&#10;}&#10;\left(2Z\right)^{-2k-j}&#10;\end{equation*}&#10;&#10;\end{document}"/>
  <p:tag name="IGUANATEXSIZE" val="20"/>
  <p:tag name="IGUANATEXCURSOR" val="138"/>
  <p:tag name="TRANSPARENCY" val="True"/>
  <p:tag name="FILENAME" val=""/>
  <p:tag name="LATEXENGINEID" val="0"/>
  <p:tag name="TEMPFOLDER" val="D:\Temp\"/>
  <p:tag name="LATEXFORMHEIGHT" val="463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03.3"/>
  <p:tag name="ORIGINALWIDTH" val="6101.237"/>
  <p:tag name="LATEXADDIN" val="\documentclass{article}&#10;\usepackage{amsmath,bm}&#10;\pagestyle{empty}&#10;\begin{document}&#10;&#10;\begin{align*}&#10;{{_1}F_1}\left(\frac{j}{2};\frac{1}{2};Z^2\right)&#10;= &amp;&#10;\Gamma\left(\frac{1}{2}\right)&#10;\mathrm{e}^{Z^2/2}&#10;2^{-1/2}&#10;\sum_{k=0}&#10;D_{k}&#10;\frac{&#10;J_{k-1/2}\left(\sqrt{Z^2\left(1-2j\right)}\right)&#10;}{&#10;\left(\sqrt{Z^2\left(1-2j\right)}\right)^{k-1/2}&#10;} \\&#10;= &amp; \sqrt{\frac{\pi}{2}}&#10;\mathrm{e}^{Z^2/2}&#10;\left(&#10;\frac{&#10;J_{-1/2}\left(\sqrt{Z^2\left(1-2j\right)}\right)&#10;}{&#10;\left(\sqrt{Z^2\left(1-2j\right)}\right)^{-1/2}&#10;}&#10;+&#10;Z\sum_{k=0}&#10;Z D_{k+1}&#10;\left(\frac{Z^2}{\sqrt{Z^2\left(1-2j\right)}}\right)^{k}&#10;\frac{&#10;J_{k+1/2}\left(\sqrt{Z^2\left(1-2j\right)}\right)&#10;}{&#10;\left(\sqrt{Z^2\left(1-2j\right)}\right)^{1/2}&#10;}&#10;\right) \\&#10;= &amp;&#10;\mathrm{e}^{Z^2/2}&#10;\left(&#10;\cos\left(\sqrt{Z^2\left(1-2j\right)}\right)&#10;+&#10;Z\sum_{k=0}&#10;Z D_{k+1}&#10;\left(\frac{Z^2}{\sqrt{Z^2\left(1-2j\right)}}\right)^{k}&#10;j_{k}\left(\sqrt{Z^2\left(1-2j\right)}\right)&#10;\right)&#10;\end{align*}&#10;&#10;\end{document}"/>
  <p:tag name="IGUANATEXSIZE" val="16"/>
  <p:tag name="IGUANATEXCURSOR" val="228"/>
  <p:tag name="TRANSPARENCY" val="True"/>
  <p:tag name="FILENAME" val=""/>
  <p:tag name="LATEXENGINEID" val="0"/>
  <p:tag name="TEMPFOLDER" val="D:\Temp\"/>
  <p:tag name="LATEXFORMHEIGHT" val="597.75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4.3795"/>
  <p:tag name="ORIGINALWIDTH" val="2140.232"/>
  <p:tag name="LATEXADDIN" val="\documentclass{article}&#10;\usepackage{amsmath,bm}&#10;\pagestyle{empty}&#10;\begin{document}&#10;&#10;\begin{align*}&#10;D_{0} &amp; = 1 \\&#10;D_{1} &amp; = 0 \\&#10;D_{2} &amp; = \frac{1}{4} \\&#10;k D_{k} &amp; = \left(k-\frac{3}{2}\right)D_{k-2} +\left(j-\frac{1}{2}\right)D_{k-3}\\&#10;\end{align*}&#10;&#10;\end{document}"/>
  <p:tag name="IGUANATEXSIZE" val="15"/>
  <p:tag name="IGUANATEXCURSOR" val="234"/>
  <p:tag name="TRANSPARENCY" val="True"/>
  <p:tag name="FILENAME" val=""/>
  <p:tag name="LATEXENGINEID" val="0"/>
  <p:tag name="TEMPFOLDER" val="D:\Temp\"/>
  <p:tag name="LATEXFORMHEIGHT" val="554.25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38.058"/>
  <p:tag name="ORIGINALWIDTH" val="5832.021"/>
  <p:tag name="LATEXADDIN" val="\documentclass{article}&#10;\usepackage{amsmath,bm}&#10;\pagestyle{empty}&#10;\begin{document}&#10;&#10;\begin{align*}&#10;2Z\frac{\Gamma\left(\frac{j+1}{2}\right)}{\Gamma\left(\frac{j}{2}\right)}&#10;{{_1}F_1}\left(\frac{j+1}{2};\frac{3}{2};Z^2\right)&#10;= &amp;&#10;2\Gamma\left(\frac{3}{2}\right)&#10;\mathrm{e}^{Z^2/2}&#10;2^{+1/2}&#10;\left(\frac{\Gamma\left(\frac{j+1}{2}\right)}{\Gamma\left(\frac{j}{2}\right)}\right)&#10;\sum_{k=0}&#10;E_{k}&#10;Z^{2k+1}&#10;\frac{&#10;J_{k+1/2}\left(\sqrt{Z^2\left(1-2j\right)}\right)&#10;}{&#10;\left(\sqrt{Z^2\left(1-2j\right)}\right)^{k+1/2}&#10;} \\&#10;= &amp;&#10;\sqrt{\frac{\pi}{2}}&#10;\mathrm{e}^{Z^2/2}&#10;Z\sum_{k=0}&#10;2 \left(\frac{\Gamma\left(\frac{j+1}{2}\right)}{\Gamma\left(\frac{j}{2}\right)}\right)&#10;E_{k}&#10;\left(\frac{Z^2}{\sqrt{Z^2\left(1-2j\right)}}\right)^{k}&#10;\frac{&#10;J_{k+1/2}\left(\sqrt{Z^2\left(1-2j\right)}\right)&#10;}{&#10;\left(\sqrt{Z^2\left(1-2j\right)}\right)^{1/2}&#10;} \\&#10;= &amp;&#10;\mathrm{e}^{Z^2/2}&#10;Z\sum_{k=0}&#10;2 \left(\frac{\Gamma\left(\frac{j+1}{2}\right)}{\Gamma\left(\frac{j}{2}\right)}\right)&#10;E_{k}&#10;\left(\frac{Z^2}{\sqrt{Z^2\left(1-2j\right)}}\right)^{k}&#10;j_{k}\left(\sqrt{Z^2\left(1-2j\right)}\right)&#10;\end{align*}&#10;&#10;\end{document}"/>
  <p:tag name="IGUANATEXSIZE" val="15"/>
  <p:tag name="IGUANATEXCURSOR" val="390"/>
  <p:tag name="TRANSPARENCY" val="True"/>
  <p:tag name="FILENAME" val=""/>
  <p:tag name="LATEXENGINEID" val="0"/>
  <p:tag name="TEMPFOLDER" val="D:\Temp\"/>
  <p:tag name="LATEXFORMHEIGHT" val="676.5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4.3795"/>
  <p:tag name="ORIGINALWIDTH" val="2107.237"/>
  <p:tag name="LATEXADDIN" val="\documentclass{article}&#10;\usepackage{amsmath,bm}&#10;\pagestyle{empty}&#10;\begin{document}&#10;&#10;\begin{align*}&#10;E_{0} &amp; = 1 \\&#10;E_{1} &amp; = 0 \\&#10;E_{2} &amp; = \frac{3}{4} \\&#10;k E_{k} &amp; = \left(k-\frac{1}{2}\right)E_{k-2} + \left(j-\frac{1}{2}\right)E_{k-3} \\&#10;\end{align*}&#10;&#10;\end{document}"/>
  <p:tag name="IGUANATEXSIZE" val="15"/>
  <p:tag name="IGUANATEXCURSOR" val="236"/>
  <p:tag name="TRANSPARENCY" val="True"/>
  <p:tag name="FILENAME" val=""/>
  <p:tag name="LATEXENGINEID" val="0"/>
  <p:tag name="TEMPFOLDER" val="D:\Temp\"/>
  <p:tag name="LATEXFORMHEIGHT" val="554.25"/>
  <p:tag name="LATEXFORMWIDTH" val="938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71.6536"/>
  <p:tag name="ORIGINALWIDTH" val="4153.73"/>
  <p:tag name="OUTPUTTYPE" val="PNG"/>
  <p:tag name="IGUANATEXVERSION" val="159"/>
  <p:tag name="LATEXADDIN" val="\documentclass{article}&#10;\usepackage{amsmath,bm}&#10;\pagestyle{empty}&#10;\begin{document}&#10;&#10;\begin{align*}&#10;h_{j}\left(Z\right)&#10;= &amp;&#10;{{_1}F_1}\left(\frac{j}{2};\frac{1}{2};Z^2\right)&#10;-2Z&#10;\frac{\Gamma\left(\frac{j+1}{2}\right)}{\Gamma\left(\frac{j}{2}\right)}&#10;{{_1}F_1}\left(\frac{j+1}{2};\frac{3}{2};Z^2\right) \\&#10;= &amp;&#10;\mathrm{e}^{Z^2/2}&#10;\left[&#10;\cos\left(Q\right)&#10;+&#10;Z\sum_{k=0}&#10;\left(&#10;Z D_{k+1}&#10;-2 \left(\frac{\Gamma\left(\frac{j+1}{2}\right)}{\Gamma\left(\frac{j}{2}\right)}\right)E_{k}&#10;\right)&#10;\left(\frac{Z^2}{Q}\right)^{k}&#10;j_{k}\left(Q\right)&#10;\right]&#10;\end{align*}&#10;&#10;\end{document}"/>
  <p:tag name="IGUANATEXSIZE" val="15"/>
  <p:tag name="IGUANATEXCURSOR" val="174"/>
  <p:tag name="TRANSPARENCY" val="True"/>
  <p:tag name="FILENAME" val=""/>
  <p:tag name="LATEXENGINEID" val="0"/>
  <p:tag name="TEMPFOLDER" val="C:\iguanatex\"/>
  <p:tag name="LATEXFORMHEIGHT" val="554.25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846.6442"/>
  <p:tag name="LATEXADDIN" val="\documentclass{article}&#10;\usepackage{amsmath,bm}&#10;\pagestyle{empty}&#10;\begin{document}&#10;&#10;\begin{equation*}&#10;Q = \mathrm{i}Z\sqrt{2j-1}&#10;\end{equation*}&#10;&#10;\end{document}"/>
  <p:tag name="IGUANATEXSIZE" val="15"/>
  <p:tag name="IGUANATEXCURSOR" val="103"/>
  <p:tag name="TRANSPARENCY" val="True"/>
  <p:tag name="FILENAME" val=""/>
  <p:tag name="LATEXENGINEID" val="0"/>
  <p:tag name="TEMPFOLDER" val="D:\Temp\"/>
  <p:tag name="LATEXFORMHEIGHT" val="554.25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50854</TotalTime>
  <Words>405</Words>
  <Application>Microsoft Office PowerPoint</Application>
  <PresentationFormat>Widescreen</PresentationFormat>
  <Paragraphs>32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Georgia</vt:lpstr>
      <vt:lpstr>Gill Sans MT</vt:lpstr>
      <vt:lpstr>LucidaGrande</vt:lpstr>
      <vt:lpstr>UB Powerpoint Template</vt:lpstr>
      <vt:lpstr>Hypergeometric Function</vt:lpstr>
      <vt:lpstr>Hypergeometric function to be calculated</vt:lpstr>
      <vt:lpstr>1. Asymptotic Form</vt:lpstr>
      <vt:lpstr>2. Asymptotic Form</vt:lpstr>
      <vt:lpstr>3. Asymptotic Form</vt:lpstr>
      <vt:lpstr>4. Asymptotic Form</vt:lpstr>
      <vt:lpstr>5. Asymptotic Form </vt:lpstr>
      <vt:lpstr>6. Asymptotic Form – Final</vt:lpstr>
      <vt:lpstr>Buchholz Polynomial Form -- I</vt:lpstr>
      <vt:lpstr>Buchholz Polynomial Form -- II</vt:lpstr>
      <vt:lpstr>Buchholz Polynomial Form -- III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2523</cp:revision>
  <cp:lastPrinted>2016-07-18T17:32:49Z</cp:lastPrinted>
  <dcterms:created xsi:type="dcterms:W3CDTF">2016-06-28T14:05:07Z</dcterms:created>
  <dcterms:modified xsi:type="dcterms:W3CDTF">2022-05-28T18:18:04Z</dcterms:modified>
  <cp:category/>
</cp:coreProperties>
</file>