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9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8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9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20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5"/>
  </p:notesMasterIdLst>
  <p:handoutMasterIdLst>
    <p:handoutMasterId r:id="rId36"/>
  </p:handoutMasterIdLst>
  <p:sldIdLst>
    <p:sldId id="400" r:id="rId2"/>
    <p:sldId id="852" r:id="rId3"/>
    <p:sldId id="424" r:id="rId4"/>
    <p:sldId id="850" r:id="rId5"/>
    <p:sldId id="511" r:id="rId6"/>
    <p:sldId id="877" r:id="rId7"/>
    <p:sldId id="865" r:id="rId8"/>
    <p:sldId id="864" r:id="rId9"/>
    <p:sldId id="869" r:id="rId10"/>
    <p:sldId id="878" r:id="rId11"/>
    <p:sldId id="879" r:id="rId12"/>
    <p:sldId id="851" r:id="rId13"/>
    <p:sldId id="844" r:id="rId14"/>
    <p:sldId id="856" r:id="rId15"/>
    <p:sldId id="876" r:id="rId16"/>
    <p:sldId id="882" r:id="rId17"/>
    <p:sldId id="843" r:id="rId18"/>
    <p:sldId id="880" r:id="rId19"/>
    <p:sldId id="867" r:id="rId20"/>
    <p:sldId id="854" r:id="rId21"/>
    <p:sldId id="474" r:id="rId22"/>
    <p:sldId id="490" r:id="rId23"/>
    <p:sldId id="859" r:id="rId24"/>
    <p:sldId id="853" r:id="rId25"/>
    <p:sldId id="858" r:id="rId26"/>
    <p:sldId id="881" r:id="rId27"/>
    <p:sldId id="871" r:id="rId28"/>
    <p:sldId id="870" r:id="rId29"/>
    <p:sldId id="868" r:id="rId30"/>
    <p:sldId id="873" r:id="rId31"/>
    <p:sldId id="874" r:id="rId32"/>
    <p:sldId id="875" r:id="rId33"/>
    <p:sldId id="256" r:id="rId34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87B00"/>
    <a:srgbClr val="E2A100"/>
    <a:srgbClr val="FFC11F"/>
    <a:srgbClr val="005AC0"/>
    <a:srgbClr val="FFFFFF"/>
    <a:srgbClr val="7030A0"/>
    <a:srgbClr val="FF7F7F"/>
    <a:srgbClr val="00CC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780" autoAdjust="0"/>
  </p:normalViewPr>
  <p:slideViewPr>
    <p:cSldViewPr snapToGrid="0" snapToObjects="1">
      <p:cViewPr varScale="1">
        <p:scale>
          <a:sx n="113" d="100"/>
          <a:sy n="113" d="100"/>
        </p:scale>
        <p:origin x="28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3/6/2023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3/6/2023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26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85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201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77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52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For the authors, it remains an open question if these difficulties can be resolved by incorporating additional phenomenological corrections or if they are evidence of a more fundamental breakdown of the effective mass approximation itself</a:t>
            </a:r>
            <a:r>
              <a:rPr lang="en-US" sz="8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4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55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294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034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67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12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35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91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81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81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2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05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7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34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61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070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16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57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719A7-348F-43B6-BE97-0C3CE6EF5A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58368" y="6356350"/>
            <a:ext cx="7373112" cy="365125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514A31C-0F6A-4204-97D6-1710E0A1C9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58368" y="6356350"/>
            <a:ext cx="7373112" cy="365125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3C9B5F-CDF8-493F-A4D5-40A4181A72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E80471-5AED-4FDD-9B5F-FCAC9B8222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DCA22D-820A-4707-BD36-7354D3EB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7FD82-C8CF-40A9-8BA4-A52CCFCC08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8DAEF2-0824-494E-B347-515968D9C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https://gitlab.com/cantankerous-impurity/Documentation/-/tree/core/Presentations/MarchMeeting2023(LasVegas)</a:t>
            </a:r>
          </a:p>
        </p:txBody>
      </p:sp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272258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8.png"/><Relationship Id="rId5" Type="http://schemas.openxmlformats.org/officeDocument/2006/relationships/tags" Target="../tags/tag11.xml"/><Relationship Id="rId10" Type="http://schemas.openxmlformats.org/officeDocument/2006/relationships/image" Target="../media/image17.png"/><Relationship Id="rId4" Type="http://schemas.openxmlformats.org/officeDocument/2006/relationships/tags" Target="../tags/tag10.xml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4.xml"/><Relationship Id="rId7" Type="http://schemas.openxmlformats.org/officeDocument/2006/relationships/image" Target="../media/image19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2.png"/><Relationship Id="rId4" Type="http://schemas.openxmlformats.org/officeDocument/2006/relationships/tags" Target="../tags/tag15.xml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20.xml"/><Relationship Id="rId7" Type="http://schemas.openxmlformats.org/officeDocument/2006/relationships/image" Target="../media/image2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5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23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32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1.png"/><Relationship Id="rId5" Type="http://schemas.openxmlformats.org/officeDocument/2006/relationships/tags" Target="../tags/tag25.xml"/><Relationship Id="rId10" Type="http://schemas.openxmlformats.org/officeDocument/2006/relationships/image" Target="../media/image30.png"/><Relationship Id="rId4" Type="http://schemas.openxmlformats.org/officeDocument/2006/relationships/tags" Target="../tags/tag24.xml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13" Type="http://schemas.openxmlformats.org/officeDocument/2006/relationships/image" Target="../media/image37.png"/><Relationship Id="rId3" Type="http://schemas.openxmlformats.org/officeDocument/2006/relationships/tags" Target="../tags/tag2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36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35.png"/><Relationship Id="rId5" Type="http://schemas.openxmlformats.org/officeDocument/2006/relationships/tags" Target="../tags/tag30.xml"/><Relationship Id="rId10" Type="http://schemas.openxmlformats.org/officeDocument/2006/relationships/image" Target="../media/image34.png"/><Relationship Id="rId4" Type="http://schemas.openxmlformats.org/officeDocument/2006/relationships/tags" Target="../tags/tag29.xml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34.xml"/><Relationship Id="rId7" Type="http://schemas.openxmlformats.org/officeDocument/2006/relationships/image" Target="../media/image39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11.xml"/><Relationship Id="rId11" Type="http://schemas.openxmlformats.org/officeDocument/2006/relationships/image" Target="../media/image43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2.png"/><Relationship Id="rId4" Type="http://schemas.openxmlformats.org/officeDocument/2006/relationships/tags" Target="../tags/tag35.xml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38.xml"/><Relationship Id="rId7" Type="http://schemas.openxmlformats.org/officeDocument/2006/relationships/image" Target="../media/image48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7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53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52.png"/><Relationship Id="rId2" Type="http://schemas.openxmlformats.org/officeDocument/2006/relationships/tags" Target="../tags/tag40.xml"/><Relationship Id="rId16" Type="http://schemas.openxmlformats.org/officeDocument/2006/relationships/image" Target="../media/image56.pn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51.png"/><Relationship Id="rId5" Type="http://schemas.openxmlformats.org/officeDocument/2006/relationships/tags" Target="../tags/tag43.xml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tags" Target="../tags/tag42.xml"/><Relationship Id="rId9" Type="http://schemas.openxmlformats.org/officeDocument/2006/relationships/notesSlide" Target="../notesSlides/notesSlide15.xml"/><Relationship Id="rId1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48.xml"/><Relationship Id="rId7" Type="http://schemas.openxmlformats.org/officeDocument/2006/relationships/image" Target="../media/image57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0.png"/><Relationship Id="rId4" Type="http://schemas.openxmlformats.org/officeDocument/2006/relationships/tags" Target="../tags/tag49.xml"/><Relationship Id="rId9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tags" Target="../tags/tag75.xml"/><Relationship Id="rId39" Type="http://schemas.openxmlformats.org/officeDocument/2006/relationships/image" Target="../media/image64.png"/><Relationship Id="rId21" Type="http://schemas.openxmlformats.org/officeDocument/2006/relationships/tags" Target="../tags/tag70.xml"/><Relationship Id="rId34" Type="http://schemas.openxmlformats.org/officeDocument/2006/relationships/slideLayout" Target="../slideLayouts/slideLayout12.xml"/><Relationship Id="rId42" Type="http://schemas.openxmlformats.org/officeDocument/2006/relationships/image" Target="../media/image67.png"/><Relationship Id="rId47" Type="http://schemas.openxmlformats.org/officeDocument/2006/relationships/image" Target="../media/image72.png"/><Relationship Id="rId50" Type="http://schemas.openxmlformats.org/officeDocument/2006/relationships/image" Target="../media/image75.png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9" Type="http://schemas.openxmlformats.org/officeDocument/2006/relationships/tags" Target="../tags/tag78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32" Type="http://schemas.openxmlformats.org/officeDocument/2006/relationships/tags" Target="../tags/tag81.xml"/><Relationship Id="rId37" Type="http://schemas.openxmlformats.org/officeDocument/2006/relationships/image" Target="../media/image62.png"/><Relationship Id="rId40" Type="http://schemas.openxmlformats.org/officeDocument/2006/relationships/image" Target="../media/image65.png"/><Relationship Id="rId45" Type="http://schemas.openxmlformats.org/officeDocument/2006/relationships/image" Target="../media/image70.png"/><Relationship Id="rId53" Type="http://schemas.openxmlformats.org/officeDocument/2006/relationships/image" Target="../media/image78.png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31" Type="http://schemas.openxmlformats.org/officeDocument/2006/relationships/tags" Target="../tags/tag80.xml"/><Relationship Id="rId44" Type="http://schemas.openxmlformats.org/officeDocument/2006/relationships/image" Target="../media/image69.png"/><Relationship Id="rId52" Type="http://schemas.openxmlformats.org/officeDocument/2006/relationships/image" Target="../media/image77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notesSlide" Target="../notesSlides/notesSlide17.xml"/><Relationship Id="rId43" Type="http://schemas.openxmlformats.org/officeDocument/2006/relationships/image" Target="../media/image68.png"/><Relationship Id="rId48" Type="http://schemas.openxmlformats.org/officeDocument/2006/relationships/image" Target="../media/image73.png"/><Relationship Id="rId8" Type="http://schemas.openxmlformats.org/officeDocument/2006/relationships/tags" Target="../tags/tag57.xml"/><Relationship Id="rId51" Type="http://schemas.openxmlformats.org/officeDocument/2006/relationships/image" Target="../media/image76.png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image" Target="../media/image63.png"/><Relationship Id="rId46" Type="http://schemas.openxmlformats.org/officeDocument/2006/relationships/image" Target="../media/image71.png"/><Relationship Id="rId20" Type="http://schemas.openxmlformats.org/officeDocument/2006/relationships/tags" Target="../tags/tag69.xml"/><Relationship Id="rId41" Type="http://schemas.openxmlformats.org/officeDocument/2006/relationships/image" Target="../media/image66.png"/><Relationship Id="rId54" Type="http://schemas.openxmlformats.org/officeDocument/2006/relationships/image" Target="../media/image79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image" Target="../media/image61.png"/><Relationship Id="rId49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image" Target="../media/image80.png"/><Relationship Id="rId39" Type="http://schemas.openxmlformats.org/officeDocument/2006/relationships/image" Target="../media/image85.png"/><Relationship Id="rId21" Type="http://schemas.openxmlformats.org/officeDocument/2006/relationships/tags" Target="../tags/tag103.xml"/><Relationship Id="rId34" Type="http://schemas.openxmlformats.org/officeDocument/2006/relationships/image" Target="../media/image70.png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image" Target="../media/image61.png"/><Relationship Id="rId33" Type="http://schemas.openxmlformats.org/officeDocument/2006/relationships/image" Target="../media/image68.png"/><Relationship Id="rId38" Type="http://schemas.openxmlformats.org/officeDocument/2006/relationships/image" Target="../media/image84.png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image" Target="../media/image65.pn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notesSlide" Target="../notesSlides/notesSlide18.xml"/><Relationship Id="rId32" Type="http://schemas.openxmlformats.org/officeDocument/2006/relationships/image" Target="../media/image83.png"/><Relationship Id="rId37" Type="http://schemas.openxmlformats.org/officeDocument/2006/relationships/image" Target="../media/image76.png"/><Relationship Id="rId40" Type="http://schemas.openxmlformats.org/officeDocument/2006/relationships/image" Target="../media/image86.png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slideLayout" Target="../slideLayouts/slideLayout12.xml"/><Relationship Id="rId28" Type="http://schemas.openxmlformats.org/officeDocument/2006/relationships/image" Target="../media/image81.png"/><Relationship Id="rId36" Type="http://schemas.openxmlformats.org/officeDocument/2006/relationships/image" Target="../media/image74.png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image" Target="../media/image67.png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image" Target="../media/image63.png"/><Relationship Id="rId30" Type="http://schemas.openxmlformats.org/officeDocument/2006/relationships/image" Target="../media/image82.png"/><Relationship Id="rId35" Type="http://schemas.openxmlformats.org/officeDocument/2006/relationships/image" Target="../media/image72.png"/><Relationship Id="rId8" Type="http://schemas.openxmlformats.org/officeDocument/2006/relationships/tags" Target="../tags/tag90.xml"/><Relationship Id="rId3" Type="http://schemas.openxmlformats.org/officeDocument/2006/relationships/tags" Target="../tags/tag8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7" Type="http://schemas.openxmlformats.org/officeDocument/2006/relationships/image" Target="../media/image89.png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tags" Target="../tags/tag110.xml"/><Relationship Id="rId7" Type="http://schemas.openxmlformats.org/officeDocument/2006/relationships/image" Target="../media/image90.png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93.png"/><Relationship Id="rId4" Type="http://schemas.openxmlformats.org/officeDocument/2006/relationships/tags" Target="../tags/tag111.xml"/><Relationship Id="rId9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tags" Target="../tags/tag114.xml"/><Relationship Id="rId7" Type="http://schemas.openxmlformats.org/officeDocument/2006/relationships/image" Target="../media/image95.pn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94.png"/><Relationship Id="rId5" Type="http://schemas.openxmlformats.org/officeDocument/2006/relationships/notesSlide" Target="../notesSlides/notesSlide20.xml"/><Relationship Id="rId10" Type="http://schemas.openxmlformats.org/officeDocument/2006/relationships/image" Target="../media/image98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tags" Target="../tags/tag117.xml"/><Relationship Id="rId7" Type="http://schemas.openxmlformats.org/officeDocument/2006/relationships/image" Target="../media/image100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99.png"/><Relationship Id="rId5" Type="http://schemas.openxmlformats.org/officeDocument/2006/relationships/notesSlide" Target="../notesSlides/notesSlide21.xml"/><Relationship Id="rId10" Type="http://schemas.openxmlformats.org/officeDocument/2006/relationships/image" Target="../media/image98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ailto:lukepend@buffalo.edu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luke.pendo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24085" y="579095"/>
            <a:ext cx="10543830" cy="3044038"/>
          </a:xfr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800" dirty="0"/>
              <a:t>An open source software package to compare and extend effective mass models of the phosphorus donor in silicon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246277" y="4663292"/>
            <a:ext cx="7699446" cy="480131"/>
          </a:xfrm>
          <a:prstGeom prst="rect">
            <a:avLst/>
          </a:prstGeom>
          <a:solidFill>
            <a:srgbClr val="005AC0"/>
          </a:solidFill>
        </p:spPr>
        <p:txBody>
          <a:bodyPr vert="horz" wrap="square" lIns="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800" b="0" i="0" kern="1200" baseline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Presentation Date: Monday, March 6, 2023  4:36 pm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3969199" y="3903147"/>
            <a:ext cx="4253602" cy="480131"/>
          </a:xfrm>
          <a:prstGeom prst="rect">
            <a:avLst/>
          </a:prstGeom>
          <a:solidFill>
            <a:srgbClr val="005AC0"/>
          </a:solidFill>
        </p:spPr>
        <p:txBody>
          <a:bodyPr vert="horz" wrap="square" lIns="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800" b="0" i="0" kern="1200" baseline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Luke Pendo and Xuedong Hu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8B545A-AE0E-40F9-97E2-7C4B3B95AF85}"/>
              </a:ext>
            </a:extLst>
          </p:cNvPr>
          <p:cNvSpPr/>
          <p:nvPr/>
        </p:nvSpPr>
        <p:spPr>
          <a:xfrm>
            <a:off x="6299922" y="6056315"/>
            <a:ext cx="5670696" cy="338554"/>
          </a:xfrm>
          <a:prstGeom prst="rect">
            <a:avLst/>
          </a:prstGeom>
          <a:solidFill>
            <a:srgbClr val="005AC0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a typeface="Arial" charset="0"/>
                <a:cs typeface="Arial" charset="0"/>
              </a:rPr>
              <a:t>We thank financial support by US ARO via grant </a:t>
            </a:r>
            <a:r>
              <a:rPr lang="en-US" sz="1600" dirty="0">
                <a:solidFill>
                  <a:schemeClr val="bg1"/>
                </a:solidFill>
              </a:rPr>
              <a:t>W911NF1710257.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F4360-25D9-4392-9F39-55652888F075}"/>
              </a:ext>
            </a:extLst>
          </p:cNvPr>
          <p:cNvSpPr/>
          <p:nvPr/>
        </p:nvSpPr>
        <p:spPr>
          <a:xfrm>
            <a:off x="3845453" y="5423438"/>
            <a:ext cx="450109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gitlab.com/cantankerous-impurity</a:t>
            </a:r>
          </a:p>
        </p:txBody>
      </p:sp>
    </p:spTree>
    <p:extLst>
      <p:ext uri="{BB962C8B-B14F-4D97-AF65-F5344CB8AC3E}">
        <p14:creationId xmlns:p14="http://schemas.microsoft.com/office/powerpoint/2010/main" val="381008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AF89-67C0-4F6B-8650-26DB6EB2B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Our </a:t>
            </a:r>
            <a:r>
              <a:rPr lang="en-US" dirty="0" err="1"/>
              <a:t>PrOBlem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BAABE-BBBB-4023-A0B0-195BC898E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7CB05-3E83-4DCF-9A5F-337113E638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0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1670" y="4026169"/>
            <a:ext cx="4662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Original crystal structure picture by Ben Mills, public domain. </a:t>
            </a:r>
          </a:p>
          <a:p>
            <a:pPr algn="ctr"/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https://commons.wikimedia.org/w/index.php?curid=2722584</a:t>
            </a:r>
            <a:endParaRPr lang="en-US" sz="1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Modified by L. Pendo for presentation.</a:t>
            </a:r>
          </a:p>
        </p:txBody>
      </p:sp>
      <p:sp>
        <p:nvSpPr>
          <p:cNvPr id="25" name="Title 2 2 1"/>
          <p:cNvSpPr txBox="1">
            <a:spLocks/>
          </p:cNvSpPr>
          <p:nvPr/>
        </p:nvSpPr>
        <p:spPr>
          <a:xfrm>
            <a:off x="4498878" y="1122144"/>
            <a:ext cx="3194245" cy="5078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>
                <a:solidFill>
                  <a:schemeClr val="tx2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defRPr>
            </a:lvl1pPr>
          </a:lstStyle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System description</a:t>
            </a:r>
          </a:p>
        </p:txBody>
      </p:sp>
      <p:sp>
        <p:nvSpPr>
          <p:cNvPr id="26" name="Text Placeholder 1 1 1"/>
          <p:cNvSpPr txBox="1">
            <a:spLocks/>
          </p:cNvSpPr>
          <p:nvPr/>
        </p:nvSpPr>
        <p:spPr>
          <a:xfrm>
            <a:off x="4239037" y="1973270"/>
            <a:ext cx="7012361" cy="178510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Infinite silicon crystal bulk.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silicon replaced by an isolated pnictogen (Series V/Group 15).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Specifically we consider the </a:t>
            </a:r>
            <a:r>
              <a:rPr lang="en-US" dirty="0">
                <a:solidFill>
                  <a:srgbClr val="75AD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phosphorous 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substitutional donor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is symmetric about the impurity under </a:t>
            </a:r>
            <a:r>
              <a:rPr lang="en-US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operations of point group </a:t>
            </a:r>
            <a:r>
              <a:rPr lang="en-US" i="1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i="1" baseline="-25000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Calibri" panose="020F0502020204030204" pitchFamily="34" charset="0"/>
              </a:rPr>
              <a:t>Excess electric charge of phosphorous </a:t>
            </a:r>
            <a:r>
              <a:rPr lang="en-US" dirty="0">
                <a:latin typeface="+mn-lt"/>
              </a:rPr>
              <a:t>nuclear </a:t>
            </a:r>
            <a:r>
              <a:rPr lang="en-US" dirty="0">
                <a:latin typeface="+mn-lt"/>
                <a:cs typeface="Calibri" panose="020F0502020204030204" pitchFamily="34" charset="0"/>
              </a:rPr>
              <a:t>attracts excess electron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F7D7E7D-0A31-45F0-A503-A1AB40A61B32}"/>
              </a:ext>
            </a:extLst>
          </p:cNvPr>
          <p:cNvGrpSpPr/>
          <p:nvPr/>
        </p:nvGrpSpPr>
        <p:grpSpPr>
          <a:xfrm>
            <a:off x="940603" y="1653788"/>
            <a:ext cx="2539501" cy="2424069"/>
            <a:chOff x="1818890" y="4316117"/>
            <a:chExt cx="2539501" cy="2424069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890" y="4316117"/>
              <a:ext cx="2539501" cy="2424069"/>
            </a:xfrm>
            <a:prstGeom prst="rect">
              <a:avLst/>
            </a:prstGeom>
          </p:spPr>
        </p:pic>
        <p:sp>
          <p:nvSpPr>
            <p:cNvPr id="13" name="Oval 12"/>
            <p:cNvSpPr/>
            <p:nvPr/>
          </p:nvSpPr>
          <p:spPr>
            <a:xfrm>
              <a:off x="2530655" y="4974644"/>
              <a:ext cx="246317" cy="246317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6DB68BB-6437-430B-BBB6-6E5F6D26D942}"/>
                </a:ext>
              </a:extLst>
            </p:cNvPr>
            <p:cNvSpPr txBox="1"/>
            <p:nvPr/>
          </p:nvSpPr>
          <p:spPr>
            <a:xfrm>
              <a:off x="2530655" y="4974644"/>
              <a:ext cx="2240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</a:t>
              </a:r>
            </a:p>
          </p:txBody>
        </p:sp>
      </p:grpSp>
      <p:sp>
        <p:nvSpPr>
          <p:cNvPr id="46" name="Title 2 2 1">
            <a:extLst>
              <a:ext uri="{FF2B5EF4-FFF2-40B4-BE49-F238E27FC236}">
                <a16:creationId xmlns:a16="http://schemas.microsoft.com/office/drawing/2014/main" id="{CF86E013-259A-4CED-A44A-DA821400F2B5}"/>
              </a:ext>
            </a:extLst>
          </p:cNvPr>
          <p:cNvSpPr txBox="1">
            <a:spLocks/>
          </p:cNvSpPr>
          <p:nvPr/>
        </p:nvSpPr>
        <p:spPr>
          <a:xfrm>
            <a:off x="3619106" y="4780757"/>
            <a:ext cx="4953788" cy="5078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>
                <a:solidFill>
                  <a:schemeClr val="tx2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defRPr>
            </a:lvl1pPr>
          </a:lstStyle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back of the envelope idea</a:t>
            </a:r>
          </a:p>
        </p:txBody>
      </p:sp>
      <p:sp>
        <p:nvSpPr>
          <p:cNvPr id="47" name="Text Placeholder 1 1 1">
            <a:extLst>
              <a:ext uri="{FF2B5EF4-FFF2-40B4-BE49-F238E27FC236}">
                <a16:creationId xmlns:a16="http://schemas.microsoft.com/office/drawing/2014/main" id="{B2D4C667-4976-4D8E-A62D-57AF1D564DD3}"/>
              </a:ext>
            </a:extLst>
          </p:cNvPr>
          <p:cNvSpPr txBox="1">
            <a:spLocks/>
          </p:cNvSpPr>
          <p:nvPr/>
        </p:nvSpPr>
        <p:spPr>
          <a:xfrm>
            <a:off x="1550979" y="5354423"/>
            <a:ext cx="9090043" cy="10002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Excess electron is affected by a</a:t>
            </a:r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periodic mean field potential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weakly bound to donor potential</a:t>
            </a:r>
            <a:r>
              <a: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i="1" dirty="0">
              <a:solidFill>
                <a:srgbClr val="6666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39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Short-range</a:t>
            </a:r>
            <a:r>
              <a:rPr lang="en-US" sz="1800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looks like a </a:t>
            </a:r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Bloch wave</a:t>
            </a:r>
            <a:r>
              <a:rPr lang="en-US" sz="1800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39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Long-range:</a:t>
            </a:r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attenuated on a radial scale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much longer then</a:t>
            </a:r>
            <a:r>
              <a:rPr lang="en-US" sz="1800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lattice parameter.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9E89B-F867-4636-B7B5-3A941946B8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AF89-67C0-4F6B-8650-26DB6EB2B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The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BAABE-BBBB-4023-A0B0-195BC898E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5B0AC-A6CA-47F3-99D4-79DA37FC98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2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effective mass approximation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2B39DD6-678B-4163-B8B2-3DB68E4666F4}"/>
              </a:ext>
            </a:extLst>
          </p:cNvPr>
          <p:cNvGrpSpPr/>
          <p:nvPr/>
        </p:nvGrpSpPr>
        <p:grpSpPr>
          <a:xfrm>
            <a:off x="353886" y="2026976"/>
            <a:ext cx="11484228" cy="650936"/>
            <a:chOff x="353886" y="2191568"/>
            <a:chExt cx="11484228" cy="650936"/>
          </a:xfrm>
        </p:grpSpPr>
        <p:sp>
          <p:nvSpPr>
            <p:cNvPr id="7" name="TextBox 6"/>
            <p:cNvSpPr txBox="1"/>
            <p:nvPr/>
          </p:nvSpPr>
          <p:spPr>
            <a:xfrm>
              <a:off x="353886" y="2191568"/>
              <a:ext cx="5943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EMA:</a:t>
              </a:r>
              <a:r>
                <a:rPr lang="en-US" dirty="0"/>
                <a:t> Assume the donor electron is localized in </a:t>
              </a:r>
              <a:r>
                <a:rPr lang="en-US" b="1" i="1" dirty="0"/>
                <a:t>k</a:t>
              </a:r>
              <a:r>
                <a:rPr lang="en-US" dirty="0"/>
                <a:t>-space at the </a:t>
              </a:r>
              <a:r>
                <a:rPr lang="en-US" dirty="0">
                  <a:solidFill>
                    <a:srgbClr val="0000FF"/>
                  </a:solidFill>
                </a:rPr>
                <a:t>six-fold degenerate minima</a:t>
              </a:r>
              <a:r>
                <a:rPr lang="en-US" dirty="0"/>
                <a:t> of the silicon conduction band.</a:t>
              </a:r>
            </a:p>
          </p:txBody>
        </p:sp>
        <p:pic>
          <p:nvPicPr>
            <p:cNvPr id="109" name="Picture 108" descr="\documentclass{article}&#10;\usepackage{amsmath,bm, physics}&#10;\pagestyle{empty}&#10;\begin{document}&#10;&#10;\begin{equation*}&#10;\ket{\Psi} = \sum_{n} \int_{BZ} \dd\vb{k}\, A_{\vb{k}} \ket{n\vb{k}}&#10;\rightarrow&#10;\sum_{\vb{k}_{p}}\beta_{\vb*{k}_{p}}&#10;\int_{BZ} \dd\vb{k}\, &#10;A_{\vb{k}}^{\left(p\right)}\ket{0\vb{k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CA6DF97-51B5-4ECF-9C78-5EC9A3D6F01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651372" y="2213019"/>
              <a:ext cx="5186742" cy="629485"/>
            </a:xfrm>
            <a:prstGeom prst="rect">
              <a:avLst/>
            </a:prstGeom>
          </p:spPr>
        </p:pic>
      </p:grpSp>
      <p:pic>
        <p:nvPicPr>
          <p:cNvPr id="23" name="Picture 22" descr="\documentclass{article}&#10;\usepackage{amsmath,amssymb,bm,physics}&#10;\pagestyle{empty}&#10;\begin{document}&#10;&#10;\begin{equation*}&#10;\Delta^{(q)}_{\bm{r}}&#10;=&#10;\int_{BZ} \dd\vb{k}\,&#10;A_{\bm{k}}^{(q)}\mathrm{e}^{\mathrm{i}\bm{k}\cdot \bm{r}}&#10;\left(u_{\bm{k}\bm{r}}-u_{\bm{k}_q\bm{r}}\right)&#10;\end{equation*}&#10;&#10;&#10;\end{document}" title="IguanaTex Bitmap Display">
            <a:extLst>
              <a:ext uri="{FF2B5EF4-FFF2-40B4-BE49-F238E27FC236}">
                <a16:creationId xmlns:a16="http://schemas.microsoft.com/office/drawing/2014/main" id="{E18F551E-FDF9-4562-A49D-6001CA365D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687747" y="6999355"/>
            <a:ext cx="3217065" cy="460800"/>
          </a:xfrm>
          <a:prstGeom prst="rect">
            <a:avLst/>
          </a:prstGeom>
        </p:spPr>
      </p:pic>
      <p:pic>
        <p:nvPicPr>
          <p:cNvPr id="42" name="Picture 41" descr="\documentclass{article}&#10;\usepackage{amsmath,bm, physics,mathtools}&#10;\pagestyle{empty}&#10;\begin{document}&#10;&#10;\begin{equation*}&#10;\Psi_{\beta}&#10;=&#10;F^{(q)}_{\bm{r}}\Theta^{(q)}_{\bm{r}} + \Delta_{\bm{r}}^{(q)}&#10;\end{equation*}&#10;&#10;\end{document}" title="IguanaTex Bitmap Display">
            <a:extLst>
              <a:ext uri="{FF2B5EF4-FFF2-40B4-BE49-F238E27FC236}">
                <a16:creationId xmlns:a16="http://schemas.microsoft.com/office/drawing/2014/main" id="{AAD82DE3-945B-4FC7-A1BC-9FF36DC19CA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87188" y="7089869"/>
            <a:ext cx="2113371" cy="27977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D234E8B-78DB-47AD-AF02-0B8F27F53D62}"/>
              </a:ext>
            </a:extLst>
          </p:cNvPr>
          <p:cNvGrpSpPr/>
          <p:nvPr/>
        </p:nvGrpSpPr>
        <p:grpSpPr>
          <a:xfrm>
            <a:off x="1301676" y="3047131"/>
            <a:ext cx="9588649" cy="1463040"/>
            <a:chOff x="999141" y="3348010"/>
            <a:chExt cx="9588649" cy="146304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EA7D339-DC11-43D2-BA88-70F600B02C1E}"/>
                </a:ext>
              </a:extLst>
            </p:cNvPr>
            <p:cNvGrpSpPr/>
            <p:nvPr/>
          </p:nvGrpSpPr>
          <p:grpSpPr>
            <a:xfrm>
              <a:off x="999141" y="3348010"/>
              <a:ext cx="5212080" cy="1463040"/>
              <a:chOff x="3489960" y="3348010"/>
              <a:chExt cx="5212080" cy="1463040"/>
            </a:xfrm>
          </p:grpSpPr>
          <p:pic>
            <p:nvPicPr>
              <p:cNvPr id="15" name="Picture 14" descr="\documentclass{article}&#10;\usepackage{amsmath,bm, physics,mathtools}&#10;\pagestyle{empty}&#10;\begin{document}&#10;&#10;\begin{equation*}&#10;F^{(p)}_{\bm{r}}&#10;\coloneqq&#10;\int_{BZ} \dd\vb{k}\,&#10;A_{\vb{k}}^{(p)}\mathrm{e}^{\mathrm{i}\left(\vb{k}-\vb*{k}_{p}\right)\cdot \bm{r}}&#10;\quad\quad&#10;\Theta^{(p)}_{\bm{r}}&#10;\coloneqq&#10;\mathrm{e}^{\mathrm{i}\vb*{k}_{p}\cdot \bm{r}}u_{\bm{k}_q\bm{r}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91C7107E-D8D2-4CA3-92EF-CDFC85A0BD8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3573259" y="4182784"/>
                <a:ext cx="5045483" cy="518400"/>
              </a:xfrm>
              <a:prstGeom prst="rect">
                <a:avLst/>
              </a:prstGeom>
            </p:spPr>
          </p:pic>
          <p:pic>
            <p:nvPicPr>
              <p:cNvPr id="117" name="Picture 116" descr="\documentclass{article}&#10;\usepackage{amsmath,bm, physics,mathtools}&#10;\pagestyle{empty}&#10;\begin{document}&#10;&#10;\begin{equation*}&#10;\Psi_{\beta;\vb*{r}}&#10;\approx&#10;\sum_{\vb*{k}_{p}}\beta_{\vb*{k}_{p}}&#10;F^{\left(p\right)}_{\bm{r}}\Theta^{\left(p\right)}_{\bm{r}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89949992-7327-418B-86DD-F2C7BCFFE34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4957029" y="3457875"/>
                <a:ext cx="2277942" cy="534857"/>
              </a:xfrm>
              <a:prstGeom prst="rect">
                <a:avLst/>
              </a:prstGeom>
            </p:spPr>
          </p:pic>
          <p:sp>
            <p:nvSpPr>
              <p:cNvPr id="11" name="Rounded Rectangle 109">
                <a:extLst>
                  <a:ext uri="{FF2B5EF4-FFF2-40B4-BE49-F238E27FC236}">
                    <a16:creationId xmlns:a16="http://schemas.microsoft.com/office/drawing/2014/main" id="{8794DCD9-D16C-4C4D-BB25-57EA8CB81DC6}"/>
                  </a:ext>
                </a:extLst>
              </p:cNvPr>
              <p:cNvSpPr/>
              <p:nvPr/>
            </p:nvSpPr>
            <p:spPr>
              <a:xfrm>
                <a:off x="3489960" y="3348010"/>
                <a:ext cx="5212080" cy="146304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 Placeholder 1 1 1">
              <a:extLst>
                <a:ext uri="{FF2B5EF4-FFF2-40B4-BE49-F238E27FC236}">
                  <a16:creationId xmlns:a16="http://schemas.microsoft.com/office/drawing/2014/main" id="{AF87F49E-5578-4239-AC41-D7DE138E185B}"/>
                </a:ext>
              </a:extLst>
            </p:cNvPr>
            <p:cNvSpPr txBox="1">
              <a:spLocks/>
            </p:cNvSpPr>
            <p:nvPr/>
          </p:nvSpPr>
          <p:spPr>
            <a:xfrm>
              <a:off x="7026433" y="3756365"/>
              <a:ext cx="3561357" cy="64633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Short-range: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Bloch wave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457200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Long-range: </a:t>
              </a:r>
              <a:r>
                <a:rPr lang="en-US" sz="18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Envelope function.</a:t>
              </a:r>
              <a:endParaRPr lang="en-US" sz="1800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CFE54ED6-DB3B-4F31-A640-00F9245A6C66}"/>
                </a:ext>
              </a:extLst>
            </p:cNvPr>
            <p:cNvSpPr/>
            <p:nvPr/>
          </p:nvSpPr>
          <p:spPr>
            <a:xfrm>
              <a:off x="6305587" y="3348010"/>
              <a:ext cx="626480" cy="1463040"/>
            </a:xfrm>
            <a:prstGeom prst="rightBrace">
              <a:avLst>
                <a:gd name="adj1" fmla="val 55310"/>
                <a:gd name="adj2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FC8941-2400-415E-BEA0-F206F268EFD8}"/>
              </a:ext>
            </a:extLst>
          </p:cNvPr>
          <p:cNvGrpSpPr/>
          <p:nvPr/>
        </p:nvGrpSpPr>
        <p:grpSpPr>
          <a:xfrm>
            <a:off x="3004286" y="4879391"/>
            <a:ext cx="6183429" cy="1406469"/>
            <a:chOff x="3004286" y="5202479"/>
            <a:chExt cx="6183429" cy="14064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D64E94-FC2A-49D6-936A-6553443EBA9B}"/>
                </a:ext>
              </a:extLst>
            </p:cNvPr>
            <p:cNvSpPr txBox="1"/>
            <p:nvPr/>
          </p:nvSpPr>
          <p:spPr>
            <a:xfrm>
              <a:off x="3004286" y="5202479"/>
              <a:ext cx="6183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We expand the envelope function with a set of basis functions.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E25B6F2-E91E-41C4-84F3-21544A98BC34}"/>
                </a:ext>
              </a:extLst>
            </p:cNvPr>
            <p:cNvGrpSpPr/>
            <p:nvPr/>
          </p:nvGrpSpPr>
          <p:grpSpPr>
            <a:xfrm>
              <a:off x="4998720" y="5694548"/>
              <a:ext cx="2194560" cy="914400"/>
              <a:chOff x="5083581" y="5781173"/>
              <a:chExt cx="2194560" cy="914400"/>
            </a:xfrm>
          </p:grpSpPr>
          <p:pic>
            <p:nvPicPr>
              <p:cNvPr id="8" name="Picture 7" descr="\documentclass{article}&#10;\usepackage{amsmath,bm,physics}&#10;\pagestyle{empty}&#10;\begin{document}&#10;&#10;\begin{equation*}&#10;F^{(q)}_{\bm{r}}&#10;=&#10;\sum_{j} c_{j}&#10;\Phi_{j\bm{r}}^{(q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F97CD7FC-6E1A-49C3-ABE8-62B4F52CB41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5168442" y="5909002"/>
                <a:ext cx="2024838" cy="658743"/>
              </a:xfrm>
              <a:prstGeom prst="rect">
                <a:avLst/>
              </a:prstGeom>
            </p:spPr>
          </p:pic>
          <p:sp>
            <p:nvSpPr>
              <p:cNvPr id="31" name="Rounded Rectangle 109">
                <a:extLst>
                  <a:ext uri="{FF2B5EF4-FFF2-40B4-BE49-F238E27FC236}">
                    <a16:creationId xmlns:a16="http://schemas.microsoft.com/office/drawing/2014/main" id="{88E2DDBD-5621-467C-8161-88B5A6BA8A28}"/>
                  </a:ext>
                </a:extLst>
              </p:cNvPr>
              <p:cNvSpPr/>
              <p:nvPr/>
            </p:nvSpPr>
            <p:spPr>
              <a:xfrm>
                <a:off x="5083581" y="5781173"/>
                <a:ext cx="2194560" cy="91440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98B73-7D13-4B53-9853-FFCE9C641C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https://gitlab.com/cantankerous-impurity/Documentation/-/tree/core/Presentations/MarchMeeting2023(LasVegas)</a:t>
            </a:r>
          </a:p>
        </p:txBody>
      </p:sp>
    </p:spTree>
    <p:extLst>
      <p:ext uri="{BB962C8B-B14F-4D97-AF65-F5344CB8AC3E}">
        <p14:creationId xmlns:p14="http://schemas.microsoft.com/office/powerpoint/2010/main" val="168341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 1 1 2 1"/>
          <p:cNvSpPr txBox="1">
            <a:spLocks/>
          </p:cNvSpPr>
          <p:nvPr/>
        </p:nvSpPr>
        <p:spPr>
          <a:xfrm>
            <a:off x="932984" y="1759539"/>
            <a:ext cx="10326032" cy="4001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b="1" i="1" dirty="0">
                <a:latin typeface="+mn-lt"/>
                <a:cs typeface="Calibri" panose="020F0502020204030204" pitchFamily="34" charset="0"/>
              </a:rPr>
              <a:t>“Modified” </a:t>
            </a:r>
            <a:r>
              <a:rPr lang="en-US" b="1" i="1" dirty="0" err="1">
                <a:latin typeface="+mn-lt"/>
                <a:cs typeface="Calibri" panose="020F0502020204030204" pitchFamily="34" charset="0"/>
              </a:rPr>
              <a:t>Shindo</a:t>
            </a:r>
            <a:r>
              <a:rPr lang="en-US" b="1" i="1" dirty="0">
                <a:latin typeface="+mn-lt"/>
                <a:cs typeface="Calibri" panose="020F0502020204030204" pitchFamily="34" charset="0"/>
              </a:rPr>
              <a:t>-Nara effective mass equation</a:t>
            </a:r>
            <a:r>
              <a:rPr lang="en-US" dirty="0">
                <a:latin typeface="+mn-lt"/>
                <a:cs typeface="Calibri" panose="020F0502020204030204" pitchFamily="34" charset="0"/>
              </a:rPr>
              <a:t>[1]</a:t>
            </a:r>
            <a:r>
              <a:rPr lang="en-US" b="1" i="1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dirty="0">
                <a:latin typeface="+mn-lt"/>
                <a:cs typeface="Calibri" panose="020F0502020204030204" pitchFamily="34" charset="0"/>
              </a:rPr>
              <a:t>cast as a </a:t>
            </a:r>
            <a:r>
              <a:rPr lang="en-US" b="1" i="1" dirty="0">
                <a:latin typeface="+mn-lt"/>
                <a:cs typeface="Calibri" panose="020F0502020204030204" pitchFamily="34" charset="0"/>
              </a:rPr>
              <a:t>generalized eigenvalue problem</a:t>
            </a:r>
            <a:r>
              <a:rPr lang="en-US" dirty="0">
                <a:latin typeface="+mn-lt"/>
                <a:cs typeface="Calibri" panose="020F0502020204030204" pitchFamily="34" charset="0"/>
              </a:rPr>
              <a:t>[2].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The Generalized Eigenvalue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3069" y="175883"/>
            <a:ext cx="4490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K. </a:t>
            </a:r>
            <a:r>
              <a:rPr lang="en-US" sz="1400" dirty="0" err="1"/>
              <a:t>Shindo</a:t>
            </a:r>
            <a:r>
              <a:rPr lang="en-US" sz="1400" dirty="0"/>
              <a:t> and H. Nara, J. Phys. Soc. </a:t>
            </a:r>
            <a:r>
              <a:rPr lang="en-US" sz="1400" dirty="0" err="1"/>
              <a:t>Jpn</a:t>
            </a:r>
            <a:r>
              <a:rPr lang="en-US" sz="1400" dirty="0"/>
              <a:t>. </a:t>
            </a:r>
            <a:r>
              <a:rPr lang="en-US" sz="1400" b="1" dirty="0"/>
              <a:t>40</a:t>
            </a:r>
            <a:r>
              <a:rPr lang="en-US" sz="1400" dirty="0"/>
              <a:t>, 1640 (1970)</a:t>
            </a:r>
          </a:p>
          <a:p>
            <a:r>
              <a:rPr lang="en-US" sz="1400" dirty="0"/>
              <a:t>[2] J. K. Gamble et al., Phys. Rev. B </a:t>
            </a:r>
            <a:r>
              <a:rPr lang="en-US" sz="1400" b="1" dirty="0"/>
              <a:t>91</a:t>
            </a:r>
            <a:r>
              <a:rPr lang="en-US" sz="1400" dirty="0"/>
              <a:t>, 235318 (2015)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62B543-3936-4FE3-AEF2-D15F86278C71}"/>
              </a:ext>
            </a:extLst>
          </p:cNvPr>
          <p:cNvGrpSpPr/>
          <p:nvPr/>
        </p:nvGrpSpPr>
        <p:grpSpPr>
          <a:xfrm>
            <a:off x="3992880" y="4118732"/>
            <a:ext cx="4206240" cy="1506076"/>
            <a:chOff x="3992880" y="4003230"/>
            <a:chExt cx="4206240" cy="150607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19F64FD-6BFE-4644-9FCF-B8EFDFE93E7F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3992880" y="4412026"/>
              <a:ext cx="4206240" cy="1097280"/>
              <a:chOff x="3992880" y="4412026"/>
              <a:chExt cx="4206240" cy="1097280"/>
            </a:xfrm>
          </p:grpSpPr>
          <p:pic>
            <p:nvPicPr>
              <p:cNvPr id="31" name="Picture 30" descr="\documentclass{article}&#10;\usepackage{amsmath,bm,physics}&#10;\pagestyle{empty}&#10;\begin{document}&#10;&#10;\begin{equation*}&#10;\Psi_{\beta\vb*{r}}&#10;\approx&#10;\sum_{j} c_{j}&#10;\left(&#10;\sum_{q\in\left\{x,y,z\right\}} \beta_{q}&#10;\Phi_{j\vb*{r}}^{(q)}&#10;\Theta^{(q)}_{\Omega\vb*{r}}&#10;\right)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4A1CF5B8-5B1D-4FCA-9EFA-147B3316061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8"/>
              <a:stretch>
                <a:fillRect/>
              </a:stretch>
            </p:blipFill>
            <p:spPr>
              <a:xfrm>
                <a:off x="4139430" y="4505046"/>
                <a:ext cx="3913140" cy="911238"/>
              </a:xfrm>
              <a:prstGeom prst="rect">
                <a:avLst/>
              </a:prstGeom>
            </p:spPr>
          </p:pic>
          <p:sp>
            <p:nvSpPr>
              <p:cNvPr id="42" name="Rounded Rectangle 41"/>
              <p:cNvSpPr/>
              <p:nvPr/>
            </p:nvSpPr>
            <p:spPr>
              <a:xfrm>
                <a:off x="3992880" y="4412026"/>
                <a:ext cx="4206240" cy="109728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3" name="Text Placeholder 1 1 1 2 2 1"/>
            <p:cNvSpPr txBox="1">
              <a:spLocks/>
            </p:cNvSpPr>
            <p:nvPr/>
          </p:nvSpPr>
          <p:spPr>
            <a:xfrm>
              <a:off x="4469776" y="4003230"/>
              <a:ext cx="3307312" cy="338554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 b="1" i="1" dirty="0">
                  <a:solidFill>
                    <a:srgbClr val="33A366"/>
                  </a:solidFill>
                  <a:latin typeface="+mn-lt"/>
                  <a:cs typeface="Calibri" panose="020F0502020204030204" pitchFamily="34" charset="0"/>
                </a:rPr>
                <a:t>symmetrized</a:t>
              </a:r>
              <a:r>
                <a:rPr lang="en-US" sz="1600" i="1" dirty="0">
                  <a:solidFill>
                    <a:srgbClr val="33A366"/>
                  </a:solidFill>
                  <a:latin typeface="+mn-lt"/>
                  <a:cs typeface="Calibri" panose="020F0502020204030204" pitchFamily="34" charset="0"/>
                </a:rPr>
                <a:t> anisotropic </a:t>
              </a:r>
              <a:r>
                <a:rPr lang="en-US" sz="1600" dirty="0">
                  <a:solidFill>
                    <a:srgbClr val="33A366"/>
                  </a:solidFill>
                  <a:latin typeface="+mn-lt"/>
                  <a:cs typeface="Calibri" panose="020F0502020204030204" pitchFamily="34" charset="0"/>
                </a:rPr>
                <a:t>basis states</a:t>
              </a:r>
              <a:endParaRPr lang="en-US" sz="1600" dirty="0"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615899-BDFA-49A0-9712-0864E46670C8}"/>
              </a:ext>
            </a:extLst>
          </p:cNvPr>
          <p:cNvGrpSpPr/>
          <p:nvPr/>
        </p:nvGrpSpPr>
        <p:grpSpPr>
          <a:xfrm>
            <a:off x="4998720" y="2370526"/>
            <a:ext cx="2194560" cy="457200"/>
            <a:chOff x="4998720" y="2284949"/>
            <a:chExt cx="2194560" cy="457200"/>
          </a:xfrm>
        </p:grpSpPr>
        <p:sp>
          <p:nvSpPr>
            <p:cNvPr id="110" name="Rounded Rectangle 109"/>
            <p:cNvSpPr/>
            <p:nvPr/>
          </p:nvSpPr>
          <p:spPr>
            <a:xfrm>
              <a:off x="4998720" y="2284949"/>
              <a:ext cx="2194560" cy="45720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 descr="\documentclass{article}&#10;\usepackage{amsmath,bm,physics}&#10;\pagestyle{empty}&#10;\begin{document}&#10;&#10;\begin{equation*}&#10;E \vb*{\mathcal{S}}\bm{c} = (\vb*{\mathcal{T}} + \vb*{\mathcal{U}})\bm{c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3D800F8D-B44B-4464-BD95-6D5CB302193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110017" y="2383281"/>
              <a:ext cx="1971966" cy="260536"/>
            </a:xfrm>
            <a:prstGeom prst="rect">
              <a:avLst/>
            </a:prstGeom>
          </p:spPr>
        </p:pic>
      </p:grpSp>
      <p:pic>
        <p:nvPicPr>
          <p:cNvPr id="55" name="Picture 54" descr="\documentclass{article}&#10;\usepackage{amsmath,bm,physics,mathtools}&#10;\pagestyle{empty}&#10;\begin{document}&#10;&#10;\begin{equation*}&#10;\vb*{c}^{\dagger}\vb*{\mathcal{S}}\vb*{c} \coloneqq \braket{\Psi_\beta}&#10;\quad\quad&#10;\vb*{c}^{\dagger}\vb*{\mathcal{T}}\vb*{c} \coloneqq \expval{\hat{H}_0}{\Psi_\beta}&#10;\quad\quad&#10;\vb*{c}^{\dagger}\vb*{\mathcal{U}}\vb*{c} \coloneqq \expval{\hat{U}}{\Psi_\beta}&#10;\end{equation*}&#10;&#10;\end{document}" title="IguanaTex Bitmap Display">
            <a:extLst>
              <a:ext uri="{FF2B5EF4-FFF2-40B4-BE49-F238E27FC236}">
                <a16:creationId xmlns:a16="http://schemas.microsoft.com/office/drawing/2014/main" id="{3EDC2298-476E-46D6-9285-7F0F621039E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253476" y="3038603"/>
            <a:ext cx="7685048" cy="31982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C83C4943-1FD9-4223-84BB-20D7D54DC28A}"/>
              </a:ext>
            </a:extLst>
          </p:cNvPr>
          <p:cNvGrpSpPr/>
          <p:nvPr/>
        </p:nvGrpSpPr>
        <p:grpSpPr>
          <a:xfrm>
            <a:off x="486678" y="3569300"/>
            <a:ext cx="11218645" cy="338554"/>
            <a:chOff x="486677" y="3626762"/>
            <a:chExt cx="11218645" cy="338554"/>
          </a:xfrm>
        </p:grpSpPr>
        <p:sp>
          <p:nvSpPr>
            <p:cNvPr id="59" name="Text Placeholder 1 2 2 1">
              <a:extLst>
                <a:ext uri="{FF2B5EF4-FFF2-40B4-BE49-F238E27FC236}">
                  <a16:creationId xmlns:a16="http://schemas.microsoft.com/office/drawing/2014/main" id="{A21823C7-3EDC-4C1A-9A28-6C1608344700}"/>
                </a:ext>
              </a:extLst>
            </p:cNvPr>
            <p:cNvSpPr txBox="1">
              <a:spLocks/>
            </p:cNvSpPr>
            <p:nvPr/>
          </p:nvSpPr>
          <p:spPr>
            <a:xfrm>
              <a:off x="6339338" y="3626762"/>
              <a:ext cx="536598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dirty="0">
                  <a:latin typeface="+mn-lt"/>
                </a:rPr>
                <a:t>U is intended to model </a:t>
              </a:r>
              <a:r>
                <a:rPr lang="en-US" sz="1600" b="1" i="1" dirty="0">
                  <a:latin typeface="+mn-lt"/>
                </a:rPr>
                <a:t>all</a:t>
              </a:r>
              <a:r>
                <a:rPr lang="en-US" sz="1600" dirty="0">
                  <a:latin typeface="+mn-lt"/>
                </a:rPr>
                <a:t> deviations from the pure silicon potential. </a:t>
              </a:r>
            </a:p>
          </p:txBody>
        </p:sp>
        <p:sp>
          <p:nvSpPr>
            <p:cNvPr id="64" name="Text Placeholder 1 2 2 1">
              <a:extLst>
                <a:ext uri="{FF2B5EF4-FFF2-40B4-BE49-F238E27FC236}">
                  <a16:creationId xmlns:a16="http://schemas.microsoft.com/office/drawing/2014/main" id="{AB2F042C-A43B-4A0E-9D5D-658EC8C8069E}"/>
                </a:ext>
              </a:extLst>
            </p:cNvPr>
            <p:cNvSpPr txBox="1">
              <a:spLocks/>
            </p:cNvSpPr>
            <p:nvPr/>
          </p:nvSpPr>
          <p:spPr>
            <a:xfrm>
              <a:off x="486677" y="3626762"/>
              <a:ext cx="536598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dirty="0">
                  <a:latin typeface="+mn-lt"/>
                </a:rPr>
                <a:t>H</a:t>
              </a:r>
              <a:r>
                <a:rPr lang="en-US" sz="1600" baseline="-25000" dirty="0">
                  <a:latin typeface="+mn-lt"/>
                </a:rPr>
                <a:t>0</a:t>
              </a:r>
              <a:r>
                <a:rPr lang="en-US" sz="1600" dirty="0">
                  <a:latin typeface="+mn-lt"/>
                </a:rPr>
                <a:t> is intended to model the pure silicon potential. 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76F8F2-86B6-4827-BF84-2C825BC764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C3CC285-1641-4B98-B346-475AD553F183}"/>
              </a:ext>
            </a:extLst>
          </p:cNvPr>
          <p:cNvGrpSpPr/>
          <p:nvPr/>
        </p:nvGrpSpPr>
        <p:grpSpPr>
          <a:xfrm>
            <a:off x="1474008" y="5767662"/>
            <a:ext cx="9243984" cy="603428"/>
            <a:chOff x="486678" y="5767662"/>
            <a:chExt cx="9243984" cy="603428"/>
          </a:xfrm>
        </p:grpSpPr>
        <p:pic>
          <p:nvPicPr>
            <p:cNvPr id="11" name="Picture 10" descr="\documentclass{article}&#10;\usepackage{amsmath,bm, physics,mathtools}&#10;\pagestyle{empty}&#10;\begin{document}&#10;&#10;\begin{equation*}&#10;\Theta^{(q)}_{\Omega\bm{r}}&#10;\coloneqq&#10;\frac&#10;{\Theta^{(q)}_{\bm{r}} + \Omega\Theta^{(-q)}_{\bm{r}}}&#10;{\sqrt{2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0B480C10-7780-47CB-8213-5FBF42CCE93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7518549" y="5767662"/>
              <a:ext cx="2212113" cy="603428"/>
            </a:xfrm>
            <a:prstGeom prst="rect">
              <a:avLst/>
            </a:prstGeom>
          </p:spPr>
        </p:pic>
        <p:sp>
          <p:nvSpPr>
            <p:cNvPr id="20" name="Introduction Textbox 1 1 2">
              <a:extLst>
                <a:ext uri="{FF2B5EF4-FFF2-40B4-BE49-F238E27FC236}">
                  <a16:creationId xmlns:a16="http://schemas.microsoft.com/office/drawing/2014/main" id="{6ABE4FC9-B6D8-4D14-B907-E09D51EBE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678" y="5868103"/>
              <a:ext cx="6924271" cy="4025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1pPr>
              <a:lvl2pPr marL="742950" indent="-28575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2pPr>
              <a:lvl3pPr marL="11430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3pPr>
              <a:lvl4pPr marL="16002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4pPr>
              <a:lvl5pPr marL="20574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sz="1800" b="1" i="1" dirty="0">
                  <a:latin typeface="+mn-lt"/>
                </a:rPr>
                <a:t>Bloch</a:t>
              </a:r>
              <a:r>
                <a:rPr lang="en-US" sz="1800" dirty="0">
                  <a:latin typeface="+mn-lt"/>
                </a:rPr>
                <a:t> functions of </a:t>
              </a:r>
              <a:r>
                <a:rPr lang="en-US" sz="1800" i="1" dirty="0">
                  <a:latin typeface="+mn-lt"/>
                </a:rPr>
                <a:t>opposed valley minima</a:t>
              </a:r>
              <a:r>
                <a:rPr lang="en-US" sz="1800" dirty="0">
                  <a:latin typeface="+mn-lt"/>
                </a:rPr>
                <a:t> are included as Fourier series: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142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Construction – Overlap, Hamiltonian</a:t>
            </a:r>
          </a:p>
        </p:txBody>
      </p:sp>
      <p:pic>
        <p:nvPicPr>
          <p:cNvPr id="47" name="Picture 46" descr="\documentclass{article}&#10;\usepackage{amsmath,bm,physics}&#10;\pagestyle{empty}&#10;\begin{document}&#10;&#10;\begin{equation*}&#10;\vb*{\mathcal{U}}_{ij}&#10;= &#10;\sum_{pq}\beta_{p}^{*}\beta_{q}&#10;\int \mathrm{d}\vb{r}\,&#10;\tilde{\Theta}_{\Omega_{i}\vb{r}}^{(p)}\Theta_{\Omega_{j}\vb{r}}^{(q)}&#10;\tilde{\Phi}_{i\vb{r}}^{(p)}\Phi_{j\vb{r}}^{(q)}&#10;U_{\bm{r}}&#10;\end{equation*}&#10;&#10;\end{document}" title="IguanaTex Bitmap Display">
            <a:extLst>
              <a:ext uri="{FF2B5EF4-FFF2-40B4-BE49-F238E27FC236}">
                <a16:creationId xmlns:a16="http://schemas.microsoft.com/office/drawing/2014/main" id="{1A62D9A8-9898-41F0-AD68-8AFA5D0C349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966860" y="4204470"/>
            <a:ext cx="4100567" cy="603429"/>
          </a:xfrm>
          <a:prstGeom prst="rect">
            <a:avLst/>
          </a:prstGeom>
          <a:ln>
            <a:noFill/>
          </a:ln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AD2C234D-77E3-43F5-A1F8-5B62DE964786}"/>
              </a:ext>
            </a:extLst>
          </p:cNvPr>
          <p:cNvGrpSpPr/>
          <p:nvPr/>
        </p:nvGrpSpPr>
        <p:grpSpPr>
          <a:xfrm>
            <a:off x="1223315" y="4170417"/>
            <a:ext cx="4501029" cy="1257109"/>
            <a:chOff x="1223315" y="3158047"/>
            <a:chExt cx="4501029" cy="1257109"/>
          </a:xfrm>
        </p:grpSpPr>
        <p:pic>
          <p:nvPicPr>
            <p:cNvPr id="42" name="Picture 41" descr="\documentclass{article}&#10;\usepackage{amsmath,bm,physics}&#10;\pagestyle{empty}&#10;\begin{document}&#10;&#10;\begin{equation*}&#10;\vb*{\mathcal{T}}_{ij}&#10;=&#10;\sum_{pq}\beta_{p}^{*}\beta_{q}&#10;\int\mathrm{d}\vb{r}\,&#10;\mathrm{e}^{\mathrm{i}\left(\bm{k}_{q}-\bm{k}_{p}\right)\cdot\vb{r}}&#10;\tilde{\Phi}_{i\vb{r}}^{(p)}&#10;\left[&#10;\hat{T}^{(q)}\Phi_{j\vb{r}}^{(q)}&#10;\right]&#10;\end{equation*}&#10;&#10;\end{document}" title="IguanaTex Bitmap Display">
              <a:extLst>
                <a:ext uri="{FF2B5EF4-FFF2-40B4-BE49-F238E27FC236}">
                  <a16:creationId xmlns:a16="http://schemas.microsoft.com/office/drawing/2014/main" id="{81D9A110-C9CA-4B50-B9A3-5EC068072FF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223315" y="3158047"/>
              <a:ext cx="4501029" cy="60342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9" name="Picture 28" descr="\documentclass{article}&#10;\usepackage{amsmath,bm,physics}&#10;\pagestyle{empty}&#10;\begin{document}&#10;&#10;\begin{equation*}&#10;\hat{T}^{(z)}&#10;=&#10;-\left(\frac{\hbar^2}{2m_{\perp}}\right)&#10;\left(&#10;\pdv[2]{x} + \pdv[2]{y}&#10;+\frac{m_{\perp}}{m_{\parallel}}\pdv[2]{z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1343589A-966B-46DD-A190-BA84AA30BA7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567087" y="3882432"/>
              <a:ext cx="3832685" cy="532724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4" name="Picture 13" descr="\documentclass{article}&#10;\usepackage{amsmath,bm,physics}&#10;\pagestyle{empty}&#10;\begin{document}&#10;&#10;\begin{equation*}&#10;\vb*{\mathcal{S}}_{ij}&#10;=&#10;\sum_{pq}\beta_{p}^{*}\beta_{q}&#10;\int\mathrm{d}\vb{r}\, &#10;\mathrm{e}^{\mathrm{i}\left(\bm{k}_{q}-\bm{k}_{p}\right)\cdot\vb{r}}&#10;\tilde{\Phi}_{i\vb{r}}^{(p)}&#10;\Phi_{j\vb{r}}^{(q)}&#10;\end{equation*}&#10;&#10;\end{document}" title="IguanaTex Bitmap Display">
            <a:extLst>
              <a:ext uri="{FF2B5EF4-FFF2-40B4-BE49-F238E27FC236}">
                <a16:creationId xmlns:a16="http://schemas.microsoft.com/office/drawing/2014/main" id="{71729522-C31F-4963-AF7A-7481C03F50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78743" y="2853283"/>
            <a:ext cx="3834514" cy="603429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5A22D7-4185-41D7-AFF5-0571455F75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40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on the effective mass approximation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5C6B19-2555-4192-9D1F-6F680941EE90}"/>
              </a:ext>
            </a:extLst>
          </p:cNvPr>
          <p:cNvSpPr txBox="1"/>
          <p:nvPr/>
        </p:nvSpPr>
        <p:spPr>
          <a:xfrm>
            <a:off x="7127421" y="175883"/>
            <a:ext cx="4915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</a:t>
            </a:r>
            <a:r>
              <a:rPr lang="fr-FR" sz="1400" dirty="0"/>
              <a:t>R.A. Faulkner, Phys. </a:t>
            </a:r>
            <a:r>
              <a:rPr lang="fr-FR" sz="1400" dirty="0" err="1"/>
              <a:t>Rev</a:t>
            </a:r>
            <a:r>
              <a:rPr lang="fr-FR" sz="1400" dirty="0"/>
              <a:t>. </a:t>
            </a:r>
            <a:r>
              <a:rPr lang="fr-FR" sz="1400" b="1" dirty="0"/>
              <a:t>184</a:t>
            </a:r>
            <a:r>
              <a:rPr lang="fr-FR" sz="1400" dirty="0"/>
              <a:t>, 713 (1969)</a:t>
            </a:r>
            <a:endParaRPr lang="en-US" sz="1400" dirty="0"/>
          </a:p>
          <a:p>
            <a:r>
              <a:rPr lang="en-US" sz="1400" dirty="0"/>
              <a:t>[2] A.K. Ramdas and S. </a:t>
            </a:r>
            <a:r>
              <a:rPr lang="en-US" sz="1400" dirty="0" err="1"/>
              <a:t>Rogriguez</a:t>
            </a:r>
            <a:r>
              <a:rPr lang="en-US" sz="1400" dirty="0"/>
              <a:t>, Rep Prog Phys. </a:t>
            </a:r>
            <a:r>
              <a:rPr lang="en-US" sz="1400" b="1" dirty="0"/>
              <a:t>44</a:t>
            </a:r>
            <a:r>
              <a:rPr lang="en-US" sz="1400" dirty="0"/>
              <a:t>, 1297 (1981)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C38FA1-6A2A-4BC3-B649-15D70852022E}"/>
              </a:ext>
            </a:extLst>
          </p:cNvPr>
          <p:cNvGrpSpPr/>
          <p:nvPr/>
        </p:nvGrpSpPr>
        <p:grpSpPr>
          <a:xfrm>
            <a:off x="664352" y="2545846"/>
            <a:ext cx="9348509" cy="1067343"/>
            <a:chOff x="664352" y="1917196"/>
            <a:chExt cx="9348509" cy="1067343"/>
          </a:xfrm>
        </p:grpSpPr>
        <p:sp>
          <p:nvSpPr>
            <p:cNvPr id="22" name="Introduction Textbox 1 2">
              <a:extLst>
                <a:ext uri="{FF2B5EF4-FFF2-40B4-BE49-F238E27FC236}">
                  <a16:creationId xmlns:a16="http://schemas.microsoft.com/office/drawing/2014/main" id="{CD78D3B0-B9A9-42D3-9F7C-29F03BC68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8576" y="1917196"/>
              <a:ext cx="8164285" cy="1067343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1pPr>
              <a:lvl2pPr marL="742950" indent="-28575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2pPr>
              <a:lvl3pPr marL="11430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3pPr>
              <a:lvl4pPr marL="16002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4pPr>
              <a:lvl5pPr marL="20574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9pPr>
            </a:lstStyle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+mn-lt"/>
                </a:rPr>
                <a:t>An attractively intuitive physical picture of the state of the donor electron.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+mn-lt"/>
                </a:rPr>
                <a:t>Less computationally expensive as compared to </a:t>
              </a:r>
              <a:r>
                <a:rPr lang="en-US" sz="1800" i="1" dirty="0">
                  <a:latin typeface="+mn-lt"/>
                </a:rPr>
                <a:t>ab initio </a:t>
              </a:r>
              <a:r>
                <a:rPr lang="en-US" sz="1800" dirty="0">
                  <a:latin typeface="+mn-lt"/>
                </a:rPr>
                <a:t>and tight-binding models.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+mn-lt"/>
                </a:rPr>
                <a:t>Predicts the energies of spatially extended excited states of donors [1,2].</a:t>
              </a:r>
            </a:p>
          </p:txBody>
        </p:sp>
        <p:sp>
          <p:nvSpPr>
            <p:cNvPr id="7" name="Circle: Hollow 6">
              <a:extLst>
                <a:ext uri="{FF2B5EF4-FFF2-40B4-BE49-F238E27FC236}">
                  <a16:creationId xmlns:a16="http://schemas.microsoft.com/office/drawing/2014/main" id="{E4F153E9-7448-4557-AD5A-662C2B8CA0A4}"/>
                </a:ext>
              </a:extLst>
            </p:cNvPr>
            <p:cNvSpPr/>
            <p:nvPr/>
          </p:nvSpPr>
          <p:spPr>
            <a:xfrm>
              <a:off x="664352" y="2107973"/>
              <a:ext cx="685788" cy="685788"/>
            </a:xfrm>
            <a:prstGeom prst="donu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B9287D-E029-42CC-A784-3794CC574AE2}"/>
              </a:ext>
            </a:extLst>
          </p:cNvPr>
          <p:cNvGrpSpPr/>
          <p:nvPr/>
        </p:nvGrpSpPr>
        <p:grpSpPr>
          <a:xfrm>
            <a:off x="664352" y="4328531"/>
            <a:ext cx="10218641" cy="1067343"/>
            <a:chOff x="664352" y="3389639"/>
            <a:chExt cx="10218641" cy="1067343"/>
          </a:xfrm>
        </p:grpSpPr>
        <p:sp>
          <p:nvSpPr>
            <p:cNvPr id="35" name="Introduction Textbox 1 2">
              <a:extLst>
                <a:ext uri="{FF2B5EF4-FFF2-40B4-BE49-F238E27FC236}">
                  <a16:creationId xmlns:a16="http://schemas.microsoft.com/office/drawing/2014/main" id="{6023C4AC-28FB-4AD2-831F-50080E81E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8576" y="3389639"/>
              <a:ext cx="9034417" cy="1067343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1pPr>
              <a:lvl2pPr marL="742950" indent="-28575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2pPr>
              <a:lvl3pPr marL="11430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3pPr>
              <a:lvl4pPr marL="16002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4pPr>
              <a:lvl5pPr marL="2057400" indent="-228600"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charset="0"/>
                  <a:ea typeface="ＭＳ Ｐゴシック" charset="-128"/>
                </a:defRPr>
              </a:lvl9pPr>
            </a:lstStyle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+mn-lt"/>
                </a:rPr>
                <a:t>Struggles to present a quantitively persuasive picture of the ground state manifold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+mn-lt"/>
                </a:rPr>
                <a:t>Few agreed upon criteria for refutability (beyond agreement with energy spectrum).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+mn-lt"/>
                </a:rPr>
                <a:t>Lots of freedom to generate different schemes through reasonable but ad hoc assumptions.</a:t>
              </a:r>
            </a:p>
          </p:txBody>
        </p:sp>
        <p:sp>
          <p:nvSpPr>
            <p:cNvPr id="8" name="&quot;Not Allowed&quot; Symbol 7">
              <a:extLst>
                <a:ext uri="{FF2B5EF4-FFF2-40B4-BE49-F238E27FC236}">
                  <a16:creationId xmlns:a16="http://schemas.microsoft.com/office/drawing/2014/main" id="{148901C8-36A4-4BA6-9DFE-F4E18EBE31B4}"/>
                </a:ext>
              </a:extLst>
            </p:cNvPr>
            <p:cNvSpPr/>
            <p:nvPr/>
          </p:nvSpPr>
          <p:spPr>
            <a:xfrm>
              <a:off x="664352" y="3665764"/>
              <a:ext cx="685788" cy="685788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65CE88F-55B3-4A8E-945E-2AFEDD513D4C}"/>
              </a:ext>
            </a:extLst>
          </p:cNvPr>
          <p:cNvSpPr txBox="1"/>
          <p:nvPr/>
        </p:nvSpPr>
        <p:spPr>
          <a:xfrm>
            <a:off x="2611728" y="5925127"/>
            <a:ext cx="6968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highlight>
                  <a:srgbClr val="FFFF00"/>
                </a:highlight>
              </a:rPr>
              <a:t>Is further improvement of effective mass methods possible?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FB4D9-606B-4FAA-9602-D5A72087A4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https://gitlab.com/cantankerous-impurity/Documentation/-/tree/core/Presentations/MarchMeeting2023(LasVegas)</a:t>
            </a:r>
          </a:p>
        </p:txBody>
      </p:sp>
    </p:spTree>
    <p:extLst>
      <p:ext uri="{BB962C8B-B14F-4D97-AF65-F5344CB8AC3E}">
        <p14:creationId xmlns:p14="http://schemas.microsoft.com/office/powerpoint/2010/main" val="194458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A990B4-6244-43AA-9F0C-B47C362A4260}"/>
              </a:ext>
            </a:extLst>
          </p:cNvPr>
          <p:cNvGrpSpPr/>
          <p:nvPr/>
        </p:nvGrpSpPr>
        <p:grpSpPr>
          <a:xfrm>
            <a:off x="1329095" y="2176468"/>
            <a:ext cx="9533811" cy="1820564"/>
            <a:chOff x="935443" y="4691073"/>
            <a:chExt cx="9533811" cy="1820564"/>
          </a:xfrm>
        </p:grpSpPr>
        <p:grpSp>
          <p:nvGrpSpPr>
            <p:cNvPr id="10" name="Group 9"/>
            <p:cNvGrpSpPr/>
            <p:nvPr/>
          </p:nvGrpSpPr>
          <p:grpSpPr>
            <a:xfrm>
              <a:off x="935443" y="5046865"/>
              <a:ext cx="4692678" cy="1108980"/>
              <a:chOff x="935443" y="4656351"/>
              <a:chExt cx="4692678" cy="1108980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935443" y="5088223"/>
                <a:ext cx="4692678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7030A0"/>
                    </a:solidFill>
                  </a:rPr>
                  <a:t>Verisimilitude</a:t>
                </a:r>
              </a:p>
              <a:p>
                <a:pPr algn="ctr"/>
                <a:r>
                  <a:rPr lang="en-US" dirty="0"/>
                  <a:t>How well does the model </a:t>
                </a:r>
                <a:r>
                  <a:rPr lang="en-US" dirty="0">
                    <a:solidFill>
                      <a:srgbClr val="7030A0"/>
                    </a:solidFill>
                  </a:rPr>
                  <a:t>resemble reality</a:t>
                </a:r>
                <a:r>
                  <a:rPr lang="en-US" dirty="0"/>
                  <a:t>?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368554" y="4656351"/>
                <a:ext cx="1826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Out of model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776260" y="4691073"/>
              <a:ext cx="4692994" cy="1820564"/>
              <a:chOff x="6563564" y="4656351"/>
              <a:chExt cx="4692994" cy="1820564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6563564" y="5088223"/>
                <a:ext cx="4692994" cy="1388692"/>
                <a:chOff x="6698499" y="5088223"/>
                <a:chExt cx="4692994" cy="1388692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6698499" y="5088223"/>
                  <a:ext cx="4692994" cy="6771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i="1" dirty="0">
                      <a:solidFill>
                        <a:srgbClr val="A87B00"/>
                      </a:solidFill>
                    </a:rPr>
                    <a:t>Consistency</a:t>
                  </a:r>
                  <a:r>
                    <a:rPr lang="en-US" dirty="0">
                      <a:solidFill>
                        <a:srgbClr val="FFC11F"/>
                      </a:solidFill>
                    </a:rPr>
                    <a:t> </a:t>
                  </a:r>
                </a:p>
                <a:p>
                  <a:pPr algn="ctr"/>
                  <a:r>
                    <a:rPr lang="en-US" dirty="0"/>
                    <a:t>How well does the model </a:t>
                  </a:r>
                  <a:r>
                    <a:rPr lang="en-US" dirty="0">
                      <a:solidFill>
                        <a:srgbClr val="A87B00"/>
                      </a:solidFill>
                    </a:rPr>
                    <a:t>play by its own rules</a:t>
                  </a:r>
                  <a:r>
                    <a:rPr lang="en-US" dirty="0"/>
                    <a:t>?</a:t>
                  </a: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6814080" y="5799807"/>
                  <a:ext cx="4461832" cy="6771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i="1" dirty="0">
                      <a:solidFill>
                        <a:srgbClr val="0000FF"/>
                      </a:solidFill>
                    </a:rPr>
                    <a:t>Completeness</a:t>
                  </a:r>
                </a:p>
                <a:p>
                  <a:pPr algn="ctr"/>
                  <a:r>
                    <a:rPr lang="en-US" dirty="0"/>
                    <a:t>Can the model </a:t>
                  </a:r>
                  <a:r>
                    <a:rPr lang="en-US" dirty="0">
                      <a:solidFill>
                        <a:srgbClr val="0000FF"/>
                      </a:solidFill>
                    </a:rPr>
                    <a:t>answer questions </a:t>
                  </a:r>
                  <a:r>
                    <a:rPr lang="en-US" dirty="0"/>
                    <a:t>posed to it? </a:t>
                  </a: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8184048" y="4656351"/>
                <a:ext cx="14520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In-model</a:t>
                </a:r>
              </a:p>
            </p:txBody>
          </p:sp>
        </p:grpSp>
      </p:grpSp>
      <p:sp>
        <p:nvSpPr>
          <p:cNvPr id="19" name="Introduction Textbox 1 2">
            <a:extLst>
              <a:ext uri="{FF2B5EF4-FFF2-40B4-BE49-F238E27FC236}">
                <a16:creationId xmlns:a16="http://schemas.microsoft.com/office/drawing/2014/main" id="{4F68377F-AEBE-4C0C-9490-3F72565F2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" y="117893"/>
            <a:ext cx="1921791" cy="24622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spcAft>
                <a:spcPts val="250"/>
              </a:spcAft>
            </a:pPr>
            <a:r>
              <a:rPr lang="en-US" sz="1000" b="1" dirty="0">
                <a:solidFill>
                  <a:srgbClr val="005BBB"/>
                </a:solidFill>
                <a:latin typeface="+mn-lt"/>
                <a:cs typeface="Calibri" panose="020F0502020204030204" pitchFamily="34" charset="0"/>
              </a:rPr>
              <a:t>Background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FCB47-8C48-400D-BD35-FED4FEBCF8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896E88-E9B8-4587-AF3E-AD3498DFFCCB}"/>
              </a:ext>
            </a:extLst>
          </p:cNvPr>
          <p:cNvSpPr txBox="1"/>
          <p:nvPr/>
        </p:nvSpPr>
        <p:spPr>
          <a:xfrm>
            <a:off x="7553194" y="175883"/>
            <a:ext cx="4490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[*] arXiv:2302.04919 </a:t>
            </a:r>
          </a:p>
        </p:txBody>
      </p:sp>
      <p:sp>
        <p:nvSpPr>
          <p:cNvPr id="15" name="Text Placeholder 1 2 2 2">
            <a:extLst>
              <a:ext uri="{FF2B5EF4-FFF2-40B4-BE49-F238E27FC236}">
                <a16:creationId xmlns:a16="http://schemas.microsoft.com/office/drawing/2014/main" id="{F0436969-77DD-401E-AAC4-5C311B0D1A8B}"/>
              </a:ext>
            </a:extLst>
          </p:cNvPr>
          <p:cNvSpPr txBox="1">
            <a:spLocks/>
          </p:cNvSpPr>
          <p:nvPr/>
        </p:nvSpPr>
        <p:spPr>
          <a:xfrm>
            <a:off x="3296626" y="4608761"/>
            <a:ext cx="5598749" cy="67710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b="1" i="1" dirty="0">
                <a:highlight>
                  <a:srgbClr val="FFFF00"/>
                </a:highlight>
                <a:latin typeface="+mn-lt"/>
              </a:rPr>
              <a:t>V-score[*]:</a:t>
            </a:r>
            <a:r>
              <a:rPr lang="en-US" sz="2000" i="1" dirty="0">
                <a:highlight>
                  <a:srgbClr val="FFFF00"/>
                </a:highlight>
                <a:latin typeface="+mn-lt"/>
              </a:rPr>
              <a:t> Metric for model </a:t>
            </a:r>
            <a:r>
              <a:rPr lang="en-US" sz="2000" i="1" dirty="0">
                <a:solidFill>
                  <a:srgbClr val="0000FF"/>
                </a:solidFill>
                <a:highlight>
                  <a:srgbClr val="FFFF00"/>
                </a:highlight>
                <a:latin typeface="+mn-lt"/>
              </a:rPr>
              <a:t>completeness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+mn-lt"/>
              </a:rPr>
              <a:t>Is the trial eigenstate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well-converged</a:t>
            </a:r>
            <a:r>
              <a:rPr lang="en-US" dirty="0">
                <a:latin typeface="+mn-lt"/>
              </a:rPr>
              <a:t> to an actual eigenstate?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480572-3846-47BE-9335-48A346947C21}"/>
              </a:ext>
            </a:extLst>
          </p:cNvPr>
          <p:cNvGrpSpPr/>
          <p:nvPr/>
        </p:nvGrpSpPr>
        <p:grpSpPr>
          <a:xfrm>
            <a:off x="2275836" y="5347552"/>
            <a:ext cx="7640328" cy="1005840"/>
            <a:chOff x="4953000" y="2926080"/>
            <a:chExt cx="7640328" cy="100584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D1B71BD-910B-4C8F-85B3-1EAB356583B0}"/>
                </a:ext>
              </a:extLst>
            </p:cNvPr>
            <p:cNvGrpSpPr/>
            <p:nvPr/>
          </p:nvGrpSpPr>
          <p:grpSpPr>
            <a:xfrm>
              <a:off x="4953000" y="2926080"/>
              <a:ext cx="2286000" cy="1005840"/>
              <a:chOff x="4953000" y="2926080"/>
              <a:chExt cx="2286000" cy="1005840"/>
            </a:xfrm>
          </p:grpSpPr>
          <p:sp>
            <p:nvSpPr>
              <p:cNvPr id="20" name="Rounded Rectangle 109">
                <a:extLst>
                  <a:ext uri="{FF2B5EF4-FFF2-40B4-BE49-F238E27FC236}">
                    <a16:creationId xmlns:a16="http://schemas.microsoft.com/office/drawing/2014/main" id="{5DDD3434-D488-40C6-9FA7-4D723061ADB0}"/>
                  </a:ext>
                </a:extLst>
              </p:cNvPr>
              <p:cNvSpPr/>
              <p:nvPr/>
            </p:nvSpPr>
            <p:spPr>
              <a:xfrm>
                <a:off x="4953000" y="2926080"/>
                <a:ext cx="2286000" cy="100584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Picture 20" descr="\documentclass{article}&#10;\usepackage{amsmath,bm,physics,mathtools}&#10;\pagestyle{empty}&#10;\begin{document}&#10;&#10;\begin{equation*}&#10;v^2 \coloneqq \frac{\expval{\hat{H}^{2}}}{E^{2}} - 1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79B1441A-86DD-415F-BE27-798A64B31C3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5128000" y="3028391"/>
                <a:ext cx="1936000" cy="801219"/>
              </a:xfrm>
              <a:prstGeom prst="rect">
                <a:avLst/>
              </a:prstGeom>
            </p:spPr>
          </p:pic>
        </p:grpSp>
        <p:pic>
          <p:nvPicPr>
            <p:cNvPr id="18" name="Picture 17" descr="\documentclass{article}&#10;\usepackage{amsmath,bm,mathtools,physics}&#10;\pagestyle{empty}&#10;\begin{document}&#10;&#10;\begin{equation*}&#10;\left\langle \hat{H}^2 \right\rangle &#10;\coloneqq&#10;\frac{&#10;\expval{\hat{H}_0^2 + \hat{H}_{0}\hat{U} + \hat{U}\hat{H}_{0} + \hat{U}^2}{\Psi_{\beta}}&#10;}{&#10;\braket{\Psi_\beta}&#10;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81AB4832-B594-4F79-BCC6-47524F9BC34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7866473" y="3100619"/>
              <a:ext cx="4726855" cy="6567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110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“Modified” </a:t>
            </a:r>
            <a:r>
              <a:rPr lang="en-US" dirty="0" err="1"/>
              <a:t>Shindo</a:t>
            </a:r>
            <a:r>
              <a:rPr lang="en-US" dirty="0"/>
              <a:t>-Nara equation?</a:t>
            </a:r>
          </a:p>
        </p:txBody>
      </p:sp>
      <p:pic>
        <p:nvPicPr>
          <p:cNvPr id="9" name="Picture 8" descr="\documentclass{article}&#10;\usepackage{amsmath,bm,physics}&#10;\pagestyle{empty}&#10;\begin{document}&#10;&#10;\begin{align*}&#10;\bra{\Psi_\beta}\hat{H}_{0}^{2}\ket{\Psi_\beta} &#10;&amp; \approx&#10;\sum_{pq}\beta_{p}^{*}\beta_{q}&#10;\int_{BZ} \dd\vb{k}\,\dd\vb{k}^{\prime}\, &#10;E_{\vb{k}}&#10;E_{\vb{k}^{\prime}}&#10;\tilde{A}^{(p)}_{\vb{k}}A^{(q)}_{\vb{k}^{\prime}}&#10;\delta\left(\vb*{k}^{\prime}-\vb*{k}\right)&#10;\\&#10;&amp; =&#10;\sum_{pg}\beta_{p}^{*}\beta_{q}&#10;\int \dd\vb{r}\, &#10;\mathrm{e}^{\mathrm{i}\left(\vb{k}_{p}-\vb{k}_{q}\right)\cdot\vb{r}}&#10;\left[\hat{T}^{(p)}F^{(p)}\right]^{\dagger}\left[\hat{T}^{(q)}F^{(q)}\right]&#10;\end{align*}&#10;&#10;\end{document}" title="IguanaTex Bitmap Display">
            <a:extLst>
              <a:ext uri="{FF2B5EF4-FFF2-40B4-BE49-F238E27FC236}">
                <a16:creationId xmlns:a16="http://schemas.microsoft.com/office/drawing/2014/main" id="{E31E785E-A099-4631-BB9E-51994D18CD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99323" y="1895105"/>
            <a:ext cx="6193354" cy="13275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20690" y="3425133"/>
            <a:ext cx="8750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reasonable assumption for </a:t>
            </a:r>
            <a:r>
              <a:rPr lang="en-US" dirty="0">
                <a:solidFill>
                  <a:srgbClr val="7030A0"/>
                </a:solidFill>
              </a:rPr>
              <a:t>verisimilitude</a:t>
            </a:r>
            <a:r>
              <a:rPr lang="en-US" dirty="0"/>
              <a:t> that the kinetic term </a:t>
            </a:r>
            <a:r>
              <a:rPr lang="en-US" dirty="0">
                <a:solidFill>
                  <a:srgbClr val="7030A0"/>
                </a:solidFill>
              </a:rPr>
              <a:t>doesn’t mix the valleys</a:t>
            </a:r>
            <a:r>
              <a:rPr lang="en-US" dirty="0"/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931" y="4930959"/>
            <a:ext cx="108041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However</a:t>
            </a:r>
            <a:r>
              <a:rPr lang="en-US" dirty="0"/>
              <a:t>, to ensure that the square of the V-score is </a:t>
            </a:r>
            <a:r>
              <a:rPr lang="en-US" dirty="0">
                <a:solidFill>
                  <a:srgbClr val="A87B00"/>
                </a:solidFill>
              </a:rPr>
              <a:t>positive definite</a:t>
            </a:r>
            <a:r>
              <a:rPr lang="en-US" dirty="0"/>
              <a:t>, the previously dropped terms </a:t>
            </a:r>
            <a:r>
              <a:rPr lang="en-US" b="1" i="1" dirty="0">
                <a:solidFill>
                  <a:srgbClr val="A87B00"/>
                </a:solidFill>
              </a:rPr>
              <a:t>must be kept</a:t>
            </a:r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BD54F3-574D-4DEA-8EA8-73F3DC2FE986}"/>
              </a:ext>
            </a:extLst>
          </p:cNvPr>
          <p:cNvGrpSpPr/>
          <p:nvPr/>
        </p:nvGrpSpPr>
        <p:grpSpPr>
          <a:xfrm>
            <a:off x="2895600" y="5502777"/>
            <a:ext cx="6400800" cy="731520"/>
            <a:chOff x="2895600" y="5502777"/>
            <a:chExt cx="6400800" cy="731520"/>
          </a:xfrm>
        </p:grpSpPr>
        <p:pic>
          <p:nvPicPr>
            <p:cNvPr id="6" name="Picture 5" descr="\documentclass{article}&#10;\usepackage{amsmath,bm,physics}&#10;\pagestyle{empty}&#10;\begin{document}&#10;&#10;\begin{align*}&#10;\bra{\Psi_\beta}\hat{H}_{0}^{2}\ket{\Psi_\beta}&#10;&amp; \rightarrow&#10;\sum_{pg}\beta_{p}^{*}\beta_{q}&#10;\int \dd\vb{r}\, &#10;\mathrm{e}^{\mathrm{i}\left(\vb*{k}_{p}-\vb*{k}_{q}\right)\cdot\vb{r}}&#10;\left[\hat{T}^{(p)}F^{(p)}\right]^{\dagger}\left[\hat{T}^{(q)}F^{(q)}\right]&#10;\end{align*}&#10;&#10;\end{document}" title="IguanaTex Bitmap Display">
              <a:extLst>
                <a:ext uri="{FF2B5EF4-FFF2-40B4-BE49-F238E27FC236}">
                  <a16:creationId xmlns:a16="http://schemas.microsoft.com/office/drawing/2014/main" id="{876D4A58-2726-4E23-A3C8-895D3339A8F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2974635" y="5562023"/>
              <a:ext cx="6245474" cy="613028"/>
            </a:xfrm>
            <a:prstGeom prst="rect">
              <a:avLst/>
            </a:prstGeom>
          </p:spPr>
        </p:pic>
        <p:sp>
          <p:nvSpPr>
            <p:cNvPr id="28" name="Rounded Rectangle 109 1">
              <a:extLst>
                <a:ext uri="{FF2B5EF4-FFF2-40B4-BE49-F238E27FC236}">
                  <a16:creationId xmlns:a16="http://schemas.microsoft.com/office/drawing/2014/main" id="{20AEDF22-33AD-47C7-8035-6F525729DD07}"/>
                </a:ext>
              </a:extLst>
            </p:cNvPr>
            <p:cNvSpPr/>
            <p:nvPr/>
          </p:nvSpPr>
          <p:spPr>
            <a:xfrm>
              <a:off x="2895600" y="5502777"/>
              <a:ext cx="6400800" cy="73152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3EBED2-6320-4B35-8948-C9C9036F9F50}"/>
              </a:ext>
            </a:extLst>
          </p:cNvPr>
          <p:cNvGrpSpPr/>
          <p:nvPr/>
        </p:nvGrpSpPr>
        <p:grpSpPr>
          <a:xfrm>
            <a:off x="3489960" y="3996952"/>
            <a:ext cx="5212080" cy="731520"/>
            <a:chOff x="3327850" y="4314673"/>
            <a:chExt cx="5212080" cy="731520"/>
          </a:xfrm>
        </p:grpSpPr>
        <p:pic>
          <p:nvPicPr>
            <p:cNvPr id="22" name="Picture 21" descr="\documentclass{article}&#10;\usepackage{amsmath,bm,physics}&#10;\pagestyle{empty}&#10;\begin{document}&#10;&#10;\begin{align*}&#10;\bra{\Psi_\beta}\hat{H}_{0}^{2}\ket{\Psi_\beta}&#10;&amp; \rightarrow&#10;\int \dd\vb{r}\, &#10;\left[\hat{T}^{(z)}F^{(z)}\right]^{\dagger}\left[\hat{T}^{(z)}F^{(z)}\right]&#10;\quad\text{(?)}&#10;\end{align*}&#10;&#10;\end{document}" title="IguanaTex Bitmap Display">
              <a:extLst>
                <a:ext uri="{FF2B5EF4-FFF2-40B4-BE49-F238E27FC236}">
                  <a16:creationId xmlns:a16="http://schemas.microsoft.com/office/drawing/2014/main" id="{AEB5C174-00F7-421C-AB59-9E474394699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3455038" y="4413417"/>
              <a:ext cx="4957704" cy="514285"/>
            </a:xfrm>
            <a:prstGeom prst="rect">
              <a:avLst/>
            </a:prstGeom>
          </p:spPr>
        </p:pic>
        <p:sp>
          <p:nvSpPr>
            <p:cNvPr id="32" name="Rounded Rectangle 109 2">
              <a:extLst>
                <a:ext uri="{FF2B5EF4-FFF2-40B4-BE49-F238E27FC236}">
                  <a16:creationId xmlns:a16="http://schemas.microsoft.com/office/drawing/2014/main" id="{A487A764-CFF8-474D-B04A-B09927C33E02}"/>
                </a:ext>
              </a:extLst>
            </p:cNvPr>
            <p:cNvSpPr/>
            <p:nvPr/>
          </p:nvSpPr>
          <p:spPr>
            <a:xfrm>
              <a:off x="3327850" y="4314673"/>
              <a:ext cx="5212080" cy="731520"/>
            </a:xfrm>
            <a:prstGeom prst="roundRect">
              <a:avLst/>
            </a:prstGeom>
            <a:noFill/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51D7C7-8D4C-49DB-AED1-5164C9E6D1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9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Construction – Hamiltonian Squared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35CD02-DC33-45A6-9721-BC372AC1BB58}"/>
              </a:ext>
            </a:extLst>
          </p:cNvPr>
          <p:cNvGrpSpPr/>
          <p:nvPr/>
        </p:nvGrpSpPr>
        <p:grpSpPr>
          <a:xfrm>
            <a:off x="461714" y="3364089"/>
            <a:ext cx="11268573" cy="2043434"/>
            <a:chOff x="461714" y="3610977"/>
            <a:chExt cx="11268573" cy="2043434"/>
          </a:xfrm>
        </p:grpSpPr>
        <p:pic>
          <p:nvPicPr>
            <p:cNvPr id="71" name="Picture 70" descr="\documentclass{article}&#10;\usepackage{amsmath,bm,physics}&#10;\pagestyle{empty}&#10;\begin{document}&#10;&#10;\begin{equation*}&#10;\left(\vb*{\mathcal{T}}^{2}\right)_{ij}&#10;=&#10;\sum_{pq}&#10;\beta_{p}^{*}\beta_{q}&#10;\int\mathrm{d}\vb{r}\,&#10;\mathrm{e}^{\mathrm{i}\left(\bm{k}_{q}-\bm{k}_{p}\right)\cdot\vb{r}}&#10;\left[\hat{T}^{(p)}\Phi_{i\vb{r}}^{(p)}\right]^{\dagger}&#10;\left[\hat{T}^{(q)}\Phi_{j\vb{r}}^{(q)}\right]&#10;\end{equation*}&#10;&#10;\end{document}" title="IguanaTex Bitmap Display">
              <a:extLst>
                <a:ext uri="{FF2B5EF4-FFF2-40B4-BE49-F238E27FC236}">
                  <a16:creationId xmlns:a16="http://schemas.microsoft.com/office/drawing/2014/main" id="{7DE33AF9-30F4-473E-B1AA-047B4A293D1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61714" y="4326865"/>
              <a:ext cx="5547431" cy="61165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" name="Picture 66" descr="\documentclass{article}&#10;\usepackage{amsmath,bm,physics}&#10;\pagestyle{empty}&#10;\begin{document}&#10;&#10;\begin{align*}&#10;\left(\vb*{\mathcal{U}}^{2}\right)_{ij}&#10;&amp; = &#10;\sum_{pq}\beta_{p}^{*}\beta_{q}&#10;\int \mathrm{d}\vb{r}\,&#10;\tilde{\Theta}_{\Omega_{i}\vb{r}}^{(p)}\Theta_{\Omega_{j}\vb{r}}^{(q)}&#10;\tilde{\Phi}_{i\vb{r}}^{(p)}&#10;\Phi_{j\vb{r}}^{(q)}&#10;U_{\bm{r}}^{2}&#10;\\&#10;\left(\vb*{\mathcal{T}\mathcal{U}}\right)_{ij}&#10;&amp; = &#10;\sum_{pq}\beta_{p}^{*}\beta_{q}&#10;\int \mathrm{d}\vb{r}\,&#10;\tilde{\Theta}_{\Omega_{i}\vb{r}}^{(p)}\Theta_{\Omega_{j}\vb{r}}^{(q)}&#10;\left[\hat{T}^{(p)}\Phi_{i\vb{r}}^{(p)}\right]^{\dagger}&#10;\Phi_{j\vb{r}}^{(q)}&#10;U_{\bm{r}}&#10;\\&#10;\left(\vb*{\mathcal{U}\mathcal{T}}\right)_{ij}&#10;&amp; = &#10;\sum_{pq}\beta_{p}^{*}\beta_{q}&#10;\int \mathrm{d}\vb{r}\,&#10;\tilde{\Theta}_{\Omega_{i}\vb{r}}^{(p)}\Theta_{\Omega_{j}\vb{r}}^{(q)}&#10;\tilde{\Phi}_{i\vb{r}}^{(p)}&#10;\left[\hat{T}^{(q)}\Phi_{j\vb{r}}^{(q)}\right]&#10;U_{\bm{r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0BD6625C-62E3-4C47-9ACD-720C9E21C34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470859" y="3610977"/>
              <a:ext cx="5259428" cy="20434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pic>
        <p:nvPicPr>
          <p:cNvPr id="59" name="Picture 58" descr="\documentclass{article}&#10;\usepackage{amsmath,bm,physics}&#10;\pagestyle{empty}&#10;\begin{document}&#10;&#10;\begin{equation*}&#10;\left\langle \hat{H}^2 \right\rangle &#10;= &#10;\frac{&#10;\bm{c}^{\dag}\left(\vb*{\mathcal{T}}^2 + \vb*{\mathcal{T}\mathcal{U}} + \vb*{\mathcal{U}\mathcal{T}} + \vb*{\mathcal{U}}^2\right)\bm{c}&#10;}{&#10;\bm{c}^{\dag}\vb*{\mathcal{S}}\bm{c}&#10;}&#10;\end{equation*}&#10;&#10;\end{document}" title="IguanaTex Bitmap Display">
            <a:extLst>
              <a:ext uri="{FF2B5EF4-FFF2-40B4-BE49-F238E27FC236}">
                <a16:creationId xmlns:a16="http://schemas.microsoft.com/office/drawing/2014/main" id="{95153412-FAD3-4F03-9694-7BE809C731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25143" y="5780788"/>
            <a:ext cx="4141714" cy="594286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2AE4922F-6FB1-4B92-BC5E-CDFBD10A8057}"/>
              </a:ext>
            </a:extLst>
          </p:cNvPr>
          <p:cNvGrpSpPr/>
          <p:nvPr/>
        </p:nvGrpSpPr>
        <p:grpSpPr>
          <a:xfrm>
            <a:off x="2718386" y="1963997"/>
            <a:ext cx="6755229" cy="1026827"/>
            <a:chOff x="2718386" y="2152973"/>
            <a:chExt cx="6755229" cy="1026827"/>
          </a:xfrm>
        </p:grpSpPr>
        <p:pic>
          <p:nvPicPr>
            <p:cNvPr id="32" name="Picture 31" descr="\documentclass{article}&#10;\usepackage{amsmath,bm,physics,mathtools}&#10;\pagestyle{empty}&#10;\begin{document}&#10;&#10;\begin{equation*}&#10;\vb*{c}^{\dagger}\left(\vb*{\mathcal{T}}^{2}\right)\vb*{c} \coloneqq \expval{\hat{H}_0^2}{\Psi_\beta}&#10;\quad\quad&#10;\vb*{c}^{\dagger}\left(\vb*{\mathcal{U}}^{2}\right)\vb*{c} \coloneqq \expval{\hat{U}^2}{\Psi_\beta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7DBE52F-A841-4F57-B63C-0C99F582910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989063" y="2152973"/>
              <a:ext cx="6213875" cy="335421"/>
            </a:xfrm>
            <a:prstGeom prst="rect">
              <a:avLst/>
            </a:prstGeom>
          </p:spPr>
        </p:pic>
        <p:pic>
          <p:nvPicPr>
            <p:cNvPr id="35" name="Picture 34" descr="\documentclass{article}&#10;\usepackage{amsmath,bm,physics,mathtools}&#10;\pagestyle{empty}&#10;\begin{document}&#10;&#10;\begin{equation*}&#10;\vb*{c}^{\dagger}\left(\vb*{\mathcal{T}}\vb*{\mathcal{U}}\right)\vb*{c} \coloneqq \expval{\hat{H}_0 \hat{U}}{\Psi_\beta}&#10;\quad\quad&#10;\vb*{c}^{\dagger}\left(\vb*{\mathcal{U}}\vb*{\mathcal{T}}\right)\vb*{c} \coloneqq \expval{\hat{U} \hat{H}_0}{\Psi_\beta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63C2909-3726-4BEF-8392-1410A12F3DA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718386" y="2859980"/>
              <a:ext cx="6755229" cy="319820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99B076-412B-4E64-89F1-E47CC01D69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231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AF89-67C0-4F6B-8650-26DB6EB2B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The Basis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BAABE-BBBB-4023-A0B0-195BC898E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7AC8A-3AFA-4FD4-AF8C-55895FE143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02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\documentclass{article}&#10;\usepackage{amsmath,amssymb,bm}&#10;\pagestyle{empty}&#10;\begin{document}&#10;&#10;\begin{align*}&#10;\mathcal{R}&#10;_{\eta;kl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7D2B0E3-2E7E-4D81-80E8-01192285BA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893716" y="5602730"/>
            <a:ext cx="6404569" cy="8243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basis functions defined</a:t>
            </a:r>
          </a:p>
        </p:txBody>
      </p:sp>
      <p:pic>
        <p:nvPicPr>
          <p:cNvPr id="8" name="Picture 7" descr="\documentclass{article}&#10;\usepackage{amsmath,bm,eufrak}&#10;\pagestyle{empty}&#10;\begin{document}&#10;&#10;\begin{equation*}&#10;\Phi_{\lambda\eta;m\zeta lk}^{(Wq)}&#10;= &#10;\hat{Q}_{m\zeta}^{(q)}&#10;\hat{\mathcal{P}}_{\lambda;lm}^{(q)}&#10;\mathcal{R} _{\eta_{q};kl} ^{\left(W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13953A1C-A384-41C3-B8C0-59C17D8828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589716" y="1857139"/>
            <a:ext cx="3012569" cy="39009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1E7A289-EFA4-4B3B-9CDC-29EE313F2B50}"/>
              </a:ext>
            </a:extLst>
          </p:cNvPr>
          <p:cNvGrpSpPr/>
          <p:nvPr/>
        </p:nvGrpSpPr>
        <p:grpSpPr>
          <a:xfrm>
            <a:off x="910266" y="2509861"/>
            <a:ext cx="10371467" cy="1953521"/>
            <a:chOff x="910266" y="2602221"/>
            <a:chExt cx="10371467" cy="1953521"/>
          </a:xfrm>
        </p:grpSpPr>
        <p:pic>
          <p:nvPicPr>
            <p:cNvPr id="6" name="Picture 5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vartheta_{\lambda\left\{\chi_{q}\right\}}^{3}}}&#10;\hat{P}_{lm\left\{\chi_{q}^\prime\right\}}&#10;\\&#10;\hat{Q}_{m\zeta}^{(q)}&#10;&amp; = &#10;\frac{1}{\sqrt{2\pi}}&#10;\left(\frac{\mathrm{e}^{\mathrm{i}m \phi_{q}}+ \zeta\mathrm{e}^{-\mathrm{i}m \phi_{q}}}&#10;{2\delta_{m0} + \sqrt{2}\left(1-\delta_{m0}\right)}\right)&#10;\end{align*}&#10;&#10;\end{document} " title="IguanaTex Bitmap Display">
              <a:extLst>
                <a:ext uri="{FF2B5EF4-FFF2-40B4-BE49-F238E27FC236}">
                  <a16:creationId xmlns:a16="http://schemas.microsoft.com/office/drawing/2014/main" id="{F4679393-57D7-456A-8B21-23760E3BE46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910266" y="2602221"/>
              <a:ext cx="4179811" cy="1953521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C51ABE5-50DA-42F9-9D7D-746C5EFFA2D3}"/>
                </a:ext>
              </a:extLst>
            </p:cNvPr>
            <p:cNvGrpSpPr/>
            <p:nvPr/>
          </p:nvGrpSpPr>
          <p:grpSpPr>
            <a:xfrm>
              <a:off x="6797297" y="2602981"/>
              <a:ext cx="4484436" cy="1952000"/>
              <a:chOff x="6808836" y="3100269"/>
              <a:chExt cx="4484436" cy="1952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249CE76-A88C-4487-89DB-79F5FC40B2A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209C886-60C8-48AA-9803-1DBF5239F77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  <p:pic>
        <p:nvPicPr>
          <p:cNvPr id="57" name="Picture 56" descr="\documentclass{article}&#10;\usepackage{amsmath,bm,eufrak}&#10;\pagestyle{empty}&#10;\begin{document}&#10;&#10;\begin{equation*}&#10;\eta_{q}&#10;= &#10;\frac{\eta}{\vartheta_{\lambda\left\{\chi_{q}\right\}}}&#10;\quad \quad&#10;\chi_{q}^\prime&#10;=&#10;\frac{\lambda \chi_{q}}{\vartheta_{\lambda\left\{\chi_{q}\right\}}}&#10;\end{equation*}&#10;&#10;\end{document}" title="IguanaTex Bitmap Display">
            <a:extLst>
              <a:ext uri="{FF2B5EF4-FFF2-40B4-BE49-F238E27FC236}">
                <a16:creationId xmlns:a16="http://schemas.microsoft.com/office/drawing/2014/main" id="{606B66AD-0379-479C-93D8-7D668F94660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92953" y="4726009"/>
            <a:ext cx="3206094" cy="61409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755206-916A-4558-AC97-ADDB2FB0B8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98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srgbClr val="005BBB"/>
                </a:solidFill>
              </a:rPr>
              <a:t>Complete, Extensible “</a:t>
            </a:r>
            <a:r>
              <a:rPr lang="en-US" dirty="0" err="1">
                <a:solidFill>
                  <a:srgbClr val="005BBB"/>
                </a:solidFill>
              </a:rPr>
              <a:t>Subbasis</a:t>
            </a:r>
            <a:r>
              <a:rPr lang="en-US" dirty="0">
                <a:solidFill>
                  <a:srgbClr val="005BBB"/>
                </a:solidFill>
              </a:rPr>
              <a:t>”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6DF0E9-1F18-4579-AB88-FD0C328B30FA}"/>
              </a:ext>
            </a:extLst>
          </p:cNvPr>
          <p:cNvGrpSpPr/>
          <p:nvPr/>
        </p:nvGrpSpPr>
        <p:grpSpPr>
          <a:xfrm>
            <a:off x="1437471" y="1736064"/>
            <a:ext cx="9317059" cy="4766498"/>
            <a:chOff x="597408" y="1736064"/>
            <a:chExt cx="9317059" cy="47664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Introduction Textbox 1 1 2">
                  <a:extLst>
                    <a:ext uri="{FF2B5EF4-FFF2-40B4-BE49-F238E27FC236}">
                      <a16:creationId xmlns:a16="http://schemas.microsoft.com/office/drawing/2014/main" id="{EC63686C-B639-4846-8E9D-9056C82EB0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7408" y="1736064"/>
                  <a:ext cx="9317059" cy="476649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>
                  <a:lvl1pPr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1pPr>
                  <a:lvl2pPr marL="742950" indent="-285750"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2pPr>
                  <a:lvl3pPr marL="1143000" indent="-228600"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3pPr>
                  <a:lvl4pPr marL="1600200" indent="-228600"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4pPr>
                  <a:lvl5pPr marL="2057400" indent="-228600"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900">
                      <a:solidFill>
                        <a:schemeClr val="tx1"/>
                      </a:solidFill>
                      <a:latin typeface="Arial Narrow" charset="0"/>
                      <a:ea typeface="ＭＳ Ｐゴシック" charset="-128"/>
                    </a:defRPr>
                  </a:lvl9pPr>
                </a:lstStyle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800" dirty="0">
                      <a:latin typeface="+mn-lt"/>
                    </a:rPr>
                    <a:t>Underlying naïve subbases are </a:t>
                  </a:r>
                  <a:r>
                    <a:rPr lang="en-US" sz="1800" b="1" i="1" dirty="0">
                      <a:latin typeface="+mn-lt"/>
                    </a:rPr>
                    <a:t>orthonormal</a:t>
                  </a:r>
                  <a:r>
                    <a:rPr lang="en-US" sz="1800" dirty="0">
                      <a:latin typeface="+mn-lt"/>
                    </a:rPr>
                    <a:t>, </a:t>
                  </a:r>
                  <a:r>
                    <a:rPr lang="en-US" sz="1800" b="1" i="1" dirty="0">
                      <a:solidFill>
                        <a:srgbClr val="001B4C"/>
                      </a:solidFill>
                      <a:latin typeface="+mn-lt"/>
                    </a:rPr>
                    <a:t>fully complete</a:t>
                  </a:r>
                  <a:r>
                    <a:rPr lang="en-US" sz="1800" dirty="0">
                      <a:solidFill>
                        <a:srgbClr val="001B4C"/>
                      </a:solidFill>
                      <a:latin typeface="+mn-lt"/>
                    </a:rPr>
                    <a:t> </a:t>
                  </a:r>
                  <a:r>
                    <a:rPr lang="en-US" sz="1800" dirty="0">
                      <a:latin typeface="+mn-lt"/>
                    </a:rPr>
                    <a:t>over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1800" dirty="0">
                      <a:latin typeface="+mn-lt"/>
                    </a:rPr>
                    <a:t>.</a:t>
                  </a: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800" i="1" dirty="0">
                      <a:latin typeface="+mn-lt"/>
                    </a:rPr>
                    <a:t>Solid angle</a:t>
                  </a:r>
                  <a:r>
                    <a:rPr lang="en-US" sz="1800" dirty="0">
                      <a:latin typeface="+mn-lt"/>
                    </a:rPr>
                    <a:t> expansion in </a:t>
                  </a:r>
                  <a:r>
                    <a:rPr lang="en-US" sz="1800" b="1" i="1" dirty="0">
                      <a:latin typeface="+mn-lt"/>
                    </a:rPr>
                    <a:t>spherical harmonics</a:t>
                  </a:r>
                  <a:r>
                    <a:rPr lang="en-US" sz="1800" dirty="0">
                      <a:latin typeface="+mn-lt"/>
                    </a:rPr>
                    <a:t>. </a:t>
                  </a:r>
                  <a:r>
                    <a:rPr lang="en-US" sz="1800" i="1" dirty="0">
                      <a:latin typeface="+mn-lt"/>
                    </a:rPr>
                    <a:t>Radial</a:t>
                  </a:r>
                  <a:r>
                    <a:rPr lang="en-US" sz="1800" dirty="0">
                      <a:latin typeface="+mn-lt"/>
                    </a:rPr>
                    <a:t> expansion in </a:t>
                  </a:r>
                  <a:r>
                    <a:rPr lang="en-US" sz="1800" b="1" i="1" dirty="0">
                      <a:latin typeface="+mn-lt"/>
                    </a:rPr>
                    <a:t>Laguerre polynomials</a:t>
                  </a:r>
                  <a:r>
                    <a:rPr lang="en-US" sz="1800" dirty="0">
                      <a:latin typeface="+mn-lt"/>
                    </a:rPr>
                    <a:t>.</a:t>
                  </a: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800" dirty="0">
                      <a:solidFill>
                        <a:srgbClr val="666666"/>
                      </a:solidFill>
                      <a:latin typeface="+mn-lt"/>
                      <a:ea typeface="+mn-ea"/>
                    </a:rPr>
                    <a:t>Basis can utilize </a:t>
                  </a:r>
                  <a:r>
                    <a:rPr lang="en-US" sz="1800" b="1" i="1" dirty="0">
                      <a:solidFill>
                        <a:srgbClr val="666666"/>
                      </a:solidFill>
                      <a:latin typeface="+mn-lt"/>
                      <a:ea typeface="+mn-ea"/>
                    </a:rPr>
                    <a:t>Slater</a:t>
                  </a:r>
                  <a:r>
                    <a:rPr lang="en-US" sz="1800" dirty="0">
                      <a:solidFill>
                        <a:srgbClr val="666666"/>
                      </a:solidFill>
                      <a:latin typeface="+mn-lt"/>
                      <a:ea typeface="+mn-ea"/>
                    </a:rPr>
                    <a:t> (“hydrogen-like”) or </a:t>
                  </a:r>
                  <a:r>
                    <a:rPr lang="en-US" sz="1800" b="1" i="1" dirty="0">
                      <a:solidFill>
                        <a:srgbClr val="666666"/>
                      </a:solidFill>
                      <a:latin typeface="+mn-lt"/>
                      <a:ea typeface="+mn-ea"/>
                    </a:rPr>
                    <a:t>Gaussian</a:t>
                  </a:r>
                  <a:r>
                    <a:rPr lang="en-US" sz="1800" dirty="0">
                      <a:solidFill>
                        <a:srgbClr val="666666"/>
                      </a:solidFill>
                      <a:latin typeface="+mn-lt"/>
                      <a:ea typeface="+mn-ea"/>
                    </a:rPr>
                    <a:t> (“harmonic oscillator”) exponential decay.</a:t>
                  </a: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sz="1800" dirty="0">
                    <a:latin typeface="+mn-lt"/>
                  </a:endParaRP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sz="1800" dirty="0">
                    <a:latin typeface="+mn-lt"/>
                  </a:endParaRPr>
                </a:p>
                <a:p>
                  <a:pPr algn="just">
                    <a:lnSpc>
                      <a:spcPct val="120000"/>
                    </a:lnSpc>
                  </a:pPr>
                  <a:endParaRPr lang="en-US" sz="1800" dirty="0">
                    <a:latin typeface="+mn-lt"/>
                  </a:endParaRP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sz="1800" dirty="0">
                    <a:solidFill>
                      <a:srgbClr val="666666"/>
                    </a:solidFill>
                    <a:latin typeface="+mn-lt"/>
                    <a:ea typeface="+mn-ea"/>
                  </a:endParaRP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800" i="1" dirty="0">
                      <a:solidFill>
                        <a:srgbClr val="666666"/>
                      </a:solidFill>
                      <a:latin typeface="+mn-lt"/>
                      <a:ea typeface="+mn-ea"/>
                    </a:rPr>
                    <a:t>Variational</a:t>
                  </a:r>
                  <a:r>
                    <a:rPr lang="en-US" sz="1800" dirty="0">
                      <a:solidFill>
                        <a:srgbClr val="666666"/>
                      </a:solidFill>
                      <a:latin typeface="+mn-lt"/>
                      <a:ea typeface="+mn-ea"/>
                    </a:rPr>
                    <a:t> tuning: </a:t>
                  </a:r>
                  <a:r>
                    <a:rPr lang="en-US" sz="1800" b="1" i="1" dirty="0">
                      <a:latin typeface="+mn-lt"/>
                    </a:rPr>
                    <a:t>anisotropy</a:t>
                  </a:r>
                  <a:r>
                    <a:rPr lang="en-US" sz="1800" dirty="0">
                      <a:latin typeface="+mn-lt"/>
                    </a:rPr>
                    <a:t> along azimuth, overall </a:t>
                  </a:r>
                  <a:r>
                    <a:rPr lang="en-US" sz="1800" b="1" i="1" dirty="0">
                      <a:latin typeface="+mn-lt"/>
                    </a:rPr>
                    <a:t>radial</a:t>
                  </a:r>
                  <a:r>
                    <a:rPr lang="en-US" sz="1800" dirty="0">
                      <a:latin typeface="+mn-lt"/>
                    </a:rPr>
                    <a:t> scaling.</a:t>
                  </a: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800" b="1" i="1" dirty="0">
                      <a:latin typeface="+mn-lt"/>
                    </a:rPr>
                    <a:t>Bloch</a:t>
                  </a:r>
                  <a:r>
                    <a:rPr lang="en-US" sz="1800" dirty="0">
                      <a:latin typeface="+mn-lt"/>
                    </a:rPr>
                    <a:t> functions of </a:t>
                  </a:r>
                  <a:r>
                    <a:rPr lang="en-US" sz="1800" i="1" dirty="0">
                      <a:latin typeface="+mn-lt"/>
                    </a:rPr>
                    <a:t>valley minima</a:t>
                  </a:r>
                  <a:r>
                    <a:rPr lang="en-US" sz="1800" dirty="0">
                      <a:latin typeface="+mn-lt"/>
                    </a:rPr>
                    <a:t> are included as Fourier series.</a:t>
                  </a: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sz="1800" dirty="0">
                    <a:latin typeface="+mn-lt"/>
                  </a:endParaRP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sz="1800" dirty="0">
                    <a:latin typeface="+mn-lt"/>
                  </a:endParaRP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sz="1800" dirty="0">
                    <a:latin typeface="+mn-lt"/>
                  </a:endParaRP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en-US" sz="1800" dirty="0">
                    <a:latin typeface="+mn-lt"/>
                  </a:endParaRPr>
                </a:p>
                <a:p>
                  <a:pPr marL="95235" indent="-95235" algn="just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800" b="1" dirty="0">
                      <a:latin typeface="+mn-lt"/>
                    </a:rPr>
                    <a:t>Users can freely select size, composition of each </a:t>
                  </a:r>
                  <a:r>
                    <a:rPr lang="en-US" sz="1800" b="1" dirty="0" err="1">
                      <a:latin typeface="+mn-lt"/>
                    </a:rPr>
                    <a:t>subbasis</a:t>
                  </a:r>
                  <a:r>
                    <a:rPr lang="en-US" sz="1800" b="1" dirty="0">
                      <a:latin typeface="+mn-lt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05" name="Introduction Textbox 1 1 2">
                  <a:extLst>
                    <a:ext uri="{FF2B5EF4-FFF2-40B4-BE49-F238E27FC236}">
                      <a16:creationId xmlns:a16="http://schemas.microsoft.com/office/drawing/2014/main" id="{EC63686C-B639-4846-8E9D-9056C82EB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7408" y="1736064"/>
                  <a:ext cx="9317059" cy="4766498"/>
                </a:xfrm>
                <a:prstGeom prst="rect">
                  <a:avLst/>
                </a:prstGeom>
                <a:blipFill>
                  <a:blip r:embed="rId7"/>
                  <a:stretch>
                    <a:fillRect l="-458" b="-25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 descr="\documentclass{article}&#10;\usepackage{amsmath,bm}&#10;\pagestyle{empty}&#10;\begin{document}&#10;&#10;\begin{equation*}&#10;\Phi_{\lambda\eta;m\zeta lk,\Omega}^{(Wq)}&#10;=&#10;\sqrt{\lambda\left(\frac{2}{W\eta}\right)^{3}}&#10;\left(&#10;\varphi_{m\zeta lk}^{(W)}&#10;\right|_{\substack{r \rightarrow 2r/W\eta \\ z \rightarrow \lambda z \\ z \rightarrow q:\left\{x,y,z\right\}}}&#10;\left(&#10;\frac&#10;{\mathrm{e}^{\mathrm{i}\bm{k}_q\cdot \bm{r}}u_{\bm{k}_q}&#10;+ \Omega\mathrm{e}^{-\mathrm{i}\bm{k}_q\cdot \bm{r}}u_{-\bm{k}_q}}&#10;{\sqrt{2}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C3C15B3B-5F8F-434A-89BE-518CD35D587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023024" y="4915371"/>
              <a:ext cx="6465827" cy="747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Picture 16" descr="\documentclass{article}&#10;\usepackage{amsmath,bm,eufrak}&#10;\pagestyle{empty}&#10;\begin{document}&#10;&#10;\begin{equation*}&#10;\Omega = \pm 1 \\&#10;\end{equation*}&#10;&#10;\end{document} " title="IguanaTex Bitmap Display">
              <a:extLst>
                <a:ext uri="{FF2B5EF4-FFF2-40B4-BE49-F238E27FC236}">
                  <a16:creationId xmlns:a16="http://schemas.microsoft.com/office/drawing/2014/main" id="{90657061-52EB-4A7D-90DC-DC760271073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4931061" y="5837645"/>
              <a:ext cx="649752" cy="142629"/>
            </a:xfrm>
            <a:prstGeom prst="rect">
              <a:avLst/>
            </a:prstGeom>
            <a:solidFill>
              <a:srgbClr val="FFFFFF"/>
            </a:solidFill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B746AE7-C5C6-438E-9738-DFCACDEB54BB}"/>
                </a:ext>
              </a:extLst>
            </p:cNvPr>
            <p:cNvGrpSpPr/>
            <p:nvPr/>
          </p:nvGrpSpPr>
          <p:grpSpPr>
            <a:xfrm>
              <a:off x="2355214" y="3013348"/>
              <a:ext cx="5801447" cy="928675"/>
              <a:chOff x="3195277" y="3201986"/>
              <a:chExt cx="5801447" cy="928675"/>
            </a:xfrm>
          </p:grpSpPr>
          <p:pic>
            <p:nvPicPr>
              <p:cNvPr id="8" name="Picture 7" descr="\documentclass{article}&#10;\usepackage{amsmath,bm,eufrak}&#10;\pagestyle{empty}&#10;\begin{document}&#10;&#10;\begin{equation*}&#10;\varphi_{m\zeta lk}^{(W)}&#10;= &#10;\sqrt{W}&#10;r^{l}&#10;\exp\left(-\frac{r^{W}}{2}\right)&#10;\hat{L}_{k\left\{r^{W}\right\}}^{\left(\frac{2l+3}{W}-1\right)}&#10;\left(&#10;\frac{\hat{Y}_{l}^{+m}+\zeta\hat{Y}_{l}^{-m}}&#10;{2\delta_{m0} + \sqrt{2}\left(1-\delta_{m0}\right)}&#10;\right)&#10;\end{equation*}&#10;&#10;\end{document} " title="IguanaTex Bitmap Display">
                <a:extLst>
                  <a:ext uri="{FF2B5EF4-FFF2-40B4-BE49-F238E27FC236}">
                    <a16:creationId xmlns:a16="http://schemas.microsoft.com/office/drawing/2014/main" id="{2F38E580-7702-4002-ABBB-75F9636B1D7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3333029" y="3201986"/>
                <a:ext cx="5525942" cy="607086"/>
              </a:xfrm>
              <a:prstGeom prst="rect">
                <a:avLst/>
              </a:prstGeom>
            </p:spPr>
          </p:pic>
          <p:pic>
            <p:nvPicPr>
              <p:cNvPr id="12" name="Picture 11" descr="\documentclass{article}&#10;\usepackage{amsmath,bm,eufrak}&#10;\pagestyle{empty}&#10;\begin{document}&#10;&#10;\begin{equation*}&#10;m = 0, 1, 2, \ldots \quad&#10;\zeta = \pm 1 \quad&#10;l = m, m+1, m+2, \ldots \quad&#10;k = 0, 1, 2, \ldots&#10;\end{equation*}&#10;&#10;\end{document} " title="IguanaTex Bitmap Display">
                <a:extLst>
                  <a:ext uri="{FF2B5EF4-FFF2-40B4-BE49-F238E27FC236}">
                    <a16:creationId xmlns:a16="http://schemas.microsoft.com/office/drawing/2014/main" id="{1EC798AD-6523-4CE5-91AE-A8542133132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3195277" y="3947804"/>
                <a:ext cx="5801447" cy="182857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75C49D-315C-47AC-A6C0-F435DA4ACE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https://gitlab.com/cantankerous-impurity/Documentation/-/tree/core/Presentations/MarchMeeting2023(LasVegas)</a:t>
            </a:r>
          </a:p>
        </p:txBody>
      </p:sp>
    </p:spTree>
    <p:extLst>
      <p:ext uri="{BB962C8B-B14F-4D97-AF65-F5344CB8AC3E}">
        <p14:creationId xmlns:p14="http://schemas.microsoft.com/office/powerpoint/2010/main" val="391376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Introduction Textbox 1 1 2">
                <a:extLst>
                  <a:ext uri="{FF2B5EF4-FFF2-40B4-BE49-F238E27FC236}">
                    <a16:creationId xmlns:a16="http://schemas.microsoft.com/office/drawing/2014/main" id="{EC63686C-B639-4846-8E9D-9056C82EB0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580" y="2546816"/>
                <a:ext cx="10104841" cy="24397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1pPr>
                <a:lvl2pPr marL="742950" indent="-28575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2pPr>
                <a:lvl3pPr marL="11430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3pPr>
                <a:lvl4pPr marL="16002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4pPr>
                <a:lvl5pPr marL="20574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9pPr>
              </a:lstStyle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Difficult to optimize an orthonormal, complete basis span over multiple energy eigenstates.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This can be resolved by using a basis constructed as a concatenation of multiple subbases.</a:t>
                </a:r>
                <a:endParaRPr lang="en-US" sz="1800" i="1" dirty="0">
                  <a:solidFill>
                    <a:srgbClr val="666666"/>
                  </a:solidFill>
                  <a:latin typeface="+mn-lt"/>
                  <a:ea typeface="+mn-ea"/>
                </a:endParaRP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i="1" dirty="0" err="1">
                    <a:solidFill>
                      <a:srgbClr val="666666"/>
                    </a:solidFill>
                    <a:latin typeface="+mn-lt"/>
                    <a:ea typeface="+mn-ea"/>
                  </a:rPr>
                  <a:t>Superbasis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  <a:ea typeface="+mn-ea"/>
                  </a:rPr>
                  <a:t> formed from multiple orthonormal </a:t>
                </a:r>
                <a:r>
                  <a:rPr lang="en-US" sz="1800" i="1" dirty="0">
                    <a:solidFill>
                      <a:srgbClr val="666666"/>
                    </a:solidFill>
                    <a:latin typeface="+mn-lt"/>
                    <a:ea typeface="+mn-ea"/>
                  </a:rPr>
                  <a:t>subbases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  <a:ea typeface="+mn-ea"/>
                  </a:rPr>
                  <a:t> individually equipped with tuning parameters.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i="1" dirty="0">
                    <a:latin typeface="+mn-lt"/>
                  </a:rPr>
                  <a:t>Superbasis</a:t>
                </a:r>
                <a:r>
                  <a:rPr lang="en-US" sz="1800" dirty="0">
                    <a:latin typeface="+mn-lt"/>
                  </a:rPr>
                  <a:t> is </a:t>
                </a:r>
                <a:r>
                  <a:rPr lang="en-US" sz="1800" b="1" i="1" dirty="0">
                    <a:latin typeface="+mn-lt"/>
                  </a:rPr>
                  <a:t>non-orthonormal</a:t>
                </a:r>
                <a:r>
                  <a:rPr lang="en-US" sz="1800" dirty="0">
                    <a:latin typeface="+mn-lt"/>
                  </a:rPr>
                  <a:t>, </a:t>
                </a:r>
                <a:r>
                  <a:rPr lang="en-US" sz="1800" b="1" i="1" dirty="0">
                    <a:solidFill>
                      <a:srgbClr val="001B4C"/>
                    </a:solidFill>
                    <a:latin typeface="+mn-lt"/>
                  </a:rPr>
                  <a:t>overcomplete</a:t>
                </a:r>
                <a:r>
                  <a:rPr lang="en-US" sz="1800" dirty="0">
                    <a:solidFill>
                      <a:srgbClr val="001B4C"/>
                    </a:solidFill>
                    <a:latin typeface="+mn-lt"/>
                  </a:rPr>
                  <a:t> </a:t>
                </a:r>
                <a:r>
                  <a:rPr lang="en-US" sz="1800" dirty="0">
                    <a:latin typeface="+mn-lt"/>
                  </a:rPr>
                  <a:t>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latin typeface="+mn-lt"/>
                  </a:rPr>
                  <a:t>.</a:t>
                </a:r>
                <a:endParaRPr lang="en-US" sz="1800" dirty="0">
                  <a:solidFill>
                    <a:srgbClr val="666666"/>
                  </a:solidFill>
                  <a:latin typeface="+mn-lt"/>
                  <a:ea typeface="+mn-ea"/>
                </a:endParaRP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Optimization of each </a:t>
                </a:r>
                <a:r>
                  <a:rPr lang="en-US" sz="1800" dirty="0" err="1">
                    <a:solidFill>
                      <a:srgbClr val="666666"/>
                    </a:solidFill>
                    <a:latin typeface="+mn-lt"/>
                  </a:rPr>
                  <a:t>subbasis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 seems to greatly reduce numerical effects from overcomplete basis.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+mn-lt"/>
                  </a:rPr>
                  <a:t>Total number and size of subbases limited only by computation limits.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+mn-lt"/>
                  </a:rPr>
                  <a:t>Work on-going to increase code efficiency to allow for larger sub- and super-bases.</a:t>
                </a:r>
              </a:p>
            </p:txBody>
          </p:sp>
        </mc:Choice>
        <mc:Fallback xmlns="">
          <p:sp>
            <p:nvSpPr>
              <p:cNvPr id="205" name="Introduction Textbox 1 1 2">
                <a:extLst>
                  <a:ext uri="{FF2B5EF4-FFF2-40B4-BE49-F238E27FC236}">
                    <a16:creationId xmlns:a16="http://schemas.microsoft.com/office/drawing/2014/main" id="{EC63686C-B639-4846-8E9D-9056C82EB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580" y="2546816"/>
                <a:ext cx="10104841" cy="2439707"/>
              </a:xfrm>
              <a:prstGeom prst="rect">
                <a:avLst/>
              </a:prstGeom>
              <a:blipFill>
                <a:blip r:embed="rId3"/>
                <a:stretch>
                  <a:fillRect l="-362" b="-3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srgbClr val="005BBB"/>
                </a:solidFill>
              </a:rPr>
              <a:t>“</a:t>
            </a:r>
            <a:r>
              <a:rPr lang="en-US" dirty="0" err="1">
                <a:solidFill>
                  <a:srgbClr val="005BBB"/>
                </a:solidFill>
              </a:rPr>
              <a:t>Superbasis</a:t>
            </a:r>
            <a:r>
              <a:rPr lang="en-US" dirty="0">
                <a:solidFill>
                  <a:srgbClr val="005BBB"/>
                </a:solidFill>
              </a:rPr>
              <a:t>”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F2BB58-0335-41E5-B431-6B89E79E4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120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srgbClr val="005BBB"/>
                </a:solidFill>
              </a:rPr>
              <a:t>Complete, Extensible Basis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Introduction Textbox 1 1 2">
                <a:extLst>
                  <a:ext uri="{FF2B5EF4-FFF2-40B4-BE49-F238E27FC236}">
                    <a16:creationId xmlns:a16="http://schemas.microsoft.com/office/drawing/2014/main" id="{EC63686C-B639-4846-8E9D-9056C82EB0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6920" y="1905404"/>
                <a:ext cx="8138160" cy="17749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1pPr>
                <a:lvl2pPr marL="742950" indent="-28575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2pPr>
                <a:lvl3pPr marL="11430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3pPr>
                <a:lvl4pPr marL="16002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4pPr>
                <a:lvl5pPr marL="20574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9pPr>
              </a:lstStyle>
              <a:p>
                <a:pPr algn="just">
                  <a:lnSpc>
                    <a:spcPct val="120000"/>
                  </a:lnSpc>
                </a:pPr>
                <a:r>
                  <a:rPr lang="en-US" sz="1800" b="1" u="sng" dirty="0">
                    <a:solidFill>
                      <a:schemeClr val="tx2"/>
                    </a:solidFill>
                    <a:latin typeface="+mn-lt"/>
                  </a:rPr>
                  <a:t>Representation of single eigenstate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+mn-lt"/>
                  </a:rPr>
                  <a:t>Underlying naïve subbases are </a:t>
                </a:r>
                <a:r>
                  <a:rPr lang="en-US" sz="1800" i="1" dirty="0">
                    <a:latin typeface="+mn-lt"/>
                  </a:rPr>
                  <a:t>orthonormal</a:t>
                </a:r>
                <a:r>
                  <a:rPr lang="en-US" sz="1800" dirty="0">
                    <a:latin typeface="+mn-lt"/>
                  </a:rPr>
                  <a:t>, </a:t>
                </a:r>
                <a:r>
                  <a:rPr lang="en-US" sz="1800" i="1" dirty="0">
                    <a:solidFill>
                      <a:srgbClr val="001B4C"/>
                    </a:solidFill>
                    <a:latin typeface="+mn-lt"/>
                  </a:rPr>
                  <a:t>fully complete</a:t>
                </a:r>
                <a:r>
                  <a:rPr lang="en-US" sz="1800" dirty="0">
                    <a:solidFill>
                      <a:srgbClr val="001B4C"/>
                    </a:solidFill>
                    <a:latin typeface="+mn-lt"/>
                  </a:rPr>
                  <a:t> </a:t>
                </a:r>
                <a:r>
                  <a:rPr lang="en-US" sz="1800" dirty="0">
                    <a:latin typeface="+mn-lt"/>
                  </a:rPr>
                  <a:t>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latin typeface="+mn-lt"/>
                  </a:rPr>
                  <a:t>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666666"/>
                    </a:solidFill>
                    <a:latin typeface="+mn-lt"/>
                    <a:ea typeface="+mn-ea"/>
                  </a:rPr>
                  <a:t>Two </a:t>
                </a:r>
                <a:r>
                  <a:rPr lang="en-US" sz="1800" i="1" dirty="0">
                    <a:solidFill>
                      <a:srgbClr val="00B050"/>
                    </a:solidFill>
                    <a:latin typeface="+mn-lt"/>
                    <a:ea typeface="+mn-ea"/>
                  </a:rPr>
                  <a:t>variational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  <a:ea typeface="+mn-ea"/>
                  </a:rPr>
                  <a:t> parameters: </a:t>
                </a:r>
                <a:r>
                  <a:rPr lang="en-US" sz="1800" i="1" dirty="0">
                    <a:solidFill>
                      <a:srgbClr val="00B050"/>
                    </a:solidFill>
                    <a:latin typeface="+mn-lt"/>
                  </a:rPr>
                  <a:t>anisotropy</a:t>
                </a:r>
                <a:r>
                  <a:rPr lang="en-US" sz="1800" dirty="0">
                    <a:latin typeface="+mn-lt"/>
                  </a:rPr>
                  <a:t> along azimuth, overall </a:t>
                </a:r>
                <a:r>
                  <a:rPr lang="en-US" sz="1800" i="1" dirty="0">
                    <a:solidFill>
                      <a:srgbClr val="00B050"/>
                    </a:solidFill>
                    <a:latin typeface="+mn-lt"/>
                  </a:rPr>
                  <a:t>radial</a:t>
                </a:r>
                <a:r>
                  <a:rPr lang="en-US" sz="1800" dirty="0">
                    <a:latin typeface="+mn-lt"/>
                  </a:rPr>
                  <a:t> scaling.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highlight>
                      <a:srgbClr val="FFFF00"/>
                    </a:highlight>
                    <a:latin typeface="+mn-lt"/>
                  </a:rPr>
                  <a:t>Users can select membership and size of each </a:t>
                </a:r>
                <a:r>
                  <a:rPr lang="en-US" sz="1800" b="1" i="1" dirty="0" err="1">
                    <a:highlight>
                      <a:srgbClr val="FFFF00"/>
                    </a:highlight>
                    <a:latin typeface="+mn-lt"/>
                  </a:rPr>
                  <a:t>subbasis</a:t>
                </a:r>
                <a:r>
                  <a:rPr lang="en-US" sz="1800" b="1" dirty="0">
                    <a:latin typeface="+mn-lt"/>
                  </a:rPr>
                  <a:t>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However, difficult to optimize </a:t>
                </a:r>
                <a:r>
                  <a:rPr lang="en-US" sz="1800" i="1" dirty="0" err="1">
                    <a:solidFill>
                      <a:srgbClr val="FF0000"/>
                    </a:solidFill>
                    <a:latin typeface="+mn-lt"/>
                  </a:rPr>
                  <a:t>subbasis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 to span over multiple energy eigenstates.</a:t>
                </a:r>
              </a:p>
            </p:txBody>
          </p:sp>
        </mc:Choice>
        <mc:Fallback>
          <p:sp>
            <p:nvSpPr>
              <p:cNvPr id="205" name="Introduction Textbox 1 1 2">
                <a:extLst>
                  <a:ext uri="{FF2B5EF4-FFF2-40B4-BE49-F238E27FC236}">
                    <a16:creationId xmlns:a16="http://schemas.microsoft.com/office/drawing/2014/main" id="{EC63686C-B639-4846-8E9D-9056C82EB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6920" y="1905404"/>
                <a:ext cx="8138160" cy="1774909"/>
              </a:xfrm>
              <a:prstGeom prst="rect">
                <a:avLst/>
              </a:prstGeom>
              <a:blipFill>
                <a:blip r:embed="rId3"/>
                <a:stretch>
                  <a:fillRect l="-674" b="-24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75C49D-315C-47AC-A6C0-F435DA4ACE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https://gitlab.com/cantankerous-impurity/Documentation/-/tree/core/Presentations/MarchMeeting2023(LasVegas)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Introduction Textbox 1 1 2">
                <a:extLst>
                  <a:ext uri="{FF2B5EF4-FFF2-40B4-BE49-F238E27FC236}">
                    <a16:creationId xmlns:a16="http://schemas.microsoft.com/office/drawing/2014/main" id="{49B921CF-32C6-4CD0-AC75-7126859E85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6920" y="4053885"/>
                <a:ext cx="8138160" cy="21073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1pPr>
                <a:lvl2pPr marL="742950" indent="-28575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2pPr>
                <a:lvl3pPr marL="11430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3pPr>
                <a:lvl4pPr marL="16002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4pPr>
                <a:lvl5pPr marL="2057400" indent="-228600"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900">
                    <a:solidFill>
                      <a:schemeClr val="tx1"/>
                    </a:solidFill>
                    <a:latin typeface="Arial Narrow" charset="0"/>
                    <a:ea typeface="ＭＳ Ｐゴシック" charset="-128"/>
                  </a:defRPr>
                </a:lvl9pPr>
              </a:lstStyle>
              <a:p>
                <a:pPr lvl="0" algn="just">
                  <a:lnSpc>
                    <a:spcPct val="120000"/>
                  </a:lnSpc>
                </a:pPr>
                <a:r>
                  <a:rPr lang="en-US" sz="1800" b="1" u="sng" dirty="0">
                    <a:solidFill>
                      <a:srgbClr val="005BBB"/>
                    </a:solidFill>
                    <a:latin typeface="+mn-lt"/>
                    <a:ea typeface="+mn-ea"/>
                  </a:rPr>
                  <a:t>Representation of multiple eigenstates / energy spectra</a:t>
                </a:r>
                <a:endParaRPr lang="en-US" sz="1800" dirty="0">
                  <a:solidFill>
                    <a:srgbClr val="666666"/>
                  </a:solidFill>
                  <a:latin typeface="+mn-lt"/>
                </a:endParaRP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i="1" dirty="0" err="1">
                    <a:solidFill>
                      <a:srgbClr val="FF0000"/>
                    </a:solidFill>
                    <a:latin typeface="+mn-lt"/>
                  </a:rPr>
                  <a:t>Superbasis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 concatenation of individual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  <a:ea typeface="+mn-ea"/>
                  </a:rPr>
                  <a:t> independent </a:t>
                </a:r>
                <a:r>
                  <a:rPr lang="en-US" sz="1800" i="1" dirty="0">
                    <a:solidFill>
                      <a:srgbClr val="FF0000"/>
                    </a:solidFill>
                    <a:latin typeface="+mn-lt"/>
                    <a:ea typeface="+mn-ea"/>
                  </a:rPr>
                  <a:t>subbases</a:t>
                </a:r>
                <a:r>
                  <a:rPr lang="en-US" sz="1800" i="1" dirty="0">
                    <a:solidFill>
                      <a:srgbClr val="666666"/>
                    </a:solidFill>
                    <a:latin typeface="+mn-lt"/>
                    <a:ea typeface="+mn-ea"/>
                  </a:rPr>
                  <a:t>.</a:t>
                </a:r>
                <a:endParaRPr lang="en-US" sz="1800" dirty="0">
                  <a:solidFill>
                    <a:srgbClr val="666666"/>
                  </a:solidFill>
                  <a:latin typeface="+mn-lt"/>
                  <a:ea typeface="+mn-ea"/>
                </a:endParaRP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i="1" dirty="0" err="1">
                    <a:solidFill>
                      <a:srgbClr val="FF0000"/>
                    </a:solidFill>
                    <a:latin typeface="+mn-lt"/>
                  </a:rPr>
                  <a:t>Superbasis</a:t>
                </a:r>
                <a:r>
                  <a:rPr lang="en-US" sz="1800" dirty="0">
                    <a:latin typeface="+mn-lt"/>
                  </a:rPr>
                  <a:t> </a:t>
                </a:r>
                <a:r>
                  <a:rPr lang="en-US" sz="1800" i="1" dirty="0">
                    <a:latin typeface="+mn-lt"/>
                  </a:rPr>
                  <a:t>non-orthonormal</a:t>
                </a:r>
                <a:r>
                  <a:rPr lang="en-US" sz="1800" dirty="0">
                    <a:latin typeface="+mn-lt"/>
                  </a:rPr>
                  <a:t>, </a:t>
                </a:r>
                <a:r>
                  <a:rPr lang="en-US" sz="1800" i="1" dirty="0">
                    <a:solidFill>
                      <a:srgbClr val="001B4C"/>
                    </a:solidFill>
                    <a:latin typeface="+mn-lt"/>
                  </a:rPr>
                  <a:t>overcomplete</a:t>
                </a:r>
                <a:r>
                  <a:rPr lang="en-US" sz="1800" dirty="0">
                    <a:solidFill>
                      <a:srgbClr val="001B4C"/>
                    </a:solidFill>
                    <a:latin typeface="+mn-lt"/>
                  </a:rPr>
                  <a:t> </a:t>
                </a:r>
                <a:r>
                  <a:rPr lang="en-US" sz="1800" dirty="0">
                    <a:latin typeface="+mn-lt"/>
                  </a:rPr>
                  <a:t>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latin typeface="+mn-lt"/>
                  </a:rPr>
                  <a:t>.</a:t>
                </a:r>
                <a:endParaRPr lang="en-US" sz="1800" dirty="0">
                  <a:solidFill>
                    <a:srgbClr val="666666"/>
                  </a:solidFill>
                  <a:latin typeface="+mn-lt"/>
                  <a:ea typeface="+mn-ea"/>
                </a:endParaRP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Optimization of each </a:t>
                </a:r>
                <a:r>
                  <a:rPr lang="en-US" sz="1800" i="1" dirty="0" err="1">
                    <a:solidFill>
                      <a:srgbClr val="FF0000"/>
                    </a:solidFill>
                    <a:latin typeface="+mn-lt"/>
                  </a:rPr>
                  <a:t>subbasis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 seems to mitigate problems from </a:t>
                </a:r>
                <a:r>
                  <a:rPr lang="en-US" sz="1800" dirty="0" err="1">
                    <a:solidFill>
                      <a:srgbClr val="002060"/>
                    </a:solidFill>
                    <a:latin typeface="+mn-lt"/>
                  </a:rPr>
                  <a:t>overcompleteness</a:t>
                </a:r>
                <a:r>
                  <a:rPr lang="en-US" sz="1800" dirty="0">
                    <a:solidFill>
                      <a:srgbClr val="666666"/>
                    </a:solidFill>
                    <a:latin typeface="+mn-lt"/>
                  </a:rPr>
                  <a:t>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highlight>
                      <a:srgbClr val="FFFF00"/>
                    </a:highlight>
                    <a:latin typeface="+mn-lt"/>
                  </a:rPr>
                  <a:t>Total number and composition of subbases limited ONLY by computation limits.</a:t>
                </a:r>
              </a:p>
              <a:p>
                <a:pPr marL="95235" indent="-95235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+mn-lt"/>
                  </a:rPr>
                  <a:t>Work on-going to increase code efficiency to allow for larger sub- and super-bases.</a:t>
                </a:r>
              </a:p>
            </p:txBody>
          </p:sp>
        </mc:Choice>
        <mc:Fallback>
          <p:sp>
            <p:nvSpPr>
              <p:cNvPr id="11" name="Introduction Textbox 1 1 2">
                <a:extLst>
                  <a:ext uri="{FF2B5EF4-FFF2-40B4-BE49-F238E27FC236}">
                    <a16:creationId xmlns:a16="http://schemas.microsoft.com/office/drawing/2014/main" id="{49B921CF-32C6-4CD0-AC75-7126859E8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6920" y="4053885"/>
                <a:ext cx="8138160" cy="2107308"/>
              </a:xfrm>
              <a:prstGeom prst="rect">
                <a:avLst/>
              </a:prstGeom>
              <a:blipFill>
                <a:blip r:embed="rId4"/>
                <a:stretch>
                  <a:fillRect l="-674" r="-75" b="-17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767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\documentclass{article}&#10;\usepackage{amsmath,amssymb,bm}&#10;\pagestyle{empty}&#10;\begin{document}&#10;&#10;\begin{align*}&#10;\mathcal{R}&#10;_{\eta;kl,s}&#10;^{\left(W\right)\left(\kappa\right)}&#10;&amp; =&#10;\left(\frac{2}{Wa_{\perp}\eta}\right)^{\frac{3}{2}}&#10;\left[&#10;\sqrt{W}&#10;\rho^{\frac{l}{W}-\kappa\delta_{W1}-\delta_{s\bar{1}}}\mathrm{e}^{-\rho/2}&#10;\sum_{v=-2\kappa}^{\kappa+\delta_{s\bar{1}}}&#10;\mathfrak{h}_{lk,sv}^{(\kappa)}&#10;\hat{L}_{\left(k+v\right)\left\{\rho\right\}}^{\left(\alpha+\kappa-\delta_{s\bar{1}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1D552FA2-172B-44D5-9895-F58D218F15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23050" y="5025245"/>
            <a:ext cx="9145901" cy="9310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/>
              <a:t>basis states -- I</a:t>
            </a:r>
            <a:endParaRPr lang="en-US" dirty="0"/>
          </a:p>
        </p:txBody>
      </p:sp>
      <p:pic>
        <p:nvPicPr>
          <p:cNvPr id="10" name="Picture 9" descr="\documentclass{article}&#10;\usepackage{amsmath,bm,eufrak}&#10;\pagestyle{empty}&#10;\begin{document}&#10;&#10;\begin{equation*}&#10;\Phi_{\lambda\eta;m\zeta lk}^{(Wq)(\kappa)}&#10;= &#10;\left(\frac{\hbar^{2}}{2m_{0}a_{\perp}^{2}\eta^{2}}\right)^{\kappa}&#10;\hat{Q}_{m\zeta}^{(q)}&#10;\sum_{s=-\kappa}^{+\kappa}&#10;\mathfrak{H}^{(\kappa)}_{\lambda;lm,s}&#10;\hat{\mathcal{P}}_{\lambda;(l+2s)m}^{(q)}&#10;\mathcal{R} _{\eta_{q};kl,s} ^{\left(W\right)\left(\kappa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0BDEE2BE-03E6-4926-A755-B287EAC26E5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27622" y="3617734"/>
            <a:ext cx="6736757" cy="717714"/>
          </a:xfrm>
          <a:prstGeom prst="rect">
            <a:avLst/>
          </a:prstGeom>
        </p:spPr>
      </p:pic>
      <p:pic>
        <p:nvPicPr>
          <p:cNvPr id="8" name="Picture 7" descr="\documentclass{article}&#10;\usepackage{amsmath,bm,eufrak,mathtools}&#10;\pagestyle{empty}&#10;\begin{document}&#10;&#10;\begin{equation*}&#10;\Phi_{\lambda\eta;m\zeta lk}^{(Wq)(\kappa)}&#10;\coloneqq&#10;\left[\left(1-\kappa\right)\hat{I} + \kappa\hat{T}^{(q)}\right]&#10;\Phi_{\lambda\eta;m\zeta lk}^{(Wq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CD589D93-7EAD-467C-A6DE-DAA61D13AE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904764" y="2472321"/>
            <a:ext cx="4382473" cy="45561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9CE39A-D904-41A3-9953-DC353F9DA2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basis states -- II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B45C82-818A-4A62-B966-AAB6928E0FDF}"/>
              </a:ext>
            </a:extLst>
          </p:cNvPr>
          <p:cNvGrpSpPr/>
          <p:nvPr/>
        </p:nvGrpSpPr>
        <p:grpSpPr>
          <a:xfrm>
            <a:off x="215982" y="4491218"/>
            <a:ext cx="11760038" cy="1339123"/>
            <a:chOff x="215982" y="4589237"/>
            <a:chExt cx="11760038" cy="1339123"/>
          </a:xfrm>
        </p:grpSpPr>
        <p:pic>
          <p:nvPicPr>
            <p:cNvPr id="55" name="Picture 54" descr="\documentclass{article}&#10;\usepackage{amsmath,bm,eufrak}&#10;\pagestyle{empty}&#10;\begin{document}&#10;&#10;\begin{gather*}&#10;\mathfrak{g}_{lk,1\bar{2}}&#10;=&#10;-\sqrt{(k-1)k(k+\alpha)}&#10;\\&#10;\mathfrak{g}_{lk,1\bar{1}}&#10;=&#10;-\sqrt{k}\left(k+2\alpha+5-2\delta_{W,2}\right)&#10;\\&#10;\mathfrak{g}_{lk,10}&#10;=&#10;\sqrt{k+\alpha+1}&#10;\left(k-\alpha-4+2\delta_{W,2}\right)&#10;\\&#10;\mathfrak{g}_{lk,11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278DE4DF-8A22-4F46-9F5A-F2097217C46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097697" y="4731370"/>
              <a:ext cx="2878323" cy="1054857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47" name="Picture 46" descr="\documentclass{article}&#10;\usepackage{amsmath,bm,eufrak}&#10;\pagestyle{empty}&#10;\begin{document}&#10;&#10;\begin{gather*}&#10;\mathfrak{g}_{lk,0\bar{2}}&#10;=&#10;-\sqrt{(k-1)k(k+\alpha)}&#10;\\&#10;\mathfrak{g}_{lk,0\bar{1}}&#10;=&#10;-\sqrt{k}\left(k+3-2\delta_{W,2}\right)&#10;\\&#10;\mathfrak{g}_{lk,00}&#10;=&#10;\sqrt{k+\alpha+1}&#10;\left(k+\alpha-2+2\delta_{W,2}\right)&#10;\\&#10;\mathfrak{g}_{lk,01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C9F62463-FC52-4031-89A5-5F54BF62A9F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003392" y="4731370"/>
              <a:ext cx="2878323" cy="1054857"/>
            </a:xfrm>
            <a:prstGeom prst="rect">
              <a:avLst/>
            </a:prstGeom>
          </p:spPr>
        </p:pic>
        <p:pic>
          <p:nvPicPr>
            <p:cNvPr id="51" name="Picture 50" descr="\documentclass{article}&#10;\usepackage{amsmath,bm,eufrak}&#10;\pagestyle{empty}&#10;\begin{document}&#10;&#10;\begin{gather*}&#10;\mathfrak{g}_{lk,\bar{1}\bar{2}}&#10;=&#10;-\sqrt{(k-1)k(k-1+\alpha^{\prime}_{s})(k+\alpha)}&#10;\\&#10;\mathfrak{g}_{lk,\bar{1}\bar{1}}&#10;=&#10;2\sqrt{k(k+\alpha)}\left(\alpha-2-3\delta_{W,2}\right)&#10;\\&#10;\mathfrak{g}_{lk,\bar{1}0}&#10;=&#10;2k^{2}-4\left(\alpha-1+\delta_{W,2}\right)\left(\alpha-3+2\delta_{W,2}\right)&#10;+(\alpha+1)(2k+3\alpha-8+6\delta_{W,2})&#10;\\&#10;\mathfrak{g}_{lk,\bar{1}1}&#10;=&#10;-2\sqrt{(k+1)(k+1+\alpha)}\left(\alpha-5+3\delta_{W,2}\right)&#10;\\&#10;\mathfrak{g}_{lk,\bar{1}2}&#10;=&#10;-\sqrt{(k+1)(k+2)(k+1+\alpha)(k+2+\alpha)}&#10;\end{gather*}&#10;&#10;\end{document}" title="IguanaTex Bitmap Display">
              <a:extLst>
                <a:ext uri="{FF2B5EF4-FFF2-40B4-BE49-F238E27FC236}">
                  <a16:creationId xmlns:a16="http://schemas.microsoft.com/office/drawing/2014/main" id="{4B18B324-0DBC-49C3-BC9E-5C9C7B786A4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15982" y="4589237"/>
              <a:ext cx="5571428" cy="1339123"/>
            </a:xfrm>
            <a:prstGeom prst="rect">
              <a:avLst/>
            </a:prstGeom>
          </p:spPr>
        </p:pic>
      </p:grpSp>
      <p:pic>
        <p:nvPicPr>
          <p:cNvPr id="36" name="Picture 35" descr="\documentclass{article}&#10;\usepackage{amsmath,amssymb,bm}&#10;\pagestyle{empty}&#10;\begin{document}&#10;&#10;\begin{align*}&#10;\mathfrak{h}_{lk,vs}^{(\kappa)}&#10;&amp; =&#10;\left(1-\kappa\right)\delta_{s0}\delta_{v0} + \kappa \mathfrak{g}_{lk,sv}&#10;\\&#10;\end{align*}&#10;&#10;\end{document}" title="IguanaTex Bitmap Display">
            <a:extLst>
              <a:ext uri="{FF2B5EF4-FFF2-40B4-BE49-F238E27FC236}">
                <a16:creationId xmlns:a16="http://schemas.microsoft.com/office/drawing/2014/main" id="{6E0F7AA1-CA34-4C12-933A-0F6854A79B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401526" y="6007907"/>
            <a:ext cx="3388950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457B4AB-B27E-424B-8183-100AE06F367B}"/>
              </a:ext>
            </a:extLst>
          </p:cNvPr>
          <p:cNvGrpSpPr/>
          <p:nvPr/>
        </p:nvGrpSpPr>
        <p:grpSpPr>
          <a:xfrm>
            <a:off x="1245465" y="1956317"/>
            <a:ext cx="9701072" cy="2357336"/>
            <a:chOff x="1245464" y="1956317"/>
            <a:chExt cx="9701072" cy="2357336"/>
          </a:xfrm>
        </p:grpSpPr>
        <p:pic>
          <p:nvPicPr>
            <p:cNvPr id="9" name="Picture 8" descr="\documentclass{article}&#10;\usepackage{amsmath,amssymb,bm}&#10;\pagestyle{empty}&#10;\begin{document}&#10;&#10;\begin{align*}&#10;\mathfrak{Y}_{lm,0}&#10;&amp; =&#10;\frac{&#10;2l^2-2m^2+2l-1&#10;}{&#10;(2l-1)(2l+3)&#10;}  \\&#10;\mathfrak{Y}_{lm,-1}&#10;&amp; =&#10;\sqrt{\frac{&#10;\left((l-1)^2-m^2\right)&#10;\left(l^2-m^2\right)&#10;}{&#10;(2l-3)(2l-1)^{2}(2l+1)&#10;}}&#10;\\&#10;\mathfrak{Y}_{lm,+1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8CA8FAD0-F6BB-49C7-84AB-0DFA5E1FF83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6137399" y="1956317"/>
              <a:ext cx="4809137" cy="2357336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8E4D5FC-06F3-40A6-BA3A-741D4CDBFB67}"/>
                </a:ext>
              </a:extLst>
            </p:cNvPr>
            <p:cNvGrpSpPr/>
            <p:nvPr/>
          </p:nvGrpSpPr>
          <p:grpSpPr>
            <a:xfrm>
              <a:off x="1245464" y="2617311"/>
              <a:ext cx="3646471" cy="1035349"/>
              <a:chOff x="1315560" y="2958984"/>
              <a:chExt cx="3646471" cy="1035349"/>
            </a:xfrm>
          </p:grpSpPr>
          <p:pic>
            <p:nvPicPr>
              <p:cNvPr id="43" name="Picture 42" descr="\documentclass{article}&#10;\usepackage{amsmath,amssymb,bm}&#10;\pagestyle{empty}&#10;\begin{document}&#10;&#10;\begin{equation*}&#10;\mathfrak{H}^{(\kappa)}_{\lambda;lm,s}&#10;= &#10;\delta_{s0}-\kappa\left(1-\gamma\lambda^{2}\right)\mathfrak{Y}_{lm,s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613429C4-0031-46B7-A5B5-2A3F2B3B064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5"/>
              <a:stretch>
                <a:fillRect/>
              </a:stretch>
            </p:blipFill>
            <p:spPr>
              <a:xfrm>
                <a:off x="1315560" y="2958984"/>
                <a:ext cx="3646471" cy="374857"/>
              </a:xfrm>
              <a:prstGeom prst="rect">
                <a:avLst/>
              </a:prstGeom>
            </p:spPr>
          </p:pic>
          <p:pic>
            <p:nvPicPr>
              <p:cNvPr id="62" name="Picture 61" descr="\documentclass{article}&#10;\usepackage{amsmath,amssymb,bm}&#10;\pagestyle{empty}&#10;\begin{document}&#10;&#10;\begin{equation*}&#10;\gamma&#10;= &#10;\frac{m_{\perp}}{m_{\parallel}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60733C37-EE2C-4525-B4B7-8E34E13064A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6"/>
              <a:stretch>
                <a:fillRect/>
              </a:stretch>
            </p:blipFill>
            <p:spPr>
              <a:xfrm>
                <a:off x="2687748" y="3448809"/>
                <a:ext cx="902094" cy="545524"/>
              </a:xfrm>
              <a:prstGeom prst="rect">
                <a:avLst/>
              </a:prstGeom>
            </p:spPr>
          </p:pic>
        </p:grp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EAAA1A-5769-43D4-96C5-8F71101D3F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59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AF89-67C0-4F6B-8650-26DB6EB2B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The SYMMETRY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BAABE-BBBB-4023-A0B0-195BC898E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FBD47-87FF-4DA9-8A9B-060F65AF11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079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>
            <a:extLst>
              <a:ext uri="{FF2B5EF4-FFF2-40B4-BE49-F238E27FC236}">
                <a16:creationId xmlns:a16="http://schemas.microsoft.com/office/drawing/2014/main" id="{F54A814F-06BC-4E35-BE7C-614F2873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considerations </a:t>
            </a:r>
          </a:p>
        </p:txBody>
      </p:sp>
      <p:sp>
        <p:nvSpPr>
          <p:cNvPr id="138" name="Text Placeholder 1 5 1 1 1 1"/>
          <p:cNvSpPr txBox="1">
            <a:spLocks/>
          </p:cNvSpPr>
          <p:nvPr/>
        </p:nvSpPr>
        <p:spPr>
          <a:xfrm>
            <a:off x="3169097" y="2161405"/>
            <a:ext cx="5852884" cy="276999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+mn-lt"/>
                <a:cs typeface="Arial" panose="020B0604020202020204" pitchFamily="34" charset="0"/>
              </a:rPr>
              <a:t>States with </a:t>
            </a:r>
            <a:r>
              <a:rPr lang="en-US" sz="1500" i="1" dirty="0">
                <a:latin typeface="+mn-lt"/>
                <a:cs typeface="Arial" panose="020B0604020202020204" pitchFamily="34" charset="0"/>
              </a:rPr>
              <a:t>m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 even are indexed </a:t>
            </a:r>
            <a:r>
              <a:rPr lang="en-US" sz="1500" dirty="0">
                <a:cs typeface="Arial" panose="020B0604020202020204" pitchFamily="34" charset="0"/>
              </a:rPr>
              <a:t>by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sz="1500" dirty="0">
                <a:solidFill>
                  <a:srgbClr val="0AB3F1"/>
                </a:solidFill>
                <a:latin typeface="+mn-lt"/>
                <a:cs typeface="Arial" panose="020B0604020202020204" pitchFamily="34" charset="0"/>
              </a:rPr>
              <a:t> (</a:t>
            </a:r>
            <a:r>
              <a:rPr lang="el-GR" sz="1500" i="1" dirty="0">
                <a:solidFill>
                  <a:srgbClr val="0AB3F1"/>
                </a:solidFill>
                <a:cs typeface="Arial" panose="020B0604020202020204" pitchFamily="34" charset="0"/>
              </a:rPr>
              <a:t>ω</a:t>
            </a:r>
            <a:r>
              <a:rPr lang="en-US" sz="1500" i="1" dirty="0">
                <a:solidFill>
                  <a:srgbClr val="0AB3F1"/>
                </a:solidFill>
                <a:cs typeface="Arial" panose="020B0604020202020204" pitchFamily="34" charset="0"/>
              </a:rPr>
              <a:t>)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 and </a:t>
            </a:r>
            <a:r>
              <a:rPr lang="en-US" sz="15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sz="1500" dirty="0">
                <a:solidFill>
                  <a:srgbClr val="FF1D1D"/>
                </a:solidFill>
                <a:latin typeface="+mn-lt"/>
                <a:cs typeface="Arial" panose="020B0604020202020204" pitchFamily="34" charset="0"/>
              </a:rPr>
              <a:t> (</a:t>
            </a:r>
            <a:r>
              <a:rPr lang="el-GR" sz="1500" i="1" dirty="0">
                <a:solidFill>
                  <a:srgbClr val="FF1D1D"/>
                </a:solidFill>
                <a:cs typeface="Arial" panose="020B0604020202020204" pitchFamily="34" charset="0"/>
              </a:rPr>
              <a:t>σ</a:t>
            </a:r>
            <a:r>
              <a:rPr lang="en-US" sz="1500" dirty="0">
                <a:solidFill>
                  <a:srgbClr val="FF1D1D"/>
                </a:solidFill>
                <a:latin typeface="+mn-lt"/>
                <a:cs typeface="Arial" panose="020B0604020202020204" pitchFamily="34" charset="0"/>
              </a:rPr>
              <a:t>)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 symmetry.</a:t>
            </a:r>
          </a:p>
        </p:txBody>
      </p:sp>
      <p:pic>
        <p:nvPicPr>
          <p:cNvPr id="13" name="Picture 12" descr="\documentclass{article}&#10;\usepackage{amsmath,bm}&#10;\pagestyle{empty}&#10;\begin{document}&#10;&#10;\begin{equation*}&#10;\Psi_{\lambda\eta;m_{e}lk,\sigma\omega}^{(Wq)}&#10;=&#10;\Phi_{\lambda\eta;m_{e}lk,\left(\sigma\mathrm{i}^{m}\right)\left(\omega\sigma\mathrm{i}^{m}(-1)^{l}\right)}^{(Wq)}&#10;\end{equation*}&#10;&#10;\end{document}" title="IguanaTex Bitmap Display">
            <a:extLst>
              <a:ext uri="{FF2B5EF4-FFF2-40B4-BE49-F238E27FC236}">
                <a16:creationId xmlns:a16="http://schemas.microsoft.com/office/drawing/2014/main" id="{0288843C-8C08-4E3F-AEBC-58536111EA9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48064" y="2605398"/>
            <a:ext cx="3495872" cy="332699"/>
          </a:xfrm>
          <a:prstGeom prst="rect">
            <a:avLst/>
          </a:prstGeom>
        </p:spPr>
      </p:pic>
      <p:sp>
        <p:nvSpPr>
          <p:cNvPr id="83" name="Text Placeholder 1 5 1 1 1 2">
            <a:extLst>
              <a:ext uri="{FF2B5EF4-FFF2-40B4-BE49-F238E27FC236}">
                <a16:creationId xmlns:a16="http://schemas.microsoft.com/office/drawing/2014/main" id="{D2522C23-A5D3-4CEE-BE3A-582570725D91}"/>
              </a:ext>
            </a:extLst>
          </p:cNvPr>
          <p:cNvSpPr txBox="1">
            <a:spLocks/>
          </p:cNvSpPr>
          <p:nvPr/>
        </p:nvSpPr>
        <p:spPr>
          <a:xfrm>
            <a:off x="3076878" y="4095572"/>
            <a:ext cx="5996450" cy="484748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+mn-lt"/>
                <a:cs typeface="Arial" panose="020B0604020202020204" pitchFamily="34" charset="0"/>
              </a:rPr>
              <a:t>States with </a:t>
            </a:r>
            <a:r>
              <a:rPr lang="en-US" sz="1500" i="1" dirty="0">
                <a:latin typeface="+mn-lt"/>
                <a:cs typeface="Arial" panose="020B0604020202020204" pitchFamily="34" charset="0"/>
              </a:rPr>
              <a:t>m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 odd are indexed by </a:t>
            </a:r>
            <a:r>
              <a:rPr lang="en-US" sz="1500" dirty="0">
                <a:solidFill>
                  <a:srgbClr val="FF0000"/>
                </a:solidFill>
                <a:cs typeface="Arial" panose="020B0604020202020204" pitchFamily="34" charset="0"/>
              </a:rPr>
              <a:t>acyclic</a:t>
            </a:r>
            <a:r>
              <a:rPr lang="en-US" sz="1500" dirty="0">
                <a:solidFill>
                  <a:srgbClr val="FF1D1D"/>
                </a:solidFill>
                <a:cs typeface="Arial" panose="020B0604020202020204" pitchFamily="34" charset="0"/>
              </a:rPr>
              <a:t> (</a:t>
            </a:r>
            <a:r>
              <a:rPr lang="el-GR" sz="1500" i="1" dirty="0">
                <a:solidFill>
                  <a:srgbClr val="FF1D1D"/>
                </a:solidFill>
                <a:cs typeface="Arial" panose="020B0604020202020204" pitchFamily="34" charset="0"/>
              </a:rPr>
              <a:t>σ</a:t>
            </a:r>
            <a:r>
              <a:rPr lang="en-US" sz="1500" dirty="0">
                <a:solidFill>
                  <a:srgbClr val="FF1D1D"/>
                </a:solidFill>
                <a:cs typeface="Arial" panose="020B0604020202020204" pitchFamily="34" charset="0"/>
              </a:rPr>
              <a:t>)</a:t>
            </a:r>
            <a:r>
              <a:rPr lang="en-US" sz="1500" dirty="0">
                <a:cs typeface="Arial" panose="020B0604020202020204" pitchFamily="34" charset="0"/>
              </a:rPr>
              <a:t> 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symmetry and a 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free index (</a:t>
            </a:r>
            <a:r>
              <a:rPr lang="en-US" sz="1500" i="1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h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)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500" i="1" dirty="0">
                <a:latin typeface="+mn-lt"/>
                <a:cs typeface="Arial" panose="020B0604020202020204" pitchFamily="34" charset="0"/>
              </a:rPr>
              <a:t>m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 odd states only have odd </a:t>
            </a:r>
            <a:r>
              <a:rPr lang="en-US" sz="1500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 descr="\documentclass{article}&#10;\usepackage{amsmath,bm}&#10;\pagestyle{empty}&#10;\begin{document}&#10;&#10;\begin{equation*}&#10;\Psi_{\lambda\eta;m_{o}lk,\sigma}^{(Wq_{1})}&#10;=&#10;\Phi_{\lambda\eta;m_{o}lk,h\left(h(-1)^{l}\right)}^{(Wq_{2})}&#10;-h\sigma\mathrm{i}^{m}&#10;\Phi_{\lambda\eta;m_{o}lk,\bar{h}\left(h(-1)^{l}\right)}^{(Wq_{3})}&#10;\end{equation*}&#10;&#10;\end{document}" title="IguanaTex Bitmap Display">
            <a:extLst>
              <a:ext uri="{FF2B5EF4-FFF2-40B4-BE49-F238E27FC236}">
                <a16:creationId xmlns:a16="http://schemas.microsoft.com/office/drawing/2014/main" id="{0399408F-5600-4AC6-91B0-F9E0CAA916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65842" y="4747314"/>
            <a:ext cx="5060317" cy="341587"/>
          </a:xfrm>
          <a:prstGeom prst="rect">
            <a:avLst/>
          </a:prstGeom>
        </p:spPr>
      </p:pic>
      <p:pic>
        <p:nvPicPr>
          <p:cNvPr id="134" name="Picture 133" descr="\documentclass{article}&#10;\usepackage{amsmath,bm,eufrak}&#10;\pagestyle{empty}&#10;\begin{document}&#10;&#10;\begin{align*}&#10;\sigma = \pm 1 \\&#10;\omega = \pm 1 \\&#10;\end{align*}&#10;&#10;\end{document} " title="IguanaTex Bitmap Display">
            <a:extLst>
              <a:ext uri="{FF2B5EF4-FFF2-40B4-BE49-F238E27FC236}">
                <a16:creationId xmlns:a16="http://schemas.microsoft.com/office/drawing/2014/main" id="{3E0D5FEC-6BA4-4DE0-915B-1D87AB11B87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760127" y="3150126"/>
            <a:ext cx="671746" cy="45968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30" name="Picture 129" descr="\documentclass{article}&#10;\usepackage{amsmath,bm,eufrak}&#10;\pagestyle{empty}&#10;\begin{document}&#10;&#10;\begin{align*}&#10;\sigma = \pm 1 \\&#10;h = \pm 1 \\&#10;\end{align*}&#10;&#10;\end{document} " title="IguanaTex Bitmap Display">
            <a:extLst>
              <a:ext uri="{FF2B5EF4-FFF2-40B4-BE49-F238E27FC236}">
                <a16:creationId xmlns:a16="http://schemas.microsoft.com/office/drawing/2014/main" id="{C1A3EAE2-1ACD-4BD8-8651-76D18AF983D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769016" y="5254944"/>
            <a:ext cx="653968" cy="45968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6F9FAF-1097-4D1C-A87E-59D86427B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715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8758058-FC12-4F82-A3F7-40595BA099CD}"/>
              </a:ext>
            </a:extLst>
          </p:cNvPr>
          <p:cNvGrpSpPr/>
          <p:nvPr/>
        </p:nvGrpSpPr>
        <p:grpSpPr>
          <a:xfrm>
            <a:off x="4495801" y="4520724"/>
            <a:ext cx="4297680" cy="1188720"/>
            <a:chOff x="4495801" y="4333838"/>
            <a:chExt cx="4297680" cy="118872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423E067-66A3-4BBA-8C0A-B33EE98E64E6}"/>
                </a:ext>
              </a:extLst>
            </p:cNvPr>
            <p:cNvGrpSpPr/>
            <p:nvPr/>
          </p:nvGrpSpPr>
          <p:grpSpPr>
            <a:xfrm>
              <a:off x="4495801" y="4333838"/>
              <a:ext cx="4297680" cy="1188720"/>
              <a:chOff x="4495801" y="4333838"/>
              <a:chExt cx="4297680" cy="1188720"/>
            </a:xfrm>
          </p:grpSpPr>
          <p:sp>
            <p:nvSpPr>
              <p:cNvPr id="239" name="Rounded Rectangle 238"/>
              <p:cNvSpPr/>
              <p:nvPr/>
            </p:nvSpPr>
            <p:spPr>
              <a:xfrm>
                <a:off x="4495801" y="4333838"/>
                <a:ext cx="4297680" cy="1188720"/>
              </a:xfrm>
              <a:prstGeom prst="roundRect">
                <a:avLst>
                  <a:gd name="adj" fmla="val 5873"/>
                </a:avLst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Text Placeholder 1 5 2 2 2 2 2 1"/>
              <p:cNvSpPr txBox="1">
                <a:spLocks/>
              </p:cNvSpPr>
              <p:nvPr/>
            </p:nvSpPr>
            <p:spPr>
              <a:xfrm>
                <a:off x="5455921" y="4400933"/>
                <a:ext cx="237744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+mn-lt"/>
                    <a:cs typeface="Arial" panose="020B0604020202020204" pitchFamily="34" charset="0"/>
                  </a:rPr>
                  <a:t>Double inversion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B739BDD-2A3A-4F9D-924F-DF22901CFA41}"/>
                </a:ext>
              </a:extLst>
            </p:cNvPr>
            <p:cNvGrpSpPr/>
            <p:nvPr>
              <p:custDataLst>
                <p:tags r:id="rId24"/>
              </p:custDataLst>
            </p:nvPr>
          </p:nvGrpSpPr>
          <p:grpSpPr>
            <a:xfrm>
              <a:off x="4978427" y="4863994"/>
              <a:ext cx="3332429" cy="563545"/>
              <a:chOff x="4891713" y="4863994"/>
              <a:chExt cx="3332429" cy="563545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A34833D9-73A6-473D-9CCB-82C2A5495CA7}"/>
                  </a:ext>
                </a:extLst>
              </p:cNvPr>
              <p:cNvGrpSpPr/>
              <p:nvPr>
                <p:custDataLst>
                  <p:tags r:id="rId25"/>
                </p:custDataLst>
              </p:nvPr>
            </p:nvGrpSpPr>
            <p:grpSpPr>
              <a:xfrm>
                <a:off x="4891713" y="4863994"/>
                <a:ext cx="548571" cy="545404"/>
                <a:chOff x="4891713" y="4863994"/>
                <a:chExt cx="548571" cy="545404"/>
              </a:xfrm>
            </p:grpSpPr>
            <p:pic>
              <p:nvPicPr>
                <p:cNvPr id="250" name="Picture 249"/>
                <p:cNvPicPr>
                  <a:picLocks noChangeAspect="1"/>
                </p:cNvPicPr>
                <p:nvPr>
                  <p:custDataLst>
                    <p:tags r:id="rId32"/>
                  </p:custDataLst>
                </p:nvPr>
              </p:nvPicPr>
              <p:blipFill>
                <a:blip r:embed="rId3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68855" y="4863994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45" name="Picture 44" descr="\documentclass{article}&#10;\usepackage{amsmath,bm}&#10;\pagestyle{empty}&#10;\begin{document}&#10;&#10;\begin{equation*}&#10;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233B6380-CE6A-48F7-839B-832737A28C63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3"/>
                  </p:custDataLst>
                </p:nvPr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91713" y="5128256"/>
                  <a:ext cx="548571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40BDBBC2-F0AC-450A-830F-6F6A03523506}"/>
                  </a:ext>
                </a:extLst>
              </p:cNvPr>
              <p:cNvGrpSpPr/>
              <p:nvPr>
                <p:custDataLst>
                  <p:tags r:id="rId26"/>
                </p:custDataLst>
              </p:nvPr>
            </p:nvGrpSpPr>
            <p:grpSpPr>
              <a:xfrm>
                <a:off x="6149785" y="4863994"/>
                <a:ext cx="681142" cy="545286"/>
                <a:chOff x="6149785" y="4863994"/>
                <a:chExt cx="681142" cy="545286"/>
              </a:xfrm>
            </p:grpSpPr>
            <p:pic>
              <p:nvPicPr>
                <p:cNvPr id="247" name="Picture 246"/>
                <p:cNvPicPr>
                  <a:picLocks noChangeAspect="1"/>
                </p:cNvPicPr>
                <p:nvPr>
                  <p:custDataLst>
                    <p:tags r:id="rId30"/>
                  </p:custDataLst>
                </p:nvPr>
              </p:nvPicPr>
              <p:blipFill>
                <a:blip r:embed="rId3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3213" y="4863994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55" name="Picture 54" descr="\documentclass{article}&#10;\usepackage{amsmath,bm}&#10;\pagestyle{empty}&#10;\begin{document}&#10;&#10;\begin{equation*}&#10;\omega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5BE8E528-1C04-4CAF-8976-B978E656EADB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1"/>
                  </p:custDataLst>
                </p:nvPr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49785" y="5128138"/>
                  <a:ext cx="681142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6882F16-20FD-4B48-A2AC-8AF2E3ACEA66}"/>
                  </a:ext>
                </a:extLst>
              </p:cNvPr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7543000" y="4863994"/>
                <a:ext cx="681142" cy="563545"/>
                <a:chOff x="7543000" y="4863994"/>
                <a:chExt cx="681142" cy="563545"/>
              </a:xfrm>
            </p:grpSpPr>
            <p:pic>
              <p:nvPicPr>
                <p:cNvPr id="275" name="Picture 274"/>
                <p:cNvPicPr>
                  <a:picLocks noChangeAspect="1"/>
                </p:cNvPicPr>
                <p:nvPr>
                  <p:custDataLst>
                    <p:tags r:id="rId28"/>
                  </p:custDataLst>
                </p:nvPr>
              </p:nvPicPr>
              <p:blipFill>
                <a:blip r:embed="rId4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86428" y="4863994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71" name="Picture 70" descr="\documentclass{article}&#10;\usepackage{amsmath,bm}&#10;\pagestyle{empty}&#10;\begin{document}&#10;&#10;\begin{equation*}&#10;\omega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53572786-8AA4-428D-B607-29E88B9732A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9"/>
                  </p:custDataLst>
                </p:nvPr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43000" y="5146397"/>
                  <a:ext cx="681142" cy="28114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D8F4249-AFD4-46D0-A254-0F0EF7CB2463}"/>
              </a:ext>
            </a:extLst>
          </p:cNvPr>
          <p:cNvGrpSpPr/>
          <p:nvPr/>
        </p:nvGrpSpPr>
        <p:grpSpPr>
          <a:xfrm>
            <a:off x="9486901" y="4657884"/>
            <a:ext cx="2011680" cy="914400"/>
            <a:chOff x="9486901" y="4470998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9486901" y="4470998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9669781" y="4568856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  <p:pic>
          <p:nvPicPr>
            <p:cNvPr id="89" name="Picture 88" descr="\documentclass{article}&#10;\usepackage{amsmath,bm}&#10;\pagestyle{empty}&#10;\begin{document}&#10;&#10;\begin{equation*}&#10;\omega(-1)^{l}\Psi_{ml;\sigma\omega}^{(1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EACD7D7-4B38-4545-9026-B8BA969DB833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9928171" y="4938188"/>
              <a:ext cx="1129141" cy="281142"/>
            </a:xfrm>
            <a:prstGeom prst="rect">
              <a:avLst/>
            </a:prstGeom>
          </p:spPr>
        </p:pic>
      </p:grpSp>
      <p:sp>
        <p:nvSpPr>
          <p:cNvPr id="138" name="Text Placeholder 1 5 1 1 1"/>
          <p:cNvSpPr txBox="1">
            <a:spLocks/>
          </p:cNvSpPr>
          <p:nvPr/>
        </p:nvSpPr>
        <p:spPr>
          <a:xfrm>
            <a:off x="1393751" y="1910550"/>
            <a:ext cx="9404498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ω</a:t>
            </a:r>
            <a:r>
              <a:rPr lang="en-US" i="1" dirty="0">
                <a:cs typeface="Arial" panose="020B0604020202020204" pitchFamily="34" charset="0"/>
              </a:rPr>
              <a:t>)</a:t>
            </a:r>
            <a:r>
              <a:rPr lang="en-US" dirty="0">
                <a:latin typeface="+mn-lt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 </a:t>
            </a:r>
          </a:p>
        </p:txBody>
      </p:sp>
      <p:sp>
        <p:nvSpPr>
          <p:cNvPr id="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even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07DD66-7C17-4BC2-B65D-A375A4DC1014}"/>
              </a:ext>
            </a:extLst>
          </p:cNvPr>
          <p:cNvGrpSpPr/>
          <p:nvPr/>
        </p:nvGrpSpPr>
        <p:grpSpPr>
          <a:xfrm>
            <a:off x="693420" y="3843532"/>
            <a:ext cx="3108961" cy="2543104"/>
            <a:chOff x="693420" y="3843532"/>
            <a:chExt cx="3108961" cy="254310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FB6D5E1-6A3F-48A3-843A-4B71BE2E6278}"/>
                </a:ext>
              </a:extLst>
            </p:cNvPr>
            <p:cNvGrpSpPr/>
            <p:nvPr/>
          </p:nvGrpSpPr>
          <p:grpSpPr>
            <a:xfrm>
              <a:off x="693421" y="3843532"/>
              <a:ext cx="3108960" cy="1188720"/>
              <a:chOff x="693421" y="3843532"/>
              <a:chExt cx="3108960" cy="1188720"/>
            </a:xfrm>
          </p:grpSpPr>
          <p:sp>
            <p:nvSpPr>
              <p:cNvPr id="81" name="Rounded Rectangle 168">
                <a:extLst>
                  <a:ext uri="{FF2B5EF4-FFF2-40B4-BE49-F238E27FC236}">
                    <a16:creationId xmlns:a16="http://schemas.microsoft.com/office/drawing/2014/main" id="{1A079198-99AA-42F7-B4CC-5B98E746C9A5}"/>
                  </a:ext>
                </a:extLst>
              </p:cNvPr>
              <p:cNvSpPr/>
              <p:nvPr/>
            </p:nvSpPr>
            <p:spPr>
              <a:xfrm>
                <a:off x="693421" y="3843532"/>
                <a:ext cx="310896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 Placeholder 1 5 2 2 1 2 1">
                <a:extLst>
                  <a:ext uri="{FF2B5EF4-FFF2-40B4-BE49-F238E27FC236}">
                    <a16:creationId xmlns:a16="http://schemas.microsoft.com/office/drawing/2014/main" id="{1388B069-33C3-418D-BBA9-C528AEBE7A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4901" y="3894453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05DEE19-3F95-44D8-BD77-FDF0C6CC1080}"/>
                  </a:ext>
                </a:extLst>
              </p:cNvPr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961408" y="4363158"/>
                <a:ext cx="2572986" cy="594732"/>
                <a:chOff x="875980" y="3975233"/>
                <a:chExt cx="2572986" cy="594732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01461AA2-AA27-4C37-8C1A-0CD1C88CEC8D}"/>
                    </a:ext>
                  </a:extLst>
                </p:cNvPr>
                <p:cNvGrpSpPr/>
                <p:nvPr>
                  <p:custDataLst>
                    <p:tags r:id="rId14"/>
                  </p:custDataLst>
                </p:nvPr>
              </p:nvGrpSpPr>
              <p:grpSpPr>
                <a:xfrm>
                  <a:off x="875980" y="3975233"/>
                  <a:ext cx="548571" cy="594732"/>
                  <a:chOff x="875980" y="3975233"/>
                  <a:chExt cx="548571" cy="594732"/>
                </a:xfrm>
              </p:grpSpPr>
              <p:pic>
                <p:nvPicPr>
                  <p:cNvPr id="93" name="Picture 92">
                    <a:extLst>
                      <a:ext uri="{FF2B5EF4-FFF2-40B4-BE49-F238E27FC236}">
                        <a16:creationId xmlns:a16="http://schemas.microsoft.com/office/drawing/2014/main" id="{BC3482E0-2407-4548-AB36-13321E1CC267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1"/>
                    </p:custDataLst>
                  </p:nvPr>
                </p:nvPicPr>
                <p:blipFill>
                  <a:blip r:embed="rId4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53122" y="3975233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6" name="Picture 5" descr="\documentclass{article}&#10;\usepackage{amsmath,bm}&#10;\pagestyle{empty}&#10;\begin{document}&#10;&#10;\begin{equation*}&#10;\Psi_{ml;\sigma\omega}^{(1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EB108D8D-0E09-4E09-B245-EEA43BEE4AEC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2"/>
                    </p:custDataLst>
                  </p:nvPr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875980" y="4288823"/>
                    <a:ext cx="548571" cy="28114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BEBE545-9998-4634-B1AF-AD31BE10A250}"/>
                    </a:ext>
                  </a:extLst>
                </p:cNvPr>
                <p:cNvGrpSpPr/>
                <p:nvPr>
                  <p:custDataLst>
                    <p:tags r:id="rId15"/>
                  </p:custDataLst>
                </p:nvPr>
              </p:nvGrpSpPr>
              <p:grpSpPr>
                <a:xfrm>
                  <a:off x="1888187" y="3975233"/>
                  <a:ext cx="548572" cy="594732"/>
                  <a:chOff x="1888187" y="3975233"/>
                  <a:chExt cx="548572" cy="594732"/>
                </a:xfrm>
              </p:grpSpPr>
              <p:pic>
                <p:nvPicPr>
                  <p:cNvPr id="91" name="Picture 90">
                    <a:extLst>
                      <a:ext uri="{FF2B5EF4-FFF2-40B4-BE49-F238E27FC236}">
                        <a16:creationId xmlns:a16="http://schemas.microsoft.com/office/drawing/2014/main" id="{223224B5-1711-43FE-ABDD-C5C75C762644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9"/>
                    </p:custDataLst>
                  </p:nvPr>
                </p:nvPicPr>
                <p:blipFill>
                  <a:blip r:embed="rId4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65330" y="3975233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14" name="Picture 13" descr="\documentclass{article}&#10;\usepackage{amsmath,bm}&#10;\pagestyle{empty}&#10;\begin{document}&#10;&#10;\begin{equation*}&#10;\Psi_{ml;\sigma\omega}^{(3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F54EB061-1D09-49BF-A481-FEAEB6F7A2F1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0"/>
                    </p:custDataLst>
                  </p:nvPr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1888187" y="4288823"/>
                    <a:ext cx="548572" cy="28114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4ABCA719-6085-491D-A167-D5F64C5361D4}"/>
                    </a:ext>
                  </a:extLst>
                </p:cNvPr>
                <p:cNvGrpSpPr/>
                <p:nvPr>
                  <p:custDataLst>
                    <p:tags r:id="rId16"/>
                  </p:custDataLst>
                </p:nvPr>
              </p:nvGrpSpPr>
              <p:grpSpPr>
                <a:xfrm>
                  <a:off x="2900394" y="3975233"/>
                  <a:ext cx="548572" cy="594732"/>
                  <a:chOff x="2900394" y="3975233"/>
                  <a:chExt cx="548572" cy="594732"/>
                </a:xfrm>
              </p:grpSpPr>
              <p:pic>
                <p:nvPicPr>
                  <p:cNvPr id="87" name="Picture 86">
                    <a:extLst>
                      <a:ext uri="{FF2B5EF4-FFF2-40B4-BE49-F238E27FC236}">
                        <a16:creationId xmlns:a16="http://schemas.microsoft.com/office/drawing/2014/main" id="{FE31E6DA-F1F6-4D4A-B52D-15B022062FD7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7"/>
                    </p:custDataLst>
                  </p:nvPr>
                </p:nvPicPr>
                <p:blipFill>
                  <a:blip r:embed="rId4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77537" y="3975233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22" name="Picture 21" descr="\documentclass{article}&#10;\usepackage{amsmath,bm}&#10;\pagestyle{empty}&#10;\begin{document}&#10;&#10;\begin{equation*}&#10;\Psi_{ml;\sigma\omega}^{(2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F0C97909-00E6-4A84-92C9-5A785B582C98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8"/>
                    </p:custDataLst>
                  </p:nvPr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2900394" y="4288823"/>
                    <a:ext cx="548572" cy="281142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1662C55-EDA1-442A-A33E-C8A6C9E106A6}"/>
                </a:ext>
              </a:extLst>
            </p:cNvPr>
            <p:cNvGrpSpPr/>
            <p:nvPr/>
          </p:nvGrpSpPr>
          <p:grpSpPr>
            <a:xfrm>
              <a:off x="693420" y="5197916"/>
              <a:ext cx="3108960" cy="1188720"/>
              <a:chOff x="693420" y="5063993"/>
              <a:chExt cx="3108960" cy="118872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5934A5A4-B353-4080-A5EE-3BC9CEA886DC}"/>
                  </a:ext>
                </a:extLst>
              </p:cNvPr>
              <p:cNvGrpSpPr/>
              <p:nvPr/>
            </p:nvGrpSpPr>
            <p:grpSpPr>
              <a:xfrm>
                <a:off x="693420" y="5063993"/>
                <a:ext cx="3108960" cy="1188720"/>
                <a:chOff x="693420" y="5063993"/>
                <a:chExt cx="3108960" cy="1188720"/>
              </a:xfrm>
            </p:grpSpPr>
            <p:sp>
              <p:nvSpPr>
                <p:cNvPr id="67" name="Rounded Rectangle 93">
                  <a:extLst>
                    <a:ext uri="{FF2B5EF4-FFF2-40B4-BE49-F238E27FC236}">
                      <a16:creationId xmlns:a16="http://schemas.microsoft.com/office/drawing/2014/main" id="{77C49ED1-7386-41AD-AFCD-E5D80C21B67A}"/>
                    </a:ext>
                  </a:extLst>
                </p:cNvPr>
                <p:cNvSpPr/>
                <p:nvPr/>
              </p:nvSpPr>
              <p:spPr>
                <a:xfrm>
                  <a:off x="693420" y="5063993"/>
                  <a:ext cx="3108960" cy="1188720"/>
                </a:xfrm>
                <a:prstGeom prst="roundRect">
                  <a:avLst>
                    <a:gd name="adj" fmla="val 5873"/>
                  </a:avLst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Text Placeholder 1 5 2 2 1 2 2">
                  <a:extLst>
                    <a:ext uri="{FF2B5EF4-FFF2-40B4-BE49-F238E27FC236}">
                      <a16:creationId xmlns:a16="http://schemas.microsoft.com/office/drawing/2014/main" id="{E6583737-86FC-4E8D-AE3B-BE0BB1AB63D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30169" y="5114914"/>
                  <a:ext cx="2435462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FF0000"/>
                      </a:solidFill>
                      <a:latin typeface="+mn-lt"/>
                      <a:cs typeface="Arial" panose="020B0604020202020204" pitchFamily="34" charset="0"/>
                    </a:rPr>
                    <a:t>Acyclic permutations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796A46A0-01E5-452C-B101-1C82C58AE955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915541" y="5583619"/>
                <a:ext cx="2664718" cy="594732"/>
                <a:chOff x="824686" y="5583619"/>
                <a:chExt cx="2664718" cy="594732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48E1E44F-ADE0-4E1F-8555-B511D156004C}"/>
                    </a:ext>
                  </a:extLst>
                </p:cNvPr>
                <p:cNvGrpSpPr/>
                <p:nvPr>
                  <p:custDataLst>
                    <p:tags r:id="rId4"/>
                  </p:custDataLst>
                </p:nvPr>
              </p:nvGrpSpPr>
              <p:grpSpPr>
                <a:xfrm>
                  <a:off x="824686" y="5583619"/>
                  <a:ext cx="666285" cy="594732"/>
                  <a:chOff x="824686" y="5583619"/>
                  <a:chExt cx="666285" cy="594732"/>
                </a:xfrm>
              </p:grpSpPr>
              <p:pic>
                <p:nvPicPr>
                  <p:cNvPr id="79" name="Picture 78">
                    <a:extLst>
                      <a:ext uri="{FF2B5EF4-FFF2-40B4-BE49-F238E27FC236}">
                        <a16:creationId xmlns:a16="http://schemas.microsoft.com/office/drawing/2014/main" id="{9933FDEC-C63B-4A80-87EE-B99AF8251980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1"/>
                    </p:custDataLst>
                  </p:nvPr>
                </p:nvPicPr>
                <p:blipFill>
                  <a:blip r:embed="rId4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60685" y="5583619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8" name="Picture 7" descr="\documentclass{article}&#10;\usepackage{amsmath,bm}&#10;\pagestyle{empty}&#10;\begin{document}&#10;&#10;\begin{equation*}&#10;\sigma\Psi_{ml;\sigma\omega}^{(1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145EBB3C-1153-401F-BAAE-D04184447354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2"/>
                    </p:custDataLst>
                  </p:nvPr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824686" y="5897209"/>
                    <a:ext cx="666285" cy="28114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BE97C105-4CB6-4602-8C85-BB6E74CC2C78}"/>
                    </a:ext>
                  </a:extLst>
                </p:cNvPr>
                <p:cNvGrpSpPr/>
                <p:nvPr>
                  <p:custDataLst>
                    <p:tags r:id="rId5"/>
                  </p:custDataLst>
                </p:nvPr>
              </p:nvGrpSpPr>
              <p:grpSpPr>
                <a:xfrm>
                  <a:off x="1823900" y="5583619"/>
                  <a:ext cx="666286" cy="594732"/>
                  <a:chOff x="1823900" y="5583619"/>
                  <a:chExt cx="666286" cy="594732"/>
                </a:xfrm>
              </p:grpSpPr>
              <p:pic>
                <p:nvPicPr>
                  <p:cNvPr id="77" name="Picture 76">
                    <a:extLst>
                      <a:ext uri="{FF2B5EF4-FFF2-40B4-BE49-F238E27FC236}">
                        <a16:creationId xmlns:a16="http://schemas.microsoft.com/office/drawing/2014/main" id="{C13DAAD2-A3AA-40F6-AEB0-093122FBE9BE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9"/>
                    </p:custDataLst>
                  </p:nvPr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59900" y="5583619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17" name="Picture 16" descr="\documentclass{article}&#10;\usepackage{amsmath,bm}&#10;\pagestyle{empty}&#10;\begin{document}&#10;&#10;\begin{equation*}&#10;\sigma\Psi_{ml;\sigma\omega}^{(3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3D6A79AC-1F97-446D-83BB-6A2C358F611C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0"/>
                    </p:custDataLst>
                  </p:nvPr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823900" y="5897209"/>
                    <a:ext cx="666286" cy="28114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43017A37-60C2-4668-9A15-383B39DB3109}"/>
                    </a:ext>
                  </a:extLst>
                </p:cNvPr>
                <p:cNvGrpSpPr/>
                <p:nvPr>
                  <p:custDataLst>
                    <p:tags r:id="rId6"/>
                  </p:custDataLst>
                </p:nvPr>
              </p:nvGrpSpPr>
              <p:grpSpPr>
                <a:xfrm>
                  <a:off x="2823118" y="5583619"/>
                  <a:ext cx="666286" cy="594732"/>
                  <a:chOff x="2823118" y="5583619"/>
                  <a:chExt cx="666286" cy="594732"/>
                </a:xfrm>
              </p:grpSpPr>
              <p:pic>
                <p:nvPicPr>
                  <p:cNvPr id="75" name="Picture 74">
                    <a:extLst>
                      <a:ext uri="{FF2B5EF4-FFF2-40B4-BE49-F238E27FC236}">
                        <a16:creationId xmlns:a16="http://schemas.microsoft.com/office/drawing/2014/main" id="{80129E08-E849-4582-ACC8-9C25134850E1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7"/>
                    </p:custDataLst>
                  </p:nvPr>
                </p:nvPicPr>
                <p:blipFill>
                  <a:blip r:embed="rId5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59118" y="5583619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28" name="Picture 27" descr="\documentclass{article}&#10;\usepackage{amsmath,bm}&#10;\pagestyle{empty}&#10;\begin{document}&#10;&#10;\begin{equation*}&#10;\sigma\Psi_{ml;\sigma\omega}^{(2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9B9DE8C8-515A-4B58-8324-78730E319170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2823118" y="5897209"/>
                    <a:ext cx="666286" cy="281142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49" name="Rounded Rectangle 48"/>
          <p:cNvSpPr/>
          <p:nvPr/>
        </p:nvSpPr>
        <p:spPr>
          <a:xfrm>
            <a:off x="3874770" y="2393204"/>
            <a:ext cx="4442461" cy="1310577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C36047-AAFF-4A6D-A366-F4A95FAC2BC6}"/>
              </a:ext>
            </a:extLst>
          </p:cNvPr>
          <p:cNvGrpSpPr/>
          <p:nvPr/>
        </p:nvGrpSpPr>
        <p:grpSpPr>
          <a:xfrm>
            <a:off x="3993600" y="2501370"/>
            <a:ext cx="4204801" cy="1094244"/>
            <a:chOff x="3993600" y="2476739"/>
            <a:chExt cx="4204801" cy="1094244"/>
          </a:xfrm>
        </p:grpSpPr>
        <p:pic>
          <p:nvPicPr>
            <p:cNvPr id="4" name="Picture 3" descr="\documentclass{article}&#10;\usepackage{amsmath,bm}&#10;\pagestyle{empty}&#10;\begin{document}&#10;&#10;\begin{equation*}&#10;\Psi_{ml;\sigma\omega}^{(q)}&#10;=&#10;\Phi_{m\left(\sigma\mathrm{i}^{m}\right)l}^{(q)}&#10;\Theta^{(q)}_{\omega\sigma\mathrm{i}^{m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B32984D6-E589-4827-B201-B6D57AB0BF5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3"/>
            <a:stretch>
              <a:fillRect/>
            </a:stretch>
          </p:blipFill>
          <p:spPr>
            <a:xfrm>
              <a:off x="4529307" y="2476739"/>
              <a:ext cx="3133387" cy="393174"/>
            </a:xfrm>
            <a:prstGeom prst="rect">
              <a:avLst/>
            </a:prstGeom>
          </p:spPr>
        </p:pic>
        <p:pic>
          <p:nvPicPr>
            <p:cNvPr id="11" name="Picture 10" descr="\documentclass{article}&#10;\usepackage{amsmath,bm}&#10;\pagestyle{empty}&#10;\begin{document}&#10;&#10;\begin{equation*}&#10;\Theta^{(q)}&#10;=&#10;\mathrm{e}^{\mathrm{i}\bm{k}_q\cdot \bm{r}}u_{\bm{k}_q}&#10;\quad\quad&#10;\Theta_{\Omega}^{(q)}&#10;=&#10;\frac&#10;{&#10;\Theta^{(q)}&#10;+&#10;\Omega\Theta^{(-q)}&#10;}&#10;{\sqrt{2}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0CD593C3-48A6-4938-BB38-39E05C04854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4"/>
            <a:stretch>
              <a:fillRect/>
            </a:stretch>
          </p:blipFill>
          <p:spPr>
            <a:xfrm>
              <a:off x="3993600" y="3003211"/>
              <a:ext cx="4204801" cy="567772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612525-D369-4FF2-A385-1A75DB650A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36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odd</a:t>
            </a:r>
          </a:p>
        </p:txBody>
      </p:sp>
      <p:sp>
        <p:nvSpPr>
          <p:cNvPr id="138" name="Text Placeholder 1 5 1 1 1"/>
          <p:cNvSpPr txBox="1">
            <a:spLocks/>
          </p:cNvSpPr>
          <p:nvPr/>
        </p:nvSpPr>
        <p:spPr>
          <a:xfrm>
            <a:off x="252894" y="2033965"/>
            <a:ext cx="11686212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(-1). 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m</a:t>
            </a:r>
            <a:r>
              <a:rPr lang="en-US" dirty="0">
                <a:latin typeface="+mn-lt"/>
                <a:cs typeface="Arial" panose="020B0604020202020204" pitchFamily="34" charset="0"/>
              </a:rPr>
              <a:t> odd states have odd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ω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 </a:t>
            </a:r>
            <a:r>
              <a:rPr lang="en-US" dirty="0">
                <a:latin typeface="+mn-lt"/>
                <a:cs typeface="Arial" panose="020B0604020202020204" pitchFamily="34" charset="0"/>
              </a:rPr>
              <a:t>= -1).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88FC59-5873-4CA4-BFE2-E1FF09856F9E}"/>
              </a:ext>
            </a:extLst>
          </p:cNvPr>
          <p:cNvGrpSpPr/>
          <p:nvPr/>
        </p:nvGrpSpPr>
        <p:grpSpPr>
          <a:xfrm>
            <a:off x="4977940" y="4488986"/>
            <a:ext cx="3241962" cy="1188720"/>
            <a:chOff x="4738256" y="4322115"/>
            <a:chExt cx="3241962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738256" y="4322115"/>
              <a:ext cx="3241962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170517" y="4389210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6FFCEB9-2B60-4B8C-9C1C-BA4478D98282}"/>
                </a:ext>
              </a:extLst>
            </p:cNvPr>
            <p:cNvGrpSpPr/>
            <p:nvPr/>
          </p:nvGrpSpPr>
          <p:grpSpPr>
            <a:xfrm>
              <a:off x="4842879" y="4852271"/>
              <a:ext cx="3032717" cy="563545"/>
              <a:chOff x="4869605" y="4852271"/>
              <a:chExt cx="3032717" cy="563545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4F5DF95-74E1-4C96-B94C-5A085005104D}"/>
                  </a:ext>
                </a:extLst>
              </p:cNvPr>
              <p:cNvGrpSpPr/>
              <p:nvPr/>
            </p:nvGrpSpPr>
            <p:grpSpPr>
              <a:xfrm>
                <a:off x="4869605" y="4852271"/>
                <a:ext cx="538285" cy="545404"/>
                <a:chOff x="4869605" y="4852271"/>
                <a:chExt cx="538285" cy="545404"/>
              </a:xfrm>
            </p:grpSpPr>
            <p:pic>
              <p:nvPicPr>
                <p:cNvPr id="250" name="Picture 249"/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41604" y="4852271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6" name="Picture 5" descr="\documentclass{article}&#10;\usepackage{amsmath,bm}&#10;\pagestyle{empty}&#10;\begin{document}&#10;&#10;\begin{equation*}&#10;\Psi_{mlh;\sigm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E7C3AB39-C24E-493E-AC18-4604D57F889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69605" y="5116533"/>
                  <a:ext cx="538285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AA557B8-286B-458A-8600-20E2C6C8B923}"/>
                  </a:ext>
                </a:extLst>
              </p:cNvPr>
              <p:cNvGrpSpPr/>
              <p:nvPr/>
            </p:nvGrpSpPr>
            <p:grpSpPr>
              <a:xfrm>
                <a:off x="5972822" y="4852271"/>
                <a:ext cx="682284" cy="545286"/>
                <a:chOff x="6041964" y="4852271"/>
                <a:chExt cx="682284" cy="545286"/>
              </a:xfrm>
            </p:grpSpPr>
            <p:pic>
              <p:nvPicPr>
                <p:cNvPr id="247" name="Picture 246"/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85963" y="4852271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8" name="Picture 7" descr="\documentclass{article}&#10;\usepackage{amsmath,bm}&#10;\pagestyle{empty}&#10;\begin{document}&#10;&#10;\begin{equation*}&#10;-\Psi_{mlh;\sigm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807C3836-31B0-45E8-8C90-9C46A215DE6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41964" y="5116415"/>
                  <a:ext cx="682284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B5E7A28-430C-4C5B-B4E6-0AFEF287C2BD}"/>
                  </a:ext>
                </a:extLst>
              </p:cNvPr>
              <p:cNvGrpSpPr/>
              <p:nvPr/>
            </p:nvGrpSpPr>
            <p:grpSpPr>
              <a:xfrm>
                <a:off x="7220038" y="4852271"/>
                <a:ext cx="682284" cy="563545"/>
                <a:chOff x="7220038" y="4852271"/>
                <a:chExt cx="682284" cy="563545"/>
              </a:xfrm>
            </p:grpSpPr>
            <p:pic>
              <p:nvPicPr>
                <p:cNvPr id="275" name="Picture 274"/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64037" y="4852271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10" name="Picture 9" descr="\documentclass{article}&#10;\usepackage{amsmath,bm}&#10;\pagestyle{empty}&#10;\begin{document}&#10;&#10;\begin{equation*}&#10;-\Psi_{mlh;\sigm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04ED2A39-BB96-42AD-905E-A9A091DB9BC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20038" y="5134674"/>
                  <a:ext cx="682284" cy="28114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778FFEE-67D5-416C-80F1-2CEE373C2FB9}"/>
              </a:ext>
            </a:extLst>
          </p:cNvPr>
          <p:cNvGrpSpPr/>
          <p:nvPr/>
        </p:nvGrpSpPr>
        <p:grpSpPr>
          <a:xfrm>
            <a:off x="9200112" y="4626146"/>
            <a:ext cx="2011680" cy="914400"/>
            <a:chOff x="8833827" y="4459275"/>
            <a:chExt cx="2011680" cy="914400"/>
          </a:xfrm>
        </p:grpSpPr>
        <p:grpSp>
          <p:nvGrpSpPr>
            <p:cNvPr id="108" name="Group 107"/>
            <p:cNvGrpSpPr/>
            <p:nvPr/>
          </p:nvGrpSpPr>
          <p:grpSpPr>
            <a:xfrm>
              <a:off x="8833827" y="4459275"/>
              <a:ext cx="2011680" cy="914400"/>
              <a:chOff x="8195019" y="3870561"/>
              <a:chExt cx="2011680" cy="914400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8195019" y="3870561"/>
                <a:ext cx="2011680" cy="914400"/>
              </a:xfrm>
              <a:prstGeom prst="roundRect">
                <a:avLst>
                  <a:gd name="adj" fmla="val 5873"/>
                </a:avLst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 Placeholder 1 5 2 2 2 2 2 2"/>
              <p:cNvSpPr txBox="1">
                <a:spLocks/>
              </p:cNvSpPr>
              <p:nvPr/>
            </p:nvSpPr>
            <p:spPr>
              <a:xfrm>
                <a:off x="8377899" y="3968419"/>
                <a:ext cx="164592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cs typeface="Arial" panose="020B0604020202020204" pitchFamily="34" charset="0"/>
                  </a:rPr>
                  <a:t>Time-reversal</a:t>
                </a:r>
              </a:p>
            </p:txBody>
          </p:sp>
        </p:grpSp>
        <p:pic>
          <p:nvPicPr>
            <p:cNvPr id="4" name="Picture 3" descr="\documentclass{article}&#10;\usepackage{amsmath,bm}&#10;\pagestyle{empty}&#10;\begin{document}&#10;&#10;\begin{equation*}&#10;(-1)^{l}\Psi_{mlh;\sigma}^{(1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3D349037-4FB5-4706-A160-6426546B1BBA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9348048" y="4926465"/>
              <a:ext cx="979428" cy="281142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3CFFD1-EEFC-4556-B157-A6CFC2481CA8}"/>
              </a:ext>
            </a:extLst>
          </p:cNvPr>
          <p:cNvGrpSpPr/>
          <p:nvPr/>
        </p:nvGrpSpPr>
        <p:grpSpPr>
          <a:xfrm>
            <a:off x="980210" y="3794861"/>
            <a:ext cx="3017520" cy="2576971"/>
            <a:chOff x="980210" y="3794861"/>
            <a:chExt cx="3017520" cy="257697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A7178BD-673E-44BC-B8F2-60E4A1D8D30F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980210" y="3794861"/>
              <a:ext cx="3017519" cy="1188720"/>
              <a:chOff x="478949" y="3443884"/>
              <a:chExt cx="3017519" cy="118872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478949" y="3443884"/>
                <a:ext cx="3017519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 Placeholder 1 5 2 2 1 2 1"/>
              <p:cNvSpPr txBox="1">
                <a:spLocks/>
              </p:cNvSpPr>
              <p:nvPr/>
            </p:nvSpPr>
            <p:spPr>
              <a:xfrm>
                <a:off x="844708" y="3494805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B8A01B-3987-41AC-861A-863BAB22030D}"/>
                  </a:ext>
                </a:extLst>
              </p:cNvPr>
              <p:cNvGrpSpPr/>
              <p:nvPr>
                <p:custDataLst>
                  <p:tags r:id="rId10"/>
                </p:custDataLst>
              </p:nvPr>
            </p:nvGrpSpPr>
            <p:grpSpPr>
              <a:xfrm>
                <a:off x="963710" y="3963510"/>
                <a:ext cx="2047996" cy="594732"/>
                <a:chOff x="963710" y="3963510"/>
                <a:chExt cx="2047996" cy="594732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B6D7948-8BE4-40DD-B477-93A6D825D806}"/>
                    </a:ext>
                  </a:extLst>
                </p:cNvPr>
                <p:cNvGrpSpPr/>
                <p:nvPr>
                  <p:custDataLst>
                    <p:tags r:id="rId11"/>
                  </p:custDataLst>
                </p:nvPr>
              </p:nvGrpSpPr>
              <p:grpSpPr>
                <a:xfrm>
                  <a:off x="963710" y="3963510"/>
                  <a:ext cx="2047996" cy="594732"/>
                  <a:chOff x="963710" y="3963510"/>
                  <a:chExt cx="2047996" cy="594732"/>
                </a:xfrm>
              </p:grpSpPr>
              <p:pic>
                <p:nvPicPr>
                  <p:cNvPr id="179" name="Picture 178"/>
                  <p:cNvPicPr>
                    <a:picLocks noChangeAspect="1"/>
                  </p:cNvPicPr>
                  <p:nvPr>
                    <p:custDataLst>
                      <p:tags r:id="rId14"/>
                    </p:custDataLst>
                  </p:nvPr>
                </p:nvPicPr>
                <p:blipFill>
                  <a:blip r:embed="rId3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36973" y="3963510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 descr="\documentclass{article}&#10;\usepackage{amsmath,bm}&#10;\pagestyle{empty}&#10;\begin{document}&#10;&#10;\begin{equation*}&#10;\Psi_{mlh;\sigma}^{(1)}&#10;\quad&#10;\Psi_{mlh;\sigma}^{(3)}&#10;\quad&#10;\Psi_{mlh;\sigma}^{(2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6E5D4599-376D-4010-9B82-DA29FBDA19A3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63710" y="4277100"/>
                    <a:ext cx="2047996" cy="28114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7" name="Picture 176"/>
                <p:cNvPicPr>
                  <a:picLocks noChangeAspect="1"/>
                </p:cNvPicPr>
                <p:nvPr>
                  <p:custDataLst>
                    <p:tags r:id="rId12"/>
                  </p:custDataLst>
                </p:nvPr>
              </p:nvPicPr>
              <p:blipFill>
                <a:blip r:embed="rId3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0565" y="3963510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75" name="Picture 174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 r:embed="rId3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34917" y="3963510"/>
                  <a:ext cx="394286" cy="1885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D6677BC-2869-408C-A121-41B7762F655B}"/>
                </a:ext>
              </a:extLst>
            </p:cNvPr>
            <p:cNvGrpSpPr/>
            <p:nvPr/>
          </p:nvGrpSpPr>
          <p:grpSpPr>
            <a:xfrm>
              <a:off x="980210" y="5183112"/>
              <a:ext cx="3017520" cy="1188720"/>
              <a:chOff x="478949" y="5052270"/>
              <a:chExt cx="3017520" cy="1188720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B4E0D0BC-EF6D-4A54-9D7B-059DEB2F05D7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478949" y="5052270"/>
                <a:ext cx="3017520" cy="1188720"/>
                <a:chOff x="478949" y="5052270"/>
                <a:chExt cx="3017520" cy="1188720"/>
              </a:xfrm>
            </p:grpSpPr>
            <p:sp>
              <p:nvSpPr>
                <p:cNvPr id="94" name="Rounded Rectangle 93"/>
                <p:cNvSpPr/>
                <p:nvPr/>
              </p:nvSpPr>
              <p:spPr>
                <a:xfrm>
                  <a:off x="478949" y="5052270"/>
                  <a:ext cx="3017520" cy="1188720"/>
                </a:xfrm>
                <a:prstGeom prst="roundRect">
                  <a:avLst>
                    <a:gd name="adj" fmla="val 5873"/>
                  </a:avLst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Text Placeholder 1 5 2 2 1 2 2"/>
                <p:cNvSpPr txBox="1">
                  <a:spLocks/>
                </p:cNvSpPr>
                <p:nvPr/>
              </p:nvSpPr>
              <p:spPr>
                <a:xfrm>
                  <a:off x="769978" y="5103191"/>
                  <a:ext cx="2435462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FF0000"/>
                      </a:solidFill>
                      <a:latin typeface="+mn-lt"/>
                      <a:cs typeface="Arial" panose="020B0604020202020204" pitchFamily="34" charset="0"/>
                    </a:rPr>
                    <a:t>Acyclic permutations</a:t>
                  </a:r>
                </a:p>
              </p:txBody>
            </p: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6270D662-6872-4446-87DD-92BC0AE4BDA2}"/>
                    </a:ext>
                  </a:extLst>
                </p:cNvPr>
                <p:cNvGrpSpPr/>
                <p:nvPr>
                  <p:custDataLst>
                    <p:tags r:id="rId6"/>
                  </p:custDataLst>
                </p:nvPr>
              </p:nvGrpSpPr>
              <p:grpSpPr>
                <a:xfrm>
                  <a:off x="911417" y="5571896"/>
                  <a:ext cx="2124876" cy="188571"/>
                  <a:chOff x="911417" y="5571896"/>
                  <a:chExt cx="2124876" cy="188571"/>
                </a:xfrm>
              </p:grpSpPr>
              <p:pic>
                <p:nvPicPr>
                  <p:cNvPr id="46" name="Picture 45"/>
                  <p:cNvPicPr>
                    <a:picLocks noChangeAspect="1"/>
                  </p:cNvPicPr>
                  <p:nvPr>
                    <p:custDataLst>
                      <p:tags r:id="rId7"/>
                    </p:custDataLst>
                  </p:nvPr>
                </p:nvPicPr>
                <p:blipFill>
                  <a:blip r:embed="rId3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11417" y="5571896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52" name="Picture 51"/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3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81330" y="5571896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58" name="Picture 57"/>
                  <p:cNvPicPr>
                    <a:picLocks noChangeAspect="1"/>
                  </p:cNvPicPr>
                  <p:nvPr>
                    <p:custDataLst>
                      <p:tags r:id="rId9"/>
                    </p:custDataLst>
                  </p:nvPr>
                </p:nvPicPr>
                <p:blipFill>
                  <a:blip r:embed="rId3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642007" y="5571896"/>
                    <a:ext cx="394286" cy="188571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35" name="Picture 34" descr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626F8318-6D55-41F3-8CCB-C756D9207E9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788855" y="5840783"/>
                <a:ext cx="2397709" cy="281142"/>
              </a:xfrm>
              <a:prstGeom prst="rect">
                <a:avLst/>
              </a:prstGeom>
            </p:spPr>
          </p:pic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5B0392B-E076-4621-A0CC-D207608724C5}"/>
              </a:ext>
            </a:extLst>
          </p:cNvPr>
          <p:cNvGrpSpPr/>
          <p:nvPr/>
        </p:nvGrpSpPr>
        <p:grpSpPr>
          <a:xfrm>
            <a:off x="4368713" y="2519966"/>
            <a:ext cx="3454575" cy="1061535"/>
            <a:chOff x="4368713" y="2519966"/>
            <a:chExt cx="3454575" cy="1061535"/>
          </a:xfrm>
        </p:grpSpPr>
        <p:sp>
          <p:nvSpPr>
            <p:cNvPr id="47" name="Rounded Rectangle 46"/>
            <p:cNvSpPr/>
            <p:nvPr/>
          </p:nvSpPr>
          <p:spPr>
            <a:xfrm>
              <a:off x="4368713" y="2519966"/>
              <a:ext cx="3454575" cy="1061535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6B50D2E-648F-4EB6-94A9-AFC5AC2CDE2F}"/>
                </a:ext>
              </a:extLst>
            </p:cNvPr>
            <p:cNvGrpSpPr/>
            <p:nvPr/>
          </p:nvGrpSpPr>
          <p:grpSpPr>
            <a:xfrm>
              <a:off x="4447518" y="2616959"/>
              <a:ext cx="3296965" cy="867548"/>
              <a:chOff x="4447518" y="2755517"/>
              <a:chExt cx="3296965" cy="867548"/>
            </a:xfrm>
          </p:grpSpPr>
          <p:pic>
            <p:nvPicPr>
              <p:cNvPr id="9" name="Picture 8" descr="\documentclass{article}&#10;\usepackage{amsmath,bm}&#10;\pagestyle{empty}&#10;\begin{document}&#10;&#10;\begin{equation*}&#10;\Psi_{mlh;\sigma}^{(q_{1})}&#10;=&#10;\Psi_{mlh}^{(-q_{2})}&#10;-h\sigma\mathrm{i}^{m}\Psi_{mlh}^{(+q_{3}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CC65097E-FF16-4692-A248-ED67242E5D5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39"/>
              <a:stretch>
                <a:fillRect/>
              </a:stretch>
            </p:blipFill>
            <p:spPr>
              <a:xfrm>
                <a:off x="4447518" y="2755517"/>
                <a:ext cx="3296965" cy="369162"/>
              </a:xfrm>
              <a:prstGeom prst="rect">
                <a:avLst/>
              </a:prstGeom>
            </p:spPr>
          </p:pic>
          <p:pic>
            <p:nvPicPr>
              <p:cNvPr id="16" name="Picture 15" descr="\documentclass{article}&#10;\usepackage{amsmath,bm}&#10;\pagestyle{empty}&#10;\begin{document}&#10;&#10;\begin{equation*}&#10;\Psi_{mlh}^{(\pm q)}&#10;=&#10;\Phi_{m(\mp h)l}^{(q)}&#10;\Theta^{(q)}_{h(-1)^{l}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9138B138-70AF-4F69-AA99-44BD6EF6D1F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40"/>
              <a:stretch>
                <a:fillRect/>
              </a:stretch>
            </p:blipFill>
            <p:spPr>
              <a:xfrm>
                <a:off x="4815183" y="3229891"/>
                <a:ext cx="2561635" cy="393174"/>
              </a:xfrm>
              <a:prstGeom prst="rect">
                <a:avLst/>
              </a:prstGeom>
            </p:spPr>
          </p:pic>
        </p:grp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BE1C6-638F-416D-B9A1-F1CC48DEA8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615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B95C-D2CC-4DAE-8941-13C311FE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Accounting of Symmetry, Basis</a:t>
            </a:r>
          </a:p>
        </p:txBody>
      </p:sp>
      <p:sp>
        <p:nvSpPr>
          <p:cNvPr id="4" name="Introduction Textbox 1 1 3 1 1">
            <a:extLst>
              <a:ext uri="{FF2B5EF4-FFF2-40B4-BE49-F238E27FC236}">
                <a16:creationId xmlns:a16="http://schemas.microsoft.com/office/drawing/2014/main" id="{FE0EBABF-4632-4548-A5F8-2589A4FE5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236" y="1929350"/>
            <a:ext cx="6891528" cy="36804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600" dirty="0">
                <a:latin typeface="+mn-lt"/>
              </a:rPr>
              <a:t>Multi-valley basis functions are symmetrized according to T</a:t>
            </a:r>
            <a:r>
              <a:rPr lang="en-US" sz="1600" baseline="-25000" dirty="0">
                <a:latin typeface="+mn-lt"/>
              </a:rPr>
              <a:t>d</a:t>
            </a:r>
            <a:r>
              <a:rPr lang="en-US" sz="1600" dirty="0">
                <a:latin typeface="+mn-lt"/>
              </a:rPr>
              <a:t> symmetry of silicon.</a:t>
            </a:r>
          </a:p>
        </p:txBody>
      </p:sp>
      <p:pic>
        <p:nvPicPr>
          <p:cNvPr id="49" name="Picture 48" descr="\documentclass{article}&#10;\usepackage{amsmath,bm}&#10;\pagestyle{empty}&#10;\begin{document}&#10;&#10;\begin{equation*}&#10;\Psi_{\lambda\eta;A_{1}}&#10;=&#10;\sum_{m_{e}lk}&#10;c_{m_{e}lk}&#10;\sum_{q = x,y,z}&#10;\left(\frac{1}{\sqrt{3}}\right)&#10;\Phi_{\lambda\eta;m_{e}lk,\left(\mathrm{i}^{m_{e}}\right)\left(\mathrm{i}^{m_{e}}(-1)^{l}\right)}^{(q)}&#10;\end{equation*}&#10;&#10;\end{document}" title="IguanaTex Bitmap Display">
            <a:extLst>
              <a:ext uri="{FF2B5EF4-FFF2-40B4-BE49-F238E27FC236}">
                <a16:creationId xmlns:a16="http://schemas.microsoft.com/office/drawing/2014/main" id="{E785231C-4289-475A-BC8E-9BB03211A00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30477" y="2517286"/>
            <a:ext cx="4931047" cy="558324"/>
          </a:xfrm>
          <a:prstGeom prst="rect">
            <a:avLst/>
          </a:prstGeom>
        </p:spPr>
      </p:pic>
      <p:pic>
        <p:nvPicPr>
          <p:cNvPr id="51" name="Picture 50" descr="\documentclass{article}&#10;\usepackage{amsmath,bm}&#10;\pagestyle{empty}&#10;\begin{document}&#10;&#10;\begin{equation*}&#10;\Psi_{\lambda\eta;E_{n}}&#10;=&#10;\sum_{m_{e}lk\sigma}&#10;c_{m_{e}lk\sigma}&#10;\sum_{q = x,y,z}&#10;\left(\frac{\beta_{E_{n}}^{(\sigma)}}{\sqrt{3}}\right)_{q}&#10;\Phi_{\lambda\eta;m_{e}lk,\left(\sigma\mathrm{i}^{m_{e}}\right)\left(\sigma\mathrm{i}^{m_{e}}(-1)^{l}\right)}^{(q)}&#10;\end{equation*}&#10;\begin{equation*}&#10;\bm{\beta}_{E_{1}}^{(\sigma)}&#10;=&#10;\mathrm{i}^{\frac{1-\sigma}{2}}&#10;\left\{\tau, \tau^{2}, 1\right\}&#10;\quad&#10;\bm{\beta}_{E_{2}}^{(\sigma)}&#10;=&#10;\left(\bm{\beta}_{E_{1}}^{(\sigma)}\right)^{*}&#10;\quad&#10;\tau = -\frac{1}{2} + \mathrm{i}\frac{\sqrt{3}}{2}&#10;\end{equation*}&#10;&#10;\end{document}" title="IguanaTex Bitmap Display">
            <a:extLst>
              <a:ext uri="{FF2B5EF4-FFF2-40B4-BE49-F238E27FC236}">
                <a16:creationId xmlns:a16="http://schemas.microsoft.com/office/drawing/2014/main" id="{EF1977D3-2DBD-421B-99FC-73A9CEC9140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23277" y="3295497"/>
            <a:ext cx="5545447" cy="1342171"/>
          </a:xfrm>
          <a:prstGeom prst="rect">
            <a:avLst/>
          </a:prstGeom>
        </p:spPr>
      </p:pic>
      <p:pic>
        <p:nvPicPr>
          <p:cNvPr id="55" name="Picture 54" descr="\documentclass{article}&#10;\usepackage{amsmath,bm}&#10;\pagestyle{empty}&#10;\begin{document}&#10;&#10;\begin{equation*}&#10;\Psi_{\lambda\eta;T_{2}^{\left(q\right)}}^{(e)}&#10;=&#10;\sum_{m_{e}lk}&#10;c_{m_{e}lk}&#10;\Phi_{\lambda\eta;m_{e}lk,\left(\mathrm{i}^{m_{e}}\right)\left(-\mathrm{i}^{m_{e}}(-1)^{l}\right)}^{(q)}&#10;\quad\quad&#10;\Psi_{\lambda\eta;T_{2}^{\left(q_{1}\right)}}^{(o)}&#10;=&#10;\sum_{m_{o}lkh}&#10;c_{m_{o}lkh}&#10;\frac&#10;{&#10;\Phi_{\lambda\eta;m_{o}lk,h\left(h(-1)^{l}\right)}^{\left(q_{2}\right)}&#10;- h\mathrm{i}^{m_{o}}\Phi_{\lambda\eta;m_{o}lk,\bar{h}\left(h(-1)^{l}\right)}^{\left(q_{3}\right)}&#10;}&#10;{\sqrt{2}}&#10;\end{equation*}&#10;&#10;\end{document}" title="IguanaTex Bitmap Display">
            <a:extLst>
              <a:ext uri="{FF2B5EF4-FFF2-40B4-BE49-F238E27FC236}">
                <a16:creationId xmlns:a16="http://schemas.microsoft.com/office/drawing/2014/main" id="{95E14D1A-CECC-4732-8AE2-983F5B8DB1A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37563" y="4857555"/>
            <a:ext cx="10116874" cy="671695"/>
          </a:xfrm>
          <a:prstGeom prst="rect">
            <a:avLst/>
          </a:prstGeom>
        </p:spPr>
      </p:pic>
      <p:sp>
        <p:nvSpPr>
          <p:cNvPr id="47" name="Introduction Textbox 1 1 3 1 2">
            <a:extLst>
              <a:ext uri="{FF2B5EF4-FFF2-40B4-BE49-F238E27FC236}">
                <a16:creationId xmlns:a16="http://schemas.microsoft.com/office/drawing/2014/main" id="{9DDBEF58-87F2-4473-8CBE-CE6858F9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96" y="5749137"/>
            <a:ext cx="9131808" cy="6635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600" dirty="0">
                <a:latin typeface="+mn-lt"/>
              </a:rPr>
              <a:t>Forms for </a:t>
            </a:r>
            <a:r>
              <a:rPr lang="en-US" sz="1600" i="1" dirty="0">
                <a:latin typeface="+mn-lt"/>
              </a:rPr>
              <a:t>A</a:t>
            </a:r>
            <a:r>
              <a:rPr lang="en-US" sz="1600" i="1" baseline="-25000" dirty="0">
                <a:latin typeface="+mn-lt"/>
              </a:rPr>
              <a:t>2</a:t>
            </a:r>
            <a:r>
              <a:rPr lang="en-US" sz="1600" dirty="0">
                <a:latin typeface="+mn-lt"/>
              </a:rPr>
              <a:t> and </a:t>
            </a:r>
            <a:r>
              <a:rPr lang="en-US" sz="1600" i="1" dirty="0">
                <a:latin typeface="+mn-lt"/>
              </a:rPr>
              <a:t>T</a:t>
            </a:r>
            <a:r>
              <a:rPr lang="en-US" sz="1600" i="1" baseline="-25000" dirty="0">
                <a:latin typeface="+mn-lt"/>
              </a:rPr>
              <a:t>1</a:t>
            </a:r>
            <a:r>
              <a:rPr lang="en-US" sz="1600" dirty="0">
                <a:latin typeface="+mn-lt"/>
              </a:rPr>
              <a:t> are also known.</a:t>
            </a:r>
          </a:p>
          <a:p>
            <a:pPr algn="ctr">
              <a:lnSpc>
                <a:spcPct val="120000"/>
              </a:lnSpc>
            </a:pPr>
            <a:r>
              <a:rPr lang="en-US" sz="1600" dirty="0">
                <a:latin typeface="+mn-lt"/>
              </a:rPr>
              <a:t>Selection rules for all symmetries are analytically known, but have not yet been implemented in code.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1B72B-1188-489A-8D82-B881099D50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112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AF89-67C0-4F6B-8650-26DB6EB2B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POTENTIAL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BAABE-BBBB-4023-A0B0-195BC898E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E4F65-845B-4E1C-AFFF-CEF3C00D55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28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3216"/>
            <a:ext cx="10515600" cy="584775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dirty="0">
                <a:solidFill>
                  <a:srgbClr val="005BBB"/>
                </a:solidFill>
              </a:rPr>
              <a:t>Flexible Potential Model</a:t>
            </a:r>
            <a:endParaRPr lang="en-US" dirty="0"/>
          </a:p>
        </p:txBody>
      </p:sp>
      <p:sp>
        <p:nvSpPr>
          <p:cNvPr id="202" name="Introduction Textbox 1 1 1 1">
            <a:extLst>
              <a:ext uri="{FF2B5EF4-FFF2-40B4-BE49-F238E27FC236}">
                <a16:creationId xmlns:a16="http://schemas.microsoft.com/office/drawing/2014/main" id="{62B65E2E-32EB-40BD-B4EF-AFF6F7498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681" y="3987441"/>
            <a:ext cx="10030638" cy="10673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marL="95235" indent="-95235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+mn-lt"/>
              </a:rPr>
              <a:t>The </a:t>
            </a:r>
            <a:r>
              <a:rPr lang="en-US" sz="1800" b="1" dirty="0">
                <a:solidFill>
                  <a:srgbClr val="666666"/>
                </a:solidFill>
                <a:latin typeface="Calibri"/>
                <a:ea typeface="+mn-ea"/>
              </a:rPr>
              <a:t>fraktur </a:t>
            </a:r>
            <a:r>
              <a:rPr lang="en-US" sz="1800" b="1" dirty="0">
                <a:latin typeface="+mn-lt"/>
              </a:rPr>
              <a:t>constants can be freely set by users of the software. </a:t>
            </a:r>
          </a:p>
          <a:p>
            <a:pPr marL="95235" indent="-95235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Potential form </a:t>
            </a:r>
            <a:r>
              <a:rPr lang="en-US" sz="1800" b="1" i="1" dirty="0">
                <a:latin typeface="+mn-lt"/>
              </a:rPr>
              <a:t>represents most extant models</a:t>
            </a:r>
            <a:r>
              <a:rPr lang="en-US" sz="1800" dirty="0">
                <a:latin typeface="+mn-lt"/>
              </a:rPr>
              <a:t> of the effective silicon donor potential.</a:t>
            </a:r>
          </a:p>
          <a:p>
            <a:pPr marL="95235" indent="-95235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Examples include the tetrahedral potential used by Gamble [1] and the dynamic dielectric model [2,3].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9939F6-8F88-4780-B760-0956CCCDBCE4}"/>
              </a:ext>
            </a:extLst>
          </p:cNvPr>
          <p:cNvGrpSpPr/>
          <p:nvPr/>
        </p:nvGrpSpPr>
        <p:grpSpPr>
          <a:xfrm>
            <a:off x="2981333" y="2363988"/>
            <a:ext cx="6229334" cy="1399714"/>
            <a:chOff x="2981333" y="2266266"/>
            <a:chExt cx="6229334" cy="1399714"/>
          </a:xfrm>
        </p:grpSpPr>
        <p:pic>
          <p:nvPicPr>
            <p:cNvPr id="4" name="Picture 3" descr="\documentclass{article}&#10;\usepackage{amsmath,bm,eufrak}&#10;\pagestyle{empty}&#10;\begin{document}&#10;&#10;\begin{align*}&#10;U_{\bm{r}}&#10;&amp; =&#10;\sum_{i}&#10;\mathfrak{U}_{i}&#10;r^{\mathfrak{e}_{i}}&#10;\sum_{j}&#10;\mathcal{U}_{ij\left\{\Omega\right\}}&#10;\mathrm{e}^{-\mathcal{A}_{ij\left\{\Omega\right\}}r}&#10;\mathrm{e}^{-\mathcal{B}_{ij\left\{\Omega\right\}}r^{2}}&#10;\end{align*}&#10;&#10;\end{document}" title="IguanaTex Bitmap Display">
              <a:extLst>
                <a:ext uri="{FF2B5EF4-FFF2-40B4-BE49-F238E27FC236}">
                  <a16:creationId xmlns:a16="http://schemas.microsoft.com/office/drawing/2014/main" id="{B113BD85-C866-4C1D-A4DD-1B971D9ECFB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4185753" y="2266266"/>
              <a:ext cx="3820494" cy="480305"/>
            </a:xfrm>
            <a:prstGeom prst="rect">
              <a:avLst/>
            </a:prstGeom>
          </p:spPr>
        </p:pic>
        <p:pic>
          <p:nvPicPr>
            <p:cNvPr id="7" name="Picture 6" descr="\documentclass{article}&#10;\usepackage{amsmath,bm,eufrak}&#10;\pagestyle{empty}&#10;\begin{document}&#10;&#10;\begin{equation*}&#10;\mathcal{F}_{ij\left\{\Omega\right\}}&#10;=&#10;\mathfrak{f}_{ij,0}&#10;+&#10;\mathfrak{f}_{ij,x}&#10;\chi_{x}&#10;+&#10;\mathfrak{f}_{ij,y}&#10;\chi_{y}&#10;+&#10;\mathfrak{f}_{ij,z}&#10;\chi_{z}&#10;\end{equation*}&#10;\begin{equation*}&#10;\chi_{x} = \frac{x}{r} = \sin(\theta)\cos(\phi) \quad\quad&#10;\chi_{y} = \frac{y}{r} = \sin(\theta)\sin(\phi) \quad\quad&#10;\chi_{z} = \frac{z}{r} = \cos(\theta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AD0CF20-E7F0-48FA-AA19-CD43DBBDD8D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981333" y="2946742"/>
              <a:ext cx="6229334" cy="719238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58A87F-692F-4C1B-84EB-BCFAB1D179BE}"/>
              </a:ext>
            </a:extLst>
          </p:cNvPr>
          <p:cNvGrpSpPr/>
          <p:nvPr/>
        </p:nvGrpSpPr>
        <p:grpSpPr>
          <a:xfrm>
            <a:off x="1302858" y="5278524"/>
            <a:ext cx="9586285" cy="958172"/>
            <a:chOff x="1302858" y="5661557"/>
            <a:chExt cx="9586285" cy="958172"/>
          </a:xfrm>
        </p:grpSpPr>
        <p:pic>
          <p:nvPicPr>
            <p:cNvPr id="14" name="Picture 13" descr="\documentclass{article}&#10;\usepackage{amsmath,amssymb,bm}&#10;\pagestyle{empty}&#10;\begin{document}&#10;&#10;\begin{equation*}&#10;U_{\text{Dyn}} = -\frac{2}{r}\left(1+A\mathrm{e}^{-\alpha r} + \left(\epsilon_{0}-A\right)\mathrm{e}^{-\beta r} - \mathrm{e}^{-\gamma r}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2836981-DBF1-46BB-B6F0-86C6E2DFEFDF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718781" y="5934015"/>
              <a:ext cx="4170362" cy="413257"/>
            </a:xfrm>
            <a:prstGeom prst="rect">
              <a:avLst/>
            </a:prstGeom>
          </p:spPr>
        </p:pic>
        <p:pic>
          <p:nvPicPr>
            <p:cNvPr id="20" name="Picture 19" descr="\documentclass{article}&#10;\usepackage{amsmath,amssymb,bm}&#10;\pagestyle{empty}&#10;\begin{document}&#10;&#10;\begin{equation*}&#10;U_{\text{Gamble}} = -\frac{2}{r} +  A_{0}\mathrm{e}^{-\beta_{0}r^2} + A_{1}\sum_{i=1}^{4}\mathrm{e}^{-\beta_{1}\left|\bm{r}-b\bm{t}_{i}\right|^{2}}&#10;\end{equation*}&#10;\begin{equation*}&#10;\bm{t}_{i} = \left\{\left[111\right],\left[\bar{1}1\bar{1}\right],\left[1\bar{1}\bar{1}\right],\left[\bar{1}\bar{1}1\right]\right\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1186007-F064-4184-8A5B-F39602F6D1A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302858" y="5661557"/>
              <a:ext cx="4113065" cy="958172"/>
            </a:xfrm>
            <a:prstGeom prst="rect">
              <a:avLst/>
            </a:prstGeom>
          </p:spPr>
        </p:pic>
      </p:grpSp>
      <p:sp>
        <p:nvSpPr>
          <p:cNvPr id="49" name="Introduction Textbox 1 1 1 2">
            <a:extLst>
              <a:ext uri="{FF2B5EF4-FFF2-40B4-BE49-F238E27FC236}">
                <a16:creationId xmlns:a16="http://schemas.microsoft.com/office/drawing/2014/main" id="{73A7EF4D-3C78-44ED-9134-859300C21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186" y="1737703"/>
            <a:ext cx="10709629" cy="40254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800" b="1" dirty="0">
                <a:latin typeface="+mn-lt"/>
              </a:rPr>
              <a:t>To facilitate deep exploration, </a:t>
            </a:r>
            <a:r>
              <a:rPr lang="en-US" sz="1800" b="1" i="1" dirty="0">
                <a:highlight>
                  <a:srgbClr val="FFFF00"/>
                </a:highlight>
                <a:latin typeface="+mn-lt"/>
              </a:rPr>
              <a:t>a very general potential model</a:t>
            </a:r>
            <a:r>
              <a:rPr lang="en-US" sz="1800" dirty="0">
                <a:latin typeface="+mn-lt"/>
              </a:rPr>
              <a:t>.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E4453C-2ED1-4C5A-8680-EF9A7EC1E957}"/>
              </a:ext>
            </a:extLst>
          </p:cNvPr>
          <p:cNvSpPr txBox="1"/>
          <p:nvPr/>
        </p:nvSpPr>
        <p:spPr>
          <a:xfrm>
            <a:off x="7284720" y="175883"/>
            <a:ext cx="48463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2"/>
              </a:buClr>
              <a:defRPr/>
            </a:pPr>
            <a:r>
              <a:rPr lang="it-IT" sz="1400" dirty="0"/>
              <a:t>[1] </a:t>
            </a:r>
            <a:r>
              <a:rPr lang="fr-FR" sz="1400" dirty="0"/>
              <a:t>J.K. Gamble et al., Phys. </a:t>
            </a:r>
            <a:r>
              <a:rPr lang="fr-FR" sz="1400" dirty="0" err="1"/>
              <a:t>Rev</a:t>
            </a:r>
            <a:r>
              <a:rPr lang="fr-FR" sz="1400" dirty="0"/>
              <a:t>. B </a:t>
            </a:r>
            <a:r>
              <a:rPr lang="fr-FR" sz="1400" b="1" dirty="0"/>
              <a:t>91</a:t>
            </a:r>
            <a:r>
              <a:rPr lang="fr-FR" sz="1400" dirty="0"/>
              <a:t>, 235318 (2015)</a:t>
            </a:r>
          </a:p>
          <a:p>
            <a:pPr>
              <a:buClr>
                <a:schemeClr val="tx2"/>
              </a:buClr>
              <a:defRPr/>
            </a:pPr>
            <a:r>
              <a:rPr lang="fr-FR" sz="1400" dirty="0"/>
              <a:t>[2] A.Q. </a:t>
            </a:r>
            <a:r>
              <a:rPr lang="fr-FR" sz="1400" dirty="0" err="1"/>
              <a:t>Sarker</a:t>
            </a:r>
            <a:r>
              <a:rPr lang="fr-FR" sz="1400" dirty="0"/>
              <a:t>, J. Phys. C </a:t>
            </a:r>
            <a:r>
              <a:rPr lang="fr-FR" sz="1400" b="1" dirty="0"/>
              <a:t>10</a:t>
            </a:r>
            <a:r>
              <a:rPr lang="fr-FR" sz="1400" dirty="0"/>
              <a:t> 2617 (1977)</a:t>
            </a:r>
            <a:endParaRPr lang="fr-FR" sz="1400" b="1" dirty="0"/>
          </a:p>
          <a:p>
            <a:pPr>
              <a:buClr>
                <a:schemeClr val="tx2"/>
              </a:buClr>
              <a:defRPr/>
            </a:pPr>
            <a:r>
              <a:rPr lang="fr-FR" sz="1400" dirty="0"/>
              <a:t>[3] M. Usman, et al., J. Phys.:</a:t>
            </a:r>
            <a:r>
              <a:rPr lang="fr-FR" sz="1400" dirty="0" err="1"/>
              <a:t>Condens</a:t>
            </a:r>
            <a:r>
              <a:rPr lang="fr-FR" sz="1400" dirty="0"/>
              <a:t>. </a:t>
            </a:r>
            <a:r>
              <a:rPr lang="fr-FR" sz="1400" dirty="0" err="1"/>
              <a:t>Matter</a:t>
            </a:r>
            <a:r>
              <a:rPr lang="fr-FR" sz="1400" dirty="0"/>
              <a:t> </a:t>
            </a:r>
            <a:r>
              <a:rPr lang="fr-FR" sz="1400" b="1" dirty="0"/>
              <a:t>27 </a:t>
            </a:r>
            <a:r>
              <a:rPr lang="fr-FR" sz="1400" dirty="0"/>
              <a:t>154207 (2015)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F50286-4781-4051-B873-7D945D637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https://gitlab.com/cantankerous-impurity/Documentation/-/tree/core/Presentations/MarchMeeting2023(LasVegas)</a:t>
            </a:r>
          </a:p>
        </p:txBody>
      </p:sp>
    </p:spTree>
    <p:extLst>
      <p:ext uri="{BB962C8B-B14F-4D97-AF65-F5344CB8AC3E}">
        <p14:creationId xmlns:p14="http://schemas.microsoft.com/office/powerpoint/2010/main" val="2027944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3499-CE61-488D-96D6-3B6651DAD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Test 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EAB29-FD21-423E-8C5D-101EFF41C8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Single-Valley Wavefunctions </a:t>
            </a:r>
          </a:p>
          <a:p>
            <a:r>
              <a:rPr lang="en-US" dirty="0"/>
              <a:t>Beyond Kohn-</a:t>
            </a:r>
            <a:r>
              <a:rPr lang="en-US" dirty="0" err="1"/>
              <a:t>Luttinger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FBA9D-878B-43D4-B1F6-0F20758265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48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7156711-0689-4935-999D-A3FE3C5EEBE3}"/>
              </a:ext>
            </a:extLst>
          </p:cNvPr>
          <p:cNvGrpSpPr/>
          <p:nvPr/>
        </p:nvGrpSpPr>
        <p:grpSpPr>
          <a:xfrm>
            <a:off x="2984173" y="1599234"/>
            <a:ext cx="3810000" cy="4754271"/>
            <a:chOff x="2629060" y="1922322"/>
            <a:chExt cx="3810000" cy="47542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DC62B64-96F4-4753-949B-3903F70B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29060" y="1922322"/>
              <a:ext cx="3810000" cy="3810000"/>
            </a:xfrm>
            <a:prstGeom prst="rect">
              <a:avLst/>
            </a:prstGeom>
          </p:spPr>
        </p:pic>
        <p:pic>
          <p:nvPicPr>
            <p:cNvPr id="32" name="Picture 31" descr="\documentclass{article}&#10;\usepackage{amsmath,amssymb,bm,physics,mathtools,siunitx}&#10;\pagestyle{empty}&#10;\begin{document}&#10;&#10;\begin{equation*}&#10;\lambda \rightarrow 1.745 \quad\quad\quad \eta \rightarrow 0.7522&#10;\end{equation*}&#10;\begin{equation*}&#10;E\left[\lambda,\eta\right] = -1.565 \quad v\left[\lambda,\eta\right] = 0.05048&#10;\end{equation*}&#10;\begin{equation*}&#10;E\left[\lambda,\eta\right] = -31.22\,\unit{\milli\eV}&#10;\end{equation*}&#10;&#10;&#10;\end{document}" title="IguanaTex Bitmap Display">
              <a:extLst>
                <a:ext uri="{FF2B5EF4-FFF2-40B4-BE49-F238E27FC236}">
                  <a16:creationId xmlns:a16="http://schemas.microsoft.com/office/drawing/2014/main" id="{9B2BA974-EB2E-40D6-AB79-0B56B1C60A8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2935281" y="5756211"/>
              <a:ext cx="3197561" cy="920382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EE0FD2-E7A8-4FA3-91BA-EBB8344E4587}"/>
              </a:ext>
            </a:extLst>
          </p:cNvPr>
          <p:cNvGrpSpPr/>
          <p:nvPr/>
        </p:nvGrpSpPr>
        <p:grpSpPr>
          <a:xfrm>
            <a:off x="7588087" y="1599234"/>
            <a:ext cx="3810000" cy="4754272"/>
            <a:chOff x="7410530" y="1922322"/>
            <a:chExt cx="3810000" cy="47542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BA4F6B8-058B-449C-AFD0-ED464DB73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0530" y="1922322"/>
              <a:ext cx="3810000" cy="3810000"/>
            </a:xfrm>
            <a:prstGeom prst="rect">
              <a:avLst/>
            </a:prstGeom>
          </p:spPr>
        </p:pic>
        <p:pic>
          <p:nvPicPr>
            <p:cNvPr id="40" name="Picture 39" descr="\documentclass{article}&#10;\usepackage{amsmath,amssymb,bm,physics,mathtools,siunitx}&#10;\pagestyle{empty}&#10;\begin{document}&#10;&#10;\begin{equation*}&#10;\lambda \rightarrow 1.585 \quad\quad\quad \eta \rightarrow 0.7421&#10;\end{equation*}&#10;\begin{equation*}&#10;E\left[\lambda,\eta\right] = -1.558 \quad v\left[\lambda,\eta\right] = 0.01877&#10;\end{equation*}&#10;\begin{equation*}&#10;E\left[\lambda,\eta\right] = -31.08\,\unit{\milli\eV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29E26EA-24A1-4263-B04B-C5E912AA746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713702" y="5756212"/>
              <a:ext cx="3203654" cy="920382"/>
            </a:xfrm>
            <a:prstGeom prst="rect">
              <a:avLst/>
            </a:prstGeom>
            <a:noFill/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19B82B6-505D-4ED2-894B-7FDE9F0A06BC}"/>
              </a:ext>
            </a:extLst>
          </p:cNvPr>
          <p:cNvSpPr txBox="1"/>
          <p:nvPr/>
        </p:nvSpPr>
        <p:spPr>
          <a:xfrm>
            <a:off x="793914" y="3798857"/>
            <a:ext cx="1396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u="sng" dirty="0">
                <a:solidFill>
                  <a:schemeClr val="accent1"/>
                </a:solidFill>
              </a:rPr>
              <a:t>Basis(m,l,k)</a:t>
            </a:r>
          </a:p>
          <a:p>
            <a:pPr algn="ctr"/>
            <a:r>
              <a:rPr lang="pt-BR" dirty="0"/>
              <a:t>0,0,0</a:t>
            </a:r>
          </a:p>
        </p:txBody>
      </p:sp>
      <p:pic>
        <p:nvPicPr>
          <p:cNvPr id="31" name="Picture 30" descr="\documentclass{article}&#10;\usepackage{amsmath,amssymb,bm,physics,mathtools,siunitx}&#10;\pagestyle{empty}&#10;\begin{document}&#10;&#10;\begin{equation*}&#10;\mathfrak{E}_{AU} = 19.944\,\unit{\milli\eV}&#10;\end{equation*}&#10;\begin{equation*}&#10;\mathfrak{a}_{AU} = 3.167\,\unit{\nano\meter}&#10;\end{equation*}&#10;&#10;\end{document}" title="IguanaTex Bitmap Display">
            <a:extLst>
              <a:ext uri="{FF2B5EF4-FFF2-40B4-BE49-F238E27FC236}">
                <a16:creationId xmlns:a16="http://schemas.microsoft.com/office/drawing/2014/main" id="{81E67E5E-AB23-4B5F-A8FC-D05FC00313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732264" y="1242801"/>
            <a:ext cx="1646935" cy="536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7E6E4E-1B55-47CA-8BBD-4FACE62FFE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Kohn-</a:t>
            </a:r>
            <a:r>
              <a:rPr lang="en-US" dirty="0" err="1"/>
              <a:t>Luttinger</a:t>
            </a:r>
            <a:r>
              <a:rPr lang="en-US" dirty="0"/>
              <a:t> (Historic)</a:t>
            </a:r>
          </a:p>
        </p:txBody>
      </p:sp>
    </p:spTree>
    <p:extLst>
      <p:ext uri="{BB962C8B-B14F-4D97-AF65-F5344CB8AC3E}">
        <p14:creationId xmlns:p14="http://schemas.microsoft.com/office/powerpoint/2010/main" val="1155008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EB9464-E739-45CF-BAB7-8A4D0FC22C53}"/>
              </a:ext>
            </a:extLst>
          </p:cNvPr>
          <p:cNvGrpSpPr/>
          <p:nvPr/>
        </p:nvGrpSpPr>
        <p:grpSpPr>
          <a:xfrm>
            <a:off x="2979500" y="1510202"/>
            <a:ext cx="3810000" cy="4767557"/>
            <a:chOff x="2628337" y="1918634"/>
            <a:chExt cx="3810000" cy="4767557"/>
          </a:xfrm>
        </p:grpSpPr>
        <p:pic>
          <p:nvPicPr>
            <p:cNvPr id="29" name="Picture 28" descr="\documentclass{article}&#10;\usepackage{amsmath,amssymb,bm,physics,mathtools,siunitx}&#10;\pagestyle{empty}&#10;\begin{document}&#10;&#10;\begin{equation*}&#10;\lambda \rightarrow 6.130 \quad\quad\quad \eta \rightarrow 1.558&#10;\end{equation*}&#10;\begin{equation*}&#10;E\left[\lambda,\eta\right] = -2.294 \quad v\left[\lambda,\eta\right] = 1.092&#10;\end{equation*}&#10;\begin{equation*}&#10;E\left[\lambda,\eta\right] = -45.74\,\unit{\milli\eV}&#10;\end{equation*}&#10;&#10;&#10;\end{document}" title="IguanaTex Bitmap Display">
              <a:extLst>
                <a:ext uri="{FF2B5EF4-FFF2-40B4-BE49-F238E27FC236}">
                  <a16:creationId xmlns:a16="http://schemas.microsoft.com/office/drawing/2014/main" id="{57ECD510-7F64-4009-B5B2-EDF66C85EF1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3036370" y="5765809"/>
              <a:ext cx="2993980" cy="92038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54086B-0C5A-43DD-B364-44E7025B2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28337" y="1918634"/>
              <a:ext cx="3810000" cy="3810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B5833E-B764-4AF9-AC71-8F69DCC5EED0}"/>
              </a:ext>
            </a:extLst>
          </p:cNvPr>
          <p:cNvGrpSpPr/>
          <p:nvPr/>
        </p:nvGrpSpPr>
        <p:grpSpPr>
          <a:xfrm>
            <a:off x="7585751" y="1510202"/>
            <a:ext cx="3810000" cy="4757932"/>
            <a:chOff x="7585751" y="1510202"/>
            <a:chExt cx="3810000" cy="4757932"/>
          </a:xfrm>
        </p:grpSpPr>
        <p:pic>
          <p:nvPicPr>
            <p:cNvPr id="10" name="Picture 9" descr="\documentclass{article}&#10;\usepackage{amsmath,amssymb,bm,physics,mathtools,siunitx}&#10;\pagestyle{empty}&#10;\begin{document}&#10;&#10;\begin{equation*}&#10;\lambda \rightarrow 1.628 \quad\quad\quad \eta \rightarrow 1.349&#10;\end{equation*}&#10;\begin{equation*}&#10;E\left[\lambda,\eta\right] = -1.832 \quad v\left[\lambda,\eta\right] = 0.00001905&#10;\end{equation*}&#10;\begin{equation*}&#10;E\left[\lambda,\eta\right] = -36.54\,\unit{\milli\eV}&#10;\end{equation*}&#10;&#10;&#10;\end{document}" title="IguanaTex Bitmap Display">
              <a:extLst>
                <a:ext uri="{FF2B5EF4-FFF2-40B4-BE49-F238E27FC236}">
                  <a16:creationId xmlns:a16="http://schemas.microsoft.com/office/drawing/2014/main" id="{368F2B9D-C423-4A04-9843-31DE12663E8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7734222" y="5347752"/>
              <a:ext cx="3499884" cy="920382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03842ED-030D-4915-89AE-8656340CA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85751" y="1510202"/>
              <a:ext cx="3810000" cy="38100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D8CF8F4-B11D-46A4-AD6A-0009E088CE92}"/>
              </a:ext>
            </a:extLst>
          </p:cNvPr>
          <p:cNvSpPr txBox="1"/>
          <p:nvPr/>
        </p:nvSpPr>
        <p:spPr>
          <a:xfrm>
            <a:off x="796251" y="1923491"/>
            <a:ext cx="138699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u="sng" dirty="0">
                <a:solidFill>
                  <a:schemeClr val="accent1"/>
                </a:solidFill>
              </a:rPr>
              <a:t>Basis(m,l,k)</a:t>
            </a:r>
            <a:endParaRPr lang="pt-BR" dirty="0"/>
          </a:p>
          <a:p>
            <a:pPr algn="ctr"/>
            <a:r>
              <a:rPr lang="pt-BR" dirty="0"/>
              <a:t>0,0,0</a:t>
            </a:r>
          </a:p>
          <a:p>
            <a:pPr algn="ctr"/>
            <a:r>
              <a:rPr lang="pt-BR" dirty="0"/>
              <a:t>0,0,1</a:t>
            </a:r>
          </a:p>
          <a:p>
            <a:pPr algn="ctr"/>
            <a:r>
              <a:rPr lang="pt-BR" dirty="0"/>
              <a:t>0,0,2</a:t>
            </a:r>
          </a:p>
          <a:p>
            <a:pPr algn="ctr"/>
            <a:r>
              <a:rPr lang="pt-BR" dirty="0"/>
              <a:t>0,0,3</a:t>
            </a:r>
          </a:p>
          <a:p>
            <a:pPr algn="ctr"/>
            <a:r>
              <a:rPr lang="pt-BR" dirty="0"/>
              <a:t>0,2,0</a:t>
            </a:r>
          </a:p>
          <a:p>
            <a:pPr algn="ctr"/>
            <a:r>
              <a:rPr lang="pt-BR" dirty="0"/>
              <a:t>0,2,1</a:t>
            </a:r>
          </a:p>
          <a:p>
            <a:pPr algn="ctr"/>
            <a:r>
              <a:rPr lang="pt-BR" dirty="0"/>
              <a:t>0,2,2</a:t>
            </a:r>
          </a:p>
          <a:p>
            <a:pPr algn="ctr"/>
            <a:r>
              <a:rPr lang="pt-BR" dirty="0"/>
              <a:t>0,2,3</a:t>
            </a:r>
          </a:p>
          <a:p>
            <a:pPr algn="ctr"/>
            <a:r>
              <a:rPr lang="pt-BR" dirty="0"/>
              <a:t>0,4,0</a:t>
            </a:r>
          </a:p>
          <a:p>
            <a:pPr algn="ctr"/>
            <a:r>
              <a:rPr lang="pt-BR" dirty="0"/>
              <a:t>0,4,1</a:t>
            </a:r>
          </a:p>
          <a:p>
            <a:pPr algn="ctr"/>
            <a:r>
              <a:rPr lang="pt-BR" dirty="0"/>
              <a:t>0,4,2</a:t>
            </a:r>
          </a:p>
          <a:p>
            <a:pPr algn="ctr"/>
            <a:r>
              <a:rPr lang="pt-BR" dirty="0"/>
              <a:t>0,4,3</a:t>
            </a:r>
          </a:p>
          <a:p>
            <a:pPr algn="ctr"/>
            <a:r>
              <a:rPr lang="pt-BR" dirty="0"/>
              <a:t>0,6,0</a:t>
            </a:r>
          </a:p>
          <a:p>
            <a:pPr algn="ctr"/>
            <a:r>
              <a:rPr lang="pt-BR" dirty="0"/>
              <a:t>0,6,1</a:t>
            </a:r>
          </a:p>
          <a:p>
            <a:pPr algn="ctr"/>
            <a:r>
              <a:rPr lang="pt-BR" dirty="0"/>
              <a:t>0,6,2</a:t>
            </a:r>
          </a:p>
          <a:p>
            <a:pPr algn="ctr"/>
            <a:r>
              <a:rPr lang="pt-BR" dirty="0"/>
              <a:t>0,6,3</a:t>
            </a:r>
            <a:endParaRPr lang="en-US" dirty="0"/>
          </a:p>
        </p:txBody>
      </p:sp>
      <p:pic>
        <p:nvPicPr>
          <p:cNvPr id="32" name="Picture 31" descr="\documentclass{article}&#10;\usepackage{amsmath,amssymb,bm,physics,mathtools,siunitx}&#10;\pagestyle{empty}&#10;\begin{document}&#10;&#10;\begin{equation*}&#10;\mathfrak{E}_{AU} = 19.944\,\unit{\milli\eV}&#10;\end{equation*}&#10;\begin{equation*}&#10;\mathfrak{a}_{AU} = 3.167\,\unit{\nano\meter}&#10;\end{equation*}&#10;&#10;\end{document}" title="IguanaTex Bitmap Display">
            <a:extLst>
              <a:ext uri="{FF2B5EF4-FFF2-40B4-BE49-F238E27FC236}">
                <a16:creationId xmlns:a16="http://schemas.microsoft.com/office/drawing/2014/main" id="{3035AF37-54BA-484F-9A11-7503A82D4A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732264" y="1242801"/>
            <a:ext cx="1646935" cy="53638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29E82-A8AD-4834-9D89-E175B0643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Expanded Single-Valley</a:t>
            </a:r>
          </a:p>
        </p:txBody>
      </p:sp>
    </p:spTree>
    <p:extLst>
      <p:ext uri="{BB962C8B-B14F-4D97-AF65-F5344CB8AC3E}">
        <p14:creationId xmlns:p14="http://schemas.microsoft.com/office/powerpoint/2010/main" val="2574349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AF89-67C0-4F6B-8650-26DB6EB2B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BAABE-BBBB-4023-A0B0-195BC898E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C7FED-75CF-4D4D-B3C8-56B2A71264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914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Caveats and Challenges -- I</a:t>
            </a:r>
          </a:p>
        </p:txBody>
      </p:sp>
      <p:sp>
        <p:nvSpPr>
          <p:cNvPr id="447" name="Methods Textbox 1 3 2 1 2 2 1"/>
          <p:cNvSpPr txBox="1"/>
          <p:nvPr/>
        </p:nvSpPr>
        <p:spPr>
          <a:xfrm>
            <a:off x="838201" y="2157618"/>
            <a:ext cx="10515599" cy="1643399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958"/>
              </a:lnSpc>
              <a:spcAft>
                <a:spcPts val="250"/>
              </a:spcAft>
              <a:defRPr/>
            </a:pPr>
            <a:r>
              <a:rPr lang="en-US" b="1" dirty="0" err="1">
                <a:solidFill>
                  <a:srgbClr val="005BBB"/>
                </a:solidFill>
                <a:cs typeface="Calibri" panose="020F0502020204030204" pitchFamily="34" charset="0"/>
              </a:rPr>
              <a:t>Precalculations</a:t>
            </a:r>
            <a:endParaRPr lang="en-US" dirty="0"/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Complete basis requires computation of alternating sign sums – floating point computation unstable.</a:t>
            </a:r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Alternating sign computations performed symbolically with python module </a:t>
            </a:r>
            <a:r>
              <a:rPr lang="en-US" dirty="0" err="1"/>
              <a:t>Sympy</a:t>
            </a:r>
            <a:r>
              <a:rPr lang="en-US" dirty="0"/>
              <a:t>.</a:t>
            </a:r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Results stored in SQLite database; retrieved at runtime.</a:t>
            </a:r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i="1" dirty="0"/>
              <a:t>Symbolic </a:t>
            </a:r>
            <a:r>
              <a:rPr lang="en-US" b="1" i="1" dirty="0" err="1"/>
              <a:t>precalculation</a:t>
            </a:r>
            <a:r>
              <a:rPr lang="en-US" b="1" i="1" dirty="0"/>
              <a:t> takes substantial time, but a one-time investment. </a:t>
            </a:r>
          </a:p>
        </p:txBody>
      </p:sp>
      <p:sp>
        <p:nvSpPr>
          <p:cNvPr id="5" name="Methods Textbox 1 3 2 1 2 2 1">
            <a:extLst>
              <a:ext uri="{FF2B5EF4-FFF2-40B4-BE49-F238E27FC236}">
                <a16:creationId xmlns:a16="http://schemas.microsoft.com/office/drawing/2014/main" id="{DF597C4A-E171-4FCA-B12A-568CBA01F2E2}"/>
              </a:ext>
            </a:extLst>
          </p:cNvPr>
          <p:cNvSpPr txBox="1"/>
          <p:nvPr/>
        </p:nvSpPr>
        <p:spPr>
          <a:xfrm>
            <a:off x="838200" y="4382025"/>
            <a:ext cx="10515600" cy="128535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958"/>
              </a:lnSpc>
              <a:spcAft>
                <a:spcPts val="250"/>
              </a:spcAft>
              <a:defRPr/>
            </a:pPr>
            <a:r>
              <a:rPr lang="en-US" b="1" dirty="0">
                <a:solidFill>
                  <a:srgbClr val="005BBB"/>
                </a:solidFill>
                <a:cs typeface="Calibri" panose="020F0502020204030204" pitchFamily="34" charset="0"/>
              </a:rPr>
              <a:t>Database Access</a:t>
            </a:r>
            <a:endParaRPr lang="en-US" dirty="0"/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Size of the </a:t>
            </a:r>
            <a:r>
              <a:rPr lang="en-US" dirty="0" err="1"/>
              <a:t>precalculation</a:t>
            </a:r>
            <a:r>
              <a:rPr lang="en-US" dirty="0"/>
              <a:t> SQLite database on the order of GBs. </a:t>
            </a:r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Network distribution difficult. </a:t>
            </a:r>
            <a:r>
              <a:rPr lang="en-US" b="1" i="1" dirty="0"/>
              <a:t>User assumes computation and storage responsibilities.</a:t>
            </a:r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i="1" dirty="0"/>
              <a:t>Importation into runtime memory presents a recurring bottleneck.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E27A65-E4FB-4812-90E6-F6CF15CD08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6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Caveats and Challenges -- II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08D959-CE96-4E98-8138-5CEAE7BCD624}"/>
              </a:ext>
            </a:extLst>
          </p:cNvPr>
          <p:cNvGrpSpPr/>
          <p:nvPr/>
        </p:nvGrpSpPr>
        <p:grpSpPr>
          <a:xfrm>
            <a:off x="589788" y="2116841"/>
            <a:ext cx="11012424" cy="4098469"/>
            <a:chOff x="198120" y="2116841"/>
            <a:chExt cx="11012424" cy="4098469"/>
          </a:xfrm>
        </p:grpSpPr>
        <p:sp>
          <p:nvSpPr>
            <p:cNvPr id="6" name="Methods Textbox 1 3 2 1 2 2 1">
              <a:extLst>
                <a:ext uri="{FF2B5EF4-FFF2-40B4-BE49-F238E27FC236}">
                  <a16:creationId xmlns:a16="http://schemas.microsoft.com/office/drawing/2014/main" id="{80F4EE89-7D21-4CA4-BB6D-A7CF451D6DE1}"/>
                </a:ext>
              </a:extLst>
            </p:cNvPr>
            <p:cNvSpPr txBox="1"/>
            <p:nvPr/>
          </p:nvSpPr>
          <p:spPr>
            <a:xfrm>
              <a:off x="198120" y="2116841"/>
              <a:ext cx="10515600" cy="1643399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>
                <a:lnSpc>
                  <a:spcPts val="958"/>
                </a:lnSpc>
                <a:spcAft>
                  <a:spcPts val="250"/>
                </a:spcAft>
                <a:defRPr/>
              </a:pPr>
              <a:r>
                <a:rPr lang="en-US" b="1" dirty="0">
                  <a:solidFill>
                    <a:srgbClr val="005BBB"/>
                  </a:solidFill>
                  <a:cs typeface="Calibri" panose="020F0502020204030204" pitchFamily="34" charset="0"/>
                </a:rPr>
                <a:t>Parameter Optimization</a:t>
              </a:r>
              <a:endParaRPr lang="en-US" dirty="0"/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Variational tuning of subbases currently requires hand-tuning.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i="1" dirty="0" err="1"/>
                <a:t>Superbasis</a:t>
              </a:r>
              <a:r>
                <a:rPr lang="en-US" dirty="0"/>
                <a:t> concept introduces large multi-dimensional variational space, requires stochastic search.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Earlier proof of concept in Fortran implemented an Artificial Bee Colony stochastic optimization algorithm. 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b="1" i="1" dirty="0"/>
                <a:t>Working on integrating extant ABC code within current incarnation of project.</a:t>
              </a:r>
            </a:p>
          </p:txBody>
        </p:sp>
        <p:sp>
          <p:nvSpPr>
            <p:cNvPr id="7" name="Methods Textbox 1 3 2 1 2 2 1">
              <a:extLst>
                <a:ext uri="{FF2B5EF4-FFF2-40B4-BE49-F238E27FC236}">
                  <a16:creationId xmlns:a16="http://schemas.microsoft.com/office/drawing/2014/main" id="{FE280822-0969-4B7E-8E43-411D0515FC5C}"/>
                </a:ext>
              </a:extLst>
            </p:cNvPr>
            <p:cNvSpPr txBox="1"/>
            <p:nvPr/>
          </p:nvSpPr>
          <p:spPr>
            <a:xfrm>
              <a:off x="198120" y="4213865"/>
              <a:ext cx="11012424" cy="2001445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>
                <a:lnSpc>
                  <a:spcPts val="958"/>
                </a:lnSpc>
                <a:spcAft>
                  <a:spcPts val="250"/>
                </a:spcAft>
                <a:defRPr/>
              </a:pPr>
              <a:r>
                <a:rPr lang="en-US" b="1" dirty="0">
                  <a:solidFill>
                    <a:srgbClr val="005BBB"/>
                  </a:solidFill>
                  <a:cs typeface="Calibri" panose="020F0502020204030204" pitchFamily="34" charset="0"/>
                </a:rPr>
                <a:t>Numerical Stability and </a:t>
              </a:r>
              <a:r>
                <a:rPr lang="en-US" b="1" dirty="0">
                  <a:solidFill>
                    <a:srgbClr val="7030A0"/>
                  </a:solidFill>
                  <a:cs typeface="Calibri" panose="020F0502020204030204" pitchFamily="34" charset="0"/>
                </a:rPr>
                <a:t>Verisimilitude</a:t>
              </a:r>
              <a:endParaRPr lang="en-US" dirty="0">
                <a:solidFill>
                  <a:srgbClr val="7030A0"/>
                </a:solidFill>
              </a:endParaRP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Computations involve numerical matrix and cubature methods.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Some regions of parameter space seem “sour”/“unstable” leading to unreliable or unbelievable results.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Multi-valley overlap, kinetic elements necessary for </a:t>
              </a:r>
              <a:r>
                <a:rPr lang="en-US" dirty="0">
                  <a:solidFill>
                    <a:srgbClr val="0000FF"/>
                  </a:solidFill>
                </a:rPr>
                <a:t>completeness</a:t>
              </a:r>
              <a:r>
                <a:rPr lang="en-US" dirty="0"/>
                <a:t> and </a:t>
              </a:r>
              <a:r>
                <a:rPr lang="en-US" dirty="0">
                  <a:solidFill>
                    <a:srgbClr val="A87B00"/>
                  </a:solidFill>
                </a:rPr>
                <a:t>consistency</a:t>
              </a:r>
              <a:r>
                <a:rPr lang="en-US" dirty="0"/>
                <a:t>, but detracts from </a:t>
              </a:r>
              <a:r>
                <a:rPr lang="en-US" dirty="0">
                  <a:solidFill>
                    <a:srgbClr val="7030A0"/>
                  </a:solidFill>
                </a:rPr>
                <a:t>verisimilitude</a:t>
              </a:r>
              <a:r>
                <a:rPr lang="en-US" dirty="0"/>
                <a:t>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b="1" i="1" dirty="0"/>
                <a:t>Working on expanding unit testing of code, as well as runtime monitors for numerical stability.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b="1" i="1" dirty="0"/>
                <a:t>Working on runtime analysis on breakdown and deviations from the EMA.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F7AD8F-3107-4A2B-A1BA-2D16253B9B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27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7387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Prospects</a:t>
            </a:r>
          </a:p>
        </p:txBody>
      </p:sp>
      <p:sp>
        <p:nvSpPr>
          <p:cNvPr id="197" name="Title 68 2">
            <a:extLst>
              <a:ext uri="{FF2B5EF4-FFF2-40B4-BE49-F238E27FC236}">
                <a16:creationId xmlns:a16="http://schemas.microsoft.com/office/drawing/2014/main" id="{9B580CA9-EE87-412E-B9C1-EDAB9ADCC565}"/>
              </a:ext>
            </a:extLst>
          </p:cNvPr>
          <p:cNvSpPr txBox="1">
            <a:spLocks/>
          </p:cNvSpPr>
          <p:nvPr/>
        </p:nvSpPr>
        <p:spPr>
          <a:xfrm>
            <a:off x="4070207" y="682902"/>
            <a:ext cx="4051586" cy="34868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1666" dirty="0">
                <a:solidFill>
                  <a:srgbClr val="FFFFFF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https://gitlab.com/cantankerous-impurity</a:t>
            </a:r>
            <a:endParaRPr lang="en-US" sz="1666" dirty="0"/>
          </a:p>
        </p:txBody>
      </p:sp>
      <p:sp>
        <p:nvSpPr>
          <p:cNvPr id="6" name="Methods Textbox 1 3 2 1 2 2 1">
            <a:extLst>
              <a:ext uri="{FF2B5EF4-FFF2-40B4-BE49-F238E27FC236}">
                <a16:creationId xmlns:a16="http://schemas.microsoft.com/office/drawing/2014/main" id="{65B5E5FC-7F19-4FE0-B370-6E777ED02ABE}"/>
              </a:ext>
            </a:extLst>
          </p:cNvPr>
          <p:cNvSpPr txBox="1"/>
          <p:nvPr/>
        </p:nvSpPr>
        <p:spPr>
          <a:xfrm>
            <a:off x="480060" y="2232665"/>
            <a:ext cx="11231880" cy="760593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Specific focus of my PhD research on </a:t>
            </a:r>
            <a:r>
              <a:rPr lang="en-US" dirty="0" err="1"/>
              <a:t>Si:P</a:t>
            </a:r>
            <a:r>
              <a:rPr lang="en-US" dirty="0"/>
              <a:t> and the EMA, but </a:t>
            </a:r>
            <a:r>
              <a:rPr lang="en-US" b="1" i="1" dirty="0"/>
              <a:t>framework is very general</a:t>
            </a:r>
            <a:r>
              <a:rPr lang="en-US" dirty="0"/>
              <a:t>.</a:t>
            </a:r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Want to make code and documentation available as an open science, open notes, open source GPL 3 licensed project.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9D182-7467-44BB-B364-54BBA965614A}"/>
              </a:ext>
            </a:extLst>
          </p:cNvPr>
          <p:cNvSpPr txBox="1"/>
          <p:nvPr/>
        </p:nvSpPr>
        <p:spPr>
          <a:xfrm>
            <a:off x="2332300" y="3524038"/>
            <a:ext cx="7527400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208"/>
              </a:spcAft>
              <a:defRPr/>
            </a:pPr>
            <a:r>
              <a:rPr lang="en-US" b="1" i="1" dirty="0">
                <a:highlight>
                  <a:srgbClr val="FFFF00"/>
                </a:highlight>
              </a:rPr>
              <a:t>Can be used to explore other Hamiltonians, other symmetries, other systems.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C969F4-5908-4B83-B482-7F979672B462}"/>
              </a:ext>
            </a:extLst>
          </p:cNvPr>
          <p:cNvGrpSpPr/>
          <p:nvPr/>
        </p:nvGrpSpPr>
        <p:grpSpPr>
          <a:xfrm>
            <a:off x="1770888" y="4457364"/>
            <a:ext cx="8650224" cy="1643399"/>
            <a:chOff x="1770888" y="4719833"/>
            <a:chExt cx="8650224" cy="1643399"/>
          </a:xfrm>
        </p:grpSpPr>
        <p:sp>
          <p:nvSpPr>
            <p:cNvPr id="10" name="Methods Textbox 1 3 2 1 2 2 1">
              <a:extLst>
                <a:ext uri="{FF2B5EF4-FFF2-40B4-BE49-F238E27FC236}">
                  <a16:creationId xmlns:a16="http://schemas.microsoft.com/office/drawing/2014/main" id="{09CC6009-42C8-4F61-8BDC-7C2C83CA9AC4}"/>
                </a:ext>
              </a:extLst>
            </p:cNvPr>
            <p:cNvSpPr txBox="1"/>
            <p:nvPr/>
          </p:nvSpPr>
          <p:spPr>
            <a:xfrm>
              <a:off x="1770888" y="4719833"/>
              <a:ext cx="3439668" cy="1643399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>
                <a:lnSpc>
                  <a:spcPts val="958"/>
                </a:lnSpc>
                <a:spcAft>
                  <a:spcPts val="250"/>
                </a:spcAft>
                <a:defRPr/>
              </a:pPr>
              <a:r>
                <a:rPr lang="en-US" b="1" dirty="0">
                  <a:solidFill>
                    <a:srgbClr val="005BBB"/>
                  </a:solidFill>
                  <a:cs typeface="Calibri" panose="020F0502020204030204" pitchFamily="34" charset="0"/>
                </a:rPr>
                <a:t>Extensions</a:t>
              </a:r>
              <a:endParaRPr lang="en-US" dirty="0"/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Perturbations of T</a:t>
              </a:r>
              <a:r>
                <a:rPr lang="en-US" baseline="-25000" dirty="0"/>
                <a:t>d</a:t>
              </a:r>
              <a:r>
                <a:rPr lang="en-US" dirty="0"/>
                <a:t> symmetry.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External fields, electric, magnetic.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Multi-center effects.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Multi-electron effects.</a:t>
              </a:r>
            </a:p>
          </p:txBody>
        </p:sp>
        <p:sp>
          <p:nvSpPr>
            <p:cNvPr id="11" name="Methods Textbox 1 3 2 1 2 2 1">
              <a:extLst>
                <a:ext uri="{FF2B5EF4-FFF2-40B4-BE49-F238E27FC236}">
                  <a16:creationId xmlns:a16="http://schemas.microsoft.com/office/drawing/2014/main" id="{E9CE879C-3352-4649-8317-33C250011D20}"/>
                </a:ext>
              </a:extLst>
            </p:cNvPr>
            <p:cNvSpPr txBox="1"/>
            <p:nvPr/>
          </p:nvSpPr>
          <p:spPr>
            <a:xfrm>
              <a:off x="6981444" y="4719833"/>
              <a:ext cx="3439668" cy="1285352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>
                <a:lnSpc>
                  <a:spcPts val="958"/>
                </a:lnSpc>
                <a:spcAft>
                  <a:spcPts val="250"/>
                </a:spcAft>
                <a:defRPr/>
              </a:pPr>
              <a:r>
                <a:rPr lang="en-US" b="1" dirty="0">
                  <a:solidFill>
                    <a:srgbClr val="005BBB"/>
                  </a:solidFill>
                  <a:cs typeface="Calibri" panose="020F0502020204030204" pitchFamily="34" charset="0"/>
                </a:rPr>
                <a:t>Forks</a:t>
              </a:r>
              <a:endParaRPr lang="en-US" dirty="0"/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Different donors in silicon.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Different bulk materials.</a:t>
              </a:r>
            </a:p>
            <a:p>
              <a:pPr marL="95235" indent="-95235">
                <a:lnSpc>
                  <a:spcPct val="120000"/>
                </a:lnSpc>
                <a:spcAft>
                  <a:spcPts val="20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dirty="0"/>
                <a:t>2-D systems: quantum dots.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B8E7F-B81C-46C5-A9AD-0D80C38F53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9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 1">
            <a:extLst>
              <a:ext uri="{FF2B5EF4-FFF2-40B4-BE49-F238E27FC236}">
                <a16:creationId xmlns:a16="http://schemas.microsoft.com/office/drawing/2014/main" id="{78CEE12B-EEF9-4B51-A73B-EA7653D8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993"/>
            <a:ext cx="10515600" cy="553998"/>
          </a:xfrm>
        </p:spPr>
        <p:txBody>
          <a:bodyPr/>
          <a:lstStyle/>
          <a:p>
            <a:pPr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“The Pitch”</a:t>
            </a:r>
          </a:p>
        </p:txBody>
      </p:sp>
      <p:sp>
        <p:nvSpPr>
          <p:cNvPr id="197" name="Title 68 2">
            <a:extLst>
              <a:ext uri="{FF2B5EF4-FFF2-40B4-BE49-F238E27FC236}">
                <a16:creationId xmlns:a16="http://schemas.microsoft.com/office/drawing/2014/main" id="{9B580CA9-EE87-412E-B9C1-EDAB9ADCC565}"/>
              </a:ext>
            </a:extLst>
          </p:cNvPr>
          <p:cNvSpPr txBox="1">
            <a:spLocks/>
          </p:cNvSpPr>
          <p:nvPr/>
        </p:nvSpPr>
        <p:spPr>
          <a:xfrm>
            <a:off x="4070207" y="682902"/>
            <a:ext cx="4051586" cy="34868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76797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1666" dirty="0">
                <a:solidFill>
                  <a:srgbClr val="FFFFFF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https://gitlab.com/cantankerous-impurity</a:t>
            </a:r>
            <a:endParaRPr lang="en-US" sz="1666" dirty="0"/>
          </a:p>
        </p:txBody>
      </p:sp>
      <p:sp>
        <p:nvSpPr>
          <p:cNvPr id="6" name="Methods Textbox 1 3 2 1 2 2 1">
            <a:extLst>
              <a:ext uri="{FF2B5EF4-FFF2-40B4-BE49-F238E27FC236}">
                <a16:creationId xmlns:a16="http://schemas.microsoft.com/office/drawing/2014/main" id="{65B5E5FC-7F19-4FE0-B370-6E777ED02ABE}"/>
              </a:ext>
            </a:extLst>
          </p:cNvPr>
          <p:cNvSpPr txBox="1"/>
          <p:nvPr/>
        </p:nvSpPr>
        <p:spPr>
          <a:xfrm>
            <a:off x="690692" y="2724793"/>
            <a:ext cx="10810617" cy="2192780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highlight>
                  <a:srgbClr val="FFFF00"/>
                </a:highlight>
              </a:rPr>
              <a:t>Opportunity for a collaboration led by PhD students, postdocs, early career scientists.</a:t>
            </a:r>
          </a:p>
          <a:p>
            <a:pPr marL="95235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highlight>
                  <a:srgbClr val="FFFF00"/>
                </a:highlight>
              </a:rPr>
              <a:t>A chance to develop scientific, technical, logistic, communication, and management skills.</a:t>
            </a:r>
          </a:p>
          <a:p>
            <a:pPr marL="552424" lvl="1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Python:</a:t>
            </a:r>
            <a:r>
              <a:rPr lang="en-US" dirty="0"/>
              <a:t> Symbolic computations, data analysis, data visualization, SQL integration.</a:t>
            </a:r>
          </a:p>
          <a:p>
            <a:pPr marL="552424" lvl="1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C++:</a:t>
            </a:r>
            <a:r>
              <a:rPr lang="en-US" dirty="0"/>
              <a:t> Code analysis, optimization, documentation. Work with new features of latest C++ standard.</a:t>
            </a:r>
          </a:p>
          <a:p>
            <a:pPr marL="552424" lvl="1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Fortran: </a:t>
            </a:r>
            <a:r>
              <a:rPr lang="en-US" dirty="0"/>
              <a:t>Integration of scientific code from multiple languages.</a:t>
            </a:r>
          </a:p>
          <a:p>
            <a:pPr marL="552424" lvl="1" indent="-95235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Mathematics: </a:t>
            </a:r>
            <a:r>
              <a:rPr lang="en-US" dirty="0"/>
              <a:t>Symmetry group theory. Numerical stability. Stochastic optimization. Function representation.</a:t>
            </a:r>
          </a:p>
        </p:txBody>
      </p:sp>
      <p:sp>
        <p:nvSpPr>
          <p:cNvPr id="8" name="Methods Textbox 1 3 2 1 2 2 1">
            <a:extLst>
              <a:ext uri="{FF2B5EF4-FFF2-40B4-BE49-F238E27FC236}">
                <a16:creationId xmlns:a16="http://schemas.microsoft.com/office/drawing/2014/main" id="{280B16F8-EA2B-4310-B1DF-9CF62D68FBDA}"/>
              </a:ext>
            </a:extLst>
          </p:cNvPr>
          <p:cNvSpPr txBox="1"/>
          <p:nvPr/>
        </p:nvSpPr>
        <p:spPr>
          <a:xfrm>
            <a:off x="1848907" y="2055119"/>
            <a:ext cx="8494187" cy="402546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8"/>
              </a:spcAft>
              <a:defRPr/>
            </a:pPr>
            <a:r>
              <a:rPr lang="en-US" b="1" dirty="0"/>
              <a:t>Upshot:</a:t>
            </a:r>
            <a:r>
              <a:rPr lang="en-US" dirty="0"/>
              <a:t> Want others to benefit from 10,000+ lines of code, thousands of work hours.</a:t>
            </a:r>
          </a:p>
        </p:txBody>
      </p:sp>
      <p:sp>
        <p:nvSpPr>
          <p:cNvPr id="9" name="Methods Textbox 1 3 2 1 2 2 1">
            <a:extLst>
              <a:ext uri="{FF2B5EF4-FFF2-40B4-BE49-F238E27FC236}">
                <a16:creationId xmlns:a16="http://schemas.microsoft.com/office/drawing/2014/main" id="{475BF402-6799-4F99-99D1-CA3FAD57C8FA}"/>
              </a:ext>
            </a:extLst>
          </p:cNvPr>
          <p:cNvSpPr txBox="1"/>
          <p:nvPr/>
        </p:nvSpPr>
        <p:spPr>
          <a:xfrm>
            <a:off x="3262339" y="5184701"/>
            <a:ext cx="5667322" cy="1118640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8"/>
              </a:spcAft>
              <a:defRPr/>
            </a:pPr>
            <a:r>
              <a:rPr lang="en-US" b="1" dirty="0">
                <a:solidFill>
                  <a:srgbClr val="0000FF"/>
                </a:solidFill>
              </a:rPr>
              <a:t>Interested?</a:t>
            </a:r>
          </a:p>
          <a:p>
            <a:pPr marL="285750" indent="-285750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E-mail: </a:t>
            </a:r>
            <a:r>
              <a:rPr lang="en-US" dirty="0">
                <a:hlinkClick r:id="rId3"/>
              </a:rPr>
              <a:t>lukepend@buffalo.edu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luke.pendo@gmail.com</a:t>
            </a: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208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Gitlab repo: cantankerous-impurity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9E0C07-8097-48D5-A4C6-CF63317AEA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https://gitlab.com/cantankerous-impurity/Documentation/-/tree/core/Presentations/MarchMeeting2023(LasVegas)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57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979.003"/>
  <p:tag name="OUTPUTTYPE" val="PNG"/>
  <p:tag name="IGUANATEXVERSION" val="159"/>
  <p:tag name="LATEXADDIN" val="\documentclass{article}&#10;\usepackage{amsmath,amssymb,bm,physics}&#10;\pagestyle{empty}&#10;\begin{document}&#10;&#10;\begin{equation*}&#10;\Delta^{(q)}_{\bm{r}}&#10;=&#10;\int_{BZ} \dd\vb{k}\,&#10;A_{\bm{k}}^{(q)}\mathrm{e}^{\mathrm{i}\bm{k}\cdot \bm{r}}&#10;\left(u_{\bm{k}\bm{r}}-u_{\bm{k}_q\bm{r}}\right)&#10;\end{equation*}&#10;&#10;&#10;\end{document}"/>
  <p:tag name="IGUANATEXSIZE" val="16"/>
  <p:tag name="IGUANATEXCURSOR" val="237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1155.605"/>
  <p:tag name="OUTPUTTYPE" val="PNG"/>
  <p:tag name="IGUANATEXVERSION" val="159"/>
  <p:tag name="LATEXADDIN" val="\documentclass{article}&#10;\usepackage{amsmath,bm, physics,mathtools}&#10;\pagestyle{empty}&#10;\begin{document}&#10;&#10;\begin{equation*}&#10;\Psi_{\beta}&#10;=&#10;F^{(q)}_{\bm{r}}\Theta^{(q)}_{\bm{r}} + \Delta_{\bm{r}}^{(q)}&#10;\end{equation*}&#10;&#10;\end{document}"/>
  <p:tag name="IGUANATEXSIZE" val="18"/>
  <p:tag name="IGUANATEXCURSOR" val="19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905.8868"/>
  <p:tag name="LATEXADDIN" val="\documentclass{article}&#10;\usepackage{amsmath,bm,physics}&#10;\pagestyle{empty}&#10;\begin{document}&#10;&#10;\begin{equation*}&#10;F^{(q)}_{\bm{r}}&#10;=&#10;\sum_{j} c_{j}&#10;\Phi_{j\bm{r}}^{(q)}&#10;\end{equation*}&#10;&#10;\end{document}"/>
  <p:tag name="IGUANATEXSIZE" val="22"/>
  <p:tag name="IGUANATEXCURSOR" val="12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2758.905"/>
  <p:tag name="LATEXADDIN" val="\documentclass{article}&#10;\usepackage{amsmath,bm, physics,mathtools}&#10;\pagestyle{empty}&#10;\begin{document}&#10;&#10;\begin{equation*}&#10;F^{(p)}_{\bm{r}}&#10;\coloneqq&#10;\int_{BZ} \dd\vb{k}\,&#10;A_{\vb{k}}^{(p)}\mathrm{e}^{\mathrm{i}\left(\vb{k}-\vb*{k}_{p}\right)\cdot \bm{r}}&#10;\quad\quad&#10;\Theta^{(p)}_{\bm{r}}&#10;\coloneqq&#10;\mathrm{e}^{\mathrm{i}\vb*{k}_{p}\cdot \bm{r}}u_{\bm{k}_q\bm{r}}&#10;\end{equation*}&#10;&#10;\end{document}"/>
  <p:tag name="IGUANATEXSIZE" val="18"/>
  <p:tag name="IGUANATEXCURSOR" val="32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2.4635"/>
  <p:tag name="ORIGINALWIDTH" val="1245.594"/>
  <p:tag name="OUTPUTTYPE" val="PNG"/>
  <p:tag name="IGUANATEXVERSION" val="159"/>
  <p:tag name="LATEXADDIN" val="\documentclass{article}&#10;\usepackage{amsmath,bm, physics,mathtools}&#10;\pagestyle{empty}&#10;\begin{document}&#10;&#10;\begin{equation*}&#10;\Psi_{\beta;\vb*{r}}&#10;\approx&#10;\sum_{\vb*{k}_{p}}\beta_{\vb*{k}_{p}}&#10;F^{\left(p\right)}_{\bm{r}}\Theta^{\left(p\right)}_{\bm{r}}&#10;\end{equation*}&#10;&#10;\end{document}"/>
  <p:tag name="IGUANATEXSIZE" val="18"/>
  <p:tag name="IGUANATEXCURSOR" val="17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4.207"/>
  <p:tag name="ORIGINALWIDTH" val="2836.146"/>
  <p:tag name="OUTPUTTYPE" val="PNG"/>
  <p:tag name="IGUANATEXVERSION" val="159"/>
  <p:tag name="LATEXADDIN" val="\documentclass{article}&#10;\usepackage{amsmath,bm, physics}&#10;\pagestyle{empty}&#10;\begin{document}&#10;&#10;\begin{equation*}&#10;\ket{\Psi} = \sum_{n} \int_{BZ} \dd\vb{k}\, A_{\vb{k}} \ket{n\vb{k}}&#10;\rightarrow&#10;\sum_{\vb{k}_{p}}\beta_{\vb*{k}_{p}}&#10;\int_{BZ} \dd\vb{k}\, &#10;A_{\vb{k}}^{\left(p\right)}\ket{0\vb{k}}&#10;\end{equation*}&#10;&#10;\end{document}"/>
  <p:tag name="IGUANATEXSIZE" val="18"/>
  <p:tag name="IGUANATEXCURSOR" val="26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.7308"/>
  <p:tag name="ORIGINALWIDTH" val="3694.038"/>
  <p:tag name="LATEXADDIN" val="\documentclass{article}&#10;\usepackage{amsmath,bm,physics,mathtools}&#10;\pagestyle{empty}&#10;\begin{document}&#10;&#10;\begin{equation*}&#10;\vb*{c}^{\dagger}\vb*{\mathcal{S}}\vb*{c} \coloneqq \braket{\Psi_\beta}&#10;\quad\quad&#10;\vb*{c}^{\dagger}\vb*{\mathcal{T}}\vb*{c} \coloneqq \expval{\hat{H}_0}{\Psi_\beta}&#10;\quad\quad&#10;\vb*{c}^{\dagger}\vb*{\mathcal{U}}\vb*{c} \coloneqq \expval{\hat{U}}{\Psi_\beta}&#10;\end{equation*}&#10;&#10;\end{document}"/>
  <p:tag name="IGUANATEXSIZE" val="15"/>
  <p:tag name="IGUANATEXCURSOR" val="36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1209.599"/>
  <p:tag name="LATEXADDIN" val="\documentclass{article}&#10;\usepackage{amsmath,bm, physics,mathtools}&#10;\pagestyle{empty}&#10;\begin{document}&#10;&#10;\begin{equation*}&#10;\Theta^{(q)}_{\Omega\bm{r}}&#10;\coloneqq&#10;\frac&#10;{\Theta^{(q)}_{\bm{r}} + \Omega\Theta^{(-q)}_{\bm{r}}}&#10;{\sqrt{2}}&#10;\end{equation*}&#10;&#10;\end{document}"/>
  <p:tag name="IGUANATEXSIZE" val="18"/>
  <p:tag name="IGUANATEXCURSOR" val="23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47.8815"/>
  <p:tag name="LATEXADDIN" val="\documentclass{article}&#10;\usepackage{amsmath,bm,physics}&#10;\pagestyle{empty}&#10;\begin{document}&#10;&#10;\begin{equation*}&#10;E \vb*{\mathcal{S}}\bm{c} = (\vb*{\mathcal{T}} + \vb*{\mathcal{U}})\bm{c}&#10;\end{equation*}&#10;&#10;\end{document}"/>
  <p:tag name="IGUANATEXSIZE" val="15"/>
  <p:tag name="IGUANATEXCURSOR" val="5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1"/>
  <p:tag name="LAY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1925.759"/>
  <p:tag name="LATEXADDIN" val="\documentclass{article}&#10;\usepackage{amsmath,bm,physics}&#10;\pagestyle{empty}&#10;\begin{document}&#10;&#10;\begin{equation*}&#10;\Psi_{\beta\vb*{r}}&#10;\approx&#10;\sum_{j} c_{j}&#10;\left(&#10;\sum_{q\in\left\{x,y,z\right\}} \beta_{q}&#10;\Phi_{j\vb*{r}}^{(q)}&#10;\Theta^{(q)}_{\Omega\vb*{r}}&#10;\right)&#10;\end{equation*}&#10;&#10;\end{document}"/>
  <p:tag name="IGUANATEXSIZE" val="20"/>
  <p:tag name="IGUANATEXCURSOR" val="12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2242.22"/>
  <p:tag name="LATEXADDIN" val="\documentclass{article}&#10;\usepackage{amsmath,bm,physics}&#10;\pagestyle{empty}&#10;\begin{document}&#10;&#10;\begin{equation*}&#10;\vb*{\mathcal{U}}_{ij}&#10;= &#10;\sum_{pq}\beta_{p}^{*}\beta_{q}&#10;\int \mathrm{d}\vb{r}\,&#10;\tilde{\Theta}_{\Omega_{i}\vb{r}}^{(p)}\Theta_{\Omega_{j}\vb{r}}^{(q)}&#10;\tilde{\Phi}_{i\vb{r}}^{(p)}\Phi_{j\vb{r}}^{(q)}&#10;U_{\bm{r}}&#10;\end{equation*}&#10;&#10;\end{document}"/>
  <p:tag name="IGUANATEXSIZE" val="18"/>
  <p:tag name="IGUANATEXCURSOR" val="24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2096.738"/>
  <p:tag name="LATEXADDIN" val="\documentclass{article}&#10;\usepackage{amsmath,bm,physics}&#10;\pagestyle{empty}&#10;\begin{document}&#10;&#10;\begin{equation*}&#10;\vb*{\mathcal{S}}_{ij}&#10;=&#10;\sum_{pq}\beta_{p}^{*}\beta_{q}&#10;\int\mathrm{d}\vb{r}\, &#10;\mathrm{e}^{\mathrm{i}\left(\bm{k}_{q}-\bm{k}_{p}\right)\cdot\vb{r}}&#10;\tilde{\Phi}_{i\vb{r}}^{(p)}&#10;\Phi_{j\vb{r}}^{(q)}&#10;\end{equation*}&#10;&#10;\end{document}"/>
  <p:tag name="IGUANATEXSIZE" val="18"/>
  <p:tag name="IGUANATEXCURSOR" val="29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2461.192"/>
  <p:tag name="LATEXADDIN" val="\documentclass{article}&#10;\usepackage{amsmath,bm,physics}&#10;\pagestyle{empty}&#10;\begin{document}&#10;&#10;\begin{equation*}&#10;\vb*{\mathcal{T}}_{ij}&#10;=&#10;\sum_{pq}\beta_{p}^{*}\beta_{q}&#10;\int\mathrm{d}\vb{r}\,&#10;\mathrm{e}^{\mathrm{i}\left(\bm{k}_{q}-\bm{k}_{p}\right)\cdot\vb{r}}&#10;\tilde{\Phi}_{i\vb{r}}^{(p)}&#10;\left[&#10;\hat{T}^{(q)}\Phi_{j\vb{r}}^{(q)}&#10;\right]&#10;\end{equation*}&#10;&#10;\end{document}"/>
  <p:tag name="IGUANATEXSIZE" val="18"/>
  <p:tag name="IGUANATEXCURSOR" val="28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2357.705"/>
  <p:tag name="OUTPUTTYPE" val="PNG"/>
  <p:tag name="IGUANATEXVERSION" val="159"/>
  <p:tag name="LATEXADDIN" val="\documentclass{article}&#10;\usepackage{amsmath,bm,physics}&#10;\pagestyle{empty}&#10;\begin{document}&#10;&#10;\begin{equation*}&#10;\hat{T}^{(z)}&#10;=&#10;-\left(\frac{\hbar^2}{2m_{\perp}}\right)&#10;\left(&#10;\pdv[2]{x} + \pdv[2]{y}&#10;+\frac{m_{\perp}}{m_{\parallel}}\pdv[2]{z}&#10;\right)&#10;\end{equation*}&#10;&#10;\end{document}"/>
  <p:tag name="IGUANATEXSIZE" val="16"/>
  <p:tag name="IGUANATEXCURSOR" val="16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2096"/>
  <p:tag name="ORIGINALWIDTH" val="2326.209"/>
  <p:tag name="LATEXADDIN" val="\documentclass{article}&#10;\usepackage{amsmath,bm,mathtools,physics}&#10;\pagestyle{empty}&#10;\begin{document}&#10;&#10;\begin{equation*}&#10;\left\langle \hat{H}^2 \right\rangle &#10;\coloneqq&#10;\frac{&#10;\expval{\hat{H}_0^2 + \hat{H}_{0}\hat{U} + \hat{U}\hat{H}_{0} + \hat{U}^2}{\Psi_{\beta}}&#10;}{&#10;\braket{\Psi_\beta}&#10;}&#10;\end{equation*}&#10;&#10;\end{document}"/>
  <p:tag name="IGUANATEXSIZE" val="20"/>
  <p:tag name="IGUANATEXCURSOR" val="23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.4552"/>
  <p:tag name="ORIGINALWIDTH" val="866.1417"/>
  <p:tag name="LATEXADDIN" val="\documentclass{article}&#10;\usepackage{amsmath,bm,physics,mathtools}&#10;\pagestyle{empty}&#10;\begin{document}&#10;&#10;\begin{equation*}&#10;v^2 \coloneqq \frac{\expval{\hat{H}^{2}}}{E^{2}} - 1&#10;\end{equation*}&#10;&#10;\end{document}"/>
  <p:tag name="IGUANATEXSIZE" val="22"/>
  <p:tag name="IGUANATEXCURSOR" val="1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5.9093"/>
  <p:tag name="ORIGINALWIDTH" val="3386.577"/>
  <p:tag name="LATEXADDIN" val="\documentclass{article}&#10;\usepackage{amsmath,bm,physics}&#10;\pagestyle{empty}&#10;\begin{document}&#10;&#10;\begin{align*}&#10;\bra{\Psi_\beta}\hat{H}_{0}^{2}\ket{\Psi_\beta} &#10;&amp; \approx&#10;\sum_{pq}\beta_{p}^{*}\beta_{q}&#10;\int_{BZ} \dd\vb{k}\,\dd\vb{k}^{\prime}\, &#10;E_{\vb{k}}&#10;E_{\vb{k}^{\prime}}&#10;\tilde{A}^{(p)}_{\vb{k}}A^{(q)}_{\vb{k}^{\prime}}&#10;\delta\left(\vb*{k}^{\prime}-\vb*{k}\right)&#10;\\&#10;&amp; =&#10;\sum_{pg}\beta_{p}^{*}\beta_{q}&#10;\int \dd\vb{r}\, &#10;\mathrm{e}^{\mathrm{i}\left(\vb{k}_{p}-\vb{k}_{q}\right)\cdot\vb{r}}&#10;\left[\hat{T}^{(p)}F^{(p)}\right]^{\dagger}\left[\hat{T}^{(q)}F^{(q)}\right]&#10;\end{align*}&#10;&#10;\end{document}"/>
  <p:tag name="IGUANATEXSIZE" val="18"/>
  <p:tag name="IGUANATEXCURSOR" val="35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2710.911"/>
  <p:tag name="LATEXADDIN" val="\documentclass{article}&#10;\usepackage{amsmath,bm,physics}&#10;\pagestyle{empty}&#10;\begin{document}&#10;&#10;\begin{align*}&#10;\bra{\Psi_\beta}\hat{H}_{0}^{2}\ket{\Psi_\beta}&#10;&amp; \rightarrow&#10;\int \dd\vb{r}\, &#10;\left[\hat{T}^{(z)}F^{(z)}\right]^{\dagger}\left[\hat{T}^{(z)}F^{(z)}\right]&#10;\quad\text{(?)}&#10;\end{align*}&#10;&#10;\end{document}"/>
  <p:tag name="IGUANATEXSIZE" val="18"/>
  <p:tag name="IGUANATEXCURSOR" val="26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5.2081"/>
  <p:tag name="ORIGINALWIDTH" val="3415.073"/>
  <p:tag name="LATEXADDIN" val="\documentclass{article}&#10;\usepackage{amsmath,bm,physics}&#10;\pagestyle{empty}&#10;\begin{document}&#10;&#10;\begin{align*}&#10;\bra{\Psi_\beta}\hat{H}_{0}^{2}\ket{\Psi_\beta}&#10;&amp; \rightarrow&#10;\sum_{pg}\beta_{p}^{*}\beta_{q}&#10;\int \dd\vb{r}\, &#10;\mathrm{e}^{\mathrm{i}\left(\vb*{k}_{p}-\vb*{k}_{q}\right)\cdot\vb{r}}&#10;\left[\hat{T}^{(p)}F^{(p)}\right]^{\dagger}\left[\hat{T}^{(q)}F^{(q)}\right]&#10;\end{align*}&#10;&#10;\end{document}"/>
  <p:tag name="IGUANATEXSIZE" val="18"/>
  <p:tag name="IGUANATEXCURSOR" val="26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2.4635"/>
  <p:tag name="ORIGINALWIDTH" val="2038.245"/>
  <p:tag name="LATEXADDIN" val="\documentclass{article}&#10;\usepackage{amsmath,bm,physics}&#10;\pagestyle{empty}&#10;\begin{document}&#10;&#10;\begin{equation*}&#10;\left\langle \hat{H}^2 \right\rangle &#10;= &#10;\frac{&#10;\bm{c}^{\dag}\left(\vb*{\mathcal{T}}^2 + \vb*{\mathcal{T}\mathcal{U}} + \vb*{\mathcal{U}\mathcal{T}} + \vb*{\mathcal{U}}^2\right)\bm{c}&#10;}{&#10;\bm{c}^{\dag}\vb*{\mathcal{S}}\bm{c}&#10;}&#10;\end{equation*}&#10;&#10;\end{document}"/>
  <p:tag name="IGUANATEXSIZE" val="20"/>
  <p:tag name="IGUANATEXCURSOR" val="3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.2298"/>
  <p:tag name="ORIGINALWIDTH" val="2986.876"/>
  <p:tag name="LATEXADDIN" val="\documentclass{article}&#10;\usepackage{amsmath,bm,physics,mathtools}&#10;\pagestyle{empty}&#10;\begin{document}&#10;&#10;\begin{equation*}&#10;\vb*{c}^{\dagger}\left(\vb*{\mathcal{T}}^{2}\right)\vb*{c} \coloneqq \expval{\hat{H}_0^2}{\Psi_\beta}&#10;\quad\quad&#10;\vb*{c}^{\dagger}\left(\vb*{\mathcal{U}}^{2}\right)\vb*{c} \coloneqq \expval{\hat{U}^2}{\Psi_\beta}&#10;\end{equation*}&#10;&#10;\end{document}"/>
  <p:tag name="IGUANATEXSIZE" val="15"/>
  <p:tag name="IGUANATEXCURSOR" val="34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.7308"/>
  <p:tag name="ORIGINALWIDTH" val="3247.094"/>
  <p:tag name="LATEXADDIN" val="\documentclass{article}&#10;\usepackage{amsmath,bm,physics,mathtools}&#10;\pagestyle{empty}&#10;\begin{document}&#10;&#10;\begin{equation*}&#10;\vb*{c}^{\dagger}\left(\vb*{\mathcal{T}}\vb*{\mathcal{U}}\right)\vb*{c} \coloneqq \expval{\hat{H}_0 \hat{U}}{\Psi_\beta}&#10;\quad\quad&#10;\vb*{c}^{\dagger}\left(\vb*{\mathcal{U}}\vb*{\mathcal{T}}\right)\vb*{c} \coloneqq \expval{\hat{U} \hat{H}_0}{\Psi_\beta}&#10;\end{equation*}&#10;&#10;\end{document}"/>
  <p:tag name="IGUANATEXSIZE" val="15"/>
  <p:tag name="IGUANATEXCURSOR" val="10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4.4582"/>
  <p:tag name="ORIGINALWIDTH" val="3033.371"/>
  <p:tag name="LATEXADDIN" val="\documentclass{article}&#10;\usepackage{amsmath,bm,physics}&#10;\pagestyle{empty}&#10;\begin{document}&#10;&#10;\begin{equation*}&#10;\left(\vb*{\mathcal{T}}^{2}\right)_{ij}&#10;=&#10;\sum_{pq}&#10;\beta_{p}^{*}\beta_{q}&#10;\int\mathrm{d}\vb{r}\,&#10;\mathrm{e}^{\mathrm{i}\left(\bm{k}_{q}-\bm{k}_{p}\right)\cdot\vb{r}}&#10;\left[\hat{T}^{(p)}\Phi_{i\vb{r}}^{(p)}\right]^{\dagger}&#10;\left[\hat{T}^{(q)}\Phi_{j\vb{r}}^{(q)}\right]&#10;\end{equation*}&#10;&#10;\end{document}"/>
  <p:tag name="IGUANATEXSIZE" val="18"/>
  <p:tag name="IGUANATEXCURSOR" val="36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7.36"/>
  <p:tag name="ORIGINALWIDTH" val="2875.89"/>
  <p:tag name="LATEXADDIN" val="\documentclass{article}&#10;\usepackage{amsmath,bm,physics}&#10;\pagestyle{empty}&#10;\begin{document}&#10;&#10;\begin{align*}&#10;\left(\vb*{\mathcal{U}}^{2}\right)_{ij}&#10;&amp; = &#10;\sum_{pq}\beta_{p}^{*}\beta_{q}&#10;\int \mathrm{d}\vb{r}\,&#10;\tilde{\Theta}_{\Omega_{i}\vb{r}}^{(p)}\Theta_{\Omega_{j}\vb{r}}^{(q)}&#10;\tilde{\Phi}_{i\vb{r}}^{(p)}&#10;\Phi_{j\vb{r}}^{(q)}&#10;U_{\bm{r}}^{2}&#10;\\&#10;\left(\vb*{\mathcal{T}\mathcal{U}}\right)_{ij}&#10;&amp; = &#10;\sum_{pq}\beta_{p}^{*}\beta_{q}&#10;\int \mathrm{d}\vb{r}\,&#10;\tilde{\Theta}_{\Omega_{i}\vb{r}}^{(p)}\Theta_{\Omega_{j}\vb{r}}^{(q)}&#10;\left[\hat{T}^{(p)}\Phi_{i\vb{r}}^{(p)}\right]^{\dagger}&#10;\Phi_{j\vb{r}}^{(q)}&#10;U_{\bm{r}}&#10;\\&#10;\left(\vb*{\mathcal{U}\mathcal{T}}\right)_{ij}&#10;&amp; = &#10;\sum_{pq}\beta_{p}^{*}\beta_{q}&#10;\int \mathrm{d}\vb{r}\,&#10;\tilde{\Theta}_{\Omega_{i}\vb{r}}^{(p)}\Theta_{\Omega_{j}\vb{r}}^{(q)}&#10;\tilde{\Phi}_{i\vb{r}}^{(p)}&#10;\left[\hat{T}^{(q)}\Phi_{j\vb{r}}^{(q)}\right]&#10;U_{\bm{r}}&#10;\\&#10;\end{align*}&#10;&#10;\end{document}"/>
  <p:tag name="IGUANATEXSIZE" val="18"/>
  <p:tag name="IGUANATEXCURSOR" val="202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5.6993"/>
  <p:tag name="ORIGINALWIDTH" val="3151.856"/>
  <p:tag name="OUTPUTTYPE" val="PNG"/>
  <p:tag name="IGUANATEXVERSION" val="159"/>
  <p:tag name="LATEXADDIN" val="\documentclass{article}&#10;\usepackage{amsmath,amssymb,bm}&#10;\pagestyle{empty}&#10;\begin{document}&#10;&#10;\begin{align*}&#10;\mathcal{R}&#10;_{\eta;kl}&#10;^{\left(W\right)}&#10;&amp; =&#10;\left(\frac{2}{Wa_{\perp}\eta}\right)^{\frac{3}{2}}&#10;\left[&#10;\sqrt{W}&#10;\rho^{\frac{l}{W}}\mathrm{e}^{-\rho/2}&#10;\hat{L}_{k\left\{\rho\right\}}^{\left(\frac{2l+3-W}{W}\right)}&#10;\right|_{\rho \rightarrow \left(\frac{2r}{Wa_\perp\eta}\right)^{W}}&#10;\\&#10;\end{align*}&#10;&#10;\end{document}"/>
  <p:tag name="IGUANATEXSIZE" val="20"/>
  <p:tag name="IGUANATEXCURSOR" val="139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976"/>
  <p:tag name="ORIGINALWIDTH" val="1482.565"/>
  <p:tag name="OUTPUTTYPE" val="PNG"/>
  <p:tag name="IGUANATEXVERSION" val="159"/>
  <p:tag name="LATEXADDIN" val="\documentclass{article}&#10;\usepackage{amsmath,bm,eufrak}&#10;\pagestyle{empty}&#10;\begin{document}&#10;&#10;\begin{equation*}&#10;\Phi_{\lambda\eta;m\zeta lk}^{(Wq)}&#10;= &#10;\hat{Q}_{m\zeta}^{(q)}&#10;\hat{\mathcal{P}}_{\lambda;lm}^{(q)}&#10;\mathcal{R} _{\eta_{q};kl} ^{\left(W\right)}&#10;\\&#10;\end{equation*}&#10;&#10;\end{document}"/>
  <p:tag name="IGUANATEXSIZE" val="20"/>
  <p:tag name="IGUANATEXCURSOR" val="12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.2122"/>
  <p:tag name="ORIGINALWIDTH" val="1577.803"/>
  <p:tag name="OUTPUTTYPE" val="PNG"/>
  <p:tag name="IGUANATEXVERSION" val="159"/>
  <p:tag name="LATEXADDIN" val="\documentclass{article}&#10;\usepackage{amsmath,bm,eufrak}&#10;\pagestyle{empty}&#10;\begin{document}&#10;&#10;\begin{equation*}&#10;\eta_{q}&#10;= &#10;\frac{\eta}{\vartheta_{\lambda\left\{\chi_{q}\right\}}}&#10;\quad \quad&#10;\chi_{q}^\prime&#10;=&#10;\frac{\lambda \chi_{q}}{\vartheta_{\lambda\left\{\chi_{q}\right\}}}&#10;\end{equation*}&#10;&#10;\end{document}"/>
  <p:tag name="IGUANATEXSIZE" val="20"/>
  <p:tag name="IGUANATEXCURSOR" val="10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1.3798"/>
  <p:tag name="ORIGINALWIDTH" val="2056.993"/>
  <p:tag name="OUTPUTTYPE" val="PNG"/>
  <p:tag name="IGUANATEXVERSION" val="159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vartheta_{\lambda\left\{\chi_{q}\right\}}^{3}}}&#10;\hat{P}_{lm\left\{\chi_{q}^\prime\right\}}&#10;\\&#10;\hat{Q}_{m\zeta}^{(q)}&#10;&amp; = &#10;\frac{1}{\sqrt{2\pi}}&#10;\left(\frac{\mathrm{e}^{\mathrm{i}m \phi_{q}}+ \zeta\mathrm{e}^{-\mathrm{i}m \phi_{q}}}&#10;{2\delta_{m0} + \sqrt{2}\left(1-\delta_{m0}\right)}\right)&#10;\end{align*}&#10;&#10;\end{document} "/>
  <p:tag name="IGUANATEXSIZE" val="20"/>
  <p:tag name="IGUANATEXCURSOR" val="22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3977.503"/>
  <p:tag name="LATEXADDIN" val="\documentclass{article}&#10;\usepackage{amsmath,bm}&#10;\pagestyle{empty}&#10;\begin{document}&#10;&#10;\begin{equation*}&#10;\Phi_{\lambda\eta;m\zeta lk,\Omega}^{(Wq)}&#10;=&#10;\sqrt{\lambda\left(\frac{2}{W\eta}\right)^{3}}&#10;\left(&#10;\varphi_{m\zeta lk}^{(W)}&#10;\right|_{\substack{r \rightarrow 2r/W\eta \\ z \rightarrow \lambda z \\ z \rightarrow q:\left\{x,y,z\right\}}}&#10;\left(&#10;\frac&#10;{\mathrm{e}^{\mathrm{i}\bm{k}_q\cdot \bm{r}}u_{\bm{k}_q}&#10;+ \Omega\mathrm{e}^{-\mathrm{i}\bm{k}_q\cdot \bm{r}}u_{-\bm{k}_q}}&#10;{\sqrt{2}}&#10;\right)&#10;\end{equation*}&#10;&#10;\end{document}"/>
  <p:tag name="IGUANATEXSIZE" val="16"/>
  <p:tag name="IGUANATEXCURSOR" val="1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399.7"/>
  <p:tag name="OUTPUTTYPE" val="PNG"/>
  <p:tag name="IGUANATEXVERSION" val="159"/>
  <p:tag name="LATEXADDIN" val="\documentclass{article}&#10;\usepackage{amsmath,bm,eufrak}&#10;\pagestyle{empty}&#10;\begin{document}&#10;&#10;\begin{equation*}&#10;\Omega = \pm 1 \\&#10;\end{equation*}&#10;&#10;\end{document} "/>
  <p:tag name="IGUANATEXSIZE" val="16"/>
  <p:tag name="IGUANATEXCURSOR" val="118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399.325"/>
  <p:tag name="OUTPUTTYPE" val="PNG"/>
  <p:tag name="IGUANATEXVERSION" val="159"/>
  <p:tag name="LATEXADDIN" val="\documentclass{article}&#10;\usepackage{amsmath,bm,eufrak}&#10;\pagestyle{empty}&#10;\begin{document}&#10;&#10;\begin{equation*}&#10;\varphi_{m\zeta lk}^{(W)}&#10;= &#10;\sqrt{W}&#10;r^{l}&#10;\exp\left(-\frac{r^{W}}{2}\right)&#10;\hat{L}_{k\left\{r^{W}\right\}}^{\left(\frac{2l+3}{W}-1\right)}&#10;\left(&#10;\frac{\hat{Y}_{l}^{+m}+\zeta\hat{Y}_{l}^{-m}}&#10;{2\delta_{m0} + \sqrt{2}\left(1-\delta_{m0}\right)}&#10;\right)&#10;\end{equation*}&#10;&#10;\end{document} "/>
  <p:tag name="IGUANATEXSIZE" val="16"/>
  <p:tag name="IGUANATEXCURSOR" val="12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3568.804"/>
  <p:tag name="OUTPUTTYPE" val="PNG"/>
  <p:tag name="IGUANATEXVERSION" val="159"/>
  <p:tag name="LATEXADDIN" val="\documentclass{article}&#10;\usepackage{amsmath,bm,eufrak}&#10;\pagestyle{empty}&#10;\begin{document}&#10;&#10;\begin{equation*}&#10;m = 0, 1, 2, \ldots \quad&#10;\zeta = \pm 1 \quad&#10;l = m, m+1, m+2, \ldots \quad&#10;k = 0, 1, 2, \ldots&#10;\end{equation*}&#10;&#10;\end{document} "/>
  <p:tag name="IGUANATEXSIZE" val="16"/>
  <p:tag name="IGUANATEXCURSOR" val="14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8.1927"/>
  <p:tag name="ORIGINALWIDTH" val="4500.938"/>
  <p:tag name="OUTPUTTYPE" val="PNG"/>
  <p:tag name="IGUANATEXVERSION" val="159"/>
  <p:tag name="LATEXADDIN" val="\documentclass{article}&#10;\usepackage{amsmath,amssymb,bm}&#10;\pagestyle{empty}&#10;\begin{document}&#10;&#10;\begin{align*}&#10;\mathcal{R}&#10;_{\eta;kl,s}&#10;^{\left(W\right)\left(\kappa\right)}&#10;&amp; =&#10;\left(\frac{2}{Wa_{\perp}\eta}\right)^{\frac{3}{2}}&#10;\left[&#10;\sqrt{W}&#10;\rho^{\frac{l}{W}-\kappa\delta_{W1}-\delta_{s\bar{1}}}\mathrm{e}^{-\rho/2}&#10;\sum_{v=-2\kappa}^{\kappa+\delta_{s\bar{1}}}&#10;\mathfrak{h}_{lk,sv}^{(\kappa)}&#10;\hat{L}_{\left(k+v\right)\left\{\rho\right\}}^{\left(\alpha+\kappa-\delta_{s\bar{1}}\right)}&#10;\right|_{\rho \rightarrow \left(\frac{2r}{Wa_\perp\eta}\right)^{W}}&#10;\\&#10;\end{align*}&#10;&#10;\end{document}"/>
  <p:tag name="IGUANATEXSIZE" val="20"/>
  <p:tag name="IGUANATEXCURSOR" val="4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315.335"/>
  <p:tag name="LATEXADDIN" val="\documentclass{article}&#10;\usepackage{amsmath,bm,eufrak}&#10;\pagestyle{empty}&#10;\begin{document}&#10;&#10;\begin{equation*}&#10;\Phi_{\lambda\eta;m\zeta lk}^{(Wq)(\kappa)}&#10;= &#10;\left(\frac{\hbar^{2}}{2m_{0}a_{\perp}^{2}\eta^{2}}\right)^{\kappa}&#10;\hat{Q}_{m\zeta}^{(q)}&#10;\sum_{s=-\kappa}^{+\kappa}&#10;\mathfrak{H}^{(\kappa)}_{\lambda;lm,s}&#10;\hat{\mathcal{P}}_{\lambda;(l+2s)m}^{(q)}&#10;\mathcal{R} _{\eta_{q};kl,s} ^{\left(W\right)\left(\kappa\right)}&#10;\\&#10;\end{equation*}&#10;&#10;\end{document}"/>
  <p:tag name="IGUANATEXSIZE" val="20"/>
  <p:tag name="IGUANATEXCURSOR" val="1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2156.73"/>
  <p:tag name="LATEXADDIN" val="\documentclass{article}&#10;\usepackage{amsmath,bm,eufrak,mathtools}&#10;\pagestyle{empty}&#10;\begin{document}&#10;&#10;\begin{equation*}&#10;\Phi_{\lambda\eta;m\zeta lk}^{(Wq)(\kappa)}&#10;\coloneqq&#10;\left[\left(1-\kappa\right)\hat{I} + \kappa\hat{T}^{(q)}\right]&#10;\Phi_{\lambda\eta;m\zeta lk}^{(Wq)}&#10;\\&#10;\end{equation*}&#10;&#10;\end{document}"/>
  <p:tag name="IGUANATEXSIZE" val="20"/>
  <p:tag name="IGUANATEXCURSOR" val="26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667.792"/>
  <p:tag name="OUTPUTTYPE" val="PNG"/>
  <p:tag name="IGUANATEXVERSION" val="159"/>
  <p:tag name="LATEXADDIN" val="\documentclass{article}&#10;\usepackage{amsmath,amssymb,bm}&#10;\pagestyle{empty}&#10;\begin{document}&#10;&#10;\begin{align*}&#10;\mathfrak{h}_{lk,vs}^{(\kappa)}&#10;&amp; =&#10;\left(1-\kappa\right)\delta_{s0}\delta_{v0} + \kappa \mathfrak{g}_{lk,sv}&#10;\\&#10;\end{align*}&#10;&#10;\end{document}"/>
  <p:tag name="IGUANATEXSIZE" val="20"/>
  <p:tag name="IGUANATEXCURSOR" val="21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366.704"/>
  <p:tag name="OUTPUTTYPE" val="PNG"/>
  <p:tag name="IGUANATEXVERSION" val="159"/>
  <p:tag name="LATEXADDIN" val="\documentclass{article}&#10;\usepackage{amsmath,amssymb,bm}&#10;\pagestyle{empty}&#10;\begin{document}&#10;&#10;\begin{align*}&#10;\mathfrak{Y}_{lm,0}&#10;&amp; =&#10;\frac{&#10;2l^2-2m^2+2l-1&#10;}{&#10;(2l-1)(2l+3)&#10;}  \\&#10;\mathfrak{Y}_{lm,-1}&#10;&amp; =&#10;\sqrt{\frac{&#10;\left((l-1)^2-m^2\right)&#10;\left(l^2-m^2\right)&#10;}{&#10;(2l-3)(2l-1)^{2}(2l+1)&#10;}}&#10;\\&#10;\mathfrak{Y}_{lm,+1}&#10;&amp; =&#10;\sqrt{\frac{&#10;\left((l+1)^2-m^2\right)&#10;\left((l+2)^2-m^2\right)&#10;}{&#10;(2l+1)(2l+3)^{2}(2l+5)&#10;}}&#10;\\&#10;\end{align*}&#10;&#10;\end{document}"/>
  <p:tag name="IGUANATEXSIZE" val="20"/>
  <p:tag name="IGUANATEXCURSOR" val="30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94.526"/>
  <p:tag name="OUTPUTTYPE" val="PNG"/>
  <p:tag name="IGUANATEXVERSION" val="159"/>
  <p:tag name="LATEXADDIN" val="\documentclass{article}&#10;\usepackage{amsmath,amssymb,bm}&#10;\pagestyle{empty}&#10;\begin{document}&#10;&#10;\begin{equation*}&#10;\mathfrak{H}^{(\kappa)}_{\lambda;lm,s}&#10;= &#10;\delta_{s0}-\kappa\left(1-\gamma\lambda^{2}\right)\mathfrak{Y}_{lm,s}&#10;\end{equation*}&#10;&#10;\end{document}"/>
  <p:tag name="IGUANATEXSIZE" val="20"/>
  <p:tag name="IGUANATEXCURSOR" val="16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443.9445"/>
  <p:tag name="OUTPUTTYPE" val="PNG"/>
  <p:tag name="IGUANATEXVERSION" val="159"/>
  <p:tag name="LATEXADDIN" val="\documentclass{article}&#10;\usepackage{amsmath,amssymb,bm}&#10;\pagestyle{empty}&#10;\begin{document}&#10;&#10;\begin{equation*}&#10;\gamma&#10;= &#10;\frac{m_{\perp}}{m_{\parallel}}&#10;\end{equation*}&#10;&#10;\end{document}"/>
  <p:tag name="IGUANATEXSIZE" val="20"/>
  <p:tag name="IGUANATEXCURSOR" val="13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8.6501"/>
  <p:tag name="ORIGINALWIDTH" val="2179.228"/>
  <p:tag name="OUTPUTTYPE" val="PNG"/>
  <p:tag name="IGUANATEXVERSION" val="159"/>
  <p:tag name="LATEXADDIN" val="\documentclass{article}&#10;\usepackage{amsmath,bm,eufrak}&#10;\pagestyle{empty}&#10;\begin{document}&#10;&#10;\begin{gather*}&#10;\mathfrak{g}_{lk,1\bar{2}}&#10;=&#10;-\sqrt{(k-1)k(k+\alpha)}&#10;\\&#10;\mathfrak{g}_{lk,1\bar{1}}&#10;=&#10;-\sqrt{k}\left(k+2\alpha+5-2\delta_{W,2}\right)&#10;\\&#10;\mathfrak{g}_{lk,10}&#10;=&#10;\sqrt{k+\alpha+1}&#10;\left(k-\alpha-4+2\delta_{W,2}\right)&#10;\\&#10;\mathfrak{g}_{lk,11}&#10;=&#10;\sqrt{(k+1)(k+1+\alpha)(k+2+\alpha)}&#10;\\&#10;\end{gather*}&#10;&#10;\end{document}"/>
  <p:tag name="IGUANATEXSIZE" val="13"/>
  <p:tag name="IGUANATEXCURSOR" val="264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8.6501"/>
  <p:tag name="ORIGINALWIDTH" val="2179.228"/>
  <p:tag name="OUTPUTTYPE" val="PNG"/>
  <p:tag name="IGUANATEXVERSION" val="159"/>
  <p:tag name="LATEXADDIN" val="\documentclass{article}&#10;\usepackage{amsmath,bm,eufrak}&#10;\pagestyle{empty}&#10;\begin{document}&#10;&#10;\begin{gather*}&#10;\mathfrak{g}_{lk,0\bar{2}}&#10;=&#10;-\sqrt{(k-1)k(k+\alpha)}&#10;\\&#10;\mathfrak{g}_{lk,0\bar{1}}&#10;=&#10;-\sqrt{k}\left(k+3-2\delta_{W,2}\right)&#10;\\&#10;\mathfrak{g}_{lk,00}&#10;=&#10;\sqrt{k+\alpha+1}&#10;\left(k+\alpha-2+2\delta_{W,2}\right)&#10;\\&#10;\mathfrak{g}_{lk,01}&#10;=&#10;\sqrt{(k+1)(k+1+\alpha)(k+2+\alpha)}&#10;\\&#10;\end{gather*}&#10;&#10;\end{document}"/>
  <p:tag name="IGUANATEXSIZE" val="13"/>
  <p:tag name="IGUANATEXCURSOR" val="3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3.873"/>
  <p:tag name="ORIGINALWIDTH" val="4218.223"/>
  <p:tag name="OUTPUTTYPE" val="PNG"/>
  <p:tag name="IGUANATEXVERSION" val="159"/>
  <p:tag name="LATEXADDIN" val="\documentclass{article}&#10;\usepackage{amsmath,bm,eufrak}&#10;\pagestyle{empty}&#10;\begin{document}&#10;&#10;\begin{gather*}&#10;\mathfrak{g}_{lk,\bar{1}\bar{2}}&#10;=&#10;-\sqrt{(k-1)k(k-1+\alpha^{\prime}_{s})(k+\alpha)}&#10;\\&#10;\mathfrak{g}_{lk,\bar{1}\bar{1}}&#10;=&#10;2\sqrt{k(k+\alpha)}\left(\alpha-2-3\delta_{W,2}\right)&#10;\\&#10;\mathfrak{g}_{lk,\bar{1}0}&#10;=&#10;2k^{2}-4\left(\alpha-1+\delta_{W,2}\right)\left(\alpha-3+2\delta_{W,2}\right)&#10;+(\alpha+1)(2k+3\alpha-8+6\delta_{W,2})&#10;\\&#10;\mathfrak{g}_{lk,\bar{1}1}&#10;=&#10;-2\sqrt{(k+1)(k+1+\alpha)}\left(\alpha-5+3\delta_{W,2}\right)&#10;\\&#10;\mathfrak{g}_{lk,\bar{1}2}&#10;=&#10;-\sqrt{(k+1)(k+2)(k+1+\alpha)(k+2+\alpha)}&#10;\end{gather*}&#10;&#10;\end{document}"/>
  <p:tag name="IGUANATEXSIZE" val="13"/>
  <p:tag name="IGUANATEXCURSOR" val="619"/>
  <p:tag name="TRANSPARENCY" val="True"/>
  <p:tag name="FILENAME" val=""/>
  <p:tag name="LATEXENGINEID" val="0"/>
  <p:tag name="TEMPFOLDER" val="C:\iguanatex\"/>
  <p:tag name="LATEXFORMHEIGHT" val="463.5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6.4754"/>
  <p:tag name="ORIGINALWIDTH" val="2064.492"/>
  <p:tag name="OUTPUTTYPE" val="PNG"/>
  <p:tag name="IGUANATEXVERSION" val="159"/>
  <p:tag name="LATEXADDIN" val="\documentclass{article}&#10;\usepackage{amsmath,bm}&#10;\pagestyle{empty}&#10;\begin{document}&#10;&#10;\begin{equation*}&#10;\Psi_{\lambda\eta;m_{e}lk,\sigma\omega}^{(Wq)}&#10;=&#10;\Phi_{\lambda\eta;m_{e}lk,\left(\sigma\mathrm{i}^{m}\right)\left(\omega\sigma\mathrm{i}^{m}(-1)^{l}\right)}^{(Wq)}&#10;\end{equation*}&#10;&#10;\end{document}"/>
  <p:tag name="IGUANATEXSIZE" val="80"/>
  <p:tag name="IGUANATEXCURSOR" val="17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1.7248"/>
  <p:tag name="ORIGINALWIDTH" val="2988.376"/>
  <p:tag name="OUTPUTTYPE" val="PNG"/>
  <p:tag name="IGUANATEXVERSION" val="159"/>
  <p:tag name="LATEXADDIN" val="\documentclass{article}&#10;\usepackage{amsmath,bm}&#10;\pagestyle{empty}&#10;\begin{document}&#10;&#10;\begin{equation*}&#10;\Psi_{\lambda\eta;m_{o}lk,\sigma}^{(Wq_{1})}&#10;=&#10;\Phi_{\lambda\eta;m_{o}lk,h\left(h(-1)^{l}\right)}^{(Wq_{2})}&#10;-h\sigma\mathrm{i}^{m}&#10;\Phi_{\lambda\eta;m_{o}lk,\bar{h}\left(h(-1)^{l}\right)}^{(Wq_{3})}&#10;\end{equation*}&#10;&#10;\end{document}"/>
  <p:tag name="IGUANATEXSIZE" val="80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1.4661"/>
  <p:tag name="ORIGINALWIDTH" val="396.7004"/>
  <p:tag name="OUTPUTTYPE" val="PNG"/>
  <p:tag name="IGUANATEXVERSION" val="159"/>
  <p:tag name="LATEXADDIN" val="\documentclass{article}&#10;\usepackage{amsmath,bm,eufrak}&#10;\pagestyle{empty}&#10;\begin{document}&#10;&#10;\begin{align*}&#10;\sigma = \pm 1 \\&#10;\omega = \pm 1 \\&#10;\end{align*}&#10;&#10;\end{document} "/>
  <p:tag name="IGUANATEXSIZE" val="80"/>
  <p:tag name="IGUANATEXCURSOR" val="1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1.4661"/>
  <p:tag name="ORIGINALWIDTH" val="386.2017"/>
  <p:tag name="OUTPUTTYPE" val="PNG"/>
  <p:tag name="IGUANATEXVERSION" val="159"/>
  <p:tag name="LATEXADDIN" val="\documentclass{article}&#10;\usepackage{amsmath,bm,eufrak}&#10;\pagestyle{empty}&#10;\begin{document}&#10;&#10;\begin{align*}&#10;\sigma = \pm 1 \\&#10;h = \pm 1 \\&#10;\end{align*}&#10;&#10;\end{document} "/>
  <p:tag name="IGUANATEXSIZE" val="80"/>
  <p:tag name="IGUANATEXCURSOR" val="12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6.4754"/>
  <p:tag name="ORIGINALWIDTH" val="1565.804"/>
  <p:tag name="OUTPUTTYPE" val="PNG"/>
  <p:tag name="IGUANATEXVERSION" val="159"/>
  <p:tag name="LATEXADDIN" val="\documentclass{article}&#10;\usepackage{amsmath,bm}&#10;\pagestyle{empty}&#10;\begin{document}&#10;&#10;\begin{equation*}&#10;\Psi_{ml;\sigma\omega}^{(q)}&#10;=&#10;\Phi_{m\left(\sigma\mathrm{i}^{m}\right)l}^{(q)}&#10;\Theta^{(q)}_{\omega\sigma\mathrm{i}^{m}(-1)^{l}}&#10;\end{equation*}&#10;&#10;\end{document}"/>
  <p:tag name="IGUANATEXSIZE" val="15"/>
  <p:tag name="IGUANATEXCURSOR" val="23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2299.213"/>
  <p:tag name="OUTPUTTYPE" val="PNG"/>
  <p:tag name="IGUANATEXVERSION" val="159"/>
  <p:tag name="LATEXADDIN" val="\documentclass{article}&#10;\usepackage{amsmath,bm}&#10;\pagestyle{empty}&#10;\begin{document}&#10;&#10;\begin{equation*}&#10;\Theta^{(q)}&#10;=&#10;\mathrm{e}^{\mathrm{i}\bm{k}_q\cdot \bm{r}}u_{\bm{k}_q}&#10;\quad\quad&#10;\Theta_{\Omega}^{(q)}&#10;=&#10;\frac&#10;{&#10;\Theta^{(q)}&#10;+&#10;\Omega\Theta^{(-q)}&#10;}&#10;{\sqrt{2}}&#10;\\&#10;\end{equation*}&#10;&#10;\end{document}"/>
  <p:tag name="IGUANATEXSIZE" val="18"/>
  <p:tag name="IGUANATEXCURSOR" val="20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3"/>
  <p:tag name="LAYER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8"/>
  <p:tag name="LAYER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8"/>
  <p:tag name="LAYER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2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3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1)}&#10;\end{equation*}&#10;&#10;\end{document}"/>
  <p:tag name="IGUANATEXSIZE" val="15"/>
  <p:tag name="IGUANATEXCURSOR" val="1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3"/>
  <p:tag name="LAYER" val="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6"/>
  <p:tag name="LAYER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"/>
  <p:tag name="LAYER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2"/>
  <p:tag name="LAYER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2)}&#10;\end{equation*}&#10;&#10;\end{document}"/>
  <p:tag name="IGUANATEXSIZE" val="15"/>
  <p:tag name="IGUANATEXCURSOR" val="1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3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740.9074"/>
  <p:tag name="OUTPUTTYPE" val="PNG"/>
  <p:tag name="IGUANATEXVERSION" val="159"/>
  <p:tag name="LATEXADDIN" val="\documentclass{article}&#10;\usepackage{amsmath,bm}&#10;\pagestyle{empty}&#10;\begin{document}&#10;&#10;\begin{equation*}&#10;\omega(-1)^{l}\Psi_{ml;\sigma\omega}^{(1)}&#10;\end{equation*}&#10;&#10;\end{document}"/>
  <p:tag name="IGUANATEXSIZE" val="15"/>
  <p:tag name="IGUANATEXCURSOR" val="14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2"/>
  <p:tag name="LAYER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5"/>
  <p:tag name="LAYER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5"/>
  <p:tag name="LAYER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1"/>
  <p:tag name="LAYER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647.544"/>
  <p:tag name="OUTPUTTYPE" val="PNG"/>
  <p:tag name="IGUANATEXVERSION" val="159"/>
  <p:tag name="LATEXADDIN" val="\documentclass{article}&#10;\usepackage{amsmath,bm}&#10;\pagestyle{empty}&#10;\begin{document}&#10;&#10;\begin{equation*}&#10;\Psi_{mlh;\sigma}^{(q_{1})}&#10;=&#10;\Psi_{mlh}^{(-q_{2})}&#10;-h\sigma\mathrm{i}^{m}\Psi_{mlh}^{(+q_{3})}&#10;\end{equation*}&#10;&#10;\end{document}"/>
  <p:tag name="IGUANATEXSIZE" val="15"/>
  <p:tag name="IGUANATEXCURSOR" val="18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6.4754"/>
  <p:tag name="ORIGINALWIDTH" val="1280.09"/>
  <p:tag name="OUTPUTTYPE" val="PNG"/>
  <p:tag name="IGUANATEXVERSION" val="159"/>
  <p:tag name="LATEXADDIN" val="\documentclass{article}&#10;\usepackage{amsmath,bm}&#10;\pagestyle{empty}&#10;\begin{document}&#10;&#10;\begin{equation*}&#10;\Psi_{mlh}^{(\pm q)}&#10;=&#10;\Phi_{m(\mp h)l}^{(q)}&#10;\Theta^{(q)}_{h(-1)^{l}}&#10;\end{equation*}&#10;&#10;\end{document}"/>
  <p:tag name="IGUANATEXSIZE" val="15"/>
  <p:tag name="IGUANATEXCURSOR" val="11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5"/>
  <p:tag name="LAYER" val="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2"/>
  <p:tag name="LAYER" val="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73.303"/>
  <p:tag name="OUTPUTTYPE" val="PNG"/>
  <p:tag name="IGUANATEXVERSION" val="159"/>
  <p:tag name="LATEXADDIN" val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/>
  <p:tag name="IGUANATEXSIZE" val="15"/>
  <p:tag name="IGUANATEXCURSOR" val="180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0"/>
  <p:tag name="LAYER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"/>
  <p:tag name="LAYER" val="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343.832"/>
  <p:tag name="OUTPUTTYPE" val="PNG"/>
  <p:tag name="IGUANATEXVERSION" val="159"/>
  <p:tag name="LATEXADDIN" val="\documentclass{article}&#10;\usepackage{amsmath,bm}&#10;\pagestyle{empty}&#10;\begin{document}&#10;&#10;\begin{equation*}&#10;\Psi_{mlh;\sigma}^{(1)}&#10;\quad&#10;\Psi_{mlh;\sigma}^{(3)}&#10;\quad&#10;\Psi_{mlh;\sigma}^{(2)}&#10;\end{equation*}&#10;&#10;\end{document}"/>
  <p:tag name="IGUANATEXSIZE" val="15"/>
  <p:tag name="IGUANATEXCURSOR" val="183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642.6697"/>
  <p:tag name="OUTPUTTYPE" val="PNG"/>
  <p:tag name="IGUANATEXVERSION" val="159"/>
  <p:tag name="LATEXADDIN" val="\documentclass{article}&#10;\usepackage{amsmath,bm}&#10;\pagestyle{empty}&#10;\begin{document}&#10;&#10;\begin{equation*}&#10;(-1)^{l}\Psi_{mlh;\sigma}^{(1)}&#10;\end{equation*}&#10;&#10;\end{document}"/>
  <p:tag name="IGUANATEXSIZE" val="15"/>
  <p:tag name="IGUANATEXCURSOR" val="13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7.694"/>
  <p:tag name="OUTPUTTYPE" val="PNG"/>
  <p:tag name="IGUANATEXVERSION" val="159"/>
  <p:tag name="LATEXADDIN" val="\documentclass{article}&#10;\usepackage{amsmath,bm}&#10;\pagestyle{empty}&#10;\begin{document}&#10;&#10;\begin{equation*}&#10;-\Psi_{mlh;\sigma}^{(1)}&#10;\end{equation*}&#10;&#10;\end{document}"/>
  <p:tag name="IGUANATEXSIZE" val="15"/>
  <p:tag name="IGUANATEXCURSOR" val="124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7.694"/>
  <p:tag name="OUTPUTTYPE" val="PNG"/>
  <p:tag name="IGUANATEXVERSION" val="159"/>
  <p:tag name="LATEXADDIN" val="\documentclass{article}&#10;\usepackage{amsmath,bm}&#10;\pagestyle{empty}&#10;\begin{document}&#10;&#10;\begin{equation*}&#10;-\Psi_{mlh;\sigma}^{(1)}&#10;\end{equation*}&#10;&#10;\end{document}"/>
  <p:tag name="IGUANATEXSIZE" val="15"/>
  <p:tag name="IGUANATEXCURSOR" val="124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3.2058"/>
  <p:tag name="OUTPUTTYPE" val="PNG"/>
  <p:tag name="IGUANATEXVERSION" val="159"/>
  <p:tag name="LATEXADDIN" val="\documentclass{article}&#10;\usepackage{amsmath,bm}&#10;\pagestyle{empty}&#10;\begin{document}&#10;&#10;\begin{equation*}&#10;\Psi_{mlh;\sigma}^{(1)}&#10;\end{equation*}&#10;&#10;\end{document}"/>
  <p:tag name="IGUANATEXSIZE" val="15"/>
  <p:tag name="IGUANATEXCURSOR" val="118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.4571"/>
  <p:tag name="ORIGINALWIDTH" val="3033.371"/>
  <p:tag name="OUTPUTTYPE" val="PNG"/>
  <p:tag name="IGUANATEXVERSION" val="159"/>
  <p:tag name="LATEXADDIN" val="\documentclass{article}&#10;\usepackage{amsmath,bm}&#10;\pagestyle{empty}&#10;\begin{document}&#10;&#10;\begin{equation*}&#10;\Psi_{\lambda\eta;A_{1}}&#10;=&#10;\sum_{m_{e}lk}&#10;c_{m_{e}lk}&#10;\sum_{q = x,y,z}&#10;\left(\frac{1}{\sqrt{3}}\right)&#10;\Phi_{\lambda\eta;m_{e}lk,\left(\mathrm{i}^{m_{e}}\right)\left(\mathrm{i}^{m_{e}}(-1)^{l}\right)}^{(q)}&#10;\end{equation*}&#10;&#10;\end{document}"/>
  <p:tag name="IGUANATEXSIZE" val="16"/>
  <p:tag name="IGUANATEXCURSOR" val="22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5.6468"/>
  <p:tag name="ORIGINALWIDTH" val="3411.323"/>
  <p:tag name="OUTPUTTYPE" val="PNG"/>
  <p:tag name="IGUANATEXVERSION" val="159"/>
  <p:tag name="LATEXADDIN" val="\documentclass{article}&#10;\usepackage{amsmath,bm}&#10;\pagestyle{empty}&#10;\begin{document}&#10;&#10;\begin{equation*}&#10;\Psi_{\lambda\eta;E_{n}}&#10;=&#10;\sum_{m_{e}lk\sigma}&#10;c_{m_{e}lk\sigma}&#10;\sum_{q = x,y,z}&#10;\left(\frac{\beta_{E_{n}}^{(\sigma)}}{\sqrt{3}}\right)_{q}&#10;\Phi_{\lambda\eta;m_{e}lk,\left(\sigma\mathrm{i}^{m_{e}}\right)\left(\sigma\mathrm{i}^{m_{e}}(-1)^{l}\right)}^{(q)}&#10;\end{equation*}&#10;\begin{equation*}&#10;\bm{\beta}_{E_{1}}^{(\sigma)}&#10;=&#10;\mathrm{i}^{\frac{1-\sigma}{2}}&#10;\left\{\tau, \tau^{2}, 1\right\}&#10;\quad&#10;\bm{\beta}_{E_{2}}^{(\sigma)}&#10;=&#10;\left(\bm{\beta}_{E_{1}}^{(\sigma)}\right)^{*}&#10;\quad&#10;\tau = -\frac{1}{2} + \mathrm{i}\frac{\sqrt{3}}{2}&#10;\end{equation*}&#10;&#10;\end{document}"/>
  <p:tag name="IGUANATEXSIZE" val="16"/>
  <p:tag name="IGUANATEXCURSOR" val="2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3.1983"/>
  <p:tag name="ORIGINALWIDTH" val="6223.472"/>
  <p:tag name="OUTPUTTYPE" val="PNG"/>
  <p:tag name="IGUANATEXVERSION" val="159"/>
  <p:tag name="LATEXADDIN" val="\documentclass{article}&#10;\usepackage{amsmath,bm}&#10;\pagestyle{empty}&#10;\begin{document}&#10;&#10;\begin{equation*}&#10;\Psi_{\lambda\eta;T_{2}^{\left(q\right)}}^{(e)}&#10;=&#10;\sum_{m_{e}lk}&#10;c_{m_{e}lk}&#10;\Phi_{\lambda\eta;m_{e}lk,\left(\mathrm{i}^{m_{e}}\right)\left(-\mathrm{i}^{m_{e}}(-1)^{l}\right)}^{(q)}&#10;\quad\quad&#10;\Psi_{\lambda\eta;T_{2}^{\left(q_{1}\right)}}^{(o)}&#10;=&#10;\sum_{m_{o}lkh}&#10;c_{m_{o}lkh}&#10;\frac&#10;{&#10;\Phi_{\lambda\eta;m_{o}lk,h\left(h(-1)^{l}\right)}^{\left(q_{2}\right)}&#10;- h\mathrm{i}^{m_{o}}\Phi_{\lambda\eta;m_{o}lk,\bar{h}\left(h(-1)^{l}\right)}^{\left(q_{3}\right)}&#10;}&#10;{\sqrt{2}}&#10;\end{equation*}&#10;&#10;\end{document}"/>
  <p:tag name="IGUANATEXSIZE" val="16"/>
  <p:tag name="IGUANATEXCURSOR" val="19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182"/>
  <p:tag name="ORIGINALWIDTH" val="2565.429"/>
  <p:tag name="OUTPUTTYPE" val="PNG"/>
  <p:tag name="IGUANATEXVERSION" val="159"/>
  <p:tag name="LATEXADDIN" val="\documentclass{article}&#10;\usepackage{amsmath,amssymb,bm}&#10;\pagestyle{empty}&#10;\begin{document}&#10;&#10;\begin{equation*}&#10;U_{\text{Dyn}} = -\frac{2}{r}\left(1+A\mathrm{e}^{-\alpha r} + \left(\epsilon_{0}-A\right)\mathrm{e}^{-\beta r} - \mathrm{e}^{-\gamma r}\right)&#10;\end{equation*}&#10;&#10;\end{document}"/>
  <p:tag name="IGUANATEXSIZE" val="16"/>
  <p:tag name="IGUANATEXCURSOR" val="124"/>
  <p:tag name="TRANSPARENCY" val="True"/>
  <p:tag name="FILENAME" val=""/>
  <p:tag name="LATEXENGINEID" val="0"/>
  <p:tag name="TEMPFOLDER" val="C:\iguanatex\"/>
  <p:tag name="LATEXFORMHEIGHT" val="607.5"/>
  <p:tag name="LATEXFORMWIDTH" val="938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9.4263"/>
  <p:tag name="ORIGINALWIDTH" val="2530.184"/>
  <p:tag name="OUTPUTTYPE" val="PNG"/>
  <p:tag name="IGUANATEXVERSION" val="159"/>
  <p:tag name="LATEXADDIN" val="\documentclass{article}&#10;\usepackage{amsmath,amssymb,bm}&#10;\pagestyle{empty}&#10;\begin{document}&#10;&#10;\begin{equation*}&#10;U_{\text{Gamble}} = -\frac{2}{r} +  A_{0}\mathrm{e}^{-\beta_{0}r^2} + A_{1}\sum_{i=1}^{4}\mathrm{e}^{-\beta_{1}\left|\bm{r}-b\bm{t}_{i}\right|^{2}}&#10;\end{equation*}&#10;\begin{equation*}&#10;\bm{t}_{i} = \left\{\left[111\right],\left[\bar{1}1\bar{1}\right],\left[1\bar{1}\bar{1}\right],\left[\bar{1}\bar{1}1\right]\right\}&#10;\end{equation*}&#10;&#10;\end{document}"/>
  <p:tag name="IGUANATEXSIZE" val="16"/>
  <p:tag name="IGUANATEXCURSOR" val="439"/>
  <p:tag name="TRANSPARENCY" val="True"/>
  <p:tag name="FILENAME" val=""/>
  <p:tag name="LATEXENGINEID" val="0"/>
  <p:tag name="TEMPFOLDER" val="C:\iguanatex\"/>
  <p:tag name="LATEXFORMHEIGHT" val="607.5"/>
  <p:tag name="LATEXFORMWIDTH" val="938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5.4631"/>
  <p:tag name="ORIGINALWIDTH" val="2350.206"/>
  <p:tag name="OUTPUTTYPE" val="PNG"/>
  <p:tag name="IGUANATEXVERSION" val="159"/>
  <p:tag name="LATEXADDIN" val="\documentclass{article}&#10;\usepackage{amsmath,bm,eufrak}&#10;\pagestyle{empty}&#10;\begin{document}&#10;&#10;\begin{align*}&#10;U_{\bm{r}}&#10;&amp; =&#10;\sum_{i}&#10;\mathfrak{U}_{i}&#10;r^{\mathfrak{e}_{i}}&#10;\sum_{j}&#10;\mathcal{U}_{ij\left\{\Omega\right\}}&#10;\mathrm{e}^{-\mathcal{A}_{ij\left\{\Omega\right\}}r}&#10;\mathrm{e}^{-\mathcal{B}_{ij\left\{\Omega\right\}}r^{2}}&#10;\end{align*}&#10;&#10;\end{document}"/>
  <p:tag name="IGUANATEXSIZE" val="16"/>
  <p:tag name="IGUANATEXCURSOR" val="115"/>
  <p:tag name="TRANSPARENCY" val="True"/>
  <p:tag name="FILENAME" val=""/>
  <p:tag name="LATEXENGINEID" val="0"/>
  <p:tag name="TEMPFOLDER" val="C:\iguanatex\"/>
  <p:tag name="LATEXFORMHEIGHT" val="463"/>
  <p:tag name="LATEXFORMWIDTH" val="1002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2.4447"/>
  <p:tag name="ORIGINALWIDTH" val="3832.021"/>
  <p:tag name="OUTPUTTYPE" val="PNG"/>
  <p:tag name="IGUANATEXVERSION" val="159"/>
  <p:tag name="LATEXADDIN" val="\documentclass{article}&#10;\usepackage{amsmath,bm,eufrak}&#10;\pagestyle{empty}&#10;\begin{document}&#10;&#10;\begin{equation*}&#10;\mathcal{F}_{ij\left\{\Omega\right\}}&#10;=&#10;\mathfrak{f}_{ij,0}&#10;+&#10;\mathfrak{f}_{ij,x}&#10;\chi_{x}&#10;+&#10;\mathfrak{f}_{ij,y}&#10;\chi_{y}&#10;+&#10;\mathfrak{f}_{ij,z}&#10;\chi_{z}&#10;\end{equation*}&#10;\begin{equation*}&#10;\chi_{x} = \frac{x}{r} = \sin(\theta)\cos(\phi) \quad\quad&#10;\chi_{y} = \frac{y}{r} = \sin(\theta)\sin(\phi) \quad\quad&#10;\chi_{z} = \frac{z}{r} = \cos(\theta)&#10;\end{equation*}&#10;&#10;\end{document}"/>
  <p:tag name="IGUANATEXSIZE" val="16"/>
  <p:tag name="IGUANATEXCURSOR" val="261"/>
  <p:tag name="TRANSPARENCY" val="True"/>
  <p:tag name="FILENAME" val=""/>
  <p:tag name="LATEXENGINEID" val="0"/>
  <p:tag name="TEMPFOLDER" val="C:\iguanatex\"/>
  <p:tag name="LATEXFORMHEIGHT" val="463"/>
  <p:tag name="LATEXFORMWIDTH" val="1002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1013.123"/>
  <p:tag name="OUTPUTTYPE" val="PNG"/>
  <p:tag name="IGUANATEXVERSION" val="159"/>
  <p:tag name="LATEXADDIN" val="\documentclass{article}&#10;\usepackage{amsmath,amssymb,bm,physics,mathtools,siunitx}&#10;\pagestyle{empty}&#10;\begin{document}&#10;&#10;\begin{equation*}&#10;\mathfrak{E}_{AU} = 19.944\,\unit{\milli\eV}&#10;\end{equation*}&#10;\begin{equation*}&#10;\mathfrak{a}_{AU} = 3.167\,\unit{\nano\meter}&#10;\end{equation*}&#10;&#10;\end{document}"/>
  <p:tag name="IGUANATEXSIZE" val="16"/>
  <p:tag name="IGUANATEXCURSOR" val="259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6.1792"/>
  <p:tag name="ORIGINALWIDTH" val="1970.754"/>
  <p:tag name="OUTPUTTYPE" val="PNG"/>
  <p:tag name="IGUANATEXVERSION" val="159"/>
  <p:tag name="LATEXADDIN" val="\documentclass{article}&#10;\usepackage{amsmath,amssymb,bm,physics,mathtools,siunitx}&#10;\pagestyle{empty}&#10;\begin{document}&#10;&#10;\begin{equation*}&#10;\lambda \rightarrow 1.585 \quad\quad\quad \eta \rightarrow 0.7421&#10;\end{equation*}&#10;\begin{equation*}&#10;E\left[\lambda,\eta\right] = -1.558 \quad v\left[\lambda,\eta\right] = 0.01877&#10;\end{equation*}&#10;\begin{equation*}&#10;E\left[\lambda,\eta\right] = -31.08\,\unit{\milli\eV}&#10;\end{equation*}&#10;&#10;\end{document}"/>
  <p:tag name="IGUANATEXSIZE" val="16"/>
  <p:tag name="IGUANATEXCURSOR" val="80"/>
  <p:tag name="TRANSPARENCY" val="True"/>
  <p:tag name="FILENAME" val=""/>
  <p:tag name="LATEXENGINEID" val="0"/>
  <p:tag name="TEMPFOLDER" val="C:\iguanatex\"/>
  <p:tag name="LATEXFORMHEIGHT" val="630"/>
  <p:tag name="LATEXFORMWIDTH" val="938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6.1792"/>
  <p:tag name="ORIGINALWIDTH" val="1967.004"/>
  <p:tag name="OUTPUTTYPE" val="PNG"/>
  <p:tag name="IGUANATEXVERSION" val="159"/>
  <p:tag name="LATEXADDIN" val="\documentclass{article}&#10;\usepackage{amsmath,amssymb,bm,physics,mathtools,siunitx}&#10;\pagestyle{empty}&#10;\begin{document}&#10;&#10;\begin{equation*}&#10;\lambda \rightarrow 1.745 \quad\quad\quad \eta \rightarrow 0.7522&#10;\end{equation*}&#10;\begin{equation*}&#10;E\left[\lambda,\eta\right] = -1.565 \quad v\left[\lambda,\eta\right] = 0.05048&#10;\end{equation*}&#10;\begin{equation*}&#10;E\left[\lambda,\eta\right] = -31.22\,\unit{\milli\eV}&#10;\end{equation*}&#10;&#10;&#10;\end{document}"/>
  <p:tag name="IGUANATEXSIZE" val="16"/>
  <p:tag name="IGUANATEXCURSOR" val="80"/>
  <p:tag name="TRANSPARENCY" val="True"/>
  <p:tag name="FILENAME" val=""/>
  <p:tag name="LATEXENGINEID" val="0"/>
  <p:tag name="TEMPFOLDER" val="C:\iguanatex\"/>
  <p:tag name="LATEXFORMHEIGHT" val="630"/>
  <p:tag name="LATEXFORMWIDTH" val="938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1013.123"/>
  <p:tag name="OUTPUTTYPE" val="PNG"/>
  <p:tag name="IGUANATEXVERSION" val="159"/>
  <p:tag name="LATEXADDIN" val="\documentclass{article}&#10;\usepackage{amsmath,amssymb,bm,physics,mathtools,siunitx}&#10;\pagestyle{empty}&#10;\begin{document}&#10;&#10;\begin{equation*}&#10;\mathfrak{E}_{AU} = 19.944\,\unit{\milli\eV}&#10;\end{equation*}&#10;\begin{equation*}&#10;\mathfrak{a}_{AU} = 3.167\,\unit{\nano\meter}&#10;\end{equation*}&#10;&#10;\end{document}"/>
  <p:tag name="IGUANATEXSIZE" val="16"/>
  <p:tag name="IGUANATEXCURSOR" val="259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6.1792"/>
  <p:tag name="ORIGINALWIDTH" val="2152.981"/>
  <p:tag name="OUTPUTTYPE" val="PNG"/>
  <p:tag name="IGUANATEXVERSION" val="159"/>
  <p:tag name="LATEXADDIN" val="\documentclass{article}&#10;\usepackage{amsmath,amssymb,bm,physics,mathtools,siunitx}&#10;\pagestyle{empty}&#10;\begin{document}&#10;&#10;\begin{equation*}&#10;\lambda \rightarrow 1.628 \quad\quad\quad \eta \rightarrow 1.349&#10;\end{equation*}&#10;\begin{equation*}&#10;E\left[\lambda,\eta\right] = -1.832 \quad v\left[\lambda,\eta\right] = 0.00001905&#10;\end{equation*}&#10;\begin{equation*}&#10;E\left[\lambda,\eta\right] = -36.54\,\unit{\milli\eV}&#10;\end{equation*}&#10;&#10;&#10;\end{document}"/>
  <p:tag name="IGUANATEXSIZE" val="16"/>
  <p:tag name="IGUANATEXCURSOR" val="80"/>
  <p:tag name="TRANSPARENCY" val="False"/>
  <p:tag name="FILENAME" val=""/>
  <p:tag name="LATEXENGINEID" val="0"/>
  <p:tag name="TEMPFOLDER" val="C:\iguanatex\"/>
  <p:tag name="LATEXFORMHEIGHT" val="630"/>
  <p:tag name="LATEXFORMWIDTH" val="938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6.1792"/>
  <p:tag name="ORIGINALWIDTH" val="1841.77"/>
  <p:tag name="OUTPUTTYPE" val="PNG"/>
  <p:tag name="IGUANATEXVERSION" val="159"/>
  <p:tag name="LATEXADDIN" val="\documentclass{article}&#10;\usepackage{amsmath,amssymb,bm,physics,mathtools,siunitx}&#10;\pagestyle{empty}&#10;\begin{document}&#10;&#10;\begin{equation*}&#10;\lambda \rightarrow 6.130 \quad\quad\quad \eta \rightarrow 1.558&#10;\end{equation*}&#10;\begin{equation*}&#10;E\left[\lambda,\eta\right] = -2.294 \quad v\left[\lambda,\eta\right] = 1.092&#10;\end{equation*}&#10;\begin{equation*}&#10;E\left[\lambda,\eta\right] = -45.74\,\unit{\milli\eV}&#10;\end{equation*}&#10;&#10;&#10;\end{document}"/>
  <p:tag name="IGUANATEXSIZE" val="16"/>
  <p:tag name="IGUANATEXCURSOR" val="328"/>
  <p:tag name="TRANSPARENCY" val="True"/>
  <p:tag name="FILENAME" val=""/>
  <p:tag name="LATEXENGINEID" val="0"/>
  <p:tag name="TEMPFOLDER" val="C:\iguanatex\"/>
  <p:tag name="LATEXFORMHEIGHT" val="630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46564</TotalTime>
  <Words>2404</Words>
  <Application>Microsoft Office PowerPoint</Application>
  <PresentationFormat>Widescreen</PresentationFormat>
  <Paragraphs>262</Paragraphs>
  <Slides>33</Slides>
  <Notes>25</Notes>
  <HiddenSlides>15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ＭＳ Ｐゴシック</vt:lpstr>
      <vt:lpstr>Arial</vt:lpstr>
      <vt:lpstr>Calibri</vt:lpstr>
      <vt:lpstr>Cambria Math</vt:lpstr>
      <vt:lpstr>Georgia</vt:lpstr>
      <vt:lpstr>Gill Sans MT</vt:lpstr>
      <vt:lpstr>LucidaGrande</vt:lpstr>
      <vt:lpstr>UB Powerpoint Template</vt:lpstr>
      <vt:lpstr>An open source software package to compare and extend effective mass models of the phosphorus donor in silicon</vt:lpstr>
      <vt:lpstr>Our PrOBlem</vt:lpstr>
      <vt:lpstr>PowerPoint Presentation</vt:lpstr>
      <vt:lpstr>The Model</vt:lpstr>
      <vt:lpstr>The effective mass approximation</vt:lpstr>
      <vt:lpstr>The Generalized Eigenvalue Problem</vt:lpstr>
      <vt:lpstr>Matrix Construction – Overlap, Hamiltonian</vt:lpstr>
      <vt:lpstr>Views on the effective mass approximation</vt:lpstr>
      <vt:lpstr>Model evaluation</vt:lpstr>
      <vt:lpstr>“Modified” Shindo-Nara equation?</vt:lpstr>
      <vt:lpstr>Matrix Construction – Hamiltonian Squared</vt:lpstr>
      <vt:lpstr>The Basis</vt:lpstr>
      <vt:lpstr>Naïve basis functions defined</vt:lpstr>
      <vt:lpstr>Complete, Extensible “Subbasis”</vt:lpstr>
      <vt:lpstr>“Superbasis”</vt:lpstr>
      <vt:lpstr>Complete, Extensible Basis</vt:lpstr>
      <vt:lpstr>Generalized basis states -- I</vt:lpstr>
      <vt:lpstr>Generalized basis states -- II</vt:lpstr>
      <vt:lpstr>The SYMMETRY</vt:lpstr>
      <vt:lpstr>Symmetry considerations </vt:lpstr>
      <vt:lpstr>Effect of Td operations, including Bloch functions, m even</vt:lpstr>
      <vt:lpstr>Effect of Td operations, including Bloch functions, m odd</vt:lpstr>
      <vt:lpstr>Full Accounting of Symmetry, Basis</vt:lpstr>
      <vt:lpstr>POTENTIAL Model</vt:lpstr>
      <vt:lpstr>Flexible Potential Model</vt:lpstr>
      <vt:lpstr>Test Case</vt:lpstr>
      <vt:lpstr>Kohn-Luttinger (Historic)</vt:lpstr>
      <vt:lpstr>Expanded Single-Valley</vt:lpstr>
      <vt:lpstr>Conclusions</vt:lpstr>
      <vt:lpstr>Caveats and Challenges -- I</vt:lpstr>
      <vt:lpstr>Caveats and Challenges -- II</vt:lpstr>
      <vt:lpstr>Prospects</vt:lpstr>
      <vt:lpstr>“The Pitch”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2293</cp:revision>
  <cp:lastPrinted>2016-07-18T17:32:49Z</cp:lastPrinted>
  <dcterms:created xsi:type="dcterms:W3CDTF">2016-06-28T14:05:07Z</dcterms:created>
  <dcterms:modified xsi:type="dcterms:W3CDTF">2023-03-06T18:59:32Z</dcterms:modified>
  <cp:category/>
</cp:coreProperties>
</file>