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1.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3.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6"/>
  </p:notesMasterIdLst>
  <p:sldIdLst>
    <p:sldId id="256" r:id="rId2"/>
    <p:sldId id="829" r:id="rId3"/>
    <p:sldId id="474" r:id="rId4"/>
    <p:sldId id="848" r:id="rId5"/>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16"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B4C"/>
    <a:srgbClr val="FF1D1D"/>
    <a:srgbClr val="0AB3F1"/>
    <a:srgbClr val="A91F1F"/>
    <a:srgbClr val="002F56"/>
    <a:srgbClr val="427D10"/>
    <a:srgbClr val="990000"/>
    <a:srgbClr val="FFFFFF"/>
    <a:srgbClr val="B99A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92"/>
    <p:restoredTop sz="94655"/>
  </p:normalViewPr>
  <p:slideViewPr>
    <p:cSldViewPr snapToGrid="0" snapToObjects="1">
      <p:cViewPr varScale="1">
        <p:scale>
          <a:sx n="25" d="100"/>
          <a:sy n="25" d="100"/>
        </p:scale>
        <p:origin x="1614" y="90"/>
      </p:cViewPr>
      <p:guideLst>
        <p:guide orient="horz" pos="7416"/>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E9724D-6106-B84D-AD73-88AB3BCE741D}" type="datetimeFigureOut">
              <a:rPr lang="en-US" smtClean="0"/>
              <a:t>9/30/2022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8A78A6-91B1-A94B-8013-D04A98434E6D}" type="slidenum">
              <a:rPr lang="en-US" smtClean="0"/>
              <a:t>‹#›</a:t>
            </a:fld>
            <a:endParaRPr lang="en-US"/>
          </a:p>
        </p:txBody>
      </p:sp>
    </p:spTree>
    <p:extLst>
      <p:ext uri="{BB962C8B-B14F-4D97-AF65-F5344CB8AC3E}">
        <p14:creationId xmlns:p14="http://schemas.microsoft.com/office/powerpoint/2010/main" val="1644038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F8A78A6-91B1-A94B-8013-D04A98434E6D}" type="slidenum">
              <a:rPr lang="en-US" smtClean="0"/>
              <a:t>1</a:t>
            </a:fld>
            <a:endParaRPr lang="en-US"/>
          </a:p>
        </p:txBody>
      </p:sp>
    </p:spTree>
    <p:extLst>
      <p:ext uri="{BB962C8B-B14F-4D97-AF65-F5344CB8AC3E}">
        <p14:creationId xmlns:p14="http://schemas.microsoft.com/office/powerpoint/2010/main" val="1823357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2</a:t>
            </a:fld>
            <a:endParaRPr lang="en-US" dirty="0"/>
          </a:p>
        </p:txBody>
      </p:sp>
    </p:spTree>
    <p:extLst>
      <p:ext uri="{BB962C8B-B14F-4D97-AF65-F5344CB8AC3E}">
        <p14:creationId xmlns:p14="http://schemas.microsoft.com/office/powerpoint/2010/main" val="178130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3</a:t>
            </a:fld>
            <a:endParaRPr lang="en-US" dirty="0"/>
          </a:p>
        </p:txBody>
      </p:sp>
    </p:spTree>
    <p:extLst>
      <p:ext uri="{BB962C8B-B14F-4D97-AF65-F5344CB8AC3E}">
        <p14:creationId xmlns:p14="http://schemas.microsoft.com/office/powerpoint/2010/main" val="754881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4</a:t>
            </a:fld>
            <a:endParaRPr lang="en-US" dirty="0"/>
          </a:p>
        </p:txBody>
      </p:sp>
    </p:spTree>
    <p:extLst>
      <p:ext uri="{BB962C8B-B14F-4D97-AF65-F5344CB8AC3E}">
        <p14:creationId xmlns:p14="http://schemas.microsoft.com/office/powerpoint/2010/main" val="2638154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earch Poster Template 1">
    <p:spTree>
      <p:nvGrpSpPr>
        <p:cNvPr id="1" name=""/>
        <p:cNvGrpSpPr/>
        <p:nvPr/>
      </p:nvGrpSpPr>
      <p:grpSpPr>
        <a:xfrm>
          <a:off x="0" y="0"/>
          <a:ext cx="0" cy="0"/>
          <a:chOff x="0" y="0"/>
          <a:chExt cx="0" cy="0"/>
        </a:xfrm>
      </p:grpSpPr>
      <p:cxnSp>
        <p:nvCxnSpPr>
          <p:cNvPr id="9" name="Straight Connector 9"/>
          <p:cNvCxnSpPr>
            <a:cxnSpLocks noChangeShapeType="1"/>
          </p:cNvCxnSpPr>
          <p:nvPr userDrawn="1"/>
        </p:nvCxnSpPr>
        <p:spPr bwMode="auto">
          <a:xfrm>
            <a:off x="11307763" y="8992295"/>
            <a:ext cx="914400" cy="9144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cxnSp>
      <p:sp>
        <p:nvSpPr>
          <p:cNvPr id="21" name="Contact Information Textbox">
            <a:extLst>
              <a:ext uri="{FF2B5EF4-FFF2-40B4-BE49-F238E27FC236}">
                <a16:creationId xmlns:a16="http://schemas.microsoft.com/office/drawing/2014/main" id="{C32D0C81-1525-43C5-B6B4-97A75E12D879}"/>
              </a:ext>
            </a:extLst>
          </p:cNvPr>
          <p:cNvSpPr/>
          <p:nvPr userDrawn="1"/>
        </p:nvSpPr>
        <p:spPr>
          <a:xfrm>
            <a:off x="33146443" y="30699440"/>
            <a:ext cx="9780371" cy="1938992"/>
          </a:xfrm>
          <a:prstGeom prst="rect">
            <a:avLst/>
          </a:prstGeom>
        </p:spPr>
        <p:txBody>
          <a:bodyPr wrap="square">
            <a:spAutoFit/>
          </a:bodyPr>
          <a:lstStyle/>
          <a:p>
            <a:pPr>
              <a:defRPr/>
            </a:pPr>
            <a:r>
              <a:rPr lang="en-US" altLang="en-US" sz="2400" dirty="0">
                <a:solidFill>
                  <a:schemeClr val="bg1"/>
                </a:solidFill>
                <a:ea typeface="Arial" charset="0"/>
                <a:cs typeface="Calibri" panose="020F0502020204030204" pitchFamily="34" charset="0"/>
              </a:rPr>
              <a:t>Department of Physics</a:t>
            </a:r>
          </a:p>
          <a:p>
            <a:pPr>
              <a:defRPr/>
            </a:pPr>
            <a:r>
              <a:rPr lang="en-US" altLang="en-US" sz="2400" dirty="0">
                <a:solidFill>
                  <a:schemeClr val="bg1"/>
                </a:solidFill>
                <a:ea typeface="Arial" charset="0"/>
                <a:cs typeface="Calibri" panose="020F0502020204030204" pitchFamily="34" charset="0"/>
              </a:rPr>
              <a:t>239 </a:t>
            </a:r>
            <a:r>
              <a:rPr lang="en-US" altLang="en-US" sz="2400" dirty="0" err="1">
                <a:solidFill>
                  <a:schemeClr val="bg1"/>
                </a:solidFill>
                <a:ea typeface="Arial" charset="0"/>
                <a:cs typeface="Calibri" panose="020F0502020204030204" pitchFamily="34" charset="0"/>
              </a:rPr>
              <a:t>Fronczak</a:t>
            </a:r>
            <a:r>
              <a:rPr lang="en-US" altLang="en-US" sz="2400" dirty="0">
                <a:solidFill>
                  <a:schemeClr val="bg1"/>
                </a:solidFill>
                <a:ea typeface="Arial" charset="0"/>
                <a:cs typeface="Calibri" panose="020F0502020204030204" pitchFamily="34" charset="0"/>
              </a:rPr>
              <a:t> Hall</a:t>
            </a:r>
          </a:p>
          <a:p>
            <a:pPr>
              <a:defRPr/>
            </a:pPr>
            <a:r>
              <a:rPr lang="en-US" altLang="en-US" sz="2400" dirty="0">
                <a:solidFill>
                  <a:schemeClr val="bg1"/>
                </a:solidFill>
                <a:ea typeface="Arial" charset="0"/>
              </a:rPr>
              <a:t>Buffalo, NY 14260</a:t>
            </a:r>
          </a:p>
          <a:p>
            <a:pPr>
              <a:defRPr/>
            </a:pPr>
            <a:r>
              <a:rPr lang="en-US" altLang="en-US" sz="2400" dirty="0">
                <a:solidFill>
                  <a:schemeClr val="bg1"/>
                </a:solidFill>
                <a:ea typeface="Arial" charset="0"/>
              </a:rPr>
              <a:t>(716) 645-2007</a:t>
            </a:r>
          </a:p>
          <a:p>
            <a:pPr>
              <a:defRPr/>
            </a:pPr>
            <a:r>
              <a:rPr lang="en-US" sz="2400" b="1" dirty="0">
                <a:solidFill>
                  <a:schemeClr val="bg1"/>
                </a:solidFill>
                <a:cs typeface="Calibri" panose="020F0502020204030204" pitchFamily="34" charset="0"/>
              </a:rPr>
              <a:t>physicsoffice@buffalo.edu</a:t>
            </a:r>
          </a:p>
        </p:txBody>
      </p:sp>
      <p:sp>
        <p:nvSpPr>
          <p:cNvPr id="2" name="Title 1">
            <a:extLst>
              <a:ext uri="{FF2B5EF4-FFF2-40B4-BE49-F238E27FC236}">
                <a16:creationId xmlns:a16="http://schemas.microsoft.com/office/drawing/2014/main" id="{C650D397-B23D-4111-8A86-57D0C1FC72BF}"/>
              </a:ext>
            </a:extLst>
          </p:cNvPr>
          <p:cNvSpPr>
            <a:spLocks noGrp="1"/>
          </p:cNvSpPr>
          <p:nvPr>
            <p:ph type="title"/>
          </p:nvPr>
        </p:nvSpPr>
        <p:spPr>
          <a:xfrm>
            <a:off x="800100" y="800100"/>
            <a:ext cx="42126714" cy="3581400"/>
          </a:xfrm>
          <a:prstGeom prst="rect">
            <a:avLst/>
          </a:prstGeom>
        </p:spPr>
        <p:txBody>
          <a:bodyPr/>
          <a:lstStyle/>
          <a:p>
            <a:r>
              <a:rPr lang="en-US" dirty="0"/>
              <a:t>Click to edit Master title style</a:t>
            </a:r>
          </a:p>
        </p:txBody>
      </p:sp>
      <p:sp>
        <p:nvSpPr>
          <p:cNvPr id="6" name="Rectangle 5">
            <a:extLst>
              <a:ext uri="{FF2B5EF4-FFF2-40B4-BE49-F238E27FC236}">
                <a16:creationId xmlns:a16="http://schemas.microsoft.com/office/drawing/2014/main" id="{6DA33425-3869-4964-97C9-8ECEBE52E881}"/>
              </a:ext>
            </a:extLst>
          </p:cNvPr>
          <p:cNvSpPr/>
          <p:nvPr userDrawn="1"/>
        </p:nvSpPr>
        <p:spPr>
          <a:xfrm>
            <a:off x="10273893" y="32223440"/>
            <a:ext cx="23343414" cy="584775"/>
          </a:xfrm>
          <a:prstGeom prst="rect">
            <a:avLst/>
          </a:prstGeom>
        </p:spPr>
        <p:txBody>
          <a:bodyPr wrap="square">
            <a:spAutoFit/>
          </a:bodyPr>
          <a:lstStyle/>
          <a:p>
            <a:pPr algn="ctr"/>
            <a:r>
              <a:rPr lang="en-US" sz="3200" dirty="0">
                <a:solidFill>
                  <a:schemeClr val="bg1"/>
                </a:solidFill>
              </a:rPr>
              <a:t>https://gitlab.com/cantankerous-impurity/Documentation/-/blob/core/SUNY--Buffalo/Posters/SiQEW2022.pptx</a:t>
            </a:r>
          </a:p>
        </p:txBody>
      </p:sp>
    </p:spTree>
    <p:extLst>
      <p:ext uri="{BB962C8B-B14F-4D97-AF65-F5344CB8AC3E}">
        <p14:creationId xmlns:p14="http://schemas.microsoft.com/office/powerpoint/2010/main" val="1587378594"/>
      </p:ext>
    </p:extLst>
  </p:cSld>
  <p:clrMapOvr>
    <a:masterClrMapping/>
  </p:clrMapOvr>
  <p:extLst mod="1">
    <p:ext uri="{DCECCB84-F9BA-43D5-87BE-67443E8EF086}">
      <p15:sldGuideLst xmlns:p15="http://schemas.microsoft.com/office/powerpoint/2012/main">
        <p15:guide id="1" orient="horz" pos="10368" userDrawn="1">
          <p15:clr>
            <a:srgbClr val="FBAE40"/>
          </p15:clr>
        </p15:guide>
        <p15:guide id="2" pos="138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17520" y="6144770"/>
            <a:ext cx="37856160" cy="2437589"/>
          </a:xfrm>
        </p:spPr>
        <p:txBody>
          <a:bodyPr>
            <a:spAutoFit/>
          </a:bodyPr>
          <a:lstStyle>
            <a:lvl1pPr>
              <a:defRPr>
                <a:latin typeface="Calibri" panose="020F0502020204030204" pitchFamily="34" charset="0"/>
                <a:cs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250424158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36" descr="alt=&quot;&quot;"/>
          <p:cNvSpPr>
            <a:spLocks noChangeArrowheads="1"/>
          </p:cNvSpPr>
          <p:nvPr userDrawn="1"/>
        </p:nvSpPr>
        <p:spPr bwMode="auto">
          <a:xfrm>
            <a:off x="0" y="30409662"/>
            <a:ext cx="43891200" cy="2508738"/>
          </a:xfrm>
          <a:prstGeom prst="rect">
            <a:avLst/>
          </a:prstGeom>
          <a:solidFill>
            <a:srgbClr val="005BBB"/>
          </a:solidFill>
          <a:ln w="9525">
            <a:noFill/>
            <a:miter lim="800000"/>
            <a:headEnd/>
            <a:tailEnd/>
          </a:ln>
          <a:effectLst/>
        </p:spPr>
        <p:txBody>
          <a:bodyPr wrap="none" anchor="ctr"/>
          <a:lstStyle>
            <a:lvl1pPr eaLnBrk="0" hangingPunct="0">
              <a:defRPr sz="2900">
                <a:solidFill>
                  <a:schemeClr val="tx1"/>
                </a:solidFill>
                <a:latin typeface="Arial Narrow" charset="0"/>
                <a:ea typeface="ＭＳ Ｐゴシック" charset="-128"/>
              </a:defRPr>
            </a:lvl1pPr>
            <a:lvl2pPr marL="37931725" indent="-37474525" eaLnBrk="0" hangingPunct="0">
              <a:defRPr sz="2900">
                <a:solidFill>
                  <a:schemeClr val="tx1"/>
                </a:solidFill>
                <a:latin typeface="Arial Narrow" charset="0"/>
                <a:ea typeface="ＭＳ Ｐゴシック" charset="-128"/>
              </a:defRPr>
            </a:lvl2pPr>
            <a:lvl3pPr eaLnBrk="0" hangingPunct="0">
              <a:defRPr sz="2900">
                <a:solidFill>
                  <a:schemeClr val="tx1"/>
                </a:solidFill>
                <a:latin typeface="Arial Narrow" charset="0"/>
                <a:ea typeface="ＭＳ Ｐゴシック" charset="-128"/>
              </a:defRPr>
            </a:lvl3pPr>
            <a:lvl4pPr eaLnBrk="0" hangingPunct="0">
              <a:defRPr sz="2900">
                <a:solidFill>
                  <a:schemeClr val="tx1"/>
                </a:solidFill>
                <a:latin typeface="Arial Narrow" charset="0"/>
                <a:ea typeface="ＭＳ Ｐゴシック" charset="-128"/>
              </a:defRPr>
            </a:lvl4pPr>
            <a:lvl5pPr eaLnBrk="0" hangingPunct="0">
              <a:defRPr sz="2900">
                <a:solidFill>
                  <a:schemeClr val="tx1"/>
                </a:solidFill>
                <a:latin typeface="Arial Narrow" charset="0"/>
                <a:ea typeface="ＭＳ Ｐゴシック" charset="-128"/>
              </a:defRPr>
            </a:lvl5pPr>
            <a:lvl6pPr marL="457200" eaLnBrk="0" fontAlgn="base" hangingPunct="0">
              <a:spcBef>
                <a:spcPct val="0"/>
              </a:spcBef>
              <a:spcAft>
                <a:spcPct val="0"/>
              </a:spcAft>
              <a:defRPr sz="2900">
                <a:solidFill>
                  <a:schemeClr val="tx1"/>
                </a:solidFill>
                <a:latin typeface="Arial Narrow" charset="0"/>
                <a:ea typeface="ＭＳ Ｐゴシック" charset="-128"/>
              </a:defRPr>
            </a:lvl6pPr>
            <a:lvl7pPr marL="914400" eaLnBrk="0" fontAlgn="base" hangingPunct="0">
              <a:spcBef>
                <a:spcPct val="0"/>
              </a:spcBef>
              <a:spcAft>
                <a:spcPct val="0"/>
              </a:spcAft>
              <a:defRPr sz="2900">
                <a:solidFill>
                  <a:schemeClr val="tx1"/>
                </a:solidFill>
                <a:latin typeface="Arial Narrow" charset="0"/>
                <a:ea typeface="ＭＳ Ｐゴシック" charset="-128"/>
              </a:defRPr>
            </a:lvl7pPr>
            <a:lvl8pPr marL="1371600" eaLnBrk="0" fontAlgn="base" hangingPunct="0">
              <a:spcBef>
                <a:spcPct val="0"/>
              </a:spcBef>
              <a:spcAft>
                <a:spcPct val="0"/>
              </a:spcAft>
              <a:defRPr sz="2900">
                <a:solidFill>
                  <a:schemeClr val="tx1"/>
                </a:solidFill>
                <a:latin typeface="Arial Narrow" charset="0"/>
                <a:ea typeface="ＭＳ Ｐゴシック" charset="-128"/>
              </a:defRPr>
            </a:lvl8pPr>
            <a:lvl9pPr marL="18288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defRPr/>
            </a:pPr>
            <a:endParaRPr lang="en-US" altLang="en-US" b="0" i="0" baseline="0" dirty="0">
              <a:solidFill>
                <a:schemeClr val="tx1"/>
              </a:solidFill>
              <a:latin typeface="Arial" charset="0"/>
              <a:ea typeface="Arial" charset="0"/>
            </a:endParaRPr>
          </a:p>
        </p:txBody>
      </p:sp>
      <p:sp>
        <p:nvSpPr>
          <p:cNvPr id="8" name="Rectangle 36" descr="alt=&quot;&quot;"/>
          <p:cNvSpPr>
            <a:spLocks noChangeArrowheads="1"/>
          </p:cNvSpPr>
          <p:nvPr userDrawn="1"/>
        </p:nvSpPr>
        <p:spPr bwMode="auto">
          <a:xfrm>
            <a:off x="0" y="0"/>
            <a:ext cx="43891200" cy="5486400"/>
          </a:xfrm>
          <a:prstGeom prst="rect">
            <a:avLst/>
          </a:prstGeom>
          <a:solidFill>
            <a:srgbClr val="005BBB"/>
          </a:solidFill>
          <a:ln w="9525">
            <a:noFill/>
            <a:miter lim="800000"/>
            <a:headEnd/>
            <a:tailEnd/>
          </a:ln>
          <a:effectLst/>
        </p:spPr>
        <p:txBody>
          <a:bodyPr wrap="none" anchor="ctr"/>
          <a:lstStyle>
            <a:lvl1pPr eaLnBrk="0" hangingPunct="0">
              <a:defRPr sz="2900">
                <a:solidFill>
                  <a:schemeClr val="tx1"/>
                </a:solidFill>
                <a:latin typeface="Arial Narrow" charset="0"/>
                <a:ea typeface="ＭＳ Ｐゴシック" charset="-128"/>
              </a:defRPr>
            </a:lvl1pPr>
            <a:lvl2pPr marL="37931725" indent="-37474525" eaLnBrk="0" hangingPunct="0">
              <a:defRPr sz="2900">
                <a:solidFill>
                  <a:schemeClr val="tx1"/>
                </a:solidFill>
                <a:latin typeface="Arial Narrow" charset="0"/>
                <a:ea typeface="ＭＳ Ｐゴシック" charset="-128"/>
              </a:defRPr>
            </a:lvl2pPr>
            <a:lvl3pPr eaLnBrk="0" hangingPunct="0">
              <a:defRPr sz="2900">
                <a:solidFill>
                  <a:schemeClr val="tx1"/>
                </a:solidFill>
                <a:latin typeface="Arial Narrow" charset="0"/>
                <a:ea typeface="ＭＳ Ｐゴシック" charset="-128"/>
              </a:defRPr>
            </a:lvl3pPr>
            <a:lvl4pPr eaLnBrk="0" hangingPunct="0">
              <a:defRPr sz="2900">
                <a:solidFill>
                  <a:schemeClr val="tx1"/>
                </a:solidFill>
                <a:latin typeface="Arial Narrow" charset="0"/>
                <a:ea typeface="ＭＳ Ｐゴシック" charset="-128"/>
              </a:defRPr>
            </a:lvl4pPr>
            <a:lvl5pPr eaLnBrk="0" hangingPunct="0">
              <a:defRPr sz="2900">
                <a:solidFill>
                  <a:schemeClr val="tx1"/>
                </a:solidFill>
                <a:latin typeface="Arial Narrow" charset="0"/>
                <a:ea typeface="ＭＳ Ｐゴシック" charset="-128"/>
              </a:defRPr>
            </a:lvl5pPr>
            <a:lvl6pPr marL="457200" eaLnBrk="0" fontAlgn="base" hangingPunct="0">
              <a:spcBef>
                <a:spcPct val="0"/>
              </a:spcBef>
              <a:spcAft>
                <a:spcPct val="0"/>
              </a:spcAft>
              <a:defRPr sz="2900">
                <a:solidFill>
                  <a:schemeClr val="tx1"/>
                </a:solidFill>
                <a:latin typeface="Arial Narrow" charset="0"/>
                <a:ea typeface="ＭＳ Ｐゴシック" charset="-128"/>
              </a:defRPr>
            </a:lvl6pPr>
            <a:lvl7pPr marL="914400" eaLnBrk="0" fontAlgn="base" hangingPunct="0">
              <a:spcBef>
                <a:spcPct val="0"/>
              </a:spcBef>
              <a:spcAft>
                <a:spcPct val="0"/>
              </a:spcAft>
              <a:defRPr sz="2900">
                <a:solidFill>
                  <a:schemeClr val="tx1"/>
                </a:solidFill>
                <a:latin typeface="Arial Narrow" charset="0"/>
                <a:ea typeface="ＭＳ Ｐゴシック" charset="-128"/>
              </a:defRPr>
            </a:lvl7pPr>
            <a:lvl8pPr marL="1371600" eaLnBrk="0" fontAlgn="base" hangingPunct="0">
              <a:spcBef>
                <a:spcPct val="0"/>
              </a:spcBef>
              <a:spcAft>
                <a:spcPct val="0"/>
              </a:spcAft>
              <a:defRPr sz="2900">
                <a:solidFill>
                  <a:schemeClr val="tx1"/>
                </a:solidFill>
                <a:latin typeface="Arial Narrow" charset="0"/>
                <a:ea typeface="ＭＳ Ｐゴシック" charset="-128"/>
              </a:defRPr>
            </a:lvl8pPr>
            <a:lvl9pPr marL="18288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defRPr/>
            </a:pPr>
            <a:endParaRPr lang="en-US" altLang="en-US" b="0" i="0" baseline="0" dirty="0">
              <a:solidFill>
                <a:schemeClr val="tx1"/>
              </a:solidFill>
              <a:latin typeface="Arial" charset="0"/>
              <a:ea typeface="Arial" charset="0"/>
            </a:endParaRPr>
          </a:p>
        </p:txBody>
      </p:sp>
      <p:sp>
        <p:nvSpPr>
          <p:cNvPr id="2" name="Rectangle 1" descr="alt=&quot;&quot;"/>
          <p:cNvSpPr/>
          <p:nvPr userDrawn="1"/>
        </p:nvSpPr>
        <p:spPr>
          <a:xfrm>
            <a:off x="-1" y="5257800"/>
            <a:ext cx="43891201" cy="2612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UB Crest"/>
          <p:cNvPicPr>
            <a:picLocks noChangeAspect="1"/>
          </p:cNvPicPr>
          <p:nvPr userDrawn="1"/>
        </p:nvPicPr>
        <p:blipFill rotWithShape="1">
          <a:blip r:embed="rId4">
            <a:alphaModFix amt="41000"/>
            <a:extLst>
              <a:ext uri="{28A0092B-C50C-407E-A947-70E740481C1C}">
                <a14:useLocalDpi xmlns:a14="http://schemas.microsoft.com/office/drawing/2010/main" val="0"/>
              </a:ext>
            </a:extLst>
          </a:blip>
          <a:srcRect t="4395" b="40121"/>
          <a:stretch/>
        </p:blipFill>
        <p:spPr>
          <a:xfrm>
            <a:off x="32191332" y="0"/>
            <a:ext cx="9341680" cy="5256959"/>
          </a:xfrm>
          <a:prstGeom prst="rect">
            <a:avLst/>
          </a:prstGeom>
        </p:spPr>
      </p:pic>
      <p:pic>
        <p:nvPicPr>
          <p:cNvPr id="4" name="Picture 3" descr="University at Buffalo, The State University of New York"/>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4733" y="31154745"/>
            <a:ext cx="13595412" cy="1008282"/>
          </a:xfrm>
          <a:prstGeom prst="rect">
            <a:avLst/>
          </a:prstGeom>
        </p:spPr>
      </p:pic>
      <p:cxnSp>
        <p:nvCxnSpPr>
          <p:cNvPr id="7" name="Straight Connector 6" descr="alt=&quot;&quot;"/>
          <p:cNvCxnSpPr/>
          <p:nvPr userDrawn="1"/>
        </p:nvCxnSpPr>
        <p:spPr>
          <a:xfrm>
            <a:off x="32696865" y="30837463"/>
            <a:ext cx="0" cy="1588169"/>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1499162"/>
      </p:ext>
    </p:extLst>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l" defTabSz="914400" rtl="0" eaLnBrk="1" latinLnBrk="0" hangingPunct="1">
        <a:lnSpc>
          <a:spcPct val="90000"/>
        </a:lnSpc>
        <a:spcBef>
          <a:spcPct val="0"/>
        </a:spcBef>
        <a:buNone/>
        <a:defRPr sz="88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image" Target="../media/image4.png"/><Relationship Id="rId26" Type="http://schemas.openxmlformats.org/officeDocument/2006/relationships/image" Target="../media/image12.png"/><Relationship Id="rId3" Type="http://schemas.openxmlformats.org/officeDocument/2006/relationships/tags" Target="../tags/tag3.xml"/><Relationship Id="rId21" Type="http://schemas.openxmlformats.org/officeDocument/2006/relationships/image" Target="../media/image7.png"/><Relationship Id="rId34" Type="http://schemas.openxmlformats.org/officeDocument/2006/relationships/image" Target="../media/image20.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3.png"/><Relationship Id="rId25" Type="http://schemas.openxmlformats.org/officeDocument/2006/relationships/image" Target="../media/image11.png"/><Relationship Id="rId33" Type="http://schemas.openxmlformats.org/officeDocument/2006/relationships/image" Target="../media/image19.png"/><Relationship Id="rId2" Type="http://schemas.openxmlformats.org/officeDocument/2006/relationships/tags" Target="../tags/tag2.xml"/><Relationship Id="rId16" Type="http://schemas.openxmlformats.org/officeDocument/2006/relationships/notesSlide" Target="../notesSlides/notesSlide1.xml"/><Relationship Id="rId20" Type="http://schemas.openxmlformats.org/officeDocument/2006/relationships/image" Target="../media/image6.png"/><Relationship Id="rId29" Type="http://schemas.openxmlformats.org/officeDocument/2006/relationships/image" Target="../media/image15.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image" Target="../media/image10.png"/><Relationship Id="rId32" Type="http://schemas.openxmlformats.org/officeDocument/2006/relationships/image" Target="../media/image18.png"/><Relationship Id="rId5" Type="http://schemas.openxmlformats.org/officeDocument/2006/relationships/tags" Target="../tags/tag5.xml"/><Relationship Id="rId15" Type="http://schemas.openxmlformats.org/officeDocument/2006/relationships/slideLayout" Target="../slideLayouts/slideLayout1.xml"/><Relationship Id="rId23" Type="http://schemas.openxmlformats.org/officeDocument/2006/relationships/image" Target="../media/image9.png"/><Relationship Id="rId28" Type="http://schemas.openxmlformats.org/officeDocument/2006/relationships/image" Target="../media/image14.png"/><Relationship Id="rId10" Type="http://schemas.openxmlformats.org/officeDocument/2006/relationships/tags" Target="../tags/tag10.xml"/><Relationship Id="rId19" Type="http://schemas.openxmlformats.org/officeDocument/2006/relationships/image" Target="../media/image5.png"/><Relationship Id="rId31" Type="http://schemas.openxmlformats.org/officeDocument/2006/relationships/image" Target="../media/image17.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8.png"/><Relationship Id="rId27" Type="http://schemas.openxmlformats.org/officeDocument/2006/relationships/image" Target="../media/image13.png"/><Relationship Id="rId30" Type="http://schemas.openxmlformats.org/officeDocument/2006/relationships/image" Target="../media/image16.png"/><Relationship Id="rId8" Type="http://schemas.openxmlformats.org/officeDocument/2006/relationships/tags" Target="../tags/tag8.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1.xml"/><Relationship Id="rId13" Type="http://schemas.openxmlformats.org/officeDocument/2006/relationships/image" Target="../media/image24.png"/><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image" Target="../media/image23.png"/><Relationship Id="rId2" Type="http://schemas.openxmlformats.org/officeDocument/2006/relationships/tags" Target="../tags/tag16.xml"/><Relationship Id="rId16" Type="http://schemas.openxmlformats.org/officeDocument/2006/relationships/image" Target="../media/image27.png"/><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image" Target="../media/image22.png"/><Relationship Id="rId5" Type="http://schemas.openxmlformats.org/officeDocument/2006/relationships/tags" Target="../tags/tag19.xml"/><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tags" Target="../tags/tag18.xml"/><Relationship Id="rId9" Type="http://schemas.openxmlformats.org/officeDocument/2006/relationships/notesSlide" Target="../notesSlides/notesSlide2.xml"/><Relationship Id="rId14" Type="http://schemas.openxmlformats.org/officeDocument/2006/relationships/image" Target="../media/image25.png"/></Relationships>
</file>

<file path=ppt/slides/_rels/slide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24.xml"/><Relationship Id="rId7" Type="http://schemas.openxmlformats.org/officeDocument/2006/relationships/image" Target="../media/image28.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notesSlide" Target="../notesSlides/notesSlide3.xml"/><Relationship Id="rId5" Type="http://schemas.openxmlformats.org/officeDocument/2006/relationships/slideLayout" Target="../slideLayouts/slideLayout1.xml"/><Relationship Id="rId10" Type="http://schemas.openxmlformats.org/officeDocument/2006/relationships/image" Target="../media/image31.png"/><Relationship Id="rId4" Type="http://schemas.openxmlformats.org/officeDocument/2006/relationships/tags" Target="../tags/tag25.xml"/><Relationship Id="rId9"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14.png"/><Relationship Id="rId17" Type="http://schemas.openxmlformats.org/officeDocument/2006/relationships/image" Target="../media/image36.png"/><Relationship Id="rId2" Type="http://schemas.openxmlformats.org/officeDocument/2006/relationships/tags" Target="../tags/tag27.xml"/><Relationship Id="rId16" Type="http://schemas.openxmlformats.org/officeDocument/2006/relationships/image" Target="../media/image35.png"/><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notesSlide" Target="../notesSlides/notesSlide4.xml"/><Relationship Id="rId5" Type="http://schemas.openxmlformats.org/officeDocument/2006/relationships/tags" Target="../tags/tag30.xml"/><Relationship Id="rId15" Type="http://schemas.openxmlformats.org/officeDocument/2006/relationships/image" Target="../media/image34.png"/><Relationship Id="rId10" Type="http://schemas.openxmlformats.org/officeDocument/2006/relationships/slideLayout" Target="../slideLayouts/slideLayout1.xml"/><Relationship Id="rId19" Type="http://schemas.openxmlformats.org/officeDocument/2006/relationships/image" Target="../media/image38.png"/><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itle 68 1">
            <a:extLst>
              <a:ext uri="{FF2B5EF4-FFF2-40B4-BE49-F238E27FC236}">
                <a16:creationId xmlns:a16="http://schemas.microsoft.com/office/drawing/2014/main" id="{78CEE12B-EEF9-4B51-A73B-EA7653D896D4}"/>
              </a:ext>
            </a:extLst>
          </p:cNvPr>
          <p:cNvSpPr>
            <a:spLocks noGrp="1"/>
          </p:cNvSpPr>
          <p:nvPr>
            <p:ph type="title"/>
          </p:nvPr>
        </p:nvSpPr>
        <p:spPr/>
        <p:txBody>
          <a:bodyPr/>
          <a:lstStyle/>
          <a:p>
            <a:pPr lvl="0" defTabSz="3686861">
              <a:lnSpc>
                <a:spcPct val="100000"/>
              </a:lnSpc>
              <a:spcBef>
                <a:spcPts val="0"/>
              </a:spcBef>
              <a:defRPr/>
            </a:pPr>
            <a:r>
              <a:rPr lang="en-US" sz="10000" dirty="0">
                <a:solidFill>
                  <a:srgbClr val="FFFFFF"/>
                </a:solidFill>
                <a:ea typeface="+mn-ea"/>
                <a:cs typeface="+mn-cs"/>
              </a:rPr>
              <a:t>A computational suite to extend the effective mass model of the silicon donor</a:t>
            </a:r>
            <a:br>
              <a:rPr lang="en-US" sz="10000" dirty="0">
                <a:solidFill>
                  <a:srgbClr val="FFFFFF"/>
                </a:solidFill>
                <a:ea typeface="+mn-ea"/>
                <a:cs typeface="+mn-cs"/>
              </a:rPr>
            </a:br>
            <a:r>
              <a:rPr lang="en-US" altLang="en-US" sz="6300" dirty="0">
                <a:solidFill>
                  <a:srgbClr val="FFFFFF"/>
                </a:solidFill>
                <a:latin typeface="Calibri" panose="020F0502020204030204" pitchFamily="34" charset="0"/>
                <a:ea typeface="Arial" charset="0"/>
                <a:cs typeface="Calibri" panose="020F0502020204030204" pitchFamily="34" charset="0"/>
              </a:rPr>
              <a:t>Luke Pendo and Xuedong Hu</a:t>
            </a:r>
            <a:br>
              <a:rPr lang="en-US" altLang="en-US" sz="6300" dirty="0">
                <a:solidFill>
                  <a:srgbClr val="FFFFFF"/>
                </a:solidFill>
                <a:latin typeface="Calibri" panose="020F0502020204030204" pitchFamily="34" charset="0"/>
                <a:ea typeface="Arial" charset="0"/>
                <a:cs typeface="Calibri" panose="020F0502020204030204" pitchFamily="34" charset="0"/>
              </a:rPr>
            </a:br>
            <a:endParaRPr lang="en-US" dirty="0"/>
          </a:p>
        </p:txBody>
      </p:sp>
      <mc:AlternateContent xmlns:mc="http://schemas.openxmlformats.org/markup-compatibility/2006" xmlns:a14="http://schemas.microsoft.com/office/drawing/2010/main">
        <mc:Choice Requires="a14">
          <p:sp>
            <p:nvSpPr>
              <p:cNvPr id="167" name="Introduction Textbox 2"/>
              <p:cNvSpPr txBox="1">
                <a:spLocks noChangeArrowheads="1"/>
              </p:cNvSpPr>
              <p:nvPr/>
            </p:nvSpPr>
            <p:spPr bwMode="auto">
              <a:xfrm>
                <a:off x="1371600" y="6400800"/>
                <a:ext cx="9224597" cy="13359939"/>
              </a:xfrm>
              <a:prstGeom prst="rect">
                <a:avLst/>
              </a:prstGeom>
              <a:solidFill>
                <a:schemeClr val="bg1">
                  <a:alpha val="63000"/>
                </a:schemeClr>
              </a:solidFill>
              <a:ln>
                <a:noFill/>
              </a:ln>
              <a:effec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spcAft>
                    <a:spcPts val="1200"/>
                  </a:spcAft>
                </a:pPr>
                <a:r>
                  <a:rPr lang="en-US" sz="4800" b="1" dirty="0">
                    <a:solidFill>
                      <a:srgbClr val="005BBB"/>
                    </a:solidFill>
                    <a:latin typeface="+mn-lt"/>
                    <a:cs typeface="Calibri" panose="020F0502020204030204" pitchFamily="34" charset="0"/>
                  </a:rPr>
                  <a:t>Abstract</a:t>
                </a:r>
                <a:endParaRPr lang="en-US" sz="3200" dirty="0">
                  <a:latin typeface="+mn-lt"/>
                </a:endParaRPr>
              </a:p>
              <a:p>
                <a:pPr lvl="0" algn="just" defTabSz="914400" eaLnBrk="0" fontAlgn="base" hangingPunct="0">
                  <a:lnSpc>
                    <a:spcPct val="120000"/>
                  </a:lnSpc>
                  <a:spcBef>
                    <a:spcPct val="0"/>
                  </a:spcBef>
                </a:pPr>
                <a:r>
                  <a:rPr lang="en-US" altLang="en-US" sz="2800" dirty="0">
                    <a:latin typeface="+mj-lt"/>
                  </a:rPr>
                  <a:t>For the last several years, we've been working on software to extend extant effective mass models of the wavefunction and energy spectrum of the silicon donor. To ensure </a:t>
                </a:r>
                <a:r>
                  <a:rPr lang="en-US" altLang="en-US" sz="2800" b="1" dirty="0">
                    <a:solidFill>
                      <a:srgbClr val="002F56"/>
                    </a:solidFill>
                    <a:latin typeface="+mj-lt"/>
                  </a:rPr>
                  <a:t>completeness</a:t>
                </a:r>
                <a:r>
                  <a:rPr lang="en-US" altLang="en-US" sz="2800" dirty="0">
                    <a:latin typeface="+mj-lt"/>
                  </a:rPr>
                  <a:t> we employ a </a:t>
                </a:r>
                <a:r>
                  <a:rPr lang="en-US" altLang="en-US" sz="2800" i="1" dirty="0">
                    <a:latin typeface="+mj-lt"/>
                  </a:rPr>
                  <a:t>freely extensible basis</a:t>
                </a:r>
                <a:r>
                  <a:rPr lang="en-US" altLang="en-US" sz="2800" dirty="0">
                    <a:latin typeface="+mj-lt"/>
                  </a:rPr>
                  <a:t> of orthogonal functions known to be complete on the function space of </a:t>
                </a:r>
                <a14:m>
                  <m:oMath xmlns:m="http://schemas.openxmlformats.org/officeDocument/2006/math">
                    <m:sSup>
                      <m:sSupPr>
                        <m:ctrlPr>
                          <a:rPr lang="en-US" altLang="en-US" sz="2800" i="1" smtClean="0">
                            <a:latin typeface="Cambria Math" panose="02040503050406030204" pitchFamily="18" charset="0"/>
                          </a:rPr>
                        </m:ctrlPr>
                      </m:sSupPr>
                      <m:e>
                        <m:r>
                          <a:rPr lang="en-US" altLang="en-US" sz="2800" b="0" i="1" smtClean="0">
                            <a:latin typeface="Cambria Math" panose="02040503050406030204" pitchFamily="18" charset="0"/>
                          </a:rPr>
                          <m:t>𝐿</m:t>
                        </m:r>
                      </m:e>
                      <m:sup>
                        <m:r>
                          <a:rPr lang="en-US" altLang="en-US" sz="2800" b="0" i="1" smtClean="0">
                            <a:latin typeface="Cambria Math" panose="02040503050406030204" pitchFamily="18" charset="0"/>
                          </a:rPr>
                          <m:t>2</m:t>
                        </m:r>
                      </m:sup>
                    </m:sSup>
                    <m:d>
                      <m:dPr>
                        <m:ctrlPr>
                          <a:rPr lang="en-US" altLang="en-US" sz="2800" i="1" smtClean="0">
                            <a:latin typeface="Cambria Math" panose="02040503050406030204" pitchFamily="18" charset="0"/>
                          </a:rPr>
                        </m:ctrlPr>
                      </m:dPr>
                      <m:e>
                        <m:r>
                          <a:rPr lang="en-US" altLang="en-US" sz="2800" b="0" i="1" smtClean="0">
                            <a:latin typeface="Cambria Math" panose="02040503050406030204" pitchFamily="18" charset="0"/>
                          </a:rPr>
                          <m:t>𝑅</m:t>
                        </m:r>
                      </m:e>
                    </m:d>
                  </m:oMath>
                </a14:m>
                <a:r>
                  <a:rPr lang="en-US" altLang="en-US" sz="2800" dirty="0">
                    <a:latin typeface="+mj-lt"/>
                  </a:rPr>
                  <a:t>. The basis comes equipped with a set of variational parameters to allow the basis to be tuned to increase performance and reduce computational error. For numerical calculations, the basis must be truncated, and so any energy eigenstate candidate must be evaluated to see how well the truncated approximation reflects the full eigenstate predicted by the effective mass model. As such we employ a calculation of </a:t>
                </a:r>
                <a:r>
                  <a:rPr lang="en-US" altLang="en-US" sz="2800" b="1" dirty="0">
                    <a:solidFill>
                      <a:srgbClr val="A91F1F"/>
                    </a:solidFill>
                    <a:latin typeface="+mj-lt"/>
                  </a:rPr>
                  <a:t>the variance of the expectation energy</a:t>
                </a:r>
                <a:r>
                  <a:rPr lang="en-US" altLang="en-US" sz="2800" dirty="0">
                    <a:latin typeface="+mj-lt"/>
                  </a:rPr>
                  <a:t> of a state to evaluate candidate eigenstates and optimize the variational tuning of the orthogonal basis. We employ a full consideration of </a:t>
                </a:r>
                <a:r>
                  <a:rPr lang="en-US" altLang="en-US" sz="2800" b="1" dirty="0">
                    <a:latin typeface="+mj-lt"/>
                  </a:rPr>
                  <a:t>symmetry</a:t>
                </a:r>
                <a:r>
                  <a:rPr lang="en-US" altLang="en-US" sz="2800" dirty="0">
                    <a:latin typeface="+mj-lt"/>
                  </a:rPr>
                  <a:t>, </a:t>
                </a:r>
                <a:r>
                  <a:rPr lang="en-US" altLang="en-US" sz="2800" b="1" dirty="0">
                    <a:latin typeface="+mj-lt"/>
                  </a:rPr>
                  <a:t>Bloch function</a:t>
                </a:r>
                <a:r>
                  <a:rPr lang="en-US" altLang="en-US" sz="2800" dirty="0">
                    <a:latin typeface="+mj-lt"/>
                  </a:rPr>
                  <a:t> contributions, and </a:t>
                </a:r>
                <a:r>
                  <a:rPr lang="en-US" altLang="en-US" sz="2800" b="1" dirty="0">
                    <a:latin typeface="+mj-lt"/>
                  </a:rPr>
                  <a:t>multi-valley</a:t>
                </a:r>
                <a:r>
                  <a:rPr lang="en-US" altLang="en-US" sz="2800" dirty="0">
                    <a:latin typeface="+mj-lt"/>
                  </a:rPr>
                  <a:t> physics. The </a:t>
                </a:r>
                <a:r>
                  <a:rPr lang="en-US" altLang="en-US" sz="2800" b="1" dirty="0">
                    <a:latin typeface="+mj-lt"/>
                  </a:rPr>
                  <a:t>effective potential</a:t>
                </a:r>
                <a:r>
                  <a:rPr lang="en-US" altLang="en-US" sz="2800" dirty="0">
                    <a:latin typeface="+mj-lt"/>
                  </a:rPr>
                  <a:t> considered by this model is </a:t>
                </a:r>
                <a:r>
                  <a:rPr lang="en-US" altLang="en-US" sz="2800" i="1" dirty="0">
                    <a:latin typeface="+mj-lt"/>
                  </a:rPr>
                  <a:t>very general and flexible</a:t>
                </a:r>
                <a:r>
                  <a:rPr lang="en-US" altLang="en-US" sz="2800" dirty="0">
                    <a:latin typeface="+mj-lt"/>
                  </a:rPr>
                  <a:t>, and we are considering the impact of a dynamic dielectric “constant” in the Coulomb potential, a phenomenological mean field model of exchange and correlation interactions between </a:t>
                </a:r>
                <a:r>
                  <a:rPr lang="en-US" altLang="en-US" sz="2800" dirty="0">
                    <a:latin typeface="+mn-lt"/>
                  </a:rPr>
                  <a:t>the</a:t>
                </a:r>
                <a:r>
                  <a:rPr lang="en-US" altLang="en-US" sz="2800" dirty="0">
                    <a:latin typeface="+mj-lt"/>
                  </a:rPr>
                  <a:t> donor and core electrons of the impurity, and models of lattice deformation. While our investigations are still preliminary, we present some of the early possibilities delivered by our software.</a:t>
                </a:r>
                <a:endParaRPr lang="en-US" altLang="en-US" sz="5400" dirty="0">
                  <a:latin typeface="+mj-lt"/>
                </a:endParaRPr>
              </a:p>
            </p:txBody>
          </p:sp>
        </mc:Choice>
        <mc:Fallback xmlns="">
          <p:sp>
            <p:nvSpPr>
              <p:cNvPr id="167" name="Introduction Textbox 2"/>
              <p:cNvSpPr txBox="1">
                <a:spLocks noRot="1" noChangeAspect="1" noMove="1" noResize="1" noEditPoints="1" noAdjustHandles="1" noChangeArrowheads="1" noChangeShapeType="1" noTextEdit="1"/>
              </p:cNvSpPr>
              <p:nvPr/>
            </p:nvSpPr>
            <p:spPr bwMode="auto">
              <a:xfrm>
                <a:off x="1371600" y="6400800"/>
                <a:ext cx="9224597" cy="13359939"/>
              </a:xfrm>
              <a:prstGeom prst="rect">
                <a:avLst/>
              </a:prstGeom>
              <a:blipFill>
                <a:blip r:embed="rId17"/>
                <a:stretch>
                  <a:fillRect l="-2974" t="-1004" r="-1322" b="-319"/>
                </a:stretch>
              </a:blipFill>
              <a:ln>
                <a:noFill/>
              </a:ln>
              <a:effectLst/>
            </p:spPr>
            <p:txBody>
              <a:bodyPr/>
              <a:lstStyle/>
              <a:p>
                <a:r>
                  <a:rPr lang="en-US">
                    <a:noFill/>
                  </a:rPr>
                  <a:t> </a:t>
                </a:r>
              </a:p>
            </p:txBody>
          </p:sp>
        </mc:Fallback>
      </mc:AlternateContent>
      <p:pic>
        <p:nvPicPr>
          <p:cNvPr id="89" name="Bullet E" descr="E">
            <a:extLst>
              <a:ext uri="{FF2B5EF4-FFF2-40B4-BE49-F238E27FC236}">
                <a16:creationId xmlns:a16="http://schemas.microsoft.com/office/drawing/2014/main" id="{C3BFBB27-4AB4-EB4A-B638-5C34BAFC79B6}"/>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2554010" y="31175214"/>
            <a:ext cx="707508" cy="707508"/>
          </a:xfrm>
          <a:prstGeom prst="rect">
            <a:avLst/>
          </a:prstGeom>
        </p:spPr>
      </p:pic>
      <p:cxnSp>
        <p:nvCxnSpPr>
          <p:cNvPr id="38" name="Horizontal Section Divider 6 1 1" descr="Horizontal Divider"/>
          <p:cNvCxnSpPr/>
          <p:nvPr/>
        </p:nvCxnSpPr>
        <p:spPr bwMode="auto">
          <a:xfrm>
            <a:off x="33101280" y="23868207"/>
            <a:ext cx="9784080" cy="0"/>
          </a:xfrm>
          <a:prstGeom prst="line">
            <a:avLst/>
          </a:prstGeom>
          <a:noFill/>
          <a:ln w="25400" cap="flat" cmpd="sng" algn="ctr">
            <a:solidFill>
              <a:schemeClr val="tx1"/>
            </a:solidFill>
            <a:prstDash val="dash"/>
            <a:round/>
            <a:headEnd type="none" w="med" len="med"/>
            <a:tailEnd type="none" w="med" len="med"/>
          </a:ln>
          <a:effectLst/>
        </p:spPr>
      </p:cxnSp>
      <p:sp>
        <p:nvSpPr>
          <p:cNvPr id="23" name="References Textbox 1"/>
          <p:cNvSpPr txBox="1"/>
          <p:nvPr/>
        </p:nvSpPr>
        <p:spPr>
          <a:xfrm>
            <a:off x="33185100" y="24086704"/>
            <a:ext cx="9737512" cy="3630353"/>
          </a:xfrm>
          <a:prstGeom prst="rect">
            <a:avLst/>
          </a:prstGeom>
          <a:solidFill>
            <a:schemeClr val="bg1">
              <a:alpha val="63000"/>
            </a:schemeClr>
          </a:solidFill>
          <a:effectLst/>
        </p:spPr>
        <p:txBody>
          <a:bodyPr wrap="square">
            <a:spAutoFit/>
          </a:bodyPr>
          <a:lstStyle/>
          <a:p>
            <a:pPr>
              <a:lnSpc>
                <a:spcPts val="3800"/>
              </a:lnSpc>
              <a:spcAft>
                <a:spcPts val="1200"/>
              </a:spcAft>
              <a:buClr>
                <a:schemeClr val="tx2"/>
              </a:buClr>
              <a:defRPr/>
            </a:pPr>
            <a:r>
              <a:rPr lang="en-US" sz="4800" b="1" dirty="0">
                <a:solidFill>
                  <a:srgbClr val="005BBB"/>
                </a:solidFill>
                <a:latin typeface="Calibri" panose="020F0502020204030204" pitchFamily="34" charset="0"/>
                <a:cs typeface="Calibri" panose="020F0502020204030204" pitchFamily="34" charset="0"/>
              </a:rPr>
              <a:t>References</a:t>
            </a:r>
            <a:endParaRPr lang="en-US" sz="2400" dirty="0">
              <a:latin typeface="Calibri" panose="020F0502020204030204" pitchFamily="34" charset="0"/>
              <a:ea typeface="Arial" charset="0"/>
              <a:cs typeface="Calibri" panose="020F0502020204030204" pitchFamily="34" charset="0"/>
            </a:endParaRPr>
          </a:p>
          <a:p>
            <a:pPr>
              <a:lnSpc>
                <a:spcPts val="3800"/>
              </a:lnSpc>
              <a:buClr>
                <a:schemeClr val="tx2"/>
              </a:buClr>
              <a:buFont typeface="+mj-lt"/>
              <a:buAutoNum type="arabicPeriod"/>
              <a:defRPr/>
            </a:pPr>
            <a:r>
              <a:rPr lang="en-US" sz="2800" dirty="0">
                <a:latin typeface="Calibri" panose="020F0502020204030204" pitchFamily="34" charset="0"/>
                <a:ea typeface="Arial" charset="0"/>
                <a:cs typeface="Calibri" panose="020F0502020204030204" pitchFamily="34" charset="0"/>
              </a:rPr>
              <a:t> </a:t>
            </a:r>
            <a:r>
              <a:rPr lang="fr-FR" sz="2800" dirty="0"/>
              <a:t>R.A. Faulkner, Phys. </a:t>
            </a:r>
            <a:r>
              <a:rPr lang="fr-FR" sz="2800" dirty="0" err="1"/>
              <a:t>Rev</a:t>
            </a:r>
            <a:r>
              <a:rPr lang="fr-FR" sz="2800" dirty="0"/>
              <a:t>. </a:t>
            </a:r>
            <a:r>
              <a:rPr lang="fr-FR" sz="2800" b="1" dirty="0"/>
              <a:t>184</a:t>
            </a:r>
            <a:r>
              <a:rPr lang="fr-FR" sz="2800" dirty="0"/>
              <a:t>, 713 (1969)</a:t>
            </a:r>
            <a:endParaRPr lang="en-US" sz="2800" dirty="0">
              <a:latin typeface="Calibri" panose="020F0502020204030204" pitchFamily="34" charset="0"/>
              <a:ea typeface="Arial" charset="0"/>
              <a:cs typeface="Calibri" panose="020F0502020204030204" pitchFamily="34" charset="0"/>
            </a:endParaRPr>
          </a:p>
          <a:p>
            <a:pPr>
              <a:lnSpc>
                <a:spcPts val="3800"/>
              </a:lnSpc>
              <a:buClr>
                <a:schemeClr val="tx2"/>
              </a:buClr>
              <a:buFont typeface="+mj-lt"/>
              <a:buAutoNum type="arabicPeriod"/>
              <a:defRPr/>
            </a:pPr>
            <a:r>
              <a:rPr lang="en-US" sz="2800" dirty="0">
                <a:latin typeface="Calibri" panose="020F0502020204030204" pitchFamily="34" charset="0"/>
                <a:ea typeface="Arial" charset="0"/>
                <a:cs typeface="Calibri" panose="020F0502020204030204" pitchFamily="34" charset="0"/>
              </a:rPr>
              <a:t> </a:t>
            </a:r>
            <a:r>
              <a:rPr lang="en-US" sz="2800" dirty="0"/>
              <a:t>A.K. </a:t>
            </a:r>
            <a:r>
              <a:rPr lang="en-US" sz="2800" dirty="0" err="1"/>
              <a:t>Ramdas</a:t>
            </a:r>
            <a:r>
              <a:rPr lang="en-US" sz="2800" dirty="0"/>
              <a:t> and S. </a:t>
            </a:r>
            <a:r>
              <a:rPr lang="en-US" sz="2800" dirty="0" err="1"/>
              <a:t>Rogriguez</a:t>
            </a:r>
            <a:r>
              <a:rPr lang="en-US" sz="2800" dirty="0"/>
              <a:t>, Rep </a:t>
            </a:r>
            <a:r>
              <a:rPr lang="en-US" sz="2800" dirty="0" err="1"/>
              <a:t>Prog</a:t>
            </a:r>
            <a:r>
              <a:rPr lang="en-US" sz="2800" dirty="0"/>
              <a:t> Phys. </a:t>
            </a:r>
            <a:r>
              <a:rPr lang="en-US" sz="2800" b="1" dirty="0"/>
              <a:t>44</a:t>
            </a:r>
            <a:r>
              <a:rPr lang="en-US" sz="2800" dirty="0"/>
              <a:t>, 1297 (1981)</a:t>
            </a:r>
            <a:endParaRPr lang="it-IT" sz="2800" dirty="0"/>
          </a:p>
          <a:p>
            <a:pPr>
              <a:lnSpc>
                <a:spcPts val="3800"/>
              </a:lnSpc>
              <a:buClr>
                <a:schemeClr val="tx2"/>
              </a:buClr>
              <a:buFont typeface="+mj-lt"/>
              <a:buAutoNum type="arabicPeriod"/>
              <a:defRPr/>
            </a:pPr>
            <a:r>
              <a:rPr lang="fr-FR" sz="2800" dirty="0"/>
              <a:t>J.K. </a:t>
            </a:r>
            <a:r>
              <a:rPr lang="fr-FR" sz="2800" dirty="0" err="1"/>
              <a:t>Gamble</a:t>
            </a:r>
            <a:r>
              <a:rPr lang="fr-FR" sz="2800" dirty="0"/>
              <a:t> et al., Phys. </a:t>
            </a:r>
            <a:r>
              <a:rPr lang="fr-FR" sz="2800" dirty="0" err="1"/>
              <a:t>Rev</a:t>
            </a:r>
            <a:r>
              <a:rPr lang="fr-FR" sz="2800" dirty="0"/>
              <a:t>. B </a:t>
            </a:r>
            <a:r>
              <a:rPr lang="fr-FR" sz="2800" b="1" dirty="0"/>
              <a:t>91</a:t>
            </a:r>
            <a:r>
              <a:rPr lang="fr-FR" sz="2800" dirty="0"/>
              <a:t>, 235318 (2015)</a:t>
            </a:r>
          </a:p>
          <a:p>
            <a:pPr>
              <a:lnSpc>
                <a:spcPts val="3800"/>
              </a:lnSpc>
              <a:buClr>
                <a:schemeClr val="tx2"/>
              </a:buClr>
              <a:buFont typeface="+mj-lt"/>
              <a:buAutoNum type="arabicPeriod"/>
              <a:defRPr/>
            </a:pPr>
            <a:r>
              <a:rPr lang="fr-FR" sz="2800" dirty="0"/>
              <a:t> A.Q. </a:t>
            </a:r>
            <a:r>
              <a:rPr lang="fr-FR" sz="2800" dirty="0" err="1"/>
              <a:t>Sarker</a:t>
            </a:r>
            <a:r>
              <a:rPr lang="fr-FR" sz="2800" dirty="0"/>
              <a:t>, J. Phys. C </a:t>
            </a:r>
            <a:r>
              <a:rPr lang="fr-FR" sz="2800" b="1" dirty="0"/>
              <a:t>10</a:t>
            </a:r>
            <a:r>
              <a:rPr lang="fr-FR" sz="2800" dirty="0"/>
              <a:t> 2617 (1977)</a:t>
            </a:r>
            <a:r>
              <a:rPr lang="fr-FR" sz="2800" b="1" dirty="0"/>
              <a:t> </a:t>
            </a:r>
          </a:p>
          <a:p>
            <a:pPr>
              <a:lnSpc>
                <a:spcPts val="3800"/>
              </a:lnSpc>
              <a:buClr>
                <a:schemeClr val="tx2"/>
              </a:buClr>
              <a:buFont typeface="+mj-lt"/>
              <a:buAutoNum type="arabicPeriod"/>
              <a:defRPr/>
            </a:pPr>
            <a:r>
              <a:rPr lang="fr-FR" sz="2800" dirty="0"/>
              <a:t> M. Usman, et al., J. Phys.:</a:t>
            </a:r>
            <a:r>
              <a:rPr lang="fr-FR" sz="2800" dirty="0" err="1"/>
              <a:t>Condens</a:t>
            </a:r>
            <a:r>
              <a:rPr lang="fr-FR" sz="2800" dirty="0"/>
              <a:t>. </a:t>
            </a:r>
            <a:r>
              <a:rPr lang="fr-FR" sz="2800" dirty="0" err="1"/>
              <a:t>Matter</a:t>
            </a:r>
            <a:r>
              <a:rPr lang="fr-FR" sz="2800" dirty="0"/>
              <a:t> </a:t>
            </a:r>
            <a:r>
              <a:rPr lang="fr-FR" sz="2800" b="1" dirty="0"/>
              <a:t>27 </a:t>
            </a:r>
            <a:r>
              <a:rPr lang="fr-FR" sz="2800" dirty="0"/>
              <a:t>154207 (2015)</a:t>
            </a:r>
          </a:p>
          <a:p>
            <a:pPr>
              <a:lnSpc>
                <a:spcPts val="3800"/>
              </a:lnSpc>
              <a:buClr>
                <a:schemeClr val="tx2"/>
              </a:buClr>
              <a:buFont typeface="+mj-lt"/>
              <a:buAutoNum type="arabicPeriod"/>
              <a:defRPr/>
            </a:pPr>
            <a:r>
              <a:rPr lang="it-IT" sz="2800" dirty="0"/>
              <a:t> </a:t>
            </a:r>
            <a:r>
              <a:rPr lang="en-US" sz="2800" dirty="0"/>
              <a:t>K. </a:t>
            </a:r>
            <a:r>
              <a:rPr lang="en-US" sz="2800" dirty="0" err="1"/>
              <a:t>Shindo</a:t>
            </a:r>
            <a:r>
              <a:rPr lang="en-US" sz="2800" dirty="0"/>
              <a:t> and H. Nara, J. Phys. Soc. </a:t>
            </a:r>
            <a:r>
              <a:rPr lang="en-US" sz="2800" dirty="0" err="1"/>
              <a:t>Jpn</a:t>
            </a:r>
            <a:r>
              <a:rPr lang="en-US" sz="2800" dirty="0"/>
              <a:t>. </a:t>
            </a:r>
            <a:r>
              <a:rPr lang="en-US" sz="2800" b="1" dirty="0"/>
              <a:t>40</a:t>
            </a:r>
            <a:r>
              <a:rPr lang="en-US" sz="2800" dirty="0"/>
              <a:t>, 1640 (1970)</a:t>
            </a:r>
            <a:endParaRPr lang="en-US" sz="2800" b="1" dirty="0">
              <a:solidFill>
                <a:srgbClr val="005BBB"/>
              </a:solidFill>
              <a:latin typeface="Calibri" panose="020F0502020204030204" pitchFamily="34" charset="0"/>
              <a:ea typeface="Arial" charset="0"/>
              <a:cs typeface="Calibri" panose="020F0502020204030204" pitchFamily="34" charset="0"/>
            </a:endParaRPr>
          </a:p>
        </p:txBody>
      </p:sp>
      <p:sp>
        <p:nvSpPr>
          <p:cNvPr id="7" name="Introduction Textbox 1 2"/>
          <p:cNvSpPr txBox="1">
            <a:spLocks noChangeArrowheads="1"/>
          </p:cNvSpPr>
          <p:nvPr/>
        </p:nvSpPr>
        <p:spPr bwMode="auto">
          <a:xfrm>
            <a:off x="1371600" y="20398967"/>
            <a:ext cx="9224596" cy="7672229"/>
          </a:xfrm>
          <a:prstGeom prst="rect">
            <a:avLst/>
          </a:prstGeom>
          <a:solidFill>
            <a:schemeClr val="bg1">
              <a:alpha val="63000"/>
            </a:schemeClr>
          </a:solidFill>
          <a:ln>
            <a:noFill/>
          </a:ln>
          <a:effec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spcAft>
                <a:spcPts val="1200"/>
              </a:spcAft>
            </a:pPr>
            <a:r>
              <a:rPr lang="en-US" sz="4800" b="1" dirty="0">
                <a:solidFill>
                  <a:srgbClr val="005BBB"/>
                </a:solidFill>
                <a:latin typeface="+mn-lt"/>
                <a:cs typeface="Calibri" panose="020F0502020204030204" pitchFamily="34" charset="0"/>
              </a:rPr>
              <a:t>Background</a:t>
            </a:r>
          </a:p>
          <a:p>
            <a:pPr algn="just">
              <a:lnSpc>
                <a:spcPct val="120000"/>
              </a:lnSpc>
            </a:pPr>
            <a:r>
              <a:rPr lang="en-US" sz="2800" dirty="0">
                <a:latin typeface="+mn-lt"/>
              </a:rPr>
              <a:t>Descriptions of silicon donors that employ effective mass approximations often present an attractively intuitive physical picture of the state of the donor electron, while also less computationally expensive as compared to </a:t>
            </a:r>
            <a:r>
              <a:rPr lang="en-US" sz="2800" i="1" dirty="0">
                <a:latin typeface="+mn-lt"/>
              </a:rPr>
              <a:t>ab initio </a:t>
            </a:r>
            <a:r>
              <a:rPr lang="en-US" sz="2800" dirty="0">
                <a:latin typeface="+mn-lt"/>
              </a:rPr>
              <a:t>and tight-binding models. While this paradigm has been able to predict the energies of spatially extended excited states of donors [1,2], effective mass theories struggle to present a </a:t>
            </a:r>
            <a:r>
              <a:rPr lang="en-US" sz="2800" dirty="0" err="1">
                <a:latin typeface="+mn-lt"/>
              </a:rPr>
              <a:t>quantatively</a:t>
            </a:r>
            <a:r>
              <a:rPr lang="en-US" sz="2800" dirty="0">
                <a:latin typeface="+mn-lt"/>
              </a:rPr>
              <a:t> persuasive pictures of the ground state manifold. </a:t>
            </a:r>
            <a:r>
              <a:rPr lang="en-US" sz="2800" i="1" dirty="0">
                <a:latin typeface="+mn-lt"/>
              </a:rPr>
              <a:t>For the authors, it remains an open question if these difficulties can be resolved by incorporating additional phenomenological corrections or if they are evidence of a more fundamental breakdown of the effective mass approximation itself</a:t>
            </a:r>
            <a:r>
              <a:rPr lang="en-US" sz="2800" dirty="0">
                <a:latin typeface="+mn-lt"/>
              </a:rPr>
              <a:t>.</a:t>
            </a:r>
          </a:p>
        </p:txBody>
      </p:sp>
      <p:sp>
        <p:nvSpPr>
          <p:cNvPr id="172" name="References Textbox">
            <a:extLst>
              <a:ext uri="{FF2B5EF4-FFF2-40B4-BE49-F238E27FC236}">
                <a16:creationId xmlns:a16="http://schemas.microsoft.com/office/drawing/2014/main" id="{236A24D2-D0E7-0548-93C0-99FD325896F7}"/>
              </a:ext>
            </a:extLst>
          </p:cNvPr>
          <p:cNvSpPr txBox="1"/>
          <p:nvPr/>
        </p:nvSpPr>
        <p:spPr>
          <a:xfrm>
            <a:off x="33185100" y="28265295"/>
            <a:ext cx="9741714" cy="1193788"/>
          </a:xfrm>
          <a:prstGeom prst="rect">
            <a:avLst/>
          </a:prstGeom>
          <a:solidFill>
            <a:schemeClr val="bg1">
              <a:alpha val="63000"/>
            </a:schemeClr>
          </a:solidFill>
          <a:effectLst/>
        </p:spPr>
        <p:txBody>
          <a:bodyPr wrap="square">
            <a:spAutoFit/>
          </a:bodyPr>
          <a:lstStyle/>
          <a:p>
            <a:pPr>
              <a:lnSpc>
                <a:spcPts val="3800"/>
              </a:lnSpc>
              <a:spcAft>
                <a:spcPts val="1200"/>
              </a:spcAft>
              <a:buClr>
                <a:schemeClr val="tx2"/>
              </a:buClr>
              <a:defRPr/>
            </a:pPr>
            <a:r>
              <a:rPr lang="en-US" sz="4800" b="1" dirty="0">
                <a:solidFill>
                  <a:srgbClr val="005BBB"/>
                </a:solidFill>
              </a:rPr>
              <a:t>Acknowledgements</a:t>
            </a:r>
          </a:p>
          <a:p>
            <a:pPr>
              <a:lnSpc>
                <a:spcPts val="3800"/>
              </a:lnSpc>
              <a:spcAft>
                <a:spcPts val="1200"/>
              </a:spcAft>
              <a:buClr>
                <a:schemeClr val="tx2"/>
              </a:buClr>
              <a:defRPr/>
            </a:pPr>
            <a:r>
              <a:rPr lang="en-US" sz="2800" dirty="0">
                <a:ea typeface="Arial" charset="0"/>
                <a:cs typeface="Arial" charset="0"/>
              </a:rPr>
              <a:t>We thank financial support by US ARO via grant </a:t>
            </a:r>
            <a:r>
              <a:rPr lang="en-US" sz="2800" dirty="0"/>
              <a:t>W911NF1710257</a:t>
            </a:r>
            <a:r>
              <a:rPr lang="en-US" sz="2800" dirty="0">
                <a:ea typeface="Arial" charset="0"/>
                <a:cs typeface="Arial" charset="0"/>
              </a:rPr>
              <a:t>.</a:t>
            </a:r>
          </a:p>
        </p:txBody>
      </p:sp>
      <p:cxnSp>
        <p:nvCxnSpPr>
          <p:cNvPr id="243" name="Straight Connector 242" descr="Vertical Divider"/>
          <p:cNvCxnSpPr/>
          <p:nvPr/>
        </p:nvCxnSpPr>
        <p:spPr bwMode="auto">
          <a:xfrm>
            <a:off x="10972800" y="6675120"/>
            <a:ext cx="0" cy="22860000"/>
          </a:xfrm>
          <a:prstGeom prst="line">
            <a:avLst/>
          </a:prstGeom>
          <a:noFill/>
          <a:ln w="25400" cap="flat" cmpd="sng" algn="ctr">
            <a:solidFill>
              <a:schemeClr val="tx1"/>
            </a:solidFill>
            <a:prstDash val="dash"/>
            <a:round/>
            <a:headEnd type="oval" w="med" len="med"/>
            <a:tailEnd type="oval" w="med" len="med"/>
          </a:ln>
          <a:effectLst/>
        </p:spPr>
      </p:cxnSp>
      <p:cxnSp>
        <p:nvCxnSpPr>
          <p:cNvPr id="247" name="Horizontal Section Divider 1 2" descr="Horizontal Divider"/>
          <p:cNvCxnSpPr>
            <a:cxnSpLocks/>
          </p:cNvCxnSpPr>
          <p:nvPr/>
        </p:nvCxnSpPr>
        <p:spPr bwMode="auto">
          <a:xfrm>
            <a:off x="1463040" y="20169743"/>
            <a:ext cx="9133156" cy="0"/>
          </a:xfrm>
          <a:prstGeom prst="line">
            <a:avLst/>
          </a:prstGeom>
          <a:noFill/>
          <a:ln w="25400" cap="flat" cmpd="sng" algn="ctr">
            <a:solidFill>
              <a:schemeClr val="tx1"/>
            </a:solidFill>
            <a:prstDash val="dash"/>
            <a:round/>
            <a:headEnd type="none" w="med" len="med"/>
            <a:tailEnd type="none" w="med" len="med"/>
          </a:ln>
          <a:effectLst/>
        </p:spPr>
      </p:cxnSp>
      <p:cxnSp>
        <p:nvCxnSpPr>
          <p:cNvPr id="260" name="Straight Connector 259" descr="Vertical Divider"/>
          <p:cNvCxnSpPr/>
          <p:nvPr/>
        </p:nvCxnSpPr>
        <p:spPr bwMode="auto">
          <a:xfrm>
            <a:off x="32918400" y="6742380"/>
            <a:ext cx="0" cy="22860000"/>
          </a:xfrm>
          <a:prstGeom prst="line">
            <a:avLst/>
          </a:prstGeom>
          <a:noFill/>
          <a:ln w="25400" cap="flat" cmpd="sng" algn="ctr">
            <a:solidFill>
              <a:schemeClr val="tx1"/>
            </a:solidFill>
            <a:prstDash val="dash"/>
            <a:round/>
            <a:headEnd type="oval" w="med" len="med"/>
            <a:tailEnd type="oval" w="med" len="med"/>
          </a:ln>
          <a:effectLst/>
        </p:spPr>
      </p:cxnSp>
      <p:sp>
        <p:nvSpPr>
          <p:cNvPr id="447" name="Methods Textbox 1 3 2 1 2 2 1"/>
          <p:cNvSpPr txBox="1"/>
          <p:nvPr/>
        </p:nvSpPr>
        <p:spPr>
          <a:xfrm>
            <a:off x="33185100" y="6400800"/>
            <a:ext cx="9601200" cy="16565945"/>
          </a:xfrm>
          <a:prstGeom prst="rect">
            <a:avLst/>
          </a:prstGeom>
          <a:solidFill>
            <a:schemeClr val="bg1">
              <a:alpha val="63000"/>
            </a:schemeClr>
          </a:solidFill>
          <a:effectLst/>
        </p:spPr>
        <p:txBody>
          <a:bodyPr>
            <a:spAutoFit/>
          </a:bodyPr>
          <a:lstStyle/>
          <a:p>
            <a:pPr>
              <a:lnSpc>
                <a:spcPts val="4600"/>
              </a:lnSpc>
              <a:spcAft>
                <a:spcPts val="1200"/>
              </a:spcAft>
              <a:defRPr/>
            </a:pPr>
            <a:r>
              <a:rPr lang="en-US" sz="4800" b="1" dirty="0">
                <a:solidFill>
                  <a:srgbClr val="005BBB"/>
                </a:solidFill>
                <a:cs typeface="Calibri" panose="020F0502020204030204" pitchFamily="34" charset="0"/>
              </a:rPr>
              <a:t>Caveats and challenges</a:t>
            </a:r>
            <a:endParaRPr lang="en-US" sz="2800" dirty="0"/>
          </a:p>
          <a:p>
            <a:pPr marL="457200" indent="-457200" algn="just">
              <a:lnSpc>
                <a:spcPct val="120000"/>
              </a:lnSpc>
              <a:spcBef>
                <a:spcPts val="0"/>
              </a:spcBef>
              <a:spcAft>
                <a:spcPts val="1000"/>
              </a:spcAft>
              <a:buFont typeface="Arial" panose="020B0604020202020204" pitchFamily="34" charset="0"/>
              <a:buChar char="•"/>
              <a:defRPr/>
            </a:pPr>
            <a:r>
              <a:rPr lang="en-US" sz="2800" dirty="0"/>
              <a:t>The complete basis requires computations sums of numbers of alternating signs. Within floating point computations this can lead to substantial round off error.</a:t>
            </a:r>
          </a:p>
          <a:p>
            <a:pPr marL="457200" indent="-457200" algn="just">
              <a:lnSpc>
                <a:spcPct val="120000"/>
              </a:lnSpc>
              <a:spcBef>
                <a:spcPts val="0"/>
              </a:spcBef>
              <a:spcAft>
                <a:spcPts val="1000"/>
              </a:spcAft>
              <a:buFont typeface="Arial" panose="020B0604020202020204" pitchFamily="34" charset="0"/>
              <a:buChar char="•"/>
              <a:defRPr/>
            </a:pPr>
            <a:r>
              <a:rPr lang="en-US" sz="2800" dirty="0"/>
              <a:t>We perform these alternating sign computations symbolically using the python module </a:t>
            </a:r>
            <a:r>
              <a:rPr lang="en-US" sz="2800" dirty="0" err="1"/>
              <a:t>Sympy</a:t>
            </a:r>
            <a:r>
              <a:rPr lang="en-US" sz="2800" dirty="0"/>
              <a:t>. The results are then stored in an SQLite database to be retrieved by the C++ code at runtime.</a:t>
            </a:r>
          </a:p>
          <a:p>
            <a:pPr marL="457200" indent="-457200" algn="just">
              <a:lnSpc>
                <a:spcPct val="120000"/>
              </a:lnSpc>
              <a:spcBef>
                <a:spcPts val="0"/>
              </a:spcBef>
              <a:spcAft>
                <a:spcPts val="1000"/>
              </a:spcAft>
              <a:buFont typeface="Arial" panose="020B0604020202020204" pitchFamily="34" charset="0"/>
              <a:buChar char="•"/>
              <a:defRPr/>
            </a:pPr>
            <a:r>
              <a:rPr lang="en-US" sz="2800" dirty="0"/>
              <a:t>The </a:t>
            </a:r>
            <a:r>
              <a:rPr lang="en-US" sz="2800" dirty="0" err="1"/>
              <a:t>precalculation</a:t>
            </a:r>
            <a:r>
              <a:rPr lang="en-US" sz="2800" dirty="0"/>
              <a:t> of these coefficients symbolically does take substantial time, though fortunately this represents a one-time investment. </a:t>
            </a:r>
          </a:p>
          <a:p>
            <a:pPr marL="457200" indent="-457200" algn="just">
              <a:lnSpc>
                <a:spcPct val="120000"/>
              </a:lnSpc>
              <a:spcBef>
                <a:spcPts val="0"/>
              </a:spcBef>
              <a:spcAft>
                <a:spcPts val="1000"/>
              </a:spcAft>
              <a:buFont typeface="Arial" panose="020B0604020202020204" pitchFamily="34" charset="0"/>
              <a:buChar char="•"/>
              <a:defRPr/>
            </a:pPr>
            <a:r>
              <a:rPr lang="en-US" sz="2800" dirty="0"/>
              <a:t>Another factor is the size of the SQLite database – on the order of GBs. This makes network distribution difficult, and currently requires the user to assume computation and storage responsibilities.</a:t>
            </a:r>
          </a:p>
          <a:p>
            <a:pPr marL="457200" indent="-457200" algn="just">
              <a:lnSpc>
                <a:spcPct val="120000"/>
              </a:lnSpc>
              <a:spcBef>
                <a:spcPts val="0"/>
              </a:spcBef>
              <a:spcAft>
                <a:spcPts val="1000"/>
              </a:spcAft>
              <a:buFont typeface="Arial" panose="020B0604020202020204" pitchFamily="34" charset="0"/>
              <a:buChar char="•"/>
              <a:defRPr/>
            </a:pPr>
            <a:r>
              <a:rPr lang="en-US" sz="2800" dirty="0"/>
              <a:t>The current largest bottleneck within runtime is importation of the precalculated coefficients into memory. We are exploring if this bottleneck can be mitigated through other database solutions.</a:t>
            </a:r>
          </a:p>
          <a:p>
            <a:pPr marL="457200" indent="-457200" algn="just">
              <a:lnSpc>
                <a:spcPct val="120000"/>
              </a:lnSpc>
              <a:spcBef>
                <a:spcPts val="0"/>
              </a:spcBef>
              <a:spcAft>
                <a:spcPts val="1000"/>
              </a:spcAft>
              <a:buFont typeface="Arial" panose="020B0604020202020204" pitchFamily="34" charset="0"/>
              <a:buChar char="•"/>
              <a:defRPr/>
            </a:pPr>
            <a:r>
              <a:rPr lang="en-US" sz="2800" dirty="0"/>
              <a:t>Variational tuning of the code currently requires hand-tuning and recompilation. As such, hand-tuning of the parameters means not only recompilation, but the cumbersome reimportation of the precalculated coefficients. Earlier version of the project implemented an Artificial Bee Colony stochastic optimization algorithm for variational optimization, and we are currently working on reimplementing this code within the project to allow efficient variational optimization within runtime.</a:t>
            </a:r>
          </a:p>
          <a:p>
            <a:pPr marL="457200" indent="-457200" algn="just">
              <a:lnSpc>
                <a:spcPct val="120000"/>
              </a:lnSpc>
              <a:spcBef>
                <a:spcPts val="0"/>
              </a:spcBef>
              <a:spcAft>
                <a:spcPts val="1000"/>
              </a:spcAft>
              <a:buFont typeface="Arial" panose="020B0604020202020204" pitchFamily="34" charset="0"/>
              <a:buChar char="•"/>
              <a:defRPr/>
            </a:pPr>
            <a:r>
              <a:rPr lang="en-US" sz="2800" dirty="0"/>
              <a:t>We are eagerly seeking critique of this project, and hope to find collaborators.</a:t>
            </a:r>
          </a:p>
        </p:txBody>
      </p:sp>
      <p:cxnSp>
        <p:nvCxnSpPr>
          <p:cNvPr id="502" name="Horizontal Section Divider 6 2" descr="Horizontal Divider"/>
          <p:cNvCxnSpPr/>
          <p:nvPr/>
        </p:nvCxnSpPr>
        <p:spPr bwMode="auto">
          <a:xfrm>
            <a:off x="33101280" y="27856300"/>
            <a:ext cx="9784080" cy="0"/>
          </a:xfrm>
          <a:prstGeom prst="line">
            <a:avLst/>
          </a:prstGeom>
          <a:noFill/>
          <a:ln w="25400" cap="flat" cmpd="sng" algn="ctr">
            <a:solidFill>
              <a:schemeClr val="tx1"/>
            </a:solidFill>
            <a:prstDash val="dash"/>
            <a:round/>
            <a:headEnd type="none" w="med" len="med"/>
            <a:tailEnd type="none" w="med" len="med"/>
          </a:ln>
          <a:effectLst/>
        </p:spPr>
      </p:cxnSp>
      <p:cxnSp>
        <p:nvCxnSpPr>
          <p:cNvPr id="171" name="Straight Connector 170" descr="Vertical Divider">
            <a:extLst>
              <a:ext uri="{FF2B5EF4-FFF2-40B4-BE49-F238E27FC236}">
                <a16:creationId xmlns:a16="http://schemas.microsoft.com/office/drawing/2014/main" id="{F4EE3990-A0A4-4C96-BC25-39FBAE3FDCCE}"/>
              </a:ext>
            </a:extLst>
          </p:cNvPr>
          <p:cNvCxnSpPr>
            <a:cxnSpLocks/>
          </p:cNvCxnSpPr>
          <p:nvPr/>
        </p:nvCxnSpPr>
        <p:spPr bwMode="auto">
          <a:xfrm>
            <a:off x="21945600" y="6742380"/>
            <a:ext cx="0" cy="11583720"/>
          </a:xfrm>
          <a:prstGeom prst="line">
            <a:avLst/>
          </a:prstGeom>
          <a:noFill/>
          <a:ln w="25400" cap="flat" cmpd="sng" algn="ctr">
            <a:solidFill>
              <a:schemeClr val="tx1"/>
            </a:solidFill>
            <a:prstDash val="dash"/>
            <a:round/>
            <a:headEnd type="oval" w="med" len="med"/>
            <a:tailEnd type="oval" w="med" len="med"/>
          </a:ln>
          <a:effectLst/>
        </p:spPr>
      </p:cxnSp>
      <p:grpSp>
        <p:nvGrpSpPr>
          <p:cNvPr id="217" name="Group 216">
            <a:extLst>
              <a:ext uri="{FF2B5EF4-FFF2-40B4-BE49-F238E27FC236}">
                <a16:creationId xmlns:a16="http://schemas.microsoft.com/office/drawing/2014/main" id="{B88D018C-66BE-496B-879A-8654B34E9760}"/>
              </a:ext>
            </a:extLst>
          </p:cNvPr>
          <p:cNvGrpSpPr/>
          <p:nvPr/>
        </p:nvGrpSpPr>
        <p:grpSpPr>
          <a:xfrm>
            <a:off x="11812407" y="18492579"/>
            <a:ext cx="20266387" cy="10257552"/>
            <a:chOff x="11723191" y="18340179"/>
            <a:chExt cx="20266387" cy="10257552"/>
          </a:xfrm>
        </p:grpSpPr>
        <mc:AlternateContent xmlns:mc="http://schemas.openxmlformats.org/markup-compatibility/2006" xmlns:a14="http://schemas.microsoft.com/office/drawing/2010/main">
          <mc:Choice Requires="a14">
            <p:sp>
              <p:nvSpPr>
                <p:cNvPr id="202" name="Introduction Textbox 1 1 1">
                  <a:extLst>
                    <a:ext uri="{FF2B5EF4-FFF2-40B4-BE49-F238E27FC236}">
                      <a16:creationId xmlns:a16="http://schemas.microsoft.com/office/drawing/2014/main" id="{62B65E2E-32EB-40BD-B4EF-AFF6F7498C34}"/>
                    </a:ext>
                  </a:extLst>
                </p:cNvPr>
                <p:cNvSpPr txBox="1">
                  <a:spLocks noChangeArrowheads="1"/>
                </p:cNvSpPr>
                <p:nvPr/>
              </p:nvSpPr>
              <p:spPr bwMode="auto">
                <a:xfrm>
                  <a:off x="11723191" y="18340179"/>
                  <a:ext cx="20266387" cy="10257552"/>
                </a:xfrm>
                <a:prstGeom prst="rect">
                  <a:avLst/>
                </a:prstGeom>
                <a:noFill/>
                <a:ln>
                  <a:noFill/>
                </a:ln>
                <a:effec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spcAft>
                      <a:spcPts val="1200"/>
                    </a:spcAft>
                  </a:pPr>
                  <a:r>
                    <a:rPr lang="en-US" sz="4800" b="1" dirty="0">
                      <a:solidFill>
                        <a:srgbClr val="005BBB"/>
                      </a:solidFill>
                      <a:latin typeface="+mn-lt"/>
                      <a:cs typeface="Calibri" panose="020F0502020204030204" pitchFamily="34" charset="0"/>
                    </a:rPr>
                    <a:t>Flexible Potential Model</a:t>
                  </a:r>
                </a:p>
                <a:p>
                  <a:pPr algn="just">
                    <a:lnSpc>
                      <a:spcPct val="120000"/>
                    </a:lnSpc>
                  </a:pPr>
                  <a:endParaRPr lang="en-US" sz="2800" dirty="0">
                    <a:latin typeface="+mn-lt"/>
                  </a:endParaRPr>
                </a:p>
                <a:p>
                  <a:pPr algn="just">
                    <a:lnSpc>
                      <a:spcPct val="120000"/>
                    </a:lnSpc>
                  </a:pPr>
                  <a:endParaRPr lang="en-US" sz="2800" dirty="0">
                    <a:latin typeface="+mn-lt"/>
                  </a:endParaRPr>
                </a:p>
                <a:p>
                  <a:pPr algn="just">
                    <a:lnSpc>
                      <a:spcPct val="120000"/>
                    </a:lnSpc>
                  </a:pPr>
                  <a:endParaRPr lang="en-US" sz="2800" dirty="0">
                    <a:latin typeface="+mn-lt"/>
                  </a:endParaRPr>
                </a:p>
                <a:p>
                  <a:pPr algn="just">
                    <a:lnSpc>
                      <a:spcPct val="120000"/>
                    </a:lnSpc>
                  </a:pPr>
                  <a:endParaRPr lang="en-US" sz="2800" dirty="0">
                    <a:latin typeface="+mn-lt"/>
                  </a:endParaRPr>
                </a:p>
                <a:p>
                  <a:pPr algn="just">
                    <a:lnSpc>
                      <a:spcPct val="120000"/>
                    </a:lnSpc>
                  </a:pPr>
                  <a:endParaRPr lang="en-US" sz="2800" dirty="0">
                    <a:latin typeface="+mn-lt"/>
                  </a:endParaRPr>
                </a:p>
                <a:p>
                  <a:pPr algn="just">
                    <a:lnSpc>
                      <a:spcPct val="120000"/>
                    </a:lnSpc>
                  </a:pPr>
                  <a:endParaRPr lang="en-US" sz="2800" dirty="0">
                    <a:latin typeface="+mn-lt"/>
                  </a:endParaRPr>
                </a:p>
                <a:p>
                  <a:pPr algn="just">
                    <a:lnSpc>
                      <a:spcPct val="120000"/>
                    </a:lnSpc>
                  </a:pPr>
                  <a:endParaRPr lang="en-US" sz="2800" dirty="0">
                    <a:latin typeface="+mn-lt"/>
                  </a:endParaRPr>
                </a:p>
                <a:p>
                  <a:pPr algn="just">
                    <a:lnSpc>
                      <a:spcPct val="120000"/>
                    </a:lnSpc>
                  </a:pPr>
                  <a:endParaRPr lang="en-US" sz="2800" dirty="0">
                    <a:latin typeface="+mn-lt"/>
                  </a:endParaRPr>
                </a:p>
                <a:p>
                  <a:pPr algn="just">
                    <a:lnSpc>
                      <a:spcPct val="120000"/>
                    </a:lnSpc>
                  </a:pPr>
                  <a:endParaRPr lang="en-US" sz="2800" dirty="0">
                    <a:latin typeface="+mn-lt"/>
                  </a:endParaRPr>
                </a:p>
                <a:p>
                  <a:pPr algn="just">
                    <a:lnSpc>
                      <a:spcPct val="120000"/>
                    </a:lnSpc>
                  </a:pPr>
                  <a:endParaRPr lang="en-US" sz="2800" dirty="0">
                    <a:latin typeface="+mn-lt"/>
                  </a:endParaRPr>
                </a:p>
                <a:p>
                  <a:pPr marL="457200" indent="-457200" algn="just">
                    <a:lnSpc>
                      <a:spcPct val="120000"/>
                    </a:lnSpc>
                    <a:buFont typeface="Arial" panose="020B0604020202020204" pitchFamily="34" charset="0"/>
                    <a:buChar char="•"/>
                  </a:pPr>
                  <a:r>
                    <a:rPr lang="en-US" sz="2800" dirty="0">
                      <a:latin typeface="+mn-lt"/>
                    </a:rPr>
                    <a:t>To facilitate deep exploration of the effective model, we wanted our code to have a very general potential model. To this end, we have implemented the above equation into our software. </a:t>
                  </a:r>
                </a:p>
                <a:p>
                  <a:pPr marL="457200" indent="-457200" algn="just">
                    <a:lnSpc>
                      <a:spcPct val="120000"/>
                    </a:lnSpc>
                    <a:buFont typeface="Arial" panose="020B0604020202020204" pitchFamily="34" charset="0"/>
                    <a:buChar char="•"/>
                  </a:pPr>
                  <a:r>
                    <a:rPr lang="en-US" sz="2800" b="1" dirty="0">
                      <a:latin typeface="+mn-lt"/>
                    </a:rPr>
                    <a:t>The fraktur letters represent [mostly complex] constants that can be set by users of the software. </a:t>
                  </a:r>
                </a:p>
                <a:p>
                  <a:pPr marL="457200" indent="-457200" algn="just">
                    <a:lnSpc>
                      <a:spcPct val="120000"/>
                    </a:lnSpc>
                    <a:buFont typeface="Arial" panose="020B0604020202020204" pitchFamily="34" charset="0"/>
                    <a:buChar char="•"/>
                  </a:pPr>
                  <a:r>
                    <a:rPr lang="en-US" sz="2800" dirty="0">
                      <a:latin typeface="+mn-lt"/>
                    </a:rPr>
                    <a:t>This includes constants such as the radial exponent </a:t>
                  </a:r>
                  <a14:m>
                    <m:oMath xmlns:m="http://schemas.openxmlformats.org/officeDocument/2006/math">
                      <m:r>
                        <a:rPr lang="en-US" sz="2800" b="1" i="1" smtClean="0">
                          <a:latin typeface="Cambria Math" panose="02040503050406030204" pitchFamily="18" charset="0"/>
                        </a:rPr>
                        <m:t>𝖊</m:t>
                      </m:r>
                    </m:oMath>
                  </a14:m>
                  <a:r>
                    <a:rPr lang="en-US" sz="2800" b="0" dirty="0">
                      <a:latin typeface="+mn-lt"/>
                    </a:rPr>
                    <a:t> or the polynomial coefficients </a:t>
                  </a:r>
                  <a14:m>
                    <m:oMath xmlns:m="http://schemas.openxmlformats.org/officeDocument/2006/math">
                      <m:r>
                        <a:rPr lang="en-US" sz="2800" b="1" i="1" smtClean="0">
                          <a:latin typeface="Cambria Math" panose="02040503050406030204" pitchFamily="18" charset="0"/>
                        </a:rPr>
                        <m:t>𝖋</m:t>
                      </m:r>
                    </m:oMath>
                  </a14:m>
                  <a:r>
                    <a:rPr lang="en-US" sz="2800" dirty="0">
                      <a:latin typeface="+mn-lt"/>
                    </a:rPr>
                    <a:t>. This potential form can be used to represent most extant models of the effective silicon donor potential, such as the potential used by Gamble [4] and the dynamic dielectric model [5,6].</a:t>
                  </a:r>
                </a:p>
                <a:p>
                  <a:pPr algn="just">
                    <a:lnSpc>
                      <a:spcPct val="120000"/>
                    </a:lnSpc>
                  </a:pPr>
                  <a:endParaRPr lang="en-US" sz="2800" b="0" dirty="0">
                    <a:latin typeface="+mn-lt"/>
                  </a:endParaRPr>
                </a:p>
                <a:p>
                  <a:pPr algn="just">
                    <a:lnSpc>
                      <a:spcPct val="120000"/>
                    </a:lnSpc>
                  </a:pPr>
                  <a:endParaRPr lang="en-US" sz="2800" dirty="0">
                    <a:latin typeface="Century Gothic" panose="020B0502020202020204" pitchFamily="34" charset="0"/>
                  </a:endParaRPr>
                </a:p>
                <a:p>
                  <a:pPr algn="just">
                    <a:lnSpc>
                      <a:spcPct val="120000"/>
                    </a:lnSpc>
                  </a:pPr>
                  <a:endParaRPr lang="en-US" sz="2800" dirty="0">
                    <a:latin typeface="+mn-lt"/>
                  </a:endParaRPr>
                </a:p>
              </p:txBody>
            </p:sp>
          </mc:Choice>
          <mc:Fallback xmlns="">
            <p:sp>
              <p:nvSpPr>
                <p:cNvPr id="202" name="Introduction Textbox 1 1 1">
                  <a:extLst>
                    <a:ext uri="{FF2B5EF4-FFF2-40B4-BE49-F238E27FC236}">
                      <a16:creationId xmlns:a16="http://schemas.microsoft.com/office/drawing/2014/main" id="{62B65E2E-32EB-40BD-B4EF-AFF6F7498C34}"/>
                    </a:ext>
                  </a:extLst>
                </p:cNvPr>
                <p:cNvSpPr txBox="1">
                  <a:spLocks noRot="1" noChangeAspect="1" noMove="1" noResize="1" noEditPoints="1" noAdjustHandles="1" noChangeArrowheads="1" noChangeShapeType="1" noTextEdit="1"/>
                </p:cNvSpPr>
                <p:nvPr/>
              </p:nvSpPr>
              <p:spPr bwMode="auto">
                <a:xfrm>
                  <a:off x="11723191" y="18340179"/>
                  <a:ext cx="20266387" cy="10257552"/>
                </a:xfrm>
                <a:prstGeom prst="rect">
                  <a:avLst/>
                </a:prstGeom>
                <a:blipFill>
                  <a:blip r:embed="rId19"/>
                  <a:stretch>
                    <a:fillRect l="-1384" t="-1308" r="-632"/>
                  </a:stretch>
                </a:blipFill>
                <a:ln>
                  <a:noFill/>
                </a:ln>
                <a:effectLst/>
              </p:spPr>
              <p:txBody>
                <a:bodyPr/>
                <a:lstStyle/>
                <a:p>
                  <a:r>
                    <a:rPr lang="en-US">
                      <a:noFill/>
                    </a:rPr>
                    <a:t> </a:t>
                  </a:r>
                </a:p>
              </p:txBody>
            </p:sp>
          </mc:Fallback>
        </mc:AlternateContent>
        <p:pic>
          <p:nvPicPr>
            <p:cNvPr id="101" name="Picture 100" descr="\documentclass{article}&#10;\usepackage{amsmath,bm,eufrak}&#10;\pagestyle{empty}&#10;\begin{document}&#10;&#10;\begin{align*}&#10;U_{\left\{\bm{r}\right\}}&#10;&amp; =&#10;\sum_{i}&#10;\mathfrak{U}_{i}&#10;r^{\mathfrak{e}_{i}}&#10;\sum_{j}&#10;\mathcal{U}_{ij\left\{\Omega\right\}}&#10;\mathrm{e}^{-\alpha_{ij\left\{\Omega\right\}}r}&#10;\mathrm{e}^{-\beta_{ij\left\{\Omega\right\}}r^{2}}&#10;\end{align*}&#10;&#10;\end{document}" title="IguanaTex Bitmap Display">
              <a:extLst>
                <a:ext uri="{FF2B5EF4-FFF2-40B4-BE49-F238E27FC236}">
                  <a16:creationId xmlns:a16="http://schemas.microsoft.com/office/drawing/2014/main" id="{DE39A285-3009-4DE4-812F-4019327E3C61}"/>
                </a:ext>
              </a:extLst>
            </p:cNvPr>
            <p:cNvPicPr>
              <a:picLocks noChangeAspect="1"/>
            </p:cNvPicPr>
            <p:nvPr>
              <p:custDataLst>
                <p:tags r:id="rId12"/>
              </p:custDataLst>
            </p:nvPr>
          </p:nvPicPr>
          <p:blipFill>
            <a:blip r:embed="rId20"/>
            <a:stretch>
              <a:fillRect/>
            </a:stretch>
          </p:blipFill>
          <p:spPr>
            <a:xfrm>
              <a:off x="14793373" y="19512356"/>
              <a:ext cx="14304455" cy="1741105"/>
            </a:xfrm>
            <a:prstGeom prst="rect">
              <a:avLst/>
            </a:prstGeom>
          </p:spPr>
        </p:pic>
        <p:pic>
          <p:nvPicPr>
            <p:cNvPr id="96" name="Picture 95" descr="\documentclass{article}&#10;\usepackage{amsmath,bm,eufrak}&#10;\pagestyle{empty}&#10;\begin{document}&#10;&#10;\begin{equation*}&#10;\chi_{x} = \frac{x}{r} = \sin(\theta)\cos(\phi) \quad\quad&#10;\chi_{y} = \frac{y}{r} = \sin(\theta)\sin(\phi) \quad\quad&#10;\chi_{z} = \frac{z}{r} = \cos(\theta)&#10;\end{equation*}&#10;&#10;\end{document} " title="IguanaTex Bitmap Display">
              <a:extLst>
                <a:ext uri="{FF2B5EF4-FFF2-40B4-BE49-F238E27FC236}">
                  <a16:creationId xmlns:a16="http://schemas.microsoft.com/office/drawing/2014/main" id="{569A36CC-5967-4358-9F02-EE55D2600278}"/>
                </a:ext>
              </a:extLst>
            </p:cNvPr>
            <p:cNvPicPr>
              <a:picLocks noChangeAspect="1"/>
            </p:cNvPicPr>
            <p:nvPr>
              <p:custDataLst>
                <p:tags r:id="rId13"/>
              </p:custDataLst>
            </p:nvPr>
          </p:nvPicPr>
          <p:blipFill>
            <a:blip r:embed="rId21"/>
            <a:stretch>
              <a:fillRect/>
            </a:stretch>
          </p:blipFill>
          <p:spPr>
            <a:xfrm>
              <a:off x="12212268" y="22983665"/>
              <a:ext cx="19466665" cy="1146667"/>
            </a:xfrm>
            <a:prstGeom prst="rect">
              <a:avLst/>
            </a:prstGeom>
          </p:spPr>
        </p:pic>
        <p:pic>
          <p:nvPicPr>
            <p:cNvPr id="105" name="Picture 104" descr="\documentclass{article}&#10;\usepackage{amsmath,bm,eufrak}&#10;\pagestyle{empty}&#10;\begin{document}&#10;&#10;\begin{align*}&#10;\mathcal{F}_{ij\left\{\Omega\right\}}&#10;&amp; =&#10;\mathfrak{f}_{ij,0}&#10;+&#10;\mathfrak{f}_{ij,x}&#10;\chi_{x}&#10;+&#10;\mathfrak{f}_{ij,y}&#10;\chi_{y}&#10;+&#10;\mathfrak{f}_{ij,z}&#10;\chi_{z}&#10;+&#10;\mathfrak{f}_{ij,x^{2}}&#10;\chi_{x}^{2}&#10;+&#10;\mathfrak{f}_{ij,y^{2}}&#10;\chi_{y}^{2}&#10;+&#10;\mathfrak{f}_{ij,z^{2}}&#10;\chi_{z}^{2}&#10;\end{align*}&#10;&#10;\end{document}" title="IguanaTex Bitmap Display">
              <a:extLst>
                <a:ext uri="{FF2B5EF4-FFF2-40B4-BE49-F238E27FC236}">
                  <a16:creationId xmlns:a16="http://schemas.microsoft.com/office/drawing/2014/main" id="{CDF0977A-6477-4FB5-8E85-78815F08C2CC}"/>
                </a:ext>
              </a:extLst>
            </p:cNvPr>
            <p:cNvPicPr>
              <a:picLocks noChangeAspect="1"/>
            </p:cNvPicPr>
            <p:nvPr>
              <p:custDataLst>
                <p:tags r:id="rId14"/>
              </p:custDataLst>
            </p:nvPr>
          </p:nvPicPr>
          <p:blipFill>
            <a:blip r:embed="rId22"/>
            <a:stretch>
              <a:fillRect/>
            </a:stretch>
          </p:blipFill>
          <p:spPr>
            <a:xfrm>
              <a:off x="12221789" y="21716658"/>
              <a:ext cx="19447623" cy="803811"/>
            </a:xfrm>
            <a:prstGeom prst="rect">
              <a:avLst/>
            </a:prstGeom>
          </p:spPr>
        </p:pic>
      </p:grpSp>
      <p:cxnSp>
        <p:nvCxnSpPr>
          <p:cNvPr id="185" name="Horizontal Section Divider 6 1 3" descr="Horizontal Divider">
            <a:extLst>
              <a:ext uri="{FF2B5EF4-FFF2-40B4-BE49-F238E27FC236}">
                <a16:creationId xmlns:a16="http://schemas.microsoft.com/office/drawing/2014/main" id="{326B75C9-D153-4410-956E-34974BE02DB5}"/>
              </a:ext>
            </a:extLst>
          </p:cNvPr>
          <p:cNvCxnSpPr>
            <a:cxnSpLocks/>
          </p:cNvCxnSpPr>
          <p:nvPr/>
        </p:nvCxnSpPr>
        <p:spPr bwMode="auto">
          <a:xfrm>
            <a:off x="11622530" y="18340943"/>
            <a:ext cx="20646140" cy="0"/>
          </a:xfrm>
          <a:prstGeom prst="line">
            <a:avLst/>
          </a:prstGeom>
          <a:noFill/>
          <a:ln w="25400" cap="flat" cmpd="sng" algn="ctr">
            <a:solidFill>
              <a:schemeClr val="tx1"/>
            </a:solidFill>
            <a:prstDash val="dash"/>
            <a:round/>
            <a:headEnd type="none" w="med" len="med"/>
            <a:tailEnd type="none" w="med" len="med"/>
          </a:ln>
          <a:effectLst/>
        </p:spPr>
      </p:cxnSp>
      <p:sp>
        <p:nvSpPr>
          <p:cNvPr id="197" name="Title 68 2">
            <a:extLst>
              <a:ext uri="{FF2B5EF4-FFF2-40B4-BE49-F238E27FC236}">
                <a16:creationId xmlns:a16="http://schemas.microsoft.com/office/drawing/2014/main" id="{9B580CA9-EE87-412E-B9C1-EDAB9ADCC565}"/>
              </a:ext>
            </a:extLst>
          </p:cNvPr>
          <p:cNvSpPr txBox="1">
            <a:spLocks/>
          </p:cNvSpPr>
          <p:nvPr/>
        </p:nvSpPr>
        <p:spPr>
          <a:xfrm>
            <a:off x="12221793" y="3277929"/>
            <a:ext cx="19447614" cy="1323439"/>
          </a:xfrm>
          <a:prstGeom prst="rect">
            <a:avLst/>
          </a:prstGeom>
        </p:spPr>
        <p:txBody>
          <a:bodyPr wrap="square">
            <a:spAutoFit/>
          </a:bodyPr>
          <a:lstStyle>
            <a:lvl1pPr algn="l" defTabSz="914400" rtl="0" eaLnBrk="1" latinLnBrk="0" hangingPunct="1">
              <a:lnSpc>
                <a:spcPct val="90000"/>
              </a:lnSpc>
              <a:spcBef>
                <a:spcPct val="0"/>
              </a:spcBef>
              <a:buNone/>
              <a:defRPr sz="8800" kern="1200">
                <a:solidFill>
                  <a:schemeClr val="bg1"/>
                </a:solidFill>
                <a:latin typeface="+mj-lt"/>
                <a:ea typeface="+mj-ea"/>
                <a:cs typeface="+mj-cs"/>
              </a:defRPr>
            </a:lvl1pPr>
          </a:lstStyle>
          <a:p>
            <a:pPr algn="ctr" defTabSz="3686861">
              <a:lnSpc>
                <a:spcPct val="100000"/>
              </a:lnSpc>
              <a:spcBef>
                <a:spcPts val="0"/>
              </a:spcBef>
              <a:defRPr/>
            </a:pPr>
            <a:r>
              <a:rPr lang="en-US" altLang="en-US" sz="8000" dirty="0">
                <a:solidFill>
                  <a:srgbClr val="FFFFFF"/>
                </a:solidFill>
                <a:latin typeface="Calibri" panose="020F0502020204030204" pitchFamily="34" charset="0"/>
                <a:ea typeface="Arial" charset="0"/>
                <a:cs typeface="Calibri" panose="020F0502020204030204" pitchFamily="34" charset="0"/>
              </a:rPr>
              <a:t>https://gitlab.com/cantankerous-impurity</a:t>
            </a:r>
            <a:endParaRPr lang="en-US" sz="8000" dirty="0"/>
          </a:p>
        </p:txBody>
      </p:sp>
      <mc:AlternateContent xmlns:mc="http://schemas.openxmlformats.org/markup-compatibility/2006" xmlns:a14="http://schemas.microsoft.com/office/drawing/2010/main">
        <mc:Choice Requires="a14">
          <p:sp>
            <p:nvSpPr>
              <p:cNvPr id="205" name="Introduction Textbox 1 1 2">
                <a:extLst>
                  <a:ext uri="{FF2B5EF4-FFF2-40B4-BE49-F238E27FC236}">
                    <a16:creationId xmlns:a16="http://schemas.microsoft.com/office/drawing/2014/main" id="{EC63686C-B639-4846-8E9D-9056C82EB03C}"/>
                  </a:ext>
                </a:extLst>
              </p:cNvPr>
              <p:cNvSpPr txBox="1">
                <a:spLocks noChangeArrowheads="1"/>
              </p:cNvSpPr>
              <p:nvPr/>
            </p:nvSpPr>
            <p:spPr bwMode="auto">
              <a:xfrm>
                <a:off x="11327770" y="6605094"/>
                <a:ext cx="10286997" cy="10324108"/>
              </a:xfrm>
              <a:prstGeom prst="rect">
                <a:avLst/>
              </a:prstGeom>
              <a:noFill/>
              <a:ln>
                <a:noFill/>
              </a:ln>
              <a:effec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spcAft>
                    <a:spcPts val="1200"/>
                  </a:spcAft>
                </a:pPr>
                <a:r>
                  <a:rPr lang="en-US" sz="4800" b="1" dirty="0">
                    <a:solidFill>
                      <a:srgbClr val="005BBB"/>
                    </a:solidFill>
                    <a:latin typeface="+mn-lt"/>
                    <a:cs typeface="Calibri" panose="020F0502020204030204" pitchFamily="34" charset="0"/>
                  </a:rPr>
                  <a:t>Complete, Extensible Basis</a:t>
                </a:r>
              </a:p>
              <a:p>
                <a:pPr marL="457200" indent="-457200" algn="just">
                  <a:lnSpc>
                    <a:spcPct val="120000"/>
                  </a:lnSpc>
                  <a:buFont typeface="Arial" panose="020B0604020202020204" pitchFamily="34" charset="0"/>
                  <a:buChar char="•"/>
                </a:pPr>
                <a:r>
                  <a:rPr lang="en-US" sz="2800" dirty="0">
                    <a:latin typeface="+mn-lt"/>
                  </a:rPr>
                  <a:t>Underlying basis </a:t>
                </a:r>
                <a:r>
                  <a:rPr lang="en-US" sz="2800" b="1" i="1" dirty="0">
                    <a:latin typeface="+mn-lt"/>
                  </a:rPr>
                  <a:t>orthonormal</a:t>
                </a:r>
                <a:r>
                  <a:rPr lang="en-US" sz="2800" dirty="0">
                    <a:latin typeface="+mn-lt"/>
                  </a:rPr>
                  <a:t>, </a:t>
                </a:r>
                <a:r>
                  <a:rPr lang="en-US" sz="2800" b="1" i="1" dirty="0">
                    <a:solidFill>
                      <a:srgbClr val="001B4C"/>
                    </a:solidFill>
                    <a:latin typeface="+mn-lt"/>
                  </a:rPr>
                  <a:t>fully complete</a:t>
                </a:r>
                <a:r>
                  <a:rPr lang="en-US" sz="2800" dirty="0">
                    <a:solidFill>
                      <a:srgbClr val="001B4C"/>
                    </a:solidFill>
                    <a:latin typeface="+mn-lt"/>
                  </a:rPr>
                  <a:t> </a:t>
                </a:r>
                <a:r>
                  <a:rPr lang="en-US" sz="2800" dirty="0">
                    <a:latin typeface="+mn-lt"/>
                  </a:rPr>
                  <a:t>over </a:t>
                </a:r>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𝐿</m:t>
                        </m:r>
                      </m:e>
                      <m:sup>
                        <m:r>
                          <a:rPr lang="en-US" sz="2800" b="0" i="1" smtClean="0">
                            <a:latin typeface="Cambria Math" panose="02040503050406030204" pitchFamily="18" charset="0"/>
                          </a:rPr>
                          <m:t>2</m:t>
                        </m:r>
                      </m:sup>
                    </m:sSup>
                    <m:d>
                      <m:dPr>
                        <m:ctrlPr>
                          <a:rPr lang="en-US" sz="2800" b="0" i="1" smtClean="0">
                            <a:latin typeface="Cambria Math" panose="02040503050406030204" pitchFamily="18" charset="0"/>
                          </a:rPr>
                        </m:ctrlPr>
                      </m:dPr>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ℝ</m:t>
                            </m:r>
                          </m:e>
                          <m:sup>
                            <m:r>
                              <a:rPr lang="en-US" sz="2800" b="0" i="1" smtClean="0">
                                <a:latin typeface="Cambria Math" panose="02040503050406030204" pitchFamily="18" charset="0"/>
                              </a:rPr>
                              <m:t>3</m:t>
                            </m:r>
                          </m:sup>
                        </m:sSup>
                      </m:e>
                    </m:d>
                  </m:oMath>
                </a14:m>
                <a:r>
                  <a:rPr lang="en-US" sz="2800" b="0" dirty="0">
                    <a:latin typeface="+mn-lt"/>
                  </a:rPr>
                  <a:t>.</a:t>
                </a:r>
              </a:p>
              <a:p>
                <a:pPr marL="457200" indent="-457200" algn="just">
                  <a:lnSpc>
                    <a:spcPct val="120000"/>
                  </a:lnSpc>
                  <a:buFont typeface="Arial" panose="020B0604020202020204" pitchFamily="34" charset="0"/>
                  <a:buChar char="•"/>
                </a:pPr>
                <a:r>
                  <a:rPr lang="en-US" sz="2800" dirty="0">
                    <a:latin typeface="+mn-lt"/>
                  </a:rPr>
                  <a:t>Solid angle expansion in spherical harmonics.</a:t>
                </a:r>
              </a:p>
              <a:p>
                <a:pPr marL="457200" indent="-457200" algn="just">
                  <a:lnSpc>
                    <a:spcPct val="120000"/>
                  </a:lnSpc>
                  <a:buFont typeface="Arial" panose="020B0604020202020204" pitchFamily="34" charset="0"/>
                  <a:buChar char="•"/>
                </a:pPr>
                <a:r>
                  <a:rPr lang="en-US" sz="2800" b="0" dirty="0">
                    <a:latin typeface="+mn-lt"/>
                  </a:rPr>
                  <a:t>Radial expansion in Laguerre polynomials.</a:t>
                </a:r>
              </a:p>
              <a:p>
                <a:pPr marL="457200" lvl="0" indent="-457200" algn="just">
                  <a:lnSpc>
                    <a:spcPct val="120000"/>
                  </a:lnSpc>
                  <a:buFont typeface="Arial" panose="020B0604020202020204" pitchFamily="34" charset="0"/>
                  <a:buChar char="•"/>
                </a:pPr>
                <a:r>
                  <a:rPr lang="en-US" sz="2800" dirty="0">
                    <a:solidFill>
                      <a:srgbClr val="666666"/>
                    </a:solidFill>
                    <a:latin typeface="Calibri"/>
                    <a:ea typeface="+mn-ea"/>
                  </a:rPr>
                  <a:t>Basis can utilize Slater- or Gaussian type exponential decay.</a:t>
                </a:r>
              </a:p>
              <a:p>
                <a:pPr marL="457200" indent="-457200" algn="just">
                  <a:lnSpc>
                    <a:spcPct val="120000"/>
                  </a:lnSpc>
                  <a:buFont typeface="Arial" panose="020B0604020202020204" pitchFamily="34" charset="0"/>
                  <a:buChar char="•"/>
                </a:pPr>
                <a:endParaRPr lang="en-US" sz="2800" b="0" dirty="0">
                  <a:latin typeface="+mn-lt"/>
                </a:endParaRPr>
              </a:p>
              <a:p>
                <a:pPr marL="457200" indent="-457200" algn="just">
                  <a:lnSpc>
                    <a:spcPct val="120000"/>
                  </a:lnSpc>
                  <a:buFont typeface="Arial" panose="020B0604020202020204" pitchFamily="34" charset="0"/>
                  <a:buChar char="•"/>
                </a:pPr>
                <a:endParaRPr lang="en-US" sz="2800" b="0" dirty="0">
                  <a:latin typeface="+mn-lt"/>
                </a:endParaRPr>
              </a:p>
              <a:p>
                <a:pPr algn="just">
                  <a:lnSpc>
                    <a:spcPct val="120000"/>
                  </a:lnSpc>
                </a:pPr>
                <a:endParaRPr lang="en-US" sz="2800" b="0" dirty="0">
                  <a:latin typeface="+mn-lt"/>
                </a:endParaRPr>
              </a:p>
              <a:p>
                <a:pPr marL="457200" indent="-457200" algn="just">
                  <a:lnSpc>
                    <a:spcPct val="120000"/>
                  </a:lnSpc>
                  <a:buFont typeface="Arial" panose="020B0604020202020204" pitchFamily="34" charset="0"/>
                  <a:buChar char="•"/>
                </a:pPr>
                <a:endParaRPr lang="en-US" sz="2800" dirty="0">
                  <a:solidFill>
                    <a:srgbClr val="666666"/>
                  </a:solidFill>
                  <a:latin typeface="+mn-lt"/>
                  <a:ea typeface="+mn-ea"/>
                </a:endParaRPr>
              </a:p>
              <a:p>
                <a:pPr marL="457200" indent="-457200" algn="just">
                  <a:lnSpc>
                    <a:spcPct val="120000"/>
                  </a:lnSpc>
                  <a:buFont typeface="Arial" panose="020B0604020202020204" pitchFamily="34" charset="0"/>
                  <a:buChar char="•"/>
                </a:pPr>
                <a:r>
                  <a:rPr lang="en-US" sz="2800" dirty="0">
                    <a:solidFill>
                      <a:srgbClr val="666666"/>
                    </a:solidFill>
                    <a:latin typeface="+mn-lt"/>
                    <a:ea typeface="+mn-ea"/>
                  </a:rPr>
                  <a:t>Tuning </a:t>
                </a:r>
                <a:r>
                  <a:rPr lang="en-US" sz="2800" dirty="0">
                    <a:latin typeface="+mn-lt"/>
                  </a:rPr>
                  <a:t>introduces anisotropy along particular direction, overall radial scaling.</a:t>
                </a:r>
              </a:p>
              <a:p>
                <a:pPr marL="457200" indent="-457200" algn="just">
                  <a:lnSpc>
                    <a:spcPct val="120000"/>
                  </a:lnSpc>
                  <a:buFont typeface="Arial" panose="020B0604020202020204" pitchFamily="34" charset="0"/>
                  <a:buChar char="•"/>
                </a:pPr>
                <a:r>
                  <a:rPr lang="en-US" sz="2800" dirty="0">
                    <a:latin typeface="+mn-lt"/>
                  </a:rPr>
                  <a:t>Bloch functions of valley minima are included as Fourier series.</a:t>
                </a:r>
              </a:p>
              <a:p>
                <a:pPr marL="457200" indent="-457200" algn="just">
                  <a:lnSpc>
                    <a:spcPct val="120000"/>
                  </a:lnSpc>
                  <a:buFont typeface="Arial" panose="020B0604020202020204" pitchFamily="34" charset="0"/>
                  <a:buChar char="•"/>
                </a:pPr>
                <a:endParaRPr lang="en-US" sz="2800" dirty="0">
                  <a:latin typeface="+mn-lt"/>
                </a:endParaRPr>
              </a:p>
              <a:p>
                <a:pPr marL="457200" indent="-457200" algn="just">
                  <a:lnSpc>
                    <a:spcPct val="120000"/>
                  </a:lnSpc>
                  <a:buFont typeface="Arial" panose="020B0604020202020204" pitchFamily="34" charset="0"/>
                  <a:buChar char="•"/>
                </a:pPr>
                <a:endParaRPr lang="en-US" sz="2800" dirty="0">
                  <a:latin typeface="+mn-lt"/>
                </a:endParaRPr>
              </a:p>
              <a:p>
                <a:pPr marL="457200" lvl="0" indent="-457200" algn="just">
                  <a:lnSpc>
                    <a:spcPct val="120000"/>
                  </a:lnSpc>
                  <a:buFont typeface="Arial" panose="020B0604020202020204" pitchFamily="34" charset="0"/>
                  <a:buChar char="•"/>
                </a:pPr>
                <a:endParaRPr lang="en-US" sz="2800" dirty="0">
                  <a:solidFill>
                    <a:srgbClr val="666666"/>
                  </a:solidFill>
                  <a:latin typeface="Calibri"/>
                  <a:ea typeface="+mn-ea"/>
                </a:endParaRPr>
              </a:p>
              <a:p>
                <a:pPr marL="457200" lvl="0" indent="-457200" algn="just">
                  <a:lnSpc>
                    <a:spcPct val="120000"/>
                  </a:lnSpc>
                  <a:buFont typeface="Arial" panose="020B0604020202020204" pitchFamily="34" charset="0"/>
                  <a:buChar char="•"/>
                </a:pPr>
                <a:endParaRPr lang="en-US" sz="2800" dirty="0">
                  <a:solidFill>
                    <a:srgbClr val="666666"/>
                  </a:solidFill>
                  <a:latin typeface="Calibri"/>
                  <a:ea typeface="+mn-ea"/>
                </a:endParaRPr>
              </a:p>
              <a:p>
                <a:pPr marL="457200" lvl="0" indent="-457200" algn="just">
                  <a:lnSpc>
                    <a:spcPct val="120000"/>
                  </a:lnSpc>
                  <a:buFont typeface="Arial" panose="020B0604020202020204" pitchFamily="34" charset="0"/>
                  <a:buChar char="•"/>
                </a:pPr>
                <a:r>
                  <a:rPr lang="en-US" sz="2800" dirty="0">
                    <a:solidFill>
                      <a:srgbClr val="666666"/>
                    </a:solidFill>
                    <a:latin typeface="Calibri"/>
                    <a:ea typeface="+mn-ea"/>
                  </a:rPr>
                  <a:t>Use multiple orthonormal subbases individually equipped with tuning parameters to robustly capture spectrum.</a:t>
                </a:r>
                <a:endParaRPr lang="en-US" sz="2800" dirty="0">
                  <a:latin typeface="+mn-lt"/>
                </a:endParaRPr>
              </a:p>
              <a:p>
                <a:pPr marL="457200" indent="-457200" algn="just">
                  <a:lnSpc>
                    <a:spcPct val="120000"/>
                  </a:lnSpc>
                  <a:buFont typeface="Arial" panose="020B0604020202020204" pitchFamily="34" charset="0"/>
                  <a:buChar char="•"/>
                </a:pPr>
                <a:r>
                  <a:rPr lang="en-US" sz="2800" b="1" dirty="0">
                    <a:latin typeface="+mn-lt"/>
                  </a:rPr>
                  <a:t>Users can freely select composition of each basis.</a:t>
                </a:r>
              </a:p>
            </p:txBody>
          </p:sp>
        </mc:Choice>
        <mc:Fallback xmlns="">
          <p:sp>
            <p:nvSpPr>
              <p:cNvPr id="205" name="Introduction Textbox 1 1 2">
                <a:extLst>
                  <a:ext uri="{FF2B5EF4-FFF2-40B4-BE49-F238E27FC236}">
                    <a16:creationId xmlns:a16="http://schemas.microsoft.com/office/drawing/2014/main" id="{EC63686C-B639-4846-8E9D-9056C82EB03C}"/>
                  </a:ext>
                </a:extLst>
              </p:cNvPr>
              <p:cNvSpPr txBox="1">
                <a:spLocks noRot="1" noChangeAspect="1" noMove="1" noResize="1" noEditPoints="1" noAdjustHandles="1" noChangeArrowheads="1" noChangeShapeType="1" noTextEdit="1"/>
              </p:cNvSpPr>
              <p:nvPr/>
            </p:nvSpPr>
            <p:spPr bwMode="auto">
              <a:xfrm>
                <a:off x="11327770" y="6605094"/>
                <a:ext cx="10286997" cy="10324108"/>
              </a:xfrm>
              <a:prstGeom prst="rect">
                <a:avLst/>
              </a:prstGeom>
              <a:blipFill>
                <a:blip r:embed="rId23"/>
                <a:stretch>
                  <a:fillRect l="-2666" t="-1299" r="-1185" b="-768"/>
                </a:stretch>
              </a:blipFill>
              <a:ln>
                <a:noFill/>
              </a:ln>
              <a:effectLst/>
            </p:spPr>
            <p:txBody>
              <a:bodyPr/>
              <a:lstStyle/>
              <a:p>
                <a:r>
                  <a:rPr lang="en-US">
                    <a:noFill/>
                  </a:rPr>
                  <a:t> </a:t>
                </a:r>
              </a:p>
            </p:txBody>
          </p:sp>
        </mc:Fallback>
      </mc:AlternateContent>
      <p:sp>
        <p:nvSpPr>
          <p:cNvPr id="242" name="Introduction Textbox 1 1 3">
            <a:extLst>
              <a:ext uri="{FF2B5EF4-FFF2-40B4-BE49-F238E27FC236}">
                <a16:creationId xmlns:a16="http://schemas.microsoft.com/office/drawing/2014/main" id="{111513BF-B6C5-4459-ACBA-B05160C1B488}"/>
              </a:ext>
            </a:extLst>
          </p:cNvPr>
          <p:cNvSpPr txBox="1">
            <a:spLocks noChangeArrowheads="1"/>
          </p:cNvSpPr>
          <p:nvPr/>
        </p:nvSpPr>
        <p:spPr bwMode="auto">
          <a:xfrm>
            <a:off x="22322207" y="6685928"/>
            <a:ext cx="10286995" cy="11291681"/>
          </a:xfrm>
          <a:prstGeom prst="rect">
            <a:avLst/>
          </a:prstGeom>
          <a:noFill/>
          <a:ln>
            <a:noFill/>
          </a:ln>
          <a:effec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spcAft>
                <a:spcPts val="1200"/>
              </a:spcAft>
            </a:pPr>
            <a:r>
              <a:rPr lang="en-US" sz="4800" b="1" dirty="0">
                <a:solidFill>
                  <a:srgbClr val="005BBB"/>
                </a:solidFill>
                <a:latin typeface="+mn-lt"/>
                <a:cs typeface="Calibri" panose="020F0502020204030204" pitchFamily="34" charset="0"/>
              </a:rPr>
              <a:t>Full Accounting of Symmetry</a:t>
            </a:r>
            <a:endParaRPr lang="en-US" sz="2800" dirty="0">
              <a:latin typeface="Century Gothic" panose="020B0502020202020204" pitchFamily="34" charset="0"/>
            </a:endParaRPr>
          </a:p>
          <a:p>
            <a:pPr marL="457200" indent="-457200" algn="just">
              <a:lnSpc>
                <a:spcPct val="120000"/>
              </a:lnSpc>
              <a:buFont typeface="Arial" panose="020B0604020202020204" pitchFamily="34" charset="0"/>
              <a:buChar char="•"/>
            </a:pPr>
            <a:r>
              <a:rPr lang="en-US" sz="2800" dirty="0">
                <a:latin typeface="+mn-lt"/>
              </a:rPr>
              <a:t>Basis functions are symmetrized according to T</a:t>
            </a:r>
            <a:r>
              <a:rPr lang="en-US" sz="2800" baseline="-25000" dirty="0">
                <a:latin typeface="+mn-lt"/>
              </a:rPr>
              <a:t>d</a:t>
            </a:r>
            <a:r>
              <a:rPr lang="en-US" sz="2800" dirty="0">
                <a:latin typeface="+mn-lt"/>
              </a:rPr>
              <a:t> symmetry of silicon. Forms for </a:t>
            </a:r>
            <a:r>
              <a:rPr lang="en-US" sz="2800" i="1" dirty="0">
                <a:latin typeface="+mn-lt"/>
              </a:rPr>
              <a:t>A</a:t>
            </a:r>
            <a:r>
              <a:rPr lang="en-US" sz="2800" i="1" baseline="-25000" dirty="0">
                <a:latin typeface="+mn-lt"/>
              </a:rPr>
              <a:t>2</a:t>
            </a:r>
            <a:r>
              <a:rPr lang="en-US" sz="2800" dirty="0">
                <a:latin typeface="+mn-lt"/>
              </a:rPr>
              <a:t> and </a:t>
            </a:r>
            <a:r>
              <a:rPr lang="en-US" sz="2800" i="1" dirty="0">
                <a:latin typeface="+mn-lt"/>
              </a:rPr>
              <a:t>T</a:t>
            </a:r>
            <a:r>
              <a:rPr lang="en-US" sz="2800" i="1" baseline="-25000" dirty="0">
                <a:latin typeface="+mn-lt"/>
              </a:rPr>
              <a:t>1</a:t>
            </a:r>
            <a:r>
              <a:rPr lang="en-US" sz="2800" dirty="0">
                <a:latin typeface="+mn-lt"/>
              </a:rPr>
              <a:t> are also known.</a:t>
            </a:r>
          </a:p>
          <a:p>
            <a:pPr marL="457200" indent="-457200" algn="just">
              <a:lnSpc>
                <a:spcPct val="120000"/>
              </a:lnSpc>
              <a:buFont typeface="Arial" panose="020B0604020202020204" pitchFamily="34" charset="0"/>
              <a:buChar char="•"/>
            </a:pPr>
            <a:endParaRPr lang="en-US" sz="2800" dirty="0">
              <a:latin typeface="+mn-lt"/>
            </a:endParaRPr>
          </a:p>
          <a:p>
            <a:pPr marL="457200" indent="-457200" algn="just">
              <a:lnSpc>
                <a:spcPct val="120000"/>
              </a:lnSpc>
              <a:buFont typeface="Arial" panose="020B0604020202020204" pitchFamily="34" charset="0"/>
              <a:buChar char="•"/>
            </a:pPr>
            <a:endParaRPr lang="en-US" sz="2800" dirty="0">
              <a:latin typeface="+mn-lt"/>
            </a:endParaRPr>
          </a:p>
          <a:p>
            <a:pPr marL="457200" indent="-457200" algn="just">
              <a:lnSpc>
                <a:spcPct val="120000"/>
              </a:lnSpc>
              <a:buFont typeface="Arial" panose="020B0604020202020204" pitchFamily="34" charset="0"/>
              <a:buChar char="•"/>
            </a:pPr>
            <a:endParaRPr lang="en-US" sz="2800" dirty="0">
              <a:latin typeface="+mn-lt"/>
            </a:endParaRPr>
          </a:p>
          <a:p>
            <a:pPr marL="457200" indent="-457200" algn="just">
              <a:lnSpc>
                <a:spcPct val="120000"/>
              </a:lnSpc>
              <a:buFont typeface="Arial" panose="020B0604020202020204" pitchFamily="34" charset="0"/>
              <a:buChar char="•"/>
            </a:pPr>
            <a:endParaRPr lang="en-US" sz="2800" dirty="0">
              <a:latin typeface="+mn-lt"/>
            </a:endParaRPr>
          </a:p>
          <a:p>
            <a:pPr marL="457200" indent="-457200" algn="just">
              <a:lnSpc>
                <a:spcPct val="120000"/>
              </a:lnSpc>
              <a:buFont typeface="Arial" panose="020B0604020202020204" pitchFamily="34" charset="0"/>
              <a:buChar char="•"/>
            </a:pPr>
            <a:endParaRPr lang="en-US" sz="2800" dirty="0">
              <a:latin typeface="+mn-lt"/>
            </a:endParaRPr>
          </a:p>
          <a:p>
            <a:pPr marL="457200" indent="-457200" algn="just">
              <a:lnSpc>
                <a:spcPct val="120000"/>
              </a:lnSpc>
              <a:buFont typeface="Arial" panose="020B0604020202020204" pitchFamily="34" charset="0"/>
              <a:buChar char="•"/>
            </a:pPr>
            <a:endParaRPr lang="en-US" sz="2800" dirty="0">
              <a:latin typeface="+mn-lt"/>
            </a:endParaRPr>
          </a:p>
          <a:p>
            <a:pPr marL="457200" indent="-457200" algn="just">
              <a:lnSpc>
                <a:spcPct val="120000"/>
              </a:lnSpc>
              <a:buFont typeface="Arial" panose="020B0604020202020204" pitchFamily="34" charset="0"/>
              <a:buChar char="•"/>
            </a:pPr>
            <a:endParaRPr lang="en-US" sz="2800" dirty="0">
              <a:latin typeface="+mn-lt"/>
            </a:endParaRPr>
          </a:p>
          <a:p>
            <a:pPr marL="457200" indent="-457200" algn="just">
              <a:lnSpc>
                <a:spcPct val="120000"/>
              </a:lnSpc>
              <a:buFont typeface="Arial" panose="020B0604020202020204" pitchFamily="34" charset="0"/>
              <a:buChar char="•"/>
            </a:pPr>
            <a:endParaRPr lang="en-US" sz="2800" dirty="0">
              <a:latin typeface="+mn-lt"/>
            </a:endParaRPr>
          </a:p>
          <a:p>
            <a:pPr marL="457200" indent="-457200" algn="just">
              <a:lnSpc>
                <a:spcPct val="120000"/>
              </a:lnSpc>
              <a:buFont typeface="Arial" panose="020B0604020202020204" pitchFamily="34" charset="0"/>
              <a:buChar char="•"/>
            </a:pPr>
            <a:endParaRPr lang="en-US" sz="2800" dirty="0">
              <a:latin typeface="+mn-lt"/>
            </a:endParaRPr>
          </a:p>
          <a:p>
            <a:pPr marL="457200" indent="-457200" algn="just">
              <a:lnSpc>
                <a:spcPct val="120000"/>
              </a:lnSpc>
              <a:buFont typeface="Arial" panose="020B0604020202020204" pitchFamily="34" charset="0"/>
              <a:buChar char="•"/>
            </a:pPr>
            <a:endParaRPr lang="en-US" sz="2800" dirty="0">
              <a:latin typeface="+mn-lt"/>
            </a:endParaRPr>
          </a:p>
          <a:p>
            <a:pPr marL="457200" indent="-457200" algn="just">
              <a:lnSpc>
                <a:spcPct val="120000"/>
              </a:lnSpc>
              <a:buFont typeface="Arial" panose="020B0604020202020204" pitchFamily="34" charset="0"/>
              <a:buChar char="•"/>
            </a:pPr>
            <a:endParaRPr lang="en-US" sz="2800" dirty="0">
              <a:latin typeface="+mn-lt"/>
            </a:endParaRPr>
          </a:p>
          <a:p>
            <a:pPr marL="457200" indent="-457200" algn="just">
              <a:lnSpc>
                <a:spcPct val="120000"/>
              </a:lnSpc>
              <a:buFont typeface="Arial" panose="020B0604020202020204" pitchFamily="34" charset="0"/>
              <a:buChar char="•"/>
            </a:pPr>
            <a:endParaRPr lang="en-US" sz="2800" dirty="0">
              <a:latin typeface="+mn-lt"/>
            </a:endParaRPr>
          </a:p>
          <a:p>
            <a:pPr marL="457200" indent="-457200" algn="just">
              <a:lnSpc>
                <a:spcPct val="120000"/>
              </a:lnSpc>
              <a:buFont typeface="Arial" panose="020B0604020202020204" pitchFamily="34" charset="0"/>
              <a:buChar char="•"/>
            </a:pPr>
            <a:endParaRPr lang="en-US" sz="2800" dirty="0">
              <a:latin typeface="+mn-lt"/>
            </a:endParaRPr>
          </a:p>
          <a:p>
            <a:pPr marL="457200" indent="-457200" algn="just">
              <a:lnSpc>
                <a:spcPct val="120000"/>
              </a:lnSpc>
              <a:buFont typeface="Arial" panose="020B0604020202020204" pitchFamily="34" charset="0"/>
              <a:buChar char="•"/>
            </a:pPr>
            <a:r>
              <a:rPr lang="en-US" sz="2800" b="1" dirty="0">
                <a:latin typeface="+mn-lt"/>
              </a:rPr>
              <a:t>User specified potentials can be decomposed by symmetry at runtime. </a:t>
            </a:r>
          </a:p>
          <a:p>
            <a:pPr marL="457200" indent="-457200" algn="just">
              <a:lnSpc>
                <a:spcPct val="120000"/>
              </a:lnSpc>
              <a:buFont typeface="Arial" panose="020B0604020202020204" pitchFamily="34" charset="0"/>
              <a:buChar char="•"/>
            </a:pPr>
            <a:endParaRPr lang="en-US" sz="2800" dirty="0">
              <a:latin typeface="+mn-lt"/>
            </a:endParaRPr>
          </a:p>
          <a:p>
            <a:pPr marL="457200" indent="-457200" algn="just">
              <a:lnSpc>
                <a:spcPct val="120000"/>
              </a:lnSpc>
              <a:buFont typeface="Arial" panose="020B0604020202020204" pitchFamily="34" charset="0"/>
              <a:buChar char="•"/>
            </a:pPr>
            <a:r>
              <a:rPr lang="en-US" sz="2800" dirty="0">
                <a:latin typeface="+mn-lt"/>
              </a:rPr>
              <a:t>Selection rules for all symmetries are analytically known, but have not yet been implemented in code. </a:t>
            </a:r>
          </a:p>
        </p:txBody>
      </p:sp>
      <p:pic>
        <p:nvPicPr>
          <p:cNvPr id="161" name="Picture 160" descr="\documentclass{article}&#10;\usepackage{amsmath,bm,eufrak}&#10;\pagestyle{empty}&#10;\begin{document}&#10;&#10;\begin{equation*}&#10;\Omega = \pm 1 \\&#10;\end{equation*}&#10;&#10;\end{document} " title="IguanaTex Bitmap Display">
            <a:extLst>
              <a:ext uri="{FF2B5EF4-FFF2-40B4-BE49-F238E27FC236}">
                <a16:creationId xmlns:a16="http://schemas.microsoft.com/office/drawing/2014/main" id="{C3E4DA7F-6EAF-4118-A513-8ACE40E89E9C}"/>
              </a:ext>
            </a:extLst>
          </p:cNvPr>
          <p:cNvPicPr>
            <a:picLocks noChangeAspect="1"/>
          </p:cNvPicPr>
          <p:nvPr>
            <p:custDataLst>
              <p:tags r:id="rId1"/>
            </p:custDataLst>
          </p:nvPr>
        </p:nvPicPr>
        <p:blipFill>
          <a:blip r:embed="rId24"/>
          <a:stretch>
            <a:fillRect/>
          </a:stretch>
        </p:blipFill>
        <p:spPr>
          <a:xfrm>
            <a:off x="15902735" y="14861015"/>
            <a:ext cx="1137067" cy="249600"/>
          </a:xfrm>
          <a:prstGeom prst="rect">
            <a:avLst/>
          </a:prstGeom>
          <a:solidFill>
            <a:srgbClr val="FFFFFF"/>
          </a:solidFill>
        </p:spPr>
      </p:pic>
      <p:grpSp>
        <p:nvGrpSpPr>
          <p:cNvPr id="159" name="Group 158">
            <a:extLst>
              <a:ext uri="{FF2B5EF4-FFF2-40B4-BE49-F238E27FC236}">
                <a16:creationId xmlns:a16="http://schemas.microsoft.com/office/drawing/2014/main" id="{515ECA4D-0630-4BDD-8899-19387C037375}"/>
              </a:ext>
            </a:extLst>
          </p:cNvPr>
          <p:cNvGrpSpPr/>
          <p:nvPr/>
        </p:nvGrpSpPr>
        <p:grpSpPr>
          <a:xfrm>
            <a:off x="11395002" y="9843777"/>
            <a:ext cx="10152533" cy="1734628"/>
            <a:chOff x="11395002" y="9843777"/>
            <a:chExt cx="10152533" cy="1734628"/>
          </a:xfrm>
        </p:grpSpPr>
        <p:pic>
          <p:nvPicPr>
            <p:cNvPr id="132" name="Picture 131" descr="\documentclass{article}&#10;\usepackage{amsmath,bm,eufrak}&#10;\pagestyle{empty}&#10;\begin{document}&#10;&#10;\begin{equation*}&#10;\varphi_{m\zeta lk}^{(W)}&#10;= &#10;\sqrt{W}&#10;r^{l}&#10;\exp\left(-\frac{r^{W}}{2}\right)&#10;\hat{L}_{k\left\{r^{W}\right\}}^{\left(\frac{2l+3}{W}-1\right)}&#10;\left(&#10;\frac{\hat{Y}_{l}^{+m}+\zeta\hat{Y}_{l}^{-m}}&#10;{2\delta_{m0} + \sqrt{2}\left(1-\delta_{m0}\right)}&#10;\right)&#10;\end{equation*}&#10;&#10;\end{document} " title="IguanaTex Bitmap Display">
              <a:extLst>
                <a:ext uri="{FF2B5EF4-FFF2-40B4-BE49-F238E27FC236}">
                  <a16:creationId xmlns:a16="http://schemas.microsoft.com/office/drawing/2014/main" id="{228526CA-79A4-40A1-9DA2-FA06225396F7}"/>
                </a:ext>
              </a:extLst>
            </p:cNvPr>
            <p:cNvPicPr>
              <a:picLocks noChangeAspect="1"/>
            </p:cNvPicPr>
            <p:nvPr>
              <p:custDataLst>
                <p:tags r:id="rId10"/>
              </p:custDataLst>
            </p:nvPr>
          </p:nvPicPr>
          <p:blipFill>
            <a:blip r:embed="rId25"/>
            <a:stretch>
              <a:fillRect/>
            </a:stretch>
          </p:blipFill>
          <p:spPr>
            <a:xfrm>
              <a:off x="11624000" y="9843777"/>
              <a:ext cx="9670400" cy="1062400"/>
            </a:xfrm>
            <a:prstGeom prst="rect">
              <a:avLst/>
            </a:prstGeom>
          </p:spPr>
        </p:pic>
        <p:pic>
          <p:nvPicPr>
            <p:cNvPr id="158" name="Picture 157" descr="\documentclass{article}&#10;\usepackage{amsmath,bm,eufrak}&#10;\pagestyle{empty}&#10;\begin{document}&#10;&#10;\begin{equation*}&#10;m = 0, 1, 2, \ldots \quad&#10;\zeta = \pm 1 \quad&#10;l = m, m+1, m+2, \ldots \quad&#10;k = 0, 1, 2, \ldots&#10;\end{equation*}&#10;&#10;\end{document} " title="IguanaTex Bitmap Display">
              <a:extLst>
                <a:ext uri="{FF2B5EF4-FFF2-40B4-BE49-F238E27FC236}">
                  <a16:creationId xmlns:a16="http://schemas.microsoft.com/office/drawing/2014/main" id="{5254AA3E-FEFD-4DA8-A5AF-EFEC60A4CE46}"/>
                </a:ext>
              </a:extLst>
            </p:cNvPr>
            <p:cNvPicPr>
              <a:picLocks noChangeAspect="1"/>
            </p:cNvPicPr>
            <p:nvPr>
              <p:custDataLst>
                <p:tags r:id="rId11"/>
              </p:custDataLst>
            </p:nvPr>
          </p:nvPicPr>
          <p:blipFill>
            <a:blip r:embed="rId26"/>
            <a:stretch>
              <a:fillRect/>
            </a:stretch>
          </p:blipFill>
          <p:spPr>
            <a:xfrm>
              <a:off x="11395002" y="11258405"/>
              <a:ext cx="10152533" cy="320000"/>
            </a:xfrm>
            <a:prstGeom prst="rect">
              <a:avLst/>
            </a:prstGeom>
            <a:noFill/>
          </p:spPr>
        </p:pic>
      </p:grpSp>
      <p:pic>
        <p:nvPicPr>
          <p:cNvPr id="155" name="Picture 154" descr="\documentclass{article}&#10;\usepackage{amsmath,bm}&#10;\pagestyle{empty}&#10;\begin{document}&#10;&#10;\begin{equation*}&#10;\Phi_{\lambda\eta;mlk,\zeta\Omega}^{(Wq)}&#10;=&#10;\sqrt{\lambda\left(\frac{2}{W\eta}\right)^{3}}&#10;\left(&#10;\varphi_{m\zeta lk}^{(W)}&#10;\right|_{\substack{r \rightarrow 2r/W\eta \\ z \rightarrow \lambda z \\ z \rightarrow q:\left\{x,y,z\right\}}}&#10;\left(&#10;\frac&#10;{\mathrm{e}^{\mathrm{i}\bm{k}_q\cdot \bm{r}}u_{\bm{k}_q}&#10;+ \Omega\mathrm{e}^{-\mathrm{i}\bm{k}_q\cdot \bm{r}}u_{-\bm{k}_q}}&#10;{\sqrt{2}}&#10;\right)&#10;\end{equation*}&#10;&#10;\end{document}" title="IguanaTex Bitmap Display">
            <a:extLst>
              <a:ext uri="{FF2B5EF4-FFF2-40B4-BE49-F238E27FC236}">
                <a16:creationId xmlns:a16="http://schemas.microsoft.com/office/drawing/2014/main" id="{EA13EE7D-1C21-4ED8-A04D-6A719A255266}"/>
              </a:ext>
            </a:extLst>
          </p:cNvPr>
          <p:cNvPicPr>
            <a:picLocks noChangeAspect="1"/>
          </p:cNvPicPr>
          <p:nvPr>
            <p:custDataLst>
              <p:tags r:id="rId2"/>
            </p:custDataLst>
          </p:nvPr>
        </p:nvPicPr>
        <p:blipFill>
          <a:blip r:embed="rId27"/>
          <a:stretch>
            <a:fillRect/>
          </a:stretch>
        </p:blipFill>
        <p:spPr>
          <a:xfrm>
            <a:off x="11805392" y="13524209"/>
            <a:ext cx="9698743" cy="1120914"/>
          </a:xfrm>
          <a:prstGeom prst="rect">
            <a:avLst/>
          </a:prstGeom>
          <a:noFill/>
          <a:ln>
            <a:noFill/>
          </a:ln>
        </p:spPr>
      </p:pic>
      <p:pic>
        <p:nvPicPr>
          <p:cNvPr id="253" name="Picture 252" descr="\documentclass{article}&#10;\usepackage{amsmath,bm}&#10;\pagestyle{empty}&#10;\begin{document}&#10;&#10;\begin{equation*}&#10;\Psi_{A_{1}}&#10;=&#10;\sum_{m_{e}lk}&#10;c_{m_{e}lk}&#10;\sum_{q = x,y,z}&#10;\left(\frac{1}{\sqrt{3}}\right)&#10;\Phi_{m_{e}lk,\left(\zeta=\mathrm{i}^{m_{e}}\right)\left(\Omega=\mathrm{i}^{m_{e}}(-1)^{l}\right)}^{(q)}&#10;\end{equation*}&#10;&#10;\end{document}" title="IguanaTex Bitmap Display">
            <a:extLst>
              <a:ext uri="{FF2B5EF4-FFF2-40B4-BE49-F238E27FC236}">
                <a16:creationId xmlns:a16="http://schemas.microsoft.com/office/drawing/2014/main" id="{E1187A1C-6A7B-42A6-A4C1-5860B39BE6AF}"/>
              </a:ext>
            </a:extLst>
          </p:cNvPr>
          <p:cNvPicPr>
            <a:picLocks noChangeAspect="1"/>
          </p:cNvPicPr>
          <p:nvPr>
            <p:custDataLst>
              <p:tags r:id="rId3"/>
            </p:custDataLst>
          </p:nvPr>
        </p:nvPicPr>
        <p:blipFill>
          <a:blip r:embed="rId28"/>
          <a:stretch>
            <a:fillRect/>
          </a:stretch>
        </p:blipFill>
        <p:spPr>
          <a:xfrm>
            <a:off x="22822857" y="8798159"/>
            <a:ext cx="9218285" cy="1046857"/>
          </a:xfrm>
          <a:prstGeom prst="rect">
            <a:avLst/>
          </a:prstGeom>
        </p:spPr>
      </p:pic>
      <p:pic>
        <p:nvPicPr>
          <p:cNvPr id="200" name="Picture 199" descr="\documentclass{article}&#10;\usepackage{amsmath,bm}&#10;\pagestyle{empty}&#10;\begin{document}&#10;&#10;\begin{equation*}&#10;\Psi_{E_{n}}&#10;=&#10;\sum_{m_{e}lk\sigma}&#10;c_{m_{e}lk\sigma}&#10;\sum_{q = x,y,z}&#10;\left(\beta_{E_{n}}^{(\sigma)}\right)_{q}&#10;\Phi_{m_{e}lk,\left(\zeta=\sigma\mathrm{i}^{m_{e}}\right)\left(\Omega=\sigma\mathrm{i}^{m_{e}}(-1)^{l}\right)}^{(q)}&#10;\end{equation*}&#10;\begin{equation*}&#10;\bm{\beta}_{E_{1}}^{(\sigma)}&#10;=&#10;\mathrm{i}^{\frac{1-\sigma}{2}}&#10;\frac{1}{\sqrt{3}}&#10;\left\{\tau, \tau^{2}, 1\right\}&#10;\quad&#10;\bm{\beta}_{E_{2}}&#10;=&#10;\left(\bm{\beta}_{E_{1}}\right)^{*}&#10;\quad&#10;\tau = -\frac{1}{2} + \mathrm{i}\frac{\sqrt{3}}{2}&#10;\end{equation*}&#10;&#10;\end{document}" title="IguanaTex Bitmap Display">
            <a:extLst>
              <a:ext uri="{FF2B5EF4-FFF2-40B4-BE49-F238E27FC236}">
                <a16:creationId xmlns:a16="http://schemas.microsoft.com/office/drawing/2014/main" id="{8F3BB375-8F89-48BD-9080-5795ECD29305}"/>
              </a:ext>
            </a:extLst>
          </p:cNvPr>
          <p:cNvPicPr>
            <a:picLocks noChangeAspect="1"/>
          </p:cNvPicPr>
          <p:nvPr>
            <p:custDataLst>
              <p:tags r:id="rId4"/>
            </p:custDataLst>
          </p:nvPr>
        </p:nvPicPr>
        <p:blipFill>
          <a:blip r:embed="rId29"/>
          <a:stretch>
            <a:fillRect/>
          </a:stretch>
        </p:blipFill>
        <p:spPr>
          <a:xfrm>
            <a:off x="22365712" y="10349431"/>
            <a:ext cx="10132574" cy="2189713"/>
          </a:xfrm>
          <a:prstGeom prst="rect">
            <a:avLst/>
          </a:prstGeom>
        </p:spPr>
      </p:pic>
      <p:pic>
        <p:nvPicPr>
          <p:cNvPr id="3" name="Picture 2" descr="\documentclass{article}&#10;\usepackage{amsmath,bm}&#10;\pagestyle{empty}&#10;\begin{document}&#10;&#10;\begin{align*}&#10;\Psi_{T_{2}^{\left(q_{1}\right)}}^{(e)}&#10;&amp; =&#10;\sum_{m_{e}lk}&#10;c_{m_{e}lk}&#10;\Phi_{m_{e}lk,\left(\zeta=\mathrm{i}^{m_{e}}\right)\left(\Omega=-\mathrm{i}^{m_{e}}(-1)^{l}\right)}^{(q)}&#10;\\&#10;\Psi_{T_{2}^{\left(q_{1}\right)}}^{(o)}&#10;&amp; =&#10;\sum_{m_{o}lkh}&#10;c_{m_{o}lkh}&#10;\frac&#10;{&#10;\Phi_{m_{o}lk\left(\zeta=+h\right)\left(\Omega=h(-1)^{l}\right)}^{\left(q_{2}\right)}&#10;- h\mathrm{i}^{m_{o}}\Phi_{m_{o}lk\left(\zeta=-h\right)\left(\Omega=h(-1)^{l}\right)}^{\left(q_{3}\right)}&#10;}&#10;{\sqrt{2}}&#10;\end{align*}&#10;&#10;\end{document}" title="IguanaTex Bitmap Display">
            <a:extLst>
              <a:ext uri="{FF2B5EF4-FFF2-40B4-BE49-F238E27FC236}">
                <a16:creationId xmlns:a16="http://schemas.microsoft.com/office/drawing/2014/main" id="{65B95E93-EFDE-43EB-B8BF-1CCDB0423299}"/>
              </a:ext>
            </a:extLst>
          </p:cNvPr>
          <p:cNvPicPr>
            <a:picLocks noChangeAspect="1"/>
          </p:cNvPicPr>
          <p:nvPr>
            <p:custDataLst>
              <p:tags r:id="rId5"/>
            </p:custDataLst>
          </p:nvPr>
        </p:nvPicPr>
        <p:blipFill>
          <a:blip r:embed="rId30"/>
          <a:stretch>
            <a:fillRect/>
          </a:stretch>
        </p:blipFill>
        <p:spPr>
          <a:xfrm>
            <a:off x="22631086" y="12967840"/>
            <a:ext cx="9601828" cy="1859657"/>
          </a:xfrm>
          <a:prstGeom prst="rect">
            <a:avLst/>
          </a:prstGeom>
        </p:spPr>
      </p:pic>
      <p:pic>
        <p:nvPicPr>
          <p:cNvPr id="5" name="Picture 4" descr="\documentclass{article}&#10;\usepackage{amsmath,bm,eufrak}&#10;\pagestyle{empty}&#10;\begin{document}&#10;&#10;\begin{align*}&#10;U&#10;&amp; =&#10;U_{A_{1}}&#10;+&#10;U_{E_{1}}&#10;+&#10;U_{E_{2}}&#10;+&#10;U_{T_{2x}}&#10;+&#10;U_{T_{2y}}&#10;+&#10;U_{T_{2z}}&#10;+&#10;U_{A_{2}}&#10;+&#10;U_{T_{1x}}&#10;+&#10;U_{T_{1y}}&#10;+&#10;U_{T_{1z}}&#10;\end{align*}&#10;&#10;\end{document}" title="IguanaTex Bitmap Display">
            <a:extLst>
              <a:ext uri="{FF2B5EF4-FFF2-40B4-BE49-F238E27FC236}">
                <a16:creationId xmlns:a16="http://schemas.microsoft.com/office/drawing/2014/main" id="{C5E26D3F-453A-4A41-802F-8DEA6360E324}"/>
              </a:ext>
            </a:extLst>
          </p:cNvPr>
          <p:cNvPicPr>
            <a:picLocks noChangeAspect="1"/>
          </p:cNvPicPr>
          <p:nvPr>
            <p:custDataLst>
              <p:tags r:id="rId6"/>
            </p:custDataLst>
          </p:nvPr>
        </p:nvPicPr>
        <p:blipFill>
          <a:blip r:embed="rId31"/>
          <a:stretch>
            <a:fillRect/>
          </a:stretch>
        </p:blipFill>
        <p:spPr>
          <a:xfrm>
            <a:off x="22432953" y="16440455"/>
            <a:ext cx="9998095" cy="325714"/>
          </a:xfrm>
          <a:prstGeom prst="rect">
            <a:avLst/>
          </a:prstGeom>
        </p:spPr>
      </p:pic>
      <p:pic>
        <p:nvPicPr>
          <p:cNvPr id="235" name="Picture 234" descr="\documentclass{article}&#10;\usepackage{amsmath,amssymb,bm}&#10;\pagestyle{empty}&#10;\begin{document}&#10;&#10;\begin{equation*}&#10;U_{\text{Dyn}} = -\frac{2}{r}\left(1+A\mathrm{e}^{-\alpha r} + \left(\epsilon_{0}-A\right)\mathrm{e}^{-\beta r} - \mathrm{e}^{-\gamma r}\right)&#10;\end{equation*}&#10;&#10;\end{document}" title="IguanaTex Bitmap Display">
            <a:extLst>
              <a:ext uri="{FF2B5EF4-FFF2-40B4-BE49-F238E27FC236}">
                <a16:creationId xmlns:a16="http://schemas.microsoft.com/office/drawing/2014/main" id="{A671A4A2-DEFD-4331-BF77-5047017FCBA9}"/>
              </a:ext>
            </a:extLst>
          </p:cNvPr>
          <p:cNvPicPr>
            <a:picLocks noChangeAspect="1"/>
          </p:cNvPicPr>
          <p:nvPr>
            <p:custDataLst>
              <p:tags r:id="rId7"/>
            </p:custDataLst>
          </p:nvPr>
        </p:nvPicPr>
        <p:blipFill>
          <a:blip r:embed="rId32"/>
          <a:stretch>
            <a:fillRect/>
          </a:stretch>
        </p:blipFill>
        <p:spPr>
          <a:xfrm>
            <a:off x="11441810" y="27929180"/>
            <a:ext cx="10425905" cy="1033143"/>
          </a:xfrm>
          <a:prstGeom prst="rect">
            <a:avLst/>
          </a:prstGeom>
        </p:spPr>
      </p:pic>
      <p:pic>
        <p:nvPicPr>
          <p:cNvPr id="262" name="Picture 261" descr="\documentclass{article}&#10;\usepackage{amsmath,amssymb,bm}&#10;\pagestyle{empty}&#10;\begin{document}&#10;&#10;\begin{equation*}&#10;U_{\text{Gamble}} = -\frac{2}{r} +  A_{0}\mathrm{e}^{-\beta_{0}r^2} + A_{1}\sum_{i=1}^{4}\mathrm{e}^{-\beta_{1}\left|\bm{r}-b\bm{t}_{i}\right|^{2}}&#10;\end{equation*}&#10;&#10;\end{document}" title="IguanaTex Bitmap Display">
            <a:extLst>
              <a:ext uri="{FF2B5EF4-FFF2-40B4-BE49-F238E27FC236}">
                <a16:creationId xmlns:a16="http://schemas.microsoft.com/office/drawing/2014/main" id="{F2DFFCAD-EAFE-4E90-B0FD-5B11F2007F6C}"/>
              </a:ext>
            </a:extLst>
          </p:cNvPr>
          <p:cNvPicPr>
            <a:picLocks noChangeAspect="1"/>
          </p:cNvPicPr>
          <p:nvPr>
            <p:custDataLst>
              <p:tags r:id="rId8"/>
            </p:custDataLst>
          </p:nvPr>
        </p:nvPicPr>
        <p:blipFill>
          <a:blip r:embed="rId33"/>
          <a:stretch>
            <a:fillRect/>
          </a:stretch>
        </p:blipFill>
        <p:spPr>
          <a:xfrm>
            <a:off x="22405412" y="27711277"/>
            <a:ext cx="10282668" cy="1468953"/>
          </a:xfrm>
          <a:prstGeom prst="rect">
            <a:avLst/>
          </a:prstGeom>
        </p:spPr>
      </p:pic>
      <p:pic>
        <p:nvPicPr>
          <p:cNvPr id="4" name="Picture 3" descr="\documentclass{article}&#10;\usepackage{amsmath,amssymb,bm}&#10;\pagestyle{empty}&#10;\begin{document}&#10;&#10;\begin{equation*}&#10;\bm{t}_{i} = \left\{\left[111\right],\left[\bar{1}1\bar{1}\right],\left[1\bar{1}\bar{1}\right],\left[\bar{1}\bar{1}1\right]\right\}&#10;\end{equation*}&#10;&#10;\end{document}" title="IguanaTex Bitmap Display">
            <a:extLst>
              <a:ext uri="{FF2B5EF4-FFF2-40B4-BE49-F238E27FC236}">
                <a16:creationId xmlns:a16="http://schemas.microsoft.com/office/drawing/2014/main" id="{DD949EF7-D516-4BCC-98EE-854E2FFEA6D6}"/>
              </a:ext>
            </a:extLst>
          </p:cNvPr>
          <p:cNvPicPr>
            <a:picLocks noChangeAspect="1"/>
          </p:cNvPicPr>
          <p:nvPr>
            <p:custDataLst>
              <p:tags r:id="rId9"/>
            </p:custDataLst>
          </p:nvPr>
        </p:nvPicPr>
        <p:blipFill>
          <a:blip r:embed="rId34"/>
          <a:stretch>
            <a:fillRect/>
          </a:stretch>
        </p:blipFill>
        <p:spPr>
          <a:xfrm>
            <a:off x="24577604" y="29507753"/>
            <a:ext cx="5938285" cy="482743"/>
          </a:xfrm>
          <a:prstGeom prst="rect">
            <a:avLst/>
          </a:prstGeom>
        </p:spPr>
      </p:pic>
    </p:spTree>
    <p:extLst>
      <p:ext uri="{BB962C8B-B14F-4D97-AF65-F5344CB8AC3E}">
        <p14:creationId xmlns:p14="http://schemas.microsoft.com/office/powerpoint/2010/main" val="109865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12000" dirty="0"/>
              <a:t>Hamiltonian Model – Modified </a:t>
            </a:r>
            <a:r>
              <a:rPr lang="en-US" sz="12000" dirty="0" err="1"/>
              <a:t>Shindo</a:t>
            </a:r>
            <a:r>
              <a:rPr lang="en-US" sz="12000" dirty="0"/>
              <a:t>-Nara Equation</a:t>
            </a:r>
          </a:p>
        </p:txBody>
      </p:sp>
      <p:grpSp>
        <p:nvGrpSpPr>
          <p:cNvPr id="108" name="Group 107">
            <a:extLst>
              <a:ext uri="{FF2B5EF4-FFF2-40B4-BE49-F238E27FC236}">
                <a16:creationId xmlns:a16="http://schemas.microsoft.com/office/drawing/2014/main" id="{BC87FD4D-8C36-4230-89BA-896B06427B94}"/>
              </a:ext>
            </a:extLst>
          </p:cNvPr>
          <p:cNvGrpSpPr/>
          <p:nvPr/>
        </p:nvGrpSpPr>
        <p:grpSpPr>
          <a:xfrm>
            <a:off x="7204370" y="7574547"/>
            <a:ext cx="12230089" cy="5062283"/>
            <a:chOff x="11887199" y="8782218"/>
            <a:chExt cx="12230089" cy="5062283"/>
          </a:xfrm>
        </p:grpSpPr>
        <p:sp>
          <p:nvSpPr>
            <p:cNvPr id="34" name="Methods Textbox 1 3 2 2 1">
              <a:extLst>
                <a:ext uri="{FF2B5EF4-FFF2-40B4-BE49-F238E27FC236}">
                  <a16:creationId xmlns:a16="http://schemas.microsoft.com/office/drawing/2014/main" id="{A53F8A61-0888-4C13-B5D4-443A1DD7B970}"/>
                </a:ext>
              </a:extLst>
            </p:cNvPr>
            <p:cNvSpPr txBox="1"/>
            <p:nvPr/>
          </p:nvSpPr>
          <p:spPr>
            <a:xfrm>
              <a:off x="11887199" y="8782218"/>
              <a:ext cx="12230089" cy="5062283"/>
            </a:xfrm>
            <a:prstGeom prst="rect">
              <a:avLst/>
            </a:prstGeom>
            <a:solidFill>
              <a:schemeClr val="bg1">
                <a:alpha val="63000"/>
              </a:schemeClr>
            </a:solidFill>
            <a:effectLst/>
          </p:spPr>
          <p:txBody>
            <a:bodyPr wrap="square">
              <a:spAutoFit/>
            </a:bodyPr>
            <a:lstStyle/>
            <a:p>
              <a:pPr>
                <a:lnSpc>
                  <a:spcPts val="4600"/>
                </a:lnSpc>
                <a:spcAft>
                  <a:spcPts val="1200"/>
                </a:spcAft>
                <a:defRPr/>
              </a:pPr>
              <a:r>
                <a:rPr lang="en-US" sz="4800" b="1" dirty="0">
                  <a:solidFill>
                    <a:srgbClr val="005BBB"/>
                  </a:solidFill>
                  <a:cs typeface="Calibri" panose="020F0502020204030204" pitchFamily="34" charset="0"/>
                </a:rPr>
                <a:t>Modified </a:t>
              </a:r>
              <a:r>
                <a:rPr lang="en-US" sz="4800" b="1" dirty="0" err="1">
                  <a:solidFill>
                    <a:srgbClr val="005BBB"/>
                  </a:solidFill>
                  <a:cs typeface="Calibri" panose="020F0502020204030204" pitchFamily="34" charset="0"/>
                </a:rPr>
                <a:t>Shindo</a:t>
              </a:r>
              <a:r>
                <a:rPr lang="en-US" sz="4800" b="1" dirty="0">
                  <a:solidFill>
                    <a:srgbClr val="005BBB"/>
                  </a:solidFill>
                  <a:cs typeface="Calibri" panose="020F0502020204030204" pitchFamily="34" charset="0"/>
                </a:rPr>
                <a:t>-Nara Effective Mass Model</a:t>
              </a:r>
              <a:r>
                <a:rPr lang="en-US" sz="4800" b="1" baseline="-25000" dirty="0">
                  <a:solidFill>
                    <a:srgbClr val="005BBB"/>
                  </a:solidFill>
                  <a:cs typeface="Calibri" panose="020F0502020204030204" pitchFamily="34" charset="0"/>
                </a:rPr>
                <a:t>[6]</a:t>
              </a:r>
              <a:endParaRPr lang="en-US" sz="4800" b="1" baseline="-25000" dirty="0">
                <a:solidFill>
                  <a:srgbClr val="002F56"/>
                </a:solidFill>
                <a:cs typeface="Calibri" panose="020F0502020204030204" pitchFamily="34" charset="0"/>
              </a:endParaRPr>
            </a:p>
            <a:p>
              <a:pPr marL="457200" indent="-457200" algn="just">
                <a:lnSpc>
                  <a:spcPct val="120000"/>
                </a:lnSpc>
                <a:spcBef>
                  <a:spcPts val="0"/>
                </a:spcBef>
                <a:spcAft>
                  <a:spcPts val="1000"/>
                </a:spcAft>
                <a:buFont typeface="Arial" panose="020B0604020202020204" pitchFamily="34" charset="0"/>
                <a:buChar char="•"/>
                <a:defRPr/>
              </a:pPr>
              <a:r>
                <a:rPr lang="en-US" sz="2800" dirty="0" err="1"/>
                <a:t>Wavefunction</a:t>
              </a:r>
              <a:r>
                <a:rPr lang="en-US" sz="2800" dirty="0"/>
                <a:t> in terms of symmetrized basis, with Bloch function </a:t>
              </a:r>
              <a:r>
                <a:rPr lang="el-GR" sz="2800" i="1" dirty="0"/>
                <a:t>η</a:t>
              </a:r>
              <a:r>
                <a:rPr lang="en-US" sz="2800" i="1" baseline="-25000" dirty="0"/>
                <a:t>q</a:t>
              </a:r>
              <a:r>
                <a:rPr lang="en-US" sz="2800" i="1" dirty="0"/>
                <a:t> </a:t>
              </a:r>
              <a:r>
                <a:rPr lang="en-US" sz="2800" dirty="0"/>
                <a:t>of </a:t>
              </a:r>
              <a:r>
                <a:rPr lang="en-US" sz="2800" b="1" i="1" dirty="0" err="1"/>
                <a:t>q</a:t>
              </a:r>
              <a:r>
                <a:rPr lang="en-US" sz="2800" dirty="0" err="1"/>
                <a:t>th</a:t>
              </a:r>
              <a:r>
                <a:rPr lang="en-US" sz="2800" dirty="0"/>
                <a:t> conduction band valley. </a:t>
              </a:r>
            </a:p>
            <a:p>
              <a:pPr marL="457200" indent="-457200" algn="just">
                <a:lnSpc>
                  <a:spcPct val="120000"/>
                </a:lnSpc>
                <a:spcBef>
                  <a:spcPts val="0"/>
                </a:spcBef>
                <a:spcAft>
                  <a:spcPts val="1000"/>
                </a:spcAft>
                <a:buFont typeface="Arial" panose="020B0604020202020204" pitchFamily="34" charset="0"/>
                <a:buChar char="•"/>
                <a:defRPr/>
              </a:pPr>
              <a:endParaRPr lang="en-US" sz="2800" dirty="0"/>
            </a:p>
            <a:p>
              <a:pPr algn="just">
                <a:lnSpc>
                  <a:spcPct val="120000"/>
                </a:lnSpc>
                <a:spcBef>
                  <a:spcPts val="0"/>
                </a:spcBef>
                <a:spcAft>
                  <a:spcPts val="1000"/>
                </a:spcAft>
                <a:defRPr/>
              </a:pPr>
              <a:endParaRPr lang="en-US" sz="2800" dirty="0"/>
            </a:p>
            <a:p>
              <a:pPr marL="457200" indent="-457200" algn="just">
                <a:lnSpc>
                  <a:spcPct val="120000"/>
                </a:lnSpc>
                <a:spcBef>
                  <a:spcPts val="0"/>
                </a:spcBef>
                <a:spcAft>
                  <a:spcPts val="1000"/>
                </a:spcAft>
                <a:buFont typeface="Arial" panose="020B0604020202020204" pitchFamily="34" charset="0"/>
                <a:buChar char="•"/>
                <a:defRPr/>
              </a:pPr>
              <a:r>
                <a:rPr lang="en-US" sz="2800" dirty="0" err="1"/>
                <a:t>Shindo</a:t>
              </a:r>
              <a:r>
                <a:rPr lang="en-US" sz="2800" dirty="0"/>
                <a:t>-Nara equation recast as </a:t>
              </a:r>
              <a:r>
                <a:rPr lang="en-US" sz="2800" b="1" i="1" dirty="0"/>
                <a:t>generalized eigenvalue problem</a:t>
              </a:r>
              <a:r>
                <a:rPr lang="en-US" sz="2800" dirty="0"/>
                <a:t>.</a:t>
              </a:r>
            </a:p>
            <a:p>
              <a:pPr marL="457200" indent="-457200" algn="just">
                <a:lnSpc>
                  <a:spcPct val="120000"/>
                </a:lnSpc>
                <a:spcBef>
                  <a:spcPts val="0"/>
                </a:spcBef>
                <a:spcAft>
                  <a:spcPts val="1000"/>
                </a:spcAft>
                <a:buFont typeface="Arial" panose="020B0604020202020204" pitchFamily="34" charset="0"/>
                <a:buChar char="•"/>
                <a:defRPr/>
              </a:pPr>
              <a:endParaRPr lang="en-US" sz="2800" dirty="0">
                <a:ea typeface="Arial" charset="0"/>
                <a:cs typeface="Calibri" panose="020F0502020204030204" pitchFamily="34" charset="0"/>
              </a:endParaRPr>
            </a:p>
            <a:p>
              <a:pPr algn="just">
                <a:lnSpc>
                  <a:spcPct val="120000"/>
                </a:lnSpc>
                <a:spcBef>
                  <a:spcPts val="0"/>
                </a:spcBef>
                <a:spcAft>
                  <a:spcPts val="1000"/>
                </a:spcAft>
                <a:defRPr/>
              </a:pPr>
              <a:endParaRPr lang="en-US" sz="2800" dirty="0">
                <a:ea typeface="Arial" charset="0"/>
                <a:cs typeface="Calibri" panose="020F0502020204030204" pitchFamily="34" charset="0"/>
              </a:endParaRPr>
            </a:p>
          </p:txBody>
        </p:sp>
        <p:pic>
          <p:nvPicPr>
            <p:cNvPr id="107" name="Picture 106" descr="\documentclass{article}&#10;\usepackage{amsmath,bm,physics}&#10;\pagestyle{empty}&#10;\begin{document}&#10;&#10;\begin{equation*}&#10;\Psi&#10;\approx &#10;\sum_{j}c_{j}&#10;\sum_{q} \alpha_{qj}&#10;\varphi_{jq}&#10;\Theta^{q}&#10;\quad&#10;\Theta^{q}&#10;=&#10;\mathrm{e}^{\mathrm{i}\bm{k}_{q}\cdot\bm{r}}u_{\bm{k}_{p}}&#10;\end{equation*}&#10;&#10;\end{document}" title="IguanaTex Bitmap Display">
              <a:extLst>
                <a:ext uri="{FF2B5EF4-FFF2-40B4-BE49-F238E27FC236}">
                  <a16:creationId xmlns:a16="http://schemas.microsoft.com/office/drawing/2014/main" id="{86960681-D565-4E1F-A3A6-38D2DC6EF426}"/>
                </a:ext>
              </a:extLst>
            </p:cNvPr>
            <p:cNvPicPr>
              <a:picLocks noChangeAspect="1"/>
            </p:cNvPicPr>
            <p:nvPr>
              <p:custDataLst>
                <p:tags r:id="rId6"/>
              </p:custDataLst>
            </p:nvPr>
          </p:nvPicPr>
          <p:blipFill>
            <a:blip r:embed="rId10"/>
            <a:stretch>
              <a:fillRect/>
            </a:stretch>
          </p:blipFill>
          <p:spPr>
            <a:xfrm>
              <a:off x="12908623" y="10833391"/>
              <a:ext cx="8938674" cy="1151999"/>
            </a:xfrm>
            <a:prstGeom prst="rect">
              <a:avLst/>
            </a:prstGeom>
          </p:spPr>
        </p:pic>
        <p:pic>
          <p:nvPicPr>
            <p:cNvPr id="36" name="Picture 35">
              <a:extLst>
                <a:ext uri="{FF2B5EF4-FFF2-40B4-BE49-F238E27FC236}">
                  <a16:creationId xmlns:a16="http://schemas.microsoft.com/office/drawing/2014/main" id="{BAA7A2AD-B947-493C-9CA8-1B2E3527A501}"/>
                </a:ext>
              </a:extLst>
            </p:cNvPr>
            <p:cNvPicPr>
              <a:picLocks noChangeAspect="1"/>
            </p:cNvPicPr>
            <p:nvPr>
              <p:custDataLst>
                <p:tags r:id="rId7"/>
              </p:custDataLst>
            </p:nvPr>
          </p:nvPicPr>
          <p:blipFill>
            <a:blip r:embed="rId11">
              <a:extLst>
                <a:ext uri="{28A0092B-C50C-407E-A947-70E740481C1C}">
                  <a14:useLocalDpi xmlns:a14="http://schemas.microsoft.com/office/drawing/2010/main" val="0"/>
                </a:ext>
              </a:extLst>
            </a:blip>
            <a:stretch>
              <a:fillRect/>
            </a:stretch>
          </p:blipFill>
          <p:spPr>
            <a:xfrm>
              <a:off x="14831829" y="12922631"/>
              <a:ext cx="4169143" cy="572571"/>
            </a:xfrm>
            <a:prstGeom prst="rect">
              <a:avLst/>
            </a:prstGeom>
          </p:spPr>
        </p:pic>
      </p:grpSp>
      <p:grpSp>
        <p:nvGrpSpPr>
          <p:cNvPr id="4" name="Group 3">
            <a:extLst>
              <a:ext uri="{FF2B5EF4-FFF2-40B4-BE49-F238E27FC236}">
                <a16:creationId xmlns:a16="http://schemas.microsoft.com/office/drawing/2014/main" id="{61FD6E2E-5C75-4BBA-B15C-0291BEE4DC30}"/>
              </a:ext>
            </a:extLst>
          </p:cNvPr>
          <p:cNvGrpSpPr/>
          <p:nvPr/>
        </p:nvGrpSpPr>
        <p:grpSpPr>
          <a:xfrm>
            <a:off x="26638829" y="6958935"/>
            <a:ext cx="10048000" cy="6293507"/>
            <a:chOff x="28196245" y="6366876"/>
            <a:chExt cx="10048000" cy="6293507"/>
          </a:xfrm>
        </p:grpSpPr>
        <p:pic>
          <p:nvPicPr>
            <p:cNvPr id="118" name="Picture 117" descr="\documentclass{article}&#10;\usepackage{amsmath,bm}&#10;\pagestyle{empty}&#10;\begin{document}&#10;&#10;\begin{align*}&#10;\mathcal{S}_{ii^\prime}&#10;&amp; =&#10;\int\mathrm{d}\bm{r}\, &#10;\sum_{q q^\prime}&#10;\alpha_{q}^{*}\alpha_{q^\prime}&#10;\mathrm{e}^{\mathrm{i}\left(\bm{k}_{q^\prime}-\bm{k}_{q}\right)\cdot\bm{r}}&#10;\varphi_{iq}^{*}&#10;\varphi_{i^\prime q^\prime}&#10;\\&#10;\mathcal{T}_{ii^\prime}&#10;&amp; =&#10;\int\mathrm{d}\bm{r}\,&#10;\sum_{q q^\prime}&#10;\alpha_{q}^{*}\alpha_{q^\prime}&#10;\mathrm{e}^{\mathrm{i}\left(\bm{k}_{q^\prime}-\bm{k}_{q}\right)\cdot\bm{r}}&#10;\varphi_{iq}^{*}&#10;\left[\hat{T}_{q^\prime}\varphi_{i^\prime q^\prime}\right]&#10;\\&#10;\mathcal{U}_{ii^\prime}&#10;&amp; = &#10;\int \mathrm{d}\bm{r}\,&#10;\sum_{q q^\prime}&#10;\alpha_{qi}^{*}\alpha_{q^\prime i^\prime}&#10;U_{\left\{\bm{r}\right\}}&#10;\Theta_{q}^{*}\Theta_{q^\prime}&#10;\varphi_{iq}^{*}&#10;\varphi_{i^\prime q^\prime}&#10;\end{align*}&#10;&#10;\end{document}" title="IguanaTex Bitmap Display">
              <a:extLst>
                <a:ext uri="{FF2B5EF4-FFF2-40B4-BE49-F238E27FC236}">
                  <a16:creationId xmlns:a16="http://schemas.microsoft.com/office/drawing/2014/main" id="{9118325A-6BF9-4BCF-95A1-4067E1D20A86}"/>
                </a:ext>
              </a:extLst>
            </p:cNvPr>
            <p:cNvPicPr>
              <a:picLocks noChangeAspect="1"/>
            </p:cNvPicPr>
            <p:nvPr>
              <p:custDataLst>
                <p:tags r:id="rId4"/>
              </p:custDataLst>
            </p:nvPr>
          </p:nvPicPr>
          <p:blipFill>
            <a:blip r:embed="rId12"/>
            <a:stretch>
              <a:fillRect/>
            </a:stretch>
          </p:blipFill>
          <p:spPr>
            <a:xfrm>
              <a:off x="28196245" y="6366876"/>
              <a:ext cx="10048000" cy="4592762"/>
            </a:xfrm>
            <a:prstGeom prst="rect">
              <a:avLst/>
            </a:prstGeom>
            <a:ln>
              <a:noFill/>
            </a:ln>
          </p:spPr>
        </p:pic>
        <p:pic>
          <p:nvPicPr>
            <p:cNvPr id="120" name="Picture 119" descr="\documentclass{article}&#10;\usepackage{amsmath,bm,physics}&#10;\pagestyle{empty}&#10;\begin{document}&#10;&#10;\begin{equation*}&#10;\hat{T}_{z}&#10;=&#10;-\frac{\hbar^2}{2m_{\perp}}\pdv[2]{x} -\frac{\hbar^2}{2m_{\perp}}\pdv[2]{y}&#10;-\frac{\hbar^2}{2m_{\parallel}}\pdv[2]{z}&#10;\end{equation*}&#10;&#10;\end{document}" title="IguanaTex Bitmap Display">
              <a:extLst>
                <a:ext uri="{FF2B5EF4-FFF2-40B4-BE49-F238E27FC236}">
                  <a16:creationId xmlns:a16="http://schemas.microsoft.com/office/drawing/2014/main" id="{EAC9ABD3-9A50-472F-8337-08F7C3FA590A}"/>
                </a:ext>
              </a:extLst>
            </p:cNvPr>
            <p:cNvPicPr>
              <a:picLocks noChangeAspect="1"/>
            </p:cNvPicPr>
            <p:nvPr>
              <p:custDataLst>
                <p:tags r:id="rId5"/>
              </p:custDataLst>
            </p:nvPr>
          </p:nvPicPr>
          <p:blipFill>
            <a:blip r:embed="rId13"/>
            <a:stretch>
              <a:fillRect/>
            </a:stretch>
          </p:blipFill>
          <p:spPr>
            <a:xfrm>
              <a:off x="29454368" y="11728116"/>
              <a:ext cx="6218666" cy="932267"/>
            </a:xfrm>
            <a:prstGeom prst="rect">
              <a:avLst/>
            </a:prstGeom>
            <a:ln>
              <a:noFill/>
            </a:ln>
          </p:spPr>
        </p:pic>
      </p:grpSp>
      <p:pic>
        <p:nvPicPr>
          <p:cNvPr id="128" name="Picture 127" descr="\documentclass{article}&#10;\usepackage{amsmath,bm}&#10;\pagestyle{empty}&#10;\begin{document}&#10;&#10;\begin{align*}&#10;\left(\mathcal{T}^{2}\right)_{ii^\prime}&#10;&amp; =&#10;\int\mathrm{d}\bm{r}\,&#10;\sum_{q q^\prime}&#10;\alpha_{q}^{*}\alpha_{q^\prime}&#10;\mathrm{e}^{\mathrm{i}\left(\bm{k}_{q^\prime}-\bm{k}_{q}\right)\cdot\bm{r}}&#10;\left[\hat{T}_{q}\varphi_{iq}\right]^{*}&#10;\left[\hat{T}_{q^\prime}\varphi_{i^\prime q^\prime}\right]&#10;\\&#10;\left(\mathcal{T}\mathcal{U}\right)_{ii^\prime}&#10;&amp; =&#10;\int \mathrm{d}\bm{r}\,&#10;\sum_{q q^\prime}&#10;\alpha_{qi}^{*}\alpha_{q^\prime i^\prime}&#10;U_{\left\{\bm{r}\right\}}&#10;\Theta_{q}^{*}\Theta_{q^\prime}&#10;\left[\hat{T}_{q}\varphi_{iq}\right]^{*}&#10;\varphi_{i^\prime q^\prime}&#10;\\&#10;\left(\mathcal{U}\mathcal{T}\right)_{ii^\prime}&#10;&amp; =&#10;\int \mathrm{d}\bm{r}\,&#10;\sum_{q q^\prime}&#10;\alpha_{qi}^{*}\alpha_{q^\prime i^\prime}&#10;U_{\left\{\bm{r}\right\}}&#10;\Theta_{q}^{*}\Theta_{q^\prime}&#10;\varphi_{iq}^{*}&#10;\left[\hat{T}_{q^\prime}\varphi_{i^\prime q^\prime}\right]&#10;\\&#10;\left(\mathcal{U}^{2}\right)_{ii^\prime}&#10;&amp; =&#10;\int \mathrm{d}\bm{r}\,&#10;\sum_{q q^\prime}&#10;\alpha_{qi}^{*}\alpha_{q^\prime i^\prime}&#10;U_{\left\{\bm{r}\right\}}^{2}&#10;\Theta_{q}^{*}\Theta_{q^\prime}&#10;\varphi_{iq}^{*}&#10;\varphi_{i^\prime q^\prime}&#10;\end{align*}&#10;&#10;\end{document}" title="IguanaTex Bitmap Display">
            <a:extLst>
              <a:ext uri="{FF2B5EF4-FFF2-40B4-BE49-F238E27FC236}">
                <a16:creationId xmlns:a16="http://schemas.microsoft.com/office/drawing/2014/main" id="{05F6E20A-305A-4469-8AB8-DD4F58C8D830}"/>
              </a:ext>
            </a:extLst>
          </p:cNvPr>
          <p:cNvPicPr>
            <a:picLocks noChangeAspect="1"/>
          </p:cNvPicPr>
          <p:nvPr>
            <p:custDataLst>
              <p:tags r:id="rId1"/>
            </p:custDataLst>
          </p:nvPr>
        </p:nvPicPr>
        <p:blipFill>
          <a:blip r:embed="rId14"/>
          <a:stretch>
            <a:fillRect/>
          </a:stretch>
        </p:blipFill>
        <p:spPr>
          <a:xfrm>
            <a:off x="24510998" y="16459200"/>
            <a:ext cx="12153904" cy="6208000"/>
          </a:xfrm>
          <a:prstGeom prst="rect">
            <a:avLst/>
          </a:prstGeom>
          <a:ln>
            <a:noFill/>
          </a:ln>
        </p:spPr>
      </p:pic>
      <p:grpSp>
        <p:nvGrpSpPr>
          <p:cNvPr id="46" name="Group 45">
            <a:extLst>
              <a:ext uri="{FF2B5EF4-FFF2-40B4-BE49-F238E27FC236}">
                <a16:creationId xmlns:a16="http://schemas.microsoft.com/office/drawing/2014/main" id="{5F3548B5-C140-4460-8EAC-2C2D264CBEC7}"/>
              </a:ext>
            </a:extLst>
          </p:cNvPr>
          <p:cNvGrpSpPr/>
          <p:nvPr/>
        </p:nvGrpSpPr>
        <p:grpSpPr>
          <a:xfrm>
            <a:off x="7226299" y="17401583"/>
            <a:ext cx="10058400" cy="4323235"/>
            <a:chOff x="11887200" y="19109929"/>
            <a:chExt cx="10058400" cy="4323235"/>
          </a:xfrm>
        </p:grpSpPr>
        <p:sp>
          <p:nvSpPr>
            <p:cNvPr id="47" name="Methods Textbox 1 3 2 1 1">
              <a:extLst>
                <a:ext uri="{FF2B5EF4-FFF2-40B4-BE49-F238E27FC236}">
                  <a16:creationId xmlns:a16="http://schemas.microsoft.com/office/drawing/2014/main" id="{09598559-BCAC-4DFA-BE44-49A001DB8AD8}"/>
                </a:ext>
              </a:extLst>
            </p:cNvPr>
            <p:cNvSpPr txBox="1"/>
            <p:nvPr/>
          </p:nvSpPr>
          <p:spPr>
            <a:xfrm>
              <a:off x="11887200" y="19109929"/>
              <a:ext cx="10058400" cy="4323235"/>
            </a:xfrm>
            <a:prstGeom prst="rect">
              <a:avLst/>
            </a:prstGeom>
            <a:solidFill>
              <a:schemeClr val="bg1">
                <a:alpha val="63000"/>
              </a:schemeClr>
            </a:solidFill>
            <a:effectLst/>
          </p:spPr>
          <p:txBody>
            <a:bodyPr>
              <a:spAutoFit/>
            </a:bodyPr>
            <a:lstStyle/>
            <a:p>
              <a:pPr>
                <a:lnSpc>
                  <a:spcPts val="4600"/>
                </a:lnSpc>
                <a:spcAft>
                  <a:spcPts val="1200"/>
                </a:spcAft>
                <a:defRPr/>
              </a:pPr>
              <a:r>
                <a:rPr lang="en-US" sz="4800" b="1" dirty="0">
                  <a:solidFill>
                    <a:srgbClr val="005BBB"/>
                  </a:solidFill>
                  <a:cs typeface="Calibri" panose="020F0502020204030204" pitchFamily="34" charset="0"/>
                </a:rPr>
                <a:t>H</a:t>
              </a:r>
              <a:r>
                <a:rPr lang="en-US" sz="4800" b="1" baseline="30000" dirty="0">
                  <a:solidFill>
                    <a:srgbClr val="005BBB"/>
                  </a:solidFill>
                  <a:cs typeface="Calibri" panose="020F0502020204030204" pitchFamily="34" charset="0"/>
                </a:rPr>
                <a:t>2</a:t>
              </a:r>
              <a:r>
                <a:rPr lang="en-US" sz="4800" b="1" dirty="0">
                  <a:solidFill>
                    <a:srgbClr val="005BBB"/>
                  </a:solidFill>
                  <a:cs typeface="Calibri" panose="020F0502020204030204" pitchFamily="34" charset="0"/>
                </a:rPr>
                <a:t> for the </a:t>
              </a:r>
              <a:r>
                <a:rPr lang="en-US" sz="4800" b="1" dirty="0" err="1">
                  <a:solidFill>
                    <a:srgbClr val="005BBB"/>
                  </a:solidFill>
                  <a:cs typeface="Calibri" panose="020F0502020204030204" pitchFamily="34" charset="0"/>
                </a:rPr>
                <a:t>Shindo</a:t>
              </a:r>
              <a:r>
                <a:rPr lang="en-US" sz="4800" b="1" dirty="0">
                  <a:solidFill>
                    <a:srgbClr val="005BBB"/>
                  </a:solidFill>
                  <a:cs typeface="Calibri" panose="020F0502020204030204" pitchFamily="34" charset="0"/>
                </a:rPr>
                <a:t>-Nara Model</a:t>
              </a:r>
              <a:endParaRPr lang="en-US" sz="4800" b="1" dirty="0">
                <a:solidFill>
                  <a:srgbClr val="002F56"/>
                </a:solidFill>
                <a:cs typeface="Calibri" panose="020F0502020204030204" pitchFamily="34" charset="0"/>
              </a:endParaRPr>
            </a:p>
            <a:p>
              <a:pPr marL="457200" indent="-457200" algn="just">
                <a:lnSpc>
                  <a:spcPct val="120000"/>
                </a:lnSpc>
                <a:spcBef>
                  <a:spcPts val="0"/>
                </a:spcBef>
                <a:spcAft>
                  <a:spcPts val="1000"/>
                </a:spcAft>
                <a:buFont typeface="Arial" panose="020B0604020202020204" pitchFamily="34" charset="0"/>
                <a:buChar char="•"/>
                <a:defRPr/>
              </a:pPr>
              <a:r>
                <a:rPr lang="en-US" sz="2800" dirty="0"/>
                <a:t>&lt;H</a:t>
              </a:r>
              <a:r>
                <a:rPr lang="en-US" sz="2800" baseline="30000" dirty="0"/>
                <a:t>2</a:t>
              </a:r>
              <a:r>
                <a:rPr lang="en-US" sz="2800" dirty="0"/>
                <a:t>&gt; derived by following </a:t>
              </a:r>
              <a:r>
                <a:rPr lang="en-US" sz="2800" dirty="0" err="1"/>
                <a:t>Shindo</a:t>
              </a:r>
              <a:r>
                <a:rPr lang="en-US" sz="2800" dirty="0"/>
                <a:t> and Nara’s derivation of &lt;H&gt;. </a:t>
              </a:r>
            </a:p>
            <a:p>
              <a:pPr marL="457200" indent="-457200" algn="just">
                <a:lnSpc>
                  <a:spcPct val="120000"/>
                </a:lnSpc>
                <a:spcBef>
                  <a:spcPts val="0"/>
                </a:spcBef>
                <a:spcAft>
                  <a:spcPts val="1000"/>
                </a:spcAft>
                <a:buFont typeface="Arial" panose="020B0604020202020204" pitchFamily="34" charset="0"/>
                <a:buChar char="•"/>
                <a:defRPr/>
              </a:pPr>
              <a:endParaRPr lang="en-US" sz="2800" dirty="0"/>
            </a:p>
            <a:p>
              <a:pPr marL="457200" indent="-457200" algn="just">
                <a:lnSpc>
                  <a:spcPct val="120000"/>
                </a:lnSpc>
                <a:spcBef>
                  <a:spcPts val="0"/>
                </a:spcBef>
                <a:spcAft>
                  <a:spcPts val="1000"/>
                </a:spcAft>
                <a:buFont typeface="Arial" panose="020B0604020202020204" pitchFamily="34" charset="0"/>
                <a:buChar char="•"/>
                <a:defRPr/>
              </a:pPr>
              <a:endParaRPr lang="en-US" sz="2800" dirty="0"/>
            </a:p>
            <a:p>
              <a:pPr marL="457200" indent="-457200" algn="just">
                <a:lnSpc>
                  <a:spcPct val="120000"/>
                </a:lnSpc>
                <a:spcBef>
                  <a:spcPts val="0"/>
                </a:spcBef>
                <a:spcAft>
                  <a:spcPts val="1000"/>
                </a:spcAft>
                <a:buFont typeface="Arial" panose="020B0604020202020204" pitchFamily="34" charset="0"/>
                <a:buChar char="•"/>
                <a:defRPr/>
              </a:pPr>
              <a:r>
                <a:rPr lang="en-US" sz="2800" dirty="0"/>
                <a:t>Note that </a:t>
              </a:r>
              <a:r>
                <a:rPr lang="en-US" sz="2800" b="1" i="1" dirty="0"/>
                <a:t>the intervalley components of the kinetic squared term have been explicitly included</a:t>
              </a:r>
              <a:r>
                <a:rPr lang="en-US" sz="2800" dirty="0"/>
                <a:t>, as with the overlap and kinetic matrix elements above.</a:t>
              </a:r>
            </a:p>
          </p:txBody>
        </p:sp>
        <p:pic>
          <p:nvPicPr>
            <p:cNvPr id="48" name="Picture 47">
              <a:extLst>
                <a:ext uri="{FF2B5EF4-FFF2-40B4-BE49-F238E27FC236}">
                  <a16:creationId xmlns:a16="http://schemas.microsoft.com/office/drawing/2014/main" id="{2ECB298B-227C-4CB3-A1B4-DCA3AA519243}"/>
                </a:ext>
              </a:extLst>
            </p:cNvPr>
            <p:cNvPicPr>
              <a:picLocks noChangeAspect="1"/>
            </p:cNvPicPr>
            <p:nvPr>
              <p:custDataLst>
                <p:tags r:id="rId3"/>
              </p:custDataLst>
            </p:nvPr>
          </p:nvPicPr>
          <p:blipFill>
            <a:blip r:embed="rId15">
              <a:extLst>
                <a:ext uri="{28A0092B-C50C-407E-A947-70E740481C1C}">
                  <a14:useLocalDpi xmlns:a14="http://schemas.microsoft.com/office/drawing/2010/main" val="0"/>
                </a:ext>
              </a:extLst>
            </a:blip>
            <a:stretch>
              <a:fillRect/>
            </a:stretch>
          </p:blipFill>
          <p:spPr>
            <a:xfrm>
              <a:off x="12675257" y="20771688"/>
              <a:ext cx="8482286" cy="716571"/>
            </a:xfrm>
            <a:prstGeom prst="rect">
              <a:avLst/>
            </a:prstGeom>
          </p:spPr>
        </p:pic>
      </p:grpSp>
      <p:grpSp>
        <p:nvGrpSpPr>
          <p:cNvPr id="2" name="Group 1">
            <a:extLst>
              <a:ext uri="{FF2B5EF4-FFF2-40B4-BE49-F238E27FC236}">
                <a16:creationId xmlns:a16="http://schemas.microsoft.com/office/drawing/2014/main" id="{D39F8D56-88F5-4071-BA56-AF5E57295485}"/>
              </a:ext>
            </a:extLst>
          </p:cNvPr>
          <p:cNvGrpSpPr/>
          <p:nvPr/>
        </p:nvGrpSpPr>
        <p:grpSpPr>
          <a:xfrm>
            <a:off x="17145000" y="24662702"/>
            <a:ext cx="9601200" cy="2278564"/>
            <a:chOff x="8108023" y="24662702"/>
            <a:chExt cx="9601200" cy="2278564"/>
          </a:xfrm>
        </p:grpSpPr>
        <p:sp>
          <p:nvSpPr>
            <p:cNvPr id="115" name="Methods Textbox 1 3 1">
              <a:extLst>
                <a:ext uri="{FF2B5EF4-FFF2-40B4-BE49-F238E27FC236}">
                  <a16:creationId xmlns:a16="http://schemas.microsoft.com/office/drawing/2014/main" id="{8C114D41-0342-4B84-8BBB-07A09B67C364}"/>
                </a:ext>
              </a:extLst>
            </p:cNvPr>
            <p:cNvSpPr txBox="1"/>
            <p:nvPr/>
          </p:nvSpPr>
          <p:spPr>
            <a:xfrm>
              <a:off x="8108023" y="24662702"/>
              <a:ext cx="9601200" cy="1353191"/>
            </a:xfrm>
            <a:prstGeom prst="rect">
              <a:avLst/>
            </a:prstGeom>
            <a:solidFill>
              <a:schemeClr val="bg1">
                <a:alpha val="63000"/>
              </a:schemeClr>
            </a:solidFill>
            <a:effectLst/>
          </p:spPr>
          <p:txBody>
            <a:bodyPr>
              <a:spAutoFit/>
            </a:bodyPr>
            <a:lstStyle/>
            <a:p>
              <a:pPr>
                <a:lnSpc>
                  <a:spcPts val="4600"/>
                </a:lnSpc>
                <a:spcAft>
                  <a:spcPts val="1200"/>
                </a:spcAft>
                <a:defRPr/>
              </a:pPr>
              <a:r>
                <a:rPr lang="en-US" sz="4800" b="1" dirty="0">
                  <a:solidFill>
                    <a:srgbClr val="005BBB"/>
                  </a:solidFill>
                  <a:cs typeface="Calibri" panose="020F0502020204030204" pitchFamily="34" charset="0"/>
                </a:rPr>
                <a:t>Measuring </a:t>
              </a:r>
              <a:r>
                <a:rPr lang="en-US" sz="4800" b="1" dirty="0">
                  <a:solidFill>
                    <a:srgbClr val="002F56"/>
                  </a:solidFill>
                  <a:cs typeface="Calibri" panose="020F0502020204030204" pitchFamily="34" charset="0"/>
                </a:rPr>
                <a:t>completeness</a:t>
              </a:r>
            </a:p>
            <a:p>
              <a:pPr marL="457200" indent="-457200" algn="just">
                <a:lnSpc>
                  <a:spcPct val="120000"/>
                </a:lnSpc>
                <a:spcBef>
                  <a:spcPts val="0"/>
                </a:spcBef>
                <a:spcAft>
                  <a:spcPts val="1000"/>
                </a:spcAft>
                <a:buFont typeface="Arial" panose="020B0604020202020204" pitchFamily="34" charset="0"/>
                <a:buChar char="•"/>
                <a:defRPr/>
              </a:pPr>
              <a:r>
                <a:rPr lang="en-US" sz="2800" b="1" i="1" dirty="0"/>
                <a:t>Relative deviation </a:t>
              </a:r>
              <a:r>
                <a:rPr lang="el-GR" sz="2800" b="1" i="1" dirty="0">
                  <a:latin typeface="Calibri" panose="020F0502020204030204" pitchFamily="34" charset="0"/>
                  <a:cs typeface="Calibri" panose="020F0502020204030204" pitchFamily="34" charset="0"/>
                </a:rPr>
                <a:t>σ</a:t>
              </a:r>
              <a:r>
                <a:rPr lang="en-US" sz="2800" dirty="0"/>
                <a:t> can be used as a </a:t>
              </a:r>
              <a:r>
                <a:rPr lang="en-US" sz="2800" b="1" i="1" dirty="0">
                  <a:solidFill>
                    <a:srgbClr val="002F56"/>
                  </a:solidFill>
                </a:rPr>
                <a:t>completeness measure</a:t>
              </a:r>
              <a:r>
                <a:rPr lang="en-US" sz="2800" dirty="0"/>
                <a:t>.</a:t>
              </a:r>
              <a:endParaRPr lang="en-US" sz="2800" dirty="0">
                <a:ea typeface="Arial" charset="0"/>
                <a:cs typeface="Calibri" panose="020F0502020204030204" pitchFamily="34" charset="0"/>
              </a:endParaRPr>
            </a:p>
          </p:txBody>
        </p:sp>
        <p:pic>
          <p:nvPicPr>
            <p:cNvPr id="116" name="Picture 115">
              <a:extLst>
                <a:ext uri="{FF2B5EF4-FFF2-40B4-BE49-F238E27FC236}">
                  <a16:creationId xmlns:a16="http://schemas.microsoft.com/office/drawing/2014/main" id="{BE6C79AB-8014-45C3-865D-5C6D6AC58C65}"/>
                </a:ext>
              </a:extLst>
            </p:cNvPr>
            <p:cNvPicPr>
              <a:picLocks noChangeAspect="1"/>
            </p:cNvPicPr>
            <p:nvPr>
              <p:custDataLst>
                <p:tags r:id="rId2"/>
              </p:custDataLst>
            </p:nvPr>
          </p:nvPicPr>
          <p:blipFill>
            <a:blip r:embed="rId16">
              <a:extLst>
                <a:ext uri="{28A0092B-C50C-407E-A947-70E740481C1C}">
                  <a14:useLocalDpi xmlns:a14="http://schemas.microsoft.com/office/drawing/2010/main" val="0"/>
                </a:ext>
              </a:extLst>
            </a:blip>
            <a:stretch>
              <a:fillRect/>
            </a:stretch>
          </p:blipFill>
          <p:spPr>
            <a:xfrm>
              <a:off x="10936204" y="26212276"/>
              <a:ext cx="3944839" cy="728990"/>
            </a:xfrm>
            <a:prstGeom prst="rect">
              <a:avLst/>
            </a:prstGeom>
          </p:spPr>
        </p:pic>
      </p:grpSp>
    </p:spTree>
    <p:extLst>
      <p:ext uri="{BB962C8B-B14F-4D97-AF65-F5344CB8AC3E}">
        <p14:creationId xmlns:p14="http://schemas.microsoft.com/office/powerpoint/2010/main" val="3198097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itle 35">
            <a:extLst>
              <a:ext uri="{FF2B5EF4-FFF2-40B4-BE49-F238E27FC236}">
                <a16:creationId xmlns:a16="http://schemas.microsoft.com/office/drawing/2014/main" id="{F54A814F-06BC-4E35-BE7C-614F28737A66}"/>
              </a:ext>
            </a:extLst>
          </p:cNvPr>
          <p:cNvSpPr>
            <a:spLocks noGrp="1"/>
          </p:cNvSpPr>
          <p:nvPr>
            <p:ph type="title"/>
          </p:nvPr>
        </p:nvSpPr>
        <p:spPr/>
        <p:txBody>
          <a:bodyPr/>
          <a:lstStyle/>
          <a:p>
            <a:r>
              <a:rPr lang="en-US" sz="12000" dirty="0"/>
              <a:t>Symmetry considerations </a:t>
            </a:r>
          </a:p>
        </p:txBody>
      </p:sp>
      <p:sp>
        <p:nvSpPr>
          <p:cNvPr id="138" name="Text Placeholder 1 5 1 1 1 1"/>
          <p:cNvSpPr txBox="1">
            <a:spLocks/>
          </p:cNvSpPr>
          <p:nvPr/>
        </p:nvSpPr>
        <p:spPr>
          <a:xfrm>
            <a:off x="7896466" y="8209447"/>
            <a:ext cx="28098269" cy="1329595"/>
          </a:xfrm>
          <a:prstGeom prst="rect">
            <a:avLst/>
          </a:prstGeom>
        </p:spPr>
        <p:txBody>
          <a:bodyPr vert="horz" wrap="none" lIns="329184" tIns="164592" rIns="329184" bIns="164592" rtlCol="0">
            <a:spAutoFit/>
          </a:bodyPr>
          <a:lstStyle>
            <a:lvl1pPr marL="228600" indent="-228600" algn="l" defTabSz="914400" rtl="0" eaLnBrk="1" latinLnBrk="0" hangingPunct="1">
              <a:lnSpc>
                <a:spcPct val="90000"/>
              </a:lnSpc>
              <a:spcBef>
                <a:spcPts val="1000"/>
              </a:spcBef>
              <a:buClr>
                <a:srgbClr val="005BBB"/>
              </a:buClr>
              <a:buFont typeface="Arial" panose="020B0604020202020204" pitchFamily="34" charset="0"/>
              <a:buChar char="•"/>
              <a:defRPr sz="2000" kern="1200" baseline="0">
                <a:solidFill>
                  <a:schemeClr val="tx1"/>
                </a:solidFill>
                <a:latin typeface="Gill Sans MT" panose="020B0502020104020203" pitchFamily="34" charset="0"/>
                <a:ea typeface="Gill Sans MT" panose="020B0502020104020203" pitchFamily="34" charset="0"/>
                <a:cs typeface="Arial" charset="0"/>
              </a:defRPr>
            </a:lvl1pPr>
            <a:lvl2pPr marL="685800" indent="-228600" algn="l" defTabSz="914400" rtl="0" eaLnBrk="1" latinLnBrk="0" hangingPunct="1">
              <a:lnSpc>
                <a:spcPct val="90000"/>
              </a:lnSpc>
              <a:spcBef>
                <a:spcPts val="500"/>
              </a:spcBef>
              <a:buClr>
                <a:srgbClr val="005BBB"/>
              </a:buClr>
              <a:buFont typeface="Arial" panose="020B0604020202020204" pitchFamily="34" charset="0"/>
              <a:buChar char="•"/>
              <a:defRPr sz="2000" kern="1200" baseline="0">
                <a:solidFill>
                  <a:schemeClr val="tx1"/>
                </a:solidFill>
                <a:latin typeface="Gill Sans MT" panose="020B0502020104020203" pitchFamily="34" charset="0"/>
                <a:ea typeface="Gill Sans MT" panose="020B0502020104020203" pitchFamily="34" charset="0"/>
                <a:cs typeface="Arial" charset="0"/>
              </a:defRPr>
            </a:lvl2pPr>
            <a:lvl3pPr marL="1143000" indent="-228600" algn="l" defTabSz="914400" rtl="0" eaLnBrk="1" latinLnBrk="0" hangingPunct="1">
              <a:lnSpc>
                <a:spcPct val="90000"/>
              </a:lnSpc>
              <a:spcBef>
                <a:spcPts val="500"/>
              </a:spcBef>
              <a:buClr>
                <a:srgbClr val="005BBB"/>
              </a:buClr>
              <a:buFont typeface="LucidaGrande" charset="0"/>
              <a:buChar char="-"/>
              <a:defRPr sz="1800" kern="1200" baseline="0">
                <a:solidFill>
                  <a:schemeClr val="tx1"/>
                </a:solidFill>
                <a:latin typeface="Gill Sans MT" panose="020B0502020104020203" pitchFamily="34" charset="0"/>
                <a:ea typeface="Gill Sans MT" panose="020B0502020104020203" pitchFamily="34" charset="0"/>
                <a:cs typeface="Arial" charset="0"/>
              </a:defRPr>
            </a:lvl3pPr>
            <a:lvl4pPr marL="1600200" indent="-228600" algn="l" defTabSz="914400" rtl="0" eaLnBrk="1" latinLnBrk="0" hangingPunct="1">
              <a:lnSpc>
                <a:spcPct val="90000"/>
              </a:lnSpc>
              <a:spcBef>
                <a:spcPts val="500"/>
              </a:spcBef>
              <a:buClr>
                <a:srgbClr val="005BBB"/>
              </a:buClr>
              <a:buFont typeface="Arial" panose="020B0604020202020204" pitchFamily="34" charset="0"/>
              <a:buChar char="•"/>
              <a:defRPr sz="1800" kern="1200">
                <a:solidFill>
                  <a:schemeClr val="tx1"/>
                </a:solidFill>
                <a:latin typeface="Arial" charset="0"/>
                <a:ea typeface="Arial" charset="0"/>
                <a:cs typeface="Arial" charset="0"/>
              </a:defRPr>
            </a:lvl4pPr>
            <a:lvl5pPr marL="2057400" indent="-228600" algn="l" defTabSz="914400" rtl="0" eaLnBrk="1" latinLnBrk="0" hangingPunct="1">
              <a:lnSpc>
                <a:spcPct val="90000"/>
              </a:lnSpc>
              <a:spcBef>
                <a:spcPts val="500"/>
              </a:spcBef>
              <a:buClr>
                <a:srgbClr val="005BBB"/>
              </a:buClr>
              <a:buFont typeface="Arial" panose="020B0604020202020204" pitchFamily="34" charset="0"/>
              <a:buChar char="•"/>
              <a:defRPr sz="180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7200" dirty="0">
                <a:latin typeface="+mn-lt"/>
                <a:cs typeface="Arial" panose="020B0604020202020204" pitchFamily="34" charset="0"/>
              </a:rPr>
              <a:t>States with m even are indexed </a:t>
            </a:r>
            <a:r>
              <a:rPr lang="en-US" sz="7200" dirty="0">
                <a:cs typeface="Arial" panose="020B0604020202020204" pitchFamily="34" charset="0"/>
              </a:rPr>
              <a:t>by</a:t>
            </a:r>
            <a:r>
              <a:rPr lang="en-US" sz="7200" dirty="0">
                <a:latin typeface="+mn-lt"/>
                <a:cs typeface="Arial" panose="020B0604020202020204" pitchFamily="34" charset="0"/>
              </a:rPr>
              <a:t> </a:t>
            </a:r>
            <a:r>
              <a:rPr lang="en-US" sz="7200" dirty="0">
                <a:solidFill>
                  <a:srgbClr val="00B0F0"/>
                </a:solidFill>
                <a:latin typeface="+mn-lt"/>
                <a:cs typeface="Arial" panose="020B0604020202020204" pitchFamily="34" charset="0"/>
              </a:rPr>
              <a:t>inversion</a:t>
            </a:r>
            <a:r>
              <a:rPr lang="en-US" sz="7200" dirty="0">
                <a:solidFill>
                  <a:srgbClr val="0AB3F1"/>
                </a:solidFill>
                <a:latin typeface="+mn-lt"/>
                <a:cs typeface="Arial" panose="020B0604020202020204" pitchFamily="34" charset="0"/>
              </a:rPr>
              <a:t> (</a:t>
            </a:r>
            <a:r>
              <a:rPr lang="el-GR" sz="7200" i="1" dirty="0">
                <a:solidFill>
                  <a:srgbClr val="0AB3F1"/>
                </a:solidFill>
                <a:cs typeface="Arial" panose="020B0604020202020204" pitchFamily="34" charset="0"/>
              </a:rPr>
              <a:t>ω</a:t>
            </a:r>
            <a:r>
              <a:rPr lang="en-US" sz="7200" i="1" dirty="0">
                <a:solidFill>
                  <a:srgbClr val="0AB3F1"/>
                </a:solidFill>
                <a:cs typeface="Arial" panose="020B0604020202020204" pitchFamily="34" charset="0"/>
              </a:rPr>
              <a:t>)</a:t>
            </a:r>
            <a:r>
              <a:rPr lang="en-US" sz="7200" dirty="0">
                <a:latin typeface="+mn-lt"/>
                <a:cs typeface="Arial" panose="020B0604020202020204" pitchFamily="34" charset="0"/>
              </a:rPr>
              <a:t> and </a:t>
            </a:r>
            <a:r>
              <a:rPr lang="en-US" sz="7200" dirty="0">
                <a:solidFill>
                  <a:srgbClr val="FF0000"/>
                </a:solidFill>
                <a:latin typeface="+mn-lt"/>
                <a:cs typeface="Arial" panose="020B0604020202020204" pitchFamily="34" charset="0"/>
              </a:rPr>
              <a:t>acyclic</a:t>
            </a:r>
            <a:r>
              <a:rPr lang="en-US" sz="7200" dirty="0">
                <a:solidFill>
                  <a:srgbClr val="FF1D1D"/>
                </a:solidFill>
                <a:latin typeface="+mn-lt"/>
                <a:cs typeface="Arial" panose="020B0604020202020204" pitchFamily="34" charset="0"/>
              </a:rPr>
              <a:t> (</a:t>
            </a:r>
            <a:r>
              <a:rPr lang="el-GR" sz="7200" i="1" dirty="0">
                <a:solidFill>
                  <a:srgbClr val="FF1D1D"/>
                </a:solidFill>
                <a:cs typeface="Arial" panose="020B0604020202020204" pitchFamily="34" charset="0"/>
              </a:rPr>
              <a:t>σ</a:t>
            </a:r>
            <a:r>
              <a:rPr lang="en-US" sz="7200" dirty="0">
                <a:solidFill>
                  <a:srgbClr val="FF1D1D"/>
                </a:solidFill>
                <a:latin typeface="+mn-lt"/>
                <a:cs typeface="Arial" panose="020B0604020202020204" pitchFamily="34" charset="0"/>
              </a:rPr>
              <a:t>)</a:t>
            </a:r>
            <a:r>
              <a:rPr lang="en-US" sz="7200" dirty="0">
                <a:latin typeface="+mn-lt"/>
                <a:cs typeface="Arial" panose="020B0604020202020204" pitchFamily="34" charset="0"/>
              </a:rPr>
              <a:t> symmetry.</a:t>
            </a:r>
          </a:p>
        </p:txBody>
      </p:sp>
      <p:pic>
        <p:nvPicPr>
          <p:cNvPr id="141" name="Picture 140" descr="\documentclass{article}&#10;\usepackage{amsmath,bm}&#10;\pagestyle{empty}&#10;\begin{document}&#10;&#10;\begin{equation*}&#10;\Psi_{\sigma\omega,ml}&#10;=&#10;\Phi_{ml\left(\zeta=\sigma\mathrm{i}^{m}\right)\left(\Omega=\omega\sigma\mathrm{i}^{m}(-1)^{l}\right)}&#10;\end{equation*}&#10;&#10;\end{document}" title="IguanaTex Bitmap Display">
            <a:extLst>
              <a:ext uri="{FF2B5EF4-FFF2-40B4-BE49-F238E27FC236}">
                <a16:creationId xmlns:a16="http://schemas.microsoft.com/office/drawing/2014/main" id="{6AC86F4F-A638-40A0-983D-D9DE0725603F}"/>
              </a:ext>
            </a:extLst>
          </p:cNvPr>
          <p:cNvPicPr>
            <a:picLocks noChangeAspect="1"/>
          </p:cNvPicPr>
          <p:nvPr>
            <p:custDataLst>
              <p:tags r:id="rId1"/>
            </p:custDataLst>
          </p:nvPr>
        </p:nvPicPr>
        <p:blipFill>
          <a:blip r:embed="rId7"/>
          <a:stretch>
            <a:fillRect/>
          </a:stretch>
        </p:blipFill>
        <p:spPr>
          <a:xfrm>
            <a:off x="14549031" y="10340613"/>
            <a:ext cx="14793139" cy="1072762"/>
          </a:xfrm>
          <a:prstGeom prst="rect">
            <a:avLst/>
          </a:prstGeom>
        </p:spPr>
      </p:pic>
      <p:sp>
        <p:nvSpPr>
          <p:cNvPr id="83" name="Text Placeholder 1 5 1 1 1 2">
            <a:extLst>
              <a:ext uri="{FF2B5EF4-FFF2-40B4-BE49-F238E27FC236}">
                <a16:creationId xmlns:a16="http://schemas.microsoft.com/office/drawing/2014/main" id="{D2522C23-A5D3-4CEE-BE3A-582570725D91}"/>
              </a:ext>
            </a:extLst>
          </p:cNvPr>
          <p:cNvSpPr txBox="1">
            <a:spLocks/>
          </p:cNvSpPr>
          <p:nvPr/>
        </p:nvSpPr>
        <p:spPr>
          <a:xfrm>
            <a:off x="7453813" y="16937493"/>
            <a:ext cx="28983575" cy="2326791"/>
          </a:xfrm>
          <a:prstGeom prst="rect">
            <a:avLst/>
          </a:prstGeom>
        </p:spPr>
        <p:txBody>
          <a:bodyPr vert="horz" wrap="none" lIns="329184" tIns="164592" rIns="329184" bIns="164592" rtlCol="0">
            <a:spAutoFit/>
          </a:bodyPr>
          <a:lstStyle>
            <a:lvl1pPr marL="228600" indent="-228600" algn="l" defTabSz="914400" rtl="0" eaLnBrk="1" latinLnBrk="0" hangingPunct="1">
              <a:lnSpc>
                <a:spcPct val="90000"/>
              </a:lnSpc>
              <a:spcBef>
                <a:spcPts val="1000"/>
              </a:spcBef>
              <a:buClr>
                <a:srgbClr val="005BBB"/>
              </a:buClr>
              <a:buFont typeface="Arial" panose="020B0604020202020204" pitchFamily="34" charset="0"/>
              <a:buChar char="•"/>
              <a:defRPr sz="2000" kern="1200" baseline="0">
                <a:solidFill>
                  <a:schemeClr val="tx1"/>
                </a:solidFill>
                <a:latin typeface="Gill Sans MT" panose="020B0502020104020203" pitchFamily="34" charset="0"/>
                <a:ea typeface="Gill Sans MT" panose="020B0502020104020203" pitchFamily="34" charset="0"/>
                <a:cs typeface="Arial" charset="0"/>
              </a:defRPr>
            </a:lvl1pPr>
            <a:lvl2pPr marL="685800" indent="-228600" algn="l" defTabSz="914400" rtl="0" eaLnBrk="1" latinLnBrk="0" hangingPunct="1">
              <a:lnSpc>
                <a:spcPct val="90000"/>
              </a:lnSpc>
              <a:spcBef>
                <a:spcPts val="500"/>
              </a:spcBef>
              <a:buClr>
                <a:srgbClr val="005BBB"/>
              </a:buClr>
              <a:buFont typeface="Arial" panose="020B0604020202020204" pitchFamily="34" charset="0"/>
              <a:buChar char="•"/>
              <a:defRPr sz="2000" kern="1200" baseline="0">
                <a:solidFill>
                  <a:schemeClr val="tx1"/>
                </a:solidFill>
                <a:latin typeface="Gill Sans MT" panose="020B0502020104020203" pitchFamily="34" charset="0"/>
                <a:ea typeface="Gill Sans MT" panose="020B0502020104020203" pitchFamily="34" charset="0"/>
                <a:cs typeface="Arial" charset="0"/>
              </a:defRPr>
            </a:lvl2pPr>
            <a:lvl3pPr marL="1143000" indent="-228600" algn="l" defTabSz="914400" rtl="0" eaLnBrk="1" latinLnBrk="0" hangingPunct="1">
              <a:lnSpc>
                <a:spcPct val="90000"/>
              </a:lnSpc>
              <a:spcBef>
                <a:spcPts val="500"/>
              </a:spcBef>
              <a:buClr>
                <a:srgbClr val="005BBB"/>
              </a:buClr>
              <a:buFont typeface="LucidaGrande" charset="0"/>
              <a:buChar char="-"/>
              <a:defRPr sz="1800" kern="1200" baseline="0">
                <a:solidFill>
                  <a:schemeClr val="tx1"/>
                </a:solidFill>
                <a:latin typeface="Gill Sans MT" panose="020B0502020104020203" pitchFamily="34" charset="0"/>
                <a:ea typeface="Gill Sans MT" panose="020B0502020104020203" pitchFamily="34" charset="0"/>
                <a:cs typeface="Arial" charset="0"/>
              </a:defRPr>
            </a:lvl3pPr>
            <a:lvl4pPr marL="1600200" indent="-228600" algn="l" defTabSz="914400" rtl="0" eaLnBrk="1" latinLnBrk="0" hangingPunct="1">
              <a:lnSpc>
                <a:spcPct val="90000"/>
              </a:lnSpc>
              <a:spcBef>
                <a:spcPts val="500"/>
              </a:spcBef>
              <a:buClr>
                <a:srgbClr val="005BBB"/>
              </a:buClr>
              <a:buFont typeface="Arial" panose="020B0604020202020204" pitchFamily="34" charset="0"/>
              <a:buChar char="•"/>
              <a:defRPr sz="1800" kern="1200">
                <a:solidFill>
                  <a:schemeClr val="tx1"/>
                </a:solidFill>
                <a:latin typeface="Arial" charset="0"/>
                <a:ea typeface="Arial" charset="0"/>
                <a:cs typeface="Arial" charset="0"/>
              </a:defRPr>
            </a:lvl4pPr>
            <a:lvl5pPr marL="2057400" indent="-228600" algn="l" defTabSz="914400" rtl="0" eaLnBrk="1" latinLnBrk="0" hangingPunct="1">
              <a:lnSpc>
                <a:spcPct val="90000"/>
              </a:lnSpc>
              <a:spcBef>
                <a:spcPts val="500"/>
              </a:spcBef>
              <a:buClr>
                <a:srgbClr val="005BBB"/>
              </a:buClr>
              <a:buFont typeface="Arial" panose="020B0604020202020204" pitchFamily="34" charset="0"/>
              <a:buChar char="•"/>
              <a:defRPr sz="180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7200" dirty="0">
                <a:latin typeface="+mn-lt"/>
                <a:cs typeface="Arial" panose="020B0604020202020204" pitchFamily="34" charset="0"/>
              </a:rPr>
              <a:t>States with m odd are indexed by </a:t>
            </a:r>
            <a:r>
              <a:rPr lang="en-US" sz="7200" dirty="0">
                <a:solidFill>
                  <a:srgbClr val="FF0000"/>
                </a:solidFill>
                <a:cs typeface="Arial" panose="020B0604020202020204" pitchFamily="34" charset="0"/>
              </a:rPr>
              <a:t>acyclic</a:t>
            </a:r>
            <a:r>
              <a:rPr lang="en-US" sz="7200" dirty="0">
                <a:solidFill>
                  <a:srgbClr val="FF1D1D"/>
                </a:solidFill>
                <a:cs typeface="Arial" panose="020B0604020202020204" pitchFamily="34" charset="0"/>
              </a:rPr>
              <a:t> (</a:t>
            </a:r>
            <a:r>
              <a:rPr lang="el-GR" sz="7200" i="1" dirty="0">
                <a:solidFill>
                  <a:srgbClr val="FF1D1D"/>
                </a:solidFill>
                <a:cs typeface="Arial" panose="020B0604020202020204" pitchFamily="34" charset="0"/>
              </a:rPr>
              <a:t>σ</a:t>
            </a:r>
            <a:r>
              <a:rPr lang="en-US" sz="7200" dirty="0">
                <a:solidFill>
                  <a:srgbClr val="FF1D1D"/>
                </a:solidFill>
                <a:cs typeface="Arial" panose="020B0604020202020204" pitchFamily="34" charset="0"/>
              </a:rPr>
              <a:t>)</a:t>
            </a:r>
            <a:r>
              <a:rPr lang="en-US" sz="7200" dirty="0">
                <a:cs typeface="Arial" panose="020B0604020202020204" pitchFamily="34" charset="0"/>
              </a:rPr>
              <a:t> </a:t>
            </a:r>
            <a:r>
              <a:rPr lang="en-US" sz="7200" dirty="0">
                <a:latin typeface="+mn-lt"/>
                <a:cs typeface="Arial" panose="020B0604020202020204" pitchFamily="34" charset="0"/>
              </a:rPr>
              <a:t>symmetry and a </a:t>
            </a:r>
            <a:r>
              <a:rPr lang="en-US" sz="7200" dirty="0">
                <a:solidFill>
                  <a:schemeClr val="accent1">
                    <a:lumMod val="75000"/>
                  </a:schemeClr>
                </a:solidFill>
                <a:latin typeface="+mn-lt"/>
                <a:cs typeface="Arial" panose="020B0604020202020204" pitchFamily="34" charset="0"/>
              </a:rPr>
              <a:t>free index (</a:t>
            </a:r>
            <a:r>
              <a:rPr lang="en-US" sz="7200" i="1" dirty="0">
                <a:solidFill>
                  <a:schemeClr val="accent1">
                    <a:lumMod val="75000"/>
                  </a:schemeClr>
                </a:solidFill>
                <a:latin typeface="+mn-lt"/>
                <a:cs typeface="Arial" panose="020B0604020202020204" pitchFamily="34" charset="0"/>
              </a:rPr>
              <a:t>h</a:t>
            </a:r>
            <a:r>
              <a:rPr lang="en-US" sz="7200" dirty="0">
                <a:solidFill>
                  <a:schemeClr val="accent1">
                    <a:lumMod val="75000"/>
                  </a:schemeClr>
                </a:solidFill>
                <a:latin typeface="+mn-lt"/>
                <a:cs typeface="Arial" panose="020B0604020202020204" pitchFamily="34" charset="0"/>
              </a:rPr>
              <a:t>)</a:t>
            </a:r>
            <a:r>
              <a:rPr lang="en-US" sz="7200" dirty="0">
                <a:latin typeface="+mn-lt"/>
                <a:cs typeface="Arial" panose="020B0604020202020204" pitchFamily="34" charset="0"/>
              </a:rPr>
              <a:t>.</a:t>
            </a:r>
          </a:p>
          <a:p>
            <a:pPr marL="0" indent="0" algn="ctr">
              <a:spcBef>
                <a:spcPts val="0"/>
              </a:spcBef>
              <a:buNone/>
            </a:pPr>
            <a:r>
              <a:rPr lang="en-US" sz="7200" i="1" dirty="0">
                <a:latin typeface="+mn-lt"/>
                <a:cs typeface="Arial" panose="020B0604020202020204" pitchFamily="34" charset="0"/>
              </a:rPr>
              <a:t>m</a:t>
            </a:r>
            <a:r>
              <a:rPr lang="en-US" sz="7200" dirty="0">
                <a:latin typeface="+mn-lt"/>
                <a:cs typeface="Arial" panose="020B0604020202020204" pitchFamily="34" charset="0"/>
              </a:rPr>
              <a:t> odd states only have odd </a:t>
            </a:r>
            <a:r>
              <a:rPr lang="en-US" sz="7200" dirty="0">
                <a:solidFill>
                  <a:srgbClr val="00B0F0"/>
                </a:solidFill>
                <a:latin typeface="+mn-lt"/>
                <a:cs typeface="Arial" panose="020B0604020202020204" pitchFamily="34" charset="0"/>
              </a:rPr>
              <a:t>inversion</a:t>
            </a:r>
            <a:r>
              <a:rPr lang="en-US" sz="7200" dirty="0">
                <a:latin typeface="+mn-lt"/>
                <a:cs typeface="Arial" panose="020B0604020202020204" pitchFamily="34" charset="0"/>
              </a:rPr>
              <a:t>.</a:t>
            </a:r>
          </a:p>
        </p:txBody>
      </p:sp>
      <p:pic>
        <p:nvPicPr>
          <p:cNvPr id="143" name="Picture 142" descr="\documentclass{article}&#10;\usepackage{amsmath,bm}&#10;\pagestyle{empty}&#10;\begin{document}&#10;&#10;\begin{equation*}&#10;\Psi_{\sigma h,ml}^{(q_{1})}&#10;=&#10;\Phi_{ml\left(\zeta=+h\right)\left(\Omega=h(-1)^{l}\right)}^{(q_{2})}&#10;-h\sigma\mathrm{i}^{m}\Phi_{ml\left(\zeta=-h\right)\left(\Omega=h(-1)^{l}\right)}^{(q_{3})}&#10;\end{equation*}&#10;&#10;\end{document}" title="IguanaTex Bitmap Display">
            <a:extLst>
              <a:ext uri="{FF2B5EF4-FFF2-40B4-BE49-F238E27FC236}">
                <a16:creationId xmlns:a16="http://schemas.microsoft.com/office/drawing/2014/main" id="{ADD5D089-3CC8-45A2-A4F6-7B135A8DA5FB}"/>
              </a:ext>
            </a:extLst>
          </p:cNvPr>
          <p:cNvPicPr>
            <a:picLocks noChangeAspect="1"/>
          </p:cNvPicPr>
          <p:nvPr>
            <p:custDataLst>
              <p:tags r:id="rId2"/>
            </p:custDataLst>
          </p:nvPr>
        </p:nvPicPr>
        <p:blipFill>
          <a:blip r:embed="rId8"/>
          <a:stretch>
            <a:fillRect/>
          </a:stretch>
        </p:blipFill>
        <p:spPr>
          <a:xfrm>
            <a:off x="9313219" y="20065855"/>
            <a:ext cx="25264763" cy="1596952"/>
          </a:xfrm>
          <a:prstGeom prst="rect">
            <a:avLst/>
          </a:prstGeom>
        </p:spPr>
      </p:pic>
      <p:pic>
        <p:nvPicPr>
          <p:cNvPr id="134" name="Picture 133" descr="\documentclass{article}&#10;\usepackage{amsmath,bm,eufrak}&#10;\pagestyle{empty}&#10;\begin{document}&#10;&#10;\begin{align*}&#10;\sigma = \pm 1 \\&#10;\omega = \pm 1 \\&#10;\end{align*}&#10;&#10;\end{document} " title="IguanaTex Bitmap Display">
            <a:extLst>
              <a:ext uri="{FF2B5EF4-FFF2-40B4-BE49-F238E27FC236}">
                <a16:creationId xmlns:a16="http://schemas.microsoft.com/office/drawing/2014/main" id="{3E0D5FEC-6BA4-4DE0-915B-1D87AB11B87D}"/>
              </a:ext>
            </a:extLst>
          </p:cNvPr>
          <p:cNvPicPr>
            <a:picLocks noChangeAspect="1"/>
          </p:cNvPicPr>
          <p:nvPr>
            <p:custDataLst>
              <p:tags r:id="rId3"/>
            </p:custDataLst>
          </p:nvPr>
        </p:nvPicPr>
        <p:blipFill>
          <a:blip r:embed="rId9"/>
          <a:stretch>
            <a:fillRect/>
          </a:stretch>
        </p:blipFill>
        <p:spPr>
          <a:xfrm>
            <a:off x="20333410" y="12253046"/>
            <a:ext cx="3224381" cy="2206476"/>
          </a:xfrm>
          <a:prstGeom prst="rect">
            <a:avLst/>
          </a:prstGeom>
          <a:solidFill>
            <a:srgbClr val="FFFFFF"/>
          </a:solidFill>
        </p:spPr>
      </p:pic>
      <p:pic>
        <p:nvPicPr>
          <p:cNvPr id="130" name="Picture 129" descr="\documentclass{article}&#10;\usepackage{amsmath,bm,eufrak}&#10;\pagestyle{empty}&#10;\begin{document}&#10;&#10;\begin{align*}&#10;\sigma = \pm 1 \\&#10;h = \pm 1 \\&#10;\end{align*}&#10;&#10;\end{document} " title="IguanaTex Bitmap Display">
            <a:extLst>
              <a:ext uri="{FF2B5EF4-FFF2-40B4-BE49-F238E27FC236}">
                <a16:creationId xmlns:a16="http://schemas.microsoft.com/office/drawing/2014/main" id="{C1A3EAE2-1ACD-4BD8-8651-76D18AF983DA}"/>
              </a:ext>
            </a:extLst>
          </p:cNvPr>
          <p:cNvPicPr>
            <a:picLocks noChangeAspect="1"/>
          </p:cNvPicPr>
          <p:nvPr>
            <p:custDataLst>
              <p:tags r:id="rId4"/>
            </p:custDataLst>
          </p:nvPr>
        </p:nvPicPr>
        <p:blipFill>
          <a:blip r:embed="rId10"/>
          <a:stretch>
            <a:fillRect/>
          </a:stretch>
        </p:blipFill>
        <p:spPr>
          <a:xfrm>
            <a:off x="20376076" y="22502478"/>
            <a:ext cx="3139048" cy="2206476"/>
          </a:xfrm>
          <a:prstGeom prst="rect">
            <a:avLst/>
          </a:prstGeom>
          <a:solidFill>
            <a:srgbClr val="FFFFFF"/>
          </a:solidFill>
        </p:spPr>
      </p:pic>
    </p:spTree>
    <p:extLst>
      <p:ext uri="{BB962C8B-B14F-4D97-AF65-F5344CB8AC3E}">
        <p14:creationId xmlns:p14="http://schemas.microsoft.com/office/powerpoint/2010/main" val="3456736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72" descr="\documentclass{article}&#10;\usepackage{amsmath,bm}&#10;\pagestyle{empty}&#10;\begin{document}&#10;&#10;\begin{equation*}&#10;\Psi_{A_{1}}&#10;=&#10;\sum_{m_{e}lk}&#10;c_{m_{e}lk}&#10;\sum_{q = x,y,z}&#10;\left(\frac{1}{\sqrt{3}}\right)&#10;\Phi_{m_{e}lk,\left(\zeta=\mathrm{i}^{m_{e}}\right)\left(\Omega=\mathrm{i}^{m_{e}}(-1)^{l}\right)}^{(q)}&#10;\end{equation*}&#10;&#10;\end{document}" title="IguanaTex Bitmap Display">
            <a:extLst>
              <a:ext uri="{FF2B5EF4-FFF2-40B4-BE49-F238E27FC236}">
                <a16:creationId xmlns:a16="http://schemas.microsoft.com/office/drawing/2014/main" id="{864B2CD9-BCE7-40F4-9622-3DCACEC2EC75}"/>
              </a:ext>
            </a:extLst>
          </p:cNvPr>
          <p:cNvPicPr>
            <a:picLocks noChangeAspect="1"/>
          </p:cNvPicPr>
          <p:nvPr>
            <p:custDataLst>
              <p:tags r:id="rId1"/>
            </p:custDataLst>
          </p:nvPr>
        </p:nvPicPr>
        <p:blipFill>
          <a:blip r:embed="rId12"/>
          <a:stretch>
            <a:fillRect/>
          </a:stretch>
        </p:blipFill>
        <p:spPr>
          <a:xfrm>
            <a:off x="11989849" y="7463582"/>
            <a:ext cx="19911502" cy="2261210"/>
          </a:xfrm>
          <a:prstGeom prst="rect">
            <a:avLst/>
          </a:prstGeom>
        </p:spPr>
      </p:pic>
      <p:pic>
        <p:nvPicPr>
          <p:cNvPr id="102" name="Picture 101" descr="\documentclass{article}&#10;\usepackage{amsmath,bm}&#10;\pagestyle{empty}&#10;\begin{document}&#10;&#10;\begin{equation*}&#10;\Psi_{E_{i}}&#10;=&#10;\sum_{m_{e}lk\sigma}&#10;c_{m_{e}lk\sigma}&#10;\sum_{q = x,y,z}&#10;\left(\beta_{E_{i}}^{(\sigma)}\right)_{q}&#10;\Phi_{m_{e}lk,\left(\zeta=\sigma\mathrm{i}^{m_{e}}\right)\left(\Omega=\sigma\mathrm{i}^{m_{e}}(-1)^{l}\right)}^{(q)}&#10;\end{equation*}&#10;&#10;\end{document}" title="IguanaTex Bitmap Display">
            <a:extLst>
              <a:ext uri="{FF2B5EF4-FFF2-40B4-BE49-F238E27FC236}">
                <a16:creationId xmlns:a16="http://schemas.microsoft.com/office/drawing/2014/main" id="{8D2A9F6D-D49C-4577-B6F0-E74490EF75EC}"/>
              </a:ext>
            </a:extLst>
          </p:cNvPr>
          <p:cNvPicPr>
            <a:picLocks noChangeAspect="1"/>
          </p:cNvPicPr>
          <p:nvPr>
            <p:custDataLst>
              <p:tags r:id="rId2"/>
            </p:custDataLst>
          </p:nvPr>
        </p:nvPicPr>
        <p:blipFill>
          <a:blip r:embed="rId13"/>
          <a:stretch>
            <a:fillRect/>
          </a:stretch>
        </p:blipFill>
        <p:spPr>
          <a:xfrm>
            <a:off x="11071549" y="10864970"/>
            <a:ext cx="21748102" cy="2014354"/>
          </a:xfrm>
          <a:prstGeom prst="rect">
            <a:avLst/>
          </a:prstGeom>
        </p:spPr>
      </p:pic>
      <p:grpSp>
        <p:nvGrpSpPr>
          <p:cNvPr id="46" name="Group 45">
            <a:extLst>
              <a:ext uri="{FF2B5EF4-FFF2-40B4-BE49-F238E27FC236}">
                <a16:creationId xmlns:a16="http://schemas.microsoft.com/office/drawing/2014/main" id="{980F15C3-D595-41CB-B6AB-8CADA7AC6D83}"/>
              </a:ext>
            </a:extLst>
          </p:cNvPr>
          <p:cNvGrpSpPr/>
          <p:nvPr/>
        </p:nvGrpSpPr>
        <p:grpSpPr>
          <a:xfrm>
            <a:off x="14657784" y="14263643"/>
            <a:ext cx="14575633" cy="2749061"/>
            <a:chOff x="6964171" y="3838118"/>
            <a:chExt cx="4048787" cy="763628"/>
          </a:xfrm>
        </p:grpSpPr>
        <p:grpSp>
          <p:nvGrpSpPr>
            <p:cNvPr id="45" name="Group 44">
              <a:extLst>
                <a:ext uri="{FF2B5EF4-FFF2-40B4-BE49-F238E27FC236}">
                  <a16:creationId xmlns:a16="http://schemas.microsoft.com/office/drawing/2014/main" id="{6FFD8E46-B34A-4FF7-86CB-79EDE9D46181}"/>
                </a:ext>
              </a:extLst>
            </p:cNvPr>
            <p:cNvGrpSpPr/>
            <p:nvPr>
              <p:custDataLst>
                <p:tags r:id="rId6"/>
              </p:custDataLst>
            </p:nvPr>
          </p:nvGrpSpPr>
          <p:grpSpPr>
            <a:xfrm>
              <a:off x="6964171" y="3838118"/>
              <a:ext cx="2171123" cy="763628"/>
              <a:chOff x="6964171" y="3838118"/>
              <a:chExt cx="2171123" cy="763628"/>
            </a:xfrm>
          </p:grpSpPr>
          <p:pic>
            <p:nvPicPr>
              <p:cNvPr id="44" name="Picture 43">
                <a:extLst>
                  <a:ext uri="{FF2B5EF4-FFF2-40B4-BE49-F238E27FC236}">
                    <a16:creationId xmlns:a16="http://schemas.microsoft.com/office/drawing/2014/main" id="{1F407A43-AF9D-49DE-8682-E6D93E3DA979}"/>
                  </a:ext>
                </a:extLst>
              </p:cNvPr>
              <p:cNvPicPr>
                <a:picLocks noChangeAspect="1"/>
              </p:cNvPicPr>
              <p:nvPr>
                <p:custDataLst>
                  <p:tags r:id="rId8"/>
                </p:custDataLst>
              </p:nvPr>
            </p:nvPicPr>
            <p:blipFill>
              <a:blip r:embed="rId14"/>
              <a:stretch>
                <a:fillRect/>
              </a:stretch>
            </p:blipFill>
            <p:spPr>
              <a:xfrm>
                <a:off x="6964171" y="3838118"/>
                <a:ext cx="2171123" cy="460800"/>
              </a:xfrm>
              <a:prstGeom prst="rect">
                <a:avLst/>
              </a:prstGeom>
            </p:spPr>
          </p:pic>
          <p:pic>
            <p:nvPicPr>
              <p:cNvPr id="23" name="Picture 22"/>
              <p:cNvPicPr>
                <a:picLocks noChangeAspect="1"/>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7443257" y="4383536"/>
                <a:ext cx="1178819" cy="218210"/>
              </a:xfrm>
              <a:prstGeom prst="rect">
                <a:avLst/>
              </a:prstGeom>
            </p:spPr>
          </p:pic>
        </p:grpSp>
        <p:pic>
          <p:nvPicPr>
            <p:cNvPr id="21" name="Picture 20"/>
            <p:cNvPicPr>
              <a:picLocks noChangeAspect="1"/>
            </p:cNvPicPr>
            <p:nvPr>
              <p:custDataLst>
                <p:tags r:id="rId7"/>
              </p:custDataLst>
            </p:nvPr>
          </p:nvPicPr>
          <p:blipFill>
            <a:blip r:embed="rId16">
              <a:extLst>
                <a:ext uri="{28A0092B-C50C-407E-A947-70E740481C1C}">
                  <a14:useLocalDpi xmlns:a14="http://schemas.microsoft.com/office/drawing/2010/main" val="0"/>
                </a:ext>
              </a:extLst>
            </a:blip>
            <a:stretch>
              <a:fillRect/>
            </a:stretch>
          </p:blipFill>
          <p:spPr>
            <a:xfrm>
              <a:off x="9730520" y="3994408"/>
              <a:ext cx="1282438" cy="451048"/>
            </a:xfrm>
            <a:prstGeom prst="rect">
              <a:avLst/>
            </a:prstGeom>
          </p:spPr>
        </p:pic>
      </p:grpSp>
      <p:sp>
        <p:nvSpPr>
          <p:cNvPr id="5" name="Title 4">
            <a:extLst>
              <a:ext uri="{FF2B5EF4-FFF2-40B4-BE49-F238E27FC236}">
                <a16:creationId xmlns:a16="http://schemas.microsoft.com/office/drawing/2014/main" id="{8C0AE65B-8527-4321-B680-415EFF886D66}"/>
              </a:ext>
            </a:extLst>
          </p:cNvPr>
          <p:cNvSpPr>
            <a:spLocks noGrp="1"/>
          </p:cNvSpPr>
          <p:nvPr>
            <p:ph type="title"/>
          </p:nvPr>
        </p:nvSpPr>
        <p:spPr/>
        <p:txBody>
          <a:bodyPr/>
          <a:lstStyle/>
          <a:p>
            <a:r>
              <a:rPr lang="en-US" dirty="0"/>
              <a:t>Fully symmetrized wavefunctions</a:t>
            </a:r>
          </a:p>
        </p:txBody>
      </p:sp>
      <p:pic>
        <p:nvPicPr>
          <p:cNvPr id="53" name="Picture 52" descr="\documentclass{article}&#10;\usepackage{amsmath,bm}&#10;\pagestyle{empty}&#10;\begin{document}&#10;&#10;\begin{equation*}&#10;\Psi_{A_{2}}&#10;=&#10;\sum_{m_{e}lk}&#10;\sum_{q = x,y,z} &#10;\left(\frac{1}{\sqrt{3}}\right)&#10;\Phi_{m_{e}lk,\left(\zeta=-\mathrm{i}^{m_{e}}\right)\left(\Omega=-\mathrm{i}^{m_{e}}(-1)^{l}\right)}^{(q)}&#10;\end{equation*}&#10;&#10;\end{document}" title="IguanaTex Bitmap Display">
            <a:extLst>
              <a:ext uri="{FF2B5EF4-FFF2-40B4-BE49-F238E27FC236}">
                <a16:creationId xmlns:a16="http://schemas.microsoft.com/office/drawing/2014/main" id="{BE107570-DD70-408B-B36A-D83D1F4577BB}"/>
              </a:ext>
            </a:extLst>
          </p:cNvPr>
          <p:cNvPicPr>
            <a:picLocks noChangeAspect="1"/>
          </p:cNvPicPr>
          <p:nvPr>
            <p:custDataLst>
              <p:tags r:id="rId3"/>
            </p:custDataLst>
          </p:nvPr>
        </p:nvPicPr>
        <p:blipFill>
          <a:blip r:embed="rId17"/>
          <a:stretch>
            <a:fillRect/>
          </a:stretch>
        </p:blipFill>
        <p:spPr>
          <a:xfrm>
            <a:off x="12478625" y="18757705"/>
            <a:ext cx="18933950" cy="2261210"/>
          </a:xfrm>
          <a:prstGeom prst="rect">
            <a:avLst/>
          </a:prstGeom>
        </p:spPr>
      </p:pic>
      <p:pic>
        <p:nvPicPr>
          <p:cNvPr id="96" name="Picture 95" descr="\documentclass{article}&#10;\usepackage{amsmath,bm}&#10;\pagestyle{empty}&#10;\begin{document}&#10;&#10;\begin{align*}&#10;\Psi_{T_{1}^{(q)}}&#10;=&#10;\sum_{m_{e}lk}&#10;c_{m_{e}lk}&#10;\Phi_{m_{e}lk,\left(\zeta=-\mathrm{i}^{m_{e}}\right)\left(\zeta=\mathrm{i}^{m_{e}}(-1)^{l}\right)}^{(q)}&#10;+&#10;\sum_{m_{o}lkh}&#10;c_{m_{o}lkh}&#10;\frac&#10;{&#10;\Phi_{m_{o}lk\left(\zeta=+h\right)\left(\Omega=h(-1)^{l}\right)}^{\left(q_{2}\right)}&#10;+ h\mathrm{i}^{m_{o}}\Phi_{m_{o}lk\left(\zeta=-h\right)\left(\Omega=h(-1)^{l}\right)}^{\left(q_{3}\right)}&#10;}&#10;{\sqrt{2}}&#10;\end{align*}&#10;&#10;\end{document}" title="IguanaTex Bitmap Display">
            <a:extLst>
              <a:ext uri="{FF2B5EF4-FFF2-40B4-BE49-F238E27FC236}">
                <a16:creationId xmlns:a16="http://schemas.microsoft.com/office/drawing/2014/main" id="{65B54ADC-2576-4066-91AE-15F09FD0DACB}"/>
              </a:ext>
            </a:extLst>
          </p:cNvPr>
          <p:cNvPicPr>
            <a:picLocks noChangeAspect="1"/>
          </p:cNvPicPr>
          <p:nvPr>
            <p:custDataLst>
              <p:tags r:id="rId4"/>
            </p:custDataLst>
          </p:nvPr>
        </p:nvPicPr>
        <p:blipFill>
          <a:blip r:embed="rId18"/>
          <a:stretch>
            <a:fillRect/>
          </a:stretch>
        </p:blipFill>
        <p:spPr>
          <a:xfrm>
            <a:off x="2295805" y="22823464"/>
            <a:ext cx="39299590" cy="2685807"/>
          </a:xfrm>
          <a:prstGeom prst="rect">
            <a:avLst/>
          </a:prstGeom>
        </p:spPr>
      </p:pic>
      <p:pic>
        <p:nvPicPr>
          <p:cNvPr id="104" name="Picture 103" descr="\documentclass{article}&#10;\usepackage{amsmath,bm}&#10;\pagestyle{empty}&#10;\begin{document}&#10;&#10;\begin{align*}&#10;\Psi_{T_{2}^{\left(q_{1}\right)}}&#10;=&#10;\sum_{m_{e}lk}&#10;c_{m_{e}lk}&#10;\Phi_{m_{e}lk,\left(\zeta=\mathrm{i}^{m_{e}}\right)\left(\zeta=-\mathrm{i}^{m_{e}}(-1)^{l}\right)}^{(q)}&#10;+&#10;\sum_{m_{o}lkh}&#10;c_{m_{o}lkh}&#10;\frac&#10;{&#10;\Phi_{m_{o}lk\left(\zeta=+h\right)\left(\Omega=h(-1)^{l}\right)}^{\left(q_{2}\right)}&#10;- h\mathrm{i}^{m_{o}}\Phi_{m_{o}lk\left(\zeta=-h\right)\left(\Omega=h(-1)^{l}\right)}^{\left(q_{3}\right)}&#10;}&#10;{\sqrt{2}}&#10;\end{align*}&#10;&#10;\end{document}" title="IguanaTex Bitmap Display">
            <a:extLst>
              <a:ext uri="{FF2B5EF4-FFF2-40B4-BE49-F238E27FC236}">
                <a16:creationId xmlns:a16="http://schemas.microsoft.com/office/drawing/2014/main" id="{18842ABD-4678-4045-9B66-F7005429607A}"/>
              </a:ext>
            </a:extLst>
          </p:cNvPr>
          <p:cNvPicPr>
            <a:picLocks noChangeAspect="1"/>
          </p:cNvPicPr>
          <p:nvPr>
            <p:custDataLst>
              <p:tags r:id="rId5"/>
            </p:custDataLst>
          </p:nvPr>
        </p:nvPicPr>
        <p:blipFill>
          <a:blip r:embed="rId19"/>
          <a:stretch>
            <a:fillRect/>
          </a:stretch>
        </p:blipFill>
        <p:spPr>
          <a:xfrm>
            <a:off x="2142736" y="26568953"/>
            <a:ext cx="39605729" cy="2685811"/>
          </a:xfrm>
          <a:prstGeom prst="rect">
            <a:avLst/>
          </a:prstGeom>
        </p:spPr>
      </p:pic>
    </p:spTree>
    <p:extLst>
      <p:ext uri="{BB962C8B-B14F-4D97-AF65-F5344CB8AC3E}">
        <p14:creationId xmlns:p14="http://schemas.microsoft.com/office/powerpoint/2010/main" val="20733090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87.73905"/>
  <p:tag name="ORIGINALWIDTH" val="399.7"/>
  <p:tag name="OUTPUTTYPE" val="PNG"/>
  <p:tag name="IGUANATEXVERSION" val="159"/>
  <p:tag name="LATEXADDIN" val="\documentclass{article}&#10;\usepackage{amsmath,bm,eufrak}&#10;\pagestyle{empty}&#10;\begin{document}&#10;&#10;\begin{equation*}&#10;\Omega = \pm 1 \\&#10;\end{equation*}&#10;&#10;\end{document} "/>
  <p:tag name="IGUANATEXSIZE" val="28"/>
  <p:tag name="IGUANATEXCURSOR" val="118"/>
  <p:tag name="TRANSPARENCY" val="False"/>
  <p:tag name="FILENAME" val=""/>
  <p:tag name="LATEXENGINEID" val="0"/>
  <p:tag name="TEMPFOLDER" val="C:\iguanatex\"/>
  <p:tag name="LATEXFORMHEIGHT" val="463"/>
  <p:tag name="LATEXFORMWIDTH" val="938"/>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459.6925"/>
  <p:tag name="ORIGINALWIDTH" val="3977.503"/>
  <p:tag name="OUTPUTTYPE" val="PNG"/>
  <p:tag name="IGUANATEXVERSION" val="159"/>
  <p:tag name="LATEXADDIN" val="\documentclass{article}&#10;\usepackage{amsmath,bm}&#10;\pagestyle{empty}&#10;\begin{document}&#10;&#10;\begin{equation*}&#10;\Phi_{\lambda\eta;mlk,\zeta\Omega}^{(Wq)}&#10;=&#10;\sqrt{\lambda\left(\frac{2}{W\eta}\right)^{3}}&#10;\left(&#10;\varphi_{m\zeta lk}^{(W)}&#10;\right|_{\substack{r \rightarrow 2r/W\eta \\ z \rightarrow \lambda z \\ z \rightarrow q:\left\{x,y,z\right\}}}&#10;\left(&#10;\frac&#10;{\mathrm{e}^{\mathrm{i}\bm{k}_q\cdot \bm{r}}u_{\bm{k}_q}&#10;+ \Omega\mathrm{e}^{-\mathrm{i}\bm{k}_q\cdot \bm{r}}u_{-\bm{k}_q}}&#10;{\sqrt{2}}&#10;\right)&#10;\end{equation*}&#10;&#10;\end{document}"/>
  <p:tag name="IGUANATEXSIZE" val="24"/>
  <p:tag name="IGUANATEXCURSOR" val="218"/>
  <p:tag name="TRANSPARENCY" val="True"/>
  <p:tag name="FILENAME" val=""/>
  <p:tag name="LATEXENGINEID" val="0"/>
  <p:tag name="TEMPFOLDER" val="C:\iguanatex\"/>
  <p:tag name="LATEXFORMHEIGHT" val="463"/>
  <p:tag name="LATEXFORMWIDTH" val="938"/>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343.4571"/>
  <p:tag name="ORIGINALWIDTH" val="3024.372"/>
  <p:tag name="OUTPUTTYPE" val="PNG"/>
  <p:tag name="IGUANATEXVERSION" val="159"/>
  <p:tag name="LATEXADDIN" val="\documentclass{article}&#10;\usepackage{amsmath,bm}&#10;\pagestyle{empty}&#10;\begin{document}&#10;&#10;\begin{equation*}&#10;\Psi_{A_{1}}&#10;=&#10;\sum_{m_{e}lk}&#10;c_{m_{e}lk}&#10;\sum_{q = x,y,z}&#10;\left(\frac{1}{\sqrt{3}}\right)&#10;\Phi_{m_{e}lk,\left(\zeta=\mathrm{i}^{m_{e}}\right)\left(\Omega=\mathrm{i}^{m_{e}}(-1)^{l}\right)}^{(q)}&#10;\end{equation*}&#10;&#10;\end{document}"/>
  <p:tag name="IGUANATEXSIZE" val="30"/>
  <p:tag name="IGUANATEXCURSOR" val="143"/>
  <p:tag name="TRANSPARENCY" val="True"/>
  <p:tag name="FILENAME" val=""/>
  <p:tag name="LATEXENGINEID" val="0"/>
  <p:tag name="TEMPFOLDER" val="C:\iguanatex\"/>
  <p:tag name="LATEXFORMHEIGHT" val="463"/>
  <p:tag name="LATEXFORMWIDTH" val="938"/>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718.4102"/>
  <p:tag name="ORIGINALWIDTH" val="3324.334"/>
  <p:tag name="OUTPUTTYPE" val="PNG"/>
  <p:tag name="IGUANATEXVERSION" val="159"/>
  <p:tag name="LATEXADDIN" val="\documentclass{article}&#10;\usepackage{amsmath,bm}&#10;\pagestyle{empty}&#10;\begin{document}&#10;&#10;\begin{equation*}&#10;\Psi_{E_{n}}&#10;=&#10;\sum_{m_{e}lk\sigma}&#10;c_{m_{e}lk\sigma}&#10;\sum_{q = x,y,z}&#10;\left(\beta_{E_{n}}^{(\sigma)}\right)_{q}&#10;\Phi_{m_{e}lk,\left(\zeta=\sigma\mathrm{i}^{m_{e}}\right)\left(\Omega=\sigma\mathrm{i}^{m_{e}}(-1)^{l}\right)}^{(q)}&#10;\end{equation*}&#10;\begin{equation*}&#10;\bm{\beta}_{E_{1}}^{(\sigma)}&#10;=&#10;\mathrm{i}^{\frac{1-\sigma}{2}}&#10;\frac{1}{\sqrt{3}}&#10;\left\{\tau, \tau^{2}, 1\right\}&#10;\quad&#10;\bm{\beta}_{E_{2}}&#10;=&#10;\left(\bm{\beta}_{E_{1}}\right)^{*}&#10;\quad&#10;\tau = -\frac{1}{2} + \mathrm{i}\frac{\sqrt{3}}{2}&#10;\end{equation*}&#10;&#10;\end{document}"/>
  <p:tag name="IGUANATEXSIZE" val="30"/>
  <p:tag name="IGUANATEXCURSOR" val="601"/>
  <p:tag name="TRANSPARENCY" val="True"/>
  <p:tag name="FILENAME" val=""/>
  <p:tag name="LATEXENGINEID" val="0"/>
  <p:tag name="TEMPFOLDER" val="C:\iguanatex\"/>
  <p:tag name="LATEXFORMHEIGHT" val="463"/>
  <p:tag name="LATEXFORMWIDTH" val="938"/>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762.6547"/>
  <p:tag name="ORIGINALWIDTH" val="3937.758"/>
  <p:tag name="OUTPUTTYPE" val="PNG"/>
  <p:tag name="IGUANATEXVERSION" val="159"/>
  <p:tag name="LATEXADDIN" val="\documentclass{article}&#10;\usepackage{amsmath,bm}&#10;\pagestyle{empty}&#10;\begin{document}&#10;&#10;\begin{align*}&#10;\Psi_{T_{2}^{\left(q_{1}\right)}}^{(e)}&#10;&amp; =&#10;\sum_{m_{e}lk}&#10;c_{m_{e}lk}&#10;\Phi_{m_{e}lk,\left(\zeta=\mathrm{i}^{m_{e}}\right)\left(\Omega=-\mathrm{i}^{m_{e}}(-1)^{l}\right)}^{(q)}&#10;\\&#10;\Psi_{T_{2}^{\left(q_{1}\right)}}^{(o)}&#10;&amp; =&#10;\sum_{m_{o}lkh}&#10;c_{m_{o}lkh}&#10;\frac&#10;{&#10;\Phi_{m_{o}lk\left(\zeta=+h\right)\left(\Omega=h(-1)^{l}\right)}^{\left(q_{2}\right)}&#10;- h\mathrm{i}^{m_{o}}\Phi_{m_{o}lk\left(\zeta=-h\right)\left(\Omega=h(-1)^{l}\right)}^{\left(q_{3}\right)}&#10;}&#10;{\sqrt{2}}&#10;\end{align*}&#10;&#10;\end{document}"/>
  <p:tag name="IGUANATEXSIZE" val="24"/>
  <p:tag name="IGUANATEXCURSOR" val="318"/>
  <p:tag name="TRANSPARENCY" val="True"/>
  <p:tag name="FILENAME" val=""/>
  <p:tag name="LATEXENGINEID" val="0"/>
  <p:tag name="TEMPFOLDER" val="C:\iguanatex\"/>
  <p:tag name="LATEXFORMHEIGHT" val="463"/>
  <p:tag name="LATEXFORMWIDTH" val="938"/>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28.2339"/>
  <p:tag name="ORIGINALWIDTH" val="3936.258"/>
  <p:tag name="OUTPUTTYPE" val="PNG"/>
  <p:tag name="IGUANATEXVERSION" val="159"/>
  <p:tag name="LATEXADDIN" val="\documentclass{article}&#10;\usepackage{amsmath,bm,eufrak}&#10;\pagestyle{empty}&#10;\begin{document}&#10;&#10;\begin{align*}&#10;U&#10;&amp; =&#10;U_{A_{1}}&#10;+&#10;U_{E_{1}}&#10;+&#10;U_{E_{2}}&#10;+&#10;U_{T_{2x}}&#10;+&#10;U_{T_{2y}}&#10;+&#10;U_{T_{2z}}&#10;+&#10;U_{A_{2}}&#10;+&#10;U_{T_{1x}}&#10;+&#10;U_{T_{1y}}&#10;+&#10;U_{T_{1z}}&#10;\end{align*}&#10;&#10;\end{document}"/>
  <p:tag name="IGUANATEXSIZE" val="25"/>
  <p:tag name="IGUANATEXCURSOR" val="107"/>
  <p:tag name="TRANSPARENCY" val="True"/>
  <p:tag name="FILENAME" val=""/>
  <p:tag name="LATEXENGINEID" val="0"/>
  <p:tag name="TEMPFOLDER" val="C:\iguanatex\"/>
  <p:tag name="LATEXFORMHEIGHT" val="463"/>
  <p:tag name="LATEXFORMWIDTH" val="1002"/>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254.2182"/>
  <p:tag name="ORIGINALWIDTH" val="2565.429"/>
  <p:tag name="OUTPUTTYPE" val="PNG"/>
  <p:tag name="IGUANATEXVERSION" val="159"/>
  <p:tag name="LATEXADDIN" val="\documentclass{article}&#10;\usepackage{amsmath,amssymb,bm}&#10;\pagestyle{empty}&#10;\begin{document}&#10;&#10;\begin{equation*}&#10;U_{\text{Dyn}} = -\frac{2}{r}\left(1+A\mathrm{e}^{-\alpha r} + \left(\epsilon_{0}-A\right)\mathrm{e}^{-\beta r} - \mathrm{e}^{-\gamma r}\right)&#10;\end{equation*}&#10;&#10;\end{document}"/>
  <p:tag name="IGUANATEXSIZE" val="40"/>
  <p:tag name="IGUANATEXCURSOR" val="124"/>
  <p:tag name="TRANSPARENCY" val="True"/>
  <p:tag name="FILENAME" val=""/>
  <p:tag name="LATEXENGINEID" val="0"/>
  <p:tag name="TEMPFOLDER" val="C:\iguanatex\"/>
  <p:tag name="LATEXFORMHEIGHT" val="607.5"/>
  <p:tag name="LATEXFORMWIDTH" val="938"/>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361.4548"/>
  <p:tag name="ORIGINALWIDTH" val="2530.184"/>
  <p:tag name="OUTPUTTYPE" val="PNG"/>
  <p:tag name="IGUANATEXVERSION" val="159"/>
  <p:tag name="LATEXADDIN" val="\documentclass{article}&#10;\usepackage{amsmath,amssymb,bm}&#10;\pagestyle{empty}&#10;\begin{document}&#10;&#10;\begin{equation*}&#10;U_{\text{Gamble}} = -\frac{2}{r} +  A_{0}\mathrm{e}^{-\beta_{0}r^2} + A_{1}\sum_{i=1}^{4}\mathrm{e}^{-\beta_{1}\left|\bm{r}-b\bm{t}_{i}\right|^{2}}&#10;\end{equation*}&#10;&#10;\end{document}"/>
  <p:tag name="IGUANATEXSIZE" val="40"/>
  <p:tag name="IGUANATEXCURSOR" val="221"/>
  <p:tag name="TRANSPARENCY" val="True"/>
  <p:tag name="FILENAME" val=""/>
  <p:tag name="LATEXENGINEID" val="0"/>
  <p:tag name="TEMPFOLDER" val="C:\iguanatex\"/>
  <p:tag name="LATEXFORMHEIGHT" val="607.5"/>
  <p:tag name="LATEXFORMWIDTH" val="938"/>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131.9835"/>
  <p:tag name="ORIGINALWIDTH" val="1623.547"/>
  <p:tag name="OUTPUTTYPE" val="PNG"/>
  <p:tag name="IGUANATEXVERSION" val="159"/>
  <p:tag name="LATEXADDIN" val="\documentclass{article}&#10;\usepackage{amsmath,amssymb,bm}&#10;\pagestyle{empty}&#10;\begin{document}&#10;&#10;\begin{equation*}&#10;\bm{t}_{i} = \left\{\left[111\right],\left[\bar{1}1\bar{1}\right],\left[1\bar{1}\bar{1}\right],\left[\bar{1}\bar{1}1\right]\right\}&#10;\end{equation*}&#10;&#10;\end{document}"/>
  <p:tag name="IGUANATEXSIZE" val="36"/>
  <p:tag name="IGUANATEXCURSOR" val="233"/>
  <p:tag name="TRANSPARENCY" val="True"/>
  <p:tag name="FILENAME" val=""/>
  <p:tag name="LATEXENGINEID" val="0"/>
  <p:tag name="TEMPFOLDER" val="C:\iguanatex\"/>
  <p:tag name="LATEXFORMHEIGHT" val="607.5"/>
  <p:tag name="LATEXFORMWIDTH" val="938"/>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373.4533"/>
  <p:tag name="ORIGINALWIDTH" val="3399.325"/>
  <p:tag name="OUTPUTTYPE" val="PNG"/>
  <p:tag name="IGUANATEXVERSION" val="159"/>
  <p:tag name="LATEXADDIN" val="\documentclass{article}&#10;\usepackage{amsmath,bm,eufrak}&#10;\pagestyle{empty}&#10;\begin{document}&#10;&#10;\begin{equation*}&#10;\varphi_{m\zeta lk}^{(W)}&#10;= &#10;\sqrt{W}&#10;r^{l}&#10;\exp\left(-\frac{r^{W}}{2}\right)&#10;\hat{L}_{k\left\{r^{W}\right\}}^{\left(\frac{2l+3}{W}-1\right)}&#10;\left(&#10;\frac{\hat{Y}_{l}^{+m}+\zeta\hat{Y}_{l}^{-m}}&#10;{2\delta_{m0} + \sqrt{2}\left(1-\delta_{m0}\right)}&#10;\right)&#10;\end{equation*}&#10;&#10;\end{document} "/>
  <p:tag name="IGUANATEXSIZE" val="28"/>
  <p:tag name="IGUANATEXCURSOR" val="127"/>
  <p:tag name="TRANSPARENCY" val="True"/>
  <p:tag name="FILENAME" val=""/>
  <p:tag name="LATEXENGINEID" val="0"/>
  <p:tag name="TEMPFOLDER" val="C:\iguanatex\"/>
  <p:tag name="LATEXFORMHEIGHT" val="463"/>
  <p:tag name="LATEXFORMWIDTH" val="938"/>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112.4859"/>
  <p:tag name="ORIGINALWIDTH" val="3568.804"/>
  <p:tag name="OUTPUTTYPE" val="PNG"/>
  <p:tag name="IGUANATEXVERSION" val="159"/>
  <p:tag name="LATEXADDIN" val="\documentclass{article}&#10;\usepackage{amsmath,bm,eufrak}&#10;\pagestyle{empty}&#10;\begin{document}&#10;&#10;\begin{equation*}&#10;m = 0, 1, 2, \ldots \quad&#10;\zeta = \pm 1 \quad&#10;l = m, m+1, m+2, \ldots \quad&#10;k = 0, 1, 2, \ldots&#10;\end{equation*}&#10;&#10;\end{document} "/>
  <p:tag name="IGUANATEXSIZE" val="28"/>
  <p:tag name="IGUANATEXCURSOR" val="141"/>
  <p:tag name="TRANSPARENCY" val="True"/>
  <p:tag name="FILENAME" val=""/>
  <p:tag name="LATEXENGINEID" val="0"/>
  <p:tag name="TEMPFOLDER" val="C:\iguanatex\"/>
  <p:tag name="LATEXFORMHEIGHT" val="463"/>
  <p:tag name="LATEXFORMWIDTH" val="938"/>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295.4631"/>
  <p:tag name="ORIGINALWIDTH" val="2427.447"/>
  <p:tag name="OUTPUTTYPE" val="PNG"/>
  <p:tag name="IGUANATEXVERSION" val="159"/>
  <p:tag name="LATEXADDIN" val="\documentclass{article}&#10;\usepackage{amsmath,bm,eufrak}&#10;\pagestyle{empty}&#10;\begin{document}&#10;&#10;\begin{align*}&#10;U_{\left\{\bm{r}\right\}}&#10;&amp; =&#10;\sum_{i}&#10;\mathfrak{U}_{i}&#10;r^{\mathfrak{e}_{i}}&#10;\sum_{j}&#10;\mathcal{U}_{ij\left\{\Omega\right\}}&#10;\mathrm{e}^{-\alpha_{ij\left\{\Omega\right\}}r}&#10;\mathrm{e}^{-\beta_{ij\left\{\Omega\right\}}r^{2}}&#10;\end{align*}&#10;&#10;\end{document}"/>
  <p:tag name="IGUANATEXSIZE" val="58"/>
  <p:tag name="IGUANATEXCURSOR" val="249"/>
  <p:tag name="TRANSPARENCY" val="True"/>
  <p:tag name="FILENAME" val=""/>
  <p:tag name="LATEXENGINEID" val="0"/>
  <p:tag name="TEMPFOLDER" val="C:\iguanatex\"/>
  <p:tag name="LATEXFORMHEIGHT" val="463"/>
  <p:tag name="LATEXFORMWIDTH" val="1002"/>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225.7218"/>
  <p:tag name="ORIGINALWIDTH" val="3832.021"/>
  <p:tag name="OUTPUTTYPE" val="PNG"/>
  <p:tag name="IGUANATEXVERSION" val="159"/>
  <p:tag name="LATEXADDIN" val="\documentclass{article}&#10;\usepackage{amsmath,bm,eufrak}&#10;\pagestyle{empty}&#10;\begin{document}&#10;&#10;\begin{equation*}&#10;\chi_{x} = \frac{x}{r} = \sin(\theta)\cos(\phi) \quad\quad&#10;\chi_{y} = \frac{y}{r} = \sin(\theta)\sin(\phi) \quad\quad&#10;\chi_{z} = \frac{z}{r} = \cos(\theta)&#10;\end{equation*}&#10;&#10;\end{document} "/>
  <p:tag name="IGUANATEXSIZE" val="50"/>
  <p:tag name="IGUANATEXCURSOR" val="226"/>
  <p:tag name="TRANSPARENCY" val="True"/>
  <p:tag name="FILENAME" val=""/>
  <p:tag name="LATEXENGINEID" val="0"/>
  <p:tag name="TEMPFOLDER" val="C:\iguanatex\"/>
  <p:tag name="LATEXFORMHEIGHT" val="463"/>
  <p:tag name="LATEXFORMWIDTH" val="938"/>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158.2302"/>
  <p:tag name="ORIGINALWIDTH" val="3828.271"/>
  <p:tag name="OUTPUTTYPE" val="PNG"/>
  <p:tag name="IGUANATEXVERSION" val="159"/>
  <p:tag name="LATEXADDIN" val="\documentclass{article}&#10;\usepackage{amsmath,bm,eufrak}&#10;\pagestyle{empty}&#10;\begin{document}&#10;&#10;\begin{align*}&#10;\mathcal{F}_{ij\left\{\Omega\right\}}&#10;&amp; =&#10;\mathfrak{f}_{ij,0}&#10;+&#10;\mathfrak{f}_{ij,x}&#10;\chi_{x}&#10;+&#10;\mathfrak{f}_{ij,y}&#10;\chi_{y}&#10;+&#10;\mathfrak{f}_{ij,z}&#10;\chi_{z}&#10;+&#10;\mathfrak{f}_{ij,x^{2}}&#10;\chi_{x}^{2}&#10;+&#10;\mathfrak{f}_{ij,y^{2}}&#10;\chi_{y}^{2}&#10;+&#10;\mathfrak{f}_{ij,z^{2}}&#10;\chi_{z}^{2}&#10;\end{align*}&#10;&#10;\end{document}"/>
  <p:tag name="IGUANATEXSIZE" val="50"/>
  <p:tag name="IGUANATEXCURSOR" val="117"/>
  <p:tag name="TRANSPARENCY" val="True"/>
  <p:tag name="FILENAME" val=""/>
  <p:tag name="LATEXENGINEID" val="0"/>
  <p:tag name="TEMPFOLDER" val="C:\iguanatex\"/>
  <p:tag name="LATEXFORMHEIGHT" val="463"/>
  <p:tag name="LATEXFORMWIDTH" val="1002"/>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527.559"/>
  <p:tag name="ORIGINALWIDTH" val="2990.626"/>
  <p:tag name="OUTPUTTYPE" val="PNG"/>
  <p:tag name="IGUANATEXVERSION" val="159"/>
  <p:tag name="LATEXADDIN" val="\documentclass{article}&#10;\usepackage{amsmath,bm}&#10;\pagestyle{empty}&#10;\begin{document}&#10;&#10;\begin{align*}&#10;\left(\mathcal{T}^{2}\right)_{ii^\prime}&#10;&amp; =&#10;\int\mathrm{d}\bm{r}\,&#10;\sum_{q q^\prime}&#10;\alpha_{q}^{*}\alpha_{q^\prime}&#10;\mathrm{e}^{\mathrm{i}\left(\bm{k}_{q^\prime}-\bm{k}_{q}\right)\cdot\bm{r}}&#10;\left[\hat{T}_{q}\varphi_{iq}\right]^{*}&#10;\left[\hat{T}_{q^\prime}\varphi_{i^\prime q^\prime}\right]&#10;\\&#10;\left(\mathcal{T}\mathcal{U}\right)_{ii^\prime}&#10;&amp; =&#10;\int \mathrm{d}\bm{r}\,&#10;\sum_{q q^\prime}&#10;\alpha_{qi}^{*}\alpha_{q^\prime i^\prime}&#10;U_{\left\{\bm{r}\right\}}&#10;\Theta_{q}^{*}\Theta_{q^\prime}&#10;\left[\hat{T}_{q}\varphi_{iq}\right]^{*}&#10;\varphi_{i^\prime q^\prime}&#10;\\&#10;\left(\mathcal{U}\mathcal{T}\right)_{ii^\prime}&#10;&amp; =&#10;\int \mathrm{d}\bm{r}\,&#10;\sum_{q q^\prime}&#10;\alpha_{qi}^{*}\alpha_{q^\prime i^\prime}&#10;U_{\left\{\bm{r}\right\}}&#10;\Theta_{q}^{*}\Theta_{q^\prime}&#10;\varphi_{iq}^{*}&#10;\left[\hat{T}_{q^\prime}\varphi_{i^\prime q^\prime}\right]&#10;\\&#10;\left(\mathcal{U}^{2}\right)_{ii^\prime}&#10;&amp; =&#10;\int \mathrm{d}\bm{r}\,&#10;\sum_{q q^\prime}&#10;\alpha_{qi}^{*}\alpha_{q^\prime i^\prime}&#10;U_{\left\{\bm{r}\right\}}^{2}&#10;\Theta_{q}^{*}\Theta_{q^\prime}&#10;\varphi_{iq}^{*}&#10;\varphi_{i^\prime q^\prime}&#10;\end{align*}&#10;&#10;\end{document}"/>
  <p:tag name="IGUANATEXSIZE" val="40"/>
  <p:tag name="IGUANATEXCURSOR" val="1185"/>
  <p:tag name="TRANSPARENCY" val="True"/>
  <p:tag name="FILENAME" val=""/>
  <p:tag name="LATEXENGINEID" val="0"/>
  <p:tag name="TEMPFOLDER" val="C:\iguanatex\"/>
  <p:tag name="LATEXFORMHEIGHT" val="463"/>
  <p:tag name="LATEXFORMWIDTH" val="938"/>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224.222"/>
  <p:tag name="ORIGINALWIDTH" val="1213.348"/>
  <p:tag name="LATEXADDIN" val="\documentclass{article}&#10;\usepackage{amsmath,bm,eufrak,physics}&#10;\pagestyle{empty}&#10;\begin{document}&#10;&#10;\begin{equation*}&#10;\sigma&#10;=&#10;\sqrt{&#10;\expval{H^2}/\expval{H}^{2}-1&#10;}&#10;\end{equation*}&#10;&#10;\end{document} "/>
  <p:tag name="IGUANATEXSIZE" val="32"/>
  <p:tag name="IGUANATEXCURSOR" val="133"/>
  <p:tag name="TRANSPARENCY" val="True"/>
  <p:tag name="FILENAME" val=""/>
  <p:tag name="LATEXENGINEID" val="0"/>
  <p:tag name="TEMPFOLDER" val="D:\Temp\"/>
  <p:tag name="LATEXFORMHEIGHT" val="463"/>
  <p:tag name="LATEXFORMWIDTH" val="938"/>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156.7304"/>
  <p:tag name="ORIGINALWIDTH" val="1855.268"/>
  <p:tag name="LATEXADDIN" val="\documentclass{article}&#10;\usepackage{amsmath,bm,physics}&#10;\pagestyle{empty}&#10;\begin{document}&#10;&#10;\begin{equation*}&#10;\expval{H^{2}} = \bm{c}^{\dagger}(\mathcal{T}^2 + \mathcal{T}\mathcal{U} + \mathcal{U}\mathcal{T} + \mathcal{U}^2)\bm{c}&#10;\end{equation*}&#10;&#10;\end{document}"/>
  <p:tag name="IGUANATEXSIZE" val="45"/>
  <p:tag name="IGUANATEXCURSOR" val="160"/>
  <p:tag name="TRANSPARENCY" val="True"/>
  <p:tag name="FILENAME" val=""/>
  <p:tag name="LATEXENGINEID" val="0"/>
  <p:tag name="TEMPFOLDER" val="D:\Temp\"/>
  <p:tag name="LATEXFORMHEIGHT" val="463"/>
  <p:tag name="LATEXFORMWIDTH" val="938"/>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1130.109"/>
  <p:tag name="ORIGINALWIDTH" val="2472.441"/>
  <p:tag name="OUTPUTTYPE" val="PNG"/>
  <p:tag name="IGUANATEXVERSION" val="159"/>
  <p:tag name="LATEXADDIN" val="\documentclass{article}&#10;\usepackage{amsmath,bm}&#10;\pagestyle{empty}&#10;\begin{document}&#10;&#10;\begin{align*}&#10;\mathcal{S}_{ii^\prime}&#10;&amp; =&#10;\int\mathrm{d}\bm{r}\, &#10;\sum_{q q^\prime}&#10;\alpha_{q}^{*}\alpha_{q^\prime}&#10;\mathrm{e}^{\mathrm{i}\left(\bm{k}_{q^\prime}-\bm{k}_{q}\right)\cdot\bm{r}}&#10;\varphi_{iq}^{*}&#10;\varphi_{i^\prime q^\prime}&#10;\\&#10;\mathcal{T}_{ii^\prime}&#10;&amp; =&#10;\int\mathrm{d}\bm{r}\,&#10;\sum_{q q^\prime}&#10;\alpha_{q}^{*}\alpha_{q^\prime}&#10;\mathrm{e}^{\mathrm{i}\left(\bm{k}_{q^\prime}-\bm{k}_{q}\right)\cdot\bm{r}}&#10;\varphi_{iq}^{*}&#10;\left[\hat{T}_{q^\prime}\varphi_{i^\prime q^\prime}\right]&#10;\\&#10;\mathcal{U}_{ii^\prime}&#10;&amp; = &#10;\int \mathrm{d}\bm{r}\,&#10;\sum_{q q^\prime}&#10;\alpha_{qi}^{*}\alpha_{q^\prime i^\prime}&#10;U_{\left\{\bm{r}\right\}}&#10;\Theta_{q}^{*}\Theta_{q^\prime}&#10;\varphi_{iq}^{*}&#10;\varphi_{i^\prime q^\prime}&#10;\end{align*}&#10;&#10;\end{document}"/>
  <p:tag name="IGUANATEXSIZE" val="40"/>
  <p:tag name="IGUANATEXCURSOR" val="607"/>
  <p:tag name="TRANSPARENCY" val="True"/>
  <p:tag name="FILENAME" val=""/>
  <p:tag name="LATEXENGINEID" val="0"/>
  <p:tag name="TEMPFOLDER" val="C:\iguanatex\"/>
  <p:tag name="LATEXFORMHEIGHT" val="463"/>
  <p:tag name="LATEXFORMWIDTH" val="938"/>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327.709"/>
  <p:tag name="ORIGINALWIDTH" val="2185.977"/>
  <p:tag name="OUTPUTTYPE" val="PNG"/>
  <p:tag name="IGUANATEXVERSION" val="159"/>
  <p:tag name="LATEXADDIN" val="\documentclass{article}&#10;\usepackage{amsmath,bm,physics}&#10;\pagestyle{empty}&#10;\begin{document}&#10;&#10;\begin{equation*}&#10;\hat{T}_{z}&#10;=&#10;-\frac{\hbar^2}{2m_{\perp}}\pdv[2]{x} -\frac{\hbar^2}{2m_{\perp}}\pdv[2]{y}&#10;-\frac{\hbar^2}{2m_{\parallel}}\pdv[2]{z}&#10;\end{equation*}&#10;&#10;\end{document}"/>
  <p:tag name="IGUANATEXSIZE" val="28"/>
  <p:tag name="IGUANATEXCURSOR" val="118"/>
  <p:tag name="TRANSPARENCY" val="True"/>
  <p:tag name="FILENAME" val=""/>
  <p:tag name="LATEXENGINEID" val="0"/>
  <p:tag name="TEMPFOLDER" val="C:\iguanatex\"/>
  <p:tag name="LATEXFORMHEIGHT" val="463"/>
  <p:tag name="LATEXFORMWIDTH" val="938"/>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283.4646"/>
  <p:tag name="ORIGINALWIDTH" val="2199.475"/>
  <p:tag name="OUTPUTTYPE" val="PNG"/>
  <p:tag name="IGUANATEXVERSION" val="159"/>
  <p:tag name="LATEXADDIN" val="\documentclass{article}&#10;\usepackage{amsmath,bm,physics}&#10;\pagestyle{empty}&#10;\begin{document}&#10;&#10;\begin{equation*}&#10;\Psi&#10;\approx &#10;\sum_{j}c_{j}&#10;\sum_{q} \alpha_{qj}&#10;\varphi_{jq}&#10;\Theta^{q}&#10;\quad&#10;\Theta^{q}&#10;=&#10;\mathrm{e}^{\mathrm{i}\bm{k}_{q}\cdot\bm{r}}u_{\bm{k}_{p}}&#10;\end{equation*}&#10;&#10;\end{document}"/>
  <p:tag name="IGUANATEXSIZE" val="40"/>
  <p:tag name="IGUANATEXCURSOR" val="188"/>
  <p:tag name="TRANSPARENCY" val="True"/>
  <p:tag name="FILENAME" val=""/>
  <p:tag name="LATEXENGINEID" val="0"/>
  <p:tag name="TEMPFOLDER" val="C:\iguanatex\"/>
  <p:tag name="LATEXFORMHEIGHT" val="463"/>
  <p:tag name="LATEXFORMWIDTH" val="938"/>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911.886"/>
  <p:tag name="LATEXADDIN" val="\documentclass{article}&#10;\usepackage{amsmath,bm}&#10;\pagestyle{empty}&#10;\begin{document}&#10;&#10;\begin{equation*}&#10;E \mathcal{S}\bm{c} = (\mathcal{T} + \mathcal{U})\bm{c}&#10;\end{equation*}&#10;&#10;\end{document}"/>
  <p:tag name="IGUANATEXSIZE" val="45"/>
  <p:tag name="IGUANATEXCURSOR" val="156"/>
  <p:tag name="TRANSPARENCY" val="True"/>
  <p:tag name="FILENAME" val=""/>
  <p:tag name="LATEXENGINEID" val="0"/>
  <p:tag name="TEMPFOLDER" val="D:\Temp\"/>
  <p:tag name="LATEXFORMHEIGHT" val="463"/>
  <p:tag name="LATEXFORMWIDTH" val="938"/>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131.9835"/>
  <p:tag name="ORIGINALWIDTH" val="1820.022"/>
  <p:tag name="OUTPUTTYPE" val="PNG"/>
  <p:tag name="IGUANATEXVERSION" val="159"/>
  <p:tag name="LATEXADDIN" val="\documentclass{article}&#10;\usepackage{amsmath,bm}&#10;\pagestyle{empty}&#10;\begin{document}&#10;&#10;\begin{equation*}&#10;\Psi_{\sigma\omega,ml}&#10;=&#10;\Phi_{ml\left(\zeta=\sigma\mathrm{i}^{m}\right)\left(\Omega=\omega\sigma\mathrm{i}^{m}(-1)^{l}\right)}&#10;\end{equation*}&#10;&#10;\end{document}"/>
  <p:tag name="IGUANATEXSIZE" val="80"/>
  <p:tag name="IGUANATEXCURSOR" val="187"/>
  <p:tag name="TRANSPARENCY" val="True"/>
  <p:tag name="FILENAME" val=""/>
  <p:tag name="LATEXENGINEID" val="0"/>
  <p:tag name="TEMPFOLDER" val="C:\iguanatex\"/>
  <p:tag name="LATEXFORMHEIGHT" val="463"/>
  <p:tag name="LATEXFORMWIDTH" val="938"/>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196.4754"/>
  <p:tag name="ORIGINALWIDTH" val="3108.362"/>
  <p:tag name="OUTPUTTYPE" val="PNG"/>
  <p:tag name="IGUANATEXVERSION" val="159"/>
  <p:tag name="LATEXADDIN" val="\documentclass{article}&#10;\usepackage{amsmath,bm}&#10;\pagestyle{empty}&#10;\begin{document}&#10;&#10;\begin{equation*}&#10;\Psi_{\sigma h,ml}^{(q_{1})}&#10;=&#10;\Phi_{ml\left(\zeta=+h\right)\left(\Omega=h(-1)^{l}\right)}^{(q_{2})}&#10;-h\sigma\mathrm{i}^{m}\Phi_{ml\left(\zeta=-h\right)\left(\Omega=h(-1)^{l}\right)}^{(q_{3})}&#10;\end{equation*}&#10;&#10;\end{document}"/>
  <p:tag name="IGUANATEXSIZE" val="80"/>
  <p:tag name="IGUANATEXCURSOR" val="267"/>
  <p:tag name="TRANSPARENCY" val="True"/>
  <p:tag name="FILENAME" val=""/>
  <p:tag name="LATEXENGINEID" val="0"/>
  <p:tag name="TEMPFOLDER" val="C:\iguanatex\"/>
  <p:tag name="LATEXFORMHEIGHT" val="463"/>
  <p:tag name="LATEXFORMWIDTH" val="938"/>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271.4661"/>
  <p:tag name="ORIGINALWIDTH" val="396.7004"/>
  <p:tag name="OUTPUTTYPE" val="PNG"/>
  <p:tag name="IGUANATEXVERSION" val="159"/>
  <p:tag name="LATEXADDIN" val="\documentclass{article}&#10;\usepackage{amsmath,bm,eufrak}&#10;\pagestyle{empty}&#10;\begin{document}&#10;&#10;\begin{align*}&#10;\sigma = \pm 1 \\&#10;\omega = \pm 1 \\&#10;\end{align*}&#10;&#10;\end{document} "/>
  <p:tag name="IGUANATEXSIZE" val="80"/>
  <p:tag name="IGUANATEXCURSOR" val="130"/>
  <p:tag name="TRANSPARENCY" val="True"/>
  <p:tag name="FILENAME" val=""/>
  <p:tag name="LATEXENGINEID" val="0"/>
  <p:tag name="TEMPFOLDER" val="C:\iguanatex\"/>
  <p:tag name="LATEXFORMHEIGHT" val="463"/>
  <p:tag name="LATEXFORMWIDTH" val="938"/>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271.4661"/>
  <p:tag name="ORIGINALWIDTH" val="386.2017"/>
  <p:tag name="OUTPUTTYPE" val="PNG"/>
  <p:tag name="IGUANATEXVERSION" val="159"/>
  <p:tag name="LATEXADDIN" val="\documentclass{article}&#10;\usepackage{amsmath,bm,eufrak}&#10;\pagestyle{empty}&#10;\begin{document}&#10;&#10;\begin{align*}&#10;\sigma = \pm 1 \\&#10;h = \pm 1 \\&#10;\end{align*}&#10;&#10;\end{document} "/>
  <p:tag name="IGUANATEXSIZE" val="80"/>
  <p:tag name="IGUANATEXCURSOR" val="125"/>
  <p:tag name="TRANSPARENCY" val="False"/>
  <p:tag name="FILENAME" val=""/>
  <p:tag name="LATEXENGINEID" val="0"/>
  <p:tag name="TEMPFOLDER" val="C:\iguanatex\"/>
  <p:tag name="LATEXFORMHEIGHT" val="463"/>
  <p:tag name="LATEXFORMWIDTH" val="938"/>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343.4571"/>
  <p:tag name="ORIGINALWIDTH" val="3024.372"/>
  <p:tag name="OUTPUTTYPE" val="PNG"/>
  <p:tag name="IGUANATEXVERSION" val="159"/>
  <p:tag name="LATEXADDIN" val="\documentclass{article}&#10;\usepackage{amsmath,bm}&#10;\pagestyle{empty}&#10;\begin{document}&#10;&#10;\begin{equation*}&#10;\Psi_{A_{1}}&#10;=&#10;\sum_{m_{e}lk}&#10;c_{m_{e}lk}&#10;\sum_{q = x,y,z}&#10;\left(\frac{1}{\sqrt{3}}\right)&#10;\Phi_{m_{e}lk,\left(\zeta=\mathrm{i}^{m_{e}}\right)\left(\Omega=\mathrm{i}^{m_{e}}(-1)^{l}\right)}^{(q)}&#10;\end{equation*}&#10;&#10;\end{document}"/>
  <p:tag name="IGUANATEXSIZE" val="18"/>
  <p:tag name="IGUANATEXCURSOR" val="143"/>
  <p:tag name="TRANSPARENCY" val="True"/>
  <p:tag name="FILENAME" val=""/>
  <p:tag name="LATEXENGINEID" val="0"/>
  <p:tag name="TEMPFOLDER" val="C:\iguanatex\"/>
  <p:tag name="LATEXFORMHEIGHT" val="463"/>
  <p:tag name="LATEXFORMWIDTH" val="938"/>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305.9617"/>
  <p:tag name="ORIGINALWIDTH" val="3303.337"/>
  <p:tag name="OUTPUTTYPE" val="PNG"/>
  <p:tag name="IGUANATEXVERSION" val="159"/>
  <p:tag name="LATEXADDIN" val="\documentclass{article}&#10;\usepackage{amsmath,bm}&#10;\pagestyle{empty}&#10;\begin{document}&#10;&#10;\begin{equation*}&#10;\Psi_{E_{i}}&#10;=&#10;\sum_{m_{e}lk\sigma}&#10;c_{m_{e}lk\sigma}&#10;\sum_{q = x,y,z}&#10;\left(\beta_{E_{i}}^{(\sigma)}\right)_{q}&#10;\Phi_{m_{e}lk,\left(\zeta=\sigma\mathrm{i}^{m_{e}}\right)\left(\Omega=\sigma\mathrm{i}^{m_{e}}(-1)^{l}\right)}^{(q)}&#10;\end{equation*}&#10;&#10;\end{document}"/>
  <p:tag name="IGUANATEXSIZE" val="18"/>
  <p:tag name="IGUANATEXCURSOR" val="285"/>
  <p:tag name="TRANSPARENCY" val="True"/>
  <p:tag name="FILENAME" val=""/>
  <p:tag name="LATEXENGINEID" val="0"/>
  <p:tag name="TEMPFOLDER" val="C:\iguanatex\"/>
  <p:tag name="LATEXFORMHEIGHT" val="463"/>
  <p:tag name="LATEXFORMWIDTH" val="938"/>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343.4571"/>
  <p:tag name="ORIGINALWIDTH" val="2875.89"/>
  <p:tag name="OUTPUTTYPE" val="PNG"/>
  <p:tag name="IGUANATEXVERSION" val="159"/>
  <p:tag name="LATEXADDIN" val="\documentclass{article}&#10;\usepackage{amsmath,bm}&#10;\pagestyle{empty}&#10;\begin{document}&#10;&#10;\begin{equation*}&#10;\Psi_{A_{2}}&#10;=&#10;\sum_{m_{e}lk}&#10;\sum_{q = x,y,z} &#10;\left(\frac{1}{\sqrt{3}}\right)&#10;\Phi_{m_{e}lk,\left(\zeta=-\mathrm{i}^{m_{e}}\right)\left(\Omega=-\mathrm{i}^{m_{e}}(-1)^{l}\right)}^{(q)}&#10;\end{equation*}&#10;&#10;\end{document}"/>
  <p:tag name="IGUANATEXSIZE" val="18"/>
  <p:tag name="IGUANATEXCURSOR" val="248"/>
  <p:tag name="TRANSPARENCY" val="True"/>
  <p:tag name="FILENAME" val=""/>
  <p:tag name="LATEXENGINEID" val="0"/>
  <p:tag name="TEMPFOLDER" val="C:\iguanatex\"/>
  <p:tag name="LATEXFORMHEIGHT" val="463"/>
  <p:tag name="LATEXFORMWIDTH" val="938"/>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407.949"/>
  <p:tag name="ORIGINALWIDTH" val="5969.253"/>
  <p:tag name="OUTPUTTYPE" val="PNG"/>
  <p:tag name="IGUANATEXVERSION" val="159"/>
  <p:tag name="LATEXADDIN" val="\documentclass{article}&#10;\usepackage{amsmath,bm}&#10;\pagestyle{empty}&#10;\begin{document}&#10;&#10;\begin{align*}&#10;\Psi_{T_{1}^{(q)}}&#10;=&#10;\sum_{m_{e}lk}&#10;c_{m_{e}lk}&#10;\Phi_{m_{e}lk,\left(\zeta=-\mathrm{i}^{m_{e}}\right)\left(\zeta=\mathrm{i}^{m_{e}}(-1)^{l}\right)}^{(q)}&#10;+&#10;\sum_{m_{o}lkh}&#10;c_{m_{o}lkh}&#10;\frac&#10;{&#10;\Phi_{m_{o}lk\left(\zeta=+h\right)\left(\Omega=h(-1)^{l}\right)}^{\left(q_{2}\right)}&#10;+ h\mathrm{i}^{m_{o}}\Phi_{m_{o}lk\left(\zeta=-h\right)\left(\Omega=h(-1)^{l}\right)}^{\left(q_{3}\right)}&#10;}&#10;{\sqrt{2}}&#10;\end{align*}&#10;&#10;\end{document}"/>
  <p:tag name="IGUANATEXSIZE" val="18"/>
  <p:tag name="IGUANATEXCURSOR" val="378"/>
  <p:tag name="TRANSPARENCY" val="True"/>
  <p:tag name="FILENAME" val=""/>
  <p:tag name="LATEXENGINEID" val="0"/>
  <p:tag name="TEMPFOLDER" val="C:\iguanatex\"/>
  <p:tag name="LATEXFORMHEIGHT" val="463"/>
  <p:tag name="LATEXFORMWIDTH" val="938"/>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407.949"/>
  <p:tag name="ORIGINALWIDTH" val="6015.748"/>
  <p:tag name="OUTPUTTYPE" val="PNG"/>
  <p:tag name="IGUANATEXVERSION" val="159"/>
  <p:tag name="LATEXADDIN" val="\documentclass{article}&#10;\usepackage{amsmath,bm}&#10;\pagestyle{empty}&#10;\begin{document}&#10;&#10;\begin{align*}&#10;\Psi_{T_{2}^{\left(q_{1}\right)}}&#10;=&#10;\sum_{m_{e}lk}&#10;c_{m_{e}lk}&#10;\Phi_{m_{e}lk,\left(\zeta=\mathrm{i}^{m_{e}}\right)\left(\zeta=-\mathrm{i}^{m_{e}}(-1)^{l}\right)}^{(q)}&#10;+&#10;\sum_{m_{o}lkh}&#10;c_{m_{o}lkh}&#10;\frac&#10;{&#10;\Phi_{m_{o}lk\left(\zeta=+h\right)\left(\Omega=h(-1)^{l}\right)}^{\left(q_{2}\right)}&#10;- h\mathrm{i}^{m_{o}}\Phi_{m_{o}lk\left(\zeta=-h\right)\left(\Omega=h(-1)^{l}\right)}^{\left(q_{3}\right)}&#10;}&#10;{\sqrt{2}}&#10;\end{align*}&#10;&#10;\end{document}"/>
  <p:tag name="IGUANATEXSIZE" val="18"/>
  <p:tag name="IGUANATEXCURSOR" val="129"/>
  <p:tag name="TRANSPARENCY" val="True"/>
  <p:tag name="FILENAME" val=""/>
  <p:tag name="LATEXENGINEID" val="0"/>
  <p:tag name="TEMPFOLDER" val="C:\iguanatex\"/>
  <p:tag name="LATEXFORMHEIGHT" val="463"/>
  <p:tag name="LATEXFORMWIDTH" val="938"/>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SELECTIONNAME" val="Group 44"/>
  <p:tag name="LAYER" val="2"/>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277.4653"/>
  <p:tag name="ORIGINALWIDTH" val="788.9014"/>
  <p:tag name="LATEXADDIN" val="\documentclass{article}&#10;\usepackage{amsmath,bm}&#10;\pagestyle{empty}&#10;\begin{document}&#10;&#10;\begin{equation*}&#10;\tau = -\frac{1}{2} + \mathrm{i}\frac{\sqrt{3}}{2}&#10;\end{equation*}&#10;&#10;\end{document}"/>
  <p:tag name="IGUANATEXSIZE" val="16"/>
  <p:tag name="IGUANATEXCURSOR" val="152"/>
  <p:tag name="TRANSPARENCY" val="True"/>
  <p:tag name="FILENAME" val=""/>
  <p:tag name="LATEXENGINEID" val="0"/>
  <p:tag name="TEMPFOLDER" val="D:\Temp\"/>
  <p:tag name="LATEXFORMHEIGHT" val="463"/>
  <p:tag name="LATEXFORMWIDTH" val="938"/>
  <p:tag name="LATEXFORMWRAP" val="True"/>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283.4646"/>
  <p:tag name="ORIGINALWIDTH" val="1335.583"/>
  <p:tag name="LATEXADDIN" val="\documentclass{article}&#10;\usepackage{amsmath,bm}&#10;\pagestyle{empty}&#10;\begin{document}&#10;&#10;\begin{equation*}&#10;\bm{\beta}_{E_{1}}^{(\sigma)}&#10;=&#10;\mathrm{i}^{\frac{1-\sigma}{2}}&#10;\frac{1}{\sqrt{3}}&#10;\left\{\tau, \tau^{2}, 1\right\}&#10;\end{equation*}&#10;&#10;\end{document}"/>
  <p:tag name="IGUANATEXSIZE" val="16"/>
  <p:tag name="IGUANATEXCURSOR" val="123"/>
  <p:tag name="TRANSPARENCY" val="True"/>
  <p:tag name="FILENAME" val=""/>
  <p:tag name="LATEXENGINEID" val="0"/>
  <p:tag name="TEMPFOLDER" val="c:\temp\"/>
  <p:tag name="LATEXFORMHEIGHT" val="463"/>
  <p:tag name="LATEXFORMWIDTH" val="938"/>
  <p:tag name="LATEXFORMWRAP" val="True"/>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134.2332"/>
  <p:tag name="ORIGINALWIDTH" val="725.1594"/>
  <p:tag name="LATEXADDIN" val="\documentclass{article}&#10;\usepackage{amsmath,bm}&#10;\pagestyle{empty}&#10;\begin{document}&#10;&#10;\begin{equation*}&#10;\bm{\beta}_{E_{2}}&#10;=&#10;\left(\bm{\beta}_{E_{1}}\right)^{*}&#10;\end{equation*}&#10;&#10;\end{document}"/>
  <p:tag name="IGUANATEXSIZE" val="16"/>
  <p:tag name="IGUANATEXCURSOR" val="138"/>
  <p:tag name="TRANSPARENCY" val="True"/>
  <p:tag name="FILENAME" val=""/>
  <p:tag name="LATEXENGINEID" val="0"/>
  <p:tag name="TEMPFOLDER" val="D:\Temp\"/>
  <p:tag name="LATEXFORMHEIGHT" val="463"/>
  <p:tag name="LATEXFORMWIDTH" val="938"/>
  <p:tag name="LATEXFORMWRAP" val="True"/>
  <p:tag name="BITMAPVECTOR" val="0"/>
</p:tagLst>
</file>

<file path=ppt/theme/theme1.xml><?xml version="1.0" encoding="utf-8"?>
<a:theme xmlns:a="http://schemas.openxmlformats.org/drawingml/2006/main" name="Research Poster Template">
  <a:themeElements>
    <a:clrScheme name="UB Color Palette">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Custom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 Accessible" id="{BC02AB42-924F-614D-9F02-5DAD031142A4}" vid="{CEC2668D-C73A-D648-809C-2002B42E64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Research Poster Template</Template>
  <TotalTime>2649</TotalTime>
  <Words>1127</Words>
  <Application>Microsoft Office PowerPoint</Application>
  <PresentationFormat>Custom</PresentationFormat>
  <Paragraphs>95</Paragraphs>
  <Slides>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ＭＳ Ｐゴシック</vt:lpstr>
      <vt:lpstr>Arial</vt:lpstr>
      <vt:lpstr>Calibri</vt:lpstr>
      <vt:lpstr>Cambria Math</vt:lpstr>
      <vt:lpstr>Century Gothic</vt:lpstr>
      <vt:lpstr>Gill Sans MT</vt:lpstr>
      <vt:lpstr>Research Poster Template</vt:lpstr>
      <vt:lpstr>A computational suite to extend the effective mass model of the silicon donor Luke Pendo and Xuedong Hu </vt:lpstr>
      <vt:lpstr>Hamiltonian Model – Modified Shindo-Nara Equation</vt:lpstr>
      <vt:lpstr>Symmetry considerations </vt:lpstr>
      <vt:lpstr>Fully symmetrized wavefunctions</vt:lpstr>
    </vt:vector>
  </TitlesOfParts>
  <Manager/>
  <Company/>
  <LinksUpToDate>false</LinksUpToDate>
  <SharedDoc>false</SharedDoc>
  <HyperlinkBase>www.buffalo.edu/brand</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
  <cp:lastModifiedBy>Luke Pendo</cp:lastModifiedBy>
  <cp:revision>262</cp:revision>
  <cp:lastPrinted>2018-07-27T15:05:13Z</cp:lastPrinted>
  <dcterms:created xsi:type="dcterms:W3CDTF">2019-03-28T18:35:19Z</dcterms:created>
  <dcterms:modified xsi:type="dcterms:W3CDTF">2022-10-01T00:41:51Z</dcterms:modified>
  <cp:category/>
</cp:coreProperties>
</file>