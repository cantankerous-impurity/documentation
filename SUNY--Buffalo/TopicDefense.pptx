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5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6.xml" ContentType="application/vnd.openxmlformats-officedocument.presentationml.notesSlide+xml"/>
  <Override PartName="/ppt/tags/tag18.xml" ContentType="application/vnd.openxmlformats-officedocument.presentationml.tags+xml"/>
  <Override PartName="/ppt/notesSlides/notesSlide7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8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9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1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12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13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6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7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8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19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37"/>
  </p:notesMasterIdLst>
  <p:handoutMasterIdLst>
    <p:handoutMasterId r:id="rId38"/>
  </p:handoutMasterIdLst>
  <p:sldIdLst>
    <p:sldId id="539" r:id="rId2"/>
    <p:sldId id="552" r:id="rId3"/>
    <p:sldId id="541" r:id="rId4"/>
    <p:sldId id="553" r:id="rId5"/>
    <p:sldId id="542" r:id="rId6"/>
    <p:sldId id="566" r:id="rId7"/>
    <p:sldId id="555" r:id="rId8"/>
    <p:sldId id="424" r:id="rId9"/>
    <p:sldId id="540" r:id="rId10"/>
    <p:sldId id="524" r:id="rId11"/>
    <p:sldId id="530" r:id="rId12"/>
    <p:sldId id="527" r:id="rId13"/>
    <p:sldId id="572" r:id="rId14"/>
    <p:sldId id="545" r:id="rId15"/>
    <p:sldId id="571" r:id="rId16"/>
    <p:sldId id="543" r:id="rId17"/>
    <p:sldId id="525" r:id="rId18"/>
    <p:sldId id="531" r:id="rId19"/>
    <p:sldId id="562" r:id="rId20"/>
    <p:sldId id="565" r:id="rId21"/>
    <p:sldId id="560" r:id="rId22"/>
    <p:sldId id="567" r:id="rId23"/>
    <p:sldId id="544" r:id="rId24"/>
    <p:sldId id="576" r:id="rId25"/>
    <p:sldId id="575" r:id="rId26"/>
    <p:sldId id="557" r:id="rId27"/>
    <p:sldId id="570" r:id="rId28"/>
    <p:sldId id="573" r:id="rId29"/>
    <p:sldId id="569" r:id="rId30"/>
    <p:sldId id="574" r:id="rId31"/>
    <p:sldId id="509" r:id="rId32"/>
    <p:sldId id="520" r:id="rId33"/>
    <p:sldId id="510" r:id="rId34"/>
    <p:sldId id="521" r:id="rId35"/>
    <p:sldId id="515" r:id="rId36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0000FF"/>
    <a:srgbClr val="005AC0"/>
    <a:srgbClr val="7030A0"/>
    <a:srgbClr val="75AD38"/>
    <a:srgbClr val="FFC11F"/>
    <a:srgbClr val="FF7F7F"/>
    <a:srgbClr val="00CC00"/>
    <a:srgbClr val="33A366"/>
    <a:srgbClr val="72A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68" autoAdjust="0"/>
    <p:restoredTop sz="87360" autoAdjust="0"/>
  </p:normalViewPr>
  <p:slideViewPr>
    <p:cSldViewPr snapToGrid="0" snapToObjects="1">
      <p:cViewPr varScale="1">
        <p:scale>
          <a:sx n="147" d="100"/>
          <a:sy n="147" d="100"/>
        </p:scale>
        <p:origin x="582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10/13/2020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10/13/2020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81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385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Caveat – can always make any calculation </a:t>
            </a:r>
            <a:r>
              <a:rPr lang="en-US" dirty="0" err="1"/>
              <a:t>computionally</a:t>
            </a:r>
            <a:r>
              <a:rPr lang="en-US" dirty="0"/>
              <a:t> expensive. Might suggest that being able to more quickly calculate electron structure allows for things like exhaustive enumeration of exchange couplings.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635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2223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Need to point out that A_{</a:t>
            </a:r>
            <a:r>
              <a:rPr lang="en-US" baseline="0" dirty="0" err="1"/>
              <a:t>sqk</a:t>
            </a:r>
            <a:r>
              <a:rPr lang="en-US" baseline="0" dirty="0"/>
              <a:t>} is a sharply peaked wave function at k = k_{</a:t>
            </a:r>
            <a:r>
              <a:rPr lang="en-US" baseline="0" dirty="0" err="1"/>
              <a:t>sq</a:t>
            </a:r>
            <a:r>
              <a:rPr lang="en-US" baseline="0" dirty="0"/>
              <a:t>}.</a:t>
            </a:r>
          </a:p>
          <a:p>
            <a:endParaRPr lang="en-US" baseline="0" dirty="0"/>
          </a:p>
          <a:p>
            <a:r>
              <a:rPr lang="en-US" baseline="0" dirty="0"/>
              <a:t>Call F an “envelope function”.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915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195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4268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887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6951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Ritz method is a general term. Comparison to LCAO, basis sets in quantum chemistry. </a:t>
            </a:r>
          </a:p>
          <a:p>
            <a:endParaRPr lang="en-US" baseline="0" dirty="0"/>
          </a:p>
          <a:p>
            <a:r>
              <a:rPr lang="en-US" baseline="0" dirty="0"/>
              <a:t>Accounting for longer, shorter range behavior. More complicated impurity potentials might not have clear physical ansatz.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1879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Why a bigger basis?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Introduce a quantum chemistry basis</a:t>
            </a:r>
            <a:endParaRPr lang="en-US" dirty="0"/>
          </a:p>
          <a:p>
            <a:endParaRPr lang="en-US" dirty="0"/>
          </a:p>
          <a:p>
            <a:r>
              <a:rPr lang="en-US" dirty="0"/>
              <a:t>Make a note that these are not hydrogenic basis states – the hydrogenic bound states are not complete.</a:t>
            </a:r>
          </a:p>
          <a:p>
            <a:endParaRPr lang="en-US" dirty="0"/>
          </a:p>
          <a:p>
            <a:r>
              <a:rPr lang="en-US" dirty="0"/>
              <a:t>The rotation is some preliminary </a:t>
            </a:r>
            <a:r>
              <a:rPr lang="en-US" dirty="0" err="1"/>
              <a:t>symmetrization</a:t>
            </a:r>
            <a:r>
              <a:rPr lang="en-US" dirty="0"/>
              <a:t>. We’ll deal with more substantial and complete </a:t>
            </a:r>
            <a:r>
              <a:rPr lang="en-US" dirty="0" err="1"/>
              <a:t>symmetrization</a:t>
            </a:r>
            <a:r>
              <a:rPr lang="en-US" dirty="0"/>
              <a:t>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3997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Not sure how much detail regarding the group theory stuff to go into here. Maybe good to have a slide illustrating the idea in the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798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Might be worthwhile to stress that you no longer have orthonormality.</a:t>
            </a:r>
          </a:p>
          <a:p>
            <a:endParaRPr lang="en-US" dirty="0"/>
          </a:p>
          <a:p>
            <a:r>
              <a:rPr lang="en-US" dirty="0"/>
              <a:t>Unique feature, haven’t seen this in the EMT silicon donor literature – more complicated </a:t>
            </a:r>
            <a:r>
              <a:rPr lang="en-US" dirty="0" err="1"/>
              <a:t>symmetrization</a:t>
            </a:r>
            <a:r>
              <a:rPr lang="en-US" dirty="0"/>
              <a:t> from more complicated ansatz wavefunction.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5567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0216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2841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4330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“Energetic minimum” – minimum of the energy surface formed by varying state parameters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7208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1413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5310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essence, rather then treating the wavefunction as an independent parameters (as we might in the variational approach) we treat the wavefunction as a dependent parameter, a result of our Hamiltonian and our impurity model.</a:t>
            </a:r>
          </a:p>
          <a:p>
            <a:endParaRPr lang="en-US" dirty="0"/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Tension between rejecting some points of the variational state and treating the wavefunction as a dependent parameter. We can resolve this by suggesting that we seek model Hamiltonians that increase the energy of those points in state space, meaning variational optimization doesn’t pick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019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300472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 baseline="0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825265" y="2185416"/>
            <a:ext cx="9678987" cy="3848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FontTx/>
              <a:buNone/>
              <a:defRPr sz="1800" b="1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3660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1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8" y="2185166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1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7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7734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0255504" y="6240989"/>
            <a:ext cx="725424" cy="534516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  <p:sldLayoutId id="2147483911" r:id="rId13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5BBB"/>
        </a:buClr>
        <a:buFont typeface="LucidaGrande" charset="0"/>
        <a:buChar char="-"/>
        <a:defRPr sz="16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3.xml"/><Relationship Id="rId7" Type="http://schemas.openxmlformats.org/officeDocument/2006/relationships/image" Target="../media/image13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16.png"/><Relationship Id="rId4" Type="http://schemas.openxmlformats.org/officeDocument/2006/relationships/tags" Target="../tags/tag4.xml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13" Type="http://schemas.openxmlformats.org/officeDocument/2006/relationships/image" Target="../media/image21.png"/><Relationship Id="rId3" Type="http://schemas.openxmlformats.org/officeDocument/2006/relationships/tags" Target="../tags/tag7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20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image" Target="../media/image19.png"/><Relationship Id="rId5" Type="http://schemas.openxmlformats.org/officeDocument/2006/relationships/tags" Target="../tags/tag9.xml"/><Relationship Id="rId10" Type="http://schemas.openxmlformats.org/officeDocument/2006/relationships/image" Target="../media/image18.png"/><Relationship Id="rId4" Type="http://schemas.openxmlformats.org/officeDocument/2006/relationships/tags" Target="../tags/tag8.xml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24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7.png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tags" Target="../tags/tag15.xml"/><Relationship Id="rId7" Type="http://schemas.openxmlformats.org/officeDocument/2006/relationships/notesSlide" Target="../notesSlides/notesSlide6.xml"/><Relationship Id="rId12" Type="http://schemas.openxmlformats.org/officeDocument/2006/relationships/image" Target="../media/image29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8.png"/><Relationship Id="rId5" Type="http://schemas.openxmlformats.org/officeDocument/2006/relationships/tags" Target="../tags/tag17.xml"/><Relationship Id="rId10" Type="http://schemas.openxmlformats.org/officeDocument/2006/relationships/image" Target="../media/image28.png"/><Relationship Id="rId4" Type="http://schemas.openxmlformats.org/officeDocument/2006/relationships/tags" Target="../tags/tag16.xml"/><Relationship Id="rId9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8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tags" Target="../tags/tag21.xml"/><Relationship Id="rId7" Type="http://schemas.openxmlformats.org/officeDocument/2006/relationships/image" Target="../media/image32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31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13" Type="http://schemas.openxmlformats.org/officeDocument/2006/relationships/image" Target="../media/image36.png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tags" Target="../tags/tag25.xml"/><Relationship Id="rId16" Type="http://schemas.openxmlformats.org/officeDocument/2006/relationships/image" Target="../media/image39.png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image" Target="../media/image34.png"/><Relationship Id="rId5" Type="http://schemas.openxmlformats.org/officeDocument/2006/relationships/tags" Target="../tags/tag28.xml"/><Relationship Id="rId15" Type="http://schemas.openxmlformats.org/officeDocument/2006/relationships/image" Target="../media/image38.png"/><Relationship Id="rId10" Type="http://schemas.openxmlformats.org/officeDocument/2006/relationships/notesSlide" Target="../notesSlides/notesSlide10.xml"/><Relationship Id="rId4" Type="http://schemas.openxmlformats.org/officeDocument/2006/relationships/tags" Target="../tags/tag27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slideLayout" Target="../slideLayouts/slideLayout12.xml"/><Relationship Id="rId18" Type="http://schemas.openxmlformats.org/officeDocument/2006/relationships/image" Target="../media/image44.png"/><Relationship Id="rId3" Type="http://schemas.openxmlformats.org/officeDocument/2006/relationships/tags" Target="../tags/tag34.xml"/><Relationship Id="rId21" Type="http://schemas.openxmlformats.org/officeDocument/2006/relationships/image" Target="../media/image47.png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17" Type="http://schemas.openxmlformats.org/officeDocument/2006/relationships/image" Target="../media/image43.png"/><Relationship Id="rId2" Type="http://schemas.openxmlformats.org/officeDocument/2006/relationships/tags" Target="../tags/tag33.xml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24" Type="http://schemas.openxmlformats.org/officeDocument/2006/relationships/image" Target="../media/image50.png"/><Relationship Id="rId5" Type="http://schemas.openxmlformats.org/officeDocument/2006/relationships/tags" Target="../tags/tag36.xml"/><Relationship Id="rId15" Type="http://schemas.openxmlformats.org/officeDocument/2006/relationships/image" Target="../media/image41.png"/><Relationship Id="rId23" Type="http://schemas.openxmlformats.org/officeDocument/2006/relationships/image" Target="../media/image49.png"/><Relationship Id="rId10" Type="http://schemas.openxmlformats.org/officeDocument/2006/relationships/tags" Target="../tags/tag41.xml"/><Relationship Id="rId19" Type="http://schemas.openxmlformats.org/officeDocument/2006/relationships/image" Target="../media/image45.png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notesSlide" Target="../notesSlides/notesSlide11.xml"/><Relationship Id="rId22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tags" Target="../tags/tag46.xml"/><Relationship Id="rId7" Type="http://schemas.openxmlformats.org/officeDocument/2006/relationships/image" Target="../media/image52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51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tags" Target="../tags/tag49.xml"/><Relationship Id="rId7" Type="http://schemas.openxmlformats.org/officeDocument/2006/relationships/image" Target="../media/image55.pn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54.png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slideLayout" Target="../slideLayouts/slideLayout12.xml"/><Relationship Id="rId18" Type="http://schemas.openxmlformats.org/officeDocument/2006/relationships/image" Target="../media/image61.png"/><Relationship Id="rId26" Type="http://schemas.openxmlformats.org/officeDocument/2006/relationships/image" Target="../media/image69.png"/><Relationship Id="rId3" Type="http://schemas.openxmlformats.org/officeDocument/2006/relationships/tags" Target="../tags/tag52.xml"/><Relationship Id="rId21" Type="http://schemas.openxmlformats.org/officeDocument/2006/relationships/image" Target="../media/image64.png"/><Relationship Id="rId7" Type="http://schemas.openxmlformats.org/officeDocument/2006/relationships/tags" Target="../tags/tag56.xml"/><Relationship Id="rId12" Type="http://schemas.openxmlformats.org/officeDocument/2006/relationships/tags" Target="../tags/tag61.xml"/><Relationship Id="rId17" Type="http://schemas.openxmlformats.org/officeDocument/2006/relationships/image" Target="../media/image60.png"/><Relationship Id="rId25" Type="http://schemas.openxmlformats.org/officeDocument/2006/relationships/image" Target="../media/image68.png"/><Relationship Id="rId2" Type="http://schemas.openxmlformats.org/officeDocument/2006/relationships/tags" Target="../tags/tag51.xml"/><Relationship Id="rId16" Type="http://schemas.openxmlformats.org/officeDocument/2006/relationships/image" Target="../media/image59.png"/><Relationship Id="rId20" Type="http://schemas.openxmlformats.org/officeDocument/2006/relationships/image" Target="../media/image63.png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tags" Target="../tags/tag60.xml"/><Relationship Id="rId24" Type="http://schemas.openxmlformats.org/officeDocument/2006/relationships/image" Target="../media/image67.png"/><Relationship Id="rId5" Type="http://schemas.openxmlformats.org/officeDocument/2006/relationships/tags" Target="../tags/tag54.xml"/><Relationship Id="rId15" Type="http://schemas.openxmlformats.org/officeDocument/2006/relationships/image" Target="../media/image57.png"/><Relationship Id="rId23" Type="http://schemas.openxmlformats.org/officeDocument/2006/relationships/image" Target="../media/image66.png"/><Relationship Id="rId10" Type="http://schemas.openxmlformats.org/officeDocument/2006/relationships/tags" Target="../tags/tag59.xml"/><Relationship Id="rId19" Type="http://schemas.openxmlformats.org/officeDocument/2006/relationships/image" Target="../media/image62.png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notesSlide" Target="../notesSlides/notesSlide14.xml"/><Relationship Id="rId22" Type="http://schemas.openxmlformats.org/officeDocument/2006/relationships/image" Target="../media/image6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notesSlide" Target="../notesSlides/notesSlide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image" Target="../media/image75.png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" Type="http://schemas.openxmlformats.org/officeDocument/2006/relationships/tags" Target="../tags/tag65.xml"/><Relationship Id="rId16" Type="http://schemas.openxmlformats.org/officeDocument/2006/relationships/image" Target="../media/image78.png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image" Target="../media/image73.png"/><Relationship Id="rId5" Type="http://schemas.openxmlformats.org/officeDocument/2006/relationships/tags" Target="../tags/tag68.xml"/><Relationship Id="rId15" Type="http://schemas.openxmlformats.org/officeDocument/2006/relationships/image" Target="../media/image77.png"/><Relationship Id="rId10" Type="http://schemas.openxmlformats.org/officeDocument/2006/relationships/notesSlide" Target="../notesSlides/notesSlide17.xml"/><Relationship Id="rId4" Type="http://schemas.openxmlformats.org/officeDocument/2006/relationships/tags" Target="../tags/tag67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7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13" Type="http://schemas.openxmlformats.org/officeDocument/2006/relationships/notesSlide" Target="../notesSlides/notesSlide18.xml"/><Relationship Id="rId18" Type="http://schemas.openxmlformats.org/officeDocument/2006/relationships/image" Target="../media/image84.png"/><Relationship Id="rId3" Type="http://schemas.openxmlformats.org/officeDocument/2006/relationships/tags" Target="../tags/tag74.xml"/><Relationship Id="rId21" Type="http://schemas.openxmlformats.org/officeDocument/2006/relationships/image" Target="../media/image87.png"/><Relationship Id="rId7" Type="http://schemas.openxmlformats.org/officeDocument/2006/relationships/tags" Target="../tags/tag78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83.png"/><Relationship Id="rId2" Type="http://schemas.openxmlformats.org/officeDocument/2006/relationships/tags" Target="../tags/tag73.xml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tags" Target="../tags/tag82.xml"/><Relationship Id="rId5" Type="http://schemas.openxmlformats.org/officeDocument/2006/relationships/tags" Target="../tags/tag76.xml"/><Relationship Id="rId15" Type="http://schemas.openxmlformats.org/officeDocument/2006/relationships/image" Target="../media/image81.png"/><Relationship Id="rId10" Type="http://schemas.openxmlformats.org/officeDocument/2006/relationships/tags" Target="../tags/tag81.xml"/><Relationship Id="rId19" Type="http://schemas.openxmlformats.org/officeDocument/2006/relationships/image" Target="../media/image85.png"/><Relationship Id="rId4" Type="http://schemas.openxmlformats.org/officeDocument/2006/relationships/tags" Target="../tags/tag75.xml"/><Relationship Id="rId9" Type="http://schemas.openxmlformats.org/officeDocument/2006/relationships/tags" Target="../tags/tag80.xml"/><Relationship Id="rId14" Type="http://schemas.openxmlformats.org/officeDocument/2006/relationships/image" Target="../media/image8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13" Type="http://schemas.openxmlformats.org/officeDocument/2006/relationships/image" Target="../media/image92.png"/><Relationship Id="rId3" Type="http://schemas.openxmlformats.org/officeDocument/2006/relationships/tags" Target="../tags/tag85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91.png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image" Target="../media/image90.png"/><Relationship Id="rId5" Type="http://schemas.openxmlformats.org/officeDocument/2006/relationships/tags" Target="../tags/tag87.xml"/><Relationship Id="rId10" Type="http://schemas.openxmlformats.org/officeDocument/2006/relationships/image" Target="../media/image89.png"/><Relationship Id="rId4" Type="http://schemas.openxmlformats.org/officeDocument/2006/relationships/tags" Target="../tags/tag86.xml"/><Relationship Id="rId9" Type="http://schemas.openxmlformats.org/officeDocument/2006/relationships/image" Target="../media/image88.png"/><Relationship Id="rId14" Type="http://schemas.openxmlformats.org/officeDocument/2006/relationships/image" Target="../media/image93.png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tags" Target="../tags/tag101.xml"/><Relationship Id="rId18" Type="http://schemas.openxmlformats.org/officeDocument/2006/relationships/tags" Target="../tags/tag106.xml"/><Relationship Id="rId26" Type="http://schemas.openxmlformats.org/officeDocument/2006/relationships/image" Target="../media/image84.png"/><Relationship Id="rId3" Type="http://schemas.openxmlformats.org/officeDocument/2006/relationships/tags" Target="../tags/tag91.xml"/><Relationship Id="rId21" Type="http://schemas.openxmlformats.org/officeDocument/2006/relationships/slideLayout" Target="../slideLayouts/slideLayout12.xml"/><Relationship Id="rId34" Type="http://schemas.openxmlformats.org/officeDocument/2006/relationships/image" Target="../media/image99.png"/><Relationship Id="rId7" Type="http://schemas.openxmlformats.org/officeDocument/2006/relationships/tags" Target="../tags/tag95.xml"/><Relationship Id="rId12" Type="http://schemas.openxmlformats.org/officeDocument/2006/relationships/tags" Target="../tags/tag100.xml"/><Relationship Id="rId17" Type="http://schemas.openxmlformats.org/officeDocument/2006/relationships/tags" Target="../tags/tag105.xml"/><Relationship Id="rId25" Type="http://schemas.openxmlformats.org/officeDocument/2006/relationships/image" Target="../media/image83.png"/><Relationship Id="rId33" Type="http://schemas.openxmlformats.org/officeDocument/2006/relationships/image" Target="../media/image98.png"/><Relationship Id="rId2" Type="http://schemas.openxmlformats.org/officeDocument/2006/relationships/tags" Target="../tags/tag90.xml"/><Relationship Id="rId16" Type="http://schemas.openxmlformats.org/officeDocument/2006/relationships/tags" Target="../tags/tag104.xml"/><Relationship Id="rId20" Type="http://schemas.openxmlformats.org/officeDocument/2006/relationships/tags" Target="../tags/tag108.xml"/><Relationship Id="rId29" Type="http://schemas.openxmlformats.org/officeDocument/2006/relationships/image" Target="../media/image87.png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tags" Target="../tags/tag99.xml"/><Relationship Id="rId24" Type="http://schemas.openxmlformats.org/officeDocument/2006/relationships/image" Target="../media/image82.png"/><Relationship Id="rId32" Type="http://schemas.openxmlformats.org/officeDocument/2006/relationships/image" Target="../media/image97.png"/><Relationship Id="rId5" Type="http://schemas.openxmlformats.org/officeDocument/2006/relationships/tags" Target="../tags/tag93.xml"/><Relationship Id="rId15" Type="http://schemas.openxmlformats.org/officeDocument/2006/relationships/tags" Target="../tags/tag103.xml"/><Relationship Id="rId23" Type="http://schemas.openxmlformats.org/officeDocument/2006/relationships/image" Target="../media/image94.png"/><Relationship Id="rId28" Type="http://schemas.openxmlformats.org/officeDocument/2006/relationships/image" Target="../media/image86.png"/><Relationship Id="rId10" Type="http://schemas.openxmlformats.org/officeDocument/2006/relationships/tags" Target="../tags/tag98.xml"/><Relationship Id="rId19" Type="http://schemas.openxmlformats.org/officeDocument/2006/relationships/tags" Target="../tags/tag107.xml"/><Relationship Id="rId31" Type="http://schemas.openxmlformats.org/officeDocument/2006/relationships/image" Target="../media/image96.png"/><Relationship Id="rId4" Type="http://schemas.openxmlformats.org/officeDocument/2006/relationships/tags" Target="../tags/tag92.xml"/><Relationship Id="rId9" Type="http://schemas.openxmlformats.org/officeDocument/2006/relationships/tags" Target="../tags/tag97.xml"/><Relationship Id="rId14" Type="http://schemas.openxmlformats.org/officeDocument/2006/relationships/tags" Target="../tags/tag102.xml"/><Relationship Id="rId22" Type="http://schemas.openxmlformats.org/officeDocument/2006/relationships/notesSlide" Target="../notesSlides/notesSlide20.xml"/><Relationship Id="rId27" Type="http://schemas.openxmlformats.org/officeDocument/2006/relationships/image" Target="../media/image85.png"/><Relationship Id="rId30" Type="http://schemas.openxmlformats.org/officeDocument/2006/relationships/image" Target="../media/image95.png"/><Relationship Id="rId35" Type="http://schemas.openxmlformats.org/officeDocument/2006/relationships/image" Target="../media/image100.png"/><Relationship Id="rId8" Type="http://schemas.openxmlformats.org/officeDocument/2006/relationships/tags" Target="../tags/tag9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A4071D-BB9D-4544-A70A-F5F1A09E3D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8368" y="3968496"/>
            <a:ext cx="6638544" cy="1650381"/>
          </a:xfrm>
        </p:spPr>
        <p:txBody>
          <a:bodyPr>
            <a:normAutofit/>
          </a:bodyPr>
          <a:lstStyle/>
          <a:p>
            <a:r>
              <a:rPr lang="en-US" i="0" dirty="0"/>
              <a:t>Thesis Topic Defense</a:t>
            </a:r>
          </a:p>
          <a:p>
            <a:r>
              <a:rPr lang="en-US" dirty="0"/>
              <a:t>Luke Pendo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7726B7-BE34-4866-8953-1808D06B7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7" y="792365"/>
            <a:ext cx="11380223" cy="3084691"/>
          </a:xfrm>
          <a:solidFill>
            <a:srgbClr val="005AC0"/>
          </a:solidFill>
        </p:spPr>
        <p:txBody>
          <a:bodyPr/>
          <a:lstStyle/>
          <a:p>
            <a:r>
              <a:rPr lang="en-US" dirty="0"/>
              <a:t>Evaluation of effective mass descriptions of the electronic structure of the isolated phosphorus silicon donor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6F668D-37E4-4004-8DB7-0DC6EB80C7BD}"/>
              </a:ext>
            </a:extLst>
          </p:cNvPr>
          <p:cNvSpPr txBox="1"/>
          <p:nvPr/>
        </p:nvSpPr>
        <p:spPr>
          <a:xfrm>
            <a:off x="1331872" y="5283201"/>
            <a:ext cx="9528256" cy="369332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https://gitlab.com/cantankerous-impurity/cantankerous-impurity/-/blob/core/TopicDefense.pptx</a:t>
            </a:r>
          </a:p>
        </p:txBody>
      </p:sp>
    </p:spTree>
    <p:extLst>
      <p:ext uri="{BB962C8B-B14F-4D97-AF65-F5344CB8AC3E}">
        <p14:creationId xmlns:p14="http://schemas.microsoft.com/office/powerpoint/2010/main" val="210181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B25C4-F99B-435D-AB7C-2CC4D8DFE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6638544" cy="853311"/>
          </a:xfrm>
        </p:spPr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ABCA4-531E-4BF6-8B66-F14C2A537D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3E8739-5C61-472A-9115-B531BF49F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931" y="1564808"/>
            <a:ext cx="5589846" cy="37283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FFA92F-CA1B-4914-8785-18173BEDC0B0}"/>
              </a:ext>
            </a:extLst>
          </p:cNvPr>
          <p:cNvSpPr txBox="1"/>
          <p:nvPr/>
        </p:nvSpPr>
        <p:spPr>
          <a:xfrm>
            <a:off x="3710242" y="5444649"/>
            <a:ext cx="7484535" cy="73866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Quantum supercomputer from television miniseries </a:t>
            </a:r>
            <a:r>
              <a:rPr lang="en-US" sz="1400" i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Devs</a:t>
            </a:r>
            <a:endParaRPr lang="en-US" sz="1400" i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Picture credited to M. Mizuno/FX.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sz="14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https://www.nytimes.com/2020/05/04/arts/television/westworld-finale-devs-sean-carroll.html</a:t>
            </a:r>
          </a:p>
        </p:txBody>
      </p:sp>
    </p:spTree>
    <p:extLst>
      <p:ext uri="{BB962C8B-B14F-4D97-AF65-F5344CB8AC3E}">
        <p14:creationId xmlns:p14="http://schemas.microsoft.com/office/powerpoint/2010/main" val="311046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quantum computing?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DB8E04-E3FC-4BBC-A47C-59FC034576DA}"/>
              </a:ext>
            </a:extLst>
          </p:cNvPr>
          <p:cNvSpPr txBox="1"/>
          <p:nvPr/>
        </p:nvSpPr>
        <p:spPr>
          <a:xfrm>
            <a:off x="483931" y="1829512"/>
            <a:ext cx="11224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Quantum advantage</a:t>
            </a:r>
          </a:p>
          <a:p>
            <a:pPr algn="ctr"/>
            <a:r>
              <a:rPr lang="en-US" dirty="0"/>
              <a:t>There are [probably] some tasks [fault tolerant] quantum computers do much than better classical computers!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3EFDDB-EBB4-4D3C-9EF2-8DCA61CBAAC7}"/>
              </a:ext>
            </a:extLst>
          </p:cNvPr>
          <p:cNvSpPr txBox="1"/>
          <p:nvPr/>
        </p:nvSpPr>
        <p:spPr>
          <a:xfrm>
            <a:off x="1481667" y="4093813"/>
            <a:ext cx="92286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The exciting idea: Quantum simulation</a:t>
            </a:r>
          </a:p>
          <a:p>
            <a:r>
              <a:rPr lang="en-US" dirty="0"/>
              <a:t>“Quantum algorithms can exponentially outperform classical ones when simulating a system with many quantum degrees of freedom, with applications including problems in chemistry, materials science, condensed matter, nuclear physics, and high-energy physics” [2]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BF461C-346D-4964-91DB-F0AFCED12AD3}"/>
              </a:ext>
            </a:extLst>
          </p:cNvPr>
          <p:cNvSpPr txBox="1"/>
          <p:nvPr/>
        </p:nvSpPr>
        <p:spPr>
          <a:xfrm>
            <a:off x="2546351" y="2756081"/>
            <a:ext cx="70992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The quintessential example: Prime factorization of an integer. </a:t>
            </a:r>
            <a:r>
              <a:rPr lang="en-US" dirty="0"/>
              <a:t>[1]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Classical – General number field sieve – Exponential time – exp(O[n</a:t>
            </a:r>
            <a:r>
              <a:rPr lang="en-US" baseline="30000" dirty="0"/>
              <a:t>1/3</a:t>
            </a:r>
            <a:r>
              <a:rPr lang="en-US" dirty="0"/>
              <a:t>])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Quantum – Shor’s algorithm – Polynomial time – O[ n</a:t>
            </a:r>
            <a:r>
              <a:rPr lang="en-US" baseline="30000" dirty="0"/>
              <a:t>2 </a:t>
            </a:r>
            <a:r>
              <a:rPr lang="en-US" dirty="0"/>
              <a:t>log (n) 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C00000"/>
                </a:solidFill>
              </a:rPr>
              <a:t>Substantial implications for cryptography and cybersecurity!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55ED31-C243-44FE-B311-0C8A6868D6AC}"/>
              </a:ext>
            </a:extLst>
          </p:cNvPr>
          <p:cNvSpPr txBox="1"/>
          <p:nvPr/>
        </p:nvSpPr>
        <p:spPr>
          <a:xfrm>
            <a:off x="651933" y="5376669"/>
            <a:ext cx="10888134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Classically, representation of a quantum state grows with basis size (N), operators grow as (N</a:t>
            </a:r>
            <a:r>
              <a:rPr lang="en-US" baseline="30000" dirty="0"/>
              <a:t>2</a:t>
            </a:r>
            <a:r>
              <a:rPr lang="en-US" dirty="0"/>
              <a:t>).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Hilbert space grows exponentially, so a classical computer can simulate only a small quantum system.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Quantum, only log</a:t>
            </a:r>
            <a:r>
              <a:rPr lang="en-US" baseline="-25000" dirty="0"/>
              <a:t>2</a:t>
            </a:r>
            <a:r>
              <a:rPr lang="en-US" dirty="0"/>
              <a:t>(N) qubits and a finite series of gates of length O[ </a:t>
            </a:r>
            <a:r>
              <a:rPr lang="en-US" dirty="0" err="1"/>
              <a:t>log</a:t>
            </a:r>
            <a:r>
              <a:rPr lang="en-US" baseline="30000" dirty="0" err="1"/>
              <a:t>c</a:t>
            </a:r>
            <a:r>
              <a:rPr lang="en-US" dirty="0"/>
              <a:t>(1/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ε</a:t>
            </a:r>
            <a:r>
              <a:rPr lang="en-US" dirty="0"/>
              <a:t>) ] [3].</a:t>
            </a:r>
          </a:p>
        </p:txBody>
      </p:sp>
    </p:spTree>
    <p:extLst>
      <p:ext uri="{BB962C8B-B14F-4D97-AF65-F5344CB8AC3E}">
        <p14:creationId xmlns:p14="http://schemas.microsoft.com/office/powerpoint/2010/main" val="511118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caveats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DB8E04-E3FC-4BBC-A47C-59FC034576DA}"/>
              </a:ext>
            </a:extLst>
          </p:cNvPr>
          <p:cNvSpPr txBox="1"/>
          <p:nvPr/>
        </p:nvSpPr>
        <p:spPr>
          <a:xfrm>
            <a:off x="254001" y="3645753"/>
            <a:ext cx="116839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Quantum supremacy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“The demonstration of an efficient </a:t>
            </a:r>
            <a:r>
              <a:rPr lang="en-US" i="1" dirty="0">
                <a:solidFill>
                  <a:srgbClr val="00B050"/>
                </a:solidFill>
              </a:rPr>
              <a:t>quantum computed solution </a:t>
            </a:r>
            <a:r>
              <a:rPr lang="en-US" dirty="0"/>
              <a:t>to any problem </a:t>
            </a:r>
            <a:r>
              <a:rPr lang="en-US" i="1" dirty="0">
                <a:solidFill>
                  <a:srgbClr val="C00000"/>
                </a:solidFill>
              </a:rPr>
              <a:t>intractable for classical computers</a:t>
            </a:r>
            <a:r>
              <a:rPr lang="en-US" dirty="0"/>
              <a:t>.” [1,2]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Quantum supremacy (or something close to it) probably demonstrated by Google Sycamore [4,5].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2F7118-CF66-48D6-8BBE-2AB53BC0D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90" y="4834785"/>
            <a:ext cx="2768141" cy="19030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79C125-C9DB-48F8-9875-4FE1B1FD1BAE}"/>
              </a:ext>
            </a:extLst>
          </p:cNvPr>
          <p:cNvSpPr txBox="1"/>
          <p:nvPr/>
        </p:nvSpPr>
        <p:spPr>
          <a:xfrm>
            <a:off x="3448491" y="5038290"/>
            <a:ext cx="67682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NISQ</a:t>
            </a:r>
            <a:r>
              <a:rPr lang="en-US" i="1" dirty="0"/>
              <a:t> – Noisy Intermediate-scale Quantum</a:t>
            </a:r>
            <a:r>
              <a:rPr lang="en-US" dirty="0"/>
              <a:t> [6]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Quantum computing hardware is developing but still early days.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Continuing problems with scalability, noise.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Limited, lossy qubits.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Active search to find applications for NISQ devices.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583FDC-17BA-4B27-9818-6F721945B19A}"/>
              </a:ext>
            </a:extLst>
          </p:cNvPr>
          <p:cNvSpPr txBox="1"/>
          <p:nvPr/>
        </p:nvSpPr>
        <p:spPr>
          <a:xfrm>
            <a:off x="483931" y="1829512"/>
            <a:ext cx="11224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Quantum advantage</a:t>
            </a:r>
          </a:p>
          <a:p>
            <a:pPr algn="ctr"/>
            <a:r>
              <a:rPr lang="en-US" dirty="0"/>
              <a:t>There are [probably] some tasks [fault tolerant] quantum computers do much better than classical computers!</a:t>
            </a:r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Fault tolerant quantum computers do not yet exist!</a:t>
            </a:r>
          </a:p>
        </p:txBody>
      </p:sp>
    </p:spTree>
    <p:extLst>
      <p:ext uri="{BB962C8B-B14F-4D97-AF65-F5344CB8AC3E}">
        <p14:creationId xmlns:p14="http://schemas.microsoft.com/office/powerpoint/2010/main" val="1483246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Leading implementations of quantum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81429C-C6FB-4609-AD18-538950D8AE72}"/>
              </a:ext>
            </a:extLst>
          </p:cNvPr>
          <p:cNvSpPr txBox="1"/>
          <p:nvPr/>
        </p:nvSpPr>
        <p:spPr>
          <a:xfrm>
            <a:off x="153727" y="2101058"/>
            <a:ext cx="535317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Trapped ion qubits </a:t>
            </a:r>
            <a:r>
              <a:rPr lang="en-US" dirty="0"/>
              <a:t>[7]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Atomic ions trapped in electromagnetic fields.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Types</a:t>
            </a:r>
            <a:r>
              <a:rPr lang="en-US" i="1" dirty="0"/>
              <a:t> – optical</a:t>
            </a:r>
            <a:r>
              <a:rPr lang="en-US" dirty="0"/>
              <a:t> and </a:t>
            </a:r>
            <a:r>
              <a:rPr lang="en-US" i="1" dirty="0"/>
              <a:t>hyperfine </a:t>
            </a:r>
            <a:r>
              <a:rPr lang="en-US" dirty="0"/>
              <a:t>qubits.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i="1" dirty="0"/>
              <a:t>Optical</a:t>
            </a:r>
            <a:r>
              <a:rPr lang="en-US" dirty="0"/>
              <a:t> – Different electronic states.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i="1" dirty="0"/>
              <a:t>Hyperfine</a:t>
            </a:r>
            <a:r>
              <a:rPr lang="en-US" dirty="0"/>
              <a:t> – Hyperfine split in ground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Manipulation</a:t>
            </a:r>
            <a:r>
              <a:rPr lang="en-US" dirty="0"/>
              <a:t> – addressing via EM field.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Optical – laser exciting quadrupole transition.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Hyperfine – microwave antenna.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Hyperfine – microwave Raman transitions.</a:t>
            </a:r>
            <a:endParaRPr lang="en-US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Measurement</a:t>
            </a:r>
            <a:r>
              <a:rPr lang="en-US" dirty="0"/>
              <a:t> – photon scattering.</a:t>
            </a:r>
            <a:endParaRPr lang="en-U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Pros – </a:t>
            </a:r>
            <a:r>
              <a:rPr lang="en-US" dirty="0"/>
              <a:t>Mobile qubits.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Cons – </a:t>
            </a:r>
            <a:r>
              <a:rPr lang="en-US" dirty="0"/>
              <a:t>Chains of trapped ions limited in number. Very slow gates.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241E2D-3671-461E-B62D-8D56721128FD}"/>
              </a:ext>
            </a:extLst>
          </p:cNvPr>
          <p:cNvSpPr txBox="1"/>
          <p:nvPr/>
        </p:nvSpPr>
        <p:spPr>
          <a:xfrm>
            <a:off x="5660630" y="1963191"/>
            <a:ext cx="637764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Superconducting qubits </a:t>
            </a:r>
            <a:r>
              <a:rPr lang="en-US" dirty="0"/>
              <a:t>[8]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Lithographically defined superconducting electric circuits at millikelvin temperatures.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Types</a:t>
            </a:r>
            <a:r>
              <a:rPr lang="en-US" i="1" dirty="0"/>
              <a:t> – </a:t>
            </a:r>
            <a:r>
              <a:rPr lang="en-US" i="1" dirty="0" err="1"/>
              <a:t>transmon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/>
              <a:t>flux </a:t>
            </a:r>
            <a:r>
              <a:rPr lang="en-US" dirty="0"/>
              <a:t>qubits.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i="1" dirty="0" err="1"/>
              <a:t>Transmon</a:t>
            </a:r>
            <a:r>
              <a:rPr lang="en-US" dirty="0"/>
              <a:t> – Charge islands coupled by Josephson junction.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i="1" dirty="0"/>
              <a:t>Flux</a:t>
            </a:r>
            <a:r>
              <a:rPr lang="en-US" dirty="0"/>
              <a:t> – Magnetic flux states coupled by Josephson junction.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NISQ-era implementations! Google, IBM, Intel,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Manipulation – </a:t>
            </a:r>
            <a:r>
              <a:rPr lang="en-US" dirty="0"/>
              <a:t>microwave antenna.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Measurement – </a:t>
            </a:r>
            <a:r>
              <a:rPr lang="en-US" dirty="0"/>
              <a:t>qubit-coupled resonator dispersive response.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Pros –</a:t>
            </a:r>
            <a:r>
              <a:rPr lang="en-US" dirty="0"/>
              <a:t> Fast, high fidelity gates. Compatible with extant semiconductor fabrication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Cons – </a:t>
            </a:r>
            <a:r>
              <a:rPr lang="en-US" dirty="0"/>
              <a:t>Extensive refrigeration requirements. </a:t>
            </a:r>
            <a:r>
              <a:rPr lang="en-US" dirty="0" err="1"/>
              <a:t>Superlinear</a:t>
            </a:r>
            <a:r>
              <a:rPr lang="en-US" dirty="0"/>
              <a:t> calibration complexity to coordinate artificial atoms. Very large footprint per qubit.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703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Silicon spin qubits [9]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241E2D-3671-461E-B62D-8D56721128FD}"/>
              </a:ext>
            </a:extLst>
          </p:cNvPr>
          <p:cNvSpPr txBox="1"/>
          <p:nvPr/>
        </p:nvSpPr>
        <p:spPr>
          <a:xfrm>
            <a:off x="2907179" y="2083841"/>
            <a:ext cx="637764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Spins hosted by electrons confined in silicon.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Types</a:t>
            </a:r>
            <a:r>
              <a:rPr lang="en-US" i="1" dirty="0"/>
              <a:t> – quantum dot </a:t>
            </a:r>
            <a:r>
              <a:rPr lang="en-US" dirty="0"/>
              <a:t>and </a:t>
            </a:r>
            <a:r>
              <a:rPr lang="en-US" i="1" dirty="0"/>
              <a:t>donor </a:t>
            </a:r>
            <a:r>
              <a:rPr lang="en-US" dirty="0"/>
              <a:t>qubits.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i="1" dirty="0"/>
              <a:t>Dot</a:t>
            </a:r>
            <a:r>
              <a:rPr lang="en-US" dirty="0"/>
              <a:t> – Electrons confined by electric gates.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i="1" dirty="0"/>
              <a:t>Donor</a:t>
            </a:r>
            <a:r>
              <a:rPr lang="en-US" dirty="0"/>
              <a:t> – Electron confined by impurity charge.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Manipulation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i="1" dirty="0"/>
              <a:t>Dot – </a:t>
            </a:r>
            <a:r>
              <a:rPr lang="en-US" dirty="0"/>
              <a:t>electrical gating</a:t>
            </a:r>
            <a:r>
              <a:rPr lang="en-US" i="1" dirty="0"/>
              <a:t>. 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i="1" dirty="0"/>
              <a:t>Donor – </a:t>
            </a:r>
            <a:r>
              <a:rPr lang="en-US" dirty="0"/>
              <a:t>microwave antenna.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Measurement – </a:t>
            </a:r>
            <a:r>
              <a:rPr lang="en-US" dirty="0"/>
              <a:t>Spin-to-charge conversion using spin blockade.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Pros:</a:t>
            </a:r>
            <a:r>
              <a:rPr lang="en-US" dirty="0"/>
              <a:t> Long coherence times. Small physical footprint per qubit. Fast two-qubit gates.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Cons: </a:t>
            </a:r>
            <a:r>
              <a:rPr lang="en-US" dirty="0"/>
              <a:t>Measurement relatively slow.</a:t>
            </a:r>
            <a:r>
              <a:rPr lang="en-US" b="1" dirty="0"/>
              <a:t> </a:t>
            </a:r>
            <a:r>
              <a:rPr lang="en-US" i="1" dirty="0">
                <a:solidFill>
                  <a:srgbClr val="C00000"/>
                </a:solidFill>
              </a:rPr>
              <a:t>No clear demonstration of a scalable two-qubit gate.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8C5F4A-F75B-41A5-9C22-66661AF8F9FA}"/>
              </a:ext>
            </a:extLst>
          </p:cNvPr>
          <p:cNvSpPr txBox="1"/>
          <p:nvPr/>
        </p:nvSpPr>
        <p:spPr>
          <a:xfrm>
            <a:off x="1073539" y="5807059"/>
            <a:ext cx="10044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High fidelity two-qubit gates requires spatial control of the number density of two electrons. </a:t>
            </a:r>
          </a:p>
          <a:p>
            <a:pPr algn="ctr"/>
            <a:r>
              <a:rPr lang="en-US" b="1" i="1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As such, we seek to understand how the bound electron spreads and scatters through the silicon crystal.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9FC93A9-BC71-4791-A021-1CD9D831861A}"/>
              </a:ext>
            </a:extLst>
          </p:cNvPr>
          <p:cNvGrpSpPr/>
          <p:nvPr/>
        </p:nvGrpSpPr>
        <p:grpSpPr>
          <a:xfrm>
            <a:off x="8977401" y="1030999"/>
            <a:ext cx="3159227" cy="2645905"/>
            <a:chOff x="93751" y="977584"/>
            <a:chExt cx="3159227" cy="264590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3E0BD44-26EC-4A75-AC76-1AA470902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6336" y="977584"/>
              <a:ext cx="2734057" cy="226726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E64CC0E-0ADD-48FC-82AB-3BFE58CFF576}"/>
                </a:ext>
              </a:extLst>
            </p:cNvPr>
            <p:cNvSpPr txBox="1"/>
            <p:nvPr/>
          </p:nvSpPr>
          <p:spPr>
            <a:xfrm>
              <a:off x="93751" y="3100269"/>
              <a:ext cx="31592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Gate-defined quantum dot</a:t>
              </a:r>
            </a:p>
            <a:p>
              <a:pPr algn="ctr"/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C. H. Yang, </a:t>
              </a:r>
              <a:r>
                <a:rPr lang="en-US" sz="1400" i="1" dirty="0">
                  <a:latin typeface="Calibri" panose="020F0502020204030204" pitchFamily="34" charset="0"/>
                  <a:cs typeface="Calibri" panose="020F0502020204030204" pitchFamily="34" charset="0"/>
                </a:rPr>
                <a:t>et al.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, Nature </a:t>
              </a:r>
              <a:r>
                <a:rPr lang="en-US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580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, 350 (2020)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8BE414E-0023-4DA3-8CAF-75354B336583}"/>
              </a:ext>
            </a:extLst>
          </p:cNvPr>
          <p:cNvGrpSpPr/>
          <p:nvPr/>
        </p:nvGrpSpPr>
        <p:grpSpPr>
          <a:xfrm>
            <a:off x="57150" y="1030999"/>
            <a:ext cx="2768321" cy="2164520"/>
            <a:chOff x="298729" y="3642539"/>
            <a:chExt cx="2768321" cy="216452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25FD2D3-8F6B-4EC9-878D-F6AA82FC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3771" y="3642539"/>
              <a:ext cx="2518237" cy="1815176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EE41A65-AE83-4AD1-99CB-11B529D15D3A}"/>
                </a:ext>
              </a:extLst>
            </p:cNvPr>
            <p:cNvSpPr txBox="1"/>
            <p:nvPr/>
          </p:nvSpPr>
          <p:spPr>
            <a:xfrm>
              <a:off x="298729" y="5283839"/>
              <a:ext cx="276832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Silicon donor qubits</a:t>
              </a:r>
            </a:p>
            <a:p>
              <a:pPr algn="ctr"/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Y. He, </a:t>
              </a:r>
              <a:r>
                <a:rPr lang="en-US" sz="1400" i="1" dirty="0">
                  <a:latin typeface="Calibri" panose="020F0502020204030204" pitchFamily="34" charset="0"/>
                  <a:cs typeface="Calibri" panose="020F0502020204030204" pitchFamily="34" charset="0"/>
                </a:rPr>
                <a:t>et al.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, Nature </a:t>
              </a:r>
              <a:r>
                <a:rPr lang="en-US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571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, 371 (2019)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5644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B25C4-F99B-435D-AB7C-2CC4D8DFE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6638544" cy="853311"/>
          </a:xfrm>
        </p:spPr>
        <p:txBody>
          <a:bodyPr/>
          <a:lstStyle/>
          <a:p>
            <a:r>
              <a:rPr lang="en-US" dirty="0"/>
              <a:t>SILICON DONOR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ABCA4-531E-4BF6-8B66-F14C2A537D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948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764583" y="5144429"/>
            <a:ext cx="46628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Picture modified by L. Pendo</a:t>
            </a:r>
          </a:p>
          <a:p>
            <a:pPr algn="ctr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Original crystal structure picture by B. Mills, public domain. </a:t>
            </a:r>
          </a:p>
          <a:p>
            <a:pPr algn="ctr"/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https://commons.wikimedia.org/w/index.php?curid=2722584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809018-FBA5-4CB6-AE04-5CDD93B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System description – Silicon donor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0B03C00-2683-4AC6-A551-429FDB2D3F5F}"/>
              </a:ext>
            </a:extLst>
          </p:cNvPr>
          <p:cNvGrpSpPr/>
          <p:nvPr/>
        </p:nvGrpSpPr>
        <p:grpSpPr>
          <a:xfrm>
            <a:off x="526645" y="2119688"/>
            <a:ext cx="11138711" cy="2769989"/>
            <a:chOff x="526645" y="2119688"/>
            <a:chExt cx="11138711" cy="2769989"/>
          </a:xfrm>
        </p:grpSpPr>
        <p:sp>
          <p:nvSpPr>
            <p:cNvPr id="26" name="Text Placeholder 1 1 1"/>
            <p:cNvSpPr txBox="1">
              <a:spLocks/>
            </p:cNvSpPr>
            <p:nvPr/>
          </p:nvSpPr>
          <p:spPr>
            <a:xfrm>
              <a:off x="3592791" y="2119688"/>
              <a:ext cx="8072565" cy="276998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ts val="26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800" b="0" i="0" kern="1200" spc="-50" baseline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45718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20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91437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None/>
                <a:defRPr sz="18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37156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182875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28594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Infinite silicon crystal bulk.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Silicon replaced by an isolated pnictogen (Group V/Group 15) impurity, </a:t>
              </a:r>
              <a:r>
                <a:rPr lang="en-US" b="1" i="1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donor</a:t>
              </a:r>
              <a:r>
                <a:rPr lang="en-US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pnictogen we consider most often is </a:t>
              </a:r>
              <a:r>
                <a:rPr lang="en-US" dirty="0">
                  <a:solidFill>
                    <a:srgbClr val="75AD38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phosphorous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endParaRPr lang="en-US" dirty="0">
                <a:solidFill>
                  <a:srgbClr val="66666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System is symmetric about the impurity under </a:t>
              </a:r>
              <a:r>
                <a:rPr lang="en-US" dirty="0">
                  <a:solidFill>
                    <a:schemeClr val="accent6">
                      <a:lumMod val="90000"/>
                      <a:lumOff val="1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operations of point group </a:t>
              </a:r>
              <a:r>
                <a:rPr lang="en-US" i="1" dirty="0">
                  <a:solidFill>
                    <a:schemeClr val="accent6">
                      <a:lumMod val="90000"/>
                      <a:lumOff val="1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r>
                <a:rPr lang="en-US" i="1" baseline="-25000" dirty="0">
                  <a:solidFill>
                    <a:schemeClr val="accent6">
                      <a:lumMod val="90000"/>
                      <a:lumOff val="1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Excess proton of pnictogen attracts an </a:t>
              </a:r>
              <a:r>
                <a:rPr lang="en-US" dirty="0">
                  <a:solidFill>
                    <a:schemeClr val="accent6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excess electron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accent6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Excess electron 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affected by</a:t>
              </a:r>
              <a:r>
                <a:rPr lang="en-US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periodic crystal potential</a:t>
              </a:r>
              <a:r>
                <a:rPr lang="en-US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lang="en-US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weakly bound to donor potential</a:t>
              </a:r>
              <a:r>
                <a:rPr lang="en-US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endParaRPr lang="en-US" i="1" dirty="0">
                <a:solidFill>
                  <a:srgbClr val="66666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742939" lvl="1" indent="-28575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800" i="1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Small-scale</a:t>
              </a:r>
              <a:r>
                <a:rPr lang="en-US" sz="1800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: looks like a </a:t>
              </a:r>
              <a:r>
                <a:rPr lang="en-US" sz="1800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Bloch wave</a:t>
              </a:r>
              <a:r>
                <a:rPr lang="en-US" sz="1800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  <a:p>
              <a:pPr marL="742939" lvl="1" indent="-285750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800" i="1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Long-scale:</a:t>
              </a:r>
              <a:r>
                <a:rPr lang="en-US" sz="180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attenuated on scale </a:t>
              </a:r>
              <a:r>
                <a:rPr 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longer then </a:t>
              </a:r>
              <a:r>
                <a:rPr lang="en-US" sz="1800" dirty="0">
                  <a:solidFill>
                    <a:srgbClr val="66666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lattice parameter.</a:t>
              </a:r>
              <a:endParaRPr lang="en-US" dirty="0">
                <a:solidFill>
                  <a:srgbClr val="66666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8E4C0CB-E68B-4518-8186-B5D412936B57}"/>
                </a:ext>
              </a:extLst>
            </p:cNvPr>
            <p:cNvGrpSpPr/>
            <p:nvPr/>
          </p:nvGrpSpPr>
          <p:grpSpPr>
            <a:xfrm>
              <a:off x="526645" y="2292648"/>
              <a:ext cx="2539501" cy="2424069"/>
              <a:chOff x="1818890" y="4316117"/>
              <a:chExt cx="2539501" cy="2424069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5BFB7BC-8D47-4687-8930-F5D182F924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18890" y="4316117"/>
                <a:ext cx="2539501" cy="2424069"/>
              </a:xfrm>
              <a:prstGeom prst="rect">
                <a:avLst/>
              </a:prstGeom>
            </p:spPr>
          </p:pic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7720027-78A5-4834-86B7-EF7D75B3F4D3}"/>
                  </a:ext>
                </a:extLst>
              </p:cNvPr>
              <p:cNvSpPr/>
              <p:nvPr/>
            </p:nvSpPr>
            <p:spPr>
              <a:xfrm>
                <a:off x="2530655" y="4974644"/>
                <a:ext cx="246317" cy="246317"/>
              </a:xfrm>
              <a:prstGeom prst="ellipse">
                <a:avLst/>
              </a:prstGeom>
              <a:solidFill>
                <a:srgbClr val="92D05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925EBF-E388-4365-A313-61B414B65172}"/>
                  </a:ext>
                </a:extLst>
              </p:cNvPr>
              <p:cNvSpPr txBox="1"/>
              <p:nvPr/>
            </p:nvSpPr>
            <p:spPr>
              <a:xfrm>
                <a:off x="2530655" y="4974644"/>
                <a:ext cx="22405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P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49255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9A02-DF87-4D12-AF45-8085F0E53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How to model the donor electron?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D922CC-85C2-42BC-8A30-DF5CA6A131F6}"/>
              </a:ext>
            </a:extLst>
          </p:cNvPr>
          <p:cNvSpPr txBox="1"/>
          <p:nvPr/>
        </p:nvSpPr>
        <p:spPr>
          <a:xfrm>
            <a:off x="499274" y="2042314"/>
            <a:ext cx="53531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Tight binding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Donor electron wavefunction is expressed as a superposition of </a:t>
            </a:r>
            <a:r>
              <a:rPr lang="en-US" i="1" dirty="0"/>
              <a:t>atomic orbitals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Hamiltonian is almost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entirely empirical</a:t>
            </a:r>
            <a:r>
              <a:rPr lang="en-US" dirty="0"/>
              <a:t>, optimized to satisfy the silicon band 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Quantitatively accurate.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Computationally expensive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1F039E-81F3-48AD-B2D6-04875F2DC9A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87100" y="4563573"/>
            <a:ext cx="5377524" cy="5988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425BF9-52EF-45C9-BD10-A8DCAE96D56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732815" y="5594125"/>
            <a:ext cx="2886095" cy="54095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A7DF18C-232C-4282-A856-F8D0BBD3C07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157076" y="5546125"/>
            <a:ext cx="3742473" cy="6369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7D9EF3-7997-445F-B523-EB5880B8BA06}"/>
              </a:ext>
            </a:extLst>
          </p:cNvPr>
          <p:cNvSpPr txBox="1"/>
          <p:nvPr/>
        </p:nvSpPr>
        <p:spPr>
          <a:xfrm>
            <a:off x="6351724" y="2042314"/>
            <a:ext cx="53531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Effective mass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Donor electron wavefunction is expressed as a superposition of </a:t>
            </a:r>
            <a:r>
              <a:rPr lang="en-US" i="1" dirty="0"/>
              <a:t>Bloch states</a:t>
            </a:r>
            <a:r>
              <a:rPr lang="en-US" dirty="0"/>
              <a:t> from the conduction band edge.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better </a:t>
            </a:r>
            <a:r>
              <a:rPr lang="en-US" dirty="0">
                <a:solidFill>
                  <a:srgbClr val="00B050"/>
                </a:solidFill>
              </a:rPr>
              <a:t>physical intuition and insight </a:t>
            </a:r>
            <a:r>
              <a:rPr lang="en-US" dirty="0"/>
              <a:t>about donor electron states.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Much less computationally expensive</a:t>
            </a:r>
            <a:r>
              <a:rPr lang="en-US" dirty="0"/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D508B8D-DEDC-4EF1-B8AC-DB6B7616FDB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211931" y="4584144"/>
            <a:ext cx="3632762" cy="55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14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A7B3664-3167-4007-84B3-071F23854AA8}"/>
              </a:ext>
            </a:extLst>
          </p:cNvPr>
          <p:cNvGrpSpPr/>
          <p:nvPr/>
        </p:nvGrpSpPr>
        <p:grpSpPr>
          <a:xfrm>
            <a:off x="155473" y="1632436"/>
            <a:ext cx="4660501" cy="3819397"/>
            <a:chOff x="13099" y="1175235"/>
            <a:chExt cx="4660501" cy="381939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C2AA13F-3ACA-43FB-BA2E-68F8EB11DE5C}"/>
                </a:ext>
              </a:extLst>
            </p:cNvPr>
            <p:cNvSpPr txBox="1"/>
            <p:nvPr/>
          </p:nvSpPr>
          <p:spPr>
            <a:xfrm>
              <a:off x="13099" y="4255968"/>
              <a:ext cx="466050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Band structure picture from J. Ghosh.</a:t>
              </a:r>
            </a:p>
            <a:p>
              <a:pPr algn="ctr"/>
              <a:r>
                <a:rPr lang="en-U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Dr.techn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. Thesis, Vienna University of Technology, 2016. </a:t>
              </a:r>
            </a:p>
            <a:p>
              <a:pPr algn="ctr"/>
              <a:r>
                <a:rPr lang="en-US" sz="1400" i="1" dirty="0">
                  <a:latin typeface="Calibri" panose="020F0502020204030204" pitchFamily="34" charset="0"/>
                  <a:cs typeface="Calibri" panose="020F0502020204030204" pitchFamily="34" charset="0"/>
                </a:rPr>
                <a:t>https://www.iue.tuwien.ac.at/phd/ghosh/diss_htmse10.html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4BE7DAC-513D-4D2C-82A6-4943F198D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63896" y="1175235"/>
              <a:ext cx="2958907" cy="3082440"/>
            </a:xfrm>
            <a:prstGeom prst="rect">
              <a:avLst/>
            </a:prstGeom>
          </p:spPr>
        </p:pic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86CAA5B-1B19-4163-80F3-1A4DBAAA232F}"/>
              </a:ext>
            </a:extLst>
          </p:cNvPr>
          <p:cNvGrpSpPr/>
          <p:nvPr/>
        </p:nvGrpSpPr>
        <p:grpSpPr>
          <a:xfrm>
            <a:off x="4971447" y="1671567"/>
            <a:ext cx="7065079" cy="3387649"/>
            <a:chOff x="4640965" y="1080349"/>
            <a:chExt cx="7065079" cy="3387649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FE1A1B83-2C1E-4088-B002-D7DC20524662}"/>
                </a:ext>
              </a:extLst>
            </p:cNvPr>
            <p:cNvGrpSpPr/>
            <p:nvPr/>
          </p:nvGrpSpPr>
          <p:grpSpPr>
            <a:xfrm>
              <a:off x="4640965" y="1684056"/>
              <a:ext cx="7065079" cy="2139047"/>
              <a:chOff x="4640965" y="1684056"/>
              <a:chExt cx="7065079" cy="2139047"/>
            </a:xfrm>
          </p:grpSpPr>
          <p:sp>
            <p:nvSpPr>
              <p:cNvPr id="26" name="Text Placeholder 1 1 1 1"/>
              <p:cNvSpPr txBox="1">
                <a:spLocks/>
              </p:cNvSpPr>
              <p:nvPr/>
            </p:nvSpPr>
            <p:spPr>
              <a:xfrm>
                <a:off x="4640965" y="1684056"/>
                <a:ext cx="7065079" cy="2139047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0" indent="0" algn="l" defTabSz="914400" rtl="0" eaLnBrk="1" latinLnBrk="0" hangingPunct="1">
                  <a:lnSpc>
                    <a:spcPts val="26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1800" b="0" i="0" kern="1200" spc="-50" baseline="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457189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2000" kern="1200" baseline="0">
                    <a:solidFill>
                      <a:schemeClr val="tx1">
                        <a:tint val="75000"/>
                      </a:schemeClr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914377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None/>
                  <a:defRPr sz="1800" kern="1200" baseline="0">
                    <a:solidFill>
                      <a:schemeClr val="tx1">
                        <a:tint val="75000"/>
                      </a:schemeClr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371566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1828754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285943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131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32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509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50000"/>
                        <a:lumOff val="5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Excess electron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occupies a conduction band </a:t>
                </a:r>
                <a:r>
                  <a:rPr lang="en-US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Bloch state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 is an unbounded Hermitian operator; set of           forms complete basis.</a:t>
                </a:r>
              </a:p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As such, arbitrary states may be expanded in          . </a:t>
                </a:r>
              </a:p>
            </p:txBody>
          </p:sp>
          <p:pic>
            <p:nvPicPr>
              <p:cNvPr id="77" name="Picture 76">
                <a:extLst>
                  <a:ext uri="{FF2B5EF4-FFF2-40B4-BE49-F238E27FC236}">
                    <a16:creationId xmlns:a16="http://schemas.microsoft.com/office/drawing/2014/main" id="{601B0667-526E-432E-8D35-FA92E4E5849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0"/>
              <a:stretch>
                <a:fillRect/>
              </a:stretch>
            </p:blipFill>
            <p:spPr>
              <a:xfrm>
                <a:off x="4991251" y="3164465"/>
                <a:ext cx="270171" cy="192000"/>
              </a:xfrm>
              <a:prstGeom prst="rect">
                <a:avLst/>
              </a:prstGeom>
            </p:spPr>
          </p:pic>
          <p:pic>
            <p:nvPicPr>
              <p:cNvPr id="79" name="Picture 78">
                <a:extLst>
                  <a:ext uri="{FF2B5EF4-FFF2-40B4-BE49-F238E27FC236}">
                    <a16:creationId xmlns:a16="http://schemas.microsoft.com/office/drawing/2014/main" id="{DDB586E0-7800-4460-BF8B-28A2EE0074AA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1"/>
              <a:stretch>
                <a:fillRect/>
              </a:stretch>
            </p:blipFill>
            <p:spPr>
              <a:xfrm>
                <a:off x="9146236" y="3119561"/>
                <a:ext cx="379886" cy="229029"/>
              </a:xfrm>
              <a:prstGeom prst="rect">
                <a:avLst/>
              </a:prstGeom>
            </p:spPr>
          </p:pic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C7DD0526-531E-47B5-B3CA-C01E232F85B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11"/>
              <a:stretch>
                <a:fillRect/>
              </a:stretch>
            </p:blipFill>
            <p:spPr>
              <a:xfrm>
                <a:off x="8918927" y="3507237"/>
                <a:ext cx="379886" cy="229029"/>
              </a:xfrm>
              <a:prstGeom prst="rect">
                <a:avLst/>
              </a:prstGeom>
            </p:spPr>
          </p:pic>
        </p:grpSp>
        <p:sp>
          <p:nvSpPr>
            <p:cNvPr id="25" name="Title 2 2 1 1"/>
            <p:cNvSpPr txBox="1">
              <a:spLocks/>
            </p:cNvSpPr>
            <p:nvPr/>
          </p:nvSpPr>
          <p:spPr>
            <a:xfrm>
              <a:off x="6576382" y="1080349"/>
              <a:ext cx="3194245" cy="507831"/>
            </a:xfrm>
            <a:prstGeom prst="rect">
              <a:avLst/>
            </a:prstGeom>
          </p:spPr>
          <p:txBody>
            <a:bodyPr vert="horz" wrap="square" lIns="91440" tIns="45720" rIns="91440" bIns="45720" rtlCol="0" anchor="b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0" kern="1200">
                  <a:solidFill>
                    <a:schemeClr val="tx2"/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Gill Sans MT" panose="020B0502020104020203" pitchFamily="34" charset="0"/>
                </a:defRPr>
              </a:lvl1pPr>
            </a:lstStyle>
            <a:p>
              <a:pPr algn="ctr"/>
              <a:r>
                <a:rPr 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Pure crystal theory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022D386A-81B4-4EE9-9957-353A830BCFB7}"/>
                </a:ext>
              </a:extLst>
            </p:cNvPr>
            <p:cNvGrpSpPr/>
            <p:nvPr/>
          </p:nvGrpSpPr>
          <p:grpSpPr>
            <a:xfrm>
              <a:off x="5858837" y="2087541"/>
              <a:ext cx="4629334" cy="950263"/>
              <a:chOff x="5266778" y="2383251"/>
              <a:chExt cx="4629334" cy="950263"/>
            </a:xfrm>
          </p:grpSpPr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A38046B0-3924-4892-8C65-CBC6FFAF87A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12"/>
              <a:stretch>
                <a:fillRect/>
              </a:stretch>
            </p:blipFill>
            <p:spPr>
              <a:xfrm>
                <a:off x="6521637" y="2383251"/>
                <a:ext cx="2119617" cy="254476"/>
              </a:xfrm>
              <a:prstGeom prst="rect">
                <a:avLst/>
              </a:prstGeom>
            </p:spPr>
          </p:pic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0B8CE04C-76CB-42B6-8DFF-3987F4C9246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13"/>
              <a:stretch>
                <a:fillRect/>
              </a:stretch>
            </p:blipFill>
            <p:spPr>
              <a:xfrm>
                <a:off x="5266778" y="2763610"/>
                <a:ext cx="4629334" cy="569904"/>
              </a:xfrm>
              <a:prstGeom prst="rect">
                <a:avLst/>
              </a:prstGeom>
            </p:spPr>
          </p:pic>
        </p:grp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EE2AE00C-43ED-4A33-A20D-AAB0A90AA010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6761695" y="3831046"/>
              <a:ext cx="2823618" cy="6369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74143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46B75EA-AB80-4C5A-B5DA-5FA6ED3EC3C7}"/>
              </a:ext>
            </a:extLst>
          </p:cNvPr>
          <p:cNvSpPr txBox="1"/>
          <p:nvPr/>
        </p:nvSpPr>
        <p:spPr>
          <a:xfrm>
            <a:off x="251506" y="1899691"/>
            <a:ext cx="11688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accent3">
                    <a:lumMod val="75000"/>
                  </a:schemeClr>
                </a:solidFill>
              </a:rPr>
              <a:t>EMA</a:t>
            </a:r>
            <a:r>
              <a:rPr lang="en-US" b="1" dirty="0"/>
              <a:t>:</a:t>
            </a:r>
            <a:r>
              <a:rPr lang="en-US" dirty="0"/>
              <a:t> Assume the donor electron is localized at the </a:t>
            </a:r>
            <a:r>
              <a:rPr lang="en-US" dirty="0">
                <a:solidFill>
                  <a:srgbClr val="0000FF"/>
                </a:solidFill>
              </a:rPr>
              <a:t>six-fold degenerate anisotropic minima</a:t>
            </a:r>
            <a:r>
              <a:rPr lang="en-US" dirty="0"/>
              <a:t> of lowest conduction band.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2AA13F-3ACA-43FB-BA2E-68F8EB11DE5C}"/>
              </a:ext>
            </a:extLst>
          </p:cNvPr>
          <p:cNvSpPr txBox="1"/>
          <p:nvPr/>
        </p:nvSpPr>
        <p:spPr>
          <a:xfrm>
            <a:off x="4564724" y="5950824"/>
            <a:ext cx="43071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Minima + Brillouin zone picture from S.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Dhar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ctr"/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Dr.techn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. Thesis, Vienna University of Technology, 2007. </a:t>
            </a:r>
          </a:p>
          <a:p>
            <a:pPr algn="ctr"/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http://www.iue.tuwien.ac.at/phd/dhar/node18.html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6766844-087F-44C2-B6C9-1B4248A56CF6}"/>
              </a:ext>
            </a:extLst>
          </p:cNvPr>
          <p:cNvGrpSpPr/>
          <p:nvPr/>
        </p:nvGrpSpPr>
        <p:grpSpPr>
          <a:xfrm>
            <a:off x="1191265" y="2469741"/>
            <a:ext cx="2038686" cy="4206610"/>
            <a:chOff x="1191265" y="2469741"/>
            <a:chExt cx="2038686" cy="420661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7179E21-0E3F-4488-9AA3-890AC9600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7215" y="4707529"/>
              <a:ext cx="1886787" cy="1968822"/>
            </a:xfrm>
            <a:prstGeom prst="rect">
              <a:avLst/>
            </a:prstGeom>
            <a:solidFill>
              <a:schemeClr val="bg1"/>
            </a:solidFill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A92BD10-70D4-4B82-9EC8-4758E3538323}"/>
                </a:ext>
              </a:extLst>
            </p:cNvPr>
            <p:cNvGrpSpPr/>
            <p:nvPr/>
          </p:nvGrpSpPr>
          <p:grpSpPr>
            <a:xfrm>
              <a:off x="1191265" y="2469741"/>
              <a:ext cx="2038686" cy="2123800"/>
              <a:chOff x="6862131" y="1632436"/>
              <a:chExt cx="2958907" cy="3082440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7E97347D-05E9-4CC1-922D-09AAA066DE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62131" y="1632436"/>
                <a:ext cx="2958907" cy="3082440"/>
              </a:xfrm>
              <a:prstGeom prst="rect">
                <a:avLst/>
              </a:prstGeom>
              <a:solidFill>
                <a:schemeClr val="bg1"/>
              </a:solidFill>
            </p:spPr>
          </p:pic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2B17CA96-9D94-4106-9FBE-552D76607B1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81272" y="2320647"/>
                <a:ext cx="176070" cy="58689"/>
              </a:xfrm>
              <a:prstGeom prst="ellipse">
                <a:avLst/>
              </a:prstGeom>
              <a:solidFill>
                <a:srgbClr val="0000FF">
                  <a:alpha val="65000"/>
                </a:srgbClr>
              </a:solidFill>
              <a:ln w="63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CDA8726D-F123-4124-9120-5823F5EA0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Introducing the fundamental effective mass approximation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D16E4D5-AE9E-4456-8B77-2EA6726EC088}"/>
              </a:ext>
            </a:extLst>
          </p:cNvPr>
          <p:cNvGrpSpPr/>
          <p:nvPr/>
        </p:nvGrpSpPr>
        <p:grpSpPr>
          <a:xfrm>
            <a:off x="4668254" y="2641191"/>
            <a:ext cx="6381711" cy="2564239"/>
            <a:chOff x="4668254" y="2641191"/>
            <a:chExt cx="6381711" cy="2564239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40BBA04-74FE-4F8A-BC82-A1B4775C83E1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4668254" y="2641191"/>
              <a:ext cx="6381711" cy="672000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FADBCF52-7953-4DEB-95E5-4E1F95FFA036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5584063" y="3937619"/>
              <a:ext cx="4550093" cy="12678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09258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9E3A7F6A-5032-4A4D-BAFE-2788237DB2C8}"/>
              </a:ext>
            </a:extLst>
          </p:cNvPr>
          <p:cNvGrpSpPr/>
          <p:nvPr/>
        </p:nvGrpSpPr>
        <p:grpSpPr>
          <a:xfrm>
            <a:off x="5349334" y="3043580"/>
            <a:ext cx="1493333" cy="535544"/>
            <a:chOff x="5349334" y="2775854"/>
            <a:chExt cx="1493333" cy="53554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D42A35F-827E-4758-AEE5-6F41EB245A27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5415619" y="2775854"/>
              <a:ext cx="1360762" cy="21333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C6FA69-A524-4272-93F6-07E31904896C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5349334" y="3056922"/>
              <a:ext cx="1493333" cy="254476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1928D84-11FE-43F7-A141-724D36436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Introducing  imperfections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9DA2106-9F59-4134-A217-40CAB587274D}"/>
              </a:ext>
            </a:extLst>
          </p:cNvPr>
          <p:cNvGrpSpPr/>
          <p:nvPr/>
        </p:nvGrpSpPr>
        <p:grpSpPr>
          <a:xfrm>
            <a:off x="1845823" y="1949621"/>
            <a:ext cx="8500354" cy="646331"/>
            <a:chOff x="1845823" y="1949621"/>
            <a:chExt cx="8500354" cy="646331"/>
          </a:xfrm>
        </p:grpSpPr>
        <p:sp>
          <p:nvSpPr>
            <p:cNvPr id="26" name="Text Placeholder 1 1 1 1 3"/>
            <p:cNvSpPr txBox="1">
              <a:spLocks/>
            </p:cNvSpPr>
            <p:nvPr/>
          </p:nvSpPr>
          <p:spPr>
            <a:xfrm>
              <a:off x="1845823" y="1949621"/>
              <a:ext cx="8500354" cy="646331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ts val="26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800" b="0" i="0" kern="1200" spc="-50" baseline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45718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20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91437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None/>
                <a:defRPr sz="18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37156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182875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28594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Let the pure silicon crystal Hamiltonian be denoted by        . 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We introduce an effective potential term      to include all deviations from a perfect crystal.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1041C43-DD6E-4443-8115-F420C62A19D1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5793349" y="2319125"/>
              <a:ext cx="161829" cy="16182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2FEFA1D-F32E-4A27-9A72-36E475AD6E8E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8265411" y="2021689"/>
              <a:ext cx="300190" cy="213333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168BEF4-051F-4AB1-9E24-4A960F1B55AA}"/>
              </a:ext>
            </a:extLst>
          </p:cNvPr>
          <p:cNvGrpSpPr/>
          <p:nvPr/>
        </p:nvGrpSpPr>
        <p:grpSpPr>
          <a:xfrm>
            <a:off x="2814804" y="4026752"/>
            <a:ext cx="6562393" cy="1477328"/>
            <a:chOff x="567266" y="4026752"/>
            <a:chExt cx="6562393" cy="147732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EA558BA-B988-4222-A3D1-60BC7C78BB55}"/>
                </a:ext>
              </a:extLst>
            </p:cNvPr>
            <p:cNvSpPr txBox="1"/>
            <p:nvPr/>
          </p:nvSpPr>
          <p:spPr>
            <a:xfrm>
              <a:off x="567266" y="4026752"/>
              <a:ext cx="4561852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Statically screened Coulomb model. [10-13]</a:t>
              </a:r>
            </a:p>
            <a:p>
              <a:pPr marL="742939" lvl="1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Excess proton charge is screened by surrounding silicon. </a:t>
              </a:r>
            </a:p>
            <a:p>
              <a:pPr marL="742939" lvl="1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Permittivity is treated as a constant.</a:t>
              </a:r>
            </a:p>
            <a:p>
              <a:pPr marL="742939" lvl="1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No central cell correction.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4B4B129-936F-4EA2-84D4-7FFA0E00C240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5710992" y="4416514"/>
              <a:ext cx="1418667" cy="5577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28890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28D84-11FE-43F7-A141-724D36436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Models of impurity potential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B415300-0518-4AC4-B6DC-88E848690B78}"/>
              </a:ext>
            </a:extLst>
          </p:cNvPr>
          <p:cNvGrpSpPr/>
          <p:nvPr/>
        </p:nvGrpSpPr>
        <p:grpSpPr>
          <a:xfrm>
            <a:off x="811875" y="2413338"/>
            <a:ext cx="10588058" cy="2031325"/>
            <a:chOff x="811875" y="2413338"/>
            <a:chExt cx="10588058" cy="203132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DCFE643-FB1A-4834-822B-FA850B6C82D9}"/>
                </a:ext>
              </a:extLst>
            </p:cNvPr>
            <p:cNvSpPr txBox="1"/>
            <p:nvPr/>
          </p:nvSpPr>
          <p:spPr>
            <a:xfrm>
              <a:off x="811875" y="2413338"/>
              <a:ext cx="5353176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Dynamic screened Coulomb model. [14-16]</a:t>
              </a:r>
            </a:p>
            <a:p>
              <a:pPr marL="742939" lvl="1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Excess proton charge is screened by surrounding silicon. </a:t>
              </a:r>
            </a:p>
            <a:p>
              <a:pPr marL="742939" lvl="1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Permittivity is treated as a </a:t>
              </a:r>
              <a:r>
                <a:rPr lang="en-US" b="1" dirty="0">
                  <a:latin typeface="Calibri" panose="020F0502020204030204" pitchFamily="34" charset="0"/>
                  <a:cs typeface="Calibri" panose="020F0502020204030204" pitchFamily="34" charset="0"/>
                </a:rPr>
                <a:t>k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-dependent function transformed to real space.</a:t>
              </a:r>
            </a:p>
            <a:p>
              <a:pPr marL="742939" lvl="1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Not necessarily a central cell correction, depends on decay constants.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3311399-BB3B-4D53-9CE9-E434B7238BEA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5964507" y="2463878"/>
              <a:ext cx="5435426" cy="19276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31499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28D84-11FE-43F7-A141-724D36436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Models of impurity potential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90244DA-FD67-4D5D-A683-B79E3D6D3CBC}"/>
              </a:ext>
            </a:extLst>
          </p:cNvPr>
          <p:cNvGrpSpPr/>
          <p:nvPr/>
        </p:nvGrpSpPr>
        <p:grpSpPr>
          <a:xfrm>
            <a:off x="329666" y="1911278"/>
            <a:ext cx="11019103" cy="1708160"/>
            <a:chOff x="329666" y="1911278"/>
            <a:chExt cx="11019103" cy="1708160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1010F3C-CFDD-45CD-8DBC-54441841867F}"/>
                </a:ext>
              </a:extLst>
            </p:cNvPr>
            <p:cNvSpPr txBox="1"/>
            <p:nvPr/>
          </p:nvSpPr>
          <p:spPr>
            <a:xfrm>
              <a:off x="329666" y="1911278"/>
              <a:ext cx="4928134" cy="1708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Empirical tetrahedral symmetric potential. [17]</a:t>
              </a:r>
            </a:p>
            <a:p>
              <a:pPr marL="742939" lvl="1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Potential goes beyond spherical symmetry.</a:t>
              </a:r>
            </a:p>
            <a:p>
              <a:pPr marL="742939" lvl="1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Reflects symmetry of silicon lattice.</a:t>
              </a:r>
            </a:p>
            <a:p>
              <a:pPr marL="742939" lvl="1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Decay constants consistent with central cell correction.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D723193-954D-40E7-A42F-F9CCBEAF6FE7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6044389" y="2259619"/>
              <a:ext cx="5304380" cy="734476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E9EE02A-B368-4C89-A804-F8D4175C4AB7}"/>
              </a:ext>
            </a:extLst>
          </p:cNvPr>
          <p:cNvGrpSpPr/>
          <p:nvPr/>
        </p:nvGrpSpPr>
        <p:grpSpPr>
          <a:xfrm>
            <a:off x="329666" y="3681565"/>
            <a:ext cx="9484628" cy="1077218"/>
            <a:chOff x="329666" y="3681565"/>
            <a:chExt cx="9484628" cy="107721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66E033C-E516-411E-BC87-BE9F5F7E0B80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6044389" y="3840746"/>
              <a:ext cx="3769905" cy="758857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329B689-7014-489F-B787-F220A1B997EB}"/>
                </a:ext>
              </a:extLst>
            </p:cNvPr>
            <p:cNvSpPr txBox="1"/>
            <p:nvPr/>
          </p:nvSpPr>
          <p:spPr>
            <a:xfrm>
              <a:off x="329666" y="3681565"/>
              <a:ext cx="3643172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Center cell. [18]</a:t>
              </a:r>
            </a:p>
            <a:p>
              <a:pPr marL="742939" lvl="1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Smoothed pseudopotential.</a:t>
              </a:r>
            </a:p>
            <a:p>
              <a:pPr marL="742939" lvl="1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Empirical parameters.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5F56414-7FD3-4A6B-8870-48A17301B80A}"/>
              </a:ext>
            </a:extLst>
          </p:cNvPr>
          <p:cNvGrpSpPr/>
          <p:nvPr/>
        </p:nvGrpSpPr>
        <p:grpSpPr>
          <a:xfrm>
            <a:off x="329666" y="5097910"/>
            <a:ext cx="9670532" cy="1277273"/>
            <a:chOff x="329666" y="5097910"/>
            <a:chExt cx="9670532" cy="1277273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D3CE801-82BC-45BD-B28C-AAF9D198748D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6044389" y="5457688"/>
              <a:ext cx="3955809" cy="557714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ADD5288-190E-499F-9933-A6F3BE50F469}"/>
                </a:ext>
              </a:extLst>
            </p:cNvPr>
            <p:cNvSpPr txBox="1"/>
            <p:nvPr/>
          </p:nvSpPr>
          <p:spPr>
            <a:xfrm>
              <a:off x="329666" y="5097910"/>
              <a:ext cx="3817856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Center cell. [19]</a:t>
              </a:r>
            </a:p>
            <a:p>
              <a:pPr marL="742939" lvl="1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Based on mismatch of core electron densities numerically calculated by DFT.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0265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28D84-11FE-43F7-A141-724D36436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Introducing  imperfections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DA98B8F-AC85-47D7-AC52-CDB5A804584C}"/>
              </a:ext>
            </a:extLst>
          </p:cNvPr>
          <p:cNvGrpSpPr/>
          <p:nvPr/>
        </p:nvGrpSpPr>
        <p:grpSpPr>
          <a:xfrm>
            <a:off x="2032179" y="2546619"/>
            <a:ext cx="8500354" cy="2139047"/>
            <a:chOff x="2032179" y="2546619"/>
            <a:chExt cx="8500354" cy="2139047"/>
          </a:xfrm>
        </p:grpSpPr>
        <p:sp>
          <p:nvSpPr>
            <p:cNvPr id="58" name="Text Placeholder 1 1 1 1 1">
              <a:extLst>
                <a:ext uri="{FF2B5EF4-FFF2-40B4-BE49-F238E27FC236}">
                  <a16:creationId xmlns:a16="http://schemas.microsoft.com/office/drawing/2014/main" id="{34F16456-69DD-49CE-B27A-F557E444D186}"/>
                </a:ext>
              </a:extLst>
            </p:cNvPr>
            <p:cNvSpPr txBox="1">
              <a:spLocks/>
            </p:cNvSpPr>
            <p:nvPr/>
          </p:nvSpPr>
          <p:spPr>
            <a:xfrm>
              <a:off x="2032179" y="2546619"/>
              <a:ext cx="8500354" cy="2139047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ts val="26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800" b="0" i="0" kern="1200" spc="-50" baseline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45718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20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91437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None/>
                <a:defRPr sz="18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37156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182875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28594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Features that a candidate     can include might be...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Dynamic dielectric constant, and break down of dielectric in core region.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Mismatch between silicon and impurity core and valence electron wavefunctions.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Exchange interactions between donor excess electron and donor core and valence electrons.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Lattice deformations.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External symmetry breaking fields.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8376F7-59AC-406E-ADCD-49D3A5B96FA9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6335954" y="2644717"/>
              <a:ext cx="161829" cy="161829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160DEA1-0AE7-414F-9898-AF74D5172D5D}"/>
              </a:ext>
            </a:extLst>
          </p:cNvPr>
          <p:cNvGrpSpPr/>
          <p:nvPr/>
        </p:nvGrpSpPr>
        <p:grpSpPr>
          <a:xfrm>
            <a:off x="1845823" y="5163375"/>
            <a:ext cx="8500354" cy="369332"/>
            <a:chOff x="1845823" y="5163375"/>
            <a:chExt cx="8500354" cy="369332"/>
          </a:xfrm>
        </p:grpSpPr>
        <p:sp>
          <p:nvSpPr>
            <p:cNvPr id="62" name="Text Placeholder 1 1 1 1 2">
              <a:extLst>
                <a:ext uri="{FF2B5EF4-FFF2-40B4-BE49-F238E27FC236}">
                  <a16:creationId xmlns:a16="http://schemas.microsoft.com/office/drawing/2014/main" id="{E15FFCE3-1618-4C74-B00B-B5DD5473D675}"/>
                </a:ext>
              </a:extLst>
            </p:cNvPr>
            <p:cNvSpPr txBox="1">
              <a:spLocks/>
            </p:cNvSpPr>
            <p:nvPr/>
          </p:nvSpPr>
          <p:spPr>
            <a:xfrm>
              <a:off x="1845823" y="5163375"/>
              <a:ext cx="8500354" cy="3693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ts val="26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800" b="0" i="0" kern="1200" spc="-50" baseline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45718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20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91437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None/>
                <a:defRPr sz="18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37156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182875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28594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b="1" dirty="0">
                  <a:solidFill>
                    <a:schemeClr val="accent3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most useful form of effective potential      is still an open question!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CFD00FF-6AD8-4D11-AAD4-3BA28AC0ADD3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6839510" y="5264978"/>
              <a:ext cx="161829" cy="1618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96588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B25C4-F99B-435D-AB7C-2CC4D8DFE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6638544" cy="853311"/>
          </a:xfrm>
        </p:spPr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ABCA4-531E-4BF6-8B66-F14C2A537D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41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 1">
            <a:extLst>
              <a:ext uri="{FF2B5EF4-FFF2-40B4-BE49-F238E27FC236}">
                <a16:creationId xmlns:a16="http://schemas.microsoft.com/office/drawing/2014/main" id="{AADF7560-75EA-4279-9F3D-77A440406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Variational method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C6B6FDD-38F3-4568-920E-7CB8EA7790A2}"/>
              </a:ext>
            </a:extLst>
          </p:cNvPr>
          <p:cNvGrpSpPr/>
          <p:nvPr/>
        </p:nvGrpSpPr>
        <p:grpSpPr>
          <a:xfrm>
            <a:off x="2627058" y="2542911"/>
            <a:ext cx="6937885" cy="758857"/>
            <a:chOff x="3345795" y="2307227"/>
            <a:chExt cx="6937885" cy="758857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535C079-4E80-4AE8-ABB2-3E274F3A2AEF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3345795" y="2387227"/>
              <a:ext cx="2441143" cy="598857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F2EA135E-D2AA-40F9-A558-F05789C76CBF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6212063" y="2307227"/>
              <a:ext cx="4071617" cy="758857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B0DE4AE-27A0-422A-891B-F635A6F686CB}"/>
              </a:ext>
            </a:extLst>
          </p:cNvPr>
          <p:cNvGrpSpPr/>
          <p:nvPr/>
        </p:nvGrpSpPr>
        <p:grpSpPr>
          <a:xfrm>
            <a:off x="3288481" y="3623401"/>
            <a:ext cx="5615039" cy="723275"/>
            <a:chOff x="3288481" y="3623401"/>
            <a:chExt cx="5615039" cy="723275"/>
          </a:xfrm>
        </p:grpSpPr>
        <p:sp>
          <p:nvSpPr>
            <p:cNvPr id="23" name="Text Placeholder 1 1 1 1 2 1">
              <a:extLst>
                <a:ext uri="{FF2B5EF4-FFF2-40B4-BE49-F238E27FC236}">
                  <a16:creationId xmlns:a16="http://schemas.microsoft.com/office/drawing/2014/main" id="{1FED7737-84D4-4A7D-9A85-6C2F82F8F3F3}"/>
                </a:ext>
              </a:extLst>
            </p:cNvPr>
            <p:cNvSpPr txBox="1">
              <a:spLocks/>
            </p:cNvSpPr>
            <p:nvPr/>
          </p:nvSpPr>
          <p:spPr>
            <a:xfrm>
              <a:off x="3288481" y="3623401"/>
              <a:ext cx="5615039" cy="723275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ts val="26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800" b="0" i="0" kern="1200" spc="-50" baseline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45718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20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91437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None/>
                <a:defRPr sz="18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37156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182875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28594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Find an ansatz         </a:t>
              </a:r>
              <a:r>
                <a:rPr lang="en-US" dirty="0" err="1">
                  <a:latin typeface="Calibri" panose="020F0502020204030204" pitchFamily="34" charset="0"/>
                  <a:cs typeface="Calibri" panose="020F0502020204030204" pitchFamily="34" charset="0"/>
                </a:rPr>
                <a:t>s.t.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             and             are minimized.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 err="1">
                  <a:latin typeface="Calibri" panose="020F0502020204030204" pitchFamily="34" charset="0"/>
                  <a:cs typeface="Calibri" panose="020F0502020204030204" pitchFamily="34" charset="0"/>
                </a:rPr>
                <a:t>Iff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        is exactly an eigenstate of                  then                     .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97A4125-9514-42EE-8E96-FF1FF23BF318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4982163" y="3704435"/>
              <a:ext cx="278400" cy="22902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91394E6-CE79-459F-9922-41E76D6119BE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5655420" y="3704436"/>
              <a:ext cx="449829" cy="229029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F92D746F-C014-425B-B35E-F3559C283E09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6597107" y="3687455"/>
              <a:ext cx="493714" cy="254476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2CB2FADC-93BB-42DC-8AC7-8857D58A83AE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3921856" y="4068930"/>
              <a:ext cx="278400" cy="229029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06895581-F0EC-4A73-AECE-E6CA68099503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6516510" y="4074530"/>
              <a:ext cx="720000" cy="192000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5E0D845C-0126-4CCA-9F0E-F8AC017AFD64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7758055" y="4062902"/>
              <a:ext cx="880457" cy="229029"/>
            </a:xfrm>
            <a:prstGeom prst="rect">
              <a:avLst/>
            </a:prstGeom>
          </p:spPr>
        </p:pic>
      </p:grpSp>
      <p:sp>
        <p:nvSpPr>
          <p:cNvPr id="64" name="Text Placeholder 1 1 1 1 2 2">
            <a:extLst>
              <a:ext uri="{FF2B5EF4-FFF2-40B4-BE49-F238E27FC236}">
                <a16:creationId xmlns:a16="http://schemas.microsoft.com/office/drawing/2014/main" id="{CB4D9673-7CE2-4E6B-9F2E-8E58206D1540}"/>
              </a:ext>
            </a:extLst>
          </p:cNvPr>
          <p:cNvSpPr txBox="1">
            <a:spLocks/>
          </p:cNvSpPr>
          <p:nvPr/>
        </p:nvSpPr>
        <p:spPr>
          <a:xfrm>
            <a:off x="1644240" y="4668309"/>
            <a:ext cx="8903520" cy="7232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26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800" b="0" i="0" kern="120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91437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371566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28594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Dramatically reduces problem difficulty, but requires judicious choice of ansatz.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No clear method to refine ansatz to approach exact solution within desired numerical tolerances.</a:t>
            </a:r>
          </a:p>
        </p:txBody>
      </p:sp>
    </p:spTree>
    <p:extLst>
      <p:ext uri="{BB962C8B-B14F-4D97-AF65-F5344CB8AC3E}">
        <p14:creationId xmlns:p14="http://schemas.microsoft.com/office/powerpoint/2010/main" val="3025106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 1">
            <a:extLst>
              <a:ext uri="{FF2B5EF4-FFF2-40B4-BE49-F238E27FC236}">
                <a16:creationId xmlns:a16="http://schemas.microsoft.com/office/drawing/2014/main" id="{AADF7560-75EA-4279-9F3D-77A440406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Ritz method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4C9DF4C-3A2F-434C-BEB0-CB7D841D652F}"/>
              </a:ext>
            </a:extLst>
          </p:cNvPr>
          <p:cNvGrpSpPr/>
          <p:nvPr/>
        </p:nvGrpSpPr>
        <p:grpSpPr>
          <a:xfrm>
            <a:off x="1456112" y="1883668"/>
            <a:ext cx="9279777" cy="1077218"/>
            <a:chOff x="108973" y="2459403"/>
            <a:chExt cx="9279777" cy="1077218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E6643100-9B0B-4A1C-976F-E43EA0F39005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7788750" y="2710012"/>
              <a:ext cx="1600000" cy="576000"/>
            </a:xfrm>
            <a:prstGeom prst="rect">
              <a:avLst/>
            </a:prstGeom>
          </p:spPr>
        </p:pic>
        <p:sp>
          <p:nvSpPr>
            <p:cNvPr id="20" name="Text Placeholder 1 1 1 1 1 2">
              <a:extLst>
                <a:ext uri="{FF2B5EF4-FFF2-40B4-BE49-F238E27FC236}">
                  <a16:creationId xmlns:a16="http://schemas.microsoft.com/office/drawing/2014/main" id="{33BD7C0A-267B-4B74-AF9F-D4F591C197FB}"/>
                </a:ext>
              </a:extLst>
            </p:cNvPr>
            <p:cNvSpPr txBox="1">
              <a:spLocks/>
            </p:cNvSpPr>
            <p:nvPr/>
          </p:nvSpPr>
          <p:spPr>
            <a:xfrm>
              <a:off x="108973" y="2459403"/>
              <a:ext cx="7305259" cy="1077218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0" indent="0" algn="l" defTabSz="914400" rtl="0" eaLnBrk="1" latinLnBrk="0" hangingPunct="1">
                <a:lnSpc>
                  <a:spcPts val="2600"/>
                </a:lnSpc>
                <a:spcBef>
                  <a:spcPts val="10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800" b="0" i="0" kern="1200" spc="-50" baseline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45718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20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2pPr>
              <a:lvl3pPr marL="914377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LucidaGrande" charset="0"/>
                <a:buNone/>
                <a:defRPr sz="1800" kern="1200" baseline="0">
                  <a:solidFill>
                    <a:schemeClr val="tx1">
                      <a:tint val="75000"/>
                    </a:schemeClr>
                  </a:solidFill>
                  <a:latin typeface="Gill Sans MT" panose="020B0502020104020203" pitchFamily="34" charset="0"/>
                  <a:ea typeface="Gill Sans MT" panose="020B0502020104020203" pitchFamily="34" charset="0"/>
                  <a:cs typeface="Arial" charset="0"/>
                </a:defRPr>
              </a:lvl3pPr>
              <a:lvl4pPr marL="1371566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1828754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5BBB"/>
                </a:buClr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285943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131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32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509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Express ansatz as a summation over a set of basis states.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No guarantee of orthonormality assumed.</a:t>
              </a:r>
            </a:p>
            <a:p>
              <a:pPr marL="285750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i="1" dirty="0">
                  <a:latin typeface="Calibri" panose="020F0502020204030204" pitchFamily="34" charset="0"/>
                  <a:cs typeface="Calibri" panose="020F0502020204030204" pitchFamily="34" charset="0"/>
                </a:rPr>
                <a:t>If basis set is complete, </a:t>
              </a:r>
              <a:r>
                <a:rPr lang="en-US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ansatz approaches exact solution </a:t>
              </a:r>
              <a:r>
                <a:rPr lang="en-US" i="1" dirty="0">
                  <a:latin typeface="Calibri" panose="020F0502020204030204" pitchFamily="34" charset="0"/>
                  <a:cs typeface="Calibri" panose="020F0502020204030204" pitchFamily="34" charset="0"/>
                </a:rPr>
                <a:t>as terms are added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E28AF60-FBE2-40D2-B26E-36038F8FE732}"/>
              </a:ext>
            </a:extLst>
          </p:cNvPr>
          <p:cNvGrpSpPr/>
          <p:nvPr/>
        </p:nvGrpSpPr>
        <p:grpSpPr>
          <a:xfrm>
            <a:off x="911516" y="3312190"/>
            <a:ext cx="10368968" cy="1443301"/>
            <a:chOff x="1037993" y="3194485"/>
            <a:chExt cx="10368968" cy="1443301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45160CBE-B899-47F6-BBE5-C8467BAA94C7}"/>
                </a:ext>
              </a:extLst>
            </p:cNvPr>
            <p:cNvGrpSpPr/>
            <p:nvPr>
              <p:custDataLst>
                <p:tags r:id="rId5"/>
              </p:custDataLst>
            </p:nvPr>
          </p:nvGrpSpPr>
          <p:grpSpPr>
            <a:xfrm>
              <a:off x="1037993" y="3194485"/>
              <a:ext cx="10368968" cy="758857"/>
              <a:chOff x="1037993" y="3194485"/>
              <a:chExt cx="10368968" cy="758857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9257F61A-9998-446C-AD2C-398B5FD34C44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16"/>
              <a:stretch>
                <a:fillRect/>
              </a:stretch>
            </p:blipFill>
            <p:spPr>
              <a:xfrm>
                <a:off x="1037993" y="3231054"/>
                <a:ext cx="5202282" cy="685714"/>
              </a:xfrm>
              <a:prstGeom prst="rect">
                <a:avLst/>
              </a:prstGeom>
            </p:spPr>
          </p:pic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A4D20B9B-8973-482C-B05D-E78FE9AEF27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1"/>
                </p:custDataLst>
              </p:nvPr>
            </p:nvPicPr>
            <p:blipFill>
              <a:blip r:embed="rId17"/>
              <a:stretch>
                <a:fillRect/>
              </a:stretch>
            </p:blipFill>
            <p:spPr>
              <a:xfrm>
                <a:off x="6962012" y="3194485"/>
                <a:ext cx="4444949" cy="758857"/>
              </a:xfrm>
              <a:prstGeom prst="rect">
                <a:avLst/>
              </a:prstGeom>
            </p:spPr>
          </p:pic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921E939-66A0-4DC1-927B-4ED332C24D98}"/>
                </a:ext>
              </a:extLst>
            </p:cNvPr>
            <p:cNvGrpSpPr/>
            <p:nvPr>
              <p:custDataLst>
                <p:tags r:id="rId6"/>
              </p:custDataLst>
            </p:nvPr>
          </p:nvGrpSpPr>
          <p:grpSpPr>
            <a:xfrm>
              <a:off x="1433740" y="4133405"/>
              <a:ext cx="9089856" cy="504381"/>
              <a:chOff x="1433740" y="4133405"/>
              <a:chExt cx="9089856" cy="504381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52D1630C-D449-4808-926F-0BDD082C6BDA}"/>
                  </a:ext>
                </a:extLst>
              </p:cNvPr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18"/>
              <a:stretch>
                <a:fillRect/>
              </a:stretch>
            </p:blipFill>
            <p:spPr>
              <a:xfrm>
                <a:off x="3904764" y="4233976"/>
                <a:ext cx="2459428" cy="316952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CDC7CAAB-2938-4C15-8048-EC99D03E748D}"/>
                  </a:ext>
                </a:extLst>
              </p:cNvPr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19"/>
              <a:stretch>
                <a:fillRect/>
              </a:stretch>
            </p:blipFill>
            <p:spPr>
              <a:xfrm>
                <a:off x="1433740" y="4233976"/>
                <a:ext cx="1520762" cy="316952"/>
              </a:xfrm>
              <a:prstGeom prst="rect">
                <a:avLst/>
              </a:prstGeom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F370D9C8-5647-4D63-972A-3D232ED9159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20"/>
              <a:stretch>
                <a:fillRect/>
              </a:stretch>
            </p:blipFill>
            <p:spPr>
              <a:xfrm>
                <a:off x="7312931" y="4133405"/>
                <a:ext cx="3210665" cy="504381"/>
              </a:xfrm>
              <a:prstGeom prst="rect">
                <a:avLst/>
              </a:prstGeom>
            </p:spPr>
          </p:pic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860F82A-297A-4535-ABA0-A4698647EFFE}"/>
              </a:ext>
            </a:extLst>
          </p:cNvPr>
          <p:cNvGrpSpPr/>
          <p:nvPr/>
        </p:nvGrpSpPr>
        <p:grpSpPr>
          <a:xfrm>
            <a:off x="1899429" y="5106795"/>
            <a:ext cx="8393143" cy="1518553"/>
            <a:chOff x="2013258" y="5106795"/>
            <a:chExt cx="8393143" cy="1518553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76650148-71CD-48BD-BE37-2468632A0A5D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4517486" y="5106795"/>
              <a:ext cx="3157029" cy="171429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FB7DF5F3-749E-48D1-B457-3559D6AAE0B5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2100343" y="5494123"/>
              <a:ext cx="8218972" cy="229029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9C0B1466-B0B5-46FF-8B00-F966EC955819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23"/>
            <a:stretch>
              <a:fillRect/>
            </a:stretch>
          </p:blipFill>
          <p:spPr>
            <a:xfrm>
              <a:off x="3316800" y="6383976"/>
              <a:ext cx="5558400" cy="241372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B9DBABB-FF14-4A85-A107-7DB49BE436AA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24"/>
            <a:stretch>
              <a:fillRect/>
            </a:stretch>
          </p:blipFill>
          <p:spPr>
            <a:xfrm>
              <a:off x="2013258" y="5939050"/>
              <a:ext cx="8393143" cy="2290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6925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48926-6989-4025-94D9-D0FD5DF32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Fundamental basis state</a:t>
            </a: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7BDB2B88-4EEA-4E20-8BD4-FA6A0EACBD7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673307" y="2524670"/>
            <a:ext cx="5005715" cy="7862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5B2CF9-716C-4081-8DEE-960F3A232AD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967898" y="2613813"/>
            <a:ext cx="1912382" cy="607999"/>
          </a:xfrm>
          <a:prstGeom prst="rect">
            <a:avLst/>
          </a:prstGeom>
          <a:ln>
            <a:noFill/>
          </a:ln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91DA6D3C-46A6-4F29-9ACD-8DD269CBD593}"/>
              </a:ext>
            </a:extLst>
          </p:cNvPr>
          <p:cNvSpPr txBox="1"/>
          <p:nvPr/>
        </p:nvSpPr>
        <p:spPr>
          <a:xfrm>
            <a:off x="339968" y="1763650"/>
            <a:ext cx="40796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Our basis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Spherical harmonics multiplied by Laguerre polynomials.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Complete set to represent square-integrable functions in real space.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Orthonormal.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Basis has choice of Slater (</a:t>
            </a:r>
            <a:r>
              <a:rPr lang="en-US" i="1" dirty="0"/>
              <a:t>W</a:t>
            </a:r>
            <a:r>
              <a:rPr lang="en-US" dirty="0"/>
              <a:t> = 1) or Gaussian decay (</a:t>
            </a:r>
            <a:r>
              <a:rPr lang="en-US" i="1" dirty="0"/>
              <a:t>W</a:t>
            </a:r>
            <a:r>
              <a:rPr lang="en-US" dirty="0"/>
              <a:t> = 2).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A78FA0E0-F3B2-47B5-8072-087D2682A19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673307" y="4608483"/>
            <a:ext cx="4481522" cy="772572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0D855185-639B-4AD8-9E99-8FE7BFF9DF6A}"/>
              </a:ext>
            </a:extLst>
          </p:cNvPr>
          <p:cNvSpPr txBox="1"/>
          <p:nvPr/>
        </p:nvSpPr>
        <p:spPr>
          <a:xfrm>
            <a:off x="339969" y="4256105"/>
            <a:ext cx="40796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Introducing variational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i="1" dirty="0">
                <a:latin typeface="Calibri" panose="020F0502020204030204" pitchFamily="34" charset="0"/>
                <a:cs typeface="Calibri" panose="020F0502020204030204" pitchFamily="34" charset="0"/>
              </a:rPr>
              <a:t>η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controls overall size of ansatz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λ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introduces longitudinal anisotropy.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Rotation of basis to eigenstates of coordinate swaps i.e.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xyz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) -&gt; (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yxz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681582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A8726D-F123-4124-9120-5823F5EA0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Symmetry and our effective mass wavefunctions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C77B8BF-8D81-4E35-8586-3F23DEFAE64A}"/>
              </a:ext>
            </a:extLst>
          </p:cNvPr>
          <p:cNvGrpSpPr/>
          <p:nvPr/>
        </p:nvGrpSpPr>
        <p:grpSpPr>
          <a:xfrm>
            <a:off x="245533" y="4934762"/>
            <a:ext cx="11804386" cy="1685337"/>
            <a:chOff x="245533" y="4934762"/>
            <a:chExt cx="11804386" cy="1685337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D3770E84-D801-40EF-B0AD-BFE84D5584B8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3801540" y="4934762"/>
              <a:ext cx="8248379" cy="1685337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DDD0E23-0A7E-4695-A5D8-B39399C9621D}"/>
                </a:ext>
              </a:extLst>
            </p:cNvPr>
            <p:cNvSpPr txBox="1"/>
            <p:nvPr/>
          </p:nvSpPr>
          <p:spPr>
            <a:xfrm>
              <a:off x="245533" y="5454265"/>
              <a:ext cx="29972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Second ansatz</a:t>
              </a:r>
            </a:p>
            <a:p>
              <a:r>
                <a:rPr lang="en-US" dirty="0"/>
                <a:t>Symmetrizes the first ansatz.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CE719BA-5DFB-4821-9D81-F4D646AE6FE3}"/>
              </a:ext>
            </a:extLst>
          </p:cNvPr>
          <p:cNvGrpSpPr/>
          <p:nvPr/>
        </p:nvGrpSpPr>
        <p:grpSpPr>
          <a:xfrm>
            <a:off x="245533" y="2195377"/>
            <a:ext cx="10905701" cy="646331"/>
            <a:chOff x="245533" y="2195377"/>
            <a:chExt cx="10905701" cy="64633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3E4EA14-AB44-4731-889B-D9A9594892C9}"/>
                </a:ext>
              </a:extLst>
            </p:cNvPr>
            <p:cNvSpPr txBox="1"/>
            <p:nvPr/>
          </p:nvSpPr>
          <p:spPr>
            <a:xfrm>
              <a:off x="245533" y="2195377"/>
              <a:ext cx="31919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First ansatz</a:t>
              </a:r>
            </a:p>
            <a:p>
              <a:r>
                <a:rPr lang="en-US" dirty="0"/>
                <a:t>Respects localization in </a:t>
              </a:r>
              <a:r>
                <a:rPr lang="en-US" b="1" dirty="0"/>
                <a:t>k</a:t>
              </a:r>
              <a:r>
                <a:rPr lang="en-US" dirty="0"/>
                <a:t>-space.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268760E-998F-4441-8A94-6C4ED685909D}"/>
                </a:ext>
              </a:extLst>
            </p:cNvPr>
            <p:cNvGrpSpPr/>
            <p:nvPr/>
          </p:nvGrpSpPr>
          <p:grpSpPr>
            <a:xfrm>
              <a:off x="3801540" y="2367685"/>
              <a:ext cx="7349694" cy="301715"/>
              <a:chOff x="4398254" y="2367685"/>
              <a:chExt cx="7349694" cy="301715"/>
            </a:xfrm>
          </p:grpSpPr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8318696C-A535-477A-8415-941033B7632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>
              <a:blip r:embed="rId7"/>
              <a:stretch>
                <a:fillRect/>
              </a:stretch>
            </p:blipFill>
            <p:spPr>
              <a:xfrm>
                <a:off x="4398254" y="2372256"/>
                <a:ext cx="3114665" cy="292572"/>
              </a:xfrm>
              <a:prstGeom prst="rect">
                <a:avLst/>
              </a:prstGeom>
            </p:spPr>
          </p:pic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3A257BA4-E6D4-4AD1-9F8A-9AB36ED99D1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8"/>
              <a:stretch>
                <a:fillRect/>
              </a:stretch>
            </p:blipFill>
            <p:spPr>
              <a:xfrm>
                <a:off x="8275188" y="2367685"/>
                <a:ext cx="3472760" cy="301715"/>
              </a:xfrm>
              <a:prstGeom prst="rect">
                <a:avLst/>
              </a:prstGeom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 Placeholder 1 1 2">
                <a:extLst>
                  <a:ext uri="{FF2B5EF4-FFF2-40B4-BE49-F238E27FC236}">
                    <a16:creationId xmlns:a16="http://schemas.microsoft.com/office/drawing/2014/main" id="{A6D633E8-18AC-4F0A-A97B-C2259B8B46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29331" y="3175219"/>
                <a:ext cx="6333338" cy="1426031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0" indent="0" algn="l" defTabSz="914400" rtl="0" eaLnBrk="1" latinLnBrk="0" hangingPunct="1">
                  <a:lnSpc>
                    <a:spcPts val="26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1800" b="0" i="0" kern="1200" spc="-50" baseline="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457189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2000" kern="1200" baseline="0">
                    <a:solidFill>
                      <a:schemeClr val="tx1">
                        <a:tint val="75000"/>
                      </a:schemeClr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914377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None/>
                  <a:defRPr sz="1800" kern="1200" baseline="0">
                    <a:solidFill>
                      <a:schemeClr val="tx1">
                        <a:tint val="75000"/>
                      </a:schemeClr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371566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1828754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285943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131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32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509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</a:pPr>
                <a:r>
                  <a:rPr lang="en-US" sz="2000" b="1" i="1" dirty="0">
                    <a:solidFill>
                      <a:srgbClr val="666666"/>
                    </a:solidFill>
                    <a:latin typeface="+mn-lt"/>
                  </a:rPr>
                  <a:t>Operations of </a:t>
                </a:r>
                <a:r>
                  <a:rPr lang="en-US" sz="2000" b="1" i="1" dirty="0">
                    <a:solidFill>
                      <a:schemeClr val="accent6">
                        <a:lumMod val="90000"/>
                        <a:lumOff val="10000"/>
                      </a:schemeClr>
                    </a:solidFill>
                    <a:latin typeface="+mn-lt"/>
                  </a:rPr>
                  <a:t>T</a:t>
                </a:r>
                <a:r>
                  <a:rPr lang="en-US" sz="2000" b="1" i="1" baseline="-25000" dirty="0">
                    <a:solidFill>
                      <a:schemeClr val="accent6">
                        <a:lumMod val="90000"/>
                        <a:lumOff val="10000"/>
                      </a:schemeClr>
                    </a:solidFill>
                    <a:latin typeface="+mn-lt"/>
                  </a:rPr>
                  <a:t>d</a:t>
                </a:r>
                <a:endParaRPr lang="en-US" sz="2000" b="1" i="1" dirty="0">
                  <a:latin typeface="+mn-lt"/>
                </a:endParaRPr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B050"/>
                    </a:solidFill>
                    <a:latin typeface="+mn-lt"/>
                  </a:rPr>
                  <a:t>Permutations of coordinates </a:t>
                </a:r>
                <a:r>
                  <a:rPr lang="en-US" sz="2000" dirty="0">
                    <a:latin typeface="+mn-lt"/>
                  </a:rPr>
                  <a:t>–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𝑥𝑦𝑧</m:t>
                        </m:r>
                      </m:e>
                    </m:d>
                  </m:oMath>
                </a14:m>
                <a:r>
                  <a:rPr lang="en-US" sz="200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𝑦𝑧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latin typeface="+mn-lt"/>
                  </a:rPr>
                  <a:t>, etc.</a:t>
                </a:r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B0F0"/>
                    </a:solidFill>
                    <a:latin typeface="+mn-lt"/>
                  </a:rPr>
                  <a:t>Double inversion </a:t>
                </a:r>
                <a:r>
                  <a:rPr lang="en-US" sz="2000" dirty="0">
                    <a:latin typeface="+mn-lt"/>
                  </a:rPr>
                  <a:t>–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2000" b="0" i="1" dirty="0" smtClean="0">
                                <a:solidFill>
                                  <a:srgbClr val="66666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dirty="0" smtClean="0">
                                <a:solidFill>
                                  <a:srgbClr val="666666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2000" b="0" i="1" dirty="0" smtClean="0">
                            <a:solidFill>
                              <a:srgbClr val="666666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acc>
                          <m:accPr>
                            <m:chr m:val="̅"/>
                            <m:ctrlPr>
                              <a:rPr lang="en-US" sz="2000" b="0" i="1" dirty="0" smtClean="0">
                                <a:solidFill>
                                  <a:srgbClr val="66666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dirty="0" smtClean="0">
                                <a:solidFill>
                                  <a:srgbClr val="666666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00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acc>
                          <m:accPr>
                            <m:chr m:val="̅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000" dirty="0">
                    <a:latin typeface="+mn-lt"/>
                  </a:rPr>
                  <a:t>, etc.</a:t>
                </a:r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5961"/>
                    </a:solidFill>
                    <a:latin typeface="+mn-lt"/>
                  </a:rPr>
                  <a:t>Combinations</a:t>
                </a:r>
                <a:r>
                  <a:rPr lang="en-US" sz="2000" dirty="0">
                    <a:latin typeface="+mn-lt"/>
                  </a:rPr>
                  <a:t> of the two – 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𝑧</m:t>
                        </m:r>
                        <m:acc>
                          <m:accPr>
                            <m:chr m:val="̅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00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  <m:acc>
                          <m:accPr>
                            <m:chr m:val="̅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000" dirty="0">
                    <a:latin typeface="+mn-lt"/>
                  </a:rPr>
                  <a:t>, etc.</a:t>
                </a:r>
              </a:p>
            </p:txBody>
          </p:sp>
        </mc:Choice>
        <mc:Fallback xmlns="">
          <p:sp>
            <p:nvSpPr>
              <p:cNvPr id="65" name="Text Placeholder 1 1 2">
                <a:extLst>
                  <a:ext uri="{FF2B5EF4-FFF2-40B4-BE49-F238E27FC236}">
                    <a16:creationId xmlns:a16="http://schemas.microsoft.com/office/drawing/2014/main" id="{A6D633E8-18AC-4F0A-A97B-C2259B8B4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31" y="3175219"/>
                <a:ext cx="6333338" cy="1426031"/>
              </a:xfrm>
              <a:prstGeom prst="rect">
                <a:avLst/>
              </a:prstGeom>
              <a:blipFill>
                <a:blip r:embed="rId9"/>
                <a:stretch>
                  <a:fillRect l="-867" t="-1709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4914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48926-6989-4025-94D9-D0FD5DF32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Symmetrized basis state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A04727D-C4C0-4BA0-B5D3-559FF66C39C8}"/>
              </a:ext>
            </a:extLst>
          </p:cNvPr>
          <p:cNvGrpSpPr/>
          <p:nvPr/>
        </p:nvGrpSpPr>
        <p:grpSpPr>
          <a:xfrm>
            <a:off x="285221" y="3874564"/>
            <a:ext cx="3973512" cy="822960"/>
            <a:chOff x="285221" y="3874564"/>
            <a:chExt cx="3973512" cy="822960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F34604F0-D55F-4000-819F-A0551AE29E1D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383520" y="4007644"/>
              <a:ext cx="3776914" cy="600686"/>
            </a:xfrm>
            <a:prstGeom prst="rect">
              <a:avLst/>
            </a:prstGeom>
          </p:spPr>
        </p:pic>
        <p:sp>
          <p:nvSpPr>
            <p:cNvPr id="5" name="Rounded Rectangle 32">
              <a:extLst>
                <a:ext uri="{FF2B5EF4-FFF2-40B4-BE49-F238E27FC236}">
                  <a16:creationId xmlns:a16="http://schemas.microsoft.com/office/drawing/2014/main" id="{A15B4A9A-B2B6-4353-A5A0-EBEC3909C806}"/>
                </a:ext>
              </a:extLst>
            </p:cNvPr>
            <p:cNvSpPr/>
            <p:nvPr/>
          </p:nvSpPr>
          <p:spPr>
            <a:xfrm>
              <a:off x="285221" y="3874564"/>
              <a:ext cx="3973512" cy="822960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EA0DE5B-A770-4718-89D6-FF08E8377C05}"/>
              </a:ext>
            </a:extLst>
          </p:cNvPr>
          <p:cNvGrpSpPr/>
          <p:nvPr/>
        </p:nvGrpSpPr>
        <p:grpSpPr>
          <a:xfrm>
            <a:off x="285221" y="2187935"/>
            <a:ext cx="3296179" cy="822960"/>
            <a:chOff x="285221" y="2187935"/>
            <a:chExt cx="3296179" cy="822960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252707A1-C769-44E1-B073-2C1CC18E2C90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393040" y="2298387"/>
              <a:ext cx="3074742" cy="602057"/>
            </a:xfrm>
            <a:prstGeom prst="rect">
              <a:avLst/>
            </a:prstGeom>
          </p:spPr>
        </p:pic>
        <p:sp>
          <p:nvSpPr>
            <p:cNvPr id="8" name="Rounded Rectangle 28">
              <a:extLst>
                <a:ext uri="{FF2B5EF4-FFF2-40B4-BE49-F238E27FC236}">
                  <a16:creationId xmlns:a16="http://schemas.microsoft.com/office/drawing/2014/main" id="{01A59E6F-4C66-42C9-A972-B90D40A0D321}"/>
                </a:ext>
              </a:extLst>
            </p:cNvPr>
            <p:cNvSpPr/>
            <p:nvPr/>
          </p:nvSpPr>
          <p:spPr>
            <a:xfrm>
              <a:off x="285221" y="2187935"/>
              <a:ext cx="3296179" cy="822960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0" name="Picture 69">
            <a:extLst>
              <a:ext uri="{FF2B5EF4-FFF2-40B4-BE49-F238E27FC236}">
                <a16:creationId xmlns:a16="http://schemas.microsoft.com/office/drawing/2014/main" id="{630F4D3E-663D-446F-A2B4-FC9FF16E864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5235649" y="3954464"/>
            <a:ext cx="4649445" cy="6631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AB10CE7-1E85-4A81-8893-EDE753B8D42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1153" y="4060520"/>
            <a:ext cx="1282438" cy="45104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F649179-7A06-424B-B183-8D0432E0C31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6440095" y="2248226"/>
            <a:ext cx="3541340" cy="63847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EEC3EA2-BDBE-449B-82F7-547BC83DBD4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4055925" y="2421179"/>
            <a:ext cx="1499431" cy="292572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901673C7-C410-4351-A2E9-5ECD90681296}"/>
              </a:ext>
            </a:extLst>
          </p:cNvPr>
          <p:cNvGrpSpPr/>
          <p:nvPr/>
        </p:nvGrpSpPr>
        <p:grpSpPr>
          <a:xfrm>
            <a:off x="7899672" y="5644098"/>
            <a:ext cx="1258668" cy="565711"/>
            <a:chOff x="7899672" y="5589353"/>
            <a:chExt cx="1258668" cy="565711"/>
          </a:xfrm>
        </p:grpSpPr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854B2F65-51A6-4EB3-8C37-6D4B4B1660DE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7899672" y="5589353"/>
              <a:ext cx="1258668" cy="292572"/>
            </a:xfrm>
            <a:prstGeom prst="rect">
              <a:avLst/>
            </a:prstGeom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AEB814DC-0203-4C03-93F8-7E570E4B0B66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8083291" y="5969159"/>
              <a:ext cx="891430" cy="185905"/>
            </a:xfrm>
            <a:prstGeom prst="rect">
              <a:avLst/>
            </a:prstGeom>
          </p:spPr>
        </p:pic>
      </p:grpSp>
      <p:sp>
        <p:nvSpPr>
          <p:cNvPr id="10" name="Rounded Rectangle 35">
            <a:extLst>
              <a:ext uri="{FF2B5EF4-FFF2-40B4-BE49-F238E27FC236}">
                <a16:creationId xmlns:a16="http://schemas.microsoft.com/office/drawing/2014/main" id="{DFA7665E-9697-4BB6-966B-DD4C01BE286E}"/>
              </a:ext>
            </a:extLst>
          </p:cNvPr>
          <p:cNvSpPr/>
          <p:nvPr/>
        </p:nvSpPr>
        <p:spPr>
          <a:xfrm>
            <a:off x="285220" y="5561193"/>
            <a:ext cx="6876195" cy="948608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C119930-D7D4-4561-9CA1-197ED828CC07}"/>
              </a:ext>
            </a:extLst>
          </p:cNvPr>
          <p:cNvGrpSpPr/>
          <p:nvPr/>
        </p:nvGrpSpPr>
        <p:grpSpPr>
          <a:xfrm>
            <a:off x="390069" y="5634304"/>
            <a:ext cx="6666496" cy="802387"/>
            <a:chOff x="390069" y="5623182"/>
            <a:chExt cx="6666496" cy="802387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AC788407-45AF-4592-8772-CBA07D5A434E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3"/>
            <a:stretch>
              <a:fillRect/>
            </a:stretch>
          </p:blipFill>
          <p:spPr>
            <a:xfrm>
              <a:off x="390069" y="5735639"/>
              <a:ext cx="2208596" cy="382628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1E152F1C-81EE-495B-9333-A14F4B83BAFA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4"/>
            <a:stretch>
              <a:fillRect/>
            </a:stretch>
          </p:blipFill>
          <p:spPr>
            <a:xfrm>
              <a:off x="2918413" y="5623182"/>
              <a:ext cx="4138152" cy="607542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09772FF-0952-4EEA-B0BB-5286D0064992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5"/>
            <a:stretch>
              <a:fillRect/>
            </a:stretch>
          </p:blipFill>
          <p:spPr>
            <a:xfrm>
              <a:off x="986516" y="6275398"/>
              <a:ext cx="1015703" cy="13302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F2BAD8D-4FCB-4E2E-9F34-561374451803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6"/>
            <a:stretch>
              <a:fillRect/>
            </a:stretch>
          </p:blipFill>
          <p:spPr>
            <a:xfrm>
              <a:off x="4515913" y="6258255"/>
              <a:ext cx="943153" cy="1673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7037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6DCDF3E-6452-463A-A9D8-8D9132604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Concluding comments on effective mass theories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CB7FCA-F5EA-4FE5-BAAB-9881807A9DBE}"/>
              </a:ext>
            </a:extLst>
          </p:cNvPr>
          <p:cNvSpPr txBox="1"/>
          <p:nvPr/>
        </p:nvSpPr>
        <p:spPr>
          <a:xfrm>
            <a:off x="1649403" y="4989840"/>
            <a:ext cx="88931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What we’re seeking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Metrics to quantify </a:t>
            </a:r>
            <a:r>
              <a:rPr lang="en-US" dirty="0"/>
              <a:t>degree to which a </a:t>
            </a:r>
            <a:r>
              <a:rPr lang="en-U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candidate wavefunction ansatz </a:t>
            </a:r>
            <a:r>
              <a:rPr lang="en-US" dirty="0"/>
              <a:t>is an eigenstate.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Strategy for converging ansatz eigenstates </a:t>
            </a:r>
            <a:r>
              <a:rPr lang="en-US" dirty="0"/>
              <a:t>to actual eigenstates (at least in principle).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Computational tools to compare effective mass theories.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Explore the effect of common approximations in EMTs by selectively applying them.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/>
              <a:t>Test models of the donor impurity.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17D8F8-B22F-4E6D-BF3A-39CBDA4E0137}"/>
              </a:ext>
            </a:extLst>
          </p:cNvPr>
          <p:cNvSpPr txBox="1"/>
          <p:nvPr/>
        </p:nvSpPr>
        <p:spPr>
          <a:xfrm>
            <a:off x="836686" y="1964714"/>
            <a:ext cx="105186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The current state of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are many different effective mass theories of the silicon donor [12-21, to name just a few].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each make different, reasonable approximations to achieve the goals of a specific paper or calculation.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Substantial discrepancies in results between EMTs.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Problem: </a:t>
            </a:r>
            <a:r>
              <a:rPr lang="en-US" dirty="0">
                <a:solidFill>
                  <a:srgbClr val="C00000"/>
                </a:solidFill>
              </a:rPr>
              <a:t>Hard to make sense of the global landscape of effective mass theories.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Problem: </a:t>
            </a:r>
            <a:r>
              <a:rPr lang="en-US" dirty="0">
                <a:solidFill>
                  <a:srgbClr val="C00000"/>
                </a:solidFill>
              </a:rPr>
              <a:t>Hard to tell why a calculation might differ from experiment, or another theory. 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Incorrect wavefunction ansatz?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Incorrect Hamiltonian model of the impurity?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Fundamental problems with the effective mass approximation itself?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/>
              <a:t>Need to a way to distinguish all three sources of error.</a:t>
            </a:r>
          </a:p>
        </p:txBody>
      </p:sp>
    </p:spTree>
    <p:extLst>
      <p:ext uri="{BB962C8B-B14F-4D97-AF65-F5344CB8AC3E}">
        <p14:creationId xmlns:p14="http://schemas.microsoft.com/office/powerpoint/2010/main" val="2302750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B25C4-F99B-435D-AB7C-2CC4D8DFE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6638544" cy="853311"/>
          </a:xfrm>
        </p:spPr>
        <p:txBody>
          <a:bodyPr/>
          <a:lstStyle/>
          <a:p>
            <a:r>
              <a:rPr lang="en-US" dirty="0" err="1"/>
              <a:t>OutLook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ABCA4-531E-4BF6-8B66-F14C2A537D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2216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20989-7EDE-4B58-B720-94BB4F92C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have we been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702E2F-FAE4-404E-9424-656B971B6483}"/>
                  </a:ext>
                </a:extLst>
              </p:cNvPr>
              <p:cNvSpPr txBox="1"/>
              <p:nvPr/>
            </p:nvSpPr>
            <p:spPr>
              <a:xfrm>
                <a:off x="1431636" y="2272369"/>
                <a:ext cx="9491320" cy="23132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Implemented an Artificial Bee Colony stochastic optimization algorithm</a:t>
                </a:r>
                <a:r>
                  <a:rPr lang="en-US" dirty="0"/>
                  <a:t> useful for finding the extrema of functions with domains of large dimension.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Determined selection rules </a:t>
                </a:r>
                <a:r>
                  <a:rPr lang="en-US" dirty="0"/>
                  <a:t>for transitions between states of all </a:t>
                </a:r>
                <a:r>
                  <a:rPr lang="en-US" i="1" dirty="0"/>
                  <a:t>T</a:t>
                </a:r>
                <a:r>
                  <a:rPr lang="en-US" i="1" baseline="-25000" dirty="0"/>
                  <a:t>d</a:t>
                </a:r>
                <a:r>
                  <a:rPr lang="en-US" dirty="0"/>
                  <a:t> symmetries, induced by potentials of all </a:t>
                </a:r>
                <a:r>
                  <a:rPr lang="en-US" i="1" dirty="0"/>
                  <a:t>T</a:t>
                </a:r>
                <a:r>
                  <a:rPr lang="en-US" i="1" baseline="-25000" dirty="0"/>
                  <a:t>d</a:t>
                </a:r>
                <a:r>
                  <a:rPr lang="en-US" dirty="0"/>
                  <a:t> symmetries.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Computed analytic formulae </a:t>
                </a:r>
                <a:r>
                  <a:rPr lang="en-US" dirty="0"/>
                  <a:t>for the matrix elements of the overlap, Hamiltonian, and </a:t>
                </a:r>
                <a:r>
                  <a:rPr lang="en-US" i="1" dirty="0"/>
                  <a:t>H</a:t>
                </a:r>
                <a:r>
                  <a:rPr lang="en-US" i="1" baseline="30000" dirty="0"/>
                  <a:t>2</a:t>
                </a:r>
                <a:r>
                  <a:rPr lang="en-US" dirty="0"/>
                  <a:t> matrices constructed from my symmetrized basis for potentials with </a:t>
                </a:r>
                <a:r>
                  <a:rPr lang="en-US" i="1" dirty="0"/>
                  <a:t>A</a:t>
                </a:r>
                <a:r>
                  <a:rPr lang="en-US" i="1" baseline="-25000" dirty="0"/>
                  <a:t>1</a:t>
                </a:r>
                <a:r>
                  <a:rPr lang="en-US" dirty="0"/>
                  <a:t> and </a:t>
                </a:r>
                <a:r>
                  <a:rPr lang="en-US" i="1" dirty="0"/>
                  <a:t>T</a:t>
                </a:r>
                <a:r>
                  <a:rPr lang="en-US" i="1" baseline="-25000" dirty="0"/>
                  <a:t>2</a:t>
                </a:r>
                <a:r>
                  <a:rPr lang="en-US" dirty="0"/>
                  <a:t> symmetries. The potentials are assumed to be of the form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where </a:t>
                </a:r>
                <a:r>
                  <a:rPr lang="en-US" i="1" dirty="0"/>
                  <a:t>d</a:t>
                </a:r>
                <a:r>
                  <a:rPr lang="en-US" dirty="0"/>
                  <a:t> is any integer, and </a:t>
                </a:r>
                <a:r>
                  <a:rPr lang="en-US" i="1" dirty="0"/>
                  <a:t>t</a:t>
                </a:r>
                <a:r>
                  <a:rPr lang="en-US" dirty="0"/>
                  <a:t> is either 0, 1, or 2.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702E2F-FAE4-404E-9424-656B971B6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636" y="2272369"/>
                <a:ext cx="9491320" cy="2313262"/>
              </a:xfrm>
              <a:prstGeom prst="rect">
                <a:avLst/>
              </a:prstGeom>
              <a:blipFill>
                <a:blip r:embed="rId2"/>
                <a:stretch>
                  <a:fillRect l="-450" t="-1583" r="-257" b="-34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729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20989-7EDE-4B58-B720-94BB4F92C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 are going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022889-A5E8-40B8-AFF2-AB70602A1262}"/>
              </a:ext>
            </a:extLst>
          </p:cNvPr>
          <p:cNvSpPr txBox="1"/>
          <p:nvPr/>
        </p:nvSpPr>
        <p:spPr>
          <a:xfrm>
            <a:off x="1561145" y="2709648"/>
            <a:ext cx="90697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Complete code to compute the matrix elements of the multivalley Hamiltonian given a statically screened Coulomb potential.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Write code to compute matrix elements for a dynamically screened Coulomb potential.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Write code to compute matrix elements for arbitrary </a:t>
            </a:r>
            <a:r>
              <a:rPr lang="en-US" i="1" dirty="0"/>
              <a:t>T</a:t>
            </a:r>
            <a:r>
              <a:rPr lang="en-US" i="1" baseline="-25000" dirty="0"/>
              <a:t>d</a:t>
            </a:r>
            <a:r>
              <a:rPr lang="en-US" dirty="0"/>
              <a:t> </a:t>
            </a:r>
            <a:r>
              <a:rPr lang="en-US" i="1" dirty="0"/>
              <a:t>(A</a:t>
            </a:r>
            <a:r>
              <a:rPr lang="en-US" i="1" baseline="-25000" dirty="0"/>
              <a:t>1</a:t>
            </a:r>
            <a:r>
              <a:rPr lang="en-US" i="1" dirty="0"/>
              <a:t>) </a:t>
            </a:r>
            <a:r>
              <a:rPr lang="en-US" dirty="0"/>
              <a:t>potentials.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Write code to compute matrix elements for perturbing </a:t>
            </a:r>
            <a:r>
              <a:rPr lang="en-US" i="1" dirty="0"/>
              <a:t>T</a:t>
            </a:r>
            <a:r>
              <a:rPr lang="en-US" i="1" baseline="-25000" dirty="0"/>
              <a:t>d</a:t>
            </a:r>
            <a:r>
              <a:rPr lang="en-US" dirty="0"/>
              <a:t> </a:t>
            </a:r>
            <a:r>
              <a:rPr lang="en-US" i="1" dirty="0"/>
              <a:t>(T</a:t>
            </a:r>
            <a:r>
              <a:rPr lang="en-US" i="1" baseline="-25000" dirty="0"/>
              <a:t>2</a:t>
            </a:r>
            <a:r>
              <a:rPr lang="en-US" i="1" dirty="0"/>
              <a:t>) </a:t>
            </a:r>
            <a:r>
              <a:rPr lang="en-US" dirty="0"/>
              <a:t>potentials.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repulsive terms are necessary to block severely unphysical variational minima emerging due to the dynamically screened Coulomb potential 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well does the Gamble empirical tetrahedral potential work with the dynamic dielectric?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purely empirical models including Gamble’s attractive tetrahedral lobes and the proposed repulsive center cell correction be firmly grounded in an </a:t>
            </a:r>
            <a:r>
              <a:rPr lang="en-US" i="1" dirty="0"/>
              <a:t>ab initio</a:t>
            </a:r>
            <a:r>
              <a:rPr lang="en-US" dirty="0"/>
              <a:t> model?</a:t>
            </a:r>
          </a:p>
        </p:txBody>
      </p:sp>
    </p:spTree>
    <p:extLst>
      <p:ext uri="{BB962C8B-B14F-4D97-AF65-F5344CB8AC3E}">
        <p14:creationId xmlns:p14="http://schemas.microsoft.com/office/powerpoint/2010/main" val="40674749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B25C4-F99B-435D-AB7C-2CC4D8DFE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6638544" cy="853311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ABCA4-531E-4BF6-8B66-F14C2A537D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811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2901C0-61BE-48B1-8FF6-E220EFAE1B78}"/>
              </a:ext>
            </a:extLst>
          </p:cNvPr>
          <p:cNvSpPr txBox="1"/>
          <p:nvPr/>
        </p:nvSpPr>
        <p:spPr>
          <a:xfrm>
            <a:off x="471804" y="1713912"/>
            <a:ext cx="1116139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dirty="0"/>
              <a:t>J. D. </a:t>
            </a:r>
            <a:r>
              <a:rPr lang="en-US" sz="1400" dirty="0" err="1"/>
              <a:t>Hidary</a:t>
            </a:r>
            <a:r>
              <a:rPr lang="en-US" sz="1400" dirty="0"/>
              <a:t>, </a:t>
            </a:r>
            <a:r>
              <a:rPr lang="en-US" sz="1400" i="1" dirty="0"/>
              <a:t>Quantum Computing: An Applied Approach </a:t>
            </a:r>
            <a:r>
              <a:rPr lang="en-US" sz="1400" dirty="0"/>
              <a:t>(Springer, Cham, 2019).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National Academies of Sciences, Engineering, and Medicine, </a:t>
            </a:r>
            <a:r>
              <a:rPr lang="en-US" sz="1400" i="1" dirty="0"/>
              <a:t>Quantum Computing: Progress and Prospects </a:t>
            </a:r>
            <a:r>
              <a:rPr lang="en-US" sz="1400" dirty="0"/>
              <a:t>(The National Academies Press, Washington, DC, 2018).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C. M. Dawson, M.A. Nielson, Quantum Information and Computation </a:t>
            </a:r>
            <a:r>
              <a:rPr lang="en-US" sz="1400" b="1" dirty="0"/>
              <a:t>6, </a:t>
            </a:r>
            <a:r>
              <a:rPr lang="en-US" sz="1400" dirty="0"/>
              <a:t>1 (2006).</a:t>
            </a:r>
            <a:endParaRPr lang="en-US" sz="12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F. </a:t>
            </a:r>
            <a:r>
              <a:rPr lang="en-US" sz="1400" dirty="0" err="1"/>
              <a:t>Arute</a:t>
            </a:r>
            <a:r>
              <a:rPr lang="en-US" sz="1400" dirty="0"/>
              <a:t>, </a:t>
            </a:r>
            <a:r>
              <a:rPr lang="en-US" sz="1400" i="1" dirty="0"/>
              <a:t>et al.</a:t>
            </a:r>
            <a:r>
              <a:rPr lang="en-US" sz="1400" dirty="0"/>
              <a:t>,</a:t>
            </a:r>
            <a:r>
              <a:rPr lang="en-US" sz="1400" i="1" dirty="0"/>
              <a:t> </a:t>
            </a:r>
            <a:r>
              <a:rPr lang="en-US" sz="1400" dirty="0"/>
              <a:t>Nature </a:t>
            </a:r>
            <a:r>
              <a:rPr lang="en-US" sz="1400" b="1" dirty="0"/>
              <a:t>574</a:t>
            </a:r>
            <a:r>
              <a:rPr lang="en-US" sz="1400" dirty="0"/>
              <a:t>, 505 (2019).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E. </a:t>
            </a:r>
            <a:r>
              <a:rPr lang="en-US" sz="1400" dirty="0" err="1"/>
              <a:t>Pednault</a:t>
            </a:r>
            <a:r>
              <a:rPr lang="en-US" sz="1400" dirty="0"/>
              <a:t>, </a:t>
            </a:r>
            <a:r>
              <a:rPr lang="en-US" sz="1400" i="1" dirty="0"/>
              <a:t>et al.</a:t>
            </a:r>
            <a:r>
              <a:rPr lang="en-US" sz="1400" dirty="0"/>
              <a:t>, </a:t>
            </a:r>
            <a:r>
              <a:rPr lang="en-US" sz="1400" dirty="0" err="1"/>
              <a:t>arXiv</a:t>
            </a:r>
            <a:r>
              <a:rPr lang="en-US" sz="1400" dirty="0"/>
              <a:t>: 1910.09534v2 (unpublished).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J. </a:t>
            </a:r>
            <a:r>
              <a:rPr lang="en-US" sz="1400" dirty="0" err="1"/>
              <a:t>Preskill</a:t>
            </a:r>
            <a:r>
              <a:rPr lang="en-US" sz="1400" dirty="0"/>
              <a:t>, Quantum </a:t>
            </a:r>
            <a:r>
              <a:rPr lang="en-US" sz="1400" b="1" dirty="0"/>
              <a:t>2</a:t>
            </a:r>
            <a:r>
              <a:rPr lang="en-US" sz="1400" dirty="0"/>
              <a:t>, 79 (2018).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C. D. </a:t>
            </a:r>
            <a:r>
              <a:rPr lang="en-US" sz="1400" dirty="0" err="1"/>
              <a:t>Bruzewicz</a:t>
            </a:r>
            <a:r>
              <a:rPr lang="en-US" sz="1400" dirty="0"/>
              <a:t>, J. Chiaverini, R. McConnell, J. M. Sage, Applied Physics Reviews </a:t>
            </a:r>
            <a:r>
              <a:rPr lang="en-US" sz="1400" b="1" dirty="0"/>
              <a:t>6,</a:t>
            </a:r>
            <a:r>
              <a:rPr lang="en-US" sz="1400" dirty="0"/>
              <a:t> 021314 (2019).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M. </a:t>
            </a:r>
            <a:r>
              <a:rPr lang="en-US" sz="1400" dirty="0" err="1"/>
              <a:t>Kjaergaard</a:t>
            </a:r>
            <a:r>
              <a:rPr lang="en-US" sz="1400" dirty="0"/>
              <a:t>, </a:t>
            </a:r>
            <a:r>
              <a:rPr lang="en-US" sz="1400" i="1" dirty="0"/>
              <a:t>et al.</a:t>
            </a:r>
            <a:r>
              <a:rPr lang="en-US" sz="1400" dirty="0"/>
              <a:t>, Annual Review of Condensed Matter Physics </a:t>
            </a:r>
            <a:r>
              <a:rPr lang="en-US" sz="1400" b="1" dirty="0"/>
              <a:t>11</a:t>
            </a:r>
            <a:r>
              <a:rPr lang="en-US" sz="1400" dirty="0"/>
              <a:t>, 369 (2020).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L. M. K. </a:t>
            </a:r>
            <a:r>
              <a:rPr lang="en-US" sz="1400" dirty="0" err="1"/>
              <a:t>Vandersypen</a:t>
            </a:r>
            <a:r>
              <a:rPr lang="en-US" sz="1400" dirty="0"/>
              <a:t>, M. A. Eriksson, Physics Today </a:t>
            </a:r>
            <a:r>
              <a:rPr lang="en-US" sz="1400" b="1" dirty="0"/>
              <a:t>72</a:t>
            </a:r>
            <a:r>
              <a:rPr lang="en-US" sz="1400" dirty="0"/>
              <a:t>, 38 (2019).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W. Kohn, J. M. </a:t>
            </a:r>
            <a:r>
              <a:rPr lang="en-US" sz="1400" dirty="0" err="1"/>
              <a:t>Luttinger</a:t>
            </a:r>
            <a:r>
              <a:rPr lang="en-US" sz="1400" dirty="0"/>
              <a:t>, Physical Review </a:t>
            </a:r>
            <a:r>
              <a:rPr lang="en-US" sz="1400" b="1" dirty="0"/>
              <a:t>98</a:t>
            </a:r>
            <a:r>
              <a:rPr lang="en-US" sz="1400" dirty="0"/>
              <a:t>, 915 (1955).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A. </a:t>
            </a:r>
            <a:r>
              <a:rPr lang="en-US" sz="1400" dirty="0" err="1"/>
              <a:t>Baldereschi</a:t>
            </a:r>
            <a:r>
              <a:rPr lang="en-US" sz="1400" dirty="0"/>
              <a:t>, Physical Review B </a:t>
            </a:r>
            <a:r>
              <a:rPr lang="en-US" sz="1400" b="1" dirty="0"/>
              <a:t>1</a:t>
            </a:r>
            <a:r>
              <a:rPr lang="en-US" sz="1400" dirty="0"/>
              <a:t>, 4673 (1970).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R. A. Faulkner, Physical Review </a:t>
            </a:r>
            <a:r>
              <a:rPr lang="en-US" sz="1400" b="1" dirty="0"/>
              <a:t>184</a:t>
            </a:r>
            <a:r>
              <a:rPr lang="en-US" sz="1400" dirty="0"/>
              <a:t>, 713 (1969).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H. Hui, Solid State Communications </a:t>
            </a:r>
            <a:r>
              <a:rPr lang="en-US" sz="1400" b="1" dirty="0"/>
              <a:t>154</a:t>
            </a:r>
            <a:r>
              <a:rPr lang="en-US" sz="1400" dirty="0"/>
              <a:t>, 19 (2013).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T. H. Ning, C. T. </a:t>
            </a:r>
            <a:r>
              <a:rPr lang="en-US" sz="1400" dirty="0" err="1"/>
              <a:t>Sah</a:t>
            </a:r>
            <a:r>
              <a:rPr lang="en-US" sz="1400" dirty="0"/>
              <a:t>, Physical Review B </a:t>
            </a:r>
            <a:r>
              <a:rPr lang="en-US" sz="1400" b="1" dirty="0"/>
              <a:t>4</a:t>
            </a:r>
            <a:r>
              <a:rPr lang="en-US" sz="1400" dirty="0"/>
              <a:t>, 3468 (1971).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S. T. </a:t>
            </a:r>
            <a:r>
              <a:rPr lang="en-US" sz="1400" dirty="0" err="1"/>
              <a:t>Pantelides</a:t>
            </a:r>
            <a:r>
              <a:rPr lang="en-US" sz="1400" dirty="0"/>
              <a:t>, C. T. </a:t>
            </a:r>
            <a:r>
              <a:rPr lang="en-US" sz="1400" dirty="0" err="1"/>
              <a:t>Sah</a:t>
            </a:r>
            <a:r>
              <a:rPr lang="en-US" sz="1400" dirty="0"/>
              <a:t>, Physical Review B </a:t>
            </a:r>
            <a:r>
              <a:rPr lang="en-US" sz="1400" b="1" dirty="0"/>
              <a:t>10</a:t>
            </a:r>
            <a:r>
              <a:rPr lang="en-US" sz="1400" dirty="0"/>
              <a:t>, 621 (1974).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A. L. Saraiva, </a:t>
            </a:r>
            <a:r>
              <a:rPr lang="en-US" sz="1400" i="1" dirty="0"/>
              <a:t>et al.</a:t>
            </a:r>
            <a:r>
              <a:rPr lang="en-US" sz="1400" dirty="0"/>
              <a:t>, Journal of Physics: Condensed Matter </a:t>
            </a:r>
            <a:r>
              <a:rPr lang="en-US" sz="1400" b="1" dirty="0"/>
              <a:t>27</a:t>
            </a:r>
            <a:r>
              <a:rPr lang="en-US" sz="1400" dirty="0"/>
              <a:t>, 154208 (2015).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J. K. Gamble, </a:t>
            </a:r>
            <a:r>
              <a:rPr lang="en-US" sz="1400" i="1" dirty="0"/>
              <a:t>et al.</a:t>
            </a:r>
            <a:r>
              <a:rPr lang="en-US" sz="1400" dirty="0"/>
              <a:t>, Physical Review B </a:t>
            </a:r>
            <a:r>
              <a:rPr lang="en-US" sz="1400" b="1" dirty="0"/>
              <a:t>91</a:t>
            </a:r>
            <a:r>
              <a:rPr lang="en-US" sz="1400" dirty="0"/>
              <a:t>, 235318 (2015).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K. </a:t>
            </a:r>
            <a:r>
              <a:rPr lang="en-US" sz="1400" dirty="0" err="1"/>
              <a:t>Shindo</a:t>
            </a:r>
            <a:r>
              <a:rPr lang="en-US" sz="1400" dirty="0"/>
              <a:t>, H. Nara, Journal of the Physical Society of Japan </a:t>
            </a:r>
            <a:r>
              <a:rPr lang="en-US" sz="1400" b="1" dirty="0"/>
              <a:t>40</a:t>
            </a:r>
            <a:r>
              <a:rPr lang="en-US" sz="1400" dirty="0"/>
              <a:t>, 1640 (1976).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A. </a:t>
            </a:r>
            <a:r>
              <a:rPr lang="en-US" sz="1400" dirty="0" err="1"/>
              <a:t>Debernardi</a:t>
            </a:r>
            <a:r>
              <a:rPr lang="en-US" sz="1400" dirty="0"/>
              <a:t>, A. </a:t>
            </a:r>
            <a:r>
              <a:rPr lang="en-US" sz="1400" dirty="0" err="1"/>
              <a:t>Baldereschi</a:t>
            </a:r>
            <a:r>
              <a:rPr lang="en-US" sz="1400" dirty="0"/>
              <a:t>, M. </a:t>
            </a:r>
            <a:r>
              <a:rPr lang="en-US" sz="1400" dirty="0" err="1"/>
              <a:t>Fanciulli</a:t>
            </a:r>
            <a:r>
              <a:rPr lang="en-US" sz="1400" dirty="0"/>
              <a:t>, Physical Review B </a:t>
            </a:r>
            <a:r>
              <a:rPr lang="en-US" sz="1400" b="1" dirty="0"/>
              <a:t>74</a:t>
            </a:r>
            <a:r>
              <a:rPr lang="en-US" sz="1400" dirty="0"/>
              <a:t>, 035202 (2006).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5666BE-A926-4D6D-9BD3-A29AE411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4571164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B25C4-F99B-435D-AB7C-2CC4D8DFE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24952"/>
            <a:ext cx="6638544" cy="853311"/>
          </a:xfrm>
        </p:spPr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ABCA4-531E-4BF6-8B66-F14C2A537D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8019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46B75EA-AB80-4C5A-B5DA-5FA6ED3EC3C7}"/>
              </a:ext>
            </a:extLst>
          </p:cNvPr>
          <p:cNvSpPr txBox="1"/>
          <p:nvPr/>
        </p:nvSpPr>
        <p:spPr>
          <a:xfrm>
            <a:off x="251506" y="1899691"/>
            <a:ext cx="11688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accent3">
                    <a:lumMod val="75000"/>
                  </a:schemeClr>
                </a:solidFill>
              </a:rPr>
              <a:t>EMA</a:t>
            </a:r>
            <a:r>
              <a:rPr lang="en-US" b="1" dirty="0"/>
              <a:t>:</a:t>
            </a:r>
            <a:r>
              <a:rPr lang="en-US" dirty="0"/>
              <a:t> Assume the donor electron is localized at the </a:t>
            </a:r>
            <a:r>
              <a:rPr lang="en-US" dirty="0">
                <a:solidFill>
                  <a:srgbClr val="0000FF"/>
                </a:solidFill>
              </a:rPr>
              <a:t>six-fold degenerate anisotropic minima</a:t>
            </a:r>
            <a:r>
              <a:rPr lang="en-US" dirty="0"/>
              <a:t> of lowest conduction band.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DA8726D-F123-4124-9120-5823F5EA0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Meaning of “effective mass”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8B4FA0B-89B7-4131-9ADC-2223C3A4F36B}"/>
              </a:ext>
            </a:extLst>
          </p:cNvPr>
          <p:cNvGrpSpPr/>
          <p:nvPr/>
        </p:nvGrpSpPr>
        <p:grpSpPr>
          <a:xfrm>
            <a:off x="2470859" y="3034555"/>
            <a:ext cx="7250282" cy="2225347"/>
            <a:chOff x="2470859" y="4406155"/>
            <a:chExt cx="7250282" cy="2225347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C9A4F07-4159-41C1-93ED-C5BCE6ACEF27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3325714" y="4406155"/>
              <a:ext cx="5540572" cy="643048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08C3483-58C7-4087-976D-39BB15C3C7A7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2470859" y="5109216"/>
              <a:ext cx="7250282" cy="1522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67065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B25C4-F99B-435D-AB7C-2CC4D8DFE8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EB69588-6C36-4DE4-9DC0-A0008664FE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7244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Checking the completeness with the variance</a:t>
            </a:r>
          </a:p>
        </p:txBody>
      </p:sp>
      <p:pic>
        <p:nvPicPr>
          <p:cNvPr id="42" name="Picture 4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55" y="4863168"/>
            <a:ext cx="3811200" cy="506057"/>
          </a:xfrm>
          <a:prstGeom prst="rect">
            <a:avLst/>
          </a:prstGeom>
          <a:ln>
            <a:noFill/>
          </a:ln>
        </p:spPr>
      </p:pic>
      <p:pic>
        <p:nvPicPr>
          <p:cNvPr id="40" name="Picture 3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3161" y="5675447"/>
            <a:ext cx="5864228" cy="648686"/>
          </a:xfrm>
          <a:prstGeom prst="rect">
            <a:avLst/>
          </a:prstGeom>
          <a:ln>
            <a:noFill/>
          </a:ln>
        </p:spPr>
      </p:pic>
      <p:pic>
        <p:nvPicPr>
          <p:cNvPr id="41" name="Picture 4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863168"/>
            <a:ext cx="5550171" cy="648686"/>
          </a:xfrm>
          <a:prstGeom prst="rect">
            <a:avLst/>
          </a:prstGeom>
          <a:ln>
            <a:noFill/>
          </a:ln>
        </p:spPr>
      </p:pic>
      <p:pic>
        <p:nvPicPr>
          <p:cNvPr id="43" name="Picture 4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54" y="5680904"/>
            <a:ext cx="5185371" cy="648686"/>
          </a:xfrm>
          <a:prstGeom prst="rect">
            <a:avLst/>
          </a:prstGeom>
          <a:ln>
            <a:noFill/>
          </a:ln>
        </p:spPr>
      </p:pic>
      <p:sp>
        <p:nvSpPr>
          <p:cNvPr id="10" name="Text Placeholder 1 2 2 1"/>
          <p:cNvSpPr txBox="1">
            <a:spLocks/>
          </p:cNvSpPr>
          <p:nvPr/>
        </p:nvSpPr>
        <p:spPr>
          <a:xfrm>
            <a:off x="2100267" y="4120009"/>
            <a:ext cx="7991467" cy="4033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26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800" b="0" i="0" kern="120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91437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371566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28594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+mn-lt"/>
              </a:rPr>
              <a:t>Variance formulae are derived following the method of the </a:t>
            </a:r>
            <a:r>
              <a:rPr lang="en-US" dirty="0" err="1">
                <a:latin typeface="+mn-lt"/>
              </a:rPr>
              <a:t>Shindo</a:t>
            </a:r>
            <a:r>
              <a:rPr lang="en-US" dirty="0">
                <a:latin typeface="+mn-lt"/>
              </a:rPr>
              <a:t>-Nara equation [19-20].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C599294-8AA2-4304-81D7-0CAD7C31F53A}"/>
              </a:ext>
            </a:extLst>
          </p:cNvPr>
          <p:cNvGrpSpPr/>
          <p:nvPr/>
        </p:nvGrpSpPr>
        <p:grpSpPr>
          <a:xfrm>
            <a:off x="1179594" y="1967833"/>
            <a:ext cx="9832812" cy="1548940"/>
            <a:chOff x="1179594" y="1967833"/>
            <a:chExt cx="9832812" cy="1548940"/>
          </a:xfrm>
        </p:grpSpPr>
        <p:grpSp>
          <p:nvGrpSpPr>
            <p:cNvPr id="37" name="Group 36"/>
            <p:cNvGrpSpPr/>
            <p:nvPr/>
          </p:nvGrpSpPr>
          <p:grpSpPr>
            <a:xfrm>
              <a:off x="6806166" y="2145173"/>
              <a:ext cx="4206240" cy="1371600"/>
              <a:chOff x="3947160" y="1849613"/>
              <a:chExt cx="4206240" cy="1371600"/>
            </a:xfrm>
          </p:grpSpPr>
          <p:sp>
            <p:nvSpPr>
              <p:cNvPr id="110" name="Rounded Rectangle 109"/>
              <p:cNvSpPr/>
              <p:nvPr/>
            </p:nvSpPr>
            <p:spPr>
              <a:xfrm>
                <a:off x="3947160" y="1849613"/>
                <a:ext cx="4206240" cy="1371600"/>
              </a:xfrm>
              <a:prstGeom prst="roundRect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4" name="Picture 33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57137" y="2526781"/>
                <a:ext cx="3986286" cy="583619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97328" y="1916986"/>
                <a:ext cx="2105905" cy="455619"/>
              </a:xfrm>
              <a:prstGeom prst="rect">
                <a:avLst/>
              </a:prstGeom>
            </p:spPr>
          </p:pic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0D53682-4576-4FDB-9392-39F6D66A9375}"/>
                </a:ext>
              </a:extLst>
            </p:cNvPr>
            <p:cNvGrpSpPr/>
            <p:nvPr>
              <p:custDataLst>
                <p:tags r:id="rId5"/>
              </p:custDataLst>
            </p:nvPr>
          </p:nvGrpSpPr>
          <p:grpSpPr>
            <a:xfrm>
              <a:off x="1179594" y="1967833"/>
              <a:ext cx="4446978" cy="1413900"/>
              <a:chOff x="1179594" y="1967833"/>
              <a:chExt cx="4446978" cy="141390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2ECEDB53-10E0-4F08-B438-0A6D97C28072}"/>
                  </a:ext>
                </a:extLst>
              </p:cNvPr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17"/>
              <a:stretch>
                <a:fillRect/>
              </a:stretch>
            </p:blipFill>
            <p:spPr>
              <a:xfrm>
                <a:off x="2516988" y="2782876"/>
                <a:ext cx="1918476" cy="598857"/>
              </a:xfrm>
              <a:prstGeom prst="rect">
                <a:avLst/>
              </a:prstGeom>
            </p:spPr>
          </p:pic>
          <p:sp>
            <p:nvSpPr>
              <p:cNvPr id="39" name="Text Placeholder 1 2 2 2"/>
              <p:cNvSpPr txBox="1">
                <a:spLocks/>
              </p:cNvSpPr>
              <p:nvPr/>
            </p:nvSpPr>
            <p:spPr>
              <a:xfrm>
                <a:off x="1179594" y="1967833"/>
                <a:ext cx="4446978" cy="677108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>
                <a:spAutoFit/>
              </a:bodyPr>
              <a:lstStyle>
                <a:lvl1pPr marL="0" indent="0" algn="l" defTabSz="914400" rtl="0" eaLnBrk="1" latinLnBrk="0" hangingPunct="1">
                  <a:lnSpc>
                    <a:spcPts val="2600"/>
                  </a:lnSpc>
                  <a:spcBef>
                    <a:spcPts val="10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1800" b="0" i="0" kern="1200" spc="-50" baseline="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457189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2000" kern="1200" baseline="0">
                    <a:solidFill>
                      <a:schemeClr val="tx1">
                        <a:tint val="75000"/>
                      </a:schemeClr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2pPr>
                <a:lvl3pPr marL="914377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LucidaGrande" charset="0"/>
                  <a:buNone/>
                  <a:defRPr sz="1800" kern="1200" baseline="0">
                    <a:solidFill>
                      <a:schemeClr val="tx1">
                        <a:tint val="75000"/>
                      </a:schemeClr>
                    </a:solidFill>
                    <a:latin typeface="Gill Sans MT" panose="020B0502020104020203" pitchFamily="34" charset="0"/>
                    <a:ea typeface="Gill Sans MT" panose="020B0502020104020203" pitchFamily="34" charset="0"/>
                    <a:cs typeface="Arial" charset="0"/>
                  </a:defRPr>
                </a:lvl3pPr>
                <a:lvl4pPr marL="1371566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1828754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05BBB"/>
                  </a:buClr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285943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131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32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509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i="1" dirty="0">
                    <a:solidFill>
                      <a:srgbClr val="0000FF"/>
                    </a:solidFill>
                    <a:latin typeface="+mn-lt"/>
                  </a:rPr>
                  <a:t>Completeness</a:t>
                </a:r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dirty="0">
                    <a:latin typeface="+mn-lt"/>
                  </a:rPr>
                  <a:t>Is the basis </a:t>
                </a:r>
                <a:r>
                  <a:rPr lang="en-US" b="1" dirty="0">
                    <a:solidFill>
                      <a:srgbClr val="0000FF"/>
                    </a:solidFill>
                    <a:latin typeface="+mn-lt"/>
                  </a:rPr>
                  <a:t>well-converged</a:t>
                </a:r>
                <a:r>
                  <a:rPr lang="en-US" dirty="0">
                    <a:latin typeface="+mn-lt"/>
                  </a:rPr>
                  <a:t> to an eigenstate?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95658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Multi-valley variance results – </a:t>
            </a:r>
            <a:r>
              <a:rPr lang="en-US" dirty="0" err="1"/>
              <a:t>Shindo</a:t>
            </a:r>
            <a:r>
              <a:rPr lang="en-US" dirty="0"/>
              <a:t>-Nara equation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26B8B88-DE11-4D04-8E77-319DAD15714B}"/>
              </a:ext>
            </a:extLst>
          </p:cNvPr>
          <p:cNvGrpSpPr/>
          <p:nvPr/>
        </p:nvGrpSpPr>
        <p:grpSpPr>
          <a:xfrm>
            <a:off x="1925383" y="4897019"/>
            <a:ext cx="8394719" cy="584775"/>
            <a:chOff x="1925383" y="4897019"/>
            <a:chExt cx="8394719" cy="584775"/>
          </a:xfrm>
        </p:grpSpPr>
        <p:sp>
          <p:nvSpPr>
            <p:cNvPr id="6" name="TextBox 5"/>
            <p:cNvSpPr txBox="1"/>
            <p:nvPr/>
          </p:nvSpPr>
          <p:spPr>
            <a:xfrm>
              <a:off x="1925383" y="4897019"/>
              <a:ext cx="48910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Adding more terms of the periodic part of the  Bloch function to attenuate the potential had no useful effect.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B7E116-9A0A-4BB2-A964-C9F9120135DD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7234390" y="4932262"/>
              <a:ext cx="3085712" cy="490972"/>
            </a:xfrm>
            <a:prstGeom prst="rect">
              <a:avLst/>
            </a:prstGeom>
          </p:spPr>
        </p:pic>
      </p:grpSp>
      <p:grpSp>
        <p:nvGrpSpPr>
          <p:cNvPr id="7" name="Group 6"/>
          <p:cNvGrpSpPr/>
          <p:nvPr/>
        </p:nvGrpSpPr>
        <p:grpSpPr>
          <a:xfrm>
            <a:off x="6808370" y="2268787"/>
            <a:ext cx="3687893" cy="1377239"/>
            <a:chOff x="8312727" y="1207633"/>
            <a:chExt cx="3687893" cy="1377239"/>
          </a:xfrm>
        </p:grpSpPr>
        <p:pic>
          <p:nvPicPr>
            <p:cNvPr id="2" name="Picture 1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19645" y="2082929"/>
              <a:ext cx="1274057" cy="501943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8312727" y="1207633"/>
              <a:ext cx="368789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The effective potential was treated as Coulomb with static dielectric screening.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695736" y="1927470"/>
            <a:ext cx="3416898" cy="2059873"/>
            <a:chOff x="4387551" y="2446764"/>
            <a:chExt cx="3416898" cy="2059873"/>
          </a:xfrm>
        </p:grpSpPr>
        <p:sp>
          <p:nvSpPr>
            <p:cNvPr id="16" name="TextBox 15"/>
            <p:cNvSpPr txBox="1"/>
            <p:nvPr/>
          </p:nvSpPr>
          <p:spPr>
            <a:xfrm>
              <a:off x="4387551" y="2446764"/>
              <a:ext cx="34168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i="1" dirty="0"/>
                <a:t>We found a negative variance?</a:t>
              </a:r>
            </a:p>
          </p:txBody>
        </p:sp>
        <p:grpSp>
          <p:nvGrpSpPr>
            <p:cNvPr id="22" name="Group 21"/>
            <p:cNvGrpSpPr/>
            <p:nvPr>
              <p:custDataLst>
                <p:tags r:id="rId1"/>
              </p:custDataLst>
            </p:nvPr>
          </p:nvGrpSpPr>
          <p:grpSpPr>
            <a:xfrm>
              <a:off x="4398210" y="3085402"/>
              <a:ext cx="3395580" cy="990734"/>
              <a:chOff x="4398210" y="3085402"/>
              <a:chExt cx="3395580" cy="990734"/>
            </a:xfrm>
          </p:grpSpPr>
          <p:grpSp>
            <p:nvGrpSpPr>
              <p:cNvPr id="26" name="Group 25"/>
              <p:cNvGrpSpPr/>
              <p:nvPr/>
            </p:nvGrpSpPr>
            <p:grpSpPr>
              <a:xfrm>
                <a:off x="4398211" y="3085402"/>
                <a:ext cx="3395579" cy="207010"/>
                <a:chOff x="4398211" y="3114171"/>
                <a:chExt cx="3395579" cy="207010"/>
              </a:xfrm>
            </p:grpSpPr>
            <p:pic>
              <p:nvPicPr>
                <p:cNvPr id="25" name="Picture 24"/>
                <p:cNvPicPr>
                  <a:picLocks noChangeAspect="1"/>
                </p:cNvPicPr>
                <p:nvPr>
                  <p:custDataLst>
                    <p:tags r:id="rId8"/>
                  </p:custDataLst>
                </p:nvPr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8211" y="3131923"/>
                  <a:ext cx="1296000" cy="189258"/>
                </a:xfrm>
                <a:prstGeom prst="rect">
                  <a:avLst/>
                </a:prstGeom>
              </p:spPr>
            </p:pic>
            <p:pic>
              <p:nvPicPr>
                <p:cNvPr id="15" name="Picture 14"/>
                <p:cNvPicPr>
                  <a:picLocks noChangeAspect="1"/>
                </p:cNvPicPr>
                <p:nvPr>
                  <p:custDataLst>
                    <p:tags r:id="rId9"/>
                  </p:custDataLst>
                </p:nvPr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03161" y="3114171"/>
                  <a:ext cx="1390629" cy="205715"/>
                </a:xfrm>
                <a:prstGeom prst="rect">
                  <a:avLst/>
                </a:prstGeom>
              </p:spPr>
            </p:pic>
          </p:grpSp>
          <p:grpSp>
            <p:nvGrpSpPr>
              <p:cNvPr id="49" name="Group 48"/>
              <p:cNvGrpSpPr/>
              <p:nvPr>
                <p:custDataLst>
                  <p:tags r:id="rId2"/>
                </p:custDataLst>
              </p:nvPr>
            </p:nvGrpSpPr>
            <p:grpSpPr>
              <a:xfrm>
                <a:off x="4398212" y="3477264"/>
                <a:ext cx="3188493" cy="207010"/>
                <a:chOff x="4398212" y="3137899"/>
                <a:chExt cx="3188493" cy="207010"/>
              </a:xfrm>
            </p:grpSpPr>
            <p:pic>
              <p:nvPicPr>
                <p:cNvPr id="44" name="Picture 43"/>
                <p:cNvPicPr>
                  <a:picLocks noChangeAspect="1"/>
                </p:cNvPicPr>
                <p:nvPr>
                  <p:custDataLst>
                    <p:tags r:id="rId6"/>
                  </p:custDataLst>
                </p:nvPr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8212" y="3155651"/>
                  <a:ext cx="1302857" cy="189258"/>
                </a:xfrm>
                <a:prstGeom prst="rect">
                  <a:avLst/>
                </a:prstGeom>
              </p:spPr>
            </p:pic>
            <p:pic>
              <p:nvPicPr>
                <p:cNvPr id="48" name="Picture 47"/>
                <p:cNvPicPr>
                  <a:picLocks noChangeAspect="1"/>
                </p:cNvPicPr>
                <p:nvPr>
                  <p:custDataLst>
                    <p:tags r:id="rId7"/>
                  </p:custDataLst>
                </p:nvPr>
              </p:nvPicPr>
              <p:blipFill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03162" y="3137899"/>
                  <a:ext cx="1183543" cy="183772"/>
                </a:xfrm>
                <a:prstGeom prst="rect">
                  <a:avLst/>
                </a:prstGeom>
              </p:spPr>
            </p:pic>
          </p:grpSp>
          <p:grpSp>
            <p:nvGrpSpPr>
              <p:cNvPr id="21" name="Group 20"/>
              <p:cNvGrpSpPr/>
              <p:nvPr>
                <p:custDataLst>
                  <p:tags r:id="rId3"/>
                </p:custDataLst>
              </p:nvPr>
            </p:nvGrpSpPr>
            <p:grpSpPr>
              <a:xfrm>
                <a:off x="4398210" y="3869126"/>
                <a:ext cx="3073294" cy="207010"/>
                <a:chOff x="4398210" y="3869126"/>
                <a:chExt cx="3073294" cy="207010"/>
              </a:xfrm>
            </p:grpSpPr>
            <p:pic>
              <p:nvPicPr>
                <p:cNvPr id="13" name="Picture 12"/>
                <p:cNvPicPr>
                  <a:picLocks noChangeAspect="1"/>
                </p:cNvPicPr>
                <p:nvPr>
                  <p:custDataLst>
                    <p:tags r:id="rId4"/>
                  </p:custDataLst>
                </p:nvPr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8210" y="3886878"/>
                  <a:ext cx="1291886" cy="189258"/>
                </a:xfrm>
                <a:prstGeom prst="rect">
                  <a:avLst/>
                </a:prstGeom>
              </p:spPr>
            </p:pic>
            <p:pic>
              <p:nvPicPr>
                <p:cNvPr id="20" name="Picture 19"/>
                <p:cNvPicPr>
                  <a:picLocks noChangeAspect="1"/>
                </p:cNvPicPr>
                <p:nvPr>
                  <p:custDataLst>
                    <p:tags r:id="rId5"/>
                  </p:custDataLst>
                </p:nvPr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03161" y="3869126"/>
                  <a:ext cx="1068343" cy="183772"/>
                </a:xfrm>
                <a:prstGeom prst="rect">
                  <a:avLst/>
                </a:prstGeom>
              </p:spPr>
            </p:pic>
          </p:grpSp>
        </p:grpSp>
        <p:sp>
          <p:nvSpPr>
            <p:cNvPr id="38" name="TextBox 37"/>
            <p:cNvSpPr txBox="1"/>
            <p:nvPr/>
          </p:nvSpPr>
          <p:spPr>
            <a:xfrm>
              <a:off x="4872642" y="4168083"/>
              <a:ext cx="24467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Results for one basis state.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1624612" y="4242126"/>
            <a:ext cx="9729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Variance is</a:t>
            </a:r>
            <a:r>
              <a:rPr lang="en-US" sz="2000" b="1" i="1" dirty="0"/>
              <a:t> only </a:t>
            </a:r>
            <a:r>
              <a:rPr lang="en-US" sz="2000" dirty="0"/>
              <a:t>negative near the energetic minimum, suggests </a:t>
            </a:r>
            <a:r>
              <a:rPr lang="en-US" sz="2000" dirty="0">
                <a:solidFill>
                  <a:srgbClr val="0000FF"/>
                </a:solidFill>
              </a:rPr>
              <a:t>downward systematic error</a:t>
            </a:r>
            <a:r>
              <a:rPr lang="en-US" sz="2000" dirty="0"/>
              <a:t>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057009" y="5736576"/>
            <a:ext cx="6565961" cy="822960"/>
            <a:chOff x="3057009" y="5873056"/>
            <a:chExt cx="6565961" cy="822960"/>
          </a:xfrm>
        </p:grpSpPr>
        <p:sp>
          <p:nvSpPr>
            <p:cNvPr id="10" name="TextBox 9"/>
            <p:cNvSpPr txBox="1"/>
            <p:nvPr/>
          </p:nvSpPr>
          <p:spPr>
            <a:xfrm>
              <a:off x="3057009" y="5930593"/>
              <a:ext cx="656596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Perhaps the kinetic part is being underestimated somehow? </a:t>
              </a:r>
            </a:p>
            <a:p>
              <a:pPr algn="ctr"/>
              <a:r>
                <a:rPr lang="en-US" sz="2000" dirty="0"/>
                <a:t>Time to reassess the effective mass equation. 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139589" y="5873056"/>
              <a:ext cx="6400800" cy="822960"/>
            </a:xfrm>
            <a:prstGeom prst="roundRect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5229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A problem with the </a:t>
            </a:r>
            <a:r>
              <a:rPr lang="en-US" dirty="0" err="1"/>
              <a:t>Shindo</a:t>
            </a:r>
            <a:r>
              <a:rPr lang="en-US" dirty="0"/>
              <a:t>-Nara equation?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3360F5-D57F-4567-8650-A84FE4A07D4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110631" y="1983566"/>
            <a:ext cx="7970739" cy="619886"/>
          </a:xfrm>
          <a:prstGeom prst="rect">
            <a:avLst/>
          </a:prstGeom>
        </p:spPr>
      </p:pic>
      <p:grpSp>
        <p:nvGrpSpPr>
          <p:cNvPr id="49" name="Group 48"/>
          <p:cNvGrpSpPr/>
          <p:nvPr/>
        </p:nvGrpSpPr>
        <p:grpSpPr>
          <a:xfrm>
            <a:off x="448786" y="2769770"/>
            <a:ext cx="11294429" cy="646331"/>
            <a:chOff x="308900" y="2769770"/>
            <a:chExt cx="11294429" cy="646331"/>
          </a:xfrm>
        </p:grpSpPr>
        <p:pic>
          <p:nvPicPr>
            <p:cNvPr id="48" name="Picture 47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4189" y="2790532"/>
              <a:ext cx="6569140" cy="60480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308900" y="2769770"/>
              <a:ext cx="45442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It is a reasonable assumption for </a:t>
              </a:r>
              <a:r>
                <a:rPr lang="en-US" dirty="0">
                  <a:solidFill>
                    <a:srgbClr val="7030A0"/>
                  </a:solidFill>
                </a:rPr>
                <a:t>verisimilitude</a:t>
              </a:r>
              <a:r>
                <a:rPr lang="en-US" dirty="0"/>
                <a:t> that the kinetic term </a:t>
              </a:r>
              <a:r>
                <a:rPr lang="en-US" dirty="0">
                  <a:solidFill>
                    <a:srgbClr val="7030A0"/>
                  </a:solidFill>
                </a:rPr>
                <a:t>doesn’t mix the valleys</a:t>
              </a:r>
              <a:r>
                <a:rPr lang="en-US" dirty="0"/>
                <a:t>.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1290325" y="3885825"/>
            <a:ext cx="961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However, to ensure that the </a:t>
            </a:r>
            <a:r>
              <a:rPr lang="en-US" dirty="0">
                <a:solidFill>
                  <a:srgbClr val="0000FF"/>
                </a:solidFill>
              </a:rPr>
              <a:t>variance</a:t>
            </a:r>
            <a:r>
              <a:rPr lang="en-US" dirty="0"/>
              <a:t> is </a:t>
            </a:r>
            <a:r>
              <a:rPr lang="en-US" dirty="0">
                <a:solidFill>
                  <a:srgbClr val="0000FF"/>
                </a:solidFill>
              </a:rPr>
              <a:t>positive definite</a:t>
            </a:r>
            <a:r>
              <a:rPr lang="en-US" dirty="0"/>
              <a:t>, the valley-mixing terms </a:t>
            </a:r>
            <a:r>
              <a:rPr lang="en-US" dirty="0">
                <a:solidFill>
                  <a:srgbClr val="0000FF"/>
                </a:solidFill>
              </a:rPr>
              <a:t>must be kept</a:t>
            </a:r>
            <a:r>
              <a:rPr lang="en-US" dirty="0"/>
              <a:t>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DCBD951-9481-44B5-BF58-58FDCFE0E56F}"/>
              </a:ext>
            </a:extLst>
          </p:cNvPr>
          <p:cNvGrpSpPr/>
          <p:nvPr/>
        </p:nvGrpSpPr>
        <p:grpSpPr>
          <a:xfrm>
            <a:off x="412059" y="4368699"/>
            <a:ext cx="11367883" cy="2313343"/>
            <a:chOff x="412059" y="4368699"/>
            <a:chExt cx="11367883" cy="231334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629AE0A-4D73-406F-8C24-89F6BB38EB2C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819892" y="5860557"/>
              <a:ext cx="8847088" cy="821485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2059" y="4538756"/>
              <a:ext cx="994286" cy="274286"/>
            </a:xfrm>
            <a:prstGeom prst="rect">
              <a:avLst/>
            </a:prstGeom>
          </p:spPr>
        </p:pic>
        <p:pic>
          <p:nvPicPr>
            <p:cNvPr id="39" name="Picture 3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6514" y="5096113"/>
              <a:ext cx="9963428" cy="651429"/>
            </a:xfrm>
            <a:prstGeom prst="rect">
              <a:avLst/>
            </a:prstGeom>
          </p:spPr>
        </p:pic>
        <p:pic>
          <p:nvPicPr>
            <p:cNvPr id="38" name="Picture 3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9892" y="4368699"/>
              <a:ext cx="4391313" cy="6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43962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Sensible variance with multivalley terms</a:t>
            </a: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913" y="2213885"/>
            <a:ext cx="9534174" cy="61851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317540" y="5672083"/>
            <a:ext cx="9556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Including the intervalley terms makes the variance positive-definite over the whole parameter space.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955040" y="3119278"/>
            <a:ext cx="4663440" cy="2286000"/>
            <a:chOff x="1025387" y="3145217"/>
            <a:chExt cx="4663440" cy="2286000"/>
          </a:xfrm>
        </p:grpSpPr>
        <p:grpSp>
          <p:nvGrpSpPr>
            <p:cNvPr id="2" name="Group 1"/>
            <p:cNvGrpSpPr/>
            <p:nvPr/>
          </p:nvGrpSpPr>
          <p:grpSpPr>
            <a:xfrm>
              <a:off x="1127327" y="3286024"/>
              <a:ext cx="4459560" cy="2004387"/>
              <a:chOff x="1127327" y="3245765"/>
              <a:chExt cx="4459560" cy="2004387"/>
            </a:xfrm>
          </p:grpSpPr>
          <p:grpSp>
            <p:nvGrpSpPr>
              <p:cNvPr id="20" name="Group 19"/>
              <p:cNvGrpSpPr/>
              <p:nvPr>
                <p:custDataLst>
                  <p:tags r:id="rId12"/>
                </p:custDataLst>
              </p:nvPr>
            </p:nvGrpSpPr>
            <p:grpSpPr>
              <a:xfrm>
                <a:off x="1659317" y="3752591"/>
                <a:ext cx="3395580" cy="990734"/>
                <a:chOff x="247042" y="3956185"/>
                <a:chExt cx="3395580" cy="990734"/>
              </a:xfrm>
            </p:grpSpPr>
            <p:grpSp>
              <p:nvGrpSpPr>
                <p:cNvPr id="36" name="Group 35"/>
                <p:cNvGrpSpPr/>
                <p:nvPr/>
              </p:nvGrpSpPr>
              <p:grpSpPr>
                <a:xfrm>
                  <a:off x="247043" y="3956185"/>
                  <a:ext cx="3395579" cy="207010"/>
                  <a:chOff x="4398211" y="3114171"/>
                  <a:chExt cx="3395579" cy="207010"/>
                </a:xfrm>
              </p:grpSpPr>
              <p:pic>
                <p:nvPicPr>
                  <p:cNvPr id="47" name="Picture 46"/>
                  <p:cNvPicPr>
                    <a:picLocks noChangeAspect="1"/>
                  </p:cNvPicPr>
                  <p:nvPr>
                    <p:custDataLst>
                      <p:tags r:id="rId19"/>
                    </p:custDataLst>
                  </p:nvPr>
                </p:nvPicPr>
                <p:blipFill>
                  <a:blip r:embed="rId2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8211" y="3131923"/>
                    <a:ext cx="1296000" cy="189258"/>
                  </a:xfrm>
                  <a:prstGeom prst="rect">
                    <a:avLst/>
                  </a:prstGeom>
                </p:spPr>
              </p:pic>
              <p:pic>
                <p:nvPicPr>
                  <p:cNvPr id="48" name="Picture 47"/>
                  <p:cNvPicPr>
                    <a:picLocks noChangeAspect="1"/>
                  </p:cNvPicPr>
                  <p:nvPr>
                    <p:custDataLst>
                      <p:tags r:id="rId20"/>
                    </p:custDataLst>
                  </p:nvPr>
                </p:nvPicPr>
                <p:blipFill>
                  <a:blip r:embed="rId2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403161" y="3114171"/>
                    <a:ext cx="1390629" cy="205715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1" name="Group 40"/>
                <p:cNvGrpSpPr/>
                <p:nvPr>
                  <p:custDataLst>
                    <p:tags r:id="rId13"/>
                  </p:custDataLst>
                </p:nvPr>
              </p:nvGrpSpPr>
              <p:grpSpPr>
                <a:xfrm>
                  <a:off x="247044" y="4348047"/>
                  <a:ext cx="3188493" cy="207010"/>
                  <a:chOff x="4398212" y="3137899"/>
                  <a:chExt cx="3188493" cy="207010"/>
                </a:xfrm>
              </p:grpSpPr>
              <p:pic>
                <p:nvPicPr>
                  <p:cNvPr id="45" name="Picture 44"/>
                  <p:cNvPicPr>
                    <a:picLocks noChangeAspect="1"/>
                  </p:cNvPicPr>
                  <p:nvPr>
                    <p:custDataLst>
                      <p:tags r:id="rId17"/>
                    </p:custDataLst>
                  </p:nvPr>
                </p:nvPicPr>
                <p:blipFill>
                  <a:blip r:embed="rId2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8212" y="3155651"/>
                    <a:ext cx="1302857" cy="189258"/>
                  </a:xfrm>
                  <a:prstGeom prst="rect">
                    <a:avLst/>
                  </a:prstGeom>
                </p:spPr>
              </p:pic>
              <p:pic>
                <p:nvPicPr>
                  <p:cNvPr id="46" name="Picture 45"/>
                  <p:cNvPicPr>
                    <a:picLocks noChangeAspect="1"/>
                  </p:cNvPicPr>
                  <p:nvPr>
                    <p:custDataLst>
                      <p:tags r:id="rId18"/>
                    </p:custDataLst>
                  </p:nvPr>
                </p:nvPicPr>
                <p:blipFill>
                  <a:blip r:embed="rId2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403162" y="3137899"/>
                    <a:ext cx="1183543" cy="183772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" name="Group 18"/>
                <p:cNvGrpSpPr/>
                <p:nvPr>
                  <p:custDataLst>
                    <p:tags r:id="rId14"/>
                  </p:custDataLst>
                </p:nvPr>
              </p:nvGrpSpPr>
              <p:grpSpPr>
                <a:xfrm>
                  <a:off x="247042" y="4739909"/>
                  <a:ext cx="3073294" cy="207010"/>
                  <a:chOff x="247042" y="4739909"/>
                  <a:chExt cx="3073294" cy="207010"/>
                </a:xfrm>
              </p:grpSpPr>
              <p:pic>
                <p:nvPicPr>
                  <p:cNvPr id="5" name="Picture 4"/>
                  <p:cNvPicPr>
                    <a:picLocks noChangeAspect="1"/>
                  </p:cNvPicPr>
                  <p:nvPr>
                    <p:custDataLst>
                      <p:tags r:id="rId15"/>
                    </p:custDataLst>
                  </p:nvPr>
                </p:nvPicPr>
                <p:blipFill>
                  <a:blip r:embed="rId2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47042" y="4757661"/>
                    <a:ext cx="1291886" cy="189258"/>
                  </a:xfrm>
                  <a:prstGeom prst="rect">
                    <a:avLst/>
                  </a:prstGeom>
                </p:spPr>
              </p:pic>
              <p:pic>
                <p:nvPicPr>
                  <p:cNvPr id="17" name="Picture 16"/>
                  <p:cNvPicPr>
                    <a:picLocks noChangeAspect="1"/>
                  </p:cNvPicPr>
                  <p:nvPr>
                    <p:custDataLst>
                      <p:tags r:id="rId16"/>
                    </p:custDataLst>
                  </p:nvPr>
                </p:nvPicPr>
                <p:blipFill>
                  <a:blip r:embed="rId2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251993" y="4739909"/>
                    <a:ext cx="1068343" cy="183772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34" name="TextBox 33"/>
              <p:cNvSpPr txBox="1"/>
              <p:nvPr/>
            </p:nvSpPr>
            <p:spPr>
              <a:xfrm>
                <a:off x="2133749" y="4911598"/>
                <a:ext cx="244671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Results for one basis state.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1127327" y="3245765"/>
                <a:ext cx="44595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i="1" dirty="0"/>
                  <a:t>Without</a:t>
                </a:r>
                <a:r>
                  <a:rPr lang="en-US" dirty="0"/>
                  <a:t> </a:t>
                </a:r>
                <a:r>
                  <a:rPr lang="en-US" dirty="0" err="1"/>
                  <a:t>intervalley</a:t>
                </a:r>
                <a:r>
                  <a:rPr lang="en-US" dirty="0"/>
                  <a:t> kinetic and overlap terms</a:t>
                </a:r>
              </a:p>
            </p:txBody>
          </p:sp>
        </p:grpSp>
        <p:sp>
          <p:nvSpPr>
            <p:cNvPr id="31" name="Rounded Rectangle 30"/>
            <p:cNvSpPr/>
            <p:nvPr/>
          </p:nvSpPr>
          <p:spPr>
            <a:xfrm>
              <a:off x="1025387" y="3145217"/>
              <a:ext cx="4663440" cy="2286000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00FF"/>
                </a:solidFill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573520" y="3119278"/>
            <a:ext cx="4663440" cy="2286000"/>
            <a:chOff x="6582380" y="3093339"/>
            <a:chExt cx="4663440" cy="2286000"/>
          </a:xfrm>
        </p:grpSpPr>
        <p:grpSp>
          <p:nvGrpSpPr>
            <p:cNvPr id="11" name="Group 10"/>
            <p:cNvGrpSpPr/>
            <p:nvPr/>
          </p:nvGrpSpPr>
          <p:grpSpPr>
            <a:xfrm>
              <a:off x="6812840" y="3234146"/>
              <a:ext cx="4202521" cy="2004387"/>
              <a:chOff x="6533212" y="3245765"/>
              <a:chExt cx="4202521" cy="2004387"/>
            </a:xfrm>
          </p:grpSpPr>
          <p:grpSp>
            <p:nvGrpSpPr>
              <p:cNvPr id="13" name="Group 12"/>
              <p:cNvGrpSpPr/>
              <p:nvPr>
                <p:custDataLst>
                  <p:tags r:id="rId2"/>
                </p:custDataLst>
              </p:nvPr>
            </p:nvGrpSpPr>
            <p:grpSpPr>
              <a:xfrm>
                <a:off x="7097825" y="3752591"/>
                <a:ext cx="3073294" cy="990734"/>
                <a:chOff x="4398211" y="3988219"/>
                <a:chExt cx="3073294" cy="990734"/>
              </a:xfrm>
            </p:grpSpPr>
            <p:grpSp>
              <p:nvGrpSpPr>
                <p:cNvPr id="30" name="Group 29"/>
                <p:cNvGrpSpPr/>
                <p:nvPr>
                  <p:custDataLst>
                    <p:tags r:id="rId3"/>
                  </p:custDataLst>
                </p:nvPr>
              </p:nvGrpSpPr>
              <p:grpSpPr>
                <a:xfrm>
                  <a:off x="4398211" y="3988219"/>
                  <a:ext cx="3073294" cy="207010"/>
                  <a:chOff x="4398211" y="4254204"/>
                  <a:chExt cx="3073294" cy="207010"/>
                </a:xfrm>
              </p:grpSpPr>
              <p:pic>
                <p:nvPicPr>
                  <p:cNvPr id="25" name="Picture 24"/>
                  <p:cNvPicPr>
                    <a:picLocks noChangeAspect="1"/>
                  </p:cNvPicPr>
                  <p:nvPr>
                    <p:custDataLst>
                      <p:tags r:id="rId10"/>
                    </p:custDataLst>
                  </p:nvPr>
                </p:nvPicPr>
                <p:blipFill>
                  <a:blip r:embed="rId3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8211" y="4271956"/>
                    <a:ext cx="1296000" cy="189258"/>
                  </a:xfrm>
                  <a:prstGeom prst="rect">
                    <a:avLst/>
                  </a:prstGeom>
                </p:spPr>
              </p:pic>
              <p:pic>
                <p:nvPicPr>
                  <p:cNvPr id="29" name="Picture 28"/>
                  <p:cNvPicPr>
                    <a:picLocks noChangeAspect="1"/>
                  </p:cNvPicPr>
                  <p:nvPr>
                    <p:custDataLst>
                      <p:tags r:id="rId11"/>
                    </p:custDataLst>
                  </p:nvPr>
                </p:nvPicPr>
                <p:blipFill>
                  <a:blip r:embed="rId3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403162" y="4254204"/>
                    <a:ext cx="1068343" cy="183772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0" name="Group 39"/>
                <p:cNvGrpSpPr/>
                <p:nvPr>
                  <p:custDataLst>
                    <p:tags r:id="rId4"/>
                  </p:custDataLst>
                </p:nvPr>
              </p:nvGrpSpPr>
              <p:grpSpPr>
                <a:xfrm>
                  <a:off x="4398211" y="4380081"/>
                  <a:ext cx="3073294" cy="207010"/>
                  <a:chOff x="4398211" y="4380081"/>
                  <a:chExt cx="3073294" cy="207010"/>
                </a:xfrm>
              </p:grpSpPr>
              <p:pic>
                <p:nvPicPr>
                  <p:cNvPr id="33" name="Picture 32"/>
                  <p:cNvPicPr>
                    <a:picLocks noChangeAspect="1"/>
                  </p:cNvPicPr>
                  <p:nvPr>
                    <p:custDataLst>
                      <p:tags r:id="rId8"/>
                    </p:custDataLst>
                  </p:nvPr>
                </p:nvPicPr>
                <p:blipFill>
                  <a:blip r:embed="rId3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8211" y="4397833"/>
                    <a:ext cx="1302857" cy="189258"/>
                  </a:xfrm>
                  <a:prstGeom prst="rect">
                    <a:avLst/>
                  </a:prstGeom>
                </p:spPr>
              </p:pic>
              <p:pic>
                <p:nvPicPr>
                  <p:cNvPr id="21" name="Picture 20"/>
                  <p:cNvPicPr>
                    <a:picLocks noChangeAspect="1"/>
                  </p:cNvPicPr>
                  <p:nvPr>
                    <p:custDataLst>
                      <p:tags r:id="rId9"/>
                    </p:custDataLst>
                  </p:nvPr>
                </p:nvPicPr>
                <p:blipFill>
                  <a:blip r:embed="rId3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403162" y="4380081"/>
                    <a:ext cx="1068343" cy="183772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" name="Group 11"/>
                <p:cNvGrpSpPr/>
                <p:nvPr>
                  <p:custDataLst>
                    <p:tags r:id="rId5"/>
                  </p:custDataLst>
                </p:nvPr>
              </p:nvGrpSpPr>
              <p:grpSpPr>
                <a:xfrm>
                  <a:off x="4398212" y="4771943"/>
                  <a:ext cx="3073292" cy="207010"/>
                  <a:chOff x="4398212" y="4771943"/>
                  <a:chExt cx="3073292" cy="207010"/>
                </a:xfrm>
              </p:grpSpPr>
              <p:pic>
                <p:nvPicPr>
                  <p:cNvPr id="3" name="Picture 2"/>
                  <p:cNvPicPr>
                    <a:picLocks noChangeAspect="1"/>
                  </p:cNvPicPr>
                  <p:nvPr>
                    <p:custDataLst>
                      <p:tags r:id="rId6"/>
                    </p:custDataLst>
                  </p:nvPr>
                </p:nvPicPr>
                <p:blipFill>
                  <a:blip r:embed="rId3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98212" y="4789695"/>
                    <a:ext cx="1291885" cy="189258"/>
                  </a:xfrm>
                  <a:prstGeom prst="rect">
                    <a:avLst/>
                  </a:prstGeom>
                </p:spPr>
              </p:pic>
              <p:pic>
                <p:nvPicPr>
                  <p:cNvPr id="10" name="Picture 9"/>
                  <p:cNvPicPr>
                    <a:picLocks noChangeAspect="1"/>
                  </p:cNvPicPr>
                  <p:nvPr>
                    <p:custDataLst>
                      <p:tags r:id="rId7"/>
                    </p:custDataLst>
                  </p:nvPr>
                </p:nvPicPr>
                <p:blipFill>
                  <a:blip r:embed="rId3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403161" y="4771943"/>
                    <a:ext cx="1068343" cy="183772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32" name="TextBox 31"/>
              <p:cNvSpPr txBox="1"/>
              <p:nvPr/>
            </p:nvSpPr>
            <p:spPr>
              <a:xfrm>
                <a:off x="7411114" y="4911598"/>
                <a:ext cx="244671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Results for one basis state.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6533212" y="3245765"/>
                <a:ext cx="42025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i="1" dirty="0"/>
                  <a:t>With</a:t>
                </a:r>
                <a:r>
                  <a:rPr lang="en-US" dirty="0"/>
                  <a:t> </a:t>
                </a:r>
                <a:r>
                  <a:rPr lang="en-US" dirty="0" err="1"/>
                  <a:t>intervalley</a:t>
                </a:r>
                <a:r>
                  <a:rPr lang="en-US" dirty="0"/>
                  <a:t> kinetic and overlap terms</a:t>
                </a:r>
              </a:p>
            </p:txBody>
          </p:sp>
        </p:grpSp>
        <p:sp>
          <p:nvSpPr>
            <p:cNvPr id="37" name="Rounded Rectangle 36"/>
            <p:cNvSpPr/>
            <p:nvPr/>
          </p:nvSpPr>
          <p:spPr>
            <a:xfrm>
              <a:off x="6582380" y="3093339"/>
              <a:ext cx="4663440" cy="2286000"/>
            </a:xfrm>
            <a:prstGeom prst="roundRect">
              <a:avLst/>
            </a:prstGeom>
            <a:noFill/>
            <a:ln w="25400">
              <a:solidFill>
                <a:srgbClr val="00CC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00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44776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Losing verisimilitude for a more consistent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3415" y="2070694"/>
            <a:ext cx="2685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Is this a fruitful course?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69580" y="4054731"/>
            <a:ext cx="11652840" cy="1170684"/>
            <a:chOff x="269580" y="4235218"/>
            <a:chExt cx="11652840" cy="1170684"/>
          </a:xfrm>
        </p:grpSpPr>
        <p:sp>
          <p:nvSpPr>
            <p:cNvPr id="11" name="TextBox 10"/>
            <p:cNvSpPr txBox="1"/>
            <p:nvPr/>
          </p:nvSpPr>
          <p:spPr>
            <a:xfrm>
              <a:off x="269580" y="4466617"/>
              <a:ext cx="278271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Is the </a:t>
              </a:r>
              <a:r>
                <a:rPr lang="en-US" sz="2000" dirty="0" err="1"/>
                <a:t>wavefunction</a:t>
              </a:r>
              <a:r>
                <a:rPr lang="en-US" sz="2000" dirty="0"/>
                <a:t> collapse </a:t>
              </a:r>
              <a:r>
                <a:rPr lang="en-US" sz="2000" dirty="0">
                  <a:solidFill>
                    <a:srgbClr val="0000FF"/>
                  </a:solidFill>
                </a:rPr>
                <a:t>inconsistent</a:t>
              </a:r>
              <a:r>
                <a:rPr lang="en-US" sz="2000" dirty="0"/>
                <a:t>?</a:t>
              </a: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3321871" y="4235218"/>
              <a:ext cx="8600549" cy="1170684"/>
              <a:chOff x="2902829" y="4258079"/>
              <a:chExt cx="8600549" cy="1170684"/>
            </a:xfrm>
          </p:grpSpPr>
          <p:sp>
            <p:nvSpPr>
              <p:cNvPr id="31" name="TextBox 30"/>
              <p:cNvSpPr txBox="1"/>
              <p:nvPr/>
            </p:nvSpPr>
            <p:spPr>
              <a:xfrm>
                <a:off x="4194615" y="4782432"/>
                <a:ext cx="601697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</a:rPr>
                  <a:t>Only portions of the state space that have small </a:t>
                </a:r>
                <a:r>
                  <a:rPr lang="en-US" b="1" dirty="0" err="1">
                    <a:solidFill>
                      <a:schemeClr val="accent3">
                        <a:lumMod val="75000"/>
                      </a:schemeClr>
                    </a:solidFill>
                  </a:rPr>
                  <a:t>intervalley</a:t>
                </a:r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</a:rPr>
                  <a:t> kinetic contributions should be </a:t>
                </a:r>
                <a:r>
                  <a:rPr lang="en-US" b="1" i="1" dirty="0">
                    <a:solidFill>
                      <a:schemeClr val="accent3">
                        <a:lumMod val="75000"/>
                      </a:schemeClr>
                    </a:solidFill>
                  </a:rPr>
                  <a:t>a priori</a:t>
                </a:r>
                <a:r>
                  <a:rPr lang="en-US" b="1" dirty="0">
                    <a:solidFill>
                      <a:schemeClr val="accent3">
                        <a:lumMod val="75000"/>
                      </a:schemeClr>
                    </a:solidFill>
                  </a:rPr>
                  <a:t> accepted as an ansatz.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2902829" y="4258079"/>
                <a:ext cx="86005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Issue resolved by noting that </a:t>
                </a:r>
                <a:r>
                  <a:rPr lang="en-US" i="1" dirty="0"/>
                  <a:t>not all points</a:t>
                </a:r>
                <a:r>
                  <a:rPr lang="en-US" dirty="0"/>
                  <a:t> in the variational state space are valid.</a:t>
                </a:r>
              </a:p>
            </p:txBody>
          </p:sp>
        </p:grpSp>
      </p:grpSp>
      <p:grpSp>
        <p:nvGrpSpPr>
          <p:cNvPr id="8" name="Group 7"/>
          <p:cNvGrpSpPr/>
          <p:nvPr/>
        </p:nvGrpSpPr>
        <p:grpSpPr>
          <a:xfrm>
            <a:off x="1610184" y="3087244"/>
            <a:ext cx="8971633" cy="646331"/>
            <a:chOff x="1473968" y="3133976"/>
            <a:chExt cx="8971633" cy="646331"/>
          </a:xfrm>
        </p:grpSpPr>
        <p:sp>
          <p:nvSpPr>
            <p:cNvPr id="14" name="TextBox 13"/>
            <p:cNvSpPr txBox="1"/>
            <p:nvPr/>
          </p:nvSpPr>
          <p:spPr>
            <a:xfrm>
              <a:off x="1473968" y="3257086"/>
              <a:ext cx="21950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A problem</a:t>
              </a:r>
              <a:r>
                <a:rPr lang="en-US" sz="2000" dirty="0"/>
                <a:t>: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70599" y="3133976"/>
              <a:ext cx="55750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Results are a worse match for experimental energies.</a:t>
              </a:r>
            </a:p>
            <a:p>
              <a:pPr algn="ctr"/>
              <a:r>
                <a:rPr lang="en-US" dirty="0"/>
                <a:t>(E</a:t>
              </a:r>
              <a:r>
                <a:rPr lang="en-US" baseline="-25000" dirty="0"/>
                <a:t>A</a:t>
              </a:r>
              <a:r>
                <a:rPr lang="en-US" dirty="0"/>
                <a:t> is </a:t>
              </a:r>
              <a:r>
                <a:rPr lang="en-US" i="1" dirty="0"/>
                <a:t>highest</a:t>
              </a:r>
              <a:r>
                <a:rPr lang="en-US" dirty="0"/>
                <a:t>, not lowest energy!)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05556" y="5522040"/>
            <a:ext cx="10780888" cy="646331"/>
            <a:chOff x="705556" y="5781687"/>
            <a:chExt cx="10780888" cy="646331"/>
          </a:xfrm>
        </p:grpSpPr>
        <p:sp>
          <p:nvSpPr>
            <p:cNvPr id="13" name="TextBox 12"/>
            <p:cNvSpPr txBox="1"/>
            <p:nvPr/>
          </p:nvSpPr>
          <p:spPr>
            <a:xfrm>
              <a:off x="705556" y="5904797"/>
              <a:ext cx="27827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Improving </a:t>
              </a:r>
              <a:r>
                <a:rPr lang="en-US" sz="2000" dirty="0" err="1">
                  <a:solidFill>
                    <a:srgbClr val="7030A0"/>
                  </a:solidFill>
                </a:rPr>
                <a:t>versimilitude</a:t>
              </a:r>
              <a:r>
                <a:rPr lang="en-US" sz="2000" dirty="0"/>
                <a:t>?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193823" y="5781687"/>
              <a:ext cx="7292621" cy="646331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The </a:t>
              </a:r>
              <a:r>
                <a:rPr lang="en-US" dirty="0">
                  <a:solidFill>
                    <a:srgbClr val="7030A0"/>
                  </a:solidFill>
                </a:rPr>
                <a:t>most appropriate form </a:t>
              </a:r>
              <a:r>
                <a:rPr lang="en-US" dirty="0"/>
                <a:t>of the effective potential is still unknown.</a:t>
              </a:r>
            </a:p>
            <a:p>
              <a:pPr algn="ctr"/>
              <a:r>
                <a:rPr lang="en-US" dirty="0"/>
                <a:t>May be possible to regain verisimilitude by finding useful effective potential.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94745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7131"/>
  <p:tag name="ORIGINALWIDTH" val="2646.419"/>
  <p:tag name="LATEXADDIN" val="\documentclass{article}&#10;\usepackage{amsmath}&#10;\pagestyle{empty}&#10;\begin{document}&#10;&#10;&#10;\begin{equation*}&#10;\mathcal{H} = \sum_{ij}\sum_{\mu\nu} h_{ij}^{(\mu\nu)} c_{i\mu}^{\dag}c_{j\nu} &#10;+ \sum_{i\nu} U_{\text{impurity}}\left(R_{i}\right)c_{i\nu}^{\dag}c_{i\nu}&#10;\end{equation*}&#10;&#10;&#10;\end{document}"/>
  <p:tag name="IGUANATEXSIZE" val="20"/>
  <p:tag name="IGUANATEXCURSOR" val="194"/>
  <p:tag name="TRANSPARENCY" val="True"/>
  <p:tag name="FILENAME" val=""/>
  <p:tag name="LATEXENGINEID" val="0"/>
  <p:tag name="TEMPFOLDER" val="c:\temp\"/>
  <p:tag name="LATEXFORMHEIGHT" val="312"/>
  <p:tag name="LATEXFORMWIDTH" val="1076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6.2167"/>
  <p:tag name="ORIGINALWIDTH" val="1420.323"/>
  <p:tag name="LATEXADDIN" val="\documentclass{article}&#10;\usepackage{amsmath,bm}&#10;\pagestyle{empty}&#10;\begin{document}&#10;&#10;&#10;\begin{equation*}&#10;\Psi\left(\bm{r}\right) = \sum_{i\nu} a_{i\nu}\phi_{\nu}\left(\bm{r}-\bm{R}_{i}\right)&#10;\end{equation*}&#10;&#10;&#10;\end{document}"/>
  <p:tag name="IGUANATEXSIZE" val="20"/>
  <p:tag name="IGUANATEXCURSOR" val="205"/>
  <p:tag name="TRANSPARENCY" val="True"/>
  <p:tag name="FILENAME" val=""/>
  <p:tag name="LATEXENGINEID" val="0"/>
  <p:tag name="TEMPFOLDER" val="c:\temp\"/>
  <p:tag name="LATEXFORMHEIGHT" val="312"/>
  <p:tag name="LATEXFORMWIDTH" val="1076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3.4608"/>
  <p:tag name="ORIGINALWIDTH" val="1841.77"/>
  <p:tag name="LATEXADDIN" val="\documentclass{article}&#10;\usepackage{amsmath,bm}&#10;\pagestyle{empty}&#10;\begin{document}&#10;&#10;&#10;\begin{equation*}&#10;\Psi\left(\bm{r}\right) = \int_{\text{BZ}}\mathrm{d}\bm{k}\sum_{n} a_{n\bm{k}}\mathrm{e}^{\mathrm{i}\bm{k}\cdot\bm{r}}u_{n\bm{k}}\left(\bm{r}\right)&#10;\end{equation*}&#10;&#10;&#10;\end{document}"/>
  <p:tag name="IGUANATEXSIZE" val="20"/>
  <p:tag name="IGUANATEXCURSOR" val="180"/>
  <p:tag name="TRANSPARENCY" val="True"/>
  <p:tag name="FILENAME" val=""/>
  <p:tag name="LATEXENGINEID" val="0"/>
  <p:tag name="TEMPFOLDER" val="c:\temp\"/>
  <p:tag name="LATEXFORMHEIGHT" val="312"/>
  <p:tag name="LATEXFORMWIDTH" val="1076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4.4657"/>
  <p:tag name="ORIGINALWIDTH" val="1787.776"/>
  <p:tag name="LATEXADDIN" val="\documentclass{article}&#10;\usepackage{amsmath,bm}&#10;\pagestyle{empty}&#10;\begin{document}&#10;&#10;&#10;\begin{equation*}&#10;\mathcal{H}&#10;=&#10;\frac{p^{2}}{2m} + V_{\text{crystal}} + U_{\text{impurity}}\left(\bm{r}\right) &#10;\end{equation*}&#10;&#10;&#10;\end{document}"/>
  <p:tag name="IGUANATEXSIZE" val="20"/>
  <p:tag name="IGUANATEXCURSOR" val="116"/>
  <p:tag name="TRANSPARENCY" val="True"/>
  <p:tag name="FILENAME" val=""/>
  <p:tag name="LATEXENGINEID" val="0"/>
  <p:tag name="TEMPFOLDER" val="c:\temp\"/>
  <p:tag name="LATEXFORMHEIGHT" val="312"/>
  <p:tag name="LATEXFORMWIDTH" val="1076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3.4608"/>
  <p:tag name="ORIGINALWIDTH" val="1389.576"/>
  <p:tag name="LATEXADDIN" val="\documentclass{article}&#10;\usepackage{amsmath,braket,bm}&#10;\pagestyle{empty}&#10;\begin{document}&#10;&#10;\begin{equation*}&#10;\ket{\Psi}&#10;=&#10;\sum_{n}\int_{\text{BZ}}\mathrm{d}\bm{k}\,&#10;A_{n\bm{k}}\ket{n\bm{k}}&#10;\end{equation*}&#10;&#10;\end{document}"/>
  <p:tag name="IGUANATEXSIZE" val="20"/>
  <p:tag name="IGUANATEXCURSOR" val="17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043.12"/>
  <p:tag name="LATEXADDIN" val="\documentclass{article}&#10;\usepackage{amsmath,braket,bm}&#10;\pagestyle{empty}&#10;\begin{document}&#10;&#10;\begin{equation*}&#10;\mathcal{H}_{0}\ket{n\bm{k}} = E_{n\bm{k}}\ket{n\bm{k}}&#10;\end{equation*}&#10;&#10;\end{document}"/>
  <p:tag name="IGUANATEXSIZE" val="20"/>
  <p:tag name="IGUANATEXCURSOR" val="14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0.465"/>
  <p:tag name="ORIGINALWIDTH" val="2278.215"/>
  <p:tag name="LATEXADDIN" val="\documentclass{article}&#10;\usepackage{amsmath,braket,bm}&#10;\pagestyle{empty}&#10;\begin{document}&#10;&#10;\begin{equation*}&#10;\braket{\bm{r}|n\bm{k}}&#10;=&#10;\mathrm{e}^{\mathrm{i}\bm{k}\cdot\bm{r}}&#10;u_{n\bm{k}}\left(\bm{r}\right)&#10;=&#10;\sum_{\bm{G}}C_{\bm{k}+\bm{G}}^{(n)}\mathrm{e}^{\mathrm{i}\left(\bm{k}+\bm{G}\right)\cdot\bm{r}}&#10;\end{equation*}&#10;&#10;\end{document}"/>
  <p:tag name="IGUANATEXSIZE" val="20"/>
  <p:tag name="IGUANATEXCURSOR" val="245"/>
  <p:tag name="TRANSPARENCY" val="True"/>
  <p:tag name="FILENAME" val=""/>
  <p:tag name="LATEXENGINEID" val="0"/>
  <p:tag name="TEMPFOLDER" val="c:\temp\"/>
  <p:tag name="LATEXFORMHEIGHT" val="312"/>
  <p:tag name="LATEXFORMWIDTH" val="1201.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147.7315"/>
  <p:tag name="LATEXADDIN" val="\documentclass{article}&#10;\usepackage{amsmath,braket,bm}&#10;\pagestyle{empty}&#10;\begin{document}&#10;&#10;\begin{equation*}&#10;\mathcal{H}_{0}&#10;\end{equation*}&#10;&#10;\end{document}"/>
  <p:tag name="IGUANATEXSIZE" val="18"/>
  <p:tag name="IGUANATEXCURSOR" val="12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07.724"/>
  <p:tag name="LATEXADDIN" val="\documentclass{article}&#10;\usepackage{amsmath,braket,bm}&#10;\pagestyle{empty}&#10;\begin{document}&#10;&#10;\begin{equation*}&#10;\ket{n\bm{k}}&#10;\end{equation*}&#10;&#10;\end{document}"/>
  <p:tag name="IGUANATEXSIZE" val="18"/>
  <p:tag name="IGUANATEXCURSOR" val="10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07.724"/>
  <p:tag name="LATEXADDIN" val="\documentclass{article}&#10;\usepackage{amsmath,braket,bm}&#10;\pagestyle{empty}&#10;\begin{document}&#10;&#10;\begin{equation*}&#10;\ket{n\bm{k}}&#10;\end{equation*}&#10;&#10;\end{document}"/>
  <p:tag name="IGUANATEXSIZE" val="18"/>
  <p:tag name="IGUANATEXCURSOR" val="10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0.7086"/>
  <p:tag name="ORIGINALWIDTH" val="3140.607"/>
  <p:tag name="LATEXADDIN" val="\documentclass{article}&#10;\usepackage{amsmath,braket,bm}&#10;\pagestyle{empty}&#10;\begin{document}&#10;&#10;\begin{equation*}&#10;\ket{\Psi}&#10;=&#10;\sum_{n}\int_{\text{BZ}}\mathrm{d}\bm{k}\,&#10;A_{n\bm{k}}\ket{n\bm{k}}&#10;\Longrightarrow&#10;\sum_{q=x,y,z}&#10;\sum_{s=\pm}&#10;\int_{\text{BZ}}\mathrm{d}\bm{k}\,&#10;A_{sq\bm{k}}\ket{0\bm{k}}&#10;\end{equation*}&#10;&#10;\end{document}"/>
  <p:tag name="IGUANATEXSIZE" val="20"/>
  <p:tag name="IGUANATEXCURSOR" val="28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23.922"/>
  <p:tag name="ORIGINALWIDTH" val="2239.22"/>
  <p:tag name="LATEXADDIN" val="\documentclass{article}&#10;\usepackage{amsmath,braket,bm}&#10;\pagestyle{empty}&#10;\begin{document}&#10;&#10;\begin{align*}&#10;\braket{\bm{r}|\Psi}&#10;&amp; \approx&#10;\sum_{q=x,y,z}&#10;\sum_{s=\pm}&#10;F_{sq}\left(\bm{r}\right)&#10;\mathrm{e}^{\mathrm{i}\bm{k}_{sq}\cdot\bm{r}}&#10;u_{\bm{k}_{sq}}\left(\bm{r}\right)&#10;\\&#10;F_{sq}\left(\bm{r}\right)&#10;&amp; \equiv&#10;\int_{\text{BZ}}\mathrm{d}\bm{k}\,&#10;A_{sq}\left(\bm{k}\right)&#10;\mathrm{e}^{\mathrm{i}\left(\bm{k}-\bm{k}_{sq}\right)\cdot\bm{r}}&#10;\end{align*}&#10;&#10;\end{document}"/>
  <p:tag name="IGUANATEXSIZE" val="20"/>
  <p:tag name="IGUANATEXCURSOR" val="126"/>
  <p:tag name="TRANSPARENCY" val="True"/>
  <p:tag name="FILENAME" val=""/>
  <p:tag name="LATEXENGINEID" val="0"/>
  <p:tag name="TEMPFOLDER" val="c:\temp\"/>
  <p:tag name="LATEXFORMHEIGHT" val="564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4.4657"/>
  <p:tag name="ORIGINALWIDTH" val="698.1628"/>
  <p:tag name="LATEXADDIN" val="\documentclass{article}&#10;\usepackage{amsmath,braket,bm}&#10;\pagestyle{empty}&#10;\begin{document}&#10;&#10;\begin{equation*}&#10;\mathcal{U}\left(r\right)&#10;=&#10;\frac{-e^{2}}{4\pi\epsilon r}&#10;\end{equation*}&#10;&#10;\end{document}"/>
  <p:tag name="IGUANATEXSIZE" val="20"/>
  <p:tag name="IGUANATEXCURSOR" val="11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.48898"/>
  <p:tag name="ORIGINALWIDTH" val="88.48898"/>
  <p:tag name="LATEXADDIN" val="\documentclass{article}&#10;\usepackage{amsmath,braket,bm}&#10;\pagestyle{empty}&#10;\begin{document}&#10;&#10;\begin{equation*}&#10;\mathcal{U}&#10;\end{equation*}&#10;&#10;\end{document}"/>
  <p:tag name="IGUANATEXSIZE" val="18"/>
  <p:tag name="IGUANATEXCURSOR" val="11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147.7315"/>
  <p:tag name="LATEXADDIN" val="\documentclass{article}&#10;\usepackage{amsmath,braket,bm}&#10;\pagestyle{empty}&#10;\begin{document}&#10;&#10;\begin{equation*}&#10;\mathcal{H}_{0}&#10;\end{equation*}&#10;&#10;\end{document}"/>
  <p:tag name="IGUANATEXSIZE" val="20"/>
  <p:tag name="IGUANATEXCURSOR" val="12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669.6663"/>
  <p:tag name="LATEXADDIN" val="\documentclass{article}&#10;\usepackage{amsmath,braket,bm}&#10;\pagestyle{empty}&#10;\begin{document}&#10;&#10;\begin{equation*}&#10;\mathcal{H}&#10;=&#10;\mathcal{H}_{0}&#10;+&#10;\mathcal{U}&#10;\end{equation*}&#10;&#10;\end{document}"/>
  <p:tag name="IGUANATEXSIZE" val="20"/>
  <p:tag name="IGUANATEXCURSOR" val="15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734.9081"/>
  <p:tag name="LATEXADDIN" val="\documentclass{article}&#10;\usepackage{amsmath,braket,bm}&#10;\pagestyle{empty}&#10;\begin{document}&#10;&#10;\begin{equation*}&#10;\mathcal{H}\ket{\Psi}&#10;=&#10;\mathcal{E}\ket{\Psi}&#10;\end{equation*}&#10;&#10;\end{document}"/>
  <p:tag name="IGUANATEXSIZE" val="20"/>
  <p:tag name="IGUANATEXCURSOR" val="14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48.6314"/>
  <p:tag name="ORIGINALWIDTH" val="2674.916"/>
  <p:tag name="LATEXADDIN" val="\documentclass{article}&#10;\usepackage{amsmath,braket,bm}&#10;\pagestyle{empty}&#10;\begin{document}&#10;&#10;\begin{align*}&#10;\mathcal{U}\left(r\right)&#10;&amp;=&#10;\frac{-e^{2}}{4\pi\epsilon r}\left(1 - \mathrm{e}^{-br} + B r \mathrm{e}^{-br}\right) \\&#10;\mathcal{U}\left(r\right)&#10;&amp;=&#10;\frac{-e^{2}}{4\pi\epsilon r}\left(1 - \mathrm{e}^{-br} + \frac{\epsilon}{\epsilon_{0}} \mathrm{e}^{-br}\right)&#10;\\&#10;\mathcal{U}\left(r\right)&#10;&amp;=&#10;\frac{-e^{2}}{4\pi\epsilon r}\left(1 + A\epsilon\mathrm{e}^{-ar} + \left(1-A\right)\epsilon\mathrm{e}^{-br} - \mathrm{e}^{-cr}\right)&#10;\end{align*}&#10;&#10;\end{document}"/>
  <p:tag name="IGUANATEXSIZE" val="20"/>
  <p:tag name="IGUANATEXCURSOR" val="378"/>
  <p:tag name="TRANSPARENCY" val="True"/>
  <p:tag name="FILENAME" val=""/>
  <p:tag name="LATEXENGINEID" val="0"/>
  <p:tag name="TEMPFOLDER" val="c:\temp\"/>
  <p:tag name="LATEXFORMHEIGHT" val="312"/>
  <p:tag name="LATEXFORMWIDTH" val="1241.2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4.4657"/>
  <p:tag name="ORIGINALWIDTH" val="1946.757"/>
  <p:tag name="LATEXADDIN" val="\documentclass{article}&#10;\usepackage{amsmath,braket,bm}&#10;\pagestyle{empty}&#10;\begin{document}&#10;&#10;\begin{equation*}&#10;\mathcal{U}\left(r\right)&#10;=&#10;\frac{-e^{2}}{4\pi\epsilon r}&#10;+ V_{\text{P}}^{\text{core}}\left(\bm{r}\right) - V_{\text{Si}}^{\text{core}}\left(\bm{r}\right)&#10;\end{equation*}&#10;&#10;\end{document}"/>
  <p:tag name="IGUANATEXSIZE" val="20"/>
  <p:tag name="IGUANATEXCURSOR" val="119"/>
  <p:tag name="TRANSPARENCY" val="True"/>
  <p:tag name="FILENAME" val=""/>
  <p:tag name="LATEXENGINEID" val="0"/>
  <p:tag name="TEMPFOLDER" val="c:\temp\"/>
  <p:tag name="LATEXFORMHEIGHT" val="312"/>
  <p:tag name="LATEXFORMWIDTH" val="1182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855.268"/>
  <p:tag name="LATEXADDIN" val="\documentclass{article}&#10;\usepackage{amsmath,braket,bm}&#10;\pagestyle{empty}&#10;\begin{document}&#10;&#10;&#10;&#10;\begin{equation*}&#10;\mathcal{U}\left(r\right)&#10;=&#10;\begin{cases}&#10;U_{1}\cos\left(kr\right) + U_{1} &amp; r \le r_{c} \\&#10;\frac{-e^{2}}{4\pi\epsilon r} &amp; r_{c} &lt; r \\&#10;\end{cases}&#10;\end{equation*}&#10;&#10;\end{document}"/>
  <p:tag name="IGUANATEXSIZE" val="20"/>
  <p:tag name="IGUANATEXCURSOR" val="181"/>
  <p:tag name="TRANSPARENCY" val="True"/>
  <p:tag name="FILENAME" val=""/>
  <p:tag name="LATEXENGINEID" val="0"/>
  <p:tag name="TEMPFOLDER" val="c:\temp\"/>
  <p:tag name="LATEXFORMHEIGHT" val="312"/>
  <p:tag name="LATEXFORMWIDTH" val="1176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1.4548"/>
  <p:tag name="ORIGINALWIDTH" val="2610.424"/>
  <p:tag name="LATEXADDIN" val="\documentclass{article}&#10;\usepackage{amsmath,braket,bm}&#10;\pagestyle{empty}&#10;\begin{document}&#10;&#10;\begin{equation*}&#10;\mathcal{U}\left(r\right)&#10;=&#10;\frac{-e^{2}}{4\pi\epsilon r}&#10;+&#10;A_{0}\mathrm{e}^{-r^{2}/2a^{2}}&#10;+&#10;A_{1}\sum_{i=1}^{4}\mathrm{e}^{-\left|\bm{r}-b\bm{t}_{i}\right|/2c^{2}}&#10;\end{equation*}&#10;&#10;\end{document}"/>
  <p:tag name="IGUANATEXSIZE" val="20"/>
  <p:tag name="IGUANATEXCURSOR" val="118"/>
  <p:tag name="TRANSPARENCY" val="True"/>
  <p:tag name="FILENAME" val=""/>
  <p:tag name="LATEXENGINEID" val="0"/>
  <p:tag name="TEMPFOLDER" val="c:\temp\"/>
  <p:tag name="LATEXFORMHEIGHT" val="312"/>
  <p:tag name="LATEXFORMWIDTH" val="1176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.48898"/>
  <p:tag name="ORIGINALWIDTH" val="88.48898"/>
  <p:tag name="LATEXADDIN" val="\documentclass{article}&#10;\usepackage{amsmath,braket,bm}&#10;\pagestyle{empty}&#10;\begin{document}&#10;&#10;\begin{equation*}&#10;\mathcal{U}&#10;\end{equation*}&#10;&#10;\end{document}"/>
  <p:tag name="IGUANATEXSIZE" val="18"/>
  <p:tag name="IGUANATEXCURSOR" val="11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.48898"/>
  <p:tag name="ORIGINALWIDTH" val="88.48898"/>
  <p:tag name="LATEXADDIN" val="\documentclass{article}&#10;\usepackage{amsmath,braket,bm}&#10;\pagestyle{empty}&#10;\begin{document}&#10;&#10;\begin{equation*}&#10;\mathcal{U}&#10;\end{equation*}&#10;&#10;\end{document}"/>
  <p:tag name="IGUANATEXSIZE" val="18"/>
  <p:tag name="IGUANATEXCURSOR" val="11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52.2309"/>
  <p:tag name="LATEXADDIN" val="\documentclass{article}&#10;\usepackage{amsmath,braket,bm}&#10;\pagestyle{empty}&#10;\begin{document}&#10;&#10;\begin{equation*}&#10;\ket{\Psi}&#10;\end{equation*}&#10;&#10;\end{document}"/>
  <p:tag name="IGUANATEXSIZE" val="18"/>
  <p:tag name="IGUANATEXCURSOR" val="11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45.9692"/>
  <p:tag name="LATEXADDIN" val="\documentclass{article}&#10;\usepackage{amsmath,braket,bm}&#10;\pagestyle{empty}&#10;\begin{document}&#10;&#10;\begin{equation*}&#10;\mathcal{E}\left[\Psi\right]&#10;\end{equation*}&#10;&#10;\end{document}"/>
  <p:tag name="IGUANATEXSIZE" val="18"/>
  <p:tag name="IGUANATEXCURSOR" val="12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42.9696"/>
  <p:tag name="LATEXADDIN" val="\documentclass{article}&#10;\usepackage{amsmath,braket,bm}&#10;\pagestyle{empty}&#10;\begin{document}&#10;&#10;\begin{equation*}&#10;\sigma\left[\Psi\right]&#10;\end{equation*}&#10;&#10;\end{document}"/>
  <p:tag name="IGUANATEXSIZE" val="20"/>
  <p:tag name="IGUANATEXCURSOR" val="132"/>
  <p:tag name="TRANSPARENCY" val="True"/>
  <p:tag name="FILENAME" val=""/>
  <p:tag name="LATEXENGINEID" val="0"/>
  <p:tag name="TEMPFOLDER" val="c:\temp\"/>
  <p:tag name="LATEXFORMHEIGHT" val="312"/>
  <p:tag name="LATEXFORMWIDTH" val="88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52.2309"/>
  <p:tag name="LATEXADDIN" val="\documentclass{article}&#10;\usepackage{amsmath,braket,bm}&#10;\pagestyle{empty}&#10;\begin{document}&#10;&#10;\begin{equation*}&#10;\ket{\Psi}&#10;\end{equation*}&#10;&#10;\end{document}"/>
  <p:tag name="IGUANATEXSIZE" val="18"/>
  <p:tag name="IGUANATEXCURSOR" val="11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393.7008"/>
  <p:tag name="LATEXADDIN" val="\documentclass{article}&#10;\usepackage{amsmath,braket,bm}&#10;\pagestyle{empty}&#10;\begin{document}&#10;&#10;\begin{equation*}&#10;\mathcal{H}_0+\mathcal{V}&#10;\end{equation*}&#10;&#10;\end{document}"/>
  <p:tag name="IGUANATEXSIZE" val="18"/>
  <p:tag name="IGUANATEXCURSOR" val="13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81.4398"/>
  <p:tag name="LATEXADDIN" val="\documentclass{article}&#10;\usepackage{amsmath,braket,bm}&#10;\pagestyle{empty}&#10;\begin{document}&#10;&#10;\begin{equation*}&#10;\sigma\left[\Psi\right] = 0&#10;\end{equation*}&#10;&#10;\end{document}"/>
  <p:tag name="IGUANATEXSIZE" val="18"/>
  <p:tag name="IGUANATEXCURSOR" val="133"/>
  <p:tag name="TRANSPARENCY" val="True"/>
  <p:tag name="FILENAME" val=""/>
  <p:tag name="LATEXENGINEID" val="0"/>
  <p:tag name="TEMPFOLDER" val="c:\temp\"/>
  <p:tag name="LATEXFORMHEIGHT" val="312"/>
  <p:tag name="LATEXFORMWIDTH" val="885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7131"/>
  <p:tag name="ORIGINALWIDTH" val="1201.35"/>
  <p:tag name="LATEXADDIN" val="\documentclass{article}&#10;\usepackage{amsmath,braket,bm}&#10;\pagestyle{empty}&#10;\begin{document}&#10;&#10;\begin{equation*}&#10;\mathcal{E}\left[\Psi\right]&#10;=&#10;\frac&#10;{\braket{\Psi|\mathcal{H}_0+\mathcal{V}|\Psi}}&#10;{\braket{\Psi|\Psi}}&#10;\end{equation*}&#10;&#10;\end{document}"/>
  <p:tag name="IGUANATEXSIZE" val="20"/>
  <p:tag name="IGUANATEXCURSOR" val="10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2003.75"/>
  <p:tag name="LATEXADDIN" val="\documentclass{article}&#10;\usepackage{amsmath,braket,bm}&#10;\pagestyle{empty}&#10;\begin{document}&#10;&#10;\begin{equation*}&#10;\sigma\left[\Psi\right]&#10;=&#10;\sqrt{&#10;\frac&#10;{\braket{\Psi|\left(\mathcal{H}_0+\mathcal{V}\right)^{2}|\Psi}}&#10;{\braket{\Psi|\Psi}}&#10;-\mathcal{E}\left[\Psi\right]^{2}&#10;}&#10;\end{equation*}&#10;&#10;\end{document}"/>
  <p:tag name="IGUANATEXSIZE" val="20"/>
  <p:tag name="IGUANATEXCURSOR" val="245"/>
  <p:tag name="TRANSPARENCY" val="True"/>
  <p:tag name="FILENAME" val=""/>
  <p:tag name="LATEXENGINEID" val="0"/>
  <p:tag name="TEMPFOLDER" val="c:\temp\"/>
  <p:tag name="LATEXFORMHEIGHT" val="312"/>
  <p:tag name="LATEXFORMWIDTH" val="885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3.73827"/>
  <p:tag name="ORIGINALWIDTH" val="1726.284"/>
  <p:tag name="LATEXADDIN" val="\documentclass{article}&#10;\usepackage{amsmath,braket,bm}&#10;\pagestyle{empty}&#10;\begin{document}&#10;&#10;We find $\bm{c}$ such that $\bm{\mathcal{H}}\bm{c} = \lambda\bm{\mathcal{S}}\bm{c}$.&#10;&#10;\end{document}"/>
  <p:tag name="IGUANATEXSIZE" val="18"/>
  <p:tag name="IGUANATEXCURSOR" val="175"/>
  <p:tag name="TRANSPARENCY" val="True"/>
  <p:tag name="FILENAME" val=""/>
  <p:tag name="LATEXENGINEID" val="0"/>
  <p:tag name="TEMPFOLDER" val="c:\temp\"/>
  <p:tag name="LATEXFORMHEIGHT" val="552.75"/>
  <p:tag name="LATEXFORMWIDTH" val="1297.5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494.188"/>
  <p:tag name="LATEXADDIN" val="\documentclass{article}&#10;&#10;\usepackage[a0paper]{geometry}&#10;&#10;\usepackage{amsmath,braket,bm}&#10;\pagestyle{empty}&#10;\begin{document}&#10;&#10;If so, $\mathcal{E}\left[\left\{\ket{j}\right\}\right]\left(\bm{c}\right) = \lambda$ and $\mathcal{E}\left[\left\{\ket{j}\right\}\right]\left(\bm{c}\right)$ is minimized with respect to variations in $\bm{c}$.&#10;&#10;\end{document}"/>
  <p:tag name="IGUANATEXSIZE" val="18"/>
  <p:tag name="IGUANATEXCURSOR" val="279"/>
  <p:tag name="TRANSPARENCY" val="True"/>
  <p:tag name="FILENAME" val=""/>
  <p:tag name="LATEXENGINEID" val="0"/>
  <p:tag name="TEMPFOLDER" val="c:\temp\"/>
  <p:tag name="LATEXFORMHEIGHT" val="552.75"/>
  <p:tag name="LATEXFORMWIDTH" val="1297.5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1.9835"/>
  <p:tag name="ORIGINALWIDTH" val="3039.37"/>
  <p:tag name="LATEXADDIN" val="\documentclass{article}&#10;&#10;\usepackage[a0paper]{geometry}&#10;&#10;\usepackage{amsmath,braket,bm}&#10;\pagestyle{empty}&#10;\begin{document}&#10;&#10;Without loss of generality, we can assert that $\bm{c}^{\dag}\bm{\mathcal{S}}\bm{c} = 1$.&#10;&#10;\end{document}"/>
  <p:tag name="IGUANATEXSIZE" val="18"/>
  <p:tag name="IGUANATEXCURSOR" val="212"/>
  <p:tag name="TRANSPARENCY" val="True"/>
  <p:tag name="FILENAME" val=""/>
  <p:tag name="LATEXENGINEID" val="0"/>
  <p:tag name="TEMPFOLDER" val="c:\temp\"/>
  <p:tag name="LATEXFORMHEIGHT" val="552.75"/>
  <p:tag name="LATEXFORMWIDTH" val="1297.5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589.426"/>
  <p:tag name="LATEXADDIN" val="\documentclass{article}&#10;&#10;\usepackage[a0paper]{geometry}&#10;&#10;\usepackage{amsmath,braket,bm}&#10;\pagestyle{empty}&#10;\begin{document}&#10;&#10;We can further vary the basis set $\left\{\ket{j}\right\}$ to further lower $\mathcal{E}\left[\left\{\ket{j}\right\}\right]\left(\bm{c}\right)$ and $\sigma\left[\left\{\ket{j}\right\}\right]\left(\bm{c}\right)$.&#10;&#10;\end{document}"/>
  <p:tag name="IGUANATEXSIZE" val="18"/>
  <p:tag name="IGUANATEXCURSOR" val="333"/>
  <p:tag name="TRANSPARENCY" val="True"/>
  <p:tag name="FILENAME" val=""/>
  <p:tag name="LATEXENGINEID" val="0"/>
  <p:tag name="TEMPFOLDER" val="c:\temp\"/>
  <p:tag name="LATEXFORMHEIGHT" val="552.75"/>
  <p:tag name="LATEXFORMWIDTH" val="1424.25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39"/>
  <p:tag name="LAYER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6"/>
  <p:tag name="LAYER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5.9805"/>
  <p:tag name="ORIGINALWIDTH" val="1210.349"/>
  <p:tag name="LATEXADDIN" val="\documentclass{article}&#10;\usepackage{amsmath,braket,bm}&#10;\pagestyle{empty}&#10;\begin{document}&#10;&#10;\begin{equation*}&#10;\left(\bm{\mathcal{H}}\right)_{j^{\prime}j}&#10;=&#10;\braket{j^{\prime}|\mathcal{H}_{0}+\mathcal{V}|j}&#10;\end{equation*}&#10;&#10;\end{document}"/>
  <p:tag name="IGUANATEXSIZE" val="20"/>
  <p:tag name="IGUANATEXCURSOR" val="173"/>
  <p:tag name="TRANSPARENCY" val="True"/>
  <p:tag name="FILENAME" val=""/>
  <p:tag name="LATEXENGINEID" val="0"/>
  <p:tag name="TEMPFOLDER" val="c:\temp\"/>
  <p:tag name="LATEXFORMHEIGHT" val="552.75"/>
  <p:tag name="LATEXFORMWIDTH" val="1297.5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5.9805"/>
  <p:tag name="ORIGINALWIDTH" val="748.4064"/>
  <p:tag name="LATEXADDIN" val="\documentclass{article}&#10;\usepackage{amsmath,braket,bm}&#10;\pagestyle{empty}&#10;\begin{document}&#10;&#10;\begin{equation*}&#10;\left(\bm{\mathcal{S}}\right)_{j^{\prime}j}&#10;=&#10;\braket{j^{\prime}|j}&#10;\end{equation*}&#10;&#10;\end{document}"/>
  <p:tag name="IGUANATEXSIZE" val="20"/>
  <p:tag name="IGUANATEXCURSOR" val="163"/>
  <p:tag name="TRANSPARENCY" val="True"/>
  <p:tag name="FILENAME" val=""/>
  <p:tag name="LATEXENGINEID" val="0"/>
  <p:tag name="TEMPFOLDER" val="c:\temp\"/>
  <p:tag name="LATEXFORMHEIGHT" val="552.75"/>
  <p:tag name="LATEXFORMWIDTH" val="1297.5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8.219"/>
  <p:tag name="ORIGINALWIDTH" val="1580.052"/>
  <p:tag name="LATEXADDIN" val="\documentclass{article}&#10;\usepackage{amsmath,braket,bm}&#10;\pagestyle{empty}&#10;\begin{document}&#10;&#10;\begin{equation*}&#10;\left(\bm{\mathcal{H}}^{(2)}\right)_{j^{\prime}j}&#10;=&#10;\braket{j^{\prime}|\left(\mathcal{H}_{0}+\mathcal{V}\right)^{2}|j}&#10;\end{equation*}&#10;&#10;\end{document}"/>
  <p:tag name="IGUANATEXSIZE" val="20"/>
  <p:tag name="IGUANATEXCURSOR" val="226"/>
  <p:tag name="TRANSPARENCY" val="True"/>
  <p:tag name="FILENAME" val=""/>
  <p:tag name="LATEXENGINEID" val="0"/>
  <p:tag name="TEMPFOLDER" val="c:\temp\"/>
  <p:tag name="LATEXFORMHEIGHT" val="552.75"/>
  <p:tag name="LATEXFORMWIDTH" val="1297.5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7.4578"/>
  <p:tag name="ORIGINALWIDTH" val="2560.18"/>
  <p:tag name="LATEXADDIN" val="\documentclass{article}&#10;\usepackage{amsmath,braket,bm}&#10;\pagestyle{empty}&#10;\begin{document}&#10;&#10;\begin{equation*}&#10;\mathcal{E}\left[\left\{\ket{j}\right\}\right]\left(\bm{c}\right)&#10;=&#10;\frac&#10;{\sum_{j^{\prime}j}c_{j^{\prime}}^{*}c_{j}\braket{j^{\prime}|\mathcal{H}_0+\mathcal{V}|j}}&#10;{\sum_{j^{\prime}j}c_{j^{\prime}}^{*}c_{j}\braket{j^{\prime}|j}}&#10;=&#10;\frac&#10;{\bm{c}^{\dag}\bm{\mathcal{H}}\bm{c}}&#10;{\bm{c}^{\dag}\bm{\mathcal{S}}\bm{c}}&#10;\end{equation*}&#10;&#10;\end{document}"/>
  <p:tag name="IGUANATEXSIZE" val="20"/>
  <p:tag name="IGUANATEXCURSOR" val="120"/>
  <p:tag name="TRANSPARENCY" val="True"/>
  <p:tag name="FILENAME" val=""/>
  <p:tag name="LATEXENGINEID" val="0"/>
  <p:tag name="TEMPFOLDER" val="c:\temp\"/>
  <p:tag name="LATEXFORMHEIGHT" val="552.75"/>
  <p:tag name="LATEXFORMWIDTH" val="1297.5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2187.477"/>
  <p:tag name="LATEXADDIN" val="\documentclass{article}&#10;\usepackage{amsmath,braket,bm}&#10;\pagestyle{empty}&#10;\begin{document}&#10;&#10;\begin{equation*}&#10;\sigma\left[\left\{\ket{j}\right\}\right]\left(\bm{c}\right)&#10;=&#10;\sqrt{&#10;\frac&#10;{\bm{c}^{\dag}\bm{\mathcal{H}}^{(2)}\bm{c}}&#10;{\bm{c}^{\dag}\bm{\mathcal{S}}\bm{c}}&#10;-\mathcal{E}\left[\left\{\ket{j}\right\}\right]\left(\bm{c}\right)^{2}&#10;}&#10;\end{equation*}&#10;&#10;\end{document}"/>
  <p:tag name="IGUANATEXSIZE" val="20"/>
  <p:tag name="IGUANATEXCURSOR" val="333"/>
  <p:tag name="TRANSPARENCY" val="True"/>
  <p:tag name="FILENAME" val=""/>
  <p:tag name="LATEXENGINEID" val="0"/>
  <p:tag name="TEMPFOLDER" val="c:\temp\"/>
  <p:tag name="LATEXFORMHEIGHT" val="312"/>
  <p:tag name="LATEXFORMWIDTH" val="885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4646"/>
  <p:tag name="ORIGINALWIDTH" val="787.4016"/>
  <p:tag name="LATEXADDIN" val="\documentclass{article}&#10;\usepackage{amsmath,braket,bm}&#10;\pagestyle{empty}&#10;\begin{document}&#10;&#10;\begin{equation*}&#10;\ket{\Psi}&#10;=&#10;\sum_{j} c_{j}\ket{j}&#10;\end{equation*}&#10;&#10;\end{document}"/>
  <p:tag name="IGUANATEXSIZE" val="20"/>
  <p:tag name="IGUANATEXCURSOR" val="14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6.9517"/>
  <p:tag name="ORIGINALWIDTH" val="2463.442"/>
  <p:tag name="LATEXADDIN" val="\documentclass{article}&#10;\usepackage{amsmath,bm,eufrak}&#10;\pagestyle{empty}&#10;\begin{document}&#10;&#10;\begin{align*}&#10;\Phi_{mlk}\left(r,\chi,\phi\right)&#10;&amp; = &#10;\hat{R}_{lk}\left(r\right)&#10;\hat{Y}_{lm}\left(\chi,\phi\right)&#10;\\&#10;\hat{R}_{lk}\left(\rho\right)&#10;&amp; =&#10;\sqrt{W}&#10;\rho^{\frac{W\alpha}{2}-\frac{1}{W}}\mathrm{e}^{-\rho^{W}/2}&#10;\hat{L}_{k}^{(\alpha)}\left(\rho^{W}\right)&#10;\\&#10;\end{align*}&#10;&#10;\end{document} "/>
  <p:tag name="IGUANATEXSIZE" val="20"/>
  <p:tag name="IGUANATEXCURSOR" val="14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941.1324"/>
  <p:tag name="LATEXADDIN" val="\documentclass{article}&#10;\usepackage{amsmath,bm}&#10;\pagestyle{empty}&#10;\begin{document}&#10;&#10;\begin{equation*}&#10;\alpha&#10;=&#10;\frac{2}{W}\left(l + \frac{1}{W}\right)&#10;\end{equation*}&#10;&#10;\end{document}"/>
  <p:tag name="IGUANATEXSIZE" val="20"/>
  <p:tag name="IGUANATEXCURSOR" val="164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0.2025"/>
  <p:tag name="ORIGINALWIDTH" val="2205.474"/>
  <p:tag name="LATEXADDIN" val="\documentclass{article}&#10;\usepackage{amsmath,bm,eufrak}&#10;\pagestyle{empty}&#10;\begin{document}&#10;&#10;\begin{equation*}&#10;\Phi_{\left|m\right|lk;\lambda\eta}^{(\pm)}&#10;=&#10;\left\{&#10;\frac{\Phi_{mlk} \pm \mathrm{i}^{m}\Phi_{\bar{m}lk}}&#10;{2\delta_{m0} + \sqrt{2}\left(1-\delta_{m0}\right)}&#10;\right|_{\substack{r \rightarrow r/\eta \\ z \rightarrow \lambda z}}&#10;\end{equation*}&#10;&#10;\end{document}"/>
  <p:tag name="IGUANATEXSIZE" val="20"/>
  <p:tag name="IGUANATEXCURSOR" val="154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3.982"/>
  <p:tag name="ORIGINALWIDTH" val="1532.808"/>
  <p:tag name="LATEXADDIN" val="\documentclass{article}&#10;\usepackage{amsmath,bm,braket}&#10;\pagestyle{empty}&#10;\begin{document}&#10;&#10;&#10;\begin{equation*}&#10;\Psi_{+z}\left(\bm{r}\right) = F\left(\bm{r}\right)\mathrm{e}^{\mathrm{i}\bm{k}_{z}\cdot\bm{r}}u_{\bm{k}_{z}}\left(\bm{r}\right)&#10;\end{equation*}&#10;&#10;&#10;\end{document}"/>
  <p:tag name="IGUANATEXSIZE" val="20"/>
  <p:tag name="IGUANATEXCURSOR" val="118"/>
  <p:tag name="TRANSPARENCY" val="True"/>
  <p:tag name="FILENAME" val=""/>
  <p:tag name="LATEXENGINEID" val="0"/>
  <p:tag name="TEMPFOLDER" val="c:\temp\"/>
  <p:tag name="LATEXFORMHEIGHT" val="312"/>
  <p:tag name="LATEXFORMWIDTH" val="1076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8.4814"/>
  <p:tag name="ORIGINALWIDTH" val="1709.036"/>
  <p:tag name="LATEXADDIN" val="\documentclass{article}&#10;\usepackage{amsmath,bm,braket}&#10;\pagestyle{empty}&#10;\begin{document}&#10;&#10;&#10;\begin{equation*}&#10;F\left(\bm{r}\right) \sim \mathrm{e}^{-r/\eta} \text{ such that } \eta &gt; a_{\text{Si}}&#10;\end{equation*}&#10;&#10;&#10;\end{document}"/>
  <p:tag name="IGUANATEXSIZE" val="20"/>
  <p:tag name="IGUANATEXCURSOR" val="196"/>
  <p:tag name="TRANSPARENCY" val="True"/>
  <p:tag name="FILENAME" val=""/>
  <p:tag name="LATEXENGINEID" val="0"/>
  <p:tag name="TEMPFOLDER" val="c:\temp\"/>
  <p:tag name="LATEXFORMHEIGHT" val="312"/>
  <p:tag name="LATEXFORMWIDTH" val="1076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9.3963"/>
  <p:tag name="ORIGINALWIDTH" val="4059.242"/>
  <p:tag name="LATEXADDIN" val="\documentclass{article}&#10;\usepackage{amsmath,bm,braket}&#10;\pagestyle{empty}&#10;\begin{document}&#10;&#10;&#10;\begin{align*}&#10;\Psi_{\kappa}^{(j)}\left(\bm{r}\right)&#10;&amp;=&#10;\frac{l_{j}}{h}\sum_{R}\left(\Gamma^{(j)}\left[R\right]\right)_{\kappa\kappa}^{*}&#10;\hat{P}_{R}\left\{F\left(\bm{r}\right)\mathrm{e}^{\mathrm{i}\bm{k}_{z}\cdot\bm{r}}u_{\bm{k}_{z}}\left(\bm{r}\right)\right\}&#10;\\&#10;\Psi_{\kappa}^{(j)}\left(\bm{r}\right)&#10;&amp;=&#10;\sum_{q=x,y,z}&#10;\sum_{s=\pm}&#10;\left( \frac{l_{j}}{h}\sum_{R^{\prime}\in z\rightarrow{sq}}\left(\Gamma^{(j)}\left[R^{\prime}\right]\right)_{\kappa\kappa}^{*} \hat{P}_{R^{\prime}}\left\{F\left(\bm{r}\right)\right\} \right)&#10;\mathrm{e}^{\mathrm{i}\bm{k}_{sq}\cdot\bm{r}}u_{\bm{k}_{sq}}\left(\bm{r}\right)&#10;\end{align*}&#10;&#10;&#10;\end{document}"/>
  <p:tag name="IGUANATEXSIZE" val="20"/>
  <p:tag name="IGUANATEXCURSOR" val="371"/>
  <p:tag name="TRANSPARENCY" val="False"/>
  <p:tag name="FILENAME" val=""/>
  <p:tag name="LATEXENGINEID" val="0"/>
  <p:tag name="TEMPFOLDER" val="c:\temp\"/>
  <p:tag name="LATEXFORMHEIGHT" val="312"/>
  <p:tag name="LATEXFORMWIDTH" val="1207.5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7.949"/>
  <p:tag name="ORIGINALWIDTH" val="2860.142"/>
  <p:tag name="LATEXADDIN" val="\documentclass{article}&#10;\usepackage{amsmath,bm}&#10;\pagestyle{empty}&#10;\begin{document}&#10;&#10;\begin{align*}&#10;\bm{\beta}_{E_{1}}^{(+)}&#10;&amp; =&#10;\left\{\tau, \tau^{2}, 1\right\}&#10;&amp;&#10;\bm{\beta}_{E_{1}}^{(-)}&#10;&amp; =&#10;\left\{\mathrm{i}\tau, \mathrm{i}\tau^{2}, \mathrm{i}\right\}&#10;\\&#10;\bm{\beta}_{E_{2}}^{(+)}&#10;&amp; =&#10;\left\{\tau^{2}, \tau, 1\right\}&#10;&amp;&#10;\bm{\beta}_{E_{2}}^{(-)}&#10;&amp; =&#10;\left\{-\mathrm{i}\tau^{2}, -\mathrm{i}\tau, -\mathrm{i}\right\}&#10;\\&#10;\end{align*}&#10;&#10;\end{document}"/>
  <p:tag name="IGUANATEXSIZE" val="16"/>
  <p:tag name="IGUANATEXCURSOR" val="34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7.4653"/>
  <p:tag name="ORIGINALWIDTH" val="788.9014"/>
  <p:tag name="LATEXADDIN" val="\documentclass{article}&#10;\usepackage{amsmath,bm}&#10;\pagestyle{empty}&#10;\begin{document}&#10;&#10;\begin{equation*}&#10;\tau = -\frac{1}{2} + \mathrm{i}\frac{\sqrt{3}}{2}&#10;\end{equation*}&#10;&#10;\end{document}"/>
  <p:tag name="IGUANATEXSIZE" val="16"/>
  <p:tag name="IGUANATEXCURSOR" val="152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4.2107"/>
  <p:tag name="ORIGINALWIDTH" val="1742.782"/>
  <p:tag name="LATEXADDIN" val="\documentclass{article}&#10;\usepackage{amsmath,bm}&#10;\pagestyle{empty}&#10;\begin{document}&#10;&#10;\begin{align*}&#10;\eta^{(q\zeta)}&#10;&amp; =&#10;\frac&#10;{\mathrm{e}^{\mathrm{i}\bm{k}_{q}\cdot\bm{r}}u_{\bm{k}_{q}}+\zeta\mathrm{e}^{-\mathrm{i}\bm{k}_{q}\cdot\bm{r}}u_{-\bm{k}_{q}}}&#10;{\sqrt{2}}&#10;\\&#10;\end{align*}&#10;&#10;\end{document}"/>
  <p:tag name="IGUANATEXSIZE" val="20"/>
  <p:tag name="IGUANATEXCURSOR" val="18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3.982"/>
  <p:tag name="ORIGINALWIDTH" val="737.9077"/>
  <p:tag name="LATEXADDIN" val="\documentclass{article}&#10;\usepackage{amsmath,bm}&#10;\pagestyle{empty}&#10;\begin{document}&#10;&#10;\begin{align*}&#10;\Omega&#10;&amp; =&#10;\sigma\mathrm{i}^{m}(-1)^{l}&#10;\end{align*}&#10;&#10;\end{document}"/>
  <p:tag name="IGUANATEXSIZE" val="20"/>
  <p:tag name="IGUANATEXCURSOR" val="11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9.2239"/>
  <p:tag name="ORIGINALWIDTH" val="1187.102"/>
  <p:tag name="LATEXADDIN" val="\documentclass{article}&#10;\usepackage{amsmath,bm}&#10;\pagestyle{empty}&#10;\begin{document}&#10;&#10;\begin{align*}&#10;\Psi_{mlk}^{\left(T_{q_{1}}^{(\sigma)}\right)}&#10;=&#10;\Phi_{mlk}^{(q_{1}\sigma)}&#10;\eta^{(q_{1}\bar{\Omega})}&#10;\end{align*}&#10;&#10;\end{document}"/>
  <p:tag name="IGUANATEXSIZE" val="18"/>
  <p:tag name="IGUANATEXCURSOR" val="20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2.2085"/>
  <p:tag name="ORIGINALWIDTH" val="2224.222"/>
  <p:tag name="LATEXADDIN" val="\documentclass{article}&#10;\usepackage{amsmath,bm}&#10;\pagestyle{empty}&#10;\begin{document}&#10;&#10;\begin{align*}&#10;\Psi_{mlkh}^{ \left(T_{q_{1}}^{(\sigma)}\right) }&#10;=&#10;\frac&#10;{&#10;\Phi_{mlk}^{(q_{2}\bar{\omega})}\eta^{(q_{2}h^{\prime})}&#10;- \sigma\omega\Phi_{mlk}^{(q_{3}\omega)}\eta^{(q_{3}h^{\prime})}&#10;}&#10;{\sqrt{2}}&#10;\end{align*}&#10;&#10;\end{document}"/>
  <p:tag name="IGUANATEXSIZE" val="18"/>
  <p:tag name="IGUANATEXCURSOR" val="29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2.74094"/>
  <p:tag name="ORIGINALWIDTH" val="545.9318"/>
  <p:tag name="LATEXADDIN" val="\documentclass{article}&#10;\usepackage{amsmath,bm}&#10;\pagestyle{empty}&#10;\begin{document}&#10;&#10;\begin{align*}&#10;m \in \text{evens}&#10;\end{align*}&#10;&#10;\end{document}"/>
  <p:tag name="IGUANATEXSIZE" val="18"/>
  <p:tag name="IGUANATEXCURSOR" val="11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.48859"/>
  <p:tag name="ORIGINALWIDTH" val="506.9366"/>
  <p:tag name="LATEXADDIN" val="\documentclass{article}&#10;\usepackage{amsmath,bm}&#10;\pagestyle{empty}&#10;\begin{document}&#10;&#10;\begin{align*}&#10;m \in \text{odds}&#10;\end{align*}&#10;&#10;\end{document}"/>
  <p:tag name="IGUANATEXSIZE" val="18"/>
  <p:tag name="IGUANATEXCURSOR" val="114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3.982"/>
  <p:tag name="ORIGINALWIDTH" val="619.4226"/>
  <p:tag name="LATEXADDIN" val="\documentclass{article}&#10;\usepackage{amsmath,bm}&#10;\pagestyle{empty}&#10;\begin{document}&#10;&#10;\begin{align*}&#10;h^{\prime}&#10;&amp; =&#10;h(-1)^{l}&#10;\end{align*}&#10;&#10;\end{document}"/>
  <p:tag name="IGUANATEXSIZE" val="20"/>
  <p:tag name="IGUANATEXCURSOR" val="109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.48859"/>
  <p:tag name="ORIGINALWIDTH" val="438.6952"/>
  <p:tag name="LATEXADDIN" val="\documentclass{article}&#10;\usepackage{amsmath,bm}&#10;\pagestyle{empty}&#10;\begin{document}&#10;&#10;\begin{align*}&#10;\omega&#10;&amp; =&#10;h\mathrm{i}^{m}&#10;\end{align*}&#10;&#10;\end{document}"/>
  <p:tag name="IGUANATEXSIZE" val="20"/>
  <p:tag name="IGUANATEXCURSOR" val="10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2088"/>
  <p:tag name="ORIGINALWIDTH" val="1681.29"/>
  <p:tag name="LATEXADDIN" val="\documentclass{article}&#10;\usepackage{amsmath,bm}&#10;\pagestyle{empty}&#10;\begin{document}&#10;&#10;\begin{equation*}&#10;\Psi_{mlk}^{\left(A^{(\sigma)}\right)}&#10;=&#10;\frac{1}{\sqrt{3}}&#10;\sum_{q = x,y,z} &#10;\Phi_{mlk}^{(q\sigma)}&#10;\eta^{(q\Omega)}&#10;\end{equation*}&#10;&#10;\end{document}"/>
  <p:tag name="IGUANATEXSIZE" val="18"/>
  <p:tag name="IGUANATEXCURSOR" val="179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8.459"/>
  <p:tag name="ORIGINALWIDTH" val="2065.242"/>
  <p:tag name="LATEXADDIN" val="\documentclass{article}&#10;\usepackage{amsmath,bm}&#10;\pagestyle{empty}&#10;\begin{document}&#10;&#10;\begin{equation*}&#10;\Psi_{mlk\sigma}^{\left(E_{i}\right)}&#10;=&#10;\frac{1}{\sqrt{3}}&#10;\sum_{q = x,y,z}&#10;\left(\beta_{E_{i}}^{(\sigma)}\right)_{q}&#10;\Phi_{mlk}^{(q\sigma)}&#10;\eta^{(q\Omega)}&#10;\end{equation*}&#10;&#10;\end{document}"/>
  <p:tag name="IGUANATEXSIZE" val="18"/>
  <p:tag name="IGUANATEXCURSOR" val="19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6.4605"/>
  <p:tag name="ORIGINALWIDTH" val="2726.659"/>
  <p:tag name="LATEXADDIN" val="\documentclass{article}&#10;\usepackage{amsmath,bm}&#10;\pagestyle{empty}&#10;\begin{document}&#10;&#10;&#10;\begin{equation*}&#10;E_{\bm{k}} \sim \frac{1}{2}\left(\frac{\hbar^{2}}{m_{l}}\left(k_{q}-k_{0}\right)^{2}+\frac{\hbar^2}{m_{t}}\bm{k}_{\perp}^{2}\right)&#10;+ O\left[\left(\bm{k}-\bm{k}_{q}\right)^{3}\right]&#10;\end{equation*}&#10;&#10;&#10;\end{document}"/>
  <p:tag name="IGUANATEXSIZE" val="20"/>
  <p:tag name="IGUANATEXCURSOR" val="278"/>
  <p:tag name="TRANSPARENCY" val="True"/>
  <p:tag name="FILENAME" val=""/>
  <p:tag name="LATEXENGINEID" val="0"/>
  <p:tag name="TEMPFOLDER" val="c:\temp\"/>
  <p:tag name="LATEXFORMHEIGHT" val="312"/>
  <p:tag name="LATEXFORMWIDTH" val="1076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9.1564"/>
  <p:tag name="ORIGINALWIDTH" val="3568.054"/>
  <p:tag name="LATEXADDIN" val="\documentclass{article}&#10;\usepackage{amsmath,braket,bm}&#10;\pagestyle{empty}&#10;\begin{document}&#10;&#10;\begin{align*}&#10;\braket{\bm{r}|\mathcal{H}_{0}|\Psi}&#10;&amp; =&#10;\sum_{q=x,y,z}&#10;\sum_{s=\pm}&#10;\int_{\text{BZ}}\mathrm{d}\bm{k}\,&#10;E_{\bm{k}}A_{sq}\left(\bm{k}-\bm{k}_{sq}\right)\mathrm{e}^{\mathrm{i}\bm{k}\cdot\bm{r}}u_{\bm{k}}\left(\bm{r}\right)&#10;\\&#10;&amp; \approx&#10;\sum_{q=x,y,z}&#10;\sum_{s=\pm}&#10;\left(-\frac{\hbar^{2}}{2m_{l}}\frac{\partial^{2}}{\partial q^{2}}  -\frac{\hbar^{2}}{2m_{t}}\nabla_{\perp}^{2}\right)&#10;F_{q}\left(\bm{r}\right)&#10;\mathrm{e}^{\mathrm{i}\bm{k}_{q}\cdot\bm{r}}&#10;u_{\bm{k}_{q}}\left(\bm{r}\right)&#10;\\&#10;\end{align*}&#10;&#10;\end{document}"/>
  <p:tag name="IGUANATEXSIZE" val="20"/>
  <p:tag name="IGUANATEXCURSOR" val="590"/>
  <p:tag name="TRANSPARENCY" val="True"/>
  <p:tag name="FILENAME" val=""/>
  <p:tag name="LATEXENGINEID" val="0"/>
  <p:tag name="TEMPFOLDER" val="c:\temp\"/>
  <p:tag name="LATEXFORMHEIGHT" val="312"/>
  <p:tag name="LATEXFORMWIDTH" val="1129.5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2083.99"/>
  <p:tag name="LATEXADDIN" val="\documentclass{article}&#10;\usepackage{amsmath,bm}&#10;\pagestyle{empty}&#10;\begin{document}&#10;&#10;\begin{equation*}&#10;\left(\mathcal{T}^{2}\right)_{ii^\prime}&#10;=&#10;\int\mathrm{d}\bm{r}\,&#10;\left(\hat{T}^{(z)}F_{i}^{(z)}\right)^{*}&#10;\left[\hat{T}^{(z)}F_{i^\prime}^{(z)}\right]&#10;\end{equation*}&#10;&#10;\end{document}"/>
  <p:tag name="IGUANATEXSIZE" val="18"/>
  <p:tag name="IGUANATEXCURSOR" val="247"/>
  <p:tag name="TRANSPARENCY" val="Fals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4.7057"/>
  <p:tag name="ORIGINALWIDTH" val="3206.599"/>
  <p:tag name="LATEXADDIN" val="\documentclass{article}&#10;\usepackage{amsmath,bm}&#10;\pagestyle{empty}&#10;\begin{document}&#10;&#10;\begin{equation*}&#10;\left(\mathcal{U}\mathcal{T}\right)_{ii^\prime}&#10;= &#10;\int \mathrm{d}\bm{r}\,&#10;\sum_{\bm{k}_{q}\bm{k}_{q^\prime}}&#10;\alpha_{q}^{*}\alpha_{q^\prime}&#10;\eta_{-q}\eta_{q^\prime}&#10;\left\{F_{i}^{(q)}\right\}^{*}&#10;\left[\hat{T}^{(q^\prime)}F_{i^\prime}^{(q^\prime)}\right]&#10;U(\bm{r})&#10;\end{equation*}&#10;&#10;\end{document}"/>
  <p:tag name="IGUANATEXSIZE" val="18"/>
  <p:tag name="IGUANATEXCURSOR" val="326"/>
  <p:tag name="TRANSPARENCY" val="Fals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4.7057"/>
  <p:tag name="ORIGINALWIDTH" val="3034.871"/>
  <p:tag name="LATEXADDIN" val="\documentclass{article}&#10;\usepackage{amsmath,bm}&#10;\pagestyle{empty}&#10;\begin{document}&#10;&#10;\begin{equation*}&#10;\left(\mathcal{T}\mathcal{U}\right)_{ii^\prime}&#10;= &#10;\int \mathrm{d}\bm{r}\,&#10;\sum_{\bm{k}_{q}\bm{k}_{q^\prime}}&#10;\alpha_{q}^{*}\alpha_{q^\prime}&#10;\eta_{-q}\eta_{q^\prime}&#10;\left\{\hat{T}^{(q)}F_{i}^{(q)}\right\}^{*}&#10;F_{i^\prime}^{(q^\prime)}&#10;U(\bm{r})&#10;\end{equation*}&#10;&#10;\end{document}"/>
  <p:tag name="IGUANATEXSIZE" val="18"/>
  <p:tag name="IGUANATEXCURSOR" val="289"/>
  <p:tag name="TRANSPARENCY" val="Fals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4.7057"/>
  <p:tag name="ORIGINALWIDTH" val="2835.396"/>
  <p:tag name="LATEXADDIN" val="\documentclass{article}&#10;\usepackage{amsmath,bm}&#10;\pagestyle{empty}&#10;\begin{document}&#10;&#10;\begin{equation*}&#10;\left(\mathcal{U}^{2}\right)_{ii^\prime}&#10;= &#10;\int \mathrm{d}\bm{r}\,&#10;\sum_{\bm{k}_{q}\bm{k}_{q^\prime}}&#10;\alpha_{q}^{*}\alpha_{q^\prime}&#10;\eta_{-q}\eta_{q^\prime}&#10;\left\{F_{i}^{(q)}\right\}^{*}&#10;F_{i^\prime}^{(q^\prime)}&#10;U(\bm{r})^{2}&#10;\end{equation*}&#10;&#10;\end{document}"/>
  <p:tag name="IGUANATEXSIZE" val="18"/>
  <p:tag name="IGUANATEXCURSOR" val="332"/>
  <p:tag name="TRANSPARENCY" val="Fals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2"/>
  <p:tag name="LAYER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7131"/>
  <p:tag name="ORIGINALWIDTH" val="944.132"/>
  <p:tag name="LATEXADDIN" val="\documentclass{article}&#10;\usepackage{amsmath,bm,physics}&#10;\pagestyle{empty}&#10;\begin{document}&#10;&#10;\begin{equation*}&#10;\Psi^{(S)}&#10;\approx &#10;\sum_{j} c_{j}&#10;\Psi_{j}^{(S)}&#10;\end{equation*}&#10;&#10;\end{document}"/>
  <p:tag name="IGUANATEXSIZE" val="20"/>
  <p:tag name="IGUANATEXCURSOR" val="15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7.2141"/>
  <p:tag name="ORIGINALWIDTH" val="1961.755"/>
  <p:tag name="LATEXADDIN" val="\documentclass{article}&#10;\usepackage{amsmath,bm}&#10;\pagestyle{empty}&#10;\begin{document}&#10;&#10;\begin{equation*}&#10;\left\langle \hat{H}^2 \right\rangle &#10;= &#10;\frac{&#10;\bm{c}^{\dag}\left(\mathcal{T}^2 + \mathcal{T}\mathcal{U} + \mathcal{U}\mathcal{T} + \mathcal{U}^2\right)\bm{c}&#10;}{&#10;\bm{c}^{\dag}\mathcal{S}\bm{c}&#10;}&#10;\end{equation*}&#10;&#10;\end{document}"/>
  <p:tag name="IGUANATEXSIZE" val="20"/>
  <p:tag name="IGUANATEXCURSOR" val="122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.222"/>
  <p:tag name="ORIGINALWIDTH" val="1036.37"/>
  <p:tag name="LATEXADDIN" val="\documentclass{article}&#10;\usepackage{amsmath,bm,physics}&#10;\pagestyle{empty}&#10;\begin{document}&#10;&#10;\begin{equation*}&#10;\Delta E^2 = \expval{\hat{H}^{2}} - E^{2}&#10;\end{equation*}&#10;&#10;\end{document}"/>
  <p:tag name="IGUANATEXSIZE" val="20"/>
  <p:tag name="IGUANATEXCURSOR" val="147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1"/>
  <p:tag name="LAYER" val="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48"/>
  <p:tag name="LAYER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0"/>
  <p:tag name="LAYER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.4871"/>
  <p:tag name="ORIGINALWIDTH" val="706.4117"/>
  <p:tag name="LATEXADDIN" val="\documentclass{article}&#10;\usepackage{amsmath,bm,physics}&#10;\pagestyle{empty}&#10;\begin{document}&#10;&#10;\begin{equation*}&#10;E_{T} = -31.03&#10;\end{equation*}&#10;&#10;\end{document}"/>
  <p:tag name="IGUANATEXSIZE" val="18"/>
  <p:tag name="IGUANATEXCURSOR" val="124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0.4874"/>
  <p:tag name="ORIGINALWIDTH" val="584.177"/>
  <p:tag name="LATEXADDIN" val="\documentclass{article}&#10;\usepackage{amsmath,bm,physics}&#10;\pagestyle{empty}&#10;\begin{document}&#10;&#10;\begin{equation*}&#10;\Delta E \approx 89\%&#10;\end{equation*}&#10;&#10;\end{document}"/>
  <p:tag name="IGUANATEXSIZE" val="18"/>
  <p:tag name="IGUANATEXCURSOR" val="131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.4871"/>
  <p:tag name="ORIGINALWIDTH" val="712.4109"/>
  <p:tag name="LATEXADDIN" val="\documentclass{article}&#10;\usepackage{amsmath,bm,physics}&#10;\pagestyle{empty}&#10;\begin{document}&#10;&#10;\begin{equation*}&#10;E_{E} = -30.73&#10;\end{equation*}&#10;&#10;\end{document}"/>
  <p:tag name="IGUANATEXSIZE" val="18"/>
  <p:tag name="IGUANATEXCURSOR" val="114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0.4874"/>
  <p:tag name="ORIGINALWIDTH" val="647.1691"/>
  <p:tag name="LATEXADDIN" val="\documentclass{article}&#10;\usepackage{amsmath,bm,physics}&#10;\pagestyle{empty}&#10;\begin{document}&#10;&#10;\begin{equation*}&#10;\Delta E \approx 100\%&#10;\end{equation*}&#10;&#10;\end{document}"/>
  <p:tag name="IGUANATEXSIZE" val="18"/>
  <p:tag name="IGUANATEXCURSOR" val="132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.4871"/>
  <p:tag name="ORIGINALWIDTH" val="708.6614"/>
  <p:tag name="LATEXADDIN" val="\documentclass{article}&#10;\usepackage{amsmath,bm,physics}&#10;\pagestyle{empty}&#10;\begin{document}&#10;&#10;\begin{equation*}&#10;E_{A} = -33.02&#10;\end{equation*}&#10;&#10;\end{document}"/>
  <p:tag name="IGUANATEXSIZE" val="18"/>
  <p:tag name="IGUANATEXCURSOR" val="115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4859"/>
  <p:tag name="ORIGINALWIDTH" val="760.405"/>
  <p:tag name="LATEXADDIN" val="\documentclass{article}&#10;\usepackage{amsmath,bm,physics}&#10;\pagestyle{empty}&#10;\begin{document}&#10;&#10;\begin{equation*}&#10;\Delta E^2 \approx -6000&#10;\end{equation*}&#10;&#10;\end{document}"/>
  <p:tag name="IGUANATEXSIZE" val="18"/>
  <p:tag name="IGUANATEXCURSOR" val="134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4.4657"/>
  <p:tag name="ORIGINALWIDTH" val="696.6629"/>
  <p:tag name="LATEXADDIN" val="\documentclass{article}&#10;\usepackage{amsmath,bm,physics}&#10;\pagestyle{empty}&#10;\begin{document}&#10;&#10;\begin{equation*}&#10;U\left(\vb{r}\right) = \frac{-e^2}{4\pi \epsilon r}&#10;\end{equation*}&#10;&#10;\end{document}"/>
  <p:tag name="IGUANATEXSIZE" val="18"/>
  <p:tag name="IGUANATEXCURSOR" val="161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8.4665"/>
  <p:tag name="ORIGINALWIDTH" val="1687.289"/>
  <p:tag name="LATEXADDIN" val="\documentclass{article}&#10;\usepackage{amsmath,bm,physics}&#10;\pagestyle{empty}&#10;\begin{document}&#10;&#10;\begin{equation*}&#10;u_{\vb{k}_{q}}^{*}u_{\vb{k}_{q^{\prime}}} &#10;= \sum_{\vb{G}} C_{\vb{G}}\left(\vb{k}_{q},\vb{k}_{q^{\prime}}\right)\mathrm{e}^{\mathrm{i}\vb{G}\cdot\vb{r}}&#10;\end{equation*}&#10;&#10;\end{document}"/>
  <p:tag name="IGUANATEXSIZE" val="18"/>
  <p:tag name="IGUANATEXCURSOR" val="25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8.9576"/>
  <p:tag name="ORIGINALWIDTH" val="4358.455"/>
  <p:tag name="LATEXADDIN" val="\documentclass{article}&#10;\usepackage{amsmath,bm,physics,braket}&#10;\pagestyle{empty}&#10;\begin{document}&#10;&#10;\begin{equation*}&#10;\braket{\Psi|\hat{H}_{0}^{2}|\Psi} &#10;= \int_{BZ} \dd\vb{k}\,&#10;\sum_{q}\left|\alpha_{q}E_{0}\left(\vb{k}\right)A^{(q)}\left(\vb{k}\right)\right|^{2}&#10;+ \sum_{q\ne q^{\prime}}\alpha_{q}^{*}\alpha_{q^\prime} E_{0}\left(\vb{k}\right)^2 A^{(q)}\left(\vb{k}\right)^{*}A^{(q^\prime)}\left(\vb{k}\right)&#10;\end{equation*}&#10;&#10;\end{document}"/>
  <p:tag name="IGUANATEXSIZE" val="18"/>
  <p:tag name="IGUANATEXCURSOR" val="14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9.1938"/>
  <p:tag name="ORIGINALWIDTH" val="4837.646"/>
  <p:tag name="LATEXADDIN" val="\documentclass{article}&#10;\usepackage{amsmath,bm,physics}&#10;\pagestyle{empty}&#10;\begin{document}&#10;&#10;\begin{equation*}&#10;= &#10;\int \dd\vb{r}\, &#10;\left(\hat{T}^{(z)}F^{(z)}\right)^{*}\left(\hat{T}^{(z)}F^{(z)}\right)&#10;+&#10;\left\{&#10;\int \dd\vb{r}\, &#10;\sum_{q\ne q^{\prime}}\alpha_{q}^{*}\alpha_{q^\prime}&#10;\mathrm{e}^{\mathrm{i}\left(\vb{k}_{q^\prime}-\vb{k}_{q}\right)\cdot\vb{r}}&#10;\left(\hat{T}^{(q)}F^{(q)}\right)^{*}\left(\hat{T}^{(q^\prime)}F^{(q^\prime)}\right)&#10;\right\}&#10;\end{equation*}&#10;&#10;\end{document}"/>
  <p:tag name="IGUANATEXSIZE" val="18"/>
  <p:tag name="IGUANATEXCURSOR" val="45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9813"/>
  <p:tag name="ORIGINALWIDTH" val="543.6821"/>
  <p:tag name="LATEXADDIN" val="\documentclass{article}&#10;\usepackage{amsmath,bm,physics}&#10;\pagestyle{empty}&#10;\begin{document}&#10;&#10;\begin{equation*}&#10;\bra{\Psi}\hat{H}_{0}^{2}\ket{\Psi} &#10;\end{equation*}&#10;&#10;\end{document}"/>
  <p:tag name="IGUANATEXSIZE" val="18"/>
  <p:tag name="IGUANATEXCURSOR" val="135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6.2054"/>
  <p:tag name="ORIGINALWIDTH" val="5448.069"/>
  <p:tag name="LATEXADDIN" val="\documentclass{article}&#10;\usepackage{amsmath,bm,physics}&#10;\pagestyle{empty}&#10;\begin{document}&#10;&#10;\begin{equation*}&#10;= &#10;\int \dd\vb{r}\,&#10;\sum_{qq^{\prime}}\alpha_{q}^{*}\alpha_{q^\prime}&#10;\mathrm{e}^{\mathrm{i}\left(\vb{k}_{q^\prime}-\vb{k}_{q}\right)\cdot\vb{r}}&#10;\left(&#10;\int_{BZ} \dd\vb{k}\,&#10;E_{0}\left(\vb{k}\right)&#10;A^{(q)}\left(\vb{k}\right)&#10;\mathrm{e}^{\mathrm{i}\left(\vb{k}-\vb{k}_{q}\right)\cdot\vb{r}}&#10;\right)^{*}&#10;\int_{BZ} \dd\vb{k}^{\prime}\, &#10;E_{0}\left(\vb{k}^{\prime}\right)&#10;A^{(q^\prime)}\left(\vb{k}^{\prime}\right)&#10;\mathrm{e}^{\mathrm{i}\left(\vb{k}^{\prime}-\vb{k}_{q^{\prime}}\right)\cdot\vb{r}}&#10;\end{equation*}&#10;&#10;\end{document}"/>
  <p:tag name="IGUANATEXSIZE" val="18"/>
  <p:tag name="IGUANATEXCURSOR" val="302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5.958"/>
  <p:tag name="ORIGINALWIDTH" val="2401.2"/>
  <p:tag name="LATEXADDIN" val="\documentclass{article}&#10;\usepackage{amsmath,bm,physics}&#10;\pagestyle{empty}&#10;\begin{document}&#10;&#10;\begin{equation*}&#10;=&#10;\int_{BZ} \dd\vb{k}\, E_{0}\left(\vb{k}\right)^{2}\sum_{qq^{\prime}}\alpha_{q}^{*}\alpha_{q^\prime}A^{(q)}\left(\vb{k}\right)^{*}A^{(q^\prime)}\left(\vb{k}\right)&#10;\end{equation*}&#10;&#10;\end{document}"/>
  <p:tag name="IGUANATEXSIZE" val="18"/>
  <p:tag name="IGUANATEXCURSOR" val="162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0.7086"/>
  <p:tag name="ORIGINALWIDTH" val="3592.051"/>
  <p:tag name="LATEXADDIN" val="\documentclass{article}&#10;\usepackage{amsmath,bm,physics}&#10;\pagestyle{empty}&#10;\begin{document}&#10;&#10;\begin{equation*}&#10;\rightarrow \int_{BZ} \dd\vb{k}\, \sum_{q}\left|\alpha_{q}E_{0}\left(\vb{k}\right)A^{(q)}\left(\vb{k}\right)\right|^{2}&#10;= \int \dd\vb{r}\, &#10;\left(\hat{T}^{(z)}F^{(z)}\right)^{*}\left(\hat{T}^{(z)}F^{(z)}\right)&#10;\end{equation*}&#10;&#10;\end{document}"/>
  <p:tag name="IGUANATEXSIZE" val="18"/>
  <p:tag name="IGUANATEXCURSOR" val="269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8.2077"/>
  <p:tag name="ORIGINALWIDTH" val="5213.348"/>
  <p:tag name="LATEXADDIN" val="\documentclass{article}&#10;\usepackage{amsmath,bm,physics}&#10;\pagestyle{empty}&#10;\begin{document}&#10;&#10;\begin{equation*}&#10;\bra{\Psi}\hat{H}_{0}^{2}\ket{\Psi} &#10;= &#10;\int \dd\vb{r}\, &#10;\left(\hat{T}^{(z)}F^{(z)}\right)^{*}\left(\hat{T}^{(z)}F^{(z)}\right)&#10;+&#10;\int \dd\vb{r}\, &#10;\sum_{q\ne q^{\prime}}\alpha_{q}^{*}\alpha_{q^\prime}&#10;\mathrm{e}^{\mathrm{i}\left(\vb{k}_{q^\prime}-\vb{k}_{q}\right)\cdot\vb{r}}&#10;\left(\hat{T}^{(q)}F^{(q)}\right)^{*}\left(\hat{T}^{(q^\prime)}F^{(q^\prime)}\right)&#10;\end{equation*}&#10;&#10;\end{document}"/>
  <p:tag name="IGUANATEXSIZE" val="18"/>
  <p:tag name="IGUANATEXCURSOR" val="146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2"/>
  <p:tag name="LAYER" val="3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29"/>
  <p:tag name="LAYER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39"/>
  <p:tag name="LAYER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1"/>
  <p:tag name="LAYER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.4871"/>
  <p:tag name="ORIGINALWIDTH" val="706.4117"/>
  <p:tag name="LATEXADDIN" val="\documentclass{article}&#10;\usepackage{amsmath,bm,physics}&#10;\pagestyle{empty}&#10;\begin{document}&#10;&#10;\begin{equation*}&#10;E_{T} = -31.29&#10;\end{equation*}&#10;&#10;\end{document}"/>
  <p:tag name="IGUANATEXSIZE" val="18"/>
  <p:tag name="IGUANATEXCURSOR" val="124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0.4874"/>
  <p:tag name="ORIGINALWIDTH" val="584.177"/>
  <p:tag name="LATEXADDIN" val="\documentclass{article}&#10;\usepackage{amsmath,bm,physics}&#10;\pagestyle{empty}&#10;\begin{document}&#10;&#10;\begin{equation*}&#10;\Delta E \approx 24\%&#10;\end{equation*}&#10;&#10;\end{document}"/>
  <p:tag name="IGUANATEXSIZE" val="18"/>
  <p:tag name="IGUANATEXCURSOR" val="131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.4871"/>
  <p:tag name="ORIGINALWIDTH" val="712.4109"/>
  <p:tag name="LATEXADDIN" val="\documentclass{article}&#10;\usepackage{amsmath,bm,physics}&#10;\pagestyle{empty}&#10;\begin{document}&#10;&#10;\begin{equation*}&#10;E_{E} = -31.19&#10;\end{equation*}&#10;&#10;\end{document}"/>
  <p:tag name="IGUANATEXSIZE" val="18"/>
  <p:tag name="IGUANATEXCURSOR" val="124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0.4874"/>
  <p:tag name="ORIGINALWIDTH" val="584.177"/>
  <p:tag name="LATEXADDIN" val="\documentclass{article}&#10;\usepackage{amsmath,bm,physics}&#10;\pagestyle{empty}&#10;\begin{document}&#10;&#10;\begin{equation*}&#10;\Delta E \approx 20\%&#10;\end{equation*}&#10;&#10;\end{document}"/>
  <p:tag name="IGUANATEXSIZE" val="18"/>
  <p:tag name="IGUANATEXCURSOR" val="131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.4871"/>
  <p:tag name="ORIGINALWIDTH" val="708.6614"/>
  <p:tag name="LATEXADDIN" val="\documentclass{article}&#10;\usepackage{amsmath,bm,physics}&#10;\pagestyle{empty}&#10;\begin{document}&#10;&#10;\begin{equation*}&#10;E_{A} = -31.12&#10;\end{equation*}&#10;&#10;\end{document}"/>
  <p:tag name="IGUANATEXSIZE" val="18"/>
  <p:tag name="IGUANATEXCURSOR" val="123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0.4874"/>
  <p:tag name="ORIGINALWIDTH" val="584.177"/>
  <p:tag name="LATEXADDIN" val="\documentclass{article}&#10;\usepackage{amsmath,bm,physics}&#10;\pagestyle{empty}&#10;\begin{document}&#10;&#10;\begin{equation*}&#10;\Delta E \approx 23\%&#10;\end{equation*}&#10;&#10;\end{document}"/>
  <p:tag name="IGUANATEXSIZE" val="18"/>
  <p:tag name="IGUANATEXCURSOR" val="130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9"/>
  <p:tag name="LAYER" val="3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48"/>
  <p:tag name="LAYER" val="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18"/>
  <p:tag name="LAYER" val="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.4871"/>
  <p:tag name="ORIGINALWIDTH" val="706.4117"/>
  <p:tag name="LATEXADDIN" val="\documentclass{article}&#10;\usepackage{amsmath,bm,physics}&#10;\pagestyle{empty}&#10;\begin{document}&#10;&#10;\begin{equation*}&#10;E_{T} = -31.03&#10;\end{equation*}&#10;&#10;\end{document}"/>
  <p:tag name="IGUANATEXSIZE" val="18"/>
  <p:tag name="IGUANATEXCURSOR" val="114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0.4874"/>
  <p:tag name="ORIGINALWIDTH" val="584.177"/>
  <p:tag name="LATEXADDIN" val="\documentclass{article}&#10;\usepackage{amsmath,bm,physics}&#10;\pagestyle{empty}&#10;\begin{document}&#10;&#10;\begin{equation*}&#10;\Delta E \approx 89\%&#10;\end{equation*}&#10;&#10;\end{document}"/>
  <p:tag name="IGUANATEXSIZE" val="18"/>
  <p:tag name="IGUANATEXCURSOR" val="131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.4871"/>
  <p:tag name="ORIGINALWIDTH" val="712.4109"/>
  <p:tag name="LATEXADDIN" val="\documentclass{article}&#10;\usepackage{amsmath,bm,physics}&#10;\pagestyle{empty}&#10;\begin{document}&#10;&#10;\begin{equation*}&#10;E_{E} = -30.73&#10;\end{equation*}&#10;&#10;\end{document}"/>
  <p:tag name="IGUANATEXSIZE" val="18"/>
  <p:tag name="IGUANATEXCURSOR" val="114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0.4874"/>
  <p:tag name="ORIGINALWIDTH" val="647.1691"/>
  <p:tag name="LATEXADDIN" val="\documentclass{article}&#10;\usepackage{amsmath,bm,physics}&#10;\pagestyle{empty}&#10;\begin{document}&#10;&#10;\begin{equation*}&#10;\Delta E \approx 100\%&#10;\end{equation*}&#10;&#10;\end{document}"/>
  <p:tag name="IGUANATEXSIZE" val="18"/>
  <p:tag name="IGUANATEXCURSOR" val="132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.4871"/>
  <p:tag name="ORIGINALWIDTH" val="708.6614"/>
  <p:tag name="LATEXADDIN" val="\documentclass{article}&#10;\usepackage{amsmath,bm,physics}&#10;\pagestyle{empty}&#10;\begin{document}&#10;&#10;\begin{equation*}&#10;E_{A} = -33.02&#10;\end{equation*}&#10;&#10;\end{document}"/>
  <p:tag name="IGUANATEXSIZE" val="18"/>
  <p:tag name="IGUANATEXCURSOR" val="115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4859"/>
  <p:tag name="ORIGINALWIDTH" val="760.405"/>
  <p:tag name="LATEXADDIN" val="\documentclass{article}&#10;\usepackage{amsmath,bm,physics}&#10;\pagestyle{empty}&#10;\begin{document}&#10;&#10;\begin{equation*}&#10;\Delta E^2 \approx -6000&#10;\end{equation*}&#10;&#10;\end{document}"/>
  <p:tag name="IGUANATEXSIZE" val="18"/>
  <p:tag name="IGUANATEXCURSOR" val="134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46513</TotalTime>
  <Words>2940</Words>
  <Application>Microsoft Office PowerPoint</Application>
  <PresentationFormat>Widescreen</PresentationFormat>
  <Paragraphs>301</Paragraphs>
  <Slides>35</Slides>
  <Notes>21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Cambria Math</vt:lpstr>
      <vt:lpstr>Georgia</vt:lpstr>
      <vt:lpstr>Gill Sans MT</vt:lpstr>
      <vt:lpstr>LucidaGrande</vt:lpstr>
      <vt:lpstr>UB Powerpoint Template</vt:lpstr>
      <vt:lpstr>Evaluation of effective mass descriptions of the electronic structure of the isolated phosphorus silicon donor</vt:lpstr>
      <vt:lpstr>MOTIVATION</vt:lpstr>
      <vt:lpstr>Why quantum computing?</vt:lpstr>
      <vt:lpstr>The caveats</vt:lpstr>
      <vt:lpstr>Leading implementations of quantum computing</vt:lpstr>
      <vt:lpstr>Silicon spin qubits [9]</vt:lpstr>
      <vt:lpstr>SILICON DONOR</vt:lpstr>
      <vt:lpstr>System description – Silicon donor</vt:lpstr>
      <vt:lpstr>How to model the donor electron?</vt:lpstr>
      <vt:lpstr>PowerPoint Presentation</vt:lpstr>
      <vt:lpstr>Introducing the fundamental effective mass approximation</vt:lpstr>
      <vt:lpstr>Introducing  imperfections</vt:lpstr>
      <vt:lpstr>Models of impurity potential</vt:lpstr>
      <vt:lpstr>Models of impurity potential</vt:lpstr>
      <vt:lpstr>Introducing  imperfections</vt:lpstr>
      <vt:lpstr>Methods</vt:lpstr>
      <vt:lpstr>Variational method</vt:lpstr>
      <vt:lpstr>Ritz method</vt:lpstr>
      <vt:lpstr>Fundamental basis state</vt:lpstr>
      <vt:lpstr>Symmetry and our effective mass wavefunctions</vt:lpstr>
      <vt:lpstr>Symmetrized basis state</vt:lpstr>
      <vt:lpstr>Concluding comments on effective mass theories</vt:lpstr>
      <vt:lpstr>OutLook</vt:lpstr>
      <vt:lpstr>Where have we been</vt:lpstr>
      <vt:lpstr>Where we are going</vt:lpstr>
      <vt:lpstr>REFERENCES</vt:lpstr>
      <vt:lpstr>References</vt:lpstr>
      <vt:lpstr>APPENDIX</vt:lpstr>
      <vt:lpstr>Meaning of “effective mass”</vt:lpstr>
      <vt:lpstr>RESULTS</vt:lpstr>
      <vt:lpstr>Checking the completeness with the variance</vt:lpstr>
      <vt:lpstr>Multi-valley variance results – Shindo-Nara equation</vt:lpstr>
      <vt:lpstr>A problem with the Shindo-Nara equation?</vt:lpstr>
      <vt:lpstr>Sensible variance with multivalley terms</vt:lpstr>
      <vt:lpstr>Losing verisimilitude for a more consistent approach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2259</cp:revision>
  <cp:lastPrinted>2016-07-18T17:32:49Z</cp:lastPrinted>
  <dcterms:created xsi:type="dcterms:W3CDTF">2016-06-28T14:05:07Z</dcterms:created>
  <dcterms:modified xsi:type="dcterms:W3CDTF">2020-10-14T06:20:51Z</dcterms:modified>
  <cp:category/>
</cp:coreProperties>
</file>