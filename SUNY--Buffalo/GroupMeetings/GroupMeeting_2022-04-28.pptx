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1" r:id="rId1"/>
  </p:sldMasterIdLst>
  <p:notesMasterIdLst>
    <p:notesMasterId r:id="rId17"/>
  </p:notesMasterIdLst>
  <p:handoutMasterIdLst>
    <p:handoutMasterId r:id="rId18"/>
  </p:handoutMasterIdLst>
  <p:sldIdLst>
    <p:sldId id="539" r:id="rId2"/>
    <p:sldId id="541" r:id="rId3"/>
    <p:sldId id="577" r:id="rId4"/>
    <p:sldId id="583" r:id="rId5"/>
    <p:sldId id="590" r:id="rId6"/>
    <p:sldId id="588" r:id="rId7"/>
    <p:sldId id="580" r:id="rId8"/>
    <p:sldId id="581" r:id="rId9"/>
    <p:sldId id="582" r:id="rId10"/>
    <p:sldId id="585" r:id="rId11"/>
    <p:sldId id="586" r:id="rId12"/>
    <p:sldId id="587" r:id="rId13"/>
    <p:sldId id="578" r:id="rId14"/>
    <p:sldId id="592" r:id="rId15"/>
    <p:sldId id="553" r:id="rId1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0FF"/>
    <a:srgbClr val="005AC0"/>
    <a:srgbClr val="7030A0"/>
    <a:srgbClr val="75AD38"/>
    <a:srgbClr val="FFC11F"/>
    <a:srgbClr val="FF7F7F"/>
    <a:srgbClr val="00CC00"/>
    <a:srgbClr val="33A366"/>
    <a:srgbClr val="72A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8" autoAdjust="0"/>
    <p:restoredTop sz="87360" autoAdjust="0"/>
  </p:normalViewPr>
  <p:slideViewPr>
    <p:cSldViewPr snapToGrid="0" snapToObjects="1">
      <p:cViewPr varScale="1">
        <p:scale>
          <a:sx n="94" d="100"/>
          <a:sy n="94" d="100"/>
        </p:scale>
        <p:origin x="102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5/9/2022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5/9/2022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FBD0F-917C-47E2-81A1-50CB209F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E50429-19B2-4DA2-9FF3-1CD3B89F7C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https://gitlab.com/cantankerous-impurity/cantankerous-impurity/-/blob/core/GroupMeetings/GroupMeeting_2022-04-28.pptx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000389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14688D2D-B472-4979-B2C1-7E61B778CDBF}"/>
              </a:ext>
            </a:extLst>
          </p:cNvPr>
          <p:cNvSpPr txBox="1">
            <a:spLocks/>
          </p:cNvSpPr>
          <p:nvPr userDrawn="1"/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377" rtl="0" eaLnBrk="1" latinLnBrk="0" hangingPunct="1">
              <a:defRPr sz="14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https://gitlab.com/cantankerous-impurity/cantankerous-impurity/-/blob/core/GroupMeetings/GroupMeeting_2022-04-28.pptx</a:t>
            </a:r>
          </a:p>
        </p:txBody>
      </p:sp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cantankerous-impurity/cantankerous-impurity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5.xml"/><Relationship Id="rId7" Type="http://schemas.openxmlformats.org/officeDocument/2006/relationships/image" Target="../media/image1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4.png"/><Relationship Id="rId5" Type="http://schemas.openxmlformats.org/officeDocument/2006/relationships/tags" Target="../tags/tag7.xml"/><Relationship Id="rId10" Type="http://schemas.openxmlformats.org/officeDocument/2006/relationships/image" Target="../media/image13.png"/><Relationship Id="rId4" Type="http://schemas.openxmlformats.org/officeDocument/2006/relationships/tags" Target="../tags/tag6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9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18.png"/><Relationship Id="rId5" Type="http://schemas.openxmlformats.org/officeDocument/2006/relationships/tags" Target="../tags/tag12.xml"/><Relationship Id="rId10" Type="http://schemas.openxmlformats.org/officeDocument/2006/relationships/image" Target="../media/image17.png"/><Relationship Id="rId4" Type="http://schemas.openxmlformats.org/officeDocument/2006/relationships/tags" Target="../tags/tag11.xml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6.xml"/><Relationship Id="rId7" Type="http://schemas.openxmlformats.org/officeDocument/2006/relationships/image" Target="../media/image23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25.xml"/><Relationship Id="rId7" Type="http://schemas.openxmlformats.org/officeDocument/2006/relationships/image" Target="../media/image31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5.png"/><Relationship Id="rId5" Type="http://schemas.openxmlformats.org/officeDocument/2006/relationships/tags" Target="../tags/tag27.xml"/><Relationship Id="rId10" Type="http://schemas.openxmlformats.org/officeDocument/2006/relationships/image" Target="../media/image34.png"/><Relationship Id="rId4" Type="http://schemas.openxmlformats.org/officeDocument/2006/relationships/tags" Target="../tags/tag26.xml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0.xml"/><Relationship Id="rId7" Type="http://schemas.openxmlformats.org/officeDocument/2006/relationships/image" Target="../media/image37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6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1.xml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44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A4071D-BB9D-4544-A70A-F5F1A09E3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968496"/>
            <a:ext cx="6638544" cy="1650381"/>
          </a:xfrm>
        </p:spPr>
        <p:txBody>
          <a:bodyPr>
            <a:normAutofit/>
          </a:bodyPr>
          <a:lstStyle/>
          <a:p>
            <a:r>
              <a:rPr lang="en-US" i="0" dirty="0"/>
              <a:t>Group Meeting (2022-April-28)</a:t>
            </a:r>
          </a:p>
          <a:p>
            <a:r>
              <a:rPr lang="en-US" dirty="0"/>
              <a:t>Luke Pendo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7726B7-BE34-4866-8953-1808D06B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1536159"/>
            <a:ext cx="11380223" cy="2340897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Solving Central </a:t>
            </a:r>
            <a:r>
              <a:rPr lang="en-US" dirty="0" err="1"/>
              <a:t>pOtential</a:t>
            </a:r>
            <a:r>
              <a:rPr lang="en-US" dirty="0"/>
              <a:t> Problems With Generalized Fourier Series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6F668D-37E4-4004-8DB7-0DC6EB80C7BD}"/>
              </a:ext>
            </a:extLst>
          </p:cNvPr>
          <p:cNvSpPr txBox="1"/>
          <p:nvPr/>
        </p:nvSpPr>
        <p:spPr>
          <a:xfrm>
            <a:off x="701040" y="5283201"/>
            <a:ext cx="1078992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https://gitlab.com/cantankerous-impurity/cantankerous-impurity/-/blob/core/GroupMeetings/GroupMeeting_2022-04-28.pptx</a:t>
            </a:r>
          </a:p>
        </p:txBody>
      </p:sp>
    </p:spTree>
    <p:extLst>
      <p:ext uri="{BB962C8B-B14F-4D97-AF65-F5344CB8AC3E}">
        <p14:creationId xmlns:p14="http://schemas.microsoft.com/office/powerpoint/2010/main" val="2101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we doing here?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BF461C-346D-4964-91DB-F0AFCED12AD3}"/>
              </a:ext>
            </a:extLst>
          </p:cNvPr>
          <p:cNvSpPr txBox="1"/>
          <p:nvPr/>
        </p:nvSpPr>
        <p:spPr>
          <a:xfrm>
            <a:off x="732264" y="2001293"/>
            <a:ext cx="10727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</a:rPr>
              <a:t>A bite sized piece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has a ton of ( physical / theoretical / mathematical / practical / technical / computational ) details!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 I can’t keep it all in my head and I’ve been soaking in it for 6+ years!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Aiming for a </a:t>
            </a:r>
            <a:r>
              <a:rPr lang="en-US" i="1" dirty="0"/>
              <a:t>short</a:t>
            </a:r>
            <a:r>
              <a:rPr lang="en-US" dirty="0"/>
              <a:t> digestible presentation of 15-20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Planning to explore a few “simple” </a:t>
            </a:r>
            <a:r>
              <a:rPr lang="en-US" i="1" dirty="0">
                <a:solidFill>
                  <a:schemeClr val="accent2"/>
                </a:solidFill>
              </a:rPr>
              <a:t>central potential problems </a:t>
            </a:r>
            <a:r>
              <a:rPr lang="en-US" dirty="0"/>
              <a:t>(hydrogen atom, radial harmonic oscillator).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Solutions to these problems with </a:t>
            </a:r>
            <a:r>
              <a:rPr lang="en-US" i="1" dirty="0">
                <a:solidFill>
                  <a:schemeClr val="accent2"/>
                </a:solidFill>
              </a:rPr>
              <a:t>complete orthogonal basis sets </a:t>
            </a:r>
            <a:r>
              <a:rPr lang="en-US" dirty="0"/>
              <a:t>represents a significant technical benchmark.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41210-4AE0-42D5-9BF3-573DA8D6682E}"/>
              </a:ext>
            </a:extLst>
          </p:cNvPr>
          <p:cNvSpPr txBox="1"/>
          <p:nvPr/>
        </p:nvSpPr>
        <p:spPr>
          <a:xfrm>
            <a:off x="1609647" y="4166665"/>
            <a:ext cx="8972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</a:rPr>
              <a:t>More to chew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Much more available for the curious!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Extant corpus of notes and code </a:t>
            </a:r>
            <a:r>
              <a:rPr lang="en-US" dirty="0">
                <a:hlinkClick r:id="rId2"/>
              </a:rPr>
              <a:t>available online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duration has lead to notes and comments being a somewhat scattered, holey mess.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C00000"/>
                </a:solidFill>
              </a:rPr>
              <a:t>To do: Need to standardize and complete project documentation.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open to direct questions from the curious.</a:t>
            </a:r>
          </a:p>
        </p:txBody>
      </p:sp>
    </p:spTree>
    <p:extLst>
      <p:ext uri="{BB962C8B-B14F-4D97-AF65-F5344CB8AC3E}">
        <p14:creationId xmlns:p14="http://schemas.microsoft.com/office/powerpoint/2010/main" val="51111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Representations of states from Hilbert spaces</a:t>
            </a:r>
          </a:p>
          <a:p>
            <a:r>
              <a:rPr lang="en-US" dirty="0"/>
              <a:t>The pure states of a von Neumann quantum theory[*] reside in a complex Hilbert space. For a given Hilbert space there necessarily exist countable and uncountable sets of states whose union, called </a:t>
            </a:r>
            <a:r>
              <a:rPr lang="en-US" i="1" dirty="0"/>
              <a:t>a basis,</a:t>
            </a:r>
            <a:r>
              <a:rPr lang="en-US" dirty="0"/>
              <a:t> is an orthonormal set that spans the Hilbert space. Any arbitrary state in this Hilbert space may be represented using the basis 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Some Hilbert spaces in quantum mechanics are </a:t>
            </a:r>
            <a:r>
              <a:rPr lang="en-US" i="1" dirty="0"/>
              <a:t>separable</a:t>
            </a:r>
            <a:r>
              <a:rPr lang="en-US" dirty="0"/>
              <a:t>, meaning there exists a countable basis, so every state may represented 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want to find a basis set for the Hilbert space formed from the set of complex-valued square-integrable functions defined on Euclidean space.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few words on Hilbert spaces</a:t>
            </a:r>
            <a:endParaRPr lang="en-US" dirty="0"/>
          </a:p>
        </p:txBody>
      </p:sp>
      <p:pic>
        <p:nvPicPr>
          <p:cNvPr id="7" name="Picture 6" descr="\documentclass{article}&#10;\usepackage{amsmath,amssymb}&#10;\usepackage{braket}&#10;\usepackage{bm}&#10;\pagestyle{empty}&#10;\begin{document}&#10;&#10;\begin{equation*}&#10;\ket{\Psi} = \sum_{n} \ket{\phi_{n}}\braket{\phi_{n}|\Psi} + \int\mathrm{d}\alpha\, \ket{\phi_{\alpha}}\braket{\phi_{\alpha}|\Psi}&#10;\end{equation*}&#10;&#10;&#10;\end{document}" title="IguanaTex Bitmap Display">
            <a:extLst>
              <a:ext uri="{FF2B5EF4-FFF2-40B4-BE49-F238E27FC236}">
                <a16:creationId xmlns:a16="http://schemas.microsoft.com/office/drawing/2014/main" id="{63056CDD-95E6-405C-8FBC-7642735E95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14858" y="3346293"/>
            <a:ext cx="4562285" cy="63695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7820D28E-1843-466E-9B3F-D94D2B4F661B}"/>
              </a:ext>
            </a:extLst>
          </p:cNvPr>
          <p:cNvSpPr txBox="1"/>
          <p:nvPr/>
        </p:nvSpPr>
        <p:spPr>
          <a:xfrm>
            <a:off x="473661" y="6000954"/>
            <a:ext cx="979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J. von Neumann, N. A. Wheeler, </a:t>
            </a:r>
            <a:r>
              <a:rPr lang="en-US" sz="1400" i="1" dirty="0"/>
              <a:t>Mathematical foundations of quantum mechanics </a:t>
            </a:r>
            <a:r>
              <a:rPr lang="en-US" sz="1400" dirty="0"/>
              <a:t>(Princeton University Press, Princeton, 1955).</a:t>
            </a:r>
          </a:p>
        </p:txBody>
      </p:sp>
      <p:pic>
        <p:nvPicPr>
          <p:cNvPr id="111" name="Picture 110" descr="\documentclass{article}&#10;\usepackage{amsmath,amssymb}&#10;\usepackage{braket}&#10;\usepackage{bm}&#10;\pagestyle{empty}&#10;\begin{document}&#10;&#10;\begin{equation*}&#10;\ket{\Psi} = \sum_{n} \ket{\phi_{n}}\braket{\phi_{n}|\Psi}&#10;\end{equation*}&#10;&#10;&#10;\end{document}" title="IguanaTex Bitmap Display">
            <a:extLst>
              <a:ext uri="{FF2B5EF4-FFF2-40B4-BE49-F238E27FC236}">
                <a16:creationId xmlns:a16="http://schemas.microsoft.com/office/drawing/2014/main" id="{C38FD478-6DDE-489F-BB05-580D101584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43239" y="4791609"/>
            <a:ext cx="2305523" cy="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7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(complete) orthogonal bases</a:t>
            </a:r>
          </a:p>
        </p:txBody>
      </p:sp>
      <p:pic>
        <p:nvPicPr>
          <p:cNvPr id="146" name="Picture 145" descr="\documentclass{article}&#10;\usepackage{amsmath,amssymb}&#10;\usepackage{braket}&#10;\usepackage{bm}&#10;\pagestyle{empty}&#10;\begin{document}&#10;&#10;\begin{equation*}&#10;\ket{\Psi} = \sum_{i}\ket{\phi_{i}}\braket{\phi_{i}|\Psi}&#10;\enspace\implies\enspace&#10;\bm{c}:c_{i} = \braket{\phi_{i}|\Psi}&#10;\end{equation*}&#10;&#10;&#10;\end{document}" title="IguanaTex Bitmap Display">
            <a:extLst>
              <a:ext uri="{FF2B5EF4-FFF2-40B4-BE49-F238E27FC236}">
                <a16:creationId xmlns:a16="http://schemas.microsoft.com/office/drawing/2014/main" id="{4CCBC57F-E5CE-4CED-87BA-CA2B3E4C78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740951" y="2411135"/>
            <a:ext cx="4710099" cy="540953"/>
          </a:xfrm>
          <a:prstGeom prst="rect">
            <a:avLst/>
          </a:prstGeom>
        </p:spPr>
      </p:pic>
      <p:pic>
        <p:nvPicPr>
          <p:cNvPr id="138" name="Picture 137" descr="\documentclass{article}&#10;\usepackage{amsmath,amssymb}&#10;\usepackage{mathtools}&#10;\usepackage{braket}&#10;\usepackage{bm}&#10;\pagestyle{empty}&#10;\begin{document}&#10;&#10;\begin{equation*}&#10;\hat{I} \coloneqq \sum_{k} \ket{\phi_{k}}\bra{\phi_{k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46FB1666-B678-4E5A-B0D0-7E8C57B9D8D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184763" y="4068186"/>
            <a:ext cx="1822475" cy="547047"/>
          </a:xfrm>
          <a:prstGeom prst="rect">
            <a:avLst/>
          </a:prstGeom>
        </p:spPr>
      </p:pic>
      <p:pic>
        <p:nvPicPr>
          <p:cNvPr id="154" name="Picture 153" descr="\documentclass{article}&#10;\usepackage{amsmath,amssymb}&#10;\usepackage{braket}&#10;\usepackage{bm}&#10;\pagestyle{empty}&#10;\begin{document}&#10;&#10;\begin{equation*}&#10;\braket{\Psi_{A}|\Psi_{B}}&#10;= \sum_{ij}\braket{\Psi_{A}|\phi_{i}}\braket{\phi_{i}|\phi_{j}}\braket{\phi_{j}|\Psi_{B}}&#10;= \sum_{ij}\braket{\Psi_{A}|\phi_{i}}\delta_{ij}\braket{\phi_{j}|\Psi_{B}}&#10;= \sum_{i}\braket{\Psi_{A}|\phi_{i}}\braket{\phi_{i}|\Psi_{B}}&#10;= \bm{c}_{A}^{\dagger}\bm{c}_{B}&#10;\\&#10;\end{equation*}&#10;&#10;&#10;\end{document}" title="IguanaTex Bitmap Display">
            <a:extLst>
              <a:ext uri="{FF2B5EF4-FFF2-40B4-BE49-F238E27FC236}">
                <a16:creationId xmlns:a16="http://schemas.microsoft.com/office/drawing/2014/main" id="{D6ACAB41-0BB7-414C-BDB9-63A3930B841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80190" y="3219089"/>
            <a:ext cx="10631620" cy="582096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1E0E6AB-9816-4A23-869A-ED26B318B9E3}"/>
              </a:ext>
            </a:extLst>
          </p:cNvPr>
          <p:cNvSpPr txBox="1"/>
          <p:nvPr/>
        </p:nvSpPr>
        <p:spPr>
          <a:xfrm>
            <a:off x="2933610" y="1856140"/>
            <a:ext cx="6324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1"/>
                </a:solidFill>
              </a:rPr>
              <a:t>All infinite-dimensional separable Hilbert spaces are isomorphic</a:t>
            </a:r>
          </a:p>
        </p:txBody>
      </p:sp>
      <p:pic>
        <p:nvPicPr>
          <p:cNvPr id="150" name="Picture 149" descr="\documentclass{article}&#10;\usepackage{amsmath,amssymb}&#10;\usepackage{braket}&#10;\usepackage{bm}&#10;\pagestyle{empty}&#10;\begin{document}&#10;&#10;\begin{equation*}&#10;\hat{H}\ket{E} = E\ket{E}&#10;\enspace\implies\enspace&#10;\sum_{j}\bra{\phi_{i}}\hat{H}\ket{\phi_{j}}\braket{\phi_{j}|E} = E\braket{\phi_{i}|E}&#10;\enspace\implies\enspace&#10;\sum_{j}\mathcal{H}_{ij}c_{E;j} = Ec_{E;i}&#10;\enspace\implies\enspace&#10;\bm{\mathcal{H}}\bm{c}_{E} = E\bm{c}_{E}&#10;\end{equation*}&#10;&#10;&#10;\end{document}" title="IguanaTex Bitmap Display">
            <a:extLst>
              <a:ext uri="{FF2B5EF4-FFF2-40B4-BE49-F238E27FC236}">
                <a16:creationId xmlns:a16="http://schemas.microsoft.com/office/drawing/2014/main" id="{7A535089-1E29-467A-BF5D-D94BC923CD6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5427" y="4882234"/>
            <a:ext cx="11561146" cy="576000"/>
          </a:xfrm>
          <a:prstGeom prst="rect">
            <a:avLst/>
          </a:prstGeom>
        </p:spPr>
      </p:pic>
      <p:pic>
        <p:nvPicPr>
          <p:cNvPr id="152" name="Picture 151" descr="\documentclass{article}&#10;\usepackage{amsmath,amssymb}&#10;\usepackage{braket}&#10;\usepackage{bm}&#10;\pagestyle{empty}&#10;\begin{document}&#10;&#10;\begin{equation*}&#10;\bm{c}_{E^{\prime}}^{\dagger}\bm{\mathcal{H}}\bm{c}_{E}&#10;= E\bm{c}_{E^{\prime}}^{\dagger}\bm{c}_{E} = E^{\prime}\bm{c}_{E^{\prime}}^{\dagger}\bm{c}_{E}&#10;\enspace\implies\enspace&#10;\bm{c}_{E^{\prime}}^{\dagger}\bm{c}_{E} = \delta_{E^{\prime}E}&#10;\\&#10;\end{equation*}&#10;&#10;&#10;\end{document}" title="IguanaTex Bitmap Display">
            <a:extLst>
              <a:ext uri="{FF2B5EF4-FFF2-40B4-BE49-F238E27FC236}">
                <a16:creationId xmlns:a16="http://schemas.microsoft.com/office/drawing/2014/main" id="{1DE60A8A-769F-43F0-BC47-BD8A9D6F8FF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178666" y="5725233"/>
            <a:ext cx="5834668" cy="32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9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</a:t>
            </a:r>
            <a:r>
              <a:rPr lang="en-US" baseline="30000" dirty="0"/>
              <a:t>2</a:t>
            </a:r>
          </a:p>
        </p:txBody>
      </p:sp>
      <p:pic>
        <p:nvPicPr>
          <p:cNvPr id="18" name="Picture 17" descr="\documentclass{article}&#10;\usepackage{amsmath,amssymb}&#10;\usepackage{braket}&#10;\usepackage{bm}&#10;\pagestyle{empty}&#10;\begin{document}&#10;&#10;\begin{equation*}&#10;\Psi{\left[\bm{r}\right]} = \sum_{i}\phi_{i}{\left[\bm{r}\right]}\braket{\phi_{i}|\Psi}&#10;\enspace\implies\enspace&#10;\bm{c}:c_{i} = \braket{\phi_{i}|\Psi} = \int \mathrm{d}\bm{r}\,\phi_{i}^{*}{\left[\bm{r}\right]}\Psi{\left[\bm{r}\right]}&#10;\end{equation*}&#10;&#10;&#10;\end{document}" title="IguanaTex Bitmap Display">
            <a:extLst>
              <a:ext uri="{FF2B5EF4-FFF2-40B4-BE49-F238E27FC236}">
                <a16:creationId xmlns:a16="http://schemas.microsoft.com/office/drawing/2014/main" id="{9C0E652C-BB8A-4546-B0DB-202F0293C6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585904" y="2411136"/>
            <a:ext cx="6936386" cy="644572"/>
          </a:xfrm>
          <a:prstGeom prst="rect">
            <a:avLst/>
          </a:prstGeom>
        </p:spPr>
      </p:pic>
      <p:pic>
        <p:nvPicPr>
          <p:cNvPr id="37" name="Picture 36" descr="\documentclass{article}&#10;\usepackage{amsmath,amssymb}&#10;\usepackage{mathtools}&#10;\usepackage{braket}&#10;\usepackage{bm}&#10;\pagestyle{empty}&#10;\begin{document}&#10;&#10;\begin{equation*}&#10;\hat{I}f{\left[\bm{r}\right]} \coloneqq \sum_{k} \phi_{k}\left[\bm{r}\right]\int\mathrm{d}\bm{r}^{\prime}\,\phi_{k}^{*}\left[\bm{r}^{\prime}\right]f{\left[\bm{r}^{\prime}\right]}&#10;\end{equation*}&#10;&#10;&#10;\end{document}" title="IguanaTex Bitmap Display">
            <a:extLst>
              <a:ext uri="{FF2B5EF4-FFF2-40B4-BE49-F238E27FC236}">
                <a16:creationId xmlns:a16="http://schemas.microsoft.com/office/drawing/2014/main" id="{8DC5AC34-4556-4BDF-9C18-8120E25EE6B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58477" y="3986906"/>
            <a:ext cx="3875047" cy="650666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1E0E6AB-9816-4A23-869A-ED26B318B9E3}"/>
              </a:ext>
            </a:extLst>
          </p:cNvPr>
          <p:cNvSpPr txBox="1"/>
          <p:nvPr/>
        </p:nvSpPr>
        <p:spPr>
          <a:xfrm>
            <a:off x="2578010" y="1856140"/>
            <a:ext cx="70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1"/>
                </a:solidFill>
              </a:rPr>
              <a:t>The space of square-integrable functions is a separable Hilbert space</a:t>
            </a:r>
          </a:p>
        </p:txBody>
      </p:sp>
      <p:pic>
        <p:nvPicPr>
          <p:cNvPr id="45" name="Picture 44" descr="\documentclass{article}&#10;\usepackage{amsmath,amssymb}&#10;\usepackage{braket}&#10;\usepackage{bm}&#10;\pagestyle{empty}&#10;\begin{document}&#10;&#10;\begin{equation*}&#10;\hat{H}\Psi_{E}{\left[\bm{r}\right]} = E\Psi_{E}{\left[\bm{r}\right]}&#10;\enspace\implies\enspace&#10;\int \mathrm{d}\bm{r}\,\phi_{i}^{*}{\left[\bm{r}\right]}\hat{H}&#10;\left\{\sum_{j}\phi_{j}\left[\bm{r}\right]\int\mathrm{d}\bm{r}^{\prime}\,\phi_{j}^{*}\left[\bm{r}^{\prime}\right]\right\}&#10;\Psi_{E}{\left[\bm{r}^{\prime}\right]}&#10;= E\int \mathrm{d}\bm{r}\,\phi_{i}^{*}{\left[\bm{r}\right]}\Psi_{E}{\left[\bm{r}\right]}&#10;\end{equation*}&#10;&#10;&#10;\end{document}" title="IguanaTex Bitmap Display">
            <a:extLst>
              <a:ext uri="{FF2B5EF4-FFF2-40B4-BE49-F238E27FC236}">
                <a16:creationId xmlns:a16="http://schemas.microsoft.com/office/drawing/2014/main" id="{9D85C7A0-F489-4BC3-B2D3-312590A7887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89904" y="4714929"/>
            <a:ext cx="10412192" cy="912762"/>
          </a:xfrm>
          <a:prstGeom prst="rect">
            <a:avLst/>
          </a:prstGeom>
        </p:spPr>
      </p:pic>
      <p:pic>
        <p:nvPicPr>
          <p:cNvPr id="20" name="Picture 19" descr="\documentclass{article}&#10;\usepackage{amsmath,amssymb}&#10;\usepackage{braket}&#10;\usepackage{bm}&#10;\pagestyle{empty}&#10;\begin{document}&#10;&#10;\begin{equation*}&#10;\braket{\Psi_{A}|\Psi_{B}}&#10;= \int\mathrm{d}\bm{r}\,\sum_{ij}\braket{\Psi_{A}|\phi_{i}}\phi_{i}^{*}{\left[\bm{r}\right]}\phi_{j}{\left[\bm{r}\right]}\braket{\phi_{j}|\Psi_{B}}&#10;= \sum_{ij}\braket{\Psi_{A}|\phi_{i}}\delta_{ij}\braket{\phi_{j}|\Psi_{B}}&#10;= \sum_{i}\braket{\Psi_{A}|\phi_{i}}\braket{\phi_{i}|\Psi_{B}}&#10;= \bm{c}_{A}^{\dagger}\bm{c}_{B}&#10;\\&#10;\end{equation*}&#10;&#10;&#10;\end{document}" title="IguanaTex Bitmap Display">
            <a:extLst>
              <a:ext uri="{FF2B5EF4-FFF2-40B4-BE49-F238E27FC236}">
                <a16:creationId xmlns:a16="http://schemas.microsoft.com/office/drawing/2014/main" id="{934E6BEA-B76B-411E-9437-0BF1D858249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84952" y="3219089"/>
            <a:ext cx="11622096" cy="679620"/>
          </a:xfrm>
          <a:prstGeom prst="rect">
            <a:avLst/>
          </a:prstGeom>
        </p:spPr>
      </p:pic>
      <p:pic>
        <p:nvPicPr>
          <p:cNvPr id="50" name="Picture 49" descr="\documentclass{article}&#10;\usepackage{amsmath,amssymb,mathtools}&#10;\usepackage{braket}&#10;\usepackage{bm}&#10;\pagestyle{empty}&#10;\begin{document}&#10;&#10;\begin{equation*}&#10;\mathcal{H}_{ij}&#10;\coloneqq&#10;\int \mathrm{d}\bm{r}\,\phi_{i}^{*}{\left[\bm{r}\right]}\hat{H}\phi_{j}\left[\bm{r}\right]&#10;\end{equation*}&#10;&#10;&#10;\end{document}" title="IguanaTex Bitmap Display">
            <a:extLst>
              <a:ext uri="{FF2B5EF4-FFF2-40B4-BE49-F238E27FC236}">
                <a16:creationId xmlns:a16="http://schemas.microsoft.com/office/drawing/2014/main" id="{01618B06-8BA1-4DA4-997B-2825B3A0058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593396" y="5793336"/>
            <a:ext cx="2729143" cy="562286"/>
          </a:xfrm>
          <a:prstGeom prst="rect">
            <a:avLst/>
          </a:prstGeom>
        </p:spPr>
      </p:pic>
      <p:pic>
        <p:nvPicPr>
          <p:cNvPr id="52" name="Picture 51" descr="\documentclass{article}&#10;\usepackage{amsmath,amssymb}&#10;\usepackage{braket}&#10;\usepackage{bm}&#10;\pagestyle{empty}&#10;\begin{document}&#10;&#10;\begin{equation*}&#10;\hat{H}\ket{E} = E\ket{E}&#10;\enspace\implies\enspace&#10;\sum_{j}\mathcal{H}_{ij}c_{E;j} = Ec_{E;i}&#10;\end{equation*}&#10;&#10;&#10;\end{document}" title="IguanaTex Bitmap Display">
            <a:extLst>
              <a:ext uri="{FF2B5EF4-FFF2-40B4-BE49-F238E27FC236}">
                <a16:creationId xmlns:a16="http://schemas.microsoft.com/office/drawing/2014/main" id="{E6DA5021-5D65-4EC7-869B-D049560409F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915935" y="5786479"/>
            <a:ext cx="4682668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19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4C9A02-DF87-4D12-AF45-8085F0E53F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1426"/>
                <a:ext cx="10515600" cy="566565"/>
              </a:xfrm>
            </p:spPr>
            <p:txBody>
              <a:bodyPr/>
              <a:lstStyle/>
              <a:p>
                <a:r>
                  <a:rPr lang="en-US" dirty="0"/>
                  <a:t>What ‘complete’ means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4C9A02-DF87-4D12-AF45-8085F0E53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1426"/>
                <a:ext cx="10515600" cy="566565"/>
              </a:xfrm>
              <a:blipFill>
                <a:blip r:embed="rId5"/>
                <a:stretch>
                  <a:fillRect t="-13978" b="-30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 descr="\documentclass{article}&#10;\usepackage{amsmath,amssymb}&#10;\usepackage{braket}&#10;\usepackage{bm}&#10;\pagestyle{empty}&#10;\begin{document}&#10;&#10;\begin{equation*}&#10;\exists N \text{ such that }&#10;\int_{0}^{2\pi}\mathrm{d}\phi\int_{-1}^{1}\mathrm{d}\chi\int_{0}^{\infty}r^2\mathrm{d}r\,\left|\Delta_{f}^{(N)}{\left[\bm{r}\right]}\right|^2&#10;&lt; \epsilon,&#10;\quad \forall \epsilon &gt; 0 \text{ and } \forall f \in L^2{\left(\mathbb{R}^{3}\right)}&#10;\end{equation*}&#10;&#10;&#10;\end{document}" title="IguanaTex Bitmap Display">
            <a:extLst>
              <a:ext uri="{FF2B5EF4-FFF2-40B4-BE49-F238E27FC236}">
                <a16:creationId xmlns:a16="http://schemas.microsoft.com/office/drawing/2014/main" id="{F1CC3903-1666-4640-A5FC-CDC8DE5D5C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23614" y="4243814"/>
            <a:ext cx="8944772" cy="632380"/>
          </a:xfrm>
          <a:prstGeom prst="rect">
            <a:avLst/>
          </a:prstGeom>
        </p:spPr>
      </p:pic>
      <p:pic>
        <p:nvPicPr>
          <p:cNvPr id="30" name="Picture 29" descr="\documentclass{article}&#10;\usepackage{amsmath,amssymb}&#10;\usepackage{braket}&#10;\usepackage{bm}&#10;\pagestyle{empty}&#10;\begin{document}&#10;&#10;\begin{equation*}&#10;\Delta_{f}^{(N)}{\left[\bm{r}\right]}&#10;= &#10;f{\left[\bm{r}\right]} - \tilde{I}_{N}f{\left[\bm{r}\right]}&#10;= &#10;f{\left[\bm{r}\right]}&#10;-&#10;\sum_{n=0}^{N}\phi_{n}{\left[\bm{r}\right]}\int\mathrm{d}\bm{r}^{\prime}\,\phi_{n}^{*}\left[\bm{r}^{\prime}\right]f{\left[\bm{r}^{\prime}\right]}&#10;\end{equation*}&#10;&#10;&#10;\end{document}" title="IguanaTex Bitmap Display">
            <a:extLst>
              <a:ext uri="{FF2B5EF4-FFF2-40B4-BE49-F238E27FC236}">
                <a16:creationId xmlns:a16="http://schemas.microsoft.com/office/drawing/2014/main" id="{9A4A9B7E-4018-4EDC-8526-D7017732552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67236" y="3068881"/>
            <a:ext cx="6657528" cy="735999"/>
          </a:xfrm>
          <a:prstGeom prst="rect">
            <a:avLst/>
          </a:prstGeom>
        </p:spPr>
      </p:pic>
      <p:pic>
        <p:nvPicPr>
          <p:cNvPr id="28" name="Picture 27" descr="\documentclass{article}&#10;\usepackage{amsmath,amssymb}&#10;\usepackage{mathtools}&#10;\usepackage{braket}&#10;\usepackage{bm}&#10;\pagestyle{empty}&#10;\begin{document}&#10;&#10;\begin{equation*}&#10;\tilde{I}_{N}f{\left[\bm{r}\right]} \coloneqq \sum_{n=0}^{N} \phi_{n}\left[\bm{r}\right]\int\mathrm{d}\bm{r}^{\prime}\,\phi_{n}^{*}\left[\bm{r}^{\prime}\right]f{\left[\bm{r}^{\prime}\right]}&#10;\end{equation*}&#10;&#10;&#10;\end{document}" title="IguanaTex Bitmap Display">
            <a:extLst>
              <a:ext uri="{FF2B5EF4-FFF2-40B4-BE49-F238E27FC236}">
                <a16:creationId xmlns:a16="http://schemas.microsoft.com/office/drawing/2014/main" id="{70481C49-E761-4076-B2D0-C922D2628AA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051049" y="1893948"/>
            <a:ext cx="4089903" cy="7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5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complete orthogonal basis set (solid angle)</a:t>
            </a:r>
          </a:p>
        </p:txBody>
      </p:sp>
      <p:pic>
        <p:nvPicPr>
          <p:cNvPr id="11" name="Picture 10" descr="\documentclass{article}&#10;\usepackage{amsmath,amssymb}&#10;\usepackage{bm}&#10;\pagestyle{empty}&#10;\begin{document}&#10;&#10;\begin{align*}&#10;\hat{Y}_{ml\zeta}{\left[\bm{\Omega}\right]}&#10;&amp; = &#10;\hat{Q}_{m\zeta}{\left[\phi\right]}&#10;\hat{\mathcal{P}}_{lm}{\left[\chi\right]}&#10;\\&#10;\end{align*}&#10;&#10;\end{document} " title="IguanaTex Bitmap Display">
            <a:extLst>
              <a:ext uri="{FF2B5EF4-FFF2-40B4-BE49-F238E27FC236}">
                <a16:creationId xmlns:a16="http://schemas.microsoft.com/office/drawing/2014/main" id="{7A3A82D4-1198-42C5-8309-D25C9BE2E9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57332" y="2660403"/>
            <a:ext cx="2677336" cy="313903"/>
          </a:xfrm>
          <a:prstGeom prst="rect">
            <a:avLst/>
          </a:prstGeom>
        </p:spPr>
      </p:pic>
      <p:pic>
        <p:nvPicPr>
          <p:cNvPr id="9" name="Picture 8" descr="\documentclass{article}&#10;\usepackage{amsmath,amssymb}&#10;\usepackage{bm}&#10;\pagestyle{empty}&#10;\begin{document}&#10;&#10;\begin{align*}&#10;\hat{Q}_{m\zeta}{\left[\phi\right]}&#10;&amp; = &#10;\frac{1}{\sqrt{2\pi}}&#10;\left(&#10;\delta_{m0}\frac{1+\zeta}{2}&#10;+&#10;\left(1-\delta_{m0}\right)\frac{\mathrm{e}^{\mathrm{i}m \phi}+ \zeta\mathrm{e}^{-\mathrm{i}m \phi}}{\sqrt{2}}&#10;\right)&#10;\\&#10;\hat{\mathcal{P}}_{lm}{\left[\chi\right]}&#10;&amp; = &#10;\sqrt{\left(l+\frac{1}{2}\right)\frac{\left(l-m\right)!}{\left(l+m\right)!}}&#10;P_{lm}{\left[\chi\right]}&#10;\\&#10;\end{align*}&#10;&#10;\end{document} " title="IguanaTex Bitmap Display">
            <a:extLst>
              <a:ext uri="{FF2B5EF4-FFF2-40B4-BE49-F238E27FC236}">
                <a16:creationId xmlns:a16="http://schemas.microsoft.com/office/drawing/2014/main" id="{DE40C639-E517-4167-970E-4C09C2E320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61331" y="3699873"/>
            <a:ext cx="6069339" cy="14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8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complete orthogonal basis set (radial part)</a:t>
            </a:r>
          </a:p>
        </p:txBody>
      </p:sp>
      <p:pic>
        <p:nvPicPr>
          <p:cNvPr id="18" name="Picture 17" descr="\documentclass{article}&#10;\usepackage{amsmath,amssymb}&#10;\usepackage{braket}&#10;\usepackage{bm}&#10;\pagestyle{empty}&#10;\begin{document}&#10;&#10;\begin{equation*}&#10;\varphi_{mlk\zeta}^{\left(W\eta\right)}{\left(\bm{r}\right)}&#10;= &#10;\hat{Y}_{ml\zeta}{\left[\bm{\Omega}\right]}&#10;\hat{\mathcal{R}}_{kl}^{\left(W\eta\right)}{\left[r\right]}&#10;\end{equation*}&#10;&#10;&#10;\end{document}" title="IguanaTex Bitmap Display">
            <a:extLst>
              <a:ext uri="{FF2B5EF4-FFF2-40B4-BE49-F238E27FC236}">
                <a16:creationId xmlns:a16="http://schemas.microsoft.com/office/drawing/2014/main" id="{237BFD37-DA93-443D-98C9-C00679A771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13143" y="2443431"/>
            <a:ext cx="3131428" cy="376380"/>
          </a:xfrm>
          <a:prstGeom prst="rect">
            <a:avLst/>
          </a:prstGeom>
        </p:spPr>
      </p:pic>
      <p:pic>
        <p:nvPicPr>
          <p:cNvPr id="20" name="Picture 19" descr="\documentclass{article}&#10;\usepackage{amsmath,amssymb}&#10;\usepackage{bm}&#10;\pagestyle{empty}&#10;\begin{document}&#10;&#10;\begin{align*}&#10;\hat{\mathcal{R}}_{kl}^{\left(W\eta\right)}{\left[r\right]}&#10;&amp; =&#10;\left(\frac{2}{W\eta}\right)^{\frac{3}{2}}&#10;\sqrt{W}&#10;\left[&#10;\left(\sqrt{\rho}\right)^{\alpha_{l}+1-\frac{3}{W}}&#10;\mathrm{e}^{-\rho/2}&#10;\hat{L}_{k}^{\left(\alpha_{l}\right)}{\left(\rho\right)}&#10;\right|_{\rho \rightarrow \left(2r/W\eta\right)^{W}}&#10;\\&#10;\alpha_{l}&#10;&amp; =&#10;\frac{2}{W}\left(l+\frac{1}{W}\right)&#10;\\&#10;\hat{L}_{k}^{\left(\alpha\right)}{\left(\rho\right)}&#10;&amp; =&#10;\sqrt{\frac{k!}{\Gamma\left(k+\alpha+1\right)}}\sum_{i=0}^{k}(-1)^{i}\binom{k+\alpha}{k-i}\frac{\rho^{i}}{i!}&#10;\end{align*}&#10;&#10;\end{document} " title="IguanaTex Bitmap Display">
            <a:extLst>
              <a:ext uri="{FF2B5EF4-FFF2-40B4-BE49-F238E27FC236}">
                <a16:creationId xmlns:a16="http://schemas.microsoft.com/office/drawing/2014/main" id="{DE3981EA-0F35-47B6-97D7-35CE421D9E0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59423" y="3433263"/>
            <a:ext cx="7273155" cy="227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8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complete orthogonal basis set (introducing anisotropy)</a:t>
            </a:r>
          </a:p>
        </p:txBody>
      </p:sp>
      <p:pic>
        <p:nvPicPr>
          <p:cNvPr id="10" name="Picture 9" descr="\documentclass{article}&#10;\usepackage{amsmath,amssymb}&#10;\usepackage{braket}&#10;\usepackage{bm}&#10;\pagestyle{empty}&#10;\begin{document}&#10;&#10;\begin{align*}&#10;\varphi_{mlk\zeta}^{\left(W\eta\lambda\right)}{\left[\bm{r}\right]}&#10;&amp; = &#10;\sqrt{\lambda}\left[\varphi_{mlk\zeta}^{\left(W\eta\right)}{\left[\bm{r}\right]}\right|_{z\rightarrow\lambda z}&#10;\\&#10;\varphi_{mlk\zeta}^{\left(W\eta\lambda\right)}{\left[\bm{r}\right]}&#10;&amp; = &#10;\hat{Q}_{m\zeta}{\left[\phi\right]}&#10;\sqrt{\frac{\lambda}{\vartheta_{\lambda}{\left[\chi\right]}^{3}}}\hat{\mathcal{P}}_{lm}{\left[\frac{\lambda\chi}{\vartheta_{\lambda}{\left[\chi\right]}}\right]}&#10;\sqrt{{\vartheta_{\lambda}{\left[\chi\right]}^{3}}}\hat{\mathcal{R}}_{kl}^{(W\eta)}{\left[r\vartheta_{\lambda}{\left[\chi\right]}\right]}&#10;\\&#10;\vartheta_{\lambda}{\left[\chi\right]}&#10;&amp; =&#10;\sqrt{1+\left(\lambda^{2}-1\right)\chi^{2}}&#10;\\&#10;\end{align*}&#10;&#10;&#10;\end{document}" title="IguanaTex Bitmap Display">
            <a:extLst>
              <a:ext uri="{FF2B5EF4-FFF2-40B4-BE49-F238E27FC236}">
                <a16:creationId xmlns:a16="http://schemas.microsoft.com/office/drawing/2014/main" id="{812F1B97-8B76-4F9D-9594-637D4DFD63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94285" y="2630522"/>
            <a:ext cx="7003430" cy="175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non-orthogonality -- subbases</a:t>
            </a:r>
          </a:p>
        </p:txBody>
      </p:sp>
      <p:pic>
        <p:nvPicPr>
          <p:cNvPr id="4" name="Picture 3" descr="\documentclass{article}&#10;\usepackage{amsmath,amssymb}&#10;\usepackage{braket}&#10;\usepackage{bm}&#10;\pagestyle{empty}&#10;\begin{document}&#10;&#10;\begin{equation*}&#10;\Psi{\left[\bm{r}\right]}&#10;\approx&#10;\sum_{n=0}^{N}\sum_{i=0}^{I_{n}} c_{\left(mlk\zeta\right)_{ni}} \varphi_{\left(m\zeta lk\right)_{ni}}^{W\left(\eta\lambda\right)_{n}}{\left[\bm{r}\right]}&#10;\end{equation*}&#10;&#10;&#10;\end{document}" title="IguanaTex Bitmap Display">
            <a:extLst>
              <a:ext uri="{FF2B5EF4-FFF2-40B4-BE49-F238E27FC236}">
                <a16:creationId xmlns:a16="http://schemas.microsoft.com/office/drawing/2014/main" id="{8D4F9F6C-5A85-438D-B140-D93E2D4384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93525" y="3057953"/>
            <a:ext cx="3804951" cy="74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29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non-orthogonal bases</a:t>
            </a:r>
          </a:p>
        </p:txBody>
      </p:sp>
      <p:pic>
        <p:nvPicPr>
          <p:cNvPr id="72" name="Picture 71" descr="\documentclass{article}&#10;\usepackage{amsmath,amssymb}&#10;\usepackage{braket}&#10;\usepackage{bm}&#10;\pagestyle{empty}&#10;\begin{document}&#10;&#10;\begin{equation*}&#10;\delta_{ij} = \braket{\phi_{i}|\phi_{j}}&#10;\quad\implies\quad&#10;\mathcal{S}_{ij} = \braket{\varphi_{i}|\varphi_{j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61F5977E-4143-45AE-A363-38FE5F6067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094476" y="2006779"/>
            <a:ext cx="4003049" cy="265143"/>
          </a:xfrm>
          <a:prstGeom prst="rect">
            <a:avLst/>
          </a:prstGeom>
        </p:spPr>
      </p:pic>
      <p:pic>
        <p:nvPicPr>
          <p:cNvPr id="62" name="Picture 61" descr="\documentclass{article}&#10;\usepackage{amsmath,amssymb}&#10;\usepackage{braket}&#10;\usepackage{bm}&#10;\pagestyle{empty}&#10;\begin{document}&#10;&#10;\begin{equation*}&#10;\ket{\Psi} = \sum_{i}\ket{\phi_{i}}\braket{\phi_{i}|\Psi}&#10;\quad\implies\quad&#10;\ket{\Psi} = \sum_{ij} \ket{\varphi_{i}}\left(\bm{\mathcal{S}}^{-1}\right)_{ij}\braket{\varphi_{j}|\Psi}&#10;\end{equation*}&#10;&#10;&#10;\end{document}" title="IguanaTex Bitmap Display">
            <a:extLst>
              <a:ext uri="{FF2B5EF4-FFF2-40B4-BE49-F238E27FC236}">
                <a16:creationId xmlns:a16="http://schemas.microsoft.com/office/drawing/2014/main" id="{50F4A147-6372-49A7-A4C3-18BCD371522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87050" y="3698357"/>
            <a:ext cx="6617901" cy="576001"/>
          </a:xfrm>
          <a:prstGeom prst="rect">
            <a:avLst/>
          </a:prstGeom>
        </p:spPr>
      </p:pic>
      <p:pic>
        <p:nvPicPr>
          <p:cNvPr id="4" name="Picture 3" descr="\documentclass{article}&#10;\usepackage{amsmath,amssymb}&#10;\usepackage{braket}&#10;\usepackage{bm}&#10;\pagestyle{empty}&#10;\begin{document}&#10;&#10;\begin{equation*}&#10;\hat{I} = \sum_{k} \ket{\phi_{k}}\bra{\phi_{k}}&#10;\quad\implies\quad&#10;\hat{I} = \sum_{ij} \ket{\varphi_{i}}\left(\bm{\mathcal{S}}^{-1}\right)_{ij}\bra{\varphi_{j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C2EF9511-C046-432A-8BE7-26E07410D6E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267047" y="4641976"/>
            <a:ext cx="5657906" cy="576001"/>
          </a:xfrm>
          <a:prstGeom prst="rect">
            <a:avLst/>
          </a:prstGeom>
        </p:spPr>
      </p:pic>
      <p:pic>
        <p:nvPicPr>
          <p:cNvPr id="75" name="Picture 74" descr="\documentclass{article}&#10;\usepackage{amsmath,amssymb}&#10;\usepackage{braket}&#10;\usepackage{bm}&#10;\pagestyle{empty}&#10;\begin{document}&#10;&#10;\begin{equation*}&#10;\ket{\Psi} = \sum_{i}\ket{\varphi_{i}}c_{i}&#10;\quad\quad&#10;\braket{\varphi_{i}|\Psi} = \sum_{j}\mathcal{S}_{ij}c_{j}&#10;\quad\quad&#10;c_{i} = \sum_{j}\left(\bm{\mathcal{S}}^{-1}\right)_{ij}\braket{\varphi_{j}|\Psi}&#10;\\&#10;\end{equation*}&#10;&#10;&#10;\end{document}" title="IguanaTex Bitmap Display">
            <a:extLst>
              <a:ext uri="{FF2B5EF4-FFF2-40B4-BE49-F238E27FC236}">
                <a16:creationId xmlns:a16="http://schemas.microsoft.com/office/drawing/2014/main" id="{24FB0652-D599-4CCB-9ED4-0EB2E8F9FCB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79086" y="2639539"/>
            <a:ext cx="8833828" cy="691200"/>
          </a:xfrm>
          <a:prstGeom prst="rect">
            <a:avLst/>
          </a:prstGeom>
        </p:spPr>
      </p:pic>
      <p:pic>
        <p:nvPicPr>
          <p:cNvPr id="81" name="Picture 80" descr="\documentclass{article}&#10;\usepackage{amsmath,amssymb}&#10;\usepackage{braket}&#10;\usepackage{bm}&#10;\pagestyle{empty}&#10;\begin{document}&#10;&#10;\begin{equation*}&#10;\braket{\Psi_{A}|\Psi_{B}} = \sum_{ij}c_{A;i}^{*}\mathcal{S}_{ij}c_{B;j} = \bm{c}_{A}^{\dagger}\bm{\mathcal{S}}\bm{c}_{B}&#10;\\&#10;\end{equation*}&#10;&#10;&#10;\end{document}" title="IguanaTex Bitmap Display">
            <a:extLst>
              <a:ext uri="{FF2B5EF4-FFF2-40B4-BE49-F238E27FC236}">
                <a16:creationId xmlns:a16="http://schemas.microsoft.com/office/drawing/2014/main" id="{A15BEAA9-01A9-49AB-AF88-BC9A3A64599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701486" y="5585594"/>
            <a:ext cx="4789028" cy="69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95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eigenvalue problem in a non-orthogonal basis</a:t>
            </a:r>
          </a:p>
        </p:txBody>
      </p:sp>
      <p:pic>
        <p:nvPicPr>
          <p:cNvPr id="24" name="Picture 23" descr="\documentclass{article}&#10;\usepackage{amsmath,amssymb}&#10;\usepackage{braket}&#10;\usepackage{bm}&#10;\pagestyle{empty}&#10;\begin{document}&#10;&#10;\begin{equation*}&#10;\hat{H}\ket{E} = E\ket{E}&#10;\end{equation*}&#10;&#10;&#10;\end{document}" title="IguanaTex Bitmap Display">
            <a:extLst>
              <a:ext uri="{FF2B5EF4-FFF2-40B4-BE49-F238E27FC236}">
                <a16:creationId xmlns:a16="http://schemas.microsoft.com/office/drawing/2014/main" id="{6AE9A2F2-0EF6-4FD7-B9C7-ED8F8AC584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161600" y="2270939"/>
            <a:ext cx="1868800" cy="363886"/>
          </a:xfrm>
          <a:prstGeom prst="rect">
            <a:avLst/>
          </a:prstGeom>
        </p:spPr>
      </p:pic>
      <p:pic>
        <p:nvPicPr>
          <p:cNvPr id="26" name="Picture 25" descr="\documentclass{article}&#10;\usepackage{amsmath,amssymb}&#10;\usepackage{braket}&#10;\usepackage{bm}&#10;\pagestyle{empty}&#10;\begin{document}&#10;&#10;\begin{align*}&#10;\sum_{j}\bra{\phi_{i}}\hat{H}\ket{\phi_{j}}\braket{\phi_{j}|E} &amp; = E\braket{\phi_{i}|E} \\&#10;\sum_{j}\bm{\mathcal{H}}_{ij}c_{E;j} &amp; = Ec_{E;i} \\&#10;\bm{\mathcal{H}}\bm{c}_{E} &amp; = E\bm{c}_{E} \\&#10;\end{align*}&#10;&#10;&#10;\end{document}" title="IguanaTex Bitmap Display">
            <a:extLst>
              <a:ext uri="{FF2B5EF4-FFF2-40B4-BE49-F238E27FC236}">
                <a16:creationId xmlns:a16="http://schemas.microsoft.com/office/drawing/2014/main" id="{30A77D46-62A4-4AB4-8388-5F8157B88E2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51047" y="3324605"/>
            <a:ext cx="3564192" cy="1676190"/>
          </a:xfrm>
          <a:prstGeom prst="rect">
            <a:avLst/>
          </a:prstGeom>
        </p:spPr>
      </p:pic>
      <p:pic>
        <p:nvPicPr>
          <p:cNvPr id="28" name="Picture 27" descr="\documentclass{article}&#10;\usepackage{amsmath,amssymb}&#10;\usepackage{braket}&#10;\usepackage{bm}&#10;\pagestyle{empty}&#10;\begin{document}&#10;&#10;\begin{align*}&#10;\sum_{jk}\bra{\varphi_{i}}\hat{H}\ket{\varphi_{j}}\left(\bm{\mathcal{S}}^{-1}\right)_{jk}\braket{\varphi_{k}|E} &amp; = E\braket{\varphi_{i}|E} \\&#10;\sum_{j}\bm{\mathcal{H}}_{ij}c_{E;j} &amp; = E\sum_{j}\bm{\mathcal{S}}_{ij}c_{E;j} \\&#10;\bm{\mathcal{H}}\bm{c}_{E} &amp; = E\bm{\mathcal{S}}\bm{c}_{E} \\&#10;\end{align*}&#10;&#10;&#10;\end{document}" title="IguanaTex Bitmap Display">
            <a:extLst>
              <a:ext uri="{FF2B5EF4-FFF2-40B4-BE49-F238E27FC236}">
                <a16:creationId xmlns:a16="http://schemas.microsoft.com/office/drawing/2014/main" id="{3F34229C-C70C-481E-87FD-41CB24CF9A4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066286" y="3322319"/>
            <a:ext cx="5089525" cy="1680762"/>
          </a:xfrm>
          <a:prstGeom prst="rect">
            <a:avLst/>
          </a:prstGeom>
        </p:spPr>
      </p:pic>
      <p:pic>
        <p:nvPicPr>
          <p:cNvPr id="35" name="Picture 34" descr="\documentclass{article}&#10;\usepackage{amsmath,amssymb}&#10;\usepackage{braket}&#10;\usepackage{bm}&#10;\pagestyle{empty}&#10;\begin{document}&#10;&#10;\begin{equation*}&#10;\bm{c}_{E^{\prime}}^{\dagger}\bm{\mathcal{H}}\bm{c}_{E}&#10;= E\bm{c}_{E^{\prime}}^{\dagger}\bm{\mathcal{S}}\bm{c}_{E} = E^{\prime}\bm{c}_{E^{\prime}}^{\dagger}\bm{\mathcal{S}}\bm{c}_{E}&#10;\quad\implies\quad&#10;\bm{c}_{E^{\prime}}^{\dagger}\bm{\mathcal{S}}\bm{c}_{E} = \delta_{E^{\prime}E}&#10;\\&#10;\end{equation*}&#10;&#10;&#10;\end{document}" title="IguanaTex Bitmap Display">
            <a:extLst>
              <a:ext uri="{FF2B5EF4-FFF2-40B4-BE49-F238E27FC236}">
                <a16:creationId xmlns:a16="http://schemas.microsoft.com/office/drawing/2014/main" id="{12C5C853-93C1-4012-B34C-1CBC73EAFA1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093258" y="5585593"/>
            <a:ext cx="8005484" cy="38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6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problem</a:t>
            </a:r>
          </a:p>
        </p:txBody>
      </p:sp>
      <p:pic>
        <p:nvPicPr>
          <p:cNvPr id="76" name="Picture 75" descr="\documentclass{article}&#10;\usepackage{amsmath,amssymb}&#10;\usepackage{bm}&#10;\pagestyle{empty}&#10;\begin{document}&#10;&#10;\begin{equation*}&#10;\bm{\mathcal{H}}\bm{c}_{E} = E\bm{\mathcal{S}}\bm{c}_{E}&#10;\quad\quad&#10;\Psi_{E}{\left[\bm{r}\right]} = \sum_{n=0}^{N}\sum_{i=0}^{I_{n}}\varphi_{ni}{\left[\bm{r}\right]}\left(c_{E}\right)_{ni}&#10;\end{equation*}&#10;&#10;&#10;\end{document}" title="IguanaTex Bitmap Display">
            <a:extLst>
              <a:ext uri="{FF2B5EF4-FFF2-40B4-BE49-F238E27FC236}">
                <a16:creationId xmlns:a16="http://schemas.microsoft.com/office/drawing/2014/main" id="{4A0B327D-A2B5-4830-A299-6F6E60C131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04571" y="2563431"/>
            <a:ext cx="6582858" cy="927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BB2C24-8E8A-4E0B-90C9-1AB80B88639F}"/>
              </a:ext>
            </a:extLst>
          </p:cNvPr>
          <p:cNvSpPr txBox="1"/>
          <p:nvPr/>
        </p:nvSpPr>
        <p:spPr>
          <a:xfrm>
            <a:off x="1041219" y="1805340"/>
            <a:ext cx="10414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The benefit of a generalist approach</a:t>
            </a:r>
          </a:p>
          <a:p>
            <a:r>
              <a:rPr lang="en-US" dirty="0"/>
              <a:t>This problem statement potentially encompasses a wide variety of problems our group might be interested in. </a:t>
            </a:r>
          </a:p>
        </p:txBody>
      </p:sp>
      <p:pic>
        <p:nvPicPr>
          <p:cNvPr id="74" name="Picture 73" descr="\documentclass{article}&#10;\usepackage{amsmath,amssymb}&#10;\usepackage{bm}&#10;\pagestyle{empty}&#10;\begin{document}&#10;&#10;\begin{align*}&#10;\mathcal{S}_{mi,nj}  &amp; = \int\mathrm{d}\bm{r}\,\varphi_{mi}^{*}{\left[\bm{r}\right]}\varphi_{nj}{\left[\bm{r}\right]} \\&#10;\mathcal{H}_{mi,nj}  &amp; = \int\mathrm{d}\bm{r}\,\varphi_{mi}^{*}{\left[\bm{r}\right]}&#10;\left\{-\nabla_{\bm{r}}^{2}+\left(1-\gamma\right)\frac{\mathrm{d}^{2}}{\mathrm{d}z^{2}}+V\left[\bm{r}\right]\right\}&#10;\varphi_{nj}{\left[\bm{r}\right]} \\&#10;V{\left[\bm{r}\right]} &amp; = \sum_{k} r^{d_{k}}\tilde{U}_{k}{\left[\bm{\Omega}\right]}\exp{\left(-\tilde{\alpha}_{k}{\left[\bm{\Omega}\right]}r - \beta_{k}{\left[\bm{\Omega}\right]}r^{2}\right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C4CD1FAE-6173-4FD3-8120-9E15679EEE2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57142" y="3646272"/>
            <a:ext cx="6477716" cy="195352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498C9BD-1657-4E26-98A1-2E47051C452D}"/>
              </a:ext>
            </a:extLst>
          </p:cNvPr>
          <p:cNvSpPr txBox="1"/>
          <p:nvPr/>
        </p:nvSpPr>
        <p:spPr>
          <a:xfrm>
            <a:off x="688250" y="5797616"/>
            <a:ext cx="108155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chemeClr val="accent1"/>
                </a:solidFill>
              </a:rPr>
              <a:t>Note!:</a:t>
            </a:r>
            <a:r>
              <a:rPr lang="en-US" dirty="0"/>
              <a:t> Expressions and formulae for all matrix elements have been computed, </a:t>
            </a:r>
            <a:r>
              <a:rPr lang="en-US" b="1" dirty="0">
                <a:solidFill>
                  <a:srgbClr val="C00000"/>
                </a:solidFill>
              </a:rPr>
              <a:t>but not yet implemented in code.</a:t>
            </a:r>
          </a:p>
        </p:txBody>
      </p:sp>
    </p:spTree>
    <p:extLst>
      <p:ext uri="{BB962C8B-B14F-4D97-AF65-F5344CB8AC3E}">
        <p14:creationId xmlns:p14="http://schemas.microsoft.com/office/powerpoint/2010/main" val="1884053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calculation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BB2C24-8E8A-4E0B-90C9-1AB80B88639F}"/>
              </a:ext>
            </a:extLst>
          </p:cNvPr>
          <p:cNvSpPr txBox="1"/>
          <p:nvPr/>
        </p:nvSpPr>
        <p:spPr>
          <a:xfrm>
            <a:off x="1041219" y="1805340"/>
            <a:ext cx="10414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The benefit of a generalist approach</a:t>
            </a:r>
          </a:p>
          <a:p>
            <a:r>
              <a:rPr lang="en-US" dirty="0"/>
              <a:t>This problem statement potentially encompasses a wide variety of problems our group might be interested in. </a:t>
            </a:r>
          </a:p>
        </p:txBody>
      </p:sp>
      <p:pic>
        <p:nvPicPr>
          <p:cNvPr id="20" name="Picture 19" descr="\documentclass{article}&#10;\usepackage{amsmath,amssymb}&#10;\usepackage{bm}&#10;\pagestyle{empty}&#10;\begin{document}&#10;&#10;\begin{align*}&#10;\left\{\mathcal{H}^{2}\right\}_{ij}  &amp; = \int\mathrm{d}\bm{r}\,\varphi_{i}^{*}{\left[\bm{r}\right]}&#10;\left\{-\nabla_{\bm{r}}^{2}+\left(1-\gamma\right)\frac{\mathrm{d}^{2}}{\mathrm{d}z^{2}}+V\left[\bm{r}\right]\right\}^{2}&#10;\varphi_{j}{\left[\bm{r}\right]} \\&#10;\end{align*}&#10;&#10;&#10;\end{document}" title="IguanaTex Bitmap Display">
            <a:extLst>
              <a:ext uri="{FF2B5EF4-FFF2-40B4-BE49-F238E27FC236}">
                <a16:creationId xmlns:a16="http://schemas.microsoft.com/office/drawing/2014/main" id="{55D3726C-C966-42E8-8A58-D1A2467E62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24952" y="2782673"/>
            <a:ext cx="6342096" cy="673525"/>
          </a:xfrm>
          <a:prstGeom prst="rect">
            <a:avLst/>
          </a:prstGeom>
        </p:spPr>
      </p:pic>
      <p:pic>
        <p:nvPicPr>
          <p:cNvPr id="24" name="Picture 23" descr="\documentclass{article}&#10;\usepackage{amsmath,amssymb}&#10;\usepackage{braket}&#10;\usepackage{bm}&#10;\pagestyle{empty}&#10;\begin{document}&#10;&#10;\begin{equation*}&#10;\sigma{\left[E\right]}^{2} = \bm{c}_{E}^{\dagger}\left\{\mathcal{H}^{2}\right\}\bm{c}_{E} - E^2&#10;\\&#10;\end{equation*}&#10;&#10;&#10;\end{document}" title="IguanaTex Bitmap Display">
            <a:extLst>
              <a:ext uri="{FF2B5EF4-FFF2-40B4-BE49-F238E27FC236}">
                <a16:creationId xmlns:a16="http://schemas.microsoft.com/office/drawing/2014/main" id="{32A0846A-6C0C-47F2-9DDF-CEEADCFEEA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87201" y="4203835"/>
            <a:ext cx="3417599" cy="402285"/>
          </a:xfrm>
          <a:prstGeom prst="rect">
            <a:avLst/>
          </a:prstGeom>
        </p:spPr>
      </p:pic>
      <p:pic>
        <p:nvPicPr>
          <p:cNvPr id="22" name="Picture 21" descr="\documentclass{article}&#10;\usepackage{amsmath,amssymb}&#10;\usepackage{braket}&#10;\usepackage{bm}&#10;\pagestyle{empty}&#10;\begin{document}&#10;&#10;\begin{equation*}&#10;\left\{\mathcal{H}^{2}\right\} \ne \bm{\mathcal{H}}^{2}&#10;\end{equation*}&#10;&#10;&#10;\end{document}" title="IguanaTex Bitmap Display">
            <a:extLst>
              <a:ext uri="{FF2B5EF4-FFF2-40B4-BE49-F238E27FC236}">
                <a16:creationId xmlns:a16="http://schemas.microsoft.com/office/drawing/2014/main" id="{765B9511-97AF-4CE9-8C50-1A35EBFBFDB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331658" y="5152613"/>
            <a:ext cx="1528685" cy="38034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F429D73-9AE1-4175-BC3F-37ABCB2CBCDF}"/>
              </a:ext>
            </a:extLst>
          </p:cNvPr>
          <p:cNvSpPr txBox="1"/>
          <p:nvPr/>
        </p:nvSpPr>
        <p:spPr>
          <a:xfrm>
            <a:off x="688250" y="5797616"/>
            <a:ext cx="108155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chemeClr val="accent1"/>
                </a:solidFill>
              </a:rPr>
              <a:t>Note!:</a:t>
            </a:r>
            <a:r>
              <a:rPr lang="en-US" dirty="0"/>
              <a:t> Expressions and formulae for all matrix elements have been computed, </a:t>
            </a:r>
            <a:r>
              <a:rPr lang="en-US" b="1" dirty="0">
                <a:solidFill>
                  <a:srgbClr val="C00000"/>
                </a:solidFill>
              </a:rPr>
              <a:t>but not yet implemented in code.</a:t>
            </a:r>
          </a:p>
        </p:txBody>
      </p:sp>
    </p:spTree>
    <p:extLst>
      <p:ext uri="{BB962C8B-B14F-4D97-AF65-F5344CB8AC3E}">
        <p14:creationId xmlns:p14="http://schemas.microsoft.com/office/powerpoint/2010/main" val="1132654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potential problems</a:t>
            </a:r>
          </a:p>
        </p:txBody>
      </p:sp>
      <p:pic>
        <p:nvPicPr>
          <p:cNvPr id="13" name="Picture 12" descr="\documentclass{article}&#10;\usepackage{amsmath,amssymb}&#10;\usepackage{bm}&#10;\pagestyle{empty}&#10;\begin{document}&#10;&#10;\begin{align*}&#10;V{\left[\bm{r}\right]} &amp; = -\frac{2}{r}\quad\text{ or }\quad V{\left[\bm{r}\right]} = +r^{2} \\&#10;\end{align*}&#10;&#10;&#10;\end{document}" title="IguanaTex Bitmap Display">
            <a:extLst>
              <a:ext uri="{FF2B5EF4-FFF2-40B4-BE49-F238E27FC236}">
                <a16:creationId xmlns:a16="http://schemas.microsoft.com/office/drawing/2014/main" id="{0B39DD75-B1DA-48B2-AE21-8E7B9D2D30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33523" y="4689492"/>
            <a:ext cx="3324955" cy="516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1CB75F-8648-4CAA-85D7-1A01777E6F92}"/>
              </a:ext>
            </a:extLst>
          </p:cNvPr>
          <p:cNvSpPr txBox="1"/>
          <p:nvPr/>
        </p:nvSpPr>
        <p:spPr>
          <a:xfrm>
            <a:off x="3053603" y="1805340"/>
            <a:ext cx="6084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Useful practical and numerical benchmark</a:t>
            </a:r>
          </a:p>
          <a:p>
            <a:r>
              <a:rPr lang="en-US" dirty="0"/>
              <a:t>The general problem statement can be simplified to investigate </a:t>
            </a:r>
          </a:p>
          <a:p>
            <a:pPr marL="342900" indent="-342900">
              <a:buAutoNum type="arabicParenR"/>
            </a:pPr>
            <a:r>
              <a:rPr lang="en-US" dirty="0"/>
              <a:t>the hydrogen atom,</a:t>
            </a:r>
          </a:p>
          <a:p>
            <a:pPr marL="342900" indent="-342900">
              <a:buAutoNum type="arabicParenR"/>
            </a:pPr>
            <a:r>
              <a:rPr lang="en-US" dirty="0"/>
              <a:t>the 3-d central harmonic oscillator. </a:t>
            </a:r>
          </a:p>
        </p:txBody>
      </p:sp>
      <p:pic>
        <p:nvPicPr>
          <p:cNvPr id="11" name="Picture 10" descr="\documentclass{article}&#10;\usepackage{amsmath,amssymb}&#10;\usepackage{bm}&#10;\pagestyle{empty}&#10;\begin{document}&#10;&#10;\begin{align*}&#10;\mathcal{H}_{mi,nj}  &amp; = \int\mathrm{d}\bm{r}\,\varphi_{mi}^{*}{\left[\bm{r}\right]}&#10;\left\{-\nabla_{\bm{r}}^{2}+V{\left[\bm{r}\right]}\right\}&#10;\varphi_{nj}{\left[\bm{r}\right]} \\&#10;\end{align*}&#10;&#10;&#10;\end{document}" title="IguanaTex Bitmap Display">
            <a:extLst>
              <a:ext uri="{FF2B5EF4-FFF2-40B4-BE49-F238E27FC236}">
                <a16:creationId xmlns:a16="http://schemas.microsoft.com/office/drawing/2014/main" id="{F6970FB5-D4F2-43BA-898A-D15C9D443DF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06665" y="3940337"/>
            <a:ext cx="4778670" cy="56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464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.4608"/>
  <p:tag name="ORIGINALWIDTH" val="2245.219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ket{\Psi} = \sum_{n} \ket{\phi_{n}}\braket{\phi_{n}|\Psi} + \int\mathrm{d}\alpha\, \ket{\phi_{\alpha}}\braket{\phi_{\alpha}|\Psi}&#10;\end{equation*}&#10;&#10;&#10;\end{document}"/>
  <p:tag name="IGUANATEXSIZE" val="20"/>
  <p:tag name="IGUANATEXCURSOR" val="258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4672"/>
  <p:tag name="ORIGINALWIDTH" val="1134.608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ket{\Psi} = \sum_{n} \ket{\phi_{n}}\braket{\phi_{n}|\Psi}&#10;\end{equation*}&#10;&#10;&#10;\end{document}"/>
  <p:tag name="IGUANATEXSIZE" val="20"/>
  <p:tag name="IGUANATEXCURSOR" val="20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2317.96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ket{\Psi} = \sum_{i}\ket{\phi_{i}}\braket{\phi_{i}|\Psi}&#10;\enspace\implies\enspace&#10;\bm{c}:c_{i} = \braket{\phi_{i}|\Psi}&#10;\end{equation*}&#10;&#10;&#10;\end{document}"/>
  <p:tag name="IGUANATEXSIZE" val="20"/>
  <p:tag name="IGUANATEXCURSOR" val="142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9.2164"/>
  <p:tag name="ORIGINALWIDTH" val="896.8879"/>
  <p:tag name="OUTPUTTYPE" val="PNG"/>
  <p:tag name="IGUANATEXVERSION" val="159"/>
  <p:tag name="LATEXADDIN" val="\documentclass{article}&#10;\usepackage{amsmath,amssymb}&#10;\usepackage{mathtools}&#10;\usepackage{braket}&#10;\usepackage{bm}&#10;\pagestyle{empty}&#10;\begin{document}&#10;&#10;\begin{equation*}&#10;\hat{I} \coloneqq \sum_{k} \ket{\phi_{k}}\bra{\phi_{k}}&#10;\end{equation*}&#10;&#10;&#10;\end{document}"/>
  <p:tag name="IGUANATEXSIZE" val="20"/>
  <p:tag name="IGUANATEXCURSOR" val="173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6.4642"/>
  <p:tag name="ORIGINALWIDTH" val="5232.096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braket{\Psi_{A}|\Psi_{B}}&#10;= \sum_{ij}\braket{\Psi_{A}|\phi_{i}}\braket{\phi_{i}|\phi_{j}}\braket{\phi_{j}|\Psi_{B}}&#10;= \sum_{ij}\braket{\Psi_{A}|\phi_{i}}\delta_{ij}\braket{\phi_{j}|\Psi_{B}}&#10;= \sum_{i}\braket{\Psi_{A}|\phi_{i}}\braket{\phi_{i}|\Psi_{B}}&#10;= \bm{c}_{A}^{\dagger}\bm{c}_{B}&#10;\\&#10;\end{equation*}&#10;&#10;&#10;\end{document}"/>
  <p:tag name="IGUANATEXSIZE" val="20"/>
  <p:tag name="IGUANATEXCURSOR" val="257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5689.539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hat{H}\ket{E} = E\ket{E}&#10;\enspace\implies\enspace&#10;\sum_{j}\bra{\phi_{i}}\hat{H}\ket{\phi_{j}}\braket{\phi_{j}|E} = E\braket{\phi_{i}|E}&#10;\enspace\implies\enspace&#10;\sum_{j}\mathcal{H}_{ij}c_{E;j} = Ec_{E;i}&#10;\enspace\implies\enspace&#10;\bm{\mathcal{H}}\bm{c}_{E} = E\bm{c}_{E}&#10;\end{equation*}&#10;&#10;&#10;\end{document}"/>
  <p:tag name="IGUANATEXSIZE" val="20"/>
  <p:tag name="IGUANATEXCURSOR" val="432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.2302"/>
  <p:tag name="ORIGINALWIDTH" val="2871.391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bm{c}_{E^{\prime}}^{\dagger}\bm{\mathcal{H}}\bm{c}_{E}&#10;= E\bm{c}_{E^{\prime}}^{\dagger}\bm{c}_{E} = E^{\prime}\bm{c}_{E^{\prime}}^{\dagger}\bm{c}_{E}&#10;\enspace\implies\enspace&#10;\bm{c}_{E^{\prime}}^{\dagger}\bm{c}_{E} = \delta_{E^{\prime}E}&#10;\\&#10;\end{equation*}&#10;&#10;&#10;\end{document}"/>
  <p:tag name="IGUANATEXSIZE" val="20"/>
  <p:tag name="IGUANATEXCURSOR" val="318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7.2103"/>
  <p:tag name="ORIGINALWIDTH" val="3413.573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Psi{\left[\bm{r}\right]} = \sum_{i}\phi_{i}{\left[\bm{r}\right]}\braket{\phi_{i}|\Psi}&#10;\enspace\implies\enspace&#10;\bm{c}:c_{i} = \braket{\phi_{i}|\Psi} = \int \mathrm{d}\bm{r}\,\phi_{i}^{*}{\left[\bm{r}\right]}\Psi{\left[\bm{r}\right]}&#10;\end{equation*}&#10;&#10;&#10;\end{document}"/>
  <p:tag name="IGUANATEXSIZE" val="20"/>
  <p:tag name="IGUANATEXCURSOR" val="143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0.21"/>
  <p:tag name="ORIGINALWIDTH" val="1907.012"/>
  <p:tag name="OUTPUTTYPE" val="PNG"/>
  <p:tag name="IGUANATEXVERSION" val="159"/>
  <p:tag name="LATEXADDIN" val="\documentclass{article}&#10;\usepackage{amsmath,amssymb}&#10;\usepackage{mathtools}&#10;\usepackage{braket}&#10;\usepackage{bm}&#10;\pagestyle{empty}&#10;\begin{document}&#10;&#10;\begin{equation*}&#10;\hat{I}f{\left[\bm{r}\right]} \coloneqq \sum_{k} \phi_{k}\left[\bm{r}\right]\int\mathrm{d}\bm{r}^{\prime}\,\phi_{k}^{*}\left[\bm{r}^{\prime}\right]f{\left[\bm{r}^{\prime}\right]}&#10;\end{equation*}&#10;&#10;&#10;\end{document}"/>
  <p:tag name="IGUANATEXSIZE" val="20"/>
  <p:tag name="IGUANATEXCURSOR" val="336"/>
  <p:tag name="TRANSPARENCY" val="True"/>
  <p:tag name="FILENAME" val=""/>
  <p:tag name="LATEXENGINEID" val="0"/>
  <p:tag name="TEMPFOLDER" val="C:\iguanatex\"/>
  <p:tag name="LATEXFORMHEIGHT" val="320"/>
  <p:tag name="LATEXFORMWIDTH" val="1335.7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5124.109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hat{H}\Psi_{E}{\left[\bm{r}\right]} = E\Psi_{E}{\left[\bm{r}\right]}&#10;\enspace\implies\enspace&#10;\int \mathrm{d}\bm{r}\,\phi_{i}^{*}{\left[\bm{r}\right]}\hat{H}&#10;\left\{\sum_{j}\phi_{j}\left[\bm{r}\right]\int\mathrm{d}\bm{r}^{\prime}\,\phi_{j}^{*}\left[\bm{r}^{\prime}\right]\right\}&#10;\Psi_{E}{\left[\bm{r}^{\prime}\right]}&#10;= E\int \mathrm{d}\bm{r}\,\phi_{i}^{*}{\left[\bm{r}\right]}\Psi_{E}{\left[\bm{r}\right]}&#10;\end{equation*}&#10;&#10;&#10;\end{document}"/>
  <p:tag name="IGUANATEXSIZE" val="20"/>
  <p:tag name="IGUANATEXCURSOR" val="55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4.4582"/>
  <p:tag name="ORIGINALWIDTH" val="5719.535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braket{\Psi_{A}|\Psi_{B}}&#10;= \int\mathrm{d}\bm{r}\,\sum_{ij}\braket{\Psi_{A}|\phi_{i}}\phi_{i}^{*}{\left[\bm{r}\right]}\phi_{j}{\left[\bm{r}\right]}\braket{\phi_{j}|\Psi_{B}}&#10;= \sum_{ij}\braket{\Psi_{A}|\phi_{i}}\delta_{ij}\braket{\phi_{j}|\Psi_{B}}&#10;= \sum_{i}\braket{\Psi_{A}|\phi_{i}}\braket{\phi_{i}|\Psi_{B}}&#10;= \bm{c}_{A}^{\dagger}\bm{c}_{B}&#10;\\&#10;\end{equation*}&#10;&#10;&#10;\end{document}"/>
  <p:tag name="IGUANATEXSIZE" val="20"/>
  <p:tag name="IGUANATEXCURSOR" val="229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343.082"/>
  <p:tag name="OUTPUTTYPE" val="PNG"/>
  <p:tag name="IGUANATEXVERSION" val="159"/>
  <p:tag name="LATEXADDIN" val="\documentclass{article}&#10;\usepackage{amsmath,amssymb,mathtools}&#10;\usepackage{braket}&#10;\usepackage{bm}&#10;\pagestyle{empty}&#10;\begin{document}&#10;&#10;\begin{equation*}&#10;\mathcal{H}_{ij}&#10;\coloneqq&#10;\int \mathrm{d}\bm{r}\,\phi_{i}^{*}{\left[\bm{r}\right]}\hat{H}\phi_{j}\left[\bm{r}\right]&#10;\end{equation*}&#10;&#10;&#10;\end{document}"/>
  <p:tag name="IGUANATEXSIZE" val="20"/>
  <p:tag name="IGUANATEXCURSOR" val="6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2304.462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hat{H}\ket{E} = E\ket{E}&#10;\enspace\implies\enspace&#10;\sum_{j}\mathcal{H}_{ij}c_{E;j} = Ec_{E;i}&#10;\end{equation*}&#10;&#10;&#10;\end{document}"/>
  <p:tag name="IGUANATEXSIZE" val="20"/>
  <p:tag name="IGUANATEXCURSOR" val="236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2111"/>
  <p:tag name="ORIGINALWIDTH" val="4401.95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exists N \text{ such that }&#10;\int_{0}^{2\pi}\mathrm{d}\phi\int_{-1}^{1}\mathrm{d}\chi\int_{0}^{\infty}r^2\mathrm{d}r\,\left|\Delta_{f}^{(N)}{\left[\bm{r}\right]}\right|^2&#10;&lt; \epsilon,&#10;\quad \forall \epsilon &gt; 0 \text{ and } \forall f \in L^2{\left(\mathbb{R}^{3}\right)}&#10;\end{equation*}&#10;&#10;&#10;\end{document}"/>
  <p:tag name="IGUANATEXSIZE" val="20"/>
  <p:tag name="IGUANATEXCURSOR" val="28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2047"/>
  <p:tag name="ORIGINALWIDTH" val="3276.341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Delta_{f}^{(N)}{\left[\bm{r}\right]}&#10;= &#10;f{\left[\bm{r}\right]} - \tilde{I}_{N}f{\left[\bm{r}\right]}&#10;= &#10;f{\left[\bm{r}\right]}&#10;-&#10;\sum_{n=0}^{N}\phi_{n}{\left[\bm{r}\right]}\int\mathrm{d}\bm{r}^{\prime}\,\phi_{n}^{*}\left[\bm{r}^{\prime}\right]f{\left[\bm{r}^{\prime}\right]}&#10;\end{equation*}&#10;&#10;&#10;\end{document}"/>
  <p:tag name="IGUANATEXSIZE" val="20"/>
  <p:tag name="IGUANATEXCURSOR" val="222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2047"/>
  <p:tag name="ORIGINALWIDTH" val="2012.748"/>
  <p:tag name="OUTPUTTYPE" val="PNG"/>
  <p:tag name="IGUANATEXVERSION" val="159"/>
  <p:tag name="LATEXADDIN" val="\documentclass{article}&#10;\usepackage{amsmath,amssymb}&#10;\usepackage{mathtools}&#10;\usepackage{braket}&#10;\usepackage{bm}&#10;\pagestyle{empty}&#10;\begin{document}&#10;&#10;\begin{equation*}&#10;\tilde{I}_{N}f{\left[\bm{r}\right]} \coloneqq \sum_{n=0}^{N} \phi_{n}\left[\bm{r}\right]\int\mathrm{d}\bm{r}^{\prime}\,\phi_{n}^{*}\left[\bm{r}^{\prime}\right]f{\left[\bm{r}^{\prime}\right]}&#10;\end{equation*}&#10;&#10;&#10;\end{document}"/>
  <p:tag name="IGUANATEXSIZE" val="20"/>
  <p:tag name="IGUANATEXCURSOR" val="179"/>
  <p:tag name="TRANSPARENCY" val="True"/>
  <p:tag name="FILENAME" val=""/>
  <p:tag name="LATEXENGINEID" val="0"/>
  <p:tag name="TEMPFOLDER" val="C:\iguanatex\"/>
  <p:tag name="LATEXFORMHEIGHT" val="320"/>
  <p:tag name="LATEXFORMWIDTH" val="1335.7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4807"/>
  <p:tag name="ORIGINALWIDTH" val="1317.585"/>
  <p:tag name="OUTPUTTYPE" val="PNG"/>
  <p:tag name="IGUANATEXVERSION" val="159"/>
  <p:tag name="LATEXADDIN" val="\documentclass{article}&#10;\usepackage{amsmath,amssymb}&#10;\usepackage{bm}&#10;\pagestyle{empty}&#10;\begin{document}&#10;&#10;\begin{align*}&#10;\hat{Y}_{ml\zeta}{\left[\bm{\Omega}\right]}&#10;&amp; = &#10;\hat{Q}_{m\zeta}{\left[\phi\right]}&#10;\hat{\mathcal{P}}_{lm}{\left[\chi\right]}&#10;\\&#10;\end{align*}&#10;&#10;\end{document} "/>
  <p:tag name="IGUANATEXSIZE" val="20"/>
  <p:tag name="IGUANATEXCURSOR" val="15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6.408"/>
  <p:tag name="ORIGINALWIDTH" val="2986.876"/>
  <p:tag name="OUTPUTTYPE" val="PNG"/>
  <p:tag name="IGUANATEXVERSION" val="159"/>
  <p:tag name="LATEXADDIN" val="\documentclass{article}&#10;\usepackage{amsmath,amssymb}&#10;\usepackage{bm}&#10;\pagestyle{empty}&#10;\begin{document}&#10;&#10;\begin{align*}&#10;\hat{Q}_{m\zeta}{\left[\phi\right]}&#10;&amp; = &#10;\frac{1}{\sqrt{2\pi}}&#10;\left(&#10;\delta_{m0}\frac{1+\zeta}{2}&#10;+&#10;\left(1-\delta_{m0}\right)\frac{\mathrm{e}^{\mathrm{i}m \phi}+ \zeta\mathrm{e}^{-\mathrm{i}m \phi}}{\sqrt{2}}&#10;\right)&#10;\\&#10;\hat{\mathcal{P}}_{lm}{\left[\chi\right]}&#10;&amp; = &#10;\sqrt{\left(l+\frac{1}{2}\right)\frac{\left(l-m\right)!}{\left(l+m\right)!}}&#10;P_{lm}{\left[\chi\right]}&#10;\\&#10;\end{align*}&#10;&#10;\end{document} "/>
  <p:tag name="IGUANATEXSIZE" val="20"/>
  <p:tag name="IGUANATEXCURSOR" val="49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1541.057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varphi_{mlk\zeta}^{\left(W\eta\right)}{\left(\bm{r}\right)}&#10;= &#10;\hat{Y}_{ml\zeta}{\left[\bm{\Omega}\right]}&#10;\hat{\mathcal{R}}_{kl}^{\left(W\eta\right)}{\left[r\right]}&#10;\end{equation*}&#10;&#10;&#10;\end{document}"/>
  <p:tag name="IGUANATEXSIZE" val="20"/>
  <p:tag name="IGUANATEXCURSOR" val="270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9.61"/>
  <p:tag name="ORIGINALWIDTH" val="3579.303"/>
  <p:tag name="OUTPUTTYPE" val="PNG"/>
  <p:tag name="IGUANATEXVERSION" val="159"/>
  <p:tag name="LATEXADDIN" val="\documentclass{article}&#10;\usepackage{amsmath,amssymb}&#10;\usepackage{bm}&#10;\pagestyle{empty}&#10;\begin{document}&#10;&#10;\begin{align*}&#10;\hat{\mathcal{R}}_{kl}^{\left(W\eta\right)}{\left[r\right]}&#10;&amp; =&#10;\left(\frac{2}{W\eta}\right)^{\frac{3}{2}}&#10;\sqrt{W}&#10;\left[&#10;\left(\sqrt{\rho}\right)^{\alpha_{l}+1-\frac{3}{W}}&#10;\mathrm{e}^{-\rho/2}&#10;\hat{L}_{k}^{\left(\alpha_{l}\right)}{\left(\rho\right)}&#10;\right|_{\rho \rightarrow \left(2r/W\eta\right)^{W}}&#10;\\&#10;\alpha_{l}&#10;&amp; =&#10;\frac{2}{W}\left(l+\frac{1}{W}\right)&#10;\\&#10;\hat{L}_{k}^{\left(\alpha\right)}{\left(\rho\right)}&#10;&amp; =&#10;\sqrt{\frac{k!}{\Gamma\left(k+\alpha+1\right)}}\sum_{i=0}^{k}(-1)^{i}\binom{k+\alpha}{k-i}\frac{\rho^{i}}{i!}&#10;\end{align*}&#10;&#10;\end{document} "/>
  <p:tag name="IGUANATEXSIZE" val="20"/>
  <p:tag name="IGUANATEXCURSOR" val="21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5.3918"/>
  <p:tag name="ORIGINALWIDTH" val="3446.569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align*}&#10;\varphi_{mlk\zeta}^{\left(W\eta\lambda\right)}{\left[\bm{r}\right]}&#10;&amp; = &#10;\sqrt{\lambda}\left[\varphi_{mlk\zeta}^{\left(W\eta\right)}{\left[\bm{r}\right]}\right|_{z\rightarrow\lambda z}&#10;\\&#10;\varphi_{mlk\zeta}^{\left(W\eta\lambda\right)}{\left[\bm{r}\right]}&#10;&amp; = &#10;\hat{Q}_{m\zeta}{\left[\phi\right]}&#10;\sqrt{\frac{\lambda}{\vartheta_{\lambda}{\left[\chi\right]}^{3}}}\hat{\mathcal{P}}_{lm}{\left[\frac{\lambda\chi}{\vartheta_{\lambda}{\left[\chi\right]}}\right]}&#10;\sqrt{{\vartheta_{\lambda}{\left[\chi\right]}^{3}}}\hat{\mathcal{R}}_{kl}^{(W\eta)}{\left[r\vartheta_{\lambda}{\left[\chi\right]}\right]}&#10;\\&#10;\vartheta_{\lambda}{\left[\chi\right]}&#10;&amp; =&#10;\sqrt{1+\left(\lambda^{2}-1\right)\chi^{2}}&#10;\\&#10;\end{align*}&#10;&#10;&#10;\end{document}"/>
  <p:tag name="IGUANATEXSIZE" val="20"/>
  <p:tag name="IGUANATEXCURSOR" val="604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2043"/>
  <p:tag name="ORIGINALWIDTH" val="1872.516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Psi{\left[\bm{r}\right]}&#10;\approx&#10;\sum_{n=0}^{N}\sum_{i=0}^{I_{n}} c_{\left(mlk\zeta\right)_{ni}} \varphi_{\left(m\zeta lk\right)_{ni}}^{W\left(\eta\lambda\right)_{n}}{\left[\bm{r}\right]}&#10;\end{equation*}&#10;&#10;&#10;\end{document}"/>
  <p:tag name="IGUANATEXSIZE" val="20"/>
  <p:tag name="IGUANATEXCURSOR" val="28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1970.004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delta_{ij} = \braket{\phi_{i}|\phi_{j}}&#10;\quad\implies\quad&#10;\mathcal{S}_{ij} = \braket{\varphi_{i}|\varphi_{j}}&#10;\end{equation*}&#10;&#10;&#10;\end{document}"/>
  <p:tag name="IGUANATEXSIZE" val="20"/>
  <p:tag name="IGUANATEXCURSOR" val="203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3256.843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ket{\Psi} = \sum_{i}\ket{\phi_{i}}\braket{\phi_{i}|\Psi}&#10;\quad\implies\quad&#10;\ket{\Psi} = \sum_{ij} \ket{\varphi_{i}}\left(\bm{\mathcal{S}}^{-1}\right)_{ij}\braket{\varphi_{j}|\Psi}&#10;\end{equation*}&#10;&#10;&#10;\end{document}"/>
  <p:tag name="IGUANATEXSIZE" val="20"/>
  <p:tag name="IGUANATEXCURSOR" val="28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2784.402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hat{I} = \sum_{k} \ket{\phi_{k}}\bra{\phi_{k}}&#10;\quad\implies\quad&#10;\hat{I} = \sum_{ij} \ket{\varphi_{i}}\left(\bm{\mathcal{S}}^{-1}\right)_{ij}\bra{\varphi_{j}}&#10;\end{equation*}&#10;&#10;&#10;\end{document}"/>
  <p:tag name="IGUANATEXSIZE" val="20"/>
  <p:tag name="IGUANATEXCURSOR" val="214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3622.797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ket{\Psi} = \sum_{i}\ket{\varphi_{i}}c_{i}&#10;\quad\quad&#10;\braket{\varphi_{i}|\Psi} = \sum_{j}\mathcal{S}_{ij}c_{j}&#10;\quad\quad&#10;c_{i} = \sum_{j}\left(\bm{\mathcal{S}}^{-1}\right)_{ij}\braket{\varphi_{j}|\Psi}&#10;\\&#10;\end{equation*}&#10;&#10;&#10;\end{document}"/>
  <p:tag name="IGUANATEXSIZE" val="24"/>
  <p:tag name="IGUANATEXCURSOR" val="242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6.4642"/>
  <p:tag name="ORIGINALWIDTH" val="1964.004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braket{\Psi_{A}|\Psi_{B}} = \sum_{ij}c_{A;i}^{*}\mathcal{S}_{ij}c_{B;j} = \bm{c}_{A}^{\dagger}\bm{\mathcal{S}}\bm{c}_{B}&#10;\\&#10;\end{equation*}&#10;&#10;&#10;\end{document}"/>
  <p:tag name="IGUANATEXSIZE" val="24"/>
  <p:tag name="IGUANATEXCURSOR" val="264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766.4042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hat{H}\ket{E} = E\ket{E}&#10;\end{equation*}&#10;&#10;&#10;\end{document}"/>
  <p:tag name="IGUANATEXSIZE" val="24"/>
  <p:tag name="IGUANATEXCURSOR" val="150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4.8969"/>
  <p:tag name="ORIGINALWIDTH" val="1754.031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align*}&#10;\sum_{j}\bra{\phi_{i}}\hat{H}\ket{\phi_{j}}\braket{\phi_{j}|E} &amp; = E\braket{\phi_{i}|E} \\&#10;\sum_{j}\bm{\mathcal{H}}_{ij}c_{E;j} &amp; = Ec_{E;i} \\&#10;\bm{\mathcal{H}}\bm{c}_{E} &amp; = E\bm{c}_{E} \\&#10;\end{align*}&#10;&#10;&#10;\end{document}"/>
  <p:tag name="IGUANATEXSIZE" val="20"/>
  <p:tag name="IGUANATEXCURSOR" val="326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7.1466"/>
  <p:tag name="ORIGINALWIDTH" val="2504.687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align*}&#10;\sum_{jk}\bra{\varphi_{i}}\hat{H}\ket{\varphi_{j}}\left(\bm{\mathcal{S}}^{-1}\right)_{jk}\braket{\varphi_{k}|E} &amp; = E\braket{\varphi_{i}|E} \\&#10;\sum_{j}\bm{\mathcal{H}}_{ij}c_{E;j} &amp; = E\sum_{j}\bm{\mathcal{S}}_{ij}c_{E;j} \\&#10;\bm{\mathcal{H}}\bm{c}_{E} &amp; = E\bm{\mathcal{S}}\bm{c}_{E} \\&#10;\end{align*}&#10;&#10;&#10;\end{document}"/>
  <p:tag name="IGUANATEXSIZE" val="20"/>
  <p:tag name="IGUANATEXCURSOR" val="39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.2302"/>
  <p:tag name="ORIGINALWIDTH" val="3283.09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bm{c}_{E^{\prime}}^{\dagger}\bm{\mathcal{H}}\bm{c}_{E}&#10;= E\bm{c}_{E^{\prime}}^{\dagger}\bm{\mathcal{S}}\bm{c}_{E} = E^{\prime}\bm{c}_{E^{\prime}}^{\dagger}\bm{\mathcal{S}}\bm{c}_{E}&#10;\quad\implies\quad&#10;\bm{c}_{E^{\prime}}^{\dagger}\bm{\mathcal{S}}\bm{c}_{E} = \delta_{E^{\prime}E}&#10;\\&#10;\end{equation*}&#10;&#10;&#10;\end{document}"/>
  <p:tag name="IGUANATEXSIZE" val="24"/>
  <p:tag name="IGUANATEXCURSOR" val="199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2043"/>
  <p:tag name="ORIGINALWIDTH" val="2591.676"/>
  <p:tag name="OUTPUTTYPE" val="PNG"/>
  <p:tag name="IGUANATEXVERSION" val="159"/>
  <p:tag name="LATEXADDIN" val="\documentclass{article}&#10;\usepackage{amsmath,amssymb}&#10;\usepackage{bm}&#10;\pagestyle{empty}&#10;\begin{document}&#10;&#10;\begin{equation*}&#10;\bm{\mathcal{H}}\bm{c}_{E} = E\bm{\mathcal{S}}\bm{c}_{E}&#10;\quad\quad&#10;\Psi_{E}{\left[\bm{r}\right]} = \sum_{n=0}^{N}\sum_{i=0}^{I_{n}}\varphi_{ni}{\left[\bm{r}\right]}\left(c_{E}\right)_{ni}&#10;\end{equation*}&#10;&#10;&#10;\end{document}"/>
  <p:tag name="IGUANATEXSIZE" val="25"/>
  <p:tag name="IGUANATEXCURSOR" val="179"/>
  <p:tag name="TRANSPARENCY" val="True"/>
  <p:tag name="FILENAME" val=""/>
  <p:tag name="LATEXENGINEID" val="0"/>
  <p:tag name="TEMPFOLDER" val="C:\iguanatex\"/>
  <p:tag name="LATEXFORMHEIGHT" val="546"/>
  <p:tag name="LATEXFORMWIDTH" val="1234.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1.3798"/>
  <p:tag name="ORIGINALWIDTH" val="3187.851"/>
  <p:tag name="OUTPUTTYPE" val="PNG"/>
  <p:tag name="IGUANATEXVERSION" val="159"/>
  <p:tag name="LATEXADDIN" val="\documentclass{article}&#10;\usepackage{amsmath,amssymb}&#10;\usepackage{bm}&#10;\pagestyle{empty}&#10;\begin{document}&#10;&#10;\begin{align*}&#10;\mathcal{S}_{mi,nj}  &amp; = \int\mathrm{d}\bm{r}\,\varphi_{mi}^{*}{\left[\bm{r}\right]}\varphi_{nj}{\left[\bm{r}\right]} \\&#10;\mathcal{H}_{mi,nj}  &amp; = \int\mathrm{d}\bm{r}\,\varphi_{mi}^{*}{\left[\bm{r}\right]}&#10;\left\{-\nabla_{\bm{r}}^{2}+\left(1-\gamma\right)\frac{\mathrm{d}^{2}}{\mathrm{d}z^{2}}+V\left[\bm{r}\right]\right\}&#10;\varphi_{nj}{\left[\bm{r}\right]} \\&#10;V{\left[\bm{r}\right]} &amp; = \sum_{k} r^{d_{k}}\tilde{U}_{k}{\left[\bm{\Omega}\right]}\exp{\left(-\tilde{\alpha}_{k}{\left[\bm{\Omega}\right]}r - \beta_{k}{\left[\bm{\Omega}\right]}r^{2}\right)} \\&#10;\end{align*}&#10;&#10;&#10;\end{document}"/>
  <p:tag name="IGUANATEXSIZE" val="20"/>
  <p:tag name="IGUANATEXCURSOR" val="632"/>
  <p:tag name="TRANSPARENCY" val="True"/>
  <p:tag name="FILENAME" val=""/>
  <p:tag name="LATEXENGINEID" val="0"/>
  <p:tag name="TEMPFOLDER" val="C:\iguanatex\"/>
  <p:tag name="LATEXFORMHEIGHT" val="546"/>
  <p:tag name="LATEXFORMWIDTH" val="1234.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1.4586"/>
  <p:tag name="ORIGINALWIDTH" val="3121.11"/>
  <p:tag name="OUTPUTTYPE" val="PNG"/>
  <p:tag name="IGUANATEXVERSION" val="159"/>
  <p:tag name="LATEXADDIN" val="\documentclass{article}&#10;\usepackage{amsmath,amssymb}&#10;\usepackage{bm}&#10;\pagestyle{empty}&#10;\begin{document}&#10;&#10;\begin{align*}&#10;\left\{\mathcal{H}^{2}\right\}_{ij}  &amp; = \int\mathrm{d}\bm{r}\,\varphi_{i}^{*}{\left[\bm{r}\right]}&#10;\left\{-\nabla_{\bm{r}}^{2}+\left(1-\gamma\right)\frac{\mathrm{d}^{2}}{\mathrm{d}z^{2}}+V\left[\bm{r}\right]\right\}^{2}&#10;\varphi_{j}{\left[\bm{r}\right]} \\&#10;\end{align*}&#10;&#10;&#10;\end{document}"/>
  <p:tag name="IGUANATEXSIZE" val="20"/>
  <p:tag name="IGUANATEXCURSOR" val="138"/>
  <p:tag name="TRANSPARENCY" val="True"/>
  <p:tag name="FILENAME" val=""/>
  <p:tag name="LATEXENGINEID" val="0"/>
  <p:tag name="TEMPFOLDER" val="C:\iguanatex\"/>
  <p:tag name="LATEXFORMHEIGHT" val="546"/>
  <p:tag name="LATEXFORMWIDTH" val="1234.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9794"/>
  <p:tag name="ORIGINALWIDTH" val="1401.575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sigma{\left[E\right]}^{2} = \bm{c}_{E}^{\dagger}\left\{\mathcal{H}^{2}\right\}\bm{c}_{E} - E^2&#10;\\&#10;\end{equation*}&#10;&#10;&#10;\end{document}"/>
  <p:tag name="IGUANATEXSIZE" val="24"/>
  <p:tag name="IGUANATEXCURSOR" val="199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626.9216"/>
  <p:tag name="OUTPUTTYPE" val="PNG"/>
  <p:tag name="IGUANATEXVERSION" val="159"/>
  <p:tag name="LATEXADDIN" val="\documentclass{article}&#10;\usepackage{amsmath,amssymb}&#10;\usepackage{braket}&#10;\usepackage{bm}&#10;\pagestyle{empty}&#10;\begin{document}&#10;&#10;\begin{equation*}&#10;\left\{\mathcal{H}^{2}\right\} \ne \bm{\mathcal{H}}^{2}&#10;\end{equation*}&#10;&#10;&#10;\end{document}"/>
  <p:tag name="IGUANATEXSIZE" val="24"/>
  <p:tag name="IGUANATEXCURSOR" val="161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182"/>
  <p:tag name="ORIGINALWIDTH" val="1636.295"/>
  <p:tag name="OUTPUTTYPE" val="PNG"/>
  <p:tag name="IGUANATEXVERSION" val="159"/>
  <p:tag name="LATEXADDIN" val="\documentclass{article}&#10;\usepackage{amsmath,amssymb}&#10;\usepackage{bm}&#10;\pagestyle{empty}&#10;\begin{document}&#10;&#10;\begin{align*}&#10;V{\left[\bm{r}\right]} &amp; = -\frac{2}{r}\quad\text{ or }\quad V{\left[\bm{r}\right]} = +r^{2} \\&#10;\end{align*}&#10;&#10;&#10;\end{document}"/>
  <p:tag name="IGUANATEXSIZE" val="20"/>
  <p:tag name="IGUANATEXCURSOR" val="203"/>
  <p:tag name="TRANSPARENCY" val="True"/>
  <p:tag name="FILENAME" val=""/>
  <p:tag name="LATEXENGINEID" val="0"/>
  <p:tag name="TEMPFOLDER" val="C:\iguanatex\"/>
  <p:tag name="LATEXFORMHEIGHT" val="523.5"/>
  <p:tag name="LATEXFORMWIDTH" val="1083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2351.706"/>
  <p:tag name="OUTPUTTYPE" val="PNG"/>
  <p:tag name="IGUANATEXVERSION" val="159"/>
  <p:tag name="LATEXADDIN" val="\documentclass{article}&#10;\usepackage{amsmath,amssymb}&#10;\usepackage{bm}&#10;\pagestyle{empty}&#10;\begin{document}&#10;&#10;\begin{align*}&#10;\mathcal{H}_{mi,nj}  &amp; = \int\mathrm{d}\bm{r}\,\varphi_{mi}^{*}{\left[\bm{r}\right]}&#10;\left\{-\nabla_{\bm{r}}^{2}+V{\left[\bm{r}\right]}\right\}&#10;\varphi_{nj}{\left[\bm{r}\right]} \\&#10;\end{align*}&#10;&#10;&#10;\end{document}"/>
  <p:tag name="IGUANATEXSIZE" val="20"/>
  <p:tag name="IGUANATEXCURSOR" val="233"/>
  <p:tag name="TRANSPARENCY" val="True"/>
  <p:tag name="FILENAME" val=""/>
  <p:tag name="LATEXENGINEID" val="0"/>
  <p:tag name="TEMPFOLDER" val="C:\iguanatex\"/>
  <p:tag name="LATEXFORMHEIGHT" val="546"/>
  <p:tag name="LATEXFORMWIDTH" val="1234.5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50944</TotalTime>
  <Words>524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Georgia</vt:lpstr>
      <vt:lpstr>LucidaGrande</vt:lpstr>
      <vt:lpstr>UB Powerpoint Template</vt:lpstr>
      <vt:lpstr>Solving Central pOtential Problems With Generalized Fourier Series</vt:lpstr>
      <vt:lpstr>What are we doing here?</vt:lpstr>
      <vt:lpstr>A few words on Hilbert spaces</vt:lpstr>
      <vt:lpstr>Understanding (complete) orthogonal bases</vt:lpstr>
      <vt:lpstr>Understanding L2</vt:lpstr>
      <vt:lpstr>What ‘complete’ means on L^2 (R^3 )</vt:lpstr>
      <vt:lpstr>Our complete orthogonal basis set (solid angle)</vt:lpstr>
      <vt:lpstr>Our complete orthogonal basis set (radial part)</vt:lpstr>
      <vt:lpstr>Our complete orthogonal basis set (introducing anisotropy)</vt:lpstr>
      <vt:lpstr>Introducing non-orthogonality -- subbases</vt:lpstr>
      <vt:lpstr>Understanding non-orthogonal bases</vt:lpstr>
      <vt:lpstr>The eigenvalue problem in a non-orthogonal basis</vt:lpstr>
      <vt:lpstr>The general problem</vt:lpstr>
      <vt:lpstr>Variance calculation</vt:lpstr>
      <vt:lpstr>Central potential problems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2408</cp:revision>
  <cp:lastPrinted>2016-07-18T17:32:49Z</cp:lastPrinted>
  <dcterms:created xsi:type="dcterms:W3CDTF">2016-06-28T14:05:07Z</dcterms:created>
  <dcterms:modified xsi:type="dcterms:W3CDTF">2022-05-10T13:33:24Z</dcterms:modified>
  <cp:category/>
</cp:coreProperties>
</file>