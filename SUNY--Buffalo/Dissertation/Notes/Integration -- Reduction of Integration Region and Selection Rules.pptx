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  <p:sldId id="273" r:id="rId7"/>
    <p:sldId id="267" r:id="rId8"/>
    <p:sldId id="272" r:id="rId9"/>
    <p:sldId id="268" r:id="rId10"/>
    <p:sldId id="271" r:id="rId11"/>
    <p:sldId id="270" r:id="rId12"/>
    <p:sldId id="262" r:id="rId13"/>
    <p:sldId id="265" r:id="rId14"/>
    <p:sldId id="266" r:id="rId15"/>
    <p:sldId id="264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E9E6-4721-46DC-89AD-54E11366B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5F7F3-0C46-4A2D-A531-AA0E59CCF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3FEC-0B3C-4846-8C11-4432B675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3041F-F53B-4ABC-8833-EFF724D5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94F01-018F-433C-97DF-2870CF06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0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F9B76-549E-4D5C-AE7D-C68A89B3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005C4-5133-49D0-B955-C26C56F05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BC9A4-D431-4D57-BE1D-FCCA3091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714BD-B1A7-4D18-AFBC-1B2B52B6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C0F25-A294-4938-9D31-73BFFC9D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A27F-5C1F-4A4E-AB87-8A244C22B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50DB7-B828-4CD8-B213-9339E1BB0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279A4-CCC8-47B9-9A99-F2583FBB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0BA67-9F36-4750-8508-FF67F73C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60CFD-35B4-4008-8EB9-D76E0235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1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313AF-759E-488F-AFD2-FEE632FE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6A1FB-152F-4158-A913-182BC2B04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64BF3-927E-4D09-82DF-D83E0D31C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01EC5-ABBC-47C0-AF61-1C3C4371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AC358-7A5D-4716-9B80-A645B8F0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3E10B-5496-429F-990F-CDADEEC1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3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FF30-F294-490D-8171-6CD31A6D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DC3A4-7DA9-44C9-9207-C5400B777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56FFE-5789-4978-ADCD-093EB67BF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C3145-BA89-4FCA-9E58-165F622FD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FF5636-9C03-419E-993C-C75BA2BE1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BC0A-97EA-4F94-9345-46C0806CD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5C8FA6-7A1B-4A58-BE21-30E6D5746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7BD2E-3BBA-4059-88F7-4199A40E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7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9FEC-6734-4C66-B3AD-88C16ED7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8F1B9-ED6F-4CDD-BEDB-0F81C383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E05F1-E590-4153-BA77-33FC17CD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44F77-934A-46C7-8BAA-0437B53F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3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4BF05-2D1D-4B35-BF09-57E03CE9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9FB3E-99AC-42D4-9974-5250F3F6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0CF19-D7EA-4E33-9992-FBF7654F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4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A7320-C36D-49A5-826D-A8E2F7FF6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4B3D-C563-42AA-B921-405796FDD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944D4-9AC3-4056-ABF0-E4C48E717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6B7A9-24B7-415A-846F-E441F5AD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87135-A0DF-4E0C-8E04-B65BA2629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5B152-66D7-4383-BBF9-0A782BDA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3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1EAA-2224-4BBD-87C0-0D6FE7B4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5A8F6-1949-4D51-A9F3-B8849A37F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04463-1B5B-437A-A6B0-D37DEF844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DB560-12E0-40A1-A430-396C7D817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2981B-EBE5-4FDE-ABD9-D43D4100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5B062-2779-4EFB-8EF2-4041A549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9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B62B-C5F8-4371-99AC-CC59D084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836A1-793F-466A-9F85-6042E7502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6344E-2C29-4EDD-9809-EC30C535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CA114-F431-4E70-BFFB-D761A4C4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F611E-E47E-41A1-832C-2B9D87AD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4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54E8A-27B8-4353-A720-4028B93C4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B6FA0-CFF1-4AC3-9D5F-558DAD25F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EA358-AB1F-4465-82ED-BBDF50038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F36E-DC58-41E2-882F-2594AE3F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37367-B2A8-4C69-BF1F-6B6CE8A5A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1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C9E1EC-3E67-4D1E-A1DC-E59EADB28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9DB0D-AB8F-4ADE-B985-7FCBF9A08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BA717-CA37-45B3-A78D-6080EC8E7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35FE2-A358-4029-AF21-D5382E507E6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2EFCB-D253-48A8-A5FE-9F1D70063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BC881-E1A0-43B9-8E18-9FF4C7C9C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2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1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22.xml"/><Relationship Id="rId7" Type="http://schemas.openxmlformats.org/officeDocument/2006/relationships/image" Target="../media/image20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4.png"/><Relationship Id="rId5" Type="http://schemas.openxmlformats.org/officeDocument/2006/relationships/tags" Target="../tags/tag24.xml"/><Relationship Id="rId10" Type="http://schemas.openxmlformats.org/officeDocument/2006/relationships/image" Target="../media/image23.png"/><Relationship Id="rId4" Type="http://schemas.openxmlformats.org/officeDocument/2006/relationships/tags" Target="../tags/tag23.xml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29.xml"/><Relationship Id="rId7" Type="http://schemas.openxmlformats.org/officeDocument/2006/relationships/image" Target="../media/image28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0.xml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\documentclass{article}&#10;\usepackage{amsmath,amssymb,bm,physics,mathtools}&#10;\pagestyle{empty}&#10;\begin{document}&#10;&#10;\begin{align*}&#10;\left(yxz\right)\Psi_{\mathtt{I}|\kappa=A\slash T} &amp;= \sigma_{\mathtt{I}}\Psi_{\mathtt{I}} ,\\&#10;\left(yxz\right)\Psi_{\mathtt{I}|\left(\kappa,i\right)=\left(E,0\right)} &amp;= \Psi_{\mathtt{I}|\left(\kappa,i\right)=\left(E,1\right)} ,\\&#10;\left(yxz\right)\Psi_{\mathtt{I}|\left(\kappa,i\right)=\left(E,1\right)} &amp;= \Psi_{\mathtt{I}|\left(\kappa,i\right)=\left(E,0\right)} ,\\&#10;\end{align*}&#10;&#10;\end{document}" title="IguanaTex Bitmap Display">
            <a:extLst>
              <a:ext uri="{FF2B5EF4-FFF2-40B4-BE49-F238E27FC236}">
                <a16:creationId xmlns:a16="http://schemas.microsoft.com/office/drawing/2014/main" id="{E5EC9FF7-4EDE-44CD-BA35-332880F20D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649" y="2734735"/>
            <a:ext cx="3054933" cy="831391"/>
          </a:xfrm>
          <a:prstGeom prst="rect">
            <a:avLst/>
          </a:prstGeom>
        </p:spPr>
      </p:pic>
      <p:pic>
        <p:nvPicPr>
          <p:cNvPr id="9" name="Picture 8" descr="\documentclass{article}&#10;\usepackage{amsmath,amssymb,bm,physics,mathtools}&#10;\pagestyle{empty}&#10;\begin{document}&#10;&#10;\begin{align*}&#10;\left(\bar{x}\bar{y}z\right)\Psi_{\mathtt{I}} &amp;= \omega_{\mathtt{I}}^{\left(x\right)}\omega_{\mathtt{I}}^{\left(y\right)}\Psi_{\mathtt{I}} ,\\&#10;\left(\bar{x}y\bar{z}\right)\Psi_{\mathtt{I}} &amp;= \omega_{\mathtt{I}}^{\left(x\right)}\omega_{\mathtt{I}}^{\left(z\right)}\Psi_{\mathtt{I}} ,\\&#10;\left(x\bar{y}\bar{z}\right)\Psi_{\mathtt{I}} &amp;= \omega_{\mathtt{I}}^{\left(y\right)}\omega_{\mathtt{I}}^{\left(z\right)}\Psi_{\mathtt{I}}&#10;\end{align*}&#10;&#10;\end{document}" title="IguanaTex Bitmap Display">
            <a:extLst>
              <a:ext uri="{FF2B5EF4-FFF2-40B4-BE49-F238E27FC236}">
                <a16:creationId xmlns:a16="http://schemas.microsoft.com/office/drawing/2014/main" id="{15D96744-31BE-4C30-9615-F977945316B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76" y="4328005"/>
            <a:ext cx="2012648" cy="9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8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\documentclass{article}&#10;\usepackage{amsmath,amssymb,bm,physics,mathtools}&#10;\pagestyle{empty}&#10;\begin{document}&#10;&#10;\begin{align*}&#10;\hat{U} &amp;= \sum_{u} \hat{U}_{u} ,\\&#10;\hat{U}_{u|\left(\kappa=E,+\right)} &amp;= \frac{ \hat{U}_{u|\left(\kappa=E,0\right)} + \hat{U}_{u|\left(\kappa=E,1\right)} }{2} ,\\&#10;\hat{U}_{u|\left(\kappa=E,-\right)} &amp;= \frac{ \hat{U}_{u|\left(\kappa=E,0\right)} - \hat{U}_{u|\left(\kappa=E,1\right)} }{2} ,\\&#10;\left(yxz\right)\hat{U}_{u} &amp;= \sigma_{\mathtt{U},u}\hat{U}_{u} ,\\&#10;\left(\bar{x}\bar{y}z\right)\hat{U}_{u} &amp;= \omega_{\mathtt{U},u}^{\left(x\right)}\omega_{\mathtt{U},u}^{\left(y\right)}\hat{U}_{u} ,\\&#10;\left(\bar{x}y\bar{z}\right)\hat{U}_{u} &amp;= \omega_{\mathtt{U},u}^{\left(x\right)}\omega_{\mathtt{U},u}^{\left(z\right)}\hat{U}_{u} ,\\&#10;\left(x\bar{y}\bar{z}\right)\hat{U}_{u} &amp;= \omega_{\mathtt{U},u}^{\left(x\right)}\omega_{\mathtt{U},u}^{\left(y\right)}\hat{U}_{u}&#10;\end{align*}&#10;&#10;\end{document}" title="IguanaTex Bitmap Display">
            <a:extLst>
              <a:ext uri="{FF2B5EF4-FFF2-40B4-BE49-F238E27FC236}">
                <a16:creationId xmlns:a16="http://schemas.microsoft.com/office/drawing/2014/main" id="{17AB1CA3-5935-4A7A-9E75-A8227DAD379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878" y="238939"/>
            <a:ext cx="3318244" cy="3023241"/>
          </a:xfrm>
          <a:prstGeom prst="rect">
            <a:avLst/>
          </a:prstGeom>
        </p:spPr>
      </p:pic>
      <p:pic>
        <p:nvPicPr>
          <p:cNvPr id="17" name="Picture 16" descr="\documentclass{article}&#10;\usepackage{amsmath,amssymb,bm,physics,mathtools}&#10;\pagestyle{empty}&#10;\begin{document}&#10;&#10;\begin{align*}&#10;\left\{\hat{U}_{u}\right\}&#10;    &amp;=&#10;        \left\{ \hat{U}_{\mathtt{U},u} | \sigma_{\mathtt{U},u}=+1 \right\}&#10;            \cup&#10;        \left\{ \hat{U}_{\mathtt{U},u} | \sigma_{\mathtt{U},u}=-1 \right\}&#10;,\\&#10;    &amp;=&#10;        \left\{ \hat{U}_{\mathtt{U},u} | \omega_{\mathtt{U},u}^{\left(p\right)} =+1 \text{ and } \sigma_{\mathtt{U},u} =+1 \right\}&#10;            \cup&#10;        \left\{ \hat{U}_{\mathtt{U},u} | \omega_{\mathtt{U},u}^{\left(p\right)} =+1 \text{ and } \sigma_{\mathtt{U},u} =-1 \right\}&#10;            \cup&#10;        \left\{ \hat{U}_{\mathtt{U},u} | \omega_{\mathtt{U},u}^{\left(p\right)} =-1 \right\}&#10;,\\&#10;\left\{ \hat{U}_{u} | \sigma_{\mathtt{U},u}=+1 \right\}&#10;    &amp;=&#10;        \left\{&#10;            U_{\left(A_{1},0\right)},&#10;            U_{\left(E,+\right)},&#10;            U_{\left(T_{2},x\right)},U_{\left(T_{2},y\right)},U_{\left(T_{2},z\right)}&#10;        \right\}&#10;,\\&#10;\left\{ \hat{U}_{u} | \sigma_{\mathtt{U},u}=-1 \right\}&#10;    &amp;=&#10;        \left\{&#10;            U_{\left(A_{2},0\right)},&#10;            U_{\left(E,-\right)},&#10;            U_{\left(T_{1},x\right)},U_{\left(T_{1},y\right)},U_{\left(T_{1},z\right)}&#10;        \right\}&#10;,\\&#10;\left\{ \hat{U}_{u} | \omega_{\mathtt{U},u}^{\left(p\right)} =+1 \text{ and } \sigma_{\mathtt{U},u}=+1 \right\}&#10;    &amp;=&#10;        \left\{&#10;            U_{\left(A_{1},0\right)},&#10;            U_{\left(E,+\right)},&#10;            U_{\left(T_{2},p+1\right)},U_{\left(T_{2},p+2\right)},&#10;        \right\}&#10;,\\&#10;\left\{ \hat{U}_{u} | \omega_{\mathtt{U},u}^{\left(p\right)} =+1 \text{ and } \sigma_{\mathtt{U},u}=-1 \right\}&#10;    &amp;=&#10;        \left\{&#10;            U_{\left(A_{2},0\right)},&#10;            U_{\left(E,-\right)},&#10;            U_{\left(T_{1},p+1\right)},U_{\left(T_{1},p+2\right)}&#10;        \right\}&#10;,\\&#10;\left\{ \hat{U}_{u} | \omega_{\mathtt{U},u}^{\left(p\right)} =-1 \right\}&#10;    &amp;=&#10;        \left\{&#10;            U_{\left(T_{1},p\right)},&#10;            U_{\left(T_{2},p\right)}&#10;        \right\}&#10;\end{align*}&#10;&#10;\end{document}" title="IguanaTex Bitmap Display">
            <a:extLst>
              <a:ext uri="{FF2B5EF4-FFF2-40B4-BE49-F238E27FC236}">
                <a16:creationId xmlns:a16="http://schemas.microsoft.com/office/drawing/2014/main" id="{E64F182A-9AD5-4DBF-825A-97C9A44DEF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93" y="3578007"/>
            <a:ext cx="10958014" cy="303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0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\documentclass{article}&#10;\usepackage{amsmath,amssymb,bm,physics,mathtools}&#10;\pagestyle{empty}&#10;\begin{document}&#10;&#10;\begin{align*}&#10;\mathcal{H}&#10;    &amp;=&#10;        \sum_{ \hat{U}_{u}\in\mathfrak{U} }\sum_{ \Psi_{\mathtt{L}} \in \mathfrak{B} }\sum_{ \Psi_{\mathtt{R}} \in \mathfrak{B} }&#10;            \int\mathrm{d}\bm{r}\,&#10;                \left(\Psi_{\mathtt{L}}\right)^{\dagger}\hat{U}_{u}\Psi_{\mathtt{R}}&#10;,\\&#10;    &amp;=&#10;        \sum_{u}\sum_{ \mathtt{L} }\sum_{ \mathtt{R} } \int\mathrm{d}\bm{r}\, &#10;            \left[&#10;                \left(\frac{ \left(xyz\right)+\left(yzx\right)+\left(zxy\right) + \left(xzy\right)+\left(zyx\right)+\left(yxz\right) }{6}\right)&#10;                \left(\frac{\left(xyz\right)+\left(\bar{x}\bar{y}z\right)+\left(\bar{x}y\bar{z}\right)+\left(x\bar{y}\bar{z}\right)}{4}\right)&#10;            \right]&#10;            \left( \Psi_{\mathtt{L}} \right)^{\dagger}\hat{U}_{u}\Psi_{\mathtt{R}}&#10;,\\&#10;    &amp;=&#10;        \sum_{u}\sum_{ \mathtt{L} }\sum_{ \mathtt{R} } \int\mathrm{d}\bm{r}\, &#10;            \left[&#10;                \left(\frac{\left(xyz\right)+\left(yxz\right)}{2}\right)&#10;                \left(\frac{\left(xyz\right)+\left(yzx\right)+\left(zxy\right)}{3}\right)&#10;                \left(\frac{\left(xyz\right)+\left(\bar{x}y\bar{z}\right)}{2}\right)&#10;                \left(\frac{\left(xyz\right)+\left(x\bar{y}\bar{z}\right)}{2}\right)&#10;            \right]&#10;            \left( \Psi_{\mathtt{L}} \right)^{\dagger}\hat{U}_{u}\Psi_{\mathtt{R}}&#10;,\\&#10;    &amp;=&#10;        \sum_{u}\sum_{\mathtt{L}}\sum_{\mathtt{R}}&#10;            \left(&#10;                \frac{&#10;                    1 + \left(\alpha_{ \mathtt{L} }\alpha_{ k_{\mathtt{R}} }\alpha_{u}\right)^{\left(yzx\right)} &#10;                }&#10;                {2}&#10;            \right)&#10;            \left(\frac{ 1 + \omega^{\left(x\right)}\omega^{\left(z\right)} }{2}\right)&#10;            \left(\frac{ 1 + \omega^{\left(y\right)}\omega^{\left(z\right)} }{2}\right)&#10;            \int\mathrm{d}\bm{r}\, &#10;                \hat{U}_{u}&#10;                \left(\frac{\left(xyz\right)+\sigma_{\mathtt{U},u}\left(yxz\right)}{2}\right)&#10;                \left( \Psi_{ \mathtt{L} } \right)^{\dagger}\Psi_{ \mathtt{R} }&#10;,\\&#10;\end{align*}&#10;&#10;\end{document}" title="IguanaTex Bitmap Display">
            <a:extLst>
              <a:ext uri="{FF2B5EF4-FFF2-40B4-BE49-F238E27FC236}">
                <a16:creationId xmlns:a16="http://schemas.microsoft.com/office/drawing/2014/main" id="{C6AB01FE-DD93-46EC-9F55-DC511E58D4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80" y="2054340"/>
            <a:ext cx="10771498" cy="2538063"/>
          </a:xfrm>
          <a:prstGeom prst="rect">
            <a:avLst/>
          </a:prstGeom>
        </p:spPr>
      </p:pic>
      <p:pic>
        <p:nvPicPr>
          <p:cNvPr id="8" name="Picture 7" descr="\documentclass{article}&#10;\usepackage{amsmath,amssymb,bm,physics,mathtools}&#10;\pagestyle{empty}&#10;\begin{document}&#10;&#10;\begin{equation*}&#10;\omega^{\left(p\right)}&#10;    =&#10;        \omega_{\mathtt{L}}^{\left(p\right)}\omega_{\mathtt{R}}^{\left(p\right)}\omega_{u}^{\left(p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F79A3DA4-333B-41BA-96BC-70907682395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982" y="5303370"/>
            <a:ext cx="1655466" cy="26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8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x,y,z }&#10;                    \alpha_{ \mathtt{L}}^{ \left(q_{\mathtt{L}}\right) }&#10;                    \Phi_{ \mathtt{L}}^{ \left(q_{\mathtt{L}}\right) } \Theta_{ \Omega_{\mathtt{L}} }^{\left(q_{\mathtt{L}}\right)}&#10;            \right\}^{\dagger}&#10;            \hat{U}_{u}&#10;            \left\{&#10;                \sum_{ q_{\mathtt{R}}=x,y,z }&#10;                    \alpha_{ \mathtt{R}}^{ \left(q_{\mathtt{R}}\right) }&#10;                    \Phi_{ \mathtt{R}}^{\left(q_{\mathtt{R}}\right) } \Theta_{ \Omega_{\mathtt{R}} }^{\left(q_{\mathtt{R}}\right)}&#10;            \right\}&#10;,\\&#10;    &amp;= \mathcal{H}_{\parallel} + \mathcal{H}_{\perp}&#10;,\\&#10;\mathcal{H}_{\parallel}&#10;    &amp;=&#10;        \sum_{ q=x,y,z }&#10;        \tilde{\alpha}_{ \mathtt{L}}^{ \left(q\right) }&#10;        \alpha_{ \mathtt{R}}^{ \left(q\right) }&#10;        \int\mathrm{d}\bm{r}\, &#10;            \left\{ \Phi_{\mathtt{L}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,q_{\mathtt{R}}=x,y,z | q_{\mathtt{L}}\ne q_{\mathtt{R}} }&#10;        \tilde{\alpha}_{ \mathtt{L}}^{ \left(q_{\mathtt{L}}\right) }&#10;        \alpha_{ \mathtt{R}}^{ \left(q_{\mathtt{R}}\right)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 title="IguanaTex Bitmap Display">
            <a:extLst>
              <a:ext uri="{FF2B5EF4-FFF2-40B4-BE49-F238E27FC236}">
                <a16:creationId xmlns:a16="http://schemas.microsoft.com/office/drawing/2014/main" id="{28EF4B7D-B738-4ECB-89E1-E8AD5E560F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06" y="2014294"/>
            <a:ext cx="6146435" cy="28294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AE1992-C94A-4A56-A2C5-3A18CC59ECC4}"/>
              </a:ext>
            </a:extLst>
          </p:cNvPr>
          <p:cNvSpPr txBox="1"/>
          <p:nvPr/>
        </p:nvSpPr>
        <p:spPr>
          <a:xfrm>
            <a:off x="3075709" y="581891"/>
            <a:ext cx="239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longitudinal forms</a:t>
            </a:r>
          </a:p>
        </p:txBody>
      </p:sp>
    </p:spTree>
    <p:extLst>
      <p:ext uri="{BB962C8B-B14F-4D97-AF65-F5344CB8AC3E}">
        <p14:creationId xmlns:p14="http://schemas.microsoft.com/office/powerpoint/2010/main" val="84747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documentclass{article}&#10;\usepackage{amsmath,amssymb,bm,physics,mathtools}&#10;\pagestyle{empty}&#10;\begin{document}&#10;&#10;\begin{align*}&#10;\mathcal{H}_{\parallel}&#10;    &amp;=&#10;        \sum_{ q=x,y,z }&#10;        \tilde{\alpha}_{ \mathtt{L}}^{ \left(q\right) }&#10;        \alpha_{ \mathtt{R}}^{ \left(q\right) }&#10;        \int\mathrm{d}\bm{r}\, &#10;            \left\{ \Phi_{\mathtt{L}}^{\left(q\right)} \right\}^{\dagger}&#10;            \hat{U}_{u}&#10;            \Phi_{\mathtt{R}}^{\left(q\right)}&#10;            \Theta_{ \Omega_{\mathtt{L}} }^{\left(-q\right)}\Theta_{ \Omega_{\mathtt{R}} }^{\left(q\right)}&#10;,\\&#10;    &amp;=&#10;        \int\mathrm{d}\bm{r}\,&#10;            \left\{&#10;                 \tilde{\alpha}_{ \mathtt{L}}^{ \left(z\right) }&#10;                 \alpha_{ \mathtt{R}}^{ \left(z\right) }&#10;                 \left(xyz\right)&#10;                 \left[&#10;                     \left\{ \Phi_{\mathtt{L}}^{\left(z\right)} \right\}^{\dagger}&#10;                     \hat{U}_{u}&#10;                     \Phi_{\mathtt{R}}^{\left(z\right)}&#10;                 \right]&#10;                     +&#10;                 \tilde{\alpha}_{ \mathtt{L}}^{ \left(y\right) }&#10;                 \alpha_{ \mathtt{R}}^{ \left(y\right) }&#10;                 \left(yzx\right)&#10;                 \left[&#10;                     \left\{ \Phi_{\mathtt{L}}^{\left(y\right)} \right\}^{\dagger}&#10;                     \hat{U}_{u}&#10;                     \Phi_{\mathtt{R}}^{\left(y\right)}&#10;                 \right]&#10;                     +&#10;                 \tilde{\alpha}_{ \mathtt{L}}^{ \left(x\right) }&#10;                 \alpha_{ \mathtt{R}}^{ \left(x\right) }&#10;                 \left(zxy\right)&#10;                 \left[&#10;                     \left\{ \Phi_{\mathtt{L}}^{\left(x\right)} \right\}^{\dagger}&#10;                     \hat{U}_{u}&#10;                     \Phi_{\mathtt{R}}^{\left(x\right)}&#10;                 \right]&#10;            \right\}&#10;            \Theta_{ \Omega_{\mathtt{L}} }^{\left(-z\right)}\Theta_{ \Omega_{\mathtt{R}} }^{\left(+z\right)}&#10;,\\&#10;    &amp;=&#10;        \int\mathrm{d}\bm{r}\,&#10;            \left\{&#10;                 \tilde{\alpha}_{ \mathtt{L}}^{ \left(z\right) }&#10;                 \alpha_{ \mathtt{R}}^{ \left(z\right) }&#10;                 \left(xyz\right)&#10;                 \hat{U}_{u}&#10;                     +&#10;                 \tilde{\alpha}_{ \mathtt{L}}^{ \left(y\right) }&#10;                 \alpha_{ \mathtt{R}}^{ \left(y\right) }&#10;                 \left(yzx\right)&#10;                 \hat{U}_{u}&#10;                     +&#10;                 \tilde{\alpha}_{ \mathtt{L}}^{ \left(x\right) }&#10;                 \alpha_{ \mathtt{R}}^{ \left(x\right) }&#10;                 \left(zxy\right)&#10;                 \hat{U}_{u}&#10;            \right\}&#10;            \left\{ \Phi_{\mathtt{L}}^{\left(z\right)} \right\}^{\dagger}&#10;            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86F39F55-B373-4FFF-8D50-52E54C315D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93" y="878811"/>
            <a:ext cx="11470014" cy="1666444"/>
          </a:xfrm>
          <a:prstGeom prst="rect">
            <a:avLst/>
          </a:prstGeom>
        </p:spPr>
      </p:pic>
      <p:pic>
        <p:nvPicPr>
          <p:cNvPr id="7" name="Picture 6" descr="\documentclass{article}&#10;\usepackage{amsmath,amssymb,bm,physics,mathtools}&#10;\pagestyle{empty}&#10;\begin{document}&#10;&#10;\begin{align*}&#10;\mathcal{H}_{\parallel}&#10;    &amp;=&#10;        \int\mathrm{d}\bm{r}\,&#10;            \hat{U}_{u}^{\left(\parallel\right)}&#10;            \left\{ \Phi_{\mathtt{L}}^{\left(z\right)} \right\}^{\dagger}&#10;            \Phi_{\mathtt{R}}^{\left(z\right)}&#10;            \Theta_{ \Omega_{\mathtt{L}} }^{\left(-z\right)}\Theta_{ \Omega_{\mathtt{R}} }^{\left(+z\right)}&#10;,\\&#10;\hat{U}_{u}^{\left(\parallel\right)}&#10;    &amp;=&#10;        \left\{&#10;             \tilde{\alpha}_{ \mathtt{L}}^{ \left(z\right) }&#10;             \alpha_{ \mathtt{R}}^{ \left(z\right) }&#10;             \left(xyz\right)&#10;                     +&#10;             \tilde{\alpha}_{ \mathtt{L}}^{ \left(y\right) }&#10;             \alpha_{ \mathtt{R}}^{ \left(y\right) }&#10;             \left(yzx\right)&#10;                     +&#10;             \tilde{\alpha}_{ \mathtt{L}}^{ \left(x\right) }&#10;             \alpha_{ \mathtt{R}}^{ \left(x\right) }&#10;             \left(zxy\right)&#10;        \right\}&#10;        \hat{U}_{u}&#10;\end{align*}&#10;&#10;\end{document}" title="IguanaTex Bitmap Display">
            <a:extLst>
              <a:ext uri="{FF2B5EF4-FFF2-40B4-BE49-F238E27FC236}">
                <a16:creationId xmlns:a16="http://schemas.microsoft.com/office/drawing/2014/main" id="{E3BB3AB6-9FC4-44A5-BCA8-A3AB46A7870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725" y="3429000"/>
            <a:ext cx="5334550" cy="90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92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AC24786-0870-4BA2-884F-2C0A1519E17A}"/>
              </a:ext>
            </a:extLst>
          </p:cNvPr>
          <p:cNvGrpSpPr/>
          <p:nvPr/>
        </p:nvGrpSpPr>
        <p:grpSpPr>
          <a:xfrm>
            <a:off x="1473905" y="2887683"/>
            <a:ext cx="9244189" cy="3091507"/>
            <a:chOff x="1473905" y="2887683"/>
            <a:chExt cx="9244189" cy="3091507"/>
          </a:xfrm>
        </p:grpSpPr>
        <p:pic>
          <p:nvPicPr>
            <p:cNvPr id="5" name="Picture 4" descr="\documentclass{article}&#10;\usepackage{amsmath,amssymb,bm,physics,mathtools}&#10;\pagestyle{empty}&#10;\begin{document}&#10;&#10;\begin{align*}&#10;\left(xyz\right)\Phi_{\left(A_{n},0\right)}^{ \left(q\right) } &amp;= \Phi_{\left(A_{n},0\right)}^{\left(q\right)} ,\\&#10;\left(yzx\right)\Phi_{\left(A_{n},0\right)}^{ \left(q\right) } &amp;= \Phi_{\left(A_{n},0\right)}^{\left(q+1\right)} ,\\&#10;\left(zxy\right)\Phi_{\left(A_{n},0\right)}^{ \left(q\right) } &amp;= \Phi_{\left(A_{n},0\right)}^{\left(q-1\right)} ,\\&#10;\left(xyz\right)\Phi_{\left(E,i\right)}^{ \left(q\right) } &amp;= \Phi_{\left(E,i\right)}^{\left(q\right)} ,\\&#10;\left(yzx\right)\Phi_{\left(E,0\right)}^{ \left(q\right) } &amp;= \tau^{2}\Phi_{\left(E,0\right)}^{\left(q+1\right)} ,\\&#10;\left(zxy\right)\Phi_{\left(E,0\right)}^{ \left(q\right) } &amp;= \tau \Phi_{\left(E,0\right)}^{\left(q-1\right)} ,\\&#10;\left(yzx\right)\Phi_{\left(E,1\right)}^{ \left(q\right) } &amp;= \tau \Phi_{\left(E,1\right)}^{\left(q+1\right)} ,\\&#10;\left(zxy\right)\Phi_{\left(E,1\right)}^{ \left(q\right) } &amp;= \tau^{2}\Phi_{\left(E,1\right)}^{\left(q-1\right)} ,\\&#10;\end{align*}&#10;&#10;\end{document}" title="IguanaTex Bitmap Display">
              <a:extLst>
                <a:ext uri="{FF2B5EF4-FFF2-40B4-BE49-F238E27FC236}">
                  <a16:creationId xmlns:a16="http://schemas.microsoft.com/office/drawing/2014/main" id="{7A4DE6FC-DA05-4048-82CF-3BF6CC99CCD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3905" y="2887683"/>
              <a:ext cx="2212572" cy="3091507"/>
            </a:xfrm>
            <a:prstGeom prst="rect">
              <a:avLst/>
            </a:prstGeom>
          </p:spPr>
        </p:pic>
        <p:pic>
          <p:nvPicPr>
            <p:cNvPr id="34" name="Picture 33" descr="\documentclass{article}&#10;\usepackage{amsmath,amssymb,bm,physics,mathtools}&#10;\pagestyle{empty}&#10;\begin{document}&#10;&#10;\begin{align*}&#10;\left(xyz\right)\Phi_{ \left(T_{n},p\right)_{\mathtt{I}} }^{\left(p\right)} &amp;= \Phi_{ \left(T_{n},p\right)_{\mathtt{I}} }^{\left(p\right)} ,\\&#10;\left(yzx\right)\Phi_{ \left(T_{n},p\right)_{\mathtt{I}} }^{\left(p\right)} &amp;= \Phi_{ \left(T_{n},p+1\right)_{\mathtt{I}} }^{\left(p+1\right)} ,\\&#10;\left(zxy\right)\Phi_{ \left(T_{n},p\right)_{\mathtt{I}} }^{\left(p\right)} &amp;= \Phi_{ \left(T_{n},p-1\right)_{\mathtt{I}} }^{\left(p-1\right)} \\&#10;\end{align*}&#10;&#10;\end{document}" title="IguanaTex Bitmap Display">
              <a:extLst>
                <a:ext uri="{FF2B5EF4-FFF2-40B4-BE49-F238E27FC236}">
                  <a16:creationId xmlns:a16="http://schemas.microsoft.com/office/drawing/2014/main" id="{75EF6775-7937-43CB-804D-939602F6448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9907" y="3864141"/>
              <a:ext cx="2358855" cy="1138590"/>
            </a:xfrm>
            <a:prstGeom prst="rect">
              <a:avLst/>
            </a:prstGeom>
          </p:spPr>
        </p:pic>
        <p:pic>
          <p:nvPicPr>
            <p:cNvPr id="36" name="Picture 35" descr="\documentclass{article}&#10;\usepackage{amsmath,amssymb,bm,physics,mathtools}&#10;\pagestyle{empty}&#10;\begin{document}&#10;&#10;\begin{align*}&#10;\left(xyz\right)\Phi_{ \left(T_{n},p\ne q\right)_{\mathtt{I}} }^{\left(q\right)} &amp;= 0 ,\\&#10;\left(yzx\right)\Phi_{ \left(T_{n},p\ne q\right)_{\mathtt{I}} }^{\left(q\right)} &amp;= 0 ,\\&#10;\left(zxy\right)\Phi_{ \left(T_{n},p\ne q\right)_{\mathtt{I}} }^{\left(q\right)} &amp;= 0&#10;\end{align*}&#10;&#10;\end{document}" title="IguanaTex Bitmap Display">
              <a:extLst>
                <a:ext uri="{FF2B5EF4-FFF2-40B4-BE49-F238E27FC236}">
                  <a16:creationId xmlns:a16="http://schemas.microsoft.com/office/drawing/2014/main" id="{5F5F8C2E-4151-49A0-B33D-FA110AEE483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2191" y="3864142"/>
              <a:ext cx="1785903" cy="11385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709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\documentclass{article}&#10;\usepackage{amsmath,amssymb,bm,physics,mathtools}&#10;\pagestyle{empty}&#10;\begin{document}&#10;&#10;\begin{align*}&#10;\mathcal{H}_{\parallel}&#10;    &amp;=&#10;        \int\mathrm{d}\bm{r}\,&#10;            \hat{U}_{u, \left(\kappa, i\right)_{\mathtt{L}} \left(\kappa,i\right)_{\mathtt{R}} }&#10;            \left\{ \Phi_{\mathtt{L}}^{\left(z\right)} \right\}^{\dagger}\Phi_{\mathtt{R}}^{\left(z\right)}&#10;            \Theta_{ \Omega_{\mathtt{L}} }^{\left(-z\right)}\Theta_{ \Omega_{\mathtt{R}} }^{\left(+z\right)}&#10;,\\&#10;\hat{U}_{u, \left(\kappa, i\right)_{\mathtt{L}} \left(\kappa,i\right)_{\mathtt{R}} }&#10;    &amp;=&#10;        \tilde{\alpha}_{ \left(\kappa,i\right)_{\mathtt{L}} }^{\left(xyz\right)}&#10;        \alpha_{ \left(\kappa,i\right)_{\mathtt{R}} }^{\left(xyz\right)}&#10;        \hat{U}_{u}&#10;            +&#10;        \tilde{\alpha}_{ \left(\kappa,i\right)_{\mathtt{L}} }^{\left(yzx\right)}&#10;        \alpha_{ \left(\kappa,i\right)_{\mathtt{R}} }^{\left(yzx\right)}&#10;        \left(yzx\right)\hat{U}_{u}&#10;            +&#10;        \tilde{\alpha}_{ \left(\kappa,i\right)_{\mathtt{L}} }^{\left(zxy\right)}&#10;        \alpha_{ \left(\kappa,i\right)_{\mathtt{R}} }^{\left(zxy\right)}&#10;        \left(zxy\right)\hat{U}_{u}&#10;\end{align*}&#10;&#10;\end{document}" title="IguanaTex Bitmap Display">
            <a:extLst>
              <a:ext uri="{FF2B5EF4-FFF2-40B4-BE49-F238E27FC236}">
                <a16:creationId xmlns:a16="http://schemas.microsoft.com/office/drawing/2014/main" id="{1CBE50FC-32A1-4814-9CE7-02895522404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606" y="2435356"/>
            <a:ext cx="6818132" cy="865528"/>
          </a:xfrm>
          <a:prstGeom prst="rect">
            <a:avLst/>
          </a:prstGeom>
        </p:spPr>
      </p:pic>
      <p:pic>
        <p:nvPicPr>
          <p:cNvPr id="4" name="Picture 3" descr="\documentclass{article}&#10;\usepackage{amsmath,amssymb,bm,physics,mathtools}&#10;\pagestyle{empty}&#10;\begin{document}&#10;&#10;\begin{align*}&#10;\left(xyz\right)\Phi_{ {\mathtt{I}} }^{\left(p\right)} &amp;= \alpha_{ \mathtt{I} }^{\left(xyz\right)} \Phi_{ \mathtt{I} }^{\left(p\right)} ,\\&#10;\left(yzx\right)\Phi_{ {\mathtt{I}} }^{\left(p\right)} &amp;= \alpha_{ \mathtt{I} }^{\left(yzx\right)} \Phi_{ \mathtt{I} }^{\left(p+1\right)} ,\\&#10;\left(zxy\right)\Phi_{ {\mathtt{I}} }^{\left(p\right)} &amp;= \alpha_{ \mathtt{I} }^{\left(zxy\right)} \Phi_{ \mathtt{I} }^{\left(p-1\right)} \\&#10;\end{align*}&#10;&#10;\end{document}" title="IguanaTex Bitmap Display">
            <a:extLst>
              <a:ext uri="{FF2B5EF4-FFF2-40B4-BE49-F238E27FC236}">
                <a16:creationId xmlns:a16="http://schemas.microsoft.com/office/drawing/2014/main" id="{2431FFB9-B2D3-4808-B16C-6D963C47EA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907" y="880793"/>
            <a:ext cx="2273521" cy="99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0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        &#10;        \sum_{ q=x,y,z }&#10;        \int\mathrm{d}\bm{r}\, &#10;            \left\{\Phi_{\mathtt{L}}^{\left(q\right)}\right\}^{\dagger}&#10;            \Theta_{ \Omega_{\mathtt{L}} }^{\left(-q\right)}&#10;            \hat{U}_{u}&#10;            \left[&#10;                \Phi_{\mathtt{R}}^{\left(q+1\right)} &#10;                \Theta_{ \Omega_{\mathtt{R}} }^{\left(q+1\right)}&#10;                +&#10;                \Phi_{\mathtt{R}}^{\left(q-1\right)} &#10;                \Theta_{ \Omega_{\mathtt{R}} }^{\left(q-1\right)}&#10;            \right]&#10;\end{align*}&#10;&#10;\end{document}" title="IguanaTex Bitmap Display">
            <a:extLst>
              <a:ext uri="{FF2B5EF4-FFF2-40B4-BE49-F238E27FC236}">
                <a16:creationId xmlns:a16="http://schemas.microsoft.com/office/drawing/2014/main" id="{FD7CDFEC-E470-4224-A3B3-DF9F80ADC12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06" y="2014292"/>
            <a:ext cx="5913598" cy="121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13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p_{\mathtt{L}}-1, p_{\mathtt{L}}+1 }&#10;                    \Phi_{ \mathtt{L}\left( T_{n}, p_{ \mathtt{L} }\right) }^{ \left(q_{\mathtt{L}}\right) }&#10;                    \Theta_{ \Omega_{\mathtt{L}} }^{\left(q_{\mathtt{L}}\right)}&#10;            \right\}^{\dagger}&#10;            \hat{U}_{u}&#10;            \left\{&#10;                \sum_{ q_{\mathtt{R}}=x,y,z }&#10;                    \Phi_{ \mathtt{R}}^{\left(q_{\mathtt{R}}\right) } \Theta_{ \Omega_{\mathtt{R}} }^{\left(q_{\mathtt{R}}\right)}&#10;            \right\}&#10;,\\&#10;    &amp;= \mathcal{H}_{\parallel} + \mathcal{H}_{\perp}&#10;,\\&#10;\mathcal{H}_{\parallel}&#10;    &amp;=&#10;        \sum_{ q= p_{\mathtt{L}}-1,p_{\mathtt{L}}+1 }&#10;        \int\mathrm{d}\bm{r}\, &#10;            \left\{ \Phi_{ \mathtt{L}\left( T_{n}, p_{ \mathtt{L} }\right) 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= p_{\mathtt{L}}-1,p_{\mathtt{L}}+1 }&#10;        \sum_{ q_{\mathtt{R}}= q_{\mathtt{L}}-1,q_{\mathtt{L}}+1 }&#10;        \int\mathrm{d}\bm{r}\, &#10;            \left\{\Phi_{ \mathtt{L}\left( T_{n}, p_{ \mathtt{L} }\right) 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 title="IguanaTex Bitmap Display">
            <a:extLst>
              <a:ext uri="{FF2B5EF4-FFF2-40B4-BE49-F238E27FC236}">
                <a16:creationId xmlns:a16="http://schemas.microsoft.com/office/drawing/2014/main" id="{FF7A6610-431D-422F-A9F8-DF5517F08C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16" y="2014291"/>
            <a:ext cx="6061101" cy="281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46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x,y,z  }&#10;                    \Phi_{ \mathtt{L} }^{ \left(q_{\mathtt{L}}\right) } \Theta_{ \Omega_{\mathtt{L}} }^{\left(q_{\mathtt{L}}\right)}&#10;            \right\}^{\dagger}&#10;            \hat{U}_{u}&#10;            \left\{&#10;                \sum_{ q_{\mathtt{R}}= p_{\mathtt{R}}-1, p_{\mathtt{R}}+1 }&#10;                    \Phi_{ \mathtt{R}\left( T_{n}, p_{ \mathtt{R} }\right) }^{\left(q_{\mathtt{R}}\right) }&#10;                    \Theta_{ \Omega_{\mathtt{R}} }^{\left(q_{\mathtt{R}}\right)}&#10;            \right\}&#10;,\\&#10;    &amp;= \mathcal{H}_{\parallel} + \mathcal{H}_{\perp}&#10;,\\&#10;\mathcal{H}_{\parallel}&#10;    &amp;=&#10;        \sum_{ q= p_{\mathtt{R}}-1,p_{\mathtt{R}}+1 }&#10;        \int\mathrm{d}\bm{r}\, &#10;            \left\{ \Phi_{\mathtt{L}}^{\left(q\right)} \right\}^{\dagger}&#10;            \hat{U}_{u}&#10;            \Phi_{ \mathtt{R}\left( T_{n}, p_{ \mathtt{R} }\right) }^{\left(q\right)}&#10;            \Theta_{ \Omega_{\mathtt{L}} }^{\left(-q\right)}\Theta_{ \Omega_{\mathtt{R}} }^{\left(q\right)}&#10;,\\&#10;\mathcal{H}_{\perp}&#10;    &amp;=        &#10;        \sum_{ q_{\mathtt{R}}= p_{\mathtt{R}}-1,p_{\mathtt{R}}+1 }&#10;        \sum_{ q_{\mathtt{L}}= q_{\mathtt{R}}-1,q_{\mathtt{R}}+1 }&#10;        \int\mathrm{d}\bm{r}\, &#10;            \left\{\Phi_{\mathtt{L}}^{\left(q_{\mathtt{L}}\right)}\right\}^{\dagger}&#10;            \hat{U}_{u}&#10;            \Phi_{ \mathtt{R}\left( T_{n}, p_{ \mathtt{R} }\right) }^{\left(q_{\mathtt{R}}\right)} &#10;            \Theta_{ \Omega_{\mathtt{L}} }^{\left(-q_{\mathtt{L}}\right)}\Theta_{ \Omega_{\mathtt{R}} }^{\left(q_{\mathtt{R}}\right)}&#10;\end{align*}&#10;&#10;\end{document}" title="IguanaTex Bitmap Display">
            <a:extLst>
              <a:ext uri="{FF2B5EF4-FFF2-40B4-BE49-F238E27FC236}">
                <a16:creationId xmlns:a16="http://schemas.microsoft.com/office/drawing/2014/main" id="{55E88596-DACF-4F76-8451-4A633418987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11" y="2014292"/>
            <a:ext cx="6061101" cy="281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17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p_{\mathtt{L}}-1, p_{\mathtt{L}}+1 }&#10;                    \Phi_{ \mathtt{L} \left( T_{n}, p_{ \mathtt{L} }\right) }^{ \left(q_{\mathtt{L}}\right) }&#10;                    \Theta_{ \Omega_{\mathtt{L}} }^{\left(q_{\mathtt{L}}\right)}&#10;            \right\}^{\dagger}&#10;            \hat{U}_{u}&#10;            \left\{&#10;                \sum_{ q_{\mathtt{R}}= p_{\mathtt{R}}-1, p_{\mathtt{R}}+1 }&#10;                    \Phi_{ \mathtt{R}\left( T_{n}, p_{ \mathtt{R} }\right) }^{\left(q_{\mathtt{R}}\right) }&#10;                    \Theta_{ \Omega_{\mathtt{R}} }^{\left(q_{\mathtt{R}}\right)}&#10;            \right\}&#10;,\\&#10;    &amp;= \mathcal{H}_{\parallel} + \mathcal{H}_{\perp}&#10;,\\&#10;\mathcal{H}_{\parallel}&#10;    &amp;=&#10;        \sum_{ q=x,y,z }&#10;        \int\mathrm{d}\bm{r}\, &#10;            \left\{ \Phi_{\mathtt{L}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 title="IguanaTex Bitmap Display">
            <a:extLst>
              <a:ext uri="{FF2B5EF4-FFF2-40B4-BE49-F238E27FC236}">
                <a16:creationId xmlns:a16="http://schemas.microsoft.com/office/drawing/2014/main" id="{C2AA61FA-79CD-4F5A-9836-6B52255FCA2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08" y="2014292"/>
            <a:ext cx="6785215" cy="283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4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 \left(\kappa,p\right)_{u} }&#10;                     +&#10;                 \alpha_{ \left(\kappa,i\right)_{\mathtt{L}} }^{\left(yzx\right)}&#10;                 \alpha_{ \left(\kappa,i\right)_{\mathtt{R}} }^{\left(yzx\right)}&#10;                 \hat{U}_{ \left(\kappa,p+1\right)_{u} }&#10;                     +&#10;                 \alpha_{ \left(\kappa,i\right)_{\mathtt{L}} }^{\left(zxy\right)}&#10;                 \alpha_{ \left(\kappa,i\right)_{\mathtt{R}} }^{\left(zxy\right)}&#10;                 \hat{U}_{ \left(\kappa,p-1\right)_{u} 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919335B3-B8AE-49FC-9B66-DE8B7339C24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202" y="4298716"/>
            <a:ext cx="8345597" cy="45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62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\documentclass{article}&#10;\usepackage{amsmath,amssymb,bm,physics,mathtools}&#10;\pagestyle{empty}&#10;\begin{document}&#10;&#10;\begin{align*}&#10;\mathcal{H}_{\parallel}&#10;    &amp;=&#10;        \int\mathrm{d}\bm{r}\,&#10;            \hat{U}_{u, \left(\kappa, i\right)_{\mathtt{L}} \left(\kappa,i\right)_{\mathtt{R}} }&#10;            \left\{ \Phi_{\mathtt{L}}^{\left(z\right)} \right\}^{\dagger}\Phi_{\mathtt{R}}^{\left(z\right)}&#10;            \Theta_{ \Omega_{\mathtt{L}} }^{\left(-z\right)}\Theta_{ \Omega_{\mathtt{R}} }^{\left(+z\right)}&#10;,\\&#10;    &amp;=&#10;        \left\{ &#10;            1     &#10;                +&#10;            \alpha_{ \left(\kappa,i\right)_{\mathtt{L}} }^{\left(yzx\right)}&#10;            \alpha_{ \left(\kappa,i\right)_{\mathtt{R}} }^{\left(yzx\right)}&#10;            \alpha_{ \left(\kappa,i\right)_{u} }^{\left(yzx\right)}&#10;                +&#10;            \alpha_{ \left(\kappa,i\right)_{\mathtt{L}} }^{\left(zxy\right)}&#10;            \alpha_{ \left(\kappa,i\right)_{\mathtt{R}} }^{\left(zxy\right)}&#10;            \alpha_{ \left(\kappa,i\right)_{u} }^{\left(zxy\right)}&#10;        \right\}&#10;        \int\mathrm{d}\bm{r}\,&#10;            \hat{U}_{u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DB9F8F5C-9693-4949-8241-4DB91E38406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097" y="621712"/>
            <a:ext cx="7612948" cy="993528"/>
          </a:xfrm>
          <a:prstGeom prst="rect">
            <a:avLst/>
          </a:prstGeom>
        </p:spPr>
      </p:pic>
      <p:pic>
        <p:nvPicPr>
          <p:cNvPr id="9" name="Picture 8" descr="\documentclass{article}&#10;\usepackage{amsmath,amssymb,bm,physics,mathtools}&#10;\pagestyle{empty}&#10;\begin{document}&#10;&#10;\begin{align*}&#10;\left(yzx\right)U_{\left(A_{n},0\right)} &amp;= U_{\left(A_{n},0\right)} ,\\&#10;\left(zxy\right)U_{\left(A_{n},0\right)} &amp;= U_{\left(A_{n},0\right)} ,\\&#10;\left(yzx\right)U_{\left(E,0\right)} &amp;= \tau^{2}U_{\left(E,0\right)} ,\\&#10;\left(zxy\right)U_{\left(E,0\right)} &amp;= \tau U_{\left(E,0\right)} ,\\&#10;\left(yzx\right)U_{\left(E,1\right)} &amp;= \tau U_{\left(E,1\right)} ,\\&#10;\left(zxy\right)U_{\left(E,1\right)} &amp;= \tau^{2}U_{\left(E,1\right)} ,\\&#10;\end{align*}&#10;&#10;\end{document}" title="IguanaTex Bitmap Display">
            <a:extLst>
              <a:ext uri="{FF2B5EF4-FFF2-40B4-BE49-F238E27FC236}">
                <a16:creationId xmlns:a16="http://schemas.microsoft.com/office/drawing/2014/main" id="{BAB654ED-4482-4382-BDB1-39B2B07C21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19" y="3088643"/>
            <a:ext cx="2163808" cy="1791999"/>
          </a:xfrm>
          <a:prstGeom prst="rect">
            <a:avLst/>
          </a:prstGeom>
        </p:spPr>
      </p:pic>
      <p:pic>
        <p:nvPicPr>
          <p:cNvPr id="11" name="Picture 10" descr="\documentclass{article}&#10;\usepackage{amsmath,amssymb,bm,physics,mathtools}&#10;\pagestyle{empty}&#10;\begin{document}&#10;&#10;\begin{align*}&#10;\left(yzx\right)U_{\left(T_{n},x\right)} &amp;= U_{\left(T_{n},y\right)} ,\\&#10;\left(zxy\right)U_{\left(T_{n},x\right)} &amp;= U_{\left(T_{n},z\right)} ,\\&#10;\left(yzx\right)U_{\left(T_{n},y\right)} &amp;= U_{\left(T_{n},z\right)} ,\\&#10;\left(zxy\right)U_{\left(T_{n},y\right)} &amp;= U_{\left(T_{n},x\right)} ,\\&#10;\left(yzx\right)U_{\left(T_{n},z\right)} &amp;= U_{\left(T_{n},x\right)} ,\\&#10;\left(zxy\right)U_{\left(T_{n},z\right)} &amp;= U_{\left(T_{n},y\right)} ,\\&#10;\end{align*}&#10;&#10;\end{document}" title="IguanaTex Bitmap Display">
            <a:extLst>
              <a:ext uri="{FF2B5EF4-FFF2-40B4-BE49-F238E27FC236}">
                <a16:creationId xmlns:a16="http://schemas.microsoft.com/office/drawing/2014/main" id="{BACF08FA-0A81-4B47-A0A0-2D193FC02A0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237" y="3088641"/>
            <a:ext cx="2027275" cy="1742018"/>
          </a:xfrm>
          <a:prstGeom prst="rect">
            <a:avLst/>
          </a:prstGeom>
        </p:spPr>
      </p:pic>
      <p:pic>
        <p:nvPicPr>
          <p:cNvPr id="22" name="Picture 21" descr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 \left(T_{n},p\right)_{u} }&#10;                     +&#10;                 \alpha_{ \left(T_{n},i\right)_{\mathtt{L}} }^{\left(yzx\right)}&#10;                 \alpha_{ \left(T_{n},i\right)_{\mathtt{R}} }^{\left(yzx\right)}&#10;                 \hat{U}_{ \left(T_{n},p+1\right)_{u} }&#10;                     +&#10;                 \alpha_{ \left(T_{n},i\right)_{\mathtt{L}} }^{\left(zxy\right)}&#10;                 \alpha_{ \left(T_{n},i\right)_{\mathtt{R}} }^{\left(zxy\right)}&#10;                 \hat{U}_{ \left(T_{n},p-1\right)_{u} 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DC31E9CE-1035-494E-91F4-EDFB006AD9C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584" y="5481264"/>
            <a:ext cx="9046550" cy="457145"/>
          </a:xfrm>
          <a:prstGeom prst="rect">
            <a:avLst/>
          </a:prstGeom>
        </p:spPr>
      </p:pic>
      <p:pic>
        <p:nvPicPr>
          <p:cNvPr id="20" name="Picture 19" descr="\documentclass{article}&#10;\usepackage{amsmath,amssymb,bm,physics,mathtools}&#10;\pagestyle{empty}&#10;\begin{document}&#10;&#10;\begin{align*}&#10;\mathcal{H}_{\parallel}&#10;    &amp;=&#10;        \left\{ &#10;            1     &#10;                +&#10;            \alpha_{ \left(\kappa,i\right)_{\mathtt{L}} }^{\left(yzx\right)}&#10;            \alpha_{ \left(\kappa,i\right)_{\mathtt{R}} }^{\left(yzx\right)}&#10;            \alpha_{ \left(\kappa,i\right)_{u} }^{\left(yzx\right)}&#10;                +&#10;            \alpha_{ \left(\kappa,i\right)_{\mathtt{L}} }^{\left(zxy\right)}&#10;            \alpha_{ \left(\kappa,i\right)_{\mathtt{R}} }^{\left(zxy\right)}&#10;            \alpha_{ \left(\kappa,i\right)_{u} }^{\left(zxy\right)}&#10;        \right\}&#10;        \int\mathrm{d}\bm{r}\,&#10;            \hat{U}_{ \left(A_{n}\slash E,i\right)_{u} 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B9537F2C-862E-4063-B2AB-A1B126DA982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97" y="1834423"/>
            <a:ext cx="8274890" cy="45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3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documentclass{article}&#10;\usepackage{amsmath,amssymb,bm,physics,mathtools}&#10;\pagestyle{empty}&#10;\begin{document}&#10;&#10;\begin{align*}&#10;\hat{U}_{u, \left(\kappa, i\right)_{\mathtt{L}} \left(\kappa,i\right)_{\mathtt{R}} }&#10;    &amp;=&#10;        \hat{U}_{u}&#10;            +&#10;        \tilde{\alpha}_{ \left(\kappa,i\right)_{\mathtt{L}} }^{\left(yzx\right)}&#10;        \alpha_{ \left(\kappa,i\right)_{\mathtt{R}} }^{\left(yzx\right)}&#10;        \left(yzx\right)\hat{U}_{u}&#10;            +&#10;        \tilde{\alpha}_{ \left(\kappa,i\right)_{\mathtt{L}} }^{\left(zxy\right)}&#10;        \alpha_{ \left(\kappa,i\right)_{\mathtt{R}} }^{\left(zxy\right)}&#10;        \left(zxy\right)\hat{U}_{u}&#10;\end{align*}&#10;&#10;\end{document}" title="IguanaTex Bitmap Display">
            <a:extLst>
              <a:ext uri="{FF2B5EF4-FFF2-40B4-BE49-F238E27FC236}">
                <a16:creationId xmlns:a16="http://schemas.microsoft.com/office/drawing/2014/main" id="{6AD9F905-A30D-4977-8BB4-CF6F2DCB78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363" y="1339009"/>
            <a:ext cx="5758781" cy="3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00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&#10;        \int\mathrm{d}\bm{r}\,&#10;            \left( \varphi_{0}^{\left(\perp\right)} + \varphi_{1}^{\left(\perp\right)} \right)&#10;            \Theta_{ \Omega_{\mathtt{L}} }^{\left(-y\right)}\Theta_{ \Omega_{\mathtt{R}} }^{\left(+x\right)}&#10;,\\&#10;\varphi_{0}^{\left(\perp\right)}&#10;    &amp;=&#10;        \left(xyz\right)&#10;        \left[&#10;             \left\{ \Phi_{\mathtt{L}}^{\left(y\right)} \right\}^{\dagger}&#10;             \hat{U}_{u}&#10;             \Phi_{\mathtt{R}}^{\left(x\right)}&#10;        \right]&#10;            +&#10;        \left(yzx\right)&#10;        \left[&#10;            \left\{ \Phi_{\mathtt{L}}^{\left(x\right)} \right\}^{\dagger}&#10;            \hat{U}_{u}&#10;            \Phi_{\mathtt{R}}^{\left(z\right)}&#10;        \right]&#10;             +&#10;        \left(zxy\right)&#10;        \left[&#10;             \left\{ \Phi_{\mathtt{L}}^{\left(z\right)} \right\}^{\dagger}&#10;             \hat{U}_{u}&#10;             \Phi_{\mathtt{R}}^{\left(y\right)}&#10;        \right]&#10;,\\&#10;    &amp;=&#10;        \hat{U}_{u, \left(\kappa, i\right)_{\mathtt{L}} \left(\kappa,i\right)_{\mathtt{R}} }&#10;        \left\{ \Phi_{\mathtt{L}}^{\left(y\right)} \right\}^{\dagger}\Phi_{\mathtt{R}}^{\left(x\right)}&#10;,\\&#10;\hat{U}_{u, \left(\kappa, i\right)_{\mathtt{L}} \left(\kappa,i\right)_{\mathtt{R}} }&#10;    &amp;=&#10;        \hat{U}_{u}&#10;            +&#10;        \tilde{\alpha}_{ \left(\kappa,i\right)_{\mathtt{L}} }^{\left(yzx\right)}&#10;        \alpha_{ \left(\kappa,i\right)_{\mathtt{R}} }^{\left(yzx\right)}&#10;        \left(yzx\right)\hat{U}_{u}&#10;            +&#10;        \tilde{\alpha}_{ \left(\kappa,i\right)_{\mathtt{L}} }^{\left(zxy\right)}&#10;        \alpha_{ \left(\kappa,i\right)_{\mathtt{R}} }^{\left(zxy\right)}&#10;        \left(zxy\right)\hat{U}_{u}&#10;,\\&#10;\varphi_{1}^{\left(\perp\right)}&#10;    &amp;=&#10;        \left(yxz\right)&#10;        \left[&#10;             \left\{ \Phi_{\mathtt{L}}^{\left(x\right)} \right\}^{\dagger}&#10;             \hat{U}_{u}&#10;             \Phi_{\mathtt{R}}^{\left(y\right)}&#10;        \right]&#10;             +&#10;        \left(xzy\right)&#10;        \left[&#10;             \left\{ \Phi_{\mathtt{L}}^{\left(z\right)} \right\}^{\dagger}&#10;             \hat{U}_{u}&#10;             \Phi_{\mathtt{R}}^{\left(x\right)}&#10;        \right]&#10;             +&#10;        \left(zyx\right)&#10;        \left[&#10;             \left\{ \Phi_{\mathtt{L}}^{\left(y\right)} \right\}^{\dagger}&#10;             \hat{U}_{u}&#10;             \Phi_{\mathtt{R}}^{\left(z\right)}&#10;        \right]&#10;,\\&#10;    &amp;=&#10;        \left(yxz\right)&#10;        \left[ &#10;            \hat{U}_{u, \left(\kappa, i\right)_{\mathtt{L}} \left(\kappa,i\right)_{\mathtt{R}} }&#10;            \left\{ \Phi_{\mathtt{L}}^{\left(x\right)} \right\}^{\dagger}\Phi_{\mathtt{R}}^{\left(y\right)}&#10;        \right]&#10;\end{align*}&#10;&#10;\end{document}" title="IguanaTex Bitmap Display">
            <a:extLst>
              <a:ext uri="{FF2B5EF4-FFF2-40B4-BE49-F238E27FC236}">
                <a16:creationId xmlns:a16="http://schemas.microsoft.com/office/drawing/2014/main" id="{CFAFC66A-141B-4506-8EDB-4E2D1D13816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362" y="1339009"/>
            <a:ext cx="8205410" cy="371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96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&#10;        \int\mathrm{d}\bm{r}\,&#10;            \left\{ &#10;                 \left(xyz\right)&#10;                 \left[&#10;                     \left\{ \Phi_{\mathtt{L}}^{\left(y\right)} \right\}^{\dagger}&#10;                     \hat{U}_{u}&#10;                     \Phi_{\mathtt{R}}^{\left(x\right)}&#10;                 \right]&#10;                     +&#10;                 \left(yzx\right)&#10;                 \left[&#10;                     \left\{ \Phi_{\mathtt{L}}^{\left(x\right)} \right\}^{\dagger}&#10;                     \hat{U}_{u}&#10;                     \Phi_{\mathtt{R}}^{\left(z\right)}&#10;                 \right]&#10;                     +&#10;                 \left(zxy\right)&#10;                 \left[&#10;                     \left\{ \Phi_{\mathtt{L}}^{\left(z\right)} \right\}^{\dagger}&#10;                     \hat{U}_{u}&#10;                     \Phi_{\mathtt{R}}^{\left(y\right)}&#10;                 \right]&#10;                     +&#10;                 \left(yxz\right)&#10;                 \left[&#10;                     \left\{ \Phi_{\mathtt{L}}^{\left(x\right)} \right\}^{\dagger}&#10;                     \hat{U}_{u}&#10;                     \Phi_{\mathtt{R}}^{\left(y\right)}&#10;                 \right]&#10;                     +&#10;                 \left(xzy\right)&#10;                 \left[&#10;                     \left\{ \Phi_{\mathtt{L}}^{\left(z\right)} \right\}^{\dagger}&#10;                     \hat{U}_{u}&#10;                     \Phi_{\mathtt{R}}^{\left(x\right)}&#10;                 \right]&#10;                     +&#10;                 \left(zyx\right)&#10;                 \left[&#10;                     \left\{ \Phi_{\mathtt{L}}^{\left(y\right)} \right\}^{\dagger}&#10;                     \hat{U}_{u}&#10;                     \Phi_{\mathtt{R}}^{\left(z\right)}&#10;                 \right]&#10;            \right\}&#10;            \Theta_{ \Omega_{\mathtt{L}} }^{\left(-y\right)}\Theta_{ \Omega_{\mathtt{R}} }^{\left(+x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F78B39E7-0C8C-4D80-ACC5-2ED7326805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985" y="1339009"/>
            <a:ext cx="16347427" cy="1156880"/>
          </a:xfrm>
          <a:prstGeom prst="rect">
            <a:avLst/>
          </a:prstGeom>
        </p:spPr>
      </p:pic>
      <p:pic>
        <p:nvPicPr>
          <p:cNvPr id="12" name="Picture 11" descr="\documentclass{article}&#10;\usepackage{amsmath,amssymb,bm,physics,mathtools}&#10;\pagestyle{empty}&#10;\begin{document}&#10;&#10;\begin{align*}&#10;\left(yzx\right)f_{\left(A_{n},0\right)} &amp;= f_{\left(A_{n},0\right)} ,\\&#10;\left(zxy\right)f_{\left(A_{n},0\right)} &amp;= f_{\left(A_{n},0\right)} ,\\&#10;\left(yzx\right)f_{\left(E,0\right)} &amp;= \tau^{2}f_{\left(E,0\right)} ,\\&#10;\left(zxy\right)f_{\left(E,0\right)} &amp;= \tau f_{\left(E,0\right)} ,\\&#10;\left(yzx\right)f_{\left(E,1\right)} &amp;= \tau f_{\left(E,1\right)} ,\\&#10;\left(zxy\right)f_{\left(E,1\right)} &amp;= \tau^{2}f_{\left(E,1\right)} ,\\&#10;\end{align*}&#10;&#10;\end{document}" title="IguanaTex Bitmap Display">
            <a:extLst>
              <a:ext uri="{FF2B5EF4-FFF2-40B4-BE49-F238E27FC236}">
                <a16:creationId xmlns:a16="http://schemas.microsoft.com/office/drawing/2014/main" id="{0D12C569-F1C8-4AB4-9F7F-D216D7009DE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19" y="3088642"/>
            <a:ext cx="2085790" cy="1791999"/>
          </a:xfrm>
          <a:prstGeom prst="rect">
            <a:avLst/>
          </a:prstGeom>
        </p:spPr>
      </p:pic>
      <p:pic>
        <p:nvPicPr>
          <p:cNvPr id="15" name="Picture 14" descr="\documentclass{article}&#10;\usepackage{amsmath,amssymb,bm,physics,mathtools}&#10;\pagestyle{empty}&#10;\begin{document}&#10;&#10;\begin{align*}&#10;\left(yzx\right)f_{\left(T_{n},x\right)} &amp;= f_{\left(T_{n},y\right)} ,\\&#10;\left(zxy\right)f_{\left(T_{n},x\right)} &amp;= f_{\left(T_{n},z\right)} ,\\&#10;\left(yzx\right)f_{\left(T_{n},y\right)} &amp;= f_{\left(T_{n},z\right)} ,\\&#10;\left(zxy\right)f_{\left(T_{n},y\right)} &amp;= f_{\left(T_{n},x\right)} ,\\&#10;\left(yzx\right)f_{\left(T_{n},z\right)} &amp;= f_{\left(T_{n},x\right)} ,\\&#10;\left(zxy\right)f_{\left(T_{n},z\right)} &amp;= f_{\left(T_{n},y\right)} ,\\&#10;\end{align*}&#10;&#10;\end{document}" title="IguanaTex Bitmap Display">
            <a:extLst>
              <a:ext uri="{FF2B5EF4-FFF2-40B4-BE49-F238E27FC236}">
                <a16:creationId xmlns:a16="http://schemas.microsoft.com/office/drawing/2014/main" id="{5A291AD9-EEA9-49A1-8891-F73615707CE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237" y="3088641"/>
            <a:ext cx="1949256" cy="1742018"/>
          </a:xfrm>
          <a:prstGeom prst="rect">
            <a:avLst/>
          </a:prstGeom>
        </p:spPr>
      </p:pic>
      <p:pic>
        <p:nvPicPr>
          <p:cNvPr id="3" name="Picture 2" descr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u}&#10;                     +&#10;                 \tilde{\alpha}_{ \left(\kappa,i\right)_{\mathtt{L}} }^{\left(yzx\right)}&#10;                 \alpha_{ \left(\kappa,i\right)_{\mathtt{R}} }^{\left(yzx\right)}&#10;                 \left(yzx\right)\hat{U}_{u}&#10;                     +&#10;                 \tilde{\alpha}_{ \left(\kappa,i\right)_{\mathtt{L}} }^{\left(zxy\right)}&#10;                 \alpha_{ \left(\kappa,i\right)_{\mathtt{R}} }^{\left(zxy\right)}&#10;                 \left(zxy\right)\hat{U}_{u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7756944D-837E-4129-9288-1EA9610AB8D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97" y="5233974"/>
            <a:ext cx="7975007" cy="45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845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1.4361"/>
  <p:tag name="ORIGINALWIDTH" val="1879.265"/>
  <p:tag name="OUTPUTTYPE" val="PNG"/>
  <p:tag name="IGUANATEXVERSION" val="159"/>
  <p:tag name="LATEXADDIN" val="\documentclass{article}&#10;\usepackage{amsmath,amssymb,bm,physics,mathtools}&#10;\pagestyle{empty}&#10;\begin{document}&#10;&#10;\begin{align*}&#10;\left(yxz\right)\Psi_{\mathtt{I}|\kappa=A\slash T} &amp;= \sigma_{\mathtt{I}}\Psi_{\mathtt{I}} ,\\&#10;\left(yxz\right)\Psi_{\mathtt{I}|\left(\kappa,i\right)=\left(E,0\right)} &amp;= \Psi_{\mathtt{I}|\left(\kappa,i\right)=\left(E,1\right)} ,\\&#10;\left(yxz\right)\Psi_{\mathtt{I}|\left(\kappa,i\right)=\left(E,1\right)} &amp;= \Psi_{\mathtt{I}|\left(\kappa,i\right)=\left(E,0\right)} ,\\&#10;\end{align*}&#10;&#10;\end{document}"/>
  <p:tag name="IGUANATEXSIZE" val="16"/>
  <p:tag name="IGUANATEXCURSOR" val="48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0.4237"/>
  <p:tag name="ORIGINALWIDTH" val="1238.095"/>
  <p:tag name="OUTPUTTYPE" val="PNG"/>
  <p:tag name="IGUANATEXVERSION" val="159"/>
  <p:tag name="LATEXADDIN" val="\documentclass{article}&#10;\usepackage{amsmath,amssymb,bm,physics,mathtools}&#10;\pagestyle{empty}&#10;\begin{document}&#10;&#10;\begin{align*}&#10;\left(\bar{x}\bar{y}z\right)\Psi_{\mathtt{I}} &amp;= \omega_{\mathtt{I}}^{\left(x\right)}\omega_{\mathtt{I}}^{\left(y\right)}\Psi_{\mathtt{I}} ,\\&#10;\left(\bar{x}y\bar{z}\right)\Psi_{\mathtt{I}} &amp;= \omega_{\mathtt{I}}^{\left(x\right)}\omega_{\mathtt{I}}^{\left(z\right)}\Psi_{\mathtt{I}} ,\\&#10;\left(x\bar{y}\bar{z}\right)\Psi_{\mathtt{I}} &amp;= \omega_{\mathtt{I}}^{\left(y\right)}\omega_{\mathtt{I}}^{\left(z\right)}\Psi_{\mathtt{I}}&#10;\end{align*}&#10;&#10;\end{document}"/>
  <p:tag name="IGUANATEXSIZE" val="16"/>
  <p:tag name="IGUANATEXCURSOR" val="524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9.768"/>
  <p:tag name="ORIGINALWIDTH" val="2041.245"/>
  <p:tag name="OUTPUTTYPE" val="PNG"/>
  <p:tag name="IGUANATEXVERSION" val="159"/>
  <p:tag name="LATEXADDIN" val="\documentclass{article}&#10;\usepackage{amsmath,amssymb,bm,physics,mathtools}&#10;\pagestyle{empty}&#10;\begin{document}&#10;&#10;\begin{align*}&#10;\hat{U} &amp;= \sum_{u} \hat{U}_{u} ,\\&#10;\hat{U}_{u|\left(\kappa=E,+\right)} &amp;= \frac{ \hat{U}_{u|\left(\kappa=E,0\right)} + \hat{U}_{u|\left(\kappa=E,1\right)} }{2} ,\\&#10;\hat{U}_{u|\left(\kappa=E,-\right)} &amp;= \frac{ \hat{U}_{u|\left(\kappa=E,0\right)} - \hat{U}_{u|\left(\kappa=E,1\right)} }{2} ,\\&#10;\left(yxz\right)\hat{U}_{u} &amp;= \sigma_{\mathtt{U},u}\hat{U}_{u} ,\\&#10;\left(\bar{x}\bar{y}z\right)\hat{U}_{u} &amp;= \omega_{\mathtt{U},u}^{\left(x\right)}\omega_{\mathtt{U},u}^{\left(y\right)}\hat{U}_{u} ,\\&#10;\left(\bar{x}y\bar{z}\right)\hat{U}_{u} &amp;= \omega_{\mathtt{U},u}^{\left(x\right)}\omega_{\mathtt{U},u}^{\left(z\right)}\hat{U}_{u} ,\\&#10;\left(x\bar{y}\bar{z}\right)\hat{U}_{u} &amp;= \omega_{\mathtt{U},u}^{\left(x\right)}\omega_{\mathtt{U},u}^{\left(y\right)}\hat{U}_{u}&#10;\end{align*}&#10;&#10;\end{document}"/>
  <p:tag name="IGUANATEXSIZE" val="16"/>
  <p:tag name="IGUANATEXCURSOR" val="46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7.266"/>
  <p:tag name="ORIGINALWIDTH" val="6740.907"/>
  <p:tag name="OUTPUTTYPE" val="PNG"/>
  <p:tag name="IGUANATEXVERSION" val="159"/>
  <p:tag name="LATEXADDIN" val="\documentclass{article}&#10;\usepackage{amsmath,amssymb,bm,physics,mathtools}&#10;\pagestyle{empty}&#10;\begin{document}&#10;&#10;\begin{align*}&#10;\left\{\hat{U}_{u}\right\}&#10;    &amp;=&#10;        \left\{ \hat{U}_{\mathtt{U},u} | \sigma_{\mathtt{U},u}=+1 \right\}&#10;            \cup&#10;        \left\{ \hat{U}_{\mathtt{U},u} | \sigma_{\mathtt{U},u}=-1 \right\}&#10;,\\&#10;    &amp;=&#10;        \left\{ \hat{U}_{\mathtt{U},u} | \omega_{\mathtt{U},u}^{\left(p\right)} =+1 \text{ and } \sigma_{\mathtt{U},u} =+1 \right\}&#10;            \cup&#10;        \left\{ \hat{U}_{\mathtt{U},u} | \omega_{\mathtt{U},u}^{\left(p\right)} =+1 \text{ and } \sigma_{\mathtt{U},u} =-1 \right\}&#10;            \cup&#10;        \left\{ \hat{U}_{\mathtt{U},u} | \omega_{\mathtt{U},u}^{\left(p\right)} =-1 \right\}&#10;,\\&#10;\left\{ \hat{U}_{u} | \sigma_{\mathtt{U},u}=+1 \right\}&#10;    &amp;=&#10;        \left\{&#10;            U_{\left(A_{1},0\right)},&#10;            U_{\left(E,+\right)},&#10;            U_{\left(T_{2},x\right)},U_{\left(T_{2},y\right)},U_{\left(T_{2},z\right)}&#10;        \right\}&#10;,\\&#10;\left\{ \hat{U}_{u} | \sigma_{\mathtt{U},u}=-1 \right\}&#10;    &amp;=&#10;        \left\{&#10;            U_{\left(A_{2},0\right)},&#10;            U_{\left(E,-\right)},&#10;            U_{\left(T_{1},x\right)},U_{\left(T_{1},y\right)},U_{\left(T_{1},z\right)}&#10;        \right\}&#10;,\\&#10;\left\{ \hat{U}_{u} | \omega_{\mathtt{U},u}^{\left(p\right)} =+1 \text{ and } \sigma_{\mathtt{U},u}=+1 \right\}&#10;    &amp;=&#10;        \left\{&#10;            U_{\left(A_{1},0\right)},&#10;            U_{\left(E,+\right)},&#10;            U_{\left(T_{2},p+1\right)},U_{\left(T_{2},p+2\right)},&#10;        \right\}&#10;,\\&#10;\left\{ \hat{U}_{u} | \omega_{\mathtt{U},u}^{\left(p\right)} =+1 \text{ and } \sigma_{\mathtt{U},u}=-1 \right\}&#10;    &amp;=&#10;        \left\{&#10;            U_{\left(A_{2},0\right)},&#10;            U_{\left(E,-\right)},&#10;            U_{\left(T_{1},p+1\right)},U_{\left(T_{1},p+2\right)}&#10;        \right\}&#10;,\\&#10;\left\{ \hat{U}_{u} | \omega_{\mathtt{U},u}^{\left(p\right)} =-1 \right\}&#10;    &amp;=&#10;        \left\{&#10;            U_{\left(T_{1},p\right)},&#10;            U_{\left(T_{2},p\right)}&#10;        \right\}&#10;\end{align*}&#10;&#10;\end{document}"/>
  <p:tag name="IGUANATEXSIZE" val="16"/>
  <p:tag name="IGUANATEXCURSOR" val="25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61.305"/>
  <p:tag name="ORIGINALWIDTH" val="6626.172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&#10;    &amp;=&#10;        \sum_{ \hat{U}_{u}\in\mathfrak{U} }\sum_{ \Psi_{\mathtt{L}} \in \mathfrak{B} }\sum_{ \Psi_{\mathtt{R}} \in \mathfrak{B} }&#10;            \int\mathrm{d}\bm{r}\,&#10;                \left(\Psi_{\mathtt{L}}\right)^{\dagger}\hat{U}_{u}\Psi_{\mathtt{R}}&#10;,\\&#10;    &amp;=&#10;        \sum_{u}\sum_{ \mathtt{L} }\sum_{ \mathtt{R} } \int\mathrm{d}\bm{r}\, &#10;            \left[&#10;                \left(\frac{ \left(xyz\right)+\left(yzx\right)+\left(zxy\right) + \left(xzy\right)+\left(zyx\right)+\left(yxz\right) }{6}\right)&#10;                \left(\frac{\left(xyz\right)+\left(\bar{x}\bar{y}z\right)+\left(\bar{x}y\bar{z}\right)+\left(x\bar{y}\bar{z}\right)}{4}\right)&#10;            \right]&#10;            \left( \Psi_{\mathtt{L}} \right)^{\dagger}\hat{U}_{u}\Psi_{\mathtt{R}}&#10;,\\&#10;    &amp;=&#10;        \sum_{u}\sum_{ \mathtt{L} }\sum_{ \mathtt{R} } \int\mathrm{d}\bm{r}\, &#10;            \left[&#10;                \left(\frac{\left(xyz\right)+\left(yxz\right)}{2}\right)&#10;                \left(\frac{\left(xyz\right)+\left(yzx\right)+\left(zxy\right)}{3}\right)&#10;                \left(\frac{\left(xyz\right)+\left(\bar{x}y\bar{z}\right)}{2}\right)&#10;                \left(\frac{\left(xyz\right)+\left(x\bar{y}\bar{z}\right)}{2}\right)&#10;            \right]&#10;            \left( \Psi_{\mathtt{L}} \right)^{\dagger}\hat{U}_{u}\Psi_{\mathtt{R}}&#10;,\\&#10;    &amp;=&#10;        \sum_{u}\sum_{\mathtt{L}}\sum_{\mathtt{R}}&#10;            \left(&#10;                \frac{&#10;                    1 + \left(\alpha_{ \mathtt{L} }\alpha_{ k_{\mathtt{R}} }\alpha_{u}\right)^{\left(yzx\right)} &#10;                }&#10;                {2}&#10;            \right)&#10;            \left(\frac{ 1 + \omega^{\left(x\right)}\omega^{\left(z\right)} }{2}\right)&#10;            \left(\frac{ 1 + \omega^{\left(y\right)}\omega^{\left(z\right)} }{2}\right)&#10;            \int\mathrm{d}\bm{r}\, &#10;                \hat{U}_{u}&#10;                \left(\frac{\left(xyz\right)+\sigma_{\mathtt{U},u}\left(yxz\right)}{2}\right)&#10;                \left( \Psi_{ \mathtt{L} } \right)^{\dagger}\Psi_{ \mathtt{R} }&#10;,\\&#10;\end{align*}&#10;&#10;\end{document}"/>
  <p:tag name="IGUANATEXSIZE" val="16"/>
  <p:tag name="IGUANATEXCURSOR" val="202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.2298"/>
  <p:tag name="ORIGINALWIDTH" val="1018.373"/>
  <p:tag name="OUTPUTTYPE" val="PNG"/>
  <p:tag name="IGUANATEXVERSION" val="159"/>
  <p:tag name="LATEXADDIN" val="\documentclass{article}&#10;\usepackage{amsmath,amssymb,bm,physics,mathtools}&#10;\pagestyle{empty}&#10;\begin{document}&#10;&#10;\begin{equation*}&#10;\omega^{\left(p\right)}&#10;    =&#10;        \omega_{\mathtt{L}}^{\left(p\right)}\omega_{\mathtt{R}}^{\left(p\right)}\omega_{u}^{\left(p\right)}&#10;\end{equation*}&#10;&#10;\end{document}"/>
  <p:tag name="IGUANATEXSIZE" val="16"/>
  <p:tag name="IGUANATEXCURSOR" val="134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0.532"/>
  <p:tag name="ORIGINALWIDTH" val="3781.027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x,y,z }&#10;                    \alpha_{ \mathtt{L}}^{ \left(q_{\mathtt{L}}\right) }&#10;                    \Phi_{ \mathtt{L}}^{ \left(q_{\mathtt{L}}\right) } \Theta_{ \Omega_{\mathtt{L}} }^{\left(q_{\mathtt{L}}\right)}&#10;            \right\}^{\dagger}&#10;            \hat{U}_{u}&#10;            \left\{&#10;                \sum_{ q_{\mathtt{R}}=x,y,z }&#10;                    \alpha_{ \mathtt{R}}^{ \left(q_{\mathtt{R}}\right) }&#10;                    \Phi_{ \mathtt{R}}^{\left(q_{\mathtt{R}}\right) } \Theta_{ \Omega_{\mathtt{R}} }^{\left(q_{\mathtt{R}}\right)}&#10;            \right\}&#10;,\\&#10;    &amp;= \mathcal{H}_{\parallel} + \mathcal{H}_{\perp}&#10;,\\&#10;\mathcal{H}_{\parallel}&#10;    &amp;=&#10;        \sum_{ q=x,y,z }&#10;        \tilde{\alpha}_{ \mathtt{L}}^{ \left(q\right) }&#10;        \alpha_{ \mathtt{R}}^{ \left(q\right) }&#10;        \int\mathrm{d}\bm{r}\, &#10;            \left\{ \Phi_{\mathtt{L}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,q_{\mathtt{R}}=x,y,z | q_{\mathtt{L}}\ne q_{\mathtt{R}} }&#10;        \tilde{\alpha}_{ \mathtt{L}}^{ \left(q_{\mathtt{L}}\right) }&#10;        \alpha_{ \mathtt{R}}^{ \left(q_{\mathtt{R}}\right)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/>
  <p:tag name="IGUANATEXSIZE" val="16"/>
  <p:tag name="IGUANATEXCURSOR" val="145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5.122"/>
  <p:tag name="ORIGINALWIDTH" val="7055.868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sum_{ q=x,y,z }&#10;        \tilde{\alpha}_{ \mathtt{L}}^{ \left(q\right) }&#10;        \alpha_{ \mathtt{R}}^{ \left(q\right) }&#10;        \int\mathrm{d}\bm{r}\, &#10;            \left\{ \Phi_{\mathtt{L}}^{\left(q\right)} \right\}^{\dagger}&#10;            \hat{U}_{u}&#10;            \Phi_{\mathtt{R}}^{\left(q\right)}&#10;            \Theta_{ \Omega_{\mathtt{L}} }^{\left(-q\right)}\Theta_{ \Omega_{\mathtt{R}} }^{\left(q\right)}&#10;,\\&#10;    &amp;=&#10;        \int\mathrm{d}\bm{r}\,&#10;            \left\{&#10;                 \tilde{\alpha}_{ \mathtt{L}}^{ \left(z\right) }&#10;                 \alpha_{ \mathtt{R}}^{ \left(z\right) }&#10;                 \left(xyz\right)&#10;                 \left[&#10;                     \left\{ \Phi_{\mathtt{L}}^{\left(z\right)} \right\}^{\dagger}&#10;                     \hat{U}_{u}&#10;                     \Phi_{\mathtt{R}}^{\left(z\right)}&#10;                 \right]&#10;                     +&#10;                 \tilde{\alpha}_{ \mathtt{L}}^{ \left(y\right) }&#10;                 \alpha_{ \mathtt{R}}^{ \left(y\right) }&#10;                 \left(yzx\right)&#10;                 \left[&#10;                     \left\{ \Phi_{\mathtt{L}}^{\left(y\right)} \right\}^{\dagger}&#10;                     \hat{U}_{u}&#10;                     \Phi_{\mathtt{R}}^{\left(y\right)}&#10;                 \right]&#10;                     +&#10;                 \tilde{\alpha}_{ \mathtt{L}}^{ \left(x\right) }&#10;                 \alpha_{ \mathtt{R}}^{ \left(x\right) }&#10;                 \left(zxy\right)&#10;                 \left[&#10;                     \left\{ \Phi_{\mathtt{L}}^{\left(x\right)} \right\}^{\dagger}&#10;                     \hat{U}_{u}&#10;                     \Phi_{\mathtt{R}}^{\left(x\right)}&#10;                 \right]&#10;            \right\}&#10;            \Theta_{ \Omega_{\mathtt{L}} }^{\left(-z\right)}\Theta_{ \Omega_{\mathtt{R}} }^{\left(+z\right)}&#10;,\\&#10;    &amp;=&#10;        \int\mathrm{d}\bm{r}\,&#10;            \left\{&#10;                 \tilde{\alpha}_{ \mathtt{L}}^{ \left(z\right) }&#10;                 \alpha_{ \mathtt{R}}^{ \left(z\right) }&#10;                 \left(xyz\right)&#10;                 \hat{U}_{u}&#10;                     +&#10;                 \tilde{\alpha}_{ \mathtt{L}}^{ \left(y\right) }&#10;                 \alpha_{ \mathtt{R}}^{ \left(y\right) }&#10;                 \left(yzx\right)&#10;                 \hat{U}_{u}&#10;                     +&#10;                 \tilde{\alpha}_{ \mathtt{L}}^{ \left(x\right) }&#10;                 \alpha_{ \mathtt{R}}^{ \left(x\right) }&#10;                 \left(zxy\right)&#10;                 \hat{U}_{u}&#10;            \right\}&#10;            \left\{ \Phi_{\mathtt{L}}^{\left(z\right)} \right\}^{\dagger}&#10;            \Phi_{\mathtt{R}}^{\left(z\right)}&#10;            \Theta_{ \Omega_{\mathtt{L}} }^{\left(-z\right)}\Theta_{ \Omega_{\mathtt{R}} }^{\left(+z\right)}&#10;,\\&#10;\end{align*}&#10;&#10;\end{document}"/>
  <p:tag name="IGUANATEXSIZE" val="16"/>
  <p:tag name="IGUANATEXCURSOR" val="260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4.9306"/>
  <p:tag name="ORIGINALWIDTH" val="3281.59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hat{U}_{u}^{\left(\parallel\right)}&#10;            \left\{ \Phi_{\mathtt{L}}^{\left(z\right)} \right\}^{\dagger}&#10;            \Phi_{\mathtt{R}}^{\left(z\right)}&#10;            \Theta_{ \Omega_{\mathtt{L}} }^{\left(-z\right)}\Theta_{ \Omega_{\mathtt{R}} }^{\left(+z\right)}&#10;,\\&#10;\hat{U}_{u}^{\left(\parallel\right)}&#10;    &amp;=&#10;        \left\{&#10;             \tilde{\alpha}_{ \mathtt{L}}^{ \left(z\right) }&#10;             \alpha_{ \mathtt{R}}^{ \left(z\right) }&#10;             \left(xyz\right)&#10;                     +&#10;             \tilde{\alpha}_{ \mathtt{L}}^{ \left(y\right) }&#10;             \alpha_{ \mathtt{R}}^{ \left(y\right) }&#10;             \left(yzx\right)&#10;                     +&#10;             \tilde{\alpha}_{ \mathtt{L}}^{ \left(x\right) }&#10;             \alpha_{ \mathtt{R}}^{ \left(x\right) }&#10;             \left(zxy\right)&#10;        \right\}&#10;        \hat{U}_{u}&#10;\end{align*}&#10;&#10;\end{document}"/>
  <p:tag name="IGUANATEXSIZE" val="16"/>
  <p:tag name="IGUANATEXCURSOR" val="673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01.762"/>
  <p:tag name="ORIGINALWIDTH" val="1361.08"/>
  <p:tag name="OUTPUTTYPE" val="PNG"/>
  <p:tag name="IGUANATEXVERSION" val="159"/>
  <p:tag name="LATEXADDIN" val="\documentclass{article}&#10;\usepackage{amsmath,amssymb,bm,physics,mathtools}&#10;\pagestyle{empty}&#10;\begin{document}&#10;&#10;\begin{align*}&#10;\left(xyz\right)\Phi_{\left(A_{n},0\right)}^{ \left(q\right) } &amp;= \Phi_{\left(A_{n},0\right)}^{\left(q\right)} ,\\&#10;\left(yzx\right)\Phi_{\left(A_{n},0\right)}^{ \left(q\right) } &amp;= \Phi_{\left(A_{n},0\right)}^{\left(q+1\right)} ,\\&#10;\left(zxy\right)\Phi_{\left(A_{n},0\right)}^{ \left(q\right) } &amp;= \Phi_{\left(A_{n},0\right)}^{\left(q-1\right)} ,\\&#10;\left(xyz\right)\Phi_{\left(E,i\right)}^{ \left(q\right) } &amp;= \Phi_{\left(E,i\right)}^{\left(q\right)} ,\\&#10;\left(yzx\right)\Phi_{\left(E,0\right)}^{ \left(q\right) } &amp;= \tau^{2}\Phi_{\left(E,0\right)}^{\left(q+1\right)} ,\\&#10;\left(zxy\right)\Phi_{\left(E,0\right)}^{ \left(q\right) } &amp;= \tau \Phi_{\left(E,0\right)}^{\left(q-1\right)} ,\\&#10;\left(yzx\right)\Phi_{\left(E,1\right)}^{ \left(q\right) } &amp;= \tau \Phi_{\left(E,1\right)}^{\left(q+1\right)} ,\\&#10;\left(zxy\right)\Phi_{\left(E,1\right)}^{ \left(q\right) } &amp;= \tau^{2}\Phi_{\left(E,1\right)}^{\left(q-1\right)} ,\\&#10;\end{align*}&#10;&#10;\end{document}"/>
  <p:tag name="IGUANATEXSIZE" val="16"/>
  <p:tag name="IGUANATEXCURSOR" val="55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00.4124"/>
  <p:tag name="ORIGINALWIDTH" val="1451.069"/>
  <p:tag name="OUTPUTTYPE" val="PNG"/>
  <p:tag name="IGUANATEXVERSION" val="159"/>
  <p:tag name="LATEXADDIN" val="\documentclass{article}&#10;\usepackage{amsmath,amssymb,bm,physics,mathtools}&#10;\pagestyle{empty}&#10;\begin{document}&#10;&#10;\begin{align*}&#10;\left(xyz\right)\Phi_{ \left(T_{n},p\right)_{\mathtt{I}} }^{\left(p\right)} &amp;= \Phi_{ \left(T_{n},p\right)_{\mathtt{I}} }^{\left(p\right)} ,\\&#10;\left(yzx\right)\Phi_{ \left(T_{n},p\right)_{\mathtt{I}} }^{\left(p\right)} &amp;= \Phi_{ \left(T_{n},p+1\right)_{\mathtt{I}} }^{\left(p+1\right)} ,\\&#10;\left(zxy\right)\Phi_{ \left(T_{n},p\right)_{\mathtt{I}} }^{\left(p\right)} &amp;= \Phi_{ \left(T_{n},p-1\right)_{\mathtt{I}} }^{\left(p-1\right)} \\&#10;\end{align*}&#10;&#10;\end{document}"/>
  <p:tag name="IGUANATEXSIZE" val="16"/>
  <p:tag name="IGUANATEXCURSOR" val="255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00.4124"/>
  <p:tag name="ORIGINALWIDTH" val="1098.613"/>
  <p:tag name="OUTPUTTYPE" val="PNG"/>
  <p:tag name="IGUANATEXVERSION" val="159"/>
  <p:tag name="LATEXADDIN" val="\documentclass{article}&#10;\usepackage{amsmath,amssymb,bm,physics,mathtools}&#10;\pagestyle{empty}&#10;\begin{document}&#10;&#10;\begin{align*}&#10;\left(xyz\right)\Phi_{ \left(T_{n},p\ne q\right)_{\mathtt{I}} }^{\left(q\right)} &amp;= 0 ,\\&#10;\left(yzx\right)\Phi_{ \left(T_{n},p\ne q\right)_{\mathtt{I}} }^{\left(q\right)} &amp;= 0 ,\\&#10;\left(zxy\right)\Phi_{ \left(T_{n},p\ne q\right)_{\mathtt{I}} }^{\left(q\right)} &amp;= 0&#10;\end{align*}&#10;&#10;\end{document}"/>
  <p:tag name="IGUANATEXSIZE" val="16"/>
  <p:tag name="IGUANATEXCURSOR" val="26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2.4335"/>
  <p:tag name="ORIGINALWIDTH" val="4194.226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hat{U}_{u, \left(\kappa, i\right)_{\mathtt{L}} \left(\kappa,i\right)_{\mathtt{R}} }&#10;            \left\{ \Phi_{\mathtt{L}}^{\left(z\right)} \right\}^{\dagger}\Phi_{\mathtt{R}}^{\left(z\right)}&#10;            \Theta_{ \Omega_{\mathtt{L}} }^{\left(-z\right)}\Theta_{ \Omega_{\mathtt{R}} }^{\left(+z\right)}&#10;,\\&#10;\hat{U}_{u, \left(\kappa, i\right)_{\mathtt{L}} \left(\kappa,i\right)_{\mathtt{R}} }&#10;    &amp;=&#10;        \tilde{\alpha}_{ \left(\kappa,i\right)_{\mathtt{L}} }^{\left(xyz\right)}&#10;        \alpha_{ \left(\kappa,i\right)_{\mathtt{R}} }^{\left(xyz\right)}&#10;        \hat{U}_{u}&#10;            +&#10;        \tilde{\alpha}_{ \left(\kappa,i\right)_{\mathtt{L}} }^{\left(yzx\right)}&#10;        \alpha_{ \left(\kappa,i\right)_{\mathtt{R}} }^{\left(yzx\right)}&#10;        \left(yzx\right)\hat{U}_{u}&#10;            +&#10;        \tilde{\alpha}_{ \left(\kappa,i\right)_{\mathtt{L}} }^{\left(zxy\right)}&#10;        \alpha_{ \left(\kappa,i\right)_{\mathtt{R}} }^{\left(zxy\right)}&#10;        \left(zxy\right)\hat{U}_{u}&#10;\end{align*}&#10;&#10;\end{document}"/>
  <p:tag name="IGUANATEXSIZE" val="16"/>
  <p:tag name="IGUANATEXCURSOR" val="742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0.4237"/>
  <p:tag name="ORIGINALWIDTH" val="1398.575"/>
  <p:tag name="OUTPUTTYPE" val="PNG"/>
  <p:tag name="IGUANATEXVERSION" val="159"/>
  <p:tag name="LATEXADDIN" val="\documentclass{article}&#10;\usepackage{amsmath,amssymb,bm,physics,mathtools}&#10;\pagestyle{empty}&#10;\begin{document}&#10;&#10;\begin{align*}&#10;\left(xyz\right)\Phi_{ {\mathtt{I}} }^{\left(p\right)} &amp;= \alpha_{ \mathtt{I} }^{\left(xyz\right)} \Phi_{ \mathtt{I} }^{\left(p\right)} ,\\&#10;\left(yzx\right)\Phi_{ {\mathtt{I}} }^{\left(p\right)} &amp;= \alpha_{ \mathtt{I} }^{\left(yzx\right)} \Phi_{ \mathtt{I} }^{\left(p+1\right)} ,\\&#10;\left(zxy\right)\Phi_{ {\mathtt{I}} }^{\left(p\right)} &amp;= \alpha_{ \mathtt{I} }^{\left(zxy\right)} \Phi_{ \mathtt{I} }^{\left(p-1\right)} \\&#10;\end{align*}&#10;&#10;\end{document}"/>
  <p:tag name="IGUANATEXSIZE" val="16"/>
  <p:tag name="IGUANATEXCURSOR" val="355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6.9066"/>
  <p:tag name="ORIGINALWIDTH" val="3637.795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        &#10;        \sum_{ q=x,y,z }&#10;        \int\mathrm{d}\bm{r}\, &#10;            \left\{\Phi_{\mathtt{L}}^{\left(q\right)}\right\}^{\dagger}&#10;            \Theta_{ \Omega_{\mathtt{L}} }^{\left(-q\right)}&#10;            \hat{U}_{u}&#10;            \left[&#10;                \Phi_{\mathtt{R}}^{\left(q+1\right)} &#10;                \Theta_{ \Omega_{\mathtt{R}} }^{\left(q+1\right)}&#10;                +&#10;                \Phi_{\mathtt{R}}^{\left(q-1\right)} &#10;                \Theta_{ \Omega_{\mathtt{R}} }^{\left(q-1\right)}&#10;            \right]&#10;\end{align*}&#10;&#10;\end{document}"/>
  <p:tag name="IGUANATEXSIZE" val="16"/>
  <p:tag name="IGUANATEXCURSOR" val="1112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0.784"/>
  <p:tag name="ORIGINALWIDTH" val="3728.534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p_{\mathtt{L}}-1, p_{\mathtt{L}}+1 }&#10;                    \Phi_{ \mathtt{L}\left( T_{n}, p_{ \mathtt{L} }\right) }^{ \left(q_{\mathtt{L}}\right) }&#10;                    \Theta_{ \Omega_{\mathtt{L}} }^{\left(q_{\mathtt{L}}\right)}&#10;            \right\}^{\dagger}&#10;            \hat{U}_{u}&#10;            \left\{&#10;                \sum_{ q_{\mathtt{R}}=x,y,z }&#10;                    \Phi_{ \mathtt{R}}^{\left(q_{\mathtt{R}}\right) } \Theta_{ \Omega_{\mathtt{R}} }^{\left(q_{\mathtt{R}}\right)}&#10;            \right\}&#10;,\\&#10;    &amp;= \mathcal{H}_{\parallel} + \mathcal{H}_{\perp}&#10;,\\&#10;\mathcal{H}_{\parallel}&#10;    &amp;=&#10;        \sum_{ q= p_{\mathtt{L}}-1,p_{\mathtt{L}}+1 }&#10;        \int\mathrm{d}\bm{r}\, &#10;            \left\{ \Phi_{ \mathtt{L}\left( T_{n}, p_{ \mathtt{L} }\right) 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= p_{\mathtt{L}}-1,p_{\mathtt{L}}+1 }&#10;        \sum_{ q_{\mathtt{R}}= q_{\mathtt{L}}-1,q_{\mathtt{L}}+1 }&#10;        \int\mathrm{d}\bm{r}\, &#10;            \left\{\Phi_{ \mathtt{L}\left( T_{n}, p_{ \mathtt{L} }\right) 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/>
  <p:tag name="IGUANATEXSIZE" val="16"/>
  <p:tag name="IGUANATEXCURSOR" val="163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0.784"/>
  <p:tag name="ORIGINALWIDTH" val="3728.534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x,y,z  }&#10;                    \Phi_{ \mathtt{L} }^{ \left(q_{\mathtt{L}}\right) } \Theta_{ \Omega_{\mathtt{L}} }^{\left(q_{\mathtt{L}}\right)}&#10;            \right\}^{\dagger}&#10;            \hat{U}_{u}&#10;            \left\{&#10;                \sum_{ q_{\mathtt{R}}= p_{\mathtt{R}}-1, p_{\mathtt{R}}+1 }&#10;                    \Phi_{ \mathtt{R}\left( T_{n}, p_{ \mathtt{R} }\right) }^{\left(q_{\mathtt{R}}\right) }&#10;                    \Theta_{ \Omega_{\mathtt{R}} }^{\left(q_{\mathtt{R}}\right)}&#10;            \right\}&#10;,\\&#10;    &amp;= \mathcal{H}_{\parallel} + \mathcal{H}_{\perp}&#10;,\\&#10;\mathcal{H}_{\parallel}&#10;    &amp;=&#10;        \sum_{ q= p_{\mathtt{R}}-1,p_{\mathtt{R}}+1 }&#10;        \int\mathrm{d}\bm{r}\, &#10;            \left\{ \Phi_{\mathtt{L}}^{\left(q\right)} \right\}^{\dagger}&#10;            \hat{U}_{u}&#10;            \Phi_{ \mathtt{R}\left( T_{n}, p_{ \mathtt{R} }\right) }^{\left(q\right)}&#10;            \Theta_{ \Omega_{\mathtt{L}} }^{\left(-q\right)}\Theta_{ \Omega_{\mathtt{R}} }^{\left(q\right)}&#10;,\\&#10;\mathcal{H}_{\perp}&#10;    &amp;=        &#10;        \sum_{ q_{\mathtt{R}}= p_{\mathtt{R}}-1,p_{\mathtt{R}}+1 }&#10;        \sum_{ q_{\mathtt{L}}= q_{\mathtt{R}}-1,q_{\mathtt{R}}+1 }&#10;        \int\mathrm{d}\bm{r}\, &#10;            \left\{\Phi_{\mathtt{L}}^{\left(q_{\mathtt{L}}\right)}\right\}^{\dagger}&#10;            \hat{U}_{u}&#10;            \Phi_{ \mathtt{R}\left( T_{n}, p_{ \mathtt{R} }\right) }^{\left(q_{\mathtt{R}}\right)} &#10;            \Theta_{ \Omega_{\mathtt{L}} }^{\left(-q_{\mathtt{L}}\right)}\Theta_{ \Omega_{\mathtt{R}} }^{\left(q_{\mathtt{R}}\right)}&#10;\end{align*}&#10;&#10;\end{document}"/>
  <p:tag name="IGUANATEXSIZE" val="16"/>
  <p:tag name="IGUANATEXCURSOR" val="1743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2.782"/>
  <p:tag name="ORIGINALWIDTH" val="4173.978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p_{\mathtt{L}}-1, p_{\mathtt{L}}+1 }&#10;                    \Phi_{ \mathtt{L} \left( T_{n}, p_{ \mathtt{L} }\right) }^{ \left(q_{\mathtt{L}}\right) }&#10;                    \Theta_{ \Omega_{\mathtt{L}} }^{\left(q_{\mathtt{L}}\right)}&#10;            \right\}^{\dagger}&#10;            \hat{U}_{u}&#10;            \left\{&#10;                \sum_{ q_{\mathtt{R}}= p_{\mathtt{R}}-1, p_{\mathtt{R}}+1 }&#10;                    \Phi_{ \mathtt{R}\left( T_{n}, p_{ \mathtt{R} }\right) }^{\left(q_{\mathtt{R}}\right) }&#10;                    \Theta_{ \Omega_{\mathtt{R}} }^{\left(q_{\mathtt{R}}\right)}&#10;            \right\}&#10;,\\&#10;    &amp;= \mathcal{H}_{\parallel} + \mathcal{H}_{\perp}&#10;,\\&#10;\mathcal{H}_{\parallel}&#10;    &amp;=&#10;        \sum_{ q=x,y,z }&#10;        \int\mathrm{d}\bm{r}\, &#10;            \left\{ \Phi_{\mathtt{L}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/>
  <p:tag name="IGUANATEXSIZE" val="16"/>
  <p:tag name="IGUANATEXCURSOR" val="557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5133.858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 \left(\kappa,p\right)_{u} }&#10;                     +&#10;                 \alpha_{ \left(\kappa,i\right)_{\mathtt{L}} }^{\left(yzx\right)}&#10;                 \alpha_{ \left(\kappa,i\right)_{\mathtt{R}} }^{\left(yzx\right)}&#10;                 \hat{U}_{ \left(\kappa,p+1\right)_{u} }&#10;                     +&#10;                 \alpha_{ \left(\kappa,i\right)_{\mathtt{L}} }^{\left(zxy\right)}&#10;                 \alpha_{ \left(\kappa,i\right)_{\mathtt{R}} }^{\left(zxy\right)}&#10;                 \hat{U}_{ \left(\kappa,p-1\right)_{u} 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736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1.1736"/>
  <p:tag name="ORIGINALWIDTH" val="4683.165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hat{U}_{u, \left(\kappa, i\right)_{\mathtt{L}} \left(\kappa,i\right)_{\mathtt{R}} }&#10;            \left\{ \Phi_{\mathtt{L}}^{\left(z\right)} \right\}^{\dagger}\Phi_{\mathtt{R}}^{\left(z\right)}&#10;            \Theta_{ \Omega_{\mathtt{L}} }^{\left(-z\right)}\Theta_{ \Omega_{\mathtt{R}} }^{\left(+z\right)}&#10;,\\&#10;    &amp;=&#10;        \left\{ &#10;            1     &#10;                +&#10;            \alpha_{ \left(\kappa,i\right)_{\mathtt{L}} }^{\left(yzx\right)}&#10;            \alpha_{ \left(\kappa,i\right)_{\mathtt{R}} }^{\left(yzx\right)}&#10;            \alpha_{ \left(\kappa,i\right)_{u} }^{\left(yzx\right)}&#10;                +&#10;            \alpha_{ \left(\kappa,i\right)_{\mathtt{L}} }^{\left(zxy\right)}&#10;            \alpha_{ \left(\kappa,i\right)_{\mathtt{R}} }^{\left(zxy\right)}&#10;            \alpha_{ \left(\kappa,i\right)_{u} }^{\left(zxy\right)}&#10;        \right\}&#10;        \int\mathrm{d}\bm{r}\,&#10;            \hat{U}_{u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283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2.362"/>
  <p:tag name="ORIGINALWIDTH" val="1331.084"/>
  <p:tag name="OUTPUTTYPE" val="PNG"/>
  <p:tag name="IGUANATEXVERSION" val="159"/>
  <p:tag name="LATEXADDIN" val="\documentclass{article}&#10;\usepackage{amsmath,amssymb,bm,physics,mathtools}&#10;\pagestyle{empty}&#10;\begin{document}&#10;&#10;\begin{align*}&#10;\left(yzx\right)U_{\left(A_{n},0\right)} &amp;= U_{\left(A_{n},0\right)} ,\\&#10;\left(zxy\right)U_{\left(A_{n},0\right)} &amp;= U_{\left(A_{n},0\right)} ,\\&#10;\left(yzx\right)U_{\left(E,0\right)} &amp;= \tau^{2}U_{\left(E,0\right)} ,\\&#10;\left(zxy\right)U_{\left(E,0\right)} &amp;= \tau U_{\left(E,0\right)} ,\\&#10;\left(yzx\right)U_{\left(E,1\right)} &amp;= \tau U_{\left(E,1\right)} ,\\&#10;\left(zxy\right)U_{\left(E,1\right)} &amp;= \tau^{2}U_{\left(E,1\right)} ,\\&#10;\end{align*}&#10;&#10;\end{document}"/>
  <p:tag name="IGUANATEXSIZE" val="16"/>
  <p:tag name="IGUANATEXCURSOR" val="17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1.616"/>
  <p:tag name="ORIGINALWIDTH" val="1247.094"/>
  <p:tag name="OUTPUTTYPE" val="PNG"/>
  <p:tag name="IGUANATEXVERSION" val="159"/>
  <p:tag name="LATEXADDIN" val="\documentclass{article}&#10;\usepackage{amsmath,amssymb,bm,physics,mathtools}&#10;\pagestyle{empty}&#10;\begin{document}&#10;&#10;\begin{align*}&#10;\left(yzx\right)U_{\left(T_{n},x\right)} &amp;= U_{\left(T_{n},y\right)} ,\\&#10;\left(zxy\right)U_{\left(T_{n},x\right)} &amp;= U_{\left(T_{n},z\right)} ,\\&#10;\left(yzx\right)U_{\left(T_{n},y\right)} &amp;= U_{\left(T_{n},z\right)} ,\\&#10;\left(zxy\right)U_{\left(T_{n},y\right)} &amp;= U_{\left(T_{n},x\right)} ,\\&#10;\left(yzx\right)U_{\left(T_{n},z\right)} &amp;= U_{\left(T_{n},x\right)} ,\\&#10;\left(zxy\right)U_{\left(T_{n},z\right)} &amp;= U_{\left(T_{n},y\right)} ,\\&#10;\end{align*}&#10;&#10;\end{document}"/>
  <p:tag name="IGUANATEXSIZE" val="16"/>
  <p:tag name="IGUANATEXCURSOR" val="17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5565.055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 \left(T_{n},p\right)_{u} }&#10;                     +&#10;                 \alpha_{ \left(T_{n},i\right)_{\mathtt{L}} }^{\left(yzx\right)}&#10;                 \alpha_{ \left(T_{n},i\right)_{\mathtt{R}} }^{\left(yzx\right)}&#10;                 \hat{U}_{ \left(T_{n},p+1\right)_{u} }&#10;                     +&#10;                 \alpha_{ \left(T_{n},i\right)_{\mathtt{L}} }^{\left(zxy\right)}&#10;                 \alpha_{ \left(T_{n},i\right)_{\mathtt{R}} }^{\left(zxy\right)}&#10;                 \hat{U}_{ \left(T_{n},p-1\right)_{u} 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726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5090.363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left\{ &#10;            1     &#10;                +&#10;            \alpha_{ \left(\kappa,i\right)_{\mathtt{L}} }^{\left(yzx\right)}&#10;            \alpha_{ \left(\kappa,i\right)_{\mathtt{R}} }^{\left(yzx\right)}&#10;            \alpha_{ \left(\kappa,i\right)_{u} }^{\left(yzx\right)}&#10;                +&#10;            \alpha_{ \left(\kappa,i\right)_{\mathtt{L}} }^{\left(zxy\right)}&#10;            \alpha_{ \left(\kappa,i\right)_{\mathtt{R}} }^{\left(zxy\right)}&#10;            \alpha_{ \left(\kappa,i\right)_{u} }^{\left(zxy\right)}&#10;        \right\}&#10;        \int\mathrm{d}\bm{r}\,&#10;            \hat{U}_{ \left(A_{n}\slash E,i\right)_{u} 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76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0.9749"/>
  <p:tag name="ORIGINALWIDTH" val="3542.557"/>
  <p:tag name="OUTPUTTYPE" val="PNG"/>
  <p:tag name="IGUANATEXVERSION" val="159"/>
  <p:tag name="LATEXADDIN" val="\documentclass{article}&#10;\usepackage{amsmath,amssymb,bm,physics,mathtools}&#10;\pagestyle{empty}&#10;\begin{document}&#10;&#10;\begin{align*}&#10;\hat{U}_{u, \left(\kappa, i\right)_{\mathtt{L}} \left(\kappa,i\right)_{\mathtt{R}} }&#10;    &amp;=&#10;        \hat{U}_{u}&#10;            +&#10;        \tilde{\alpha}_{ \left(\kappa,i\right)_{\mathtt{L}} }^{\left(yzx\right)}&#10;        \alpha_{ \left(\kappa,i\right)_{\mathtt{R}} }^{\left(yzx\right)}&#10;        \left(yzx\right)\hat{U}_{u}&#10;            +&#10;        \tilde{\alpha}_{ \left(\kappa,i\right)_{\mathtt{L}} }^{\left(zxy\right)}&#10;        \alpha_{ \left(\kappa,i\right)_{\mathtt{R}} }^{\left(zxy\right)}&#10;        \left(zxy\right)\hat{U}_{u}&#10;\end{align*}&#10;&#10;\end{document}"/>
  <p:tag name="IGUANATEXSIZE" val="16"/>
  <p:tag name="IGUANATEXCURSOR" val="644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87.964"/>
  <p:tag name="ORIGINALWIDTH" val="5047.619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&#10;        \int\mathrm{d}\bm{r}\,&#10;            \left( \varphi_{0}^{\left(\perp\right)} + \varphi_{1}^{\left(\perp\right)} \right)&#10;            \Theta_{ \Omega_{\mathtt{L}} }^{\left(-y\right)}\Theta_{ \Omega_{\mathtt{R}} }^{\left(+x\right)}&#10;,\\&#10;\varphi_{0}^{\left(\perp\right)}&#10;    &amp;=&#10;        \left(xyz\right)&#10;        \left[&#10;             \left\{ \Phi_{\mathtt{L}}^{\left(y\right)} \right\}^{\dagger}&#10;             \hat{U}_{u}&#10;             \Phi_{\mathtt{R}}^{\left(x\right)}&#10;        \right]&#10;            +&#10;        \left(yzx\right)&#10;        \left[&#10;            \left\{ \Phi_{\mathtt{L}}^{\left(x\right)} \right\}^{\dagger}&#10;            \hat{U}_{u}&#10;            \Phi_{\mathtt{R}}^{\left(z\right)}&#10;        \right]&#10;             +&#10;        \left(zxy\right)&#10;        \left[&#10;             \left\{ \Phi_{\mathtt{L}}^{\left(z\right)} \right\}^{\dagger}&#10;             \hat{U}_{u}&#10;             \Phi_{\mathtt{R}}^{\left(y\right)}&#10;        \right]&#10;,\\&#10;    &amp;=&#10;        \hat{U}_{u, \left(\kappa, i\right)_{\mathtt{L}} \left(\kappa,i\right)_{\mathtt{R}} }&#10;        \left\{ \Phi_{\mathtt{L}}^{\left(y\right)} \right\}^{\dagger}\Phi_{\mathtt{R}}^{\left(x\right)}&#10;,\\&#10;\hat{U}_{u, \left(\kappa, i\right)_{\mathtt{L}} \left(\kappa,i\right)_{\mathtt{R}} }&#10;    &amp;=&#10;        \hat{U}_{u}&#10;            +&#10;        \tilde{\alpha}_{ \left(\kappa,i\right)_{\mathtt{L}} }^{\left(yzx\right)}&#10;        \alpha_{ \left(\kappa,i\right)_{\mathtt{R}} }^{\left(yzx\right)}&#10;        \left(yzx\right)\hat{U}_{u}&#10;            +&#10;        \tilde{\alpha}_{ \left(\kappa,i\right)_{\mathtt{L}} }^{\left(zxy\right)}&#10;        \alpha_{ \left(\kappa,i\right)_{\mathtt{R}} }^{\left(zxy\right)}&#10;        \left(zxy\right)\hat{U}_{u}&#10;,\\&#10;\varphi_{1}^{\left(\perp\right)}&#10;    &amp;=&#10;        \left(yxz\right)&#10;        \left[&#10;             \left\{ \Phi_{\mathtt{L}}^{\left(x\right)} \right\}^{\dagger}&#10;             \hat{U}_{u}&#10;             \Phi_{\mathtt{R}}^{\left(y\right)}&#10;        \right]&#10;             +&#10;        \left(xzy\right)&#10;        \left[&#10;             \left\{ \Phi_{\mathtt{L}}^{\left(z\right)} \right\}^{\dagger}&#10;             \hat{U}_{u}&#10;             \Phi_{\mathtt{R}}^{\left(x\right)}&#10;        \right]&#10;             +&#10;        \left(zyx\right)&#10;        \left[&#10;             \left\{ \Phi_{\mathtt{L}}^{\left(y\right)} \right\}^{\dagger}&#10;             \hat{U}_{u}&#10;             \Phi_{\mathtt{R}}^{\left(z\right)}&#10;        \right]&#10;,\\&#10;    &amp;=&#10;        \left(yxz\right)&#10;        \left[ &#10;            \hat{U}_{u, \left(\kappa, i\right)_{\mathtt{L}} \left(\kappa,i\right)_{\mathtt{R}} }&#10;            \left\{ \Phi_{\mathtt{L}}^{\left(x\right)} \right\}^{\dagger}\Phi_{\mathtt{R}}^{\left(y\right)}&#10;        \right]&#10;\end{align*}&#10;&#10;\end{document}"/>
  <p:tag name="IGUANATEXSIZE" val="16"/>
  <p:tag name="IGUANATEXCURSOR" val="307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1.661"/>
  <p:tag name="ORIGINALWIDTH" val="10056.24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&#10;        \int\mathrm{d}\bm{r}\,&#10;            \left\{ &#10;                 \left(xyz\right)&#10;                 \left[&#10;                     \left\{ \Phi_{\mathtt{L}}^{\left(y\right)} \right\}^{\dagger}&#10;                     \hat{U}_{u}&#10;                     \Phi_{\mathtt{R}}^{\left(x\right)}&#10;                 \right]&#10;                     +&#10;                 \left(yzx\right)&#10;                 \left[&#10;                     \left\{ \Phi_{\mathtt{L}}^{\left(x\right)} \right\}^{\dagger}&#10;                     \hat{U}_{u}&#10;                     \Phi_{\mathtt{R}}^{\left(z\right)}&#10;                 \right]&#10;                     +&#10;                 \left(zxy\right)&#10;                 \left[&#10;                     \left\{ \Phi_{\mathtt{L}}^{\left(z\right)} \right\}^{\dagger}&#10;                     \hat{U}_{u}&#10;                     \Phi_{\mathtt{R}}^{\left(y\right)}&#10;                 \right]&#10;                     +&#10;                 \left(yxz\right)&#10;                 \left[&#10;                     \left\{ \Phi_{\mathtt{L}}^{\left(x\right)} \right\}^{\dagger}&#10;                     \hat{U}_{u}&#10;                     \Phi_{\mathtt{R}}^{\left(y\right)}&#10;                 \right]&#10;                     +&#10;                 \left(xzy\right)&#10;                 \left[&#10;                     \left\{ \Phi_{\mathtt{L}}^{\left(z\right)} \right\}^{\dagger}&#10;                     \hat{U}_{u}&#10;                     \Phi_{\mathtt{R}}^{\left(x\right)}&#10;                 \right]&#10;                     +&#10;                 \left(zyx\right)&#10;                 \left[&#10;                     \left\{ \Phi_{\mathtt{L}}^{\left(y\right)} \right\}^{\dagger}&#10;                     \hat{U}_{u}&#10;                     \Phi_{\mathtt{R}}^{\left(z\right)}&#10;                 \right]&#10;            \right\}&#10;            \Theta_{ \Omega_{\mathtt{L}} }^{\left(-y\right)}\Theta_{ \Omega_{\mathtt{R}} }^{\left(+x\right)}&#10;,\\&#10;\end{align*}&#10;&#10;\end{document}"/>
  <p:tag name="IGUANATEXSIZE" val="16"/>
  <p:tag name="IGUANATEXCURSOR" val="2063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2.362"/>
  <p:tag name="ORIGINALWIDTH" val="1283.09"/>
  <p:tag name="OUTPUTTYPE" val="PNG"/>
  <p:tag name="IGUANATEXVERSION" val="159"/>
  <p:tag name="LATEXADDIN" val="\documentclass{article}&#10;\usepackage{amsmath,amssymb,bm,physics,mathtools}&#10;\pagestyle{empty}&#10;\begin{document}&#10;&#10;\begin{align*}&#10;\left(yzx\right)f_{\left(A_{n},0\right)} &amp;= f_{\left(A_{n},0\right)} ,\\&#10;\left(zxy\right)f_{\left(A_{n},0\right)} &amp;= f_{\left(A_{n},0\right)} ,\\&#10;\left(yzx\right)f_{\left(E,0\right)} &amp;= \tau^{2}f_{\left(E,0\right)} ,\\&#10;\left(zxy\right)f_{\left(E,0\right)} &amp;= \tau f_{\left(E,0\right)} ,\\&#10;\left(yzx\right)f_{\left(E,1\right)} &amp;= \tau f_{\left(E,1\right)} ,\\&#10;\left(zxy\right)f_{\left(E,1\right)} &amp;= \tau^{2}f_{\left(E,1\right)} ,\\&#10;\end{align*}&#10;&#10;\end{document}"/>
  <p:tag name="IGUANATEXSIZE" val="16"/>
  <p:tag name="IGUANATEXCURSOR" val="525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1.616"/>
  <p:tag name="ORIGINALWIDTH" val="1199.1"/>
  <p:tag name="OUTPUTTYPE" val="PNG"/>
  <p:tag name="IGUANATEXVERSION" val="159"/>
  <p:tag name="LATEXADDIN" val="\documentclass{article}&#10;\usepackage{amsmath,amssymb,bm,physics,mathtools}&#10;\pagestyle{empty}&#10;\begin{document}&#10;&#10;\begin{align*}&#10;\left(yzx\right)f_{\left(T_{n},x\right)} &amp;= f_{\left(T_{n},y\right)} ,\\&#10;\left(zxy\right)f_{\left(T_{n},x\right)} &amp;= f_{\left(T_{n},z\right)} ,\\&#10;\left(yzx\right)f_{\left(T_{n},y\right)} &amp;= f_{\left(T_{n},z\right)} ,\\&#10;\left(zxy\right)f_{\left(T_{n},y\right)} &amp;= f_{\left(T_{n},x\right)} ,\\&#10;\left(yzx\right)f_{\left(T_{n},z\right)} &amp;= f_{\left(T_{n},x\right)} ,\\&#10;\left(zxy\right)f_{\left(T_{n},z\right)} &amp;= f_{\left(T_{n},y\right)} ,\\&#10;\end{align*}&#10;&#10;\end{document}"/>
  <p:tag name="IGUANATEXSIZE" val="16"/>
  <p:tag name="IGUANATEXCURSOR" val="55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4905.887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u}&#10;                     +&#10;                 \tilde{\alpha}_{ \left(\kappa,i\right)_{\mathtt{L}} }^{\left(yzx\right)}&#10;                 \alpha_{ \left(\kappa,i\right)_{\mathtt{R}} }^{\left(yzx\right)}&#10;                 \left(yzx\right)\hat{U}_{u}&#10;                     +&#10;                 \tilde{\alpha}_{ \left(\kappa,i\right)_{\mathtt{L}} }^{\left(zxy\right)}&#10;                 \alpha_{ \left(\kappa,i\right)_{\mathtt{R}} }^{\left(zxy\right)}&#10;                 \left(zxy\right)\hat{U}_{u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53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9986</TotalTime>
  <Words>3</Words>
  <Application>Microsoft Office PowerPoint</Application>
  <PresentationFormat>Widescreen</PresentationFormat>
  <Paragraphs>1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Luke Pendo</dc:creator>
  <cp:lastModifiedBy>Luke Pendo</cp:lastModifiedBy>
  <cp:revision>91</cp:revision>
  <dcterms:created xsi:type="dcterms:W3CDTF">2025-01-15T16:32:14Z</dcterms:created>
  <dcterms:modified xsi:type="dcterms:W3CDTF">2025-06-01T00:33:36Z</dcterms:modified>
</cp:coreProperties>
</file>