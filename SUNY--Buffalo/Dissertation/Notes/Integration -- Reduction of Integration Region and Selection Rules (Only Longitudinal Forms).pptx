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2.xml" ContentType="application/vnd.openxmlformats-officedocument.presentationml.notesSlide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3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notesSlides/notesSlide4.xml" ContentType="application/vnd.openxmlformats-officedocument.presentationml.notesSl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1361" r:id="rId2"/>
    <p:sldId id="844" r:id="rId3"/>
    <p:sldId id="1362" r:id="rId4"/>
    <p:sldId id="1363" r:id="rId5"/>
    <p:sldId id="274" r:id="rId6"/>
    <p:sldId id="260" r:id="rId7"/>
    <p:sldId id="1364" r:id="rId8"/>
    <p:sldId id="259" r:id="rId9"/>
    <p:sldId id="261" r:id="rId10"/>
    <p:sldId id="264" r:id="rId11"/>
    <p:sldId id="258" r:id="rId12"/>
    <p:sldId id="272" r:id="rId13"/>
    <p:sldId id="268" r:id="rId14"/>
    <p:sldId id="271" r:id="rId15"/>
    <p:sldId id="270" r:id="rId16"/>
    <p:sldId id="262" r:id="rId17"/>
    <p:sldId id="265" r:id="rId18"/>
    <p:sldId id="266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01" autoAdjust="0"/>
    <p:restoredTop sz="94660"/>
  </p:normalViewPr>
  <p:slideViewPr>
    <p:cSldViewPr snapToGrid="0">
      <p:cViewPr varScale="1">
        <p:scale>
          <a:sx n="139" d="100"/>
          <a:sy n="139" d="100"/>
        </p:scale>
        <p:origin x="144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7C378C-D553-4D28-861C-6D4DB620B800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C012B-5687-4561-BCEC-CE5456024F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771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8148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0127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096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322656-8894-1544-92AA-01B3CF5E618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7324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FE9E6-4721-46DC-89AD-54E11366B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75F7F3-0C46-4A2D-A531-AA0E59CCFE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623FEC-0B3C-4846-8C11-4432B675D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E3041F-F53B-4ABC-8833-EFF724D55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4F01-018F-433C-97DF-2870CF064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065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FF9B76-549E-4D5C-AE7D-C68A89B3D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4005C4-5133-49D0-B955-C26C56F05C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2BC9A4-D431-4D57-BE1D-FCCA3091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714BD-B1A7-4D18-AFBC-1B2B52B67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AC0F25-A294-4938-9D31-73BFFC9D4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620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FA27F-5C1F-4A4E-AB87-8A244C22B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350DB7-B828-4CD8-B213-9339E1BB0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9279A4-CCC8-47B9-9A99-F2583FBB5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B0BA67-9F36-4750-8508-FF67F73CC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60CFD-35B4-4008-8EB9-D76E02352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9138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5313AF-759E-488F-AFD2-FEE632FEA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B6A1FB-152F-4158-A913-182BC2B048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264BF3-927E-4D09-82DF-D83E0D31C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01EC5-ABBC-47C0-AF61-1C3C4371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AC358-7A5D-4716-9B80-A645B8F0B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23E10B-5496-429F-990F-CDADEEC1F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5356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4FF30-F294-490D-8171-6CD31A6D0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DC3A4-7DA9-44C9-9207-C5400B777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B56FFE-5789-4978-ADCD-093EB67BF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1C3145-BA89-4FCA-9E58-165F622FDC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9FF5636-9C03-419E-993C-C75BA2BE1F6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5CBC0A-97EA-4F94-9345-46C0806CD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5C8FA6-7A1B-4A58-BE21-30E6D5746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B7BD2E-3BBA-4059-88F7-4199A40E12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670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19FEC-6734-4C66-B3AD-88C16ED73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A8F1B9-ED6F-4CDD-BEDB-0F81C3839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FE05F1-E590-4153-BA77-33FC17CD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644F77-934A-46C7-8BAA-0437B53FF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78318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C4BF05-2D1D-4B35-BF09-57E03CE9B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1E9FB3E-99AC-42D4-9974-5250F3F68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A0CF19-D7EA-4E33-9992-FBF7654F5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542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A7320-C36D-49A5-826D-A8E2F7FF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D4B3D-C563-42AA-B921-405796FDDD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D944D4-9AC3-4056-ABF0-E4C48E717C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56B7A9-24B7-415A-846F-E441F5AD5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287135-A0DF-4E0C-8E04-B65BA2629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85B152-66D7-4383-BBF9-0A782BDA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039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01EAA-2224-4BBD-87C0-0D6FE7B48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35A8F6-1949-4D51-A9F3-B8849A37FD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204463-1B5B-437A-A6B0-D37DEF8445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1DB560-12E0-40A1-A430-396C7D81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0E2981B-EBE5-4FDE-ABD9-D43D4100A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A5B062-2779-4EFB-8EF2-4041A549F1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18965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1B62B-C5F8-4371-99AC-CC59D0843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5836A1-793F-466A-9F85-6042E7502E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6344E-2C29-4EDD-9809-EC30C5350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ACA114-F431-4E70-BFFB-D761A4C42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7F611E-E47E-41A1-832C-2B9D87ADB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84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B54E8A-27B8-4353-A720-4028B93C4A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EB6FA0-CFF1-4AC3-9D5F-558DAD25F4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A358-AB1F-4465-82ED-BBDF50038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DF36E-DC58-41E2-882F-2594AE3FD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37367-B2A8-4C69-BF1F-6B6CE8A5A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411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7C9E1EC-3E67-4D1E-A1DC-E59EADB28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29DB0D-AB8F-4ADE-B985-7FCBF9A085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8BA717-CA37-45B3-A78D-6080EC8E73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335FE2-A358-4029-AF21-D5382E507E6A}" type="datetimeFigureOut">
              <a:rPr lang="en-US" smtClean="0"/>
              <a:t>10/23/2025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A2EFCB-D253-48A8-A5FE-9F1D700630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BC881-E1A0-43B9-8E18-9FF4C7C9C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9A873F-EF6E-478D-A853-53C7ABAD3E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327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notesSlide" Target="../notesSlides/notesSlide1.xml"/><Relationship Id="rId12" Type="http://schemas.openxmlformats.org/officeDocument/2006/relationships/image" Target="../media/image5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tags" Target="../tags/tag5.xml"/><Relationship Id="rId10" Type="http://schemas.openxmlformats.org/officeDocument/2006/relationships/image" Target="../media/image3.png"/><Relationship Id="rId4" Type="http://schemas.openxmlformats.org/officeDocument/2006/relationships/tags" Target="../tags/tag4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13" Type="http://schemas.openxmlformats.org/officeDocument/2006/relationships/image" Target="../media/image9.png"/><Relationship Id="rId3" Type="http://schemas.openxmlformats.org/officeDocument/2006/relationships/tags" Target="../tags/tag8.xml"/><Relationship Id="rId7" Type="http://schemas.openxmlformats.org/officeDocument/2006/relationships/tags" Target="../tags/tag12.xml"/><Relationship Id="rId12" Type="http://schemas.openxmlformats.org/officeDocument/2006/relationships/image" Target="../media/image8.png"/><Relationship Id="rId2" Type="http://schemas.openxmlformats.org/officeDocument/2006/relationships/tags" Target="../tags/tag7.xml"/><Relationship Id="rId16" Type="http://schemas.openxmlformats.org/officeDocument/2006/relationships/image" Target="../media/image12.png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11" Type="http://schemas.openxmlformats.org/officeDocument/2006/relationships/image" Target="../media/image7.png"/><Relationship Id="rId5" Type="http://schemas.openxmlformats.org/officeDocument/2006/relationships/tags" Target="../tags/tag10.xml"/><Relationship Id="rId15" Type="http://schemas.openxmlformats.org/officeDocument/2006/relationships/image" Target="../media/image11.png"/><Relationship Id="rId10" Type="http://schemas.openxmlformats.org/officeDocument/2006/relationships/image" Target="../media/image6.png"/><Relationship Id="rId4" Type="http://schemas.openxmlformats.org/officeDocument/2006/relationships/tags" Target="../tags/tag9.xml"/><Relationship Id="rId9" Type="http://schemas.openxmlformats.org/officeDocument/2006/relationships/notesSlide" Target="../notesSlides/notesSlide2.xml"/><Relationship Id="rId1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7.xml"/><Relationship Id="rId7" Type="http://schemas.openxmlformats.org/officeDocument/2006/relationships/image" Target="../media/image16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15.png"/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20.xml"/><Relationship Id="rId7" Type="http://schemas.openxmlformats.org/officeDocument/2006/relationships/image" Target="../media/image18.png"/><Relationship Id="rId2" Type="http://schemas.openxmlformats.org/officeDocument/2006/relationships/tags" Target="../tags/tag19.xml"/><Relationship Id="rId1" Type="http://schemas.openxmlformats.org/officeDocument/2006/relationships/tags" Target="../tags/tag18.xml"/><Relationship Id="rId6" Type="http://schemas.openxmlformats.org/officeDocument/2006/relationships/slideLayout" Target="../slideLayouts/slideLayout1.xml"/><Relationship Id="rId11" Type="http://schemas.openxmlformats.org/officeDocument/2006/relationships/image" Target="../media/image22.png"/><Relationship Id="rId5" Type="http://schemas.openxmlformats.org/officeDocument/2006/relationships/tags" Target="../tags/tag22.xml"/><Relationship Id="rId10" Type="http://schemas.openxmlformats.org/officeDocument/2006/relationships/image" Target="../media/image21.png"/><Relationship Id="rId4" Type="http://schemas.openxmlformats.org/officeDocument/2006/relationships/tags" Target="../tags/tag21.xml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7.xml"/><Relationship Id="rId1" Type="http://schemas.openxmlformats.org/officeDocument/2006/relationships/tags" Target="../tags/tag26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30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32.xml"/><Relationship Id="rId1" Type="http://schemas.openxmlformats.org/officeDocument/2006/relationships/tags" Target="../tags/tag31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tags" Target="../tags/tag40.xml"/><Relationship Id="rId7" Type="http://schemas.openxmlformats.org/officeDocument/2006/relationships/image" Target="../media/image38.png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42.png"/><Relationship Id="rId5" Type="http://schemas.openxmlformats.org/officeDocument/2006/relationships/tags" Target="../tags/tag42.xml"/><Relationship Id="rId10" Type="http://schemas.openxmlformats.org/officeDocument/2006/relationships/image" Target="../media/image41.png"/><Relationship Id="rId4" Type="http://schemas.openxmlformats.org/officeDocument/2006/relationships/tags" Target="../tags/tag41.xml"/><Relationship Id="rId9" Type="http://schemas.openxmlformats.org/officeDocument/2006/relationships/image" Target="../media/image4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tags" Target="../tags/tag46.xml"/><Relationship Id="rId7" Type="http://schemas.openxmlformats.org/officeDocument/2006/relationships/image" Target="../media/image45.pn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44.png"/><Relationship Id="rId5" Type="http://schemas.openxmlformats.org/officeDocument/2006/relationships/slideLayout" Target="../slideLayouts/slideLayout7.xml"/><Relationship Id="rId4" Type="http://schemas.openxmlformats.org/officeDocument/2006/relationships/tags" Target="../tags/tag47.xml"/><Relationship Id="rId9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Picture 54" descr="\documentclass{article}&#10;\usepackage{amsmath,bm}&#10;\pagestyle{empty}&#10;\begin{document}&#10;&#10;\begin{align*}&#10;\hat{\mathcal{R}}_{W\kappa;lk;\eta\lambda\left\{r\chi\right\}}^{\left(s\right)}&#10;&amp; =&#10;\left(\frac{2\vartheta_{\lambda\left\{\chi\right\}}}{Wa_{0}\eta}\right)^{\frac{3}{2}}&#10;\left[&#10;\sqrt{W}&#10;\rho^{\frac{l}{W}-\kappa\delta_{W,1}-\delta_{s,-1}}\mathrm{e}^{-\rho/2}&#10;\sum_{v=-2\kappa}^{\kappa+\delta_{s,-1}}&#10;h_{\kappa;lk}^{(s,v)}&#10;\hat{L}_{\left[k+v\right]\left\{\rho\right\}}^{\left(\frac{2}{W}\left(l+\frac{1}{W}\right)+\kappa-\delta_{s,-1}\right)}&#10;\right|_{\rho \rightarrow \left(\frac{2r\vartheta_{\lambda\left\{\chi\right\}}}{Wa_{0}\eta}\right)^{W}}&#10;\end{align*}&#10;&#10;\end{document}" title="IguanaTex Bitmap Display">
            <a:extLst>
              <a:ext uri="{FF2B5EF4-FFF2-40B4-BE49-F238E27FC236}">
                <a16:creationId xmlns:a16="http://schemas.microsoft.com/office/drawing/2014/main" id="{3DD3CA22-28B1-4BA1-80A3-2318FB789F2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767" y="5608976"/>
            <a:ext cx="11390467" cy="1097142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Generalized single-valley basis states (I)</a:t>
            </a:r>
          </a:p>
        </p:txBody>
      </p:sp>
      <p:pic>
        <p:nvPicPr>
          <p:cNvPr id="53" name="Picture 52" descr="\documentclass{article}&#10;\usepackage{amsmath,bm,eufrak}&#10;\pagestyle{empty}&#10;\begin{document}&#10;&#10;\begin{equation*}&#10;\hat{\phi}_{W\kappa; m\zeta lk; \eta\lambda \left\{r\chi\phi\right\} }^{(p)}&#10;= &#10;\left(\frac{\hbar^{2}}{2m_{0}a_{0}^{2}\eta^{2}}\right)^{\kappa}&#10;\hat{Q}_{m\zeta\left\{\phi_{p}\right\}}&#10;\sum_{s=-\kappa}^{+\kappa}&#10;\mathfrak{H}_{\kappa;lm;\lambda}^{\left(s\right)}&#10;\hat{\mathcal{P}}_{\left[l+2s\right]m;\lambda\left\{\chi_{p}\right\}}&#10;\hat{\mathcal{R}}_{W\kappa;lk;\eta\lambda\left\{r\chi_{p}\right\}}^{\left(s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7F4D8668-D08F-437B-B089-B792C0DF521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7340" y="1487669"/>
            <a:ext cx="9193131" cy="717714"/>
          </a:xfrm>
          <a:prstGeom prst="rect">
            <a:avLst/>
          </a:prstGeom>
        </p:spPr>
      </p:pic>
      <p:pic>
        <p:nvPicPr>
          <p:cNvPr id="51" name="Picture 50" descr="\documentclass{article}&#10;\usepackage{amsmath,amssymb,bm,eufrak}&#10;\pagestyle{empty}&#10;\begin{document}&#10;&#10;\begin{align*}&#10;\vartheta_{\lambda\left\{\chi\right\}}&#10;&amp; =&#10;\sqrt{1 + \left(\lambda^2-1\right)\chi^2}&#10;\\&#10;\varkappa_{\lambda\left\{\chi\right\}}&#10;&amp; =&#10;\frac{\lambda \chi}{\vartheta_{\lambda\left\{\chi\right\}}}&#10;\\&#10;\hat{\mathcal{P}}_{lm;\lambda\left\{\chi\right\}}&#10;&amp; = &#10;\sqrt{\frac{\lambda}{\vartheta_{\lambda\left\{\chi\right\}}^{3}}}&#10;\sqrt{\frac{(2l+1)\left(l-m\right)!}{2\left(l+m\right)!}}&#10;P_{lm\left\{\varkappa_{\lambda\left\{\chi\right\}}\right\}}&#10;\\&#10;\hat{Q}_{m\zeta\left\{\phi\right\}}&#10;&amp; = &#10;\frac{1}{\sqrt{2\pi}}&#10;\left(\frac{\mathrm{e}^{\mathrm{i}m \phi}+ \zeta\mathrm{e}^{-\mathrm{i}m \phi}}&#10;{2\delta_{m0} + \sqrt{2}\left(1-\delta_{m0}\right)}\right)&#10;\end{align*}&#10;&#10;\end{document} " title="IguanaTex Bitmap Display">
            <a:extLst>
              <a:ext uri="{FF2B5EF4-FFF2-40B4-BE49-F238E27FC236}">
                <a16:creationId xmlns:a16="http://schemas.microsoft.com/office/drawing/2014/main" id="{A853DC60-2D15-40D1-9E77-2E7E97146E7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8380" y="2554803"/>
            <a:ext cx="5473525" cy="270475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7A2F2EB0-46F7-4B56-86AC-CB3C342BEFA8}"/>
              </a:ext>
            </a:extLst>
          </p:cNvPr>
          <p:cNvGrpSpPr/>
          <p:nvPr/>
        </p:nvGrpSpPr>
        <p:grpSpPr>
          <a:xfrm>
            <a:off x="6979184" y="2931180"/>
            <a:ext cx="4484436" cy="1952000"/>
            <a:chOff x="6808836" y="3100269"/>
            <a:chExt cx="4484436" cy="195200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55AD485-277A-4F77-852B-72367E0DAB0B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6808836" y="3100269"/>
              <a:ext cx="2558476" cy="195200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7E736506-322B-436B-900E-0C4FA105DC6F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9702415" y="3536384"/>
              <a:ext cx="1590857" cy="1225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28352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Generalized single-valley basis states (II)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C0F3515-17F9-4681-A9FB-0FDCA6D61439}"/>
              </a:ext>
            </a:extLst>
          </p:cNvPr>
          <p:cNvGrpSpPr/>
          <p:nvPr/>
        </p:nvGrpSpPr>
        <p:grpSpPr>
          <a:xfrm>
            <a:off x="204095" y="4589237"/>
            <a:ext cx="11783809" cy="1481752"/>
            <a:chOff x="204095" y="4789306"/>
            <a:chExt cx="11783809" cy="148175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69CBA83-12E1-4375-B802-81E8C1344FD8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0"/>
            <a:stretch>
              <a:fillRect/>
            </a:stretch>
          </p:blipFill>
          <p:spPr>
            <a:xfrm>
              <a:off x="9079866" y="4944316"/>
              <a:ext cx="2908038" cy="117173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44115AF-3F51-4DD0-9D13-E2A0368D408E}"/>
                </a:ext>
              </a:extLst>
            </p:cNvPr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11"/>
            <a:stretch>
              <a:fillRect/>
            </a:stretch>
          </p:blipFill>
          <p:spPr>
            <a:xfrm>
              <a:off x="5967733" y="4944316"/>
              <a:ext cx="2908038" cy="1171733"/>
            </a:xfrm>
            <a:prstGeom prst="rect">
              <a:avLst/>
            </a:prstGeom>
          </p:spPr>
        </p:pic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9AEEA1CC-A15C-487E-88BB-443E42311D45}"/>
                </a:ext>
              </a:extLst>
            </p:cNvPr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12"/>
            <a:stretch>
              <a:fillRect/>
            </a:stretch>
          </p:blipFill>
          <p:spPr>
            <a:xfrm>
              <a:off x="204095" y="4789306"/>
              <a:ext cx="5559542" cy="1481752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E007FDF-4197-421B-906D-DBFFAA198DEB}"/>
              </a:ext>
            </a:extLst>
          </p:cNvPr>
          <p:cNvGrpSpPr/>
          <p:nvPr/>
        </p:nvGrpSpPr>
        <p:grpSpPr>
          <a:xfrm>
            <a:off x="1388703" y="1956317"/>
            <a:ext cx="9414595" cy="2357336"/>
            <a:chOff x="1388703" y="1956317"/>
            <a:chExt cx="9414595" cy="2357336"/>
          </a:xfrm>
        </p:grpSpPr>
        <p:pic>
          <p:nvPicPr>
            <p:cNvPr id="15" name="Picture 14" descr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 title="IguanaTex Bitmap Display">
              <a:extLst>
                <a:ext uri="{FF2B5EF4-FFF2-40B4-BE49-F238E27FC236}">
                  <a16:creationId xmlns:a16="http://schemas.microsoft.com/office/drawing/2014/main" id="{E5037CFE-29E3-4898-A815-9F927E063B8D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>
              <a:off x="6140447" y="1956317"/>
              <a:ext cx="4662851" cy="2357336"/>
            </a:xfrm>
            <a:prstGeom prst="rect">
              <a:avLst/>
            </a:prstGeom>
            <a:ln>
              <a:noFill/>
            </a:ln>
          </p:spPr>
        </p:pic>
        <p:pic>
          <p:nvPicPr>
            <p:cNvPr id="6" name="Picture 5" descr="\documentclass{article}&#10;\usepackage{amsmath,bm,eufrak}&#10;\pagestyle{empty}&#10;\begin{document}&#10;&#10;\begin{equation*}&#10;\mathfrak{H}^{(s)}_{\kappa;\lambda;lm}&#10;= &#10;\delta_{s,0}-\kappa\left(1-\gamma\lambda^{2}\right)\mathfrak{Y}_{lm}^{(s)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16527D0A-C15F-4703-8A99-0CDFDE8B845A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88703" y="2958984"/>
              <a:ext cx="3574853" cy="374857"/>
            </a:xfrm>
            <a:prstGeom prst="rect">
              <a:avLst/>
            </a:prstGeom>
          </p:spPr>
        </p:pic>
      </p:grpSp>
      <p:pic>
        <p:nvPicPr>
          <p:cNvPr id="10" name="Picture 9" descr="\documentclass{article}&#10;\usepackage{amsmath,bm}&#10;\pagestyle{empty}&#10;\begin{document}&#10;&#10;\begin{align*}&#10;h_{\kappa;lk}^{\left(s,v\right)}&#10;&amp; =&#10;\left(1-\kappa\right)\delta_{s0}\delta_{v0} + \kappa g_{lk,v}^{(s)}&#10;\\&#10;\end{align*}&#10;&#10;\end{document}" title="IguanaTex Bitmap Display">
            <a:extLst>
              <a:ext uri="{FF2B5EF4-FFF2-40B4-BE49-F238E27FC236}">
                <a16:creationId xmlns:a16="http://schemas.microsoft.com/office/drawing/2014/main" id="{276CAEEB-1885-4E25-ACC0-0A8D4293E8B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6510" y="6308136"/>
            <a:ext cx="3285330" cy="37485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pic>
        <p:nvPicPr>
          <p:cNvPr id="7" name="Picture 6" descr="\documentclass{article}&#10;\usepackage{amsmath,bm,eufrak}&#10;\pagestyle{empty}&#10;\begin{document}&#10;&#10;\begin{align*}&#10;\alpha&#10;=&#10;\frac{2}{W}\left(l+\frac{1}{W}\right)&#10;\end{align*}&#10;&#10;\end{document}" title="IguanaTex Bitmap Display">
            <a:extLst>
              <a:ext uri="{FF2B5EF4-FFF2-40B4-BE49-F238E27FC236}">
                <a16:creationId xmlns:a16="http://schemas.microsoft.com/office/drawing/2014/main" id="{182D8744-FB25-410F-B932-3F2B4604029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2538922" y="6282764"/>
            <a:ext cx="1338666" cy="42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318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Generalized single-valley basis states (III)</a:t>
            </a:r>
          </a:p>
        </p:txBody>
      </p:sp>
      <p:pic>
        <p:nvPicPr>
          <p:cNvPr id="25" name="Picture 24" descr="\documentclass{article}&#10;\usepackage{amsmath,bm,eufrak}&#10;\pagestyle{empty}&#10;\begin{document}&#10;&#10;\begin{align*}&#10;\hat{\Phi}_{W\kappa; \parallel_{0}; \sigma\omega; mlk; \eta\lambda \left\{r\chi\phi\right\} }^{(p)}&#10;&amp; = &#10;    \hat{\phi}_{W\kappa; m\left[\sigma\left(-1\right)^{m}\right]lk; \eta\lambda \left\{r\chi\phi\right\} }^{(p)}&#10;    \hat{\Theta}_{\sigma\omega\left(-1\right)^{l+\frac{m}{2}}\left\{r\chi\phi\right\}}^{(p)}&#10;\end{align*}&#10;&#10;\end{document}" title="IguanaTex Bitmap Display">
            <a:extLst>
              <a:ext uri="{FF2B5EF4-FFF2-40B4-BE49-F238E27FC236}">
                <a16:creationId xmlns:a16="http://schemas.microsoft.com/office/drawing/2014/main" id="{798EC44D-5E0F-4A55-85E4-A2F0AD2149F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9337" y="2876198"/>
            <a:ext cx="7093327" cy="451048"/>
          </a:xfrm>
          <a:prstGeom prst="rect">
            <a:avLst/>
          </a:prstGeom>
        </p:spPr>
      </p:pic>
      <p:pic>
        <p:nvPicPr>
          <p:cNvPr id="29" name="Picture 28" descr="\documentclass{article}&#10;\usepackage{amsmath,bm,eufrak}&#10;\pagestyle{empty}&#10;\begin{document}&#10;&#10;\begin{align*}&#10;\hat{\Phi}_{W\kappa; \parallel_{1}; \sigma\omega; mlk; \eta\lambda \left\{r\chi\phi\right\} }^{\left(p_{0}\right)}&#10;&amp; = &#10;    \left[&#10;        \left[&#10;            \hat{\phi}_{ \left[\zeta=\left(-1\right)^{l}\right] }^{\left(p_{1}\right)}&#10;            +&#10;            \sigma\left(-1\right)^{l+m}\mathrm{i}^{+m}&#10;            \hat{\phi}_{ \left[\zeta=\left(-1\right)^{l+m}\right] }^{\left(p_{2}\right)}&#10;        \right]_{ W\kappa; mlk; \eta\lambda }&#10;        \hat{\Theta}_{\omega\left(-1\right)^{m}}^{\left(p_{0}\right)}&#10;    \right]_{ \left\{r\chi\phi\right\} }&#10;\end{align*}&#10;&#10;\end{document}" title="IguanaTex Bitmap Display">
            <a:extLst>
              <a:ext uri="{FF2B5EF4-FFF2-40B4-BE49-F238E27FC236}">
                <a16:creationId xmlns:a16="http://schemas.microsoft.com/office/drawing/2014/main" id="{610B6080-81FD-4D8F-9F91-3FD8302AC3A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8387" y="4603398"/>
            <a:ext cx="10095227" cy="816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141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itle 6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Generalized multi-valley basis states (</a:t>
            </a:r>
            <a:r>
              <a:rPr lang="en-US" dirty="0" err="1"/>
              <a:t>IVa</a:t>
            </a:r>
            <a:r>
              <a:rPr lang="en-US" dirty="0"/>
              <a:t>)</a:t>
            </a:r>
          </a:p>
        </p:txBody>
      </p:sp>
      <p:pic>
        <p:nvPicPr>
          <p:cNvPr id="3" name="Picture 2" descr="\documentclass{article}&#10;\usepackage{amsmath,bm,eufrak}&#10;\pagestyle{empty}&#10;\begin{document}&#10;&#10;\begin{align*}&#10;\hat{\Psi}_{W\kappa; \aleph; \left(A_{1},0\right); mlk; \eta\lambda \left\{r\chi\phi\right\} }&#10;&amp; = &#10;    \frac{1}{3}&#10;    \sum_{p=x,y,z}&#10;        \hat{\Phi}_{W\kappa; \aleph; [+1][+1]; mlk; \eta\lambda \left\{r\chi\phi\right\} }^{(p)}&#10;\\&#10;\hat{\Psi}_{W\kappa; \aleph; \left(A_{2},0\right); mlk; \eta\lambda \left\{r\chi\phi\right\} }&#10;&amp; = &#10;    \frac{1}{3}&#10;    \sum_{p=x,y,z}&#10;        \hat{\Phi}_{W\kappa; \aleph; [-1][+1]; mlk; \eta\lambda \left\{r\chi\phi\right\} }^{(p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C949346-700B-4A75-9D5A-44378C0FB0D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8002" y="1764127"/>
            <a:ext cx="6655996" cy="1452193"/>
          </a:xfrm>
          <a:prstGeom prst="rect">
            <a:avLst/>
          </a:prstGeom>
        </p:spPr>
      </p:pic>
      <p:pic>
        <p:nvPicPr>
          <p:cNvPr id="7" name="Picture 6" descr="\documentclass{article}&#10;\usepackage{amsmath,bm,eufrak}&#10;\pagestyle{empty}&#10;\begin{document}&#10;&#10;\begin{align*}&#10;\hat{\Psi}_{W\kappa; \aleph; \left(E,0\right); mlk\sigma; \eta\lambda \left\{r\chi\phi\right\} }&#10;&amp; = &#10;    \frac{1}{3}&#10;        \hat{\Phi}_{W\kappa; \aleph; \sigma[+1]; mlk; \eta\lambda \left\{r\chi\phi\right\} }^{(z)}&#10;    +&#10;    \frac{\tau}{3}&#10;        \hat{\Phi}_{W\kappa; \aleph; \sigma[+1]; mlk; \eta\lambda \left\{r\chi\phi\right\} }^{(x)}&#10;    +&#10;    \frac{\tau^{2}}{3}&#10;        \hat{\Phi}_{W\kappa; \aleph; \sigma[+1]; mlk; \eta\lambda \left\{r\chi\phi\right\} }^{(y)}&#10;\\&#10;\hat{\Psi}_{W\kappa; \aleph; \left(E,1\right); mlk\sigma; \eta\lambda \left\{r\chi\phi\right\} }&#10;&amp; = &#10;    \frac{1}{3}&#10;        \hat{\Phi}_{W\kappa; \aleph; \sigma[+1]; mlk; \eta\lambda \left\{r\chi\phi\right\} }^{(z)}&#10;    +&#10;    \frac{\tau^{2}}{3}&#10;        \hat{\Phi}_{W\kappa; \aleph; \sigma[+1]; mlk; \eta\lambda \left\{r\chi\phi\right\} }^{(x)}&#10;    +&#10;    \frac{\tau}{3}&#10;        \hat{\Phi}_{W\kappa; \aleph; \sigma[+1]; mlk; \eta\lambda \left\{r\chi\phi\right\} }^{(y)}&#10;\\&#10;\end{align*}&#10;&#10;\end{document}" title="IguanaTex Bitmap Display">
            <a:extLst>
              <a:ext uri="{FF2B5EF4-FFF2-40B4-BE49-F238E27FC236}">
                <a16:creationId xmlns:a16="http://schemas.microsoft.com/office/drawing/2014/main" id="{99F3B8AC-D127-429A-8324-A4D3C4365556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09" y="3732358"/>
            <a:ext cx="11820182" cy="1211431"/>
          </a:xfrm>
          <a:prstGeom prst="rect">
            <a:avLst/>
          </a:prstGeom>
        </p:spPr>
      </p:pic>
      <p:pic>
        <p:nvPicPr>
          <p:cNvPr id="15" name="Picture 14" descr="\documentclass{article}&#10;\usepackage{amsmath,bm,eufrak}&#10;\pagestyle{empty}&#10;\begin{document}&#10;&#10;\begin{align*}&#10;\hat{\Psi}_{W\kappa; \aleph; \left(T_{1},p\right); mlk; \eta\lambda \left\{r\chi\phi\right\} }&#10;&amp; = &#10;    \hat{\Phi}_{W\kappa; \aleph; [-1][-1]; mlk; \eta\lambda \left\{r\chi\phi\right\} }^{(p)}&#10;\\&#10;\hat{\Psi}_{W\kappa; \aleph; \left(T_{2},p\right); mlk; \eta\lambda \left\{r\chi\phi\right\} }&#10;&amp; = &#10;    \hat{\Phi}_{W\kappa; \aleph; [+1][-1]; mlk; \eta\lambda \left\{r\chi\phi\right\} }^{(p)}&#10;\\&#10;\end{align*}&#10;&#10;\end{document}" title="IguanaTex Bitmap Display">
            <a:extLst>
              <a:ext uri="{FF2B5EF4-FFF2-40B4-BE49-F238E27FC236}">
                <a16:creationId xmlns:a16="http://schemas.microsoft.com/office/drawing/2014/main" id="{3B2916C0-9663-4666-9CC2-8E535C9BA714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622" y="5459828"/>
            <a:ext cx="5650283" cy="88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5786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\documentclass{article}&#10;\usepackage{amsmath,bm,eufrak}&#10;\pagestyle{empty}&#10;\begin{document}&#10;&#10;\begin{align*}&#10;\hat{\Psi}_{ \mathtt{I}\left\{r\chi\phi\right\} }&#10;&amp; = &#10;\sum_{p = z,x,y}&#10;    \alpha_{\mathtt{I}}^{\left(p\right)}&#10;    \hat{\Phi}_{ \mathtt{I}\left\{r\chi\phi\right\} }^{(p)}&#10;\end{align*}&#10;&#10;\end{document}" title="IguanaTex Bitmap Display">
            <a:extLst>
              <a:ext uri="{FF2B5EF4-FFF2-40B4-BE49-F238E27FC236}">
                <a16:creationId xmlns:a16="http://schemas.microsoft.com/office/drawing/2014/main" id="{B85C225D-2FE4-4A88-9FC2-A66C972C205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4384" y="2522665"/>
            <a:ext cx="3183237" cy="591239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310D5B2E-FD4F-494F-ACAC-48F967F44512}"/>
              </a:ext>
            </a:extLst>
          </p:cNvPr>
          <p:cNvGrpSpPr/>
          <p:nvPr/>
        </p:nvGrpSpPr>
        <p:grpSpPr>
          <a:xfrm>
            <a:off x="1327604" y="4320032"/>
            <a:ext cx="9536793" cy="728990"/>
            <a:chOff x="1327604" y="4320032"/>
            <a:chExt cx="9536793" cy="728990"/>
          </a:xfrm>
        </p:grpSpPr>
        <p:pic>
          <p:nvPicPr>
            <p:cNvPr id="7" name="Picture 6" descr="\documentclass{article}&#10;\usepackage{amsmath,amssymb,bm,physics,mathtools}&#10;\pagestyle{empty}&#10;\begin{document}&#10;&#10;\begin{equation*}&#10;    \bm{\alpha}_{\left(A_{n},0\right)}&#10;        =&#10;    \frac{1}{3}&#10;    \begin{pmatrix}&#10;        1 \\ 1 \\ 1&#10;    \end{pmatrix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24E5A612-9209-4CCA-94F3-DC216E211E10}"/>
                </a:ext>
              </a:extLst>
            </p:cNvPr>
            <p:cNvPicPr>
              <a:picLocks noChangeAspect="1"/>
            </p:cNvPicPr>
            <p:nvPr>
              <p:custDataLst>
                <p:tags r:id="rId2"/>
              </p:custDataLst>
            </p:nvPr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7604" y="4320032"/>
              <a:ext cx="1482362" cy="728990"/>
            </a:xfrm>
            <a:prstGeom prst="rect">
              <a:avLst/>
            </a:prstGeom>
          </p:spPr>
        </p:pic>
        <p:pic>
          <p:nvPicPr>
            <p:cNvPr id="10" name="Picture 9" descr="\documentclass{article}&#10;\usepackage{amsmath,amssymb,bm,physics,mathtools}&#10;\pagestyle{empty}&#10;\begin{document}&#10;&#10;\begin{equation*}&#10;    \bm{\alpha}_{\left(E,0\right)}&#10;        =&#10;    \frac{1}{3}&#10;    \begin{pmatrix}&#10;        1 \\ \tau \\ \tau^{2}&#10;    \end{pmatrix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48DA7431-DFA9-4522-8AFE-043777FF32BF}"/>
                </a:ext>
              </a:extLst>
            </p:cNvPr>
            <p:cNvPicPr>
              <a:picLocks noChangeAspect="1"/>
            </p:cNvPicPr>
            <p:nvPr>
              <p:custDataLst>
                <p:tags r:id="rId3"/>
              </p:custDataLst>
            </p:nvPr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37570" y="4320032"/>
              <a:ext cx="1487238" cy="728990"/>
            </a:xfrm>
            <a:prstGeom prst="rect">
              <a:avLst/>
            </a:prstGeom>
          </p:spPr>
        </p:pic>
        <p:pic>
          <p:nvPicPr>
            <p:cNvPr id="15" name="Picture 14" descr="\documentclass{article}&#10;\usepackage{amsmath,amssymb,bm,physics,mathtools}&#10;\pagestyle{empty}&#10;\begin{document}&#10;&#10;\begin{equation*}&#10;    \bm{\alpha}_{\left(E,1\right)}&#10;        =&#10;    \frac{1}{3}&#10;    \begin{pmatrix}&#10;        1 \\ \tau^{2} \\ \tau&#10;    \end{pmatrix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F21FD2FA-BCEB-4B64-B288-476361EA0427}"/>
                </a:ext>
              </a:extLst>
            </p:cNvPr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52412" y="4320032"/>
              <a:ext cx="1487238" cy="728990"/>
            </a:xfrm>
            <a:prstGeom prst="rect">
              <a:avLst/>
            </a:prstGeom>
          </p:spPr>
        </p:pic>
        <p:pic>
          <p:nvPicPr>
            <p:cNvPr id="18" name="Picture 17" descr="\documentclass{article}&#10;\usepackage{amsmath,amssymb,bm,physics,mathtools}&#10;\pagestyle{empty}&#10;\begin{document}&#10;&#10;\begin{equation*}&#10;    \alpha_{\left(T_{n},q\right)}^{\left(p\right)}&#10;        =&#10;    \delta_{pq}&#10;\end{equation*}&#10;&#10;\end{document}" title="IguanaTex Bitmap Display">
              <a:extLst>
                <a:ext uri="{FF2B5EF4-FFF2-40B4-BE49-F238E27FC236}">
                  <a16:creationId xmlns:a16="http://schemas.microsoft.com/office/drawing/2014/main" id="{E66B9783-6EF1-4F40-A386-E6E0CB98151B}"/>
                </a:ext>
              </a:extLst>
            </p:cNvPr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67254" y="4526660"/>
              <a:ext cx="1097143" cy="315733"/>
            </a:xfrm>
            <a:prstGeom prst="rect">
              <a:avLst/>
            </a:prstGeom>
          </p:spPr>
        </p:pic>
      </p:grpSp>
      <p:sp>
        <p:nvSpPr>
          <p:cNvPr id="9" name="Title 62">
            <a:extLst>
              <a:ext uri="{FF2B5EF4-FFF2-40B4-BE49-F238E27FC236}">
                <a16:creationId xmlns:a16="http://schemas.microsoft.com/office/drawing/2014/main" id="{91F4B97D-C7D1-47A7-9EB6-EE2BFC8D123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Generalized multi-valley basis states (</a:t>
            </a:r>
            <a:r>
              <a:rPr lang="en-US" sz="4400" dirty="0" err="1"/>
              <a:t>IVb</a:t>
            </a:r>
            <a:r>
              <a:rPr lang="en-US" sz="4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333608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\documentclass{article}&#10;\usepackage{amsmath,amssymb,bm,physics,mathtools}&#10;\pagestyle{empty}&#10;\begin{document}&#10;&#10;\begin{align*}&#10;\hat{U} &amp;= \sum_{u} \hat{U}_{u} ,\\&#10;\hat{U}_{u|\left(\kappa=E,+\right)} &amp;= \frac{ \hat{U}_{u|\left(\kappa=E,0\right)} + \hat{U}_{u|\left(\kappa=E,1\right)} }{2} ,\\&#10;\hat{U}_{u|\left(\kappa=E,-\right)} &amp;= \frac{ \hat{U}_{u|\left(\kappa=E,0\right)} - \hat{U}_{u|\left(\kappa=E,1\right)} }{2} ,\\&#10;\left(yxz\right)\hat{U}_{u} &amp;= \sigma_{\mathtt{U},u}\hat{U}_{u} ,\\&#10;\left(\bar{x}\bar{y}z\right)\hat{U}_{u} &amp;= \omega_{\mathtt{U},u}^{\left(x\right)}\omega_{\mathtt{U},u}^{\left(y\right)}\hat{U}_{u} ,\\&#10;\left(\bar{x}y\bar{z}\right)\hat{U}_{u} &amp;= \omega_{\mathtt{U},u}^{\left(x\right)}\omega_{\mathtt{U},u}^{\left(z\right)}\hat{U}_{u} ,\\&#10;\left(x\bar{y}\bar{z}\right)\hat{U}_{u} &amp;= \omega_{\mathtt{U},u}^{\left(x\right)}\omega_{\mathtt{U},u}^{\left(y\right)}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17AB1CA3-5935-4A7A-9E75-A8227DAD379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36878" y="2500447"/>
            <a:ext cx="3318244" cy="3023241"/>
          </a:xfrm>
          <a:prstGeom prst="rect">
            <a:avLst/>
          </a:prstGeom>
        </p:spPr>
      </p:pic>
      <p:sp>
        <p:nvSpPr>
          <p:cNvPr id="4" name="Title 62">
            <a:extLst>
              <a:ext uri="{FF2B5EF4-FFF2-40B4-BE49-F238E27FC236}">
                <a16:creationId xmlns:a16="http://schemas.microsoft.com/office/drawing/2014/main" id="{2CECF409-F97F-4431-81CD-C9BC2DDFEBAB}"/>
              </a:ext>
            </a:extLst>
          </p:cNvPr>
          <p:cNvSpPr txBox="1">
            <a:spLocks/>
          </p:cNvSpPr>
          <p:nvPr/>
        </p:nvSpPr>
        <p:spPr>
          <a:xfrm>
            <a:off x="1448955" y="365124"/>
            <a:ext cx="9294091" cy="863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Spatial Potential Forms (I)</a:t>
            </a:r>
          </a:p>
        </p:txBody>
      </p:sp>
    </p:spTree>
    <p:extLst>
      <p:ext uri="{BB962C8B-B14F-4D97-AF65-F5344CB8AC3E}">
        <p14:creationId xmlns:p14="http://schemas.microsoft.com/office/powerpoint/2010/main" val="2104909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\documentclass{article}&#10;\usepackage{amsmath,amssymb,bm,physics,mathtools}&#10;\pagestyle{empty}&#10;\begin{document}&#10;&#10;\begin{align*}&#10;\left\{\hat{U}_{u}\right\}&#10;    &amp;=&#10;        \left\{ \hat{U}_{\mathtt{U},u} | \sigma_{\mathtt{U},u}=+1 \right\}&#10;            \cup&#10;        \left\{ \hat{U}_{\mathtt{U},u} | \sigma_{\mathtt{U},u}=-1 \right\}&#10;,\\&#10;    &amp;=&#10;        \left\{ \hat{U}_{\mathtt{U},u} | \omega_{\mathtt{U},u}^{\left(p\right)} =+1 \text{ and } \sigma_{\mathtt{U},u} =+1 \right\}&#10;            \cup&#10;        \left\{ \hat{U}_{\mathtt{U},u} | \omega_{\mathtt{U},u}^{\left(p\right)} =+1 \text{ and } \sigma_{\mathtt{U},u} =-1 \right\}&#10;            \cup&#10;        \left\{ \hat{U}_{\mathtt{U},u} | \omega_{\mathtt{U},u}^{\left(p\right)} =-1 \right\}&#10;,\\&#10;\left\{ \hat{U}_{u} | \sigma_{\mathtt{U},u}=+1 \right\}&#10;    &amp;=&#10;        \left\{&#10;            U_{\left(A_{1},0\right)},&#10;            U_{\left(E,+\right)},&#10;            U_{\left(T_{2},x\right)},U_{\left(T_{2},y\right)},U_{\left(T_{2},z\right)}&#10;        \right\}&#10;,\\&#10;\left\{ \hat{U}_{u} | \sigma_{\mathtt{U},u}=-1 \right\}&#10;    &amp;=&#10;        \left\{&#10;            U_{\left(A_{2},0\right)},&#10;            U_{\left(E,-\right)},&#10;            U_{\left(T_{1},x\right)},U_{\left(T_{1},y\right)},U_{\left(T_{1},z\right)}&#10;        \right\}&#10;,\\&#10;\left\{ \hat{U}_{u} | \omega_{\mathtt{U},u}^{\left(p\right)} =+1 \text{ and } \sigma_{\mathtt{U},u}=+1 \right\}&#10;    &amp;=&#10;        \left\{&#10;            U_{\left(A_{1},0\right)},&#10;            U_{\left(E,+\right)},&#10;            U_{\left(T_{2},p+1\right)},U_{\left(T_{2},p+2\right)},&#10;        \right\}&#10;,\\&#10;\left\{ \hat{U}_{u} | \omega_{\mathtt{U},u}^{\left(p\right)} =+1 \text{ and } \sigma_{\mathtt{U},u}=-1 \right\}&#10;    &amp;=&#10;        \left\{&#10;            U_{\left(A_{2},0\right)},&#10;            U_{\left(E,-\right)},&#10;            U_{\left(T_{1},p+1\right)},U_{\left(T_{1},p+2\right)}&#10;        \right\}&#10;,\\&#10;\left\{ \hat{U}_{u} | \omega_{\mathtt{U},u}^{\left(p\right)} =-1 \right\}&#10;    &amp;=&#10;        \left\{&#10;            U_{\left(T_{1},p\right)},&#10;            U_{\left(T_{2},p\right)}&#10;        \right\}&#10;\end{align*}&#10;&#10;\end{document}" title="IguanaTex Bitmap Display">
            <a:extLst>
              <a:ext uri="{FF2B5EF4-FFF2-40B4-BE49-F238E27FC236}">
                <a16:creationId xmlns:a16="http://schemas.microsoft.com/office/drawing/2014/main" id="{E64F182A-9AD5-4DBF-825A-97C9A44DEFC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993" y="2059449"/>
            <a:ext cx="10958014" cy="3035438"/>
          </a:xfrm>
          <a:prstGeom prst="rect">
            <a:avLst/>
          </a:prstGeom>
        </p:spPr>
      </p:pic>
      <p:sp>
        <p:nvSpPr>
          <p:cNvPr id="4" name="Title 62">
            <a:extLst>
              <a:ext uri="{FF2B5EF4-FFF2-40B4-BE49-F238E27FC236}">
                <a16:creationId xmlns:a16="http://schemas.microsoft.com/office/drawing/2014/main" id="{674A3636-3747-4B23-9B36-FD46ADA99BB8}"/>
              </a:ext>
            </a:extLst>
          </p:cNvPr>
          <p:cNvSpPr txBox="1">
            <a:spLocks/>
          </p:cNvSpPr>
          <p:nvPr/>
        </p:nvSpPr>
        <p:spPr>
          <a:xfrm>
            <a:off x="1448955" y="365124"/>
            <a:ext cx="9294091" cy="863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Spatial Potential Forms (II)</a:t>
            </a:r>
          </a:p>
        </p:txBody>
      </p:sp>
    </p:spTree>
    <p:extLst>
      <p:ext uri="{BB962C8B-B14F-4D97-AF65-F5344CB8AC3E}">
        <p14:creationId xmlns:p14="http://schemas.microsoft.com/office/powerpoint/2010/main" val="36072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amssymb,bm,physics,mathtools}&#10;\pagestyle{empty}&#10;\begin{document}&#10;&#10;\begin{align*}&#10;\mathcal{H}_{ \mathtt{L}\mathtt{R}, u }&#10;    &amp;=&#10;        \int\mathrm{d}\bm{r}\, \left( \Psi_{\mathtt{L}} \right)^{\dagger}\hat{U}_{u}\Psi_{\mathtt{R}}&#10;,\\&#10;    &amp;=&#10;        \int\mathrm{d}\bm{r}\, &#10;            \left\{&#10;                \sum_{ q_{\mathtt{L}}=x,y,z }&#10;                    \alpha_{ \mathtt{L}}^{ \left(q_{\mathtt{L}}\right) }&#10;                    \Phi_{ \mathtt{L}}^{ \left(q_{\mathtt{L}}\right) } \Theta_{ \Omega_{\mathtt{L}} }^{\left(q_{\mathtt{L}}\right)}&#10;            \right\}^{\dagger}&#10;            \hat{U}_{u}&#10;            \left\{&#10;                \sum_{ q_{\mathtt{R}}=x,y,z }&#10;                    \alpha_{ \mathtt{R}}^{ \left(q_{\mathtt{R}}\right) }&#10;                    \Phi_{ \mathtt{R}}^{\left(q_{\mathtt{R}}\right) } \Theta_{ \Omega_{\mathtt{R}} }^{\left(q_{\mathtt{R}}\right)}&#10;            \right\}&#10;,\\&#10;    &amp;= &#10;        \mathcal{H}_{ \mathtt{L}\mathtt{R}, u }^{\left(\parallel\right)}&#10;            + &#10;        \mathcal{H}_{ \mathtt{L}\mathtt{R}, u }^{\left(\perp_{+}\right)}&#10;            +&#10;        \mathcal{H}_{ \mathtt{L}\mathtt{R}, u }^{\left(\perp_{-}\right)}&#10;,\\&#10;\mathcal{H}_{ \mathtt{L}\mathtt{R}, u }^{\left(\parallel\right)}&#10;    &amp;=&#10;        \int\mathrm{d}\bm{r}\, &#10;            \sum_{ q=x,y,z }&#10;                \tilde{\alpha}_{ \mathtt{L}}^{ \left(q\right) }&#10;                \alpha_{ \mathtt{R}}^{ \left(q\right) }&#10;                \tilde{\Phi}_{\mathtt{L}}^{\left(q\right)} \hat{U}_{u} \Phi_{\mathtt{R}}^{\left(q\right)}&#10;                \Theta_{ \Omega_{\mathtt{L}} }^{\left(-q\right)}\Theta_{ \Omega_{\mathtt{R}} }^{\left(q\right)}&#10;,\\&#10;\mathcal{H}_{ \mathtt{L}\mathtt{R}, u }^{\left(\perp_{+}\right)}&#10;    &amp;=        &#10;        \int\mathrm{d}\bm{r}\, &#10;            \sum_{ q=x,y,z }&#10;                \tilde{\alpha}_{ \mathtt{L}}^{ \left(q\right) }&#10;                \alpha_{ \mathtt{R}}^{ \left(q+1\right) }&#10;                \tilde{\Phi}_{\mathtt{L}}^{\left(q\right)}&#10;                \hat{U}_{u}&#10;                \Phi_{\mathtt{R}}^{\left(q+1\right)} &#10;                \Theta_{ \Omega_{\mathtt{L}} }^{\left(-q\right)}\Theta_{ \Omega_{\mathtt{R}} }^{\left(q+1\right)}&#10;,\\&#10;\mathcal{H}_{ \mathtt{L}\mathtt{R}, u }^{\left(\perp_{-}\right)}&#10;    &amp;=        &#10;        \int\mathrm{d}\bm{r}\, &#10;            \sum_{ q=x,y,z }&#10;                \tilde{\alpha}_{ \mathtt{L}}^{ \left(q\right) }&#10;                \alpha_{ \mathtt{R}}^{ \left(q-1\right) }&#10;                \tilde{\Phi}_{\mathtt{L}}^{\left(q\right)}&#10;                \hat{U}_{u}&#10;                \Phi_{\mathtt{R}}^{\left(q-1\right)} &#10;                \Theta_{ \Omega_{\mathtt{L}} }^{\left(-q\right)}\Theta_{ \Omega_{\mathtt{R}} }^{\left(q-1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AEEAA719-7804-4616-B0F3-BC0282245D7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1812" y="2014299"/>
            <a:ext cx="6297596" cy="3476742"/>
          </a:xfrm>
          <a:prstGeom prst="rect">
            <a:avLst/>
          </a:prstGeom>
        </p:spPr>
      </p:pic>
      <p:sp>
        <p:nvSpPr>
          <p:cNvPr id="8" name="Title 62">
            <a:extLst>
              <a:ext uri="{FF2B5EF4-FFF2-40B4-BE49-F238E27FC236}">
                <a16:creationId xmlns:a16="http://schemas.microsoft.com/office/drawing/2014/main" id="{B9D95790-2DB1-49AB-8387-EC51A19E9046}"/>
              </a:ext>
            </a:extLst>
          </p:cNvPr>
          <p:cNvSpPr txBox="1">
            <a:spLocks/>
          </p:cNvSpPr>
          <p:nvPr/>
        </p:nvSpPr>
        <p:spPr>
          <a:xfrm>
            <a:off x="1448955" y="365124"/>
            <a:ext cx="9294091" cy="863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Hamiltonian Operator Integral Elements</a:t>
            </a:r>
          </a:p>
        </p:txBody>
      </p:sp>
    </p:spTree>
    <p:extLst>
      <p:ext uri="{BB962C8B-B14F-4D97-AF65-F5344CB8AC3E}">
        <p14:creationId xmlns:p14="http://schemas.microsoft.com/office/powerpoint/2010/main" val="8474725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\documentclass{article}&#10;\usepackage{amsmath,amssymb,bm,physics,mathtools}&#10;\pagestyle{empty}&#10;\begin{document}&#10;&#10;\begin{align*}&#10;\mathcal{H}_{ \mathtt{L}\mathtt{R}, u }^{\left(\parallel\right)}&#10;    &amp;=&#10;        \sum_{ q=x,y,z }&#10;        \tilde{\alpha}_{ \mathtt{L}}^{ \left(q\right) }&#10;        \alpha_{ \mathtt{R}}^{ \left(q\right) }&#10;        \int\mathrm{d}\bm{r}\, &#10;            \tilde{\Phi}_{\mathtt{L}}^{\left(q\right)}&#10;            \hat{U}_{u}&#10;            \Phi_{\mathtt{R}}^{\left(q\right)}&#10;            \Theta_{ \Omega_{\mathtt{L}} }^{\left(-q\right)}\Theta_{ \Omega_{\mathtt{R}} }^{\left(q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left[&#10;                     \tilde{\Phi}_{\mathtt{L}}^{\left(z\right)}&#10;                     \hat{U}_{u}&#10;                     \Phi_{\mathtt{R}}^{\left(z\right)}&#10;                 \right]&#10;                     +&#10;                 \tilde{\alpha}_{ \mathtt{L}}^{ \left(y\right) }&#10;                 \alpha_{ \mathtt{R}}^{ \left(y\right) }&#10;                 \left(yzx\right)&#10;                 \left[&#10;                     \tilde{\Phi}_{\mathtt{L}}^{\left(y\right)}&#10;                     \hat{U}_{u}&#10;                     \Phi_{\mathtt{R}}^{\left(y\right)}&#10;                 \right]&#10;                     +&#10;                 \tilde{\alpha}_{ \mathtt{L}}^{ \left(x\right) }&#10;                 \alpha_{ \mathtt{R}}^{ \left(x\right) }&#10;                 \left(zxy\right)&#10;                 \left[&#10;                     \tilde{\Phi}_{\mathtt{L}}^{\left(x\right)}&#10;                     \hat{U}_{u}&#10;                     \Phi_{\mathtt{R}}^{\left(x\right)}&#10;                 \right]&#10;            \right\}&#10;            \Theta_{ \Omega_{\mathtt{L}} }^{\left(-z\right)}\Theta_{ \Omega_{\mathtt{R}} }^{\left(+z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hat{U}_{u}&#10;                     +&#10;                 \tilde{\alpha}_{ \mathtt{L}}^{ \left(y\right) }&#10;                 \alpha_{ \mathtt{R}}^{ \left(y\right) }&#10;                 \left(yzx\right)&#10;                 \hat{U}_{u}&#10;                     +&#10;                 \tilde{\alpha}_{ \mathtt{L}}^{ \left(x\right) }&#10;                 \alpha_{ \mathtt{R}}^{ \left(x\right) }&#10;                 \left(zxy\right)&#10;                 \hat{U}_{u}&#10;            \right\}&#10;            \tilde{\Phi}_{\mathtt{L}}^{\left(z\right)}&#10;            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16FD0C78-FB67-48B6-8ABA-A515C2622F3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231" y="2227322"/>
            <a:ext cx="10415538" cy="1617683"/>
          </a:xfrm>
          <a:prstGeom prst="rect">
            <a:avLst/>
          </a:prstGeom>
        </p:spPr>
      </p:pic>
      <p:pic>
        <p:nvPicPr>
          <p:cNvPr id="7" name="Picture 6" descr="\documentclass{article}&#10;\usepackage{amsmath,amssymb,bm,physics,mathtools}&#10;\pagestyle{empty}&#10;\begin{document}&#10;&#10;\begin{align*}&#10;\mathcal{H}_{ \mathtt{L}\mathtt{R}, u }^{\left(\parallel\right)}&#10;    &amp;=&#10;        \int\mathrm{d}\bm{r}\,&#10;            U_{ \mathtt{L}\mathtt{R}, u }^{\left(\parallel\right)}&#10;            \tilde{\Phi}_{\mathtt{L}}^{\left(z\right)}&#10;            \Phi_{\mathtt{R}}^{\left(z\right)}&#10;            \Theta_{ \Omega_{\mathtt{L}} }^{\left(-z\right)}\Theta_{ \Omega_{\mathtt{R}} }^{\left(+z\right)}&#10;,\\&#10;U_{ \mathtt{L}\mathtt{R}, u }^{\left(\parallel\right)}&#10;    &amp;=&#10;        \left\{&#10;             \tilde{\alpha}_{ \mathtt{L}}^{ \left(z\right) }&#10;             \alpha_{ \mathtt{R}}^{ \left(z\right) }&#10;             \left(xyz\right)&#10;                     +&#10;             \tilde{\alpha}_{ \mathtt{L}}^{ \left(y\right) }&#10;             \alpha_{ \mathtt{R}}^{ \left(y\right) }&#10;             \left(yzx\right)&#10;                     +&#10;             \tilde{\alpha}_{ \mathtt{L}}^{ \left(x\right) }&#10;             \alpha_{ \mathtt{R}}^{ \left(x\right) }&#10;             \left(zxy\right)&#10;        \right\}&#10;        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FE93064F-21FD-43B8-9763-6780B66531B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6307" y="4777508"/>
            <a:ext cx="5439387" cy="894784"/>
          </a:xfrm>
          <a:prstGeom prst="rect">
            <a:avLst/>
          </a:prstGeom>
        </p:spPr>
      </p:pic>
      <p:sp>
        <p:nvSpPr>
          <p:cNvPr id="4" name="Title 62">
            <a:extLst>
              <a:ext uri="{FF2B5EF4-FFF2-40B4-BE49-F238E27FC236}">
                <a16:creationId xmlns:a16="http://schemas.microsoft.com/office/drawing/2014/main" id="{DC11C75A-BAE3-4177-9BA0-538C46468AED}"/>
              </a:ext>
            </a:extLst>
          </p:cNvPr>
          <p:cNvSpPr txBox="1">
            <a:spLocks/>
          </p:cNvSpPr>
          <p:nvPr/>
        </p:nvSpPr>
        <p:spPr>
          <a:xfrm>
            <a:off x="1448955" y="365124"/>
            <a:ext cx="9294091" cy="863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Same Valley Hamiltonian Form</a:t>
            </a:r>
          </a:p>
        </p:txBody>
      </p:sp>
    </p:spTree>
    <p:extLst>
      <p:ext uri="{BB962C8B-B14F-4D97-AF65-F5344CB8AC3E}">
        <p14:creationId xmlns:p14="http://schemas.microsoft.com/office/powerpoint/2010/main" val="1199192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\documentclass{article}&#10;\usepackage{amsmath,amssymb,bm,physics,mathtools}&#10;\pagestyle{empty}&#10;\begin{document}&#10;&#10;\begin{align*}&#10;\mathcal{H}_{\perp_{\sigma},u}&#10;    &amp;=&#10;        \int\mathrm{d}\bm{r}\,&#10;            \varphi_{\perp_{\sigma},u}&#10;            \Theta_{ \Omega_{\mathtt{L}} }^{\left(-y\right)}\Theta_{ \Omega_{\mathtt{R}} }^{\left(+x\right)}&#10;,\\&#10;\varphi_{\perp_{0},u}&#10;    &amp;=&#10;        \tilde{\alpha}_{\mathtt{L}}^{ \left(y\right) }&#10;        \alpha_{\mathtt{R}}^{ \left(x\right) }&#10;        \left(xyz\right)&#10;        \left[&#10;             \left\{ \Phi_{\mathtt{L}}^{\left(y\right)} \right\}^{\dagger}&#10;             \hat{U}_{u}&#10;             \Phi_{\mathtt{R}}^{\left(x\right)}&#10;        \right]&#10;            +&#10;        \tilde{\alpha}_{\mathtt{L}}^{ \left(x\right) }&#10;        \alpha_{\mathtt{R}}^{ \left(z\right) }&#10;        \left(yzx\right)&#10;        \left[&#10;            \left\{ \Phi_{\mathtt{L}}^{\left(x\right)} \right\}^{\dagger}&#10;            \hat{U}_{u}&#10;            \Phi_{\mathtt{R}}^{\left(z\right)}&#10;        \right]&#10;             +&#10;        \tilde{\alpha}_{\mathtt{L}}^{ \left(z\right) }&#10;        \alpha_{\mathtt{R}}^{ \left(y\right) }&#10;        \left(zxy\right)&#10;        \left[&#10;             \left\{ \Phi_{\mathtt{L}}^{\left(z\right)} \right\}^{\dagger}&#10;             \hat{U}_{u}&#10;             \Phi_{\mathtt{R}}^{\left(y\right)}&#10;        \right]&#10;,\\&#10;    &amp;=&#10;        \left[&#10;             \left\{ \Phi_{\mathtt{L}}^{\left(y\right)} \right\}^{\dagger}&#10;             \Phi_{\mathtt{R}}^{\left(x\right)}&#10;        \right]&#10;        \left\{&#10;            \tilde{\alpha}_{\mathtt{L}}^{ \left(y\right) }\alpha_{\mathtt{R}}^{ \left(x\right) }&#10;            \left(xyz\right)&#10;                +&#10;            \tilde{\alpha}_{\mathtt{L}}^{ \left(x\right) }\alpha_{\mathtt{R}}^{ \left(z\right) }&#10;            \left(yzx\right)&#10;                 +&#10;            \tilde{\alpha}_{\mathtt{L}}^{ \left(z\right) }\alpha_{\mathtt{R}}^{ \left(y\right) }&#10;            \left(zxy\right)&#10;        \right\}&#10;        \hat{U}_{u}&#10;,\\&#10;\varphi_{\perp_{1},u}&#10;    &amp;=&#10;        \tilde{\alpha}_{\mathtt{L}}^{ \left(x\right) }\alpha_{\mathtt{R}}^{ \left(y\right) }&#10;        \left(yxz\right)&#10;        \left[&#10;             \left\{ \Phi_{\mathtt{L}}^{\left(x\right)} \right\}^{\dagger}&#10;             \hat{U}_{u}&#10;             \Phi_{\mathtt{R}}^{\left(y\right)}&#10;        \right]&#10;             +&#10;        \tilde{\alpha}_{\mathtt{L}}^{ \left(z\right) }\alpha_{\mathtt{R}}^{ \left(x\right) }&#10;        \left(xzy\right)&#10;        \left[&#10;             \left\{ \Phi_{\mathtt{L}}^{\left(z\right)} \right\}^{\dagger}&#10;             \hat{U}_{u}&#10;             \Phi_{\mathtt{R}}^{\left(x\right)}&#10;        \right]&#10;             +&#10;        \tilde{\alpha}_{\mathtt{L}}^{ \left(y\right) }\alpha_{\mathtt{R}}^{ \left(z\right) }&#10;        \left(zyx\right)&#10;        \left[&#10;             \left\{ \Phi_{\mathtt{L}}^{\left(y\right)} \right\}^{\dagger}&#10;             \hat{U}_{u}&#10;             \Phi_{\mathtt{R}}^{\left(z\right)}&#10;        \right]&#10;,\\&#10;    &amp;=&#10;        \left[&#10;             \left\{ \Phi_{\mathtt{L}}^{\left(y\right)} \right\}^{\dagger}&#10;             \Phi_{\mathtt{R}}^{\left(x\right)}&#10;        \right]&#10;        \left\{&#10;            \tilde{\alpha}_{\mathtt{L}}^{ \left(x\right) }\alpha_{\mathtt{R}}^{ \left(y\right) }&#10;            \left(yxz\right)&#10;                +&#10;            \tilde{\alpha}_{\mathtt{L}}^{ \left(z\right) }\alpha_{\mathtt{R}}^{ \left(x\right) }&#10;            \left(xzy\right)&#10;                 +&#10;            \tilde{\alpha}_{\mathtt{L}}^{ \left(y\right) }\alpha_{\mathtt{R}}^{ \left(z\right) }&#10;            \left(zyx\right)&#10;        \right\}&#10;        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73965275-702B-456A-8E55-2BE42281BAD7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3775" y="1339009"/>
            <a:ext cx="9915733" cy="2716043"/>
          </a:xfrm>
          <a:prstGeom prst="rect">
            <a:avLst/>
          </a:prstGeom>
        </p:spPr>
      </p:pic>
      <p:sp>
        <p:nvSpPr>
          <p:cNvPr id="3" name="Title 62">
            <a:extLst>
              <a:ext uri="{FF2B5EF4-FFF2-40B4-BE49-F238E27FC236}">
                <a16:creationId xmlns:a16="http://schemas.microsoft.com/office/drawing/2014/main" id="{352BDCB4-5E61-46B6-84C2-7D5CCFDDEBB0}"/>
              </a:ext>
            </a:extLst>
          </p:cNvPr>
          <p:cNvSpPr txBox="1">
            <a:spLocks/>
          </p:cNvSpPr>
          <p:nvPr/>
        </p:nvSpPr>
        <p:spPr>
          <a:xfrm>
            <a:off x="1448955" y="365124"/>
            <a:ext cx="9294091" cy="8633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dirty="0"/>
              <a:t>Transverse Valley Hamiltonian Forms</a:t>
            </a:r>
          </a:p>
        </p:txBody>
      </p:sp>
      <p:pic>
        <p:nvPicPr>
          <p:cNvPr id="25" name="Picture 24" descr="\documentclass{article}&#10;\usepackage{amsmath,amssymb,bm,physics,mathtools}&#10;\pagestyle{empty}&#10;\begin{document}&#10;&#10;\begin{align*}&#10;\hat{U}_{\perp,u}&#10;    &amp;=&#10;        \left\{&#10;            \tilde{\alpha}_{\mathtt{L}}^{ \left(y\right) }\alpha_{\mathtt{R}}^{ \left(x\right) }&#10;            \left(xyz\right)&#10;                +&#10;            \sigma_{\mathtt{L}}\sigma_{\mathtt{R}}&#10;            \tilde{\alpha}_{\mathtt{L}}^{ \left(x\right) }\alpha_{\mathtt{R}}^{ \left(y\right) }&#10;            \left(yxz\right)&#10;                +&#10;            \tilde{\alpha}_{\mathtt{L}}^{ \left(x\right) }\alpha_{\mathtt{R}}^{ \left(z\right) }&#10;            \left(yzx\right)&#10;                +&#10;            \sigma_{\mathtt{L}}\sigma_{\mathtt{R}}&#10;            \tilde{\alpha}_{\mathtt{L}}^{ \left(z\right) }\alpha_{\mathtt{R}}^{ \left(x\right) }&#10;            \left(xzy\right)&#10;                +&#10;            \tilde{\alpha}_{\mathtt{L}}^{ \left(z\right) }\alpha_{\mathtt{R}}^{ \left(y\right) }&#10;            \left(zxy\right)&#10;                +&#10;            \sigma_{\mathtt{L}}\sigma_{\mathtt{R}}&#10;            \tilde{\alpha}_{\mathtt{L}}^{ \left(y\right) }\alpha_{\mathtt{R}}^{ \left(z\right) }&#10;            \left(zyx\right)&#10;        \right\}&#10;        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78575140-8DB6-4047-B06D-FF764AA4D7F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095" y="5757786"/>
            <a:ext cx="10995810" cy="364495"/>
          </a:xfrm>
          <a:prstGeom prst="rect">
            <a:avLst/>
          </a:prstGeom>
        </p:spPr>
      </p:pic>
      <p:pic>
        <p:nvPicPr>
          <p:cNvPr id="16" name="Picture 15" descr="\documentclass{article}&#10;\usepackage{amsmath,amssymb,bm,physics,mathtools}&#10;\pagestyle{empty}&#10;\begin{document}&#10;&#10;\begin{align*}&#10;\mathcal{H}_{\perp,u}&#10;    &amp;=&#10;        \mathcal{H}_{\perp_{0},u}&#10;            +&#10;        \mathcal{H}_{\perp_{1},u}&#10;,\\&#10;    &amp;=&#10;        \int\mathrm{d}\bm{r}\,&#10;            \hat{U}_{\perp,u}&#10;            \tilde{\Phi}_{\mathtt{L}}^{\left(y\right)}&#10;            \Phi_{\mathtt{R}}^{\left(x\right)}&#10;            \Theta_{ \Omega_{\mathtt{L}} }^{\left(-y\right)}\Theta_{ \Omega_{\mathtt{R}} }^{\left(+x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1642F344-2044-42A9-8A23-B29187533D55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8363" y="4365139"/>
            <a:ext cx="3435275" cy="741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966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\documentclass{article}&#10;\usepackage{amsmath,amssymb,bm,physics,mathtools}&#10;\pagestyle{empty}&#10;\begin{document}&#10;&#10;\begin{align*}&#10;\mathcal{H}&#10;    &amp;=&#10;        \sum_{ \hat{U}_{u}\in\mathfrak{U} }\sum_{ \Psi_{\mathtt{L}} \in \mathfrak{B} }\sum_{ \Psi_{\mathtt{R}} \in \mathfrak{B} }&#10;            \int\mathrm{d}\bm{r}\,&#10;                \left(\Psi_{\mathtt{L}}\right)^{\dagger}\hat{U}_{u}\Psi_{\mathtt{R}}&#10;,\\&#10;    &amp;=&#10;        \sum_{u}\sum_{ \mathtt{L} }\sum_{ \mathtt{R} } \int\mathrm{d}\bm{r}\, &#10;            \left[&#10;                \left(\frac{ \left(xyz\right)+\left(yzx\right)+\left(zxy\right) + \left(xzy\right)+\left(zyx\right)+\left(yxz\right) }{6}\right)&#10;                \left(\frac{\left(xyz\right)+\left(\bar{x}\bar{y}z\right)+\left(\bar{x}y\bar{z}\right)+\left(x\bar{y}\bar{z}\right)}{4}\right)&#10;            \right]&#10;            \left( \Psi_{\mathtt{L}} \right)^{\dagger}\hat{U}_{u}\Psi_{\mathtt{R}}&#10;,\\&#10;    &amp;=&#10;        \sum_{u}\sum_{ \mathtt{L} }\sum_{ \mathtt{R} } \int\mathrm{d}\bm{r}\, &#10;            \left[&#10;                \left(\frac{\left(xyz\right)+\left(yxz\right)}{2}\right)&#10;                \left(\frac{\left(xyz\right)+\left(yzx\right)+\left(zxy\right)}{3}\right)&#10;                \left(\frac{\left(xyz\right)+\left(\bar{x}y\bar{z}\right)}{2}\right)&#10;                \left(\frac{\left(xyz\right)+\left(x\bar{y}\bar{z}\right)}{2}\right)&#10;            \right]&#10;            \left( \Psi_{\mathtt{L}} \right)^{\dagger}\hat{U}_{u}\Psi_{\mathtt{R}}&#10;,\\&#10;    &amp;=&#10;        \sum_{u}\sum_{\mathtt{L}}\sum_{\mathtt{R}}&#10;            \left(&#10;                \frac{&#10;                    1 + \left(\alpha_{ \mathtt{L} }\alpha_{ k_{\mathtt{R}} }\alpha_{u}\right)^{\left(yzx\right)} &#10;                }&#10;                {2}&#10;            \right)&#10;            \left(\frac{ 1 + \omega^{\left(x\right)}\omega^{\left(z\right)} }{2}\right)&#10;            \left(\frac{ 1 + \omega^{\left(y\right)}\omega^{\left(z\right)} }{2}\right)&#10;            \int\mathrm{d}\bm{r}\, &#10;                \hat{U}_{u}&#10;                \left(\frac{\left(xyz\right)+\sigma_{\mathtt{U},u}\left(yxz\right)}{2}\right)&#10;                \left( \Psi_{ \mathtt{L} } \right)^{\dagger}\Psi_{ \mathtt{R} }&#10;,\\&#10;\end{align*}&#10;&#10;\end{document}" title="IguanaTex Bitmap Display">
            <a:extLst>
              <a:ext uri="{FF2B5EF4-FFF2-40B4-BE49-F238E27FC236}">
                <a16:creationId xmlns:a16="http://schemas.microsoft.com/office/drawing/2014/main" id="{C6AB01FE-DD93-46EC-9F55-DC511E58D4C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7380" y="2054340"/>
            <a:ext cx="10771498" cy="2538063"/>
          </a:xfrm>
          <a:prstGeom prst="rect">
            <a:avLst/>
          </a:prstGeom>
        </p:spPr>
      </p:pic>
      <p:pic>
        <p:nvPicPr>
          <p:cNvPr id="8" name="Picture 7" descr="\documentclass{article}&#10;\usepackage{amsmath,amssymb,bm,physics,mathtools}&#10;\pagestyle{empty}&#10;\begin{document}&#10;&#10;\begin{equation*}&#10;\omega^{\left(p\right)}&#10;    =&#10;        \omega_{\mathtt{L}}^{\left(p\right)}\omega_{\mathtt{R}}^{\left(p\right)}\omega_{u}^{\left(p\right)}&#10;\end{equation*}&#10;&#10;\end{document}" title="IguanaTex Bitmap Display">
            <a:extLst>
              <a:ext uri="{FF2B5EF4-FFF2-40B4-BE49-F238E27FC236}">
                <a16:creationId xmlns:a16="http://schemas.microsoft.com/office/drawing/2014/main" id="{F79A3DA4-333B-41BA-96BC-70907682395F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982" y="5303370"/>
            <a:ext cx="1655466" cy="262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8861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        &#10;        \sum_{ q=x,y,z }&#10;        \int\mathrm{d}\bm{r}\, &#10;            \left\{\Phi_{\mathtt{L}}^{\left(q\right)}\right\}^{\dagger}&#10;            \Theta_{ \Omega_{\mathtt{L}} }^{\left(-q\right)}&#10;            \hat{U}_{u}&#10;            \left[&#10;                \Phi_{\mathtt{R}}^{\left(q+1\right)} &#10;                \Theta_{ \Omega_{\mathtt{R}} }^{\left(q+1\right)}&#10;                +&#10;                \Phi_{\mathtt{R}}^{\left(q-1\right)} &#10;                \Theta_{ \Omega_{\mathtt{R}} }^{\left(q-1\right)}&#10;            \right]&#10;\end{align*}&#10;&#10;\end{document}" title="IguanaTex Bitmap Display">
            <a:extLst>
              <a:ext uri="{FF2B5EF4-FFF2-40B4-BE49-F238E27FC236}">
                <a16:creationId xmlns:a16="http://schemas.microsoft.com/office/drawing/2014/main" id="{FD7CDFEC-E470-4224-A3B3-DF9F80ADC12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06" y="2014292"/>
            <a:ext cx="5913598" cy="121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1132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x,y,z }&#10;                    \Phi_{ \mathtt{R}}^{\left(q_{\mathtt{R}}\right) } \Theta_{ \Omega_{\mathtt{R}} }^{\left(q_{\mathtt{R}}\right)}&#10;            \right\}&#10;,\\&#10;    &amp;= \mathcal{H}_{\parallel} + \mathcal{H}_{\perp}&#10;,\\&#10;\mathcal{H}_{\parallel}&#10;    &amp;=&#10;        \sum_{ q= p_{\mathtt{L}}-1,p_{\mathtt{L}}+1 }&#10;        \int\mathrm{d}\bm{r}\, &#10;            \left\{ \Phi_{ \mathtt{L}\left( T_{n}, p_{ \mathtt{L} }\right) 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= p_{\mathtt{L}}-1,p_{\mathtt{L}}+1 }&#10;        \sum_{ q_{\mathtt{R}}= q_{\mathtt{L}}-1,q_{\mathtt{L}}+1 }&#10;        \int\mathrm{d}\bm{r}\, &#10;            \left\{\Phi_{ \mathtt{L}\left( T_{n}, p_{ \mathtt{L} }\right) 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FF7A6610-431D-422F-A9F8-DF5517F08CF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16" y="2014291"/>
            <a:ext cx="6061101" cy="2813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1468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x,y,z  }&#10;                    \Phi_{ \mathtt{L} }^{ \left(q_{\mathtt{L}}\right) }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 p_{\mathtt{R}}-1,p_{\mathtt{R}}+1 }&#10;        \int\mathrm{d}\bm{r}\, &#10;            \left\{ \Phi_{\mathtt{L}}^{\left(q\right)} \right\}^{\dagger}&#10;            \hat{U}_{u}&#10;            \Phi_{ \mathtt{R}\left( T_{n}, p_{ \mathtt{R} }\right) }^{\left(q\right)}&#10;            \Theta_{ \Omega_{\mathtt{L}} }^{\left(-q\right)}\Theta_{ \Omega_{\mathtt{R}} }^{\left(q\right)}&#10;,\\&#10;\mathcal{H}_{\perp}&#10;    &amp;=        &#10;        \sum_{ q_{\mathtt{R}}= p_{\mathtt{R}}-1,p_{\mathtt{R}}+1 }&#10;        \sum_{ q_{\mathtt{L}}= q_{\mathtt{R}}-1,q_{\mathtt{R}}+1 }&#10;        \int\mathrm{d}\bm{r}\, &#10;            \left\{\Phi_{\mathtt{L}}^{\left(q_{\mathtt{L}}\right)}\right\}^{\dagger}&#10;            \hat{U}_{u}&#10;            \Phi_{ \mathtt{R}\left( T_{n}, p_{ \mathtt{R} }\right) 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55E88596-DACF-4F76-8451-4A6334189879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11" y="2014292"/>
            <a:ext cx="6061101" cy="2813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3170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 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x,y,z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 title="IguanaTex Bitmap Display">
            <a:extLst>
              <a:ext uri="{FF2B5EF4-FFF2-40B4-BE49-F238E27FC236}">
                <a16:creationId xmlns:a16="http://schemas.microsoft.com/office/drawing/2014/main" id="{C2AA61FA-79CD-4F5A-9836-6B52255FCA2D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7508" y="2014292"/>
            <a:ext cx="6785215" cy="2833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934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\kappa,p\right)_{u} }&#10;                     +&#10;                 \alpha_{ \left(\kappa,i\right)_{\mathtt{L}} }^{\left(yzx\right)}&#10;                 \alpha_{ \left(\kappa,i\right)_{\mathtt{R}} }^{\left(yzx\right)}&#10;                 \hat{U}_{ \left(\kappa,p+1\right)_{u} }&#10;                     +&#10;                 \alpha_{ \left(\kappa,i\right)_{\mathtt{L}} }^{\left(zxy\right)}&#10;                 \alpha_{ \left(\kappa,i\right)_{\mathtt{R}} }^{\left(zxy\right)}&#10;                 \hat{U}_{ \left(\kappa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919335B3-B8AE-49FC-9B66-DE8B7339C24C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3202" y="4298716"/>
            <a:ext cx="8345597" cy="45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7620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\documentclass{article}&#10;\usepackage{amsmath,amssymb,bm,physics,mathtools}&#10;\pagestyle{empty}&#10;\begin{document}&#10;&#10;\begin{align*}&#10;\mathcal{H}_{\parallel}&#10;    &amp;=&#10;        \int\mathrm{d}\bm{r}\,&#10;            \hat{U}_{u, \left(\kappa, i\right)_{\mathtt{L}} \left(\kappa,i\right)_{\mathtt{R}} }&#10;            \left\{ \Phi_{\mathtt{L}}^{\left(z\right)} \right\}^{\dagger}\Phi_{\mathtt{R}}^{\left(z\right)}&#10;            \Theta_{ \Omega_{\mathtt{L}} }^{\left(-z\right)}\Theta_{ \Omega_{\mathtt{R}} }^{\left(+z\right)}&#10;,\\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u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DB9F8F5C-9693-4949-8241-4DB91E38406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10097" y="621712"/>
            <a:ext cx="7612948" cy="993528"/>
          </a:xfrm>
          <a:prstGeom prst="rect">
            <a:avLst/>
          </a:prstGeom>
        </p:spPr>
      </p:pic>
      <p:pic>
        <p:nvPicPr>
          <p:cNvPr id="9" name="Picture 8" descr="\documentclass{article}&#10;\usepackage{amsmath,amssymb,bm,physics,mathtools}&#10;\pagestyle{empty}&#10;\begin{document}&#10;&#10;\begin{align*}&#10;\left(yzx\right)U_{\left(A_{n},0\right)} &amp;= U_{\left(A_{n},0\right)} ,\\&#10;\left(zxy\right)U_{\left(A_{n},0\right)} &amp;= U_{\left(A_{n},0\right)} ,\\&#10;\left(yzx\right)U_{\left(E,0\right)} &amp;= \tau^{2}U_{\left(E,0\right)} ,\\&#10;\left(zxy\right)U_{\left(E,0\right)} &amp;= \tau U_{\left(E,0\right)} ,\\&#10;\left(yzx\right)U_{\left(E,1\right)} &amp;= \tau U_{\left(E,1\right)} ,\\&#10;\left(zxy\right)U_{\left(E,1\right)} &amp;= \tau^{2}U_{\left(E,1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BAB654ED-4482-4382-BDB1-39B2B07C2135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19" y="3088643"/>
            <a:ext cx="2163808" cy="1791999"/>
          </a:xfrm>
          <a:prstGeom prst="rect">
            <a:avLst/>
          </a:prstGeom>
        </p:spPr>
      </p:pic>
      <p:pic>
        <p:nvPicPr>
          <p:cNvPr id="11" name="Picture 10" descr="\documentclass{article}&#10;\usepackage{amsmath,amssymb,bm,physics,mathtools}&#10;\pagestyle{empty}&#10;\begin{document}&#10;&#10;\begin{align*}&#10;\left(yzx\right)U_{\left(T_{n},x\right)} &amp;= U_{\left(T_{n},y\right)} ,\\&#10;\left(zxy\right)U_{\left(T_{n},x\right)} &amp;= U_{\left(T_{n},z\right)} ,\\&#10;\left(yzx\right)U_{\left(T_{n},y\right)} &amp;= U_{\left(T_{n},z\right)} ,\\&#10;\left(zxy\right)U_{\left(T_{n},y\right)} &amp;= U_{\left(T_{n},x\right)} ,\\&#10;\left(yzx\right)U_{\left(T_{n},z\right)} &amp;= U_{\left(T_{n},x\right)} ,\\&#10;\left(zxy\right)U_{\left(T_{n},z\right)} &amp;= U_{\left(T_{n},y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BACF08FA-0A81-4B47-A0A0-2D193FC02A08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237" y="3088641"/>
            <a:ext cx="2027275" cy="1742018"/>
          </a:xfrm>
          <a:prstGeom prst="rect">
            <a:avLst/>
          </a:prstGeom>
        </p:spPr>
      </p:pic>
      <p:pic>
        <p:nvPicPr>
          <p:cNvPr id="22" name="Picture 21" descr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T_{n},p\right)_{u} }&#10;                     +&#10;                 \alpha_{ \left(T_{n},i\right)_{\mathtt{L}} }^{\left(yzx\right)}&#10;                 \alpha_{ \left(T_{n},i\right)_{\mathtt{R}} }^{\left(yzx\right)}&#10;                 \hat{U}_{ \left(T_{n},p+1\right)_{u} }&#10;                     +&#10;                 \alpha_{ \left(T_{n},i\right)_{\mathtt{L}} }^{\left(zxy\right)}&#10;                 \alpha_{ \left(T_{n},i\right)_{\mathtt{R}} }^{\left(zxy\right)}&#10;                 \hat{U}_{ \left(T_{n}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DC31E9CE-1035-494E-91F4-EDFB006AD9C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4584" y="5481264"/>
            <a:ext cx="9046550" cy="457145"/>
          </a:xfrm>
          <a:prstGeom prst="rect">
            <a:avLst/>
          </a:prstGeom>
        </p:spPr>
      </p:pic>
      <p:pic>
        <p:nvPicPr>
          <p:cNvPr id="20" name="Picture 19" descr="\documentclass{article}&#10;\usepackage{amsmath,amssymb,bm,physics,mathtools}&#10;\pagestyle{empty}&#10;\begin{document}&#10;&#10;\begin{align*}&#10;\mathcal{H}_{\parallel}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 \left(A_{n}\slash E,i\right)_{u} 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B9537F2C-862E-4063-B2AB-A1B126DA9823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97" y="1834423"/>
            <a:ext cx="8274890" cy="45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0388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\documentclass{article}&#10;\usepackage{amsmath,amssymb,bm,physics,mathtools}&#10;\pagestyle{empty}&#10;\begin{document}&#10;&#10;\begin{align*}&#10;\hat{U}_{u, \left(\kappa, i\right)_{\mathtt{L}} \left(\kappa,i\right)_{\mathtt{R}} }&#10;    &amp;=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\end{align*}&#10;&#10;\end{document}" title="IguanaTex Bitmap Display">
            <a:extLst>
              <a:ext uri="{FF2B5EF4-FFF2-40B4-BE49-F238E27FC236}">
                <a16:creationId xmlns:a16="http://schemas.microsoft.com/office/drawing/2014/main" id="{6AD9F905-A30D-4977-8BB4-CF6F2DCB78E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363" y="1339009"/>
            <a:ext cx="5758781" cy="326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8002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&#10;        \int\mathrm{d}\bm{r}\,&#10;            \left\{ &#10;                 \left(xyz\right)&#10;                 \left[&#10;                     \left\{ \Phi_{\mathtt{L}}^{\left(y\right)} \right\}^{\dagger}&#10;                     \hat{U}_{u}&#10;                     \Phi_{\mathtt{R}}^{\left(x\right)}&#10;                 \right]&#10;                     +&#10;                 \left(yzx\right)&#10;                 \left[&#10;                     \left\{ \Phi_{\mathtt{L}}^{\left(x\right)} \right\}^{\dagger}&#10;                     \hat{U}_{u}&#10;                     \Phi_{\mathtt{R}}^{\left(z\right)}&#10;                 \right]&#10;                     +&#10;                 \left(zxy\right)&#10;                 \left[&#10;                     \left\{ \Phi_{\mathtt{L}}^{\left(z\right)} \right\}^{\dagger}&#10;                     \hat{U}_{u}&#10;                     \Phi_{\mathtt{R}}^{\left(y\right)}&#10;                 \right]&#10;                     +&#10;                 \left(yxz\right)&#10;                 \left[&#10;                     \left\{ \Phi_{\mathtt{L}}^{\left(x\right)} \right\}^{\dagger}&#10;                     \hat{U}_{u}&#10;                     \Phi_{\mathtt{R}}^{\left(y\right)}&#10;                 \right]&#10;                     +&#10;                 \left(xzy\right)&#10;                 \left[&#10;                     \left\{ \Phi_{\mathtt{L}}^{\left(z\right)} \right\}^{\dagger}&#10;                     \hat{U}_{u}&#10;                     \Phi_{\mathtt{R}}^{\left(x\right)}&#10;                 \right]&#10;                     +&#10;                 \left(zyx\right)&#10;                 \left[&#10;                     \left\{ \Phi_{\mathtt{L}}^{\left(y\right)} \right\}^{\dagger}&#10;                     \hat{U}_{u}&#10;                     \Phi_{\mathtt{R}}^{\left(z\right)}&#10;                 \right]&#10;            \right\}&#10;            \Theta_{ \Omega_{\mathtt{L}} }^{\left(-y\right)}\Theta_{ \Omega_{\mathtt{R}} }^{\left(+x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F78B39E7-0C8C-4D80-ACC5-2ED7326805C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3985" y="1339009"/>
            <a:ext cx="16347427" cy="1156880"/>
          </a:xfrm>
          <a:prstGeom prst="rect">
            <a:avLst/>
          </a:prstGeom>
        </p:spPr>
      </p:pic>
      <p:pic>
        <p:nvPicPr>
          <p:cNvPr id="12" name="Picture 11" descr="\documentclass{article}&#10;\usepackage{amsmath,amssymb,bm,physics,mathtools}&#10;\pagestyle{empty}&#10;\begin{document}&#10;&#10;\begin{align*}&#10;\left(yzx\right)f_{\left(A_{n},0\right)} &amp;= f_{\left(A_{n},0\right)} ,\\&#10;\left(zxy\right)f_{\left(A_{n},0\right)} &amp;= f_{\left(A_{n},0\right)} ,\\&#10;\left(yzx\right)f_{\left(E,0\right)} &amp;= \tau^{2}f_{\left(E,0\right)} ,\\&#10;\left(zxy\right)f_{\left(E,0\right)} &amp;= \tau f_{\left(E,0\right)} ,\\&#10;\left(yzx\right)f_{\left(E,1\right)} &amp;= \tau f_{\left(E,1\right)} ,\\&#10;\left(zxy\right)f_{\left(E,1\right)} &amp;= \tau^{2}f_{\left(E,1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0D12C569-F1C8-4AB4-9F7F-D216D7009DE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7119" y="3088642"/>
            <a:ext cx="2085790" cy="1791999"/>
          </a:xfrm>
          <a:prstGeom prst="rect">
            <a:avLst/>
          </a:prstGeom>
        </p:spPr>
      </p:pic>
      <p:pic>
        <p:nvPicPr>
          <p:cNvPr id="15" name="Picture 14" descr="\documentclass{article}&#10;\usepackage{amsmath,amssymb,bm,physics,mathtools}&#10;\pagestyle{empty}&#10;\begin{document}&#10;&#10;\begin{align*}&#10;\left(yzx\right)f_{\left(T_{n},x\right)} &amp;= f_{\left(T_{n},y\right)} ,\\&#10;\left(zxy\right)f_{\left(T_{n},x\right)} &amp;= f_{\left(T_{n},z\right)} ,\\&#10;\left(yzx\right)f_{\left(T_{n},y\right)} &amp;= f_{\left(T_{n},z\right)} ,\\&#10;\left(zxy\right)f_{\left(T_{n},y\right)} &amp;= f_{\left(T_{n},x\right)} ,\\&#10;\left(yzx\right)f_{\left(T_{n},z\right)} &amp;= f_{\left(T_{n},x\right)} ,\\&#10;\left(zxy\right)f_{\left(T_{n},z\right)} &amp;= f_{\left(T_{n},y\right)} ,\\&#10;\end{align*}&#10;&#10;\end{document}" title="IguanaTex Bitmap Display">
            <a:extLst>
              <a:ext uri="{FF2B5EF4-FFF2-40B4-BE49-F238E27FC236}">
                <a16:creationId xmlns:a16="http://schemas.microsoft.com/office/drawing/2014/main" id="{5A291AD9-EEA9-49A1-8891-F73615707CEE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7237" y="3088641"/>
            <a:ext cx="1949256" cy="1742018"/>
          </a:xfrm>
          <a:prstGeom prst="rect">
            <a:avLst/>
          </a:prstGeom>
        </p:spPr>
      </p:pic>
      <p:pic>
        <p:nvPicPr>
          <p:cNvPr id="3" name="Picture 2" descr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u}&#10;                     +&#10;                 \tilde{\alpha}_{ \left(\kappa,i\right)_{\mathtt{L}} }^{\left(yzx\right)}&#10;                 \alpha_{ \left(\kappa,i\right)_{\mathtt{R}} }^{\left(yzx\right)}&#10;                 \left(yzx\right)\hat{U}_{u}&#10;                     +&#10;                 \tilde{\alpha}_{ \left(\kappa,i\right)_{\mathtt{L}} }^{\left(zxy\right)}&#10;                 \alpha_{ \left(\kappa,i\right)_{\mathtt{R}} }^{\left(zxy\right)}&#10;                 \left(zxy\right)\hat{U}_{u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 title="IguanaTex Bitmap Display">
            <a:extLst>
              <a:ext uri="{FF2B5EF4-FFF2-40B4-BE49-F238E27FC236}">
                <a16:creationId xmlns:a16="http://schemas.microsoft.com/office/drawing/2014/main" id="{7756944D-837E-4129-9288-1EA9610AB8D3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8497" y="5233974"/>
            <a:ext cx="7975007" cy="457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0845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39.9325"/>
  <p:tag name="ORIGINALWIDTH" val="5605.549"/>
  <p:tag name="OUTPUTTYPE" val="PNG"/>
  <p:tag name="IGUANATEXVERSION" val="159"/>
  <p:tag name="LATEXADDIN" val="\documentclass{article}&#10;\usepackage{amsmath,bm}&#10;\pagestyle{empty}&#10;\begin{document}&#10;&#10;\begin{align*}&#10;\hat{\mathcal{R}}_{W\kappa;lk;\eta\lambda\left\{r\chi\right\}}^{\left(s\right)}&#10;&amp; =&#10;\left(\frac{2\vartheta_{\lambda\left\{\chi\right\}}}{Wa_{0}\eta}\right)^{\frac{3}{2}}&#10;\left[&#10;\sqrt{W}&#10;\rho^{\frac{l}{W}-\kappa\delta_{W,1}-\delta_{s,-1}}\mathrm{e}^{-\rho/2}&#10;\sum_{v=-2\kappa}^{\kappa+\delta_{s,-1}}&#10;h_{\kappa;lk}^{(s,v)}&#10;\hat{L}_{\left[k+v\right]\left\{\rho\right\}}^{\left(\frac{2}{W}\left(l+\frac{1}{W}\right)+\kappa-\delta_{s,-1}\right)}&#10;\right|_{\rho \rightarrow \left(\frac{2r\vartheta_{\lambda\left\{\chi\right\}}}{Wa_{0}\eta}\right)^{W}}&#10;\end{align*}&#10;&#10;\end{document}"/>
  <p:tag name="IGUANATEXSIZE" val="20"/>
  <p:tag name="IGUANATEXCURSOR" val="445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353.2058"/>
  <p:tag name="ORIGINALWIDTH" val="4524.185"/>
  <p:tag name="OUTPUTTYPE" val="PNG"/>
  <p:tag name="IGUANATEXVERSION" val="159"/>
  <p:tag name="LATEXADDIN" val="\documentclass{article}&#10;\usepackage{amsmath,bm,eufrak}&#10;\pagestyle{empty}&#10;\begin{document}&#10;&#10;\begin{equation*}&#10;\hat{\phi}_{W\kappa; m\zeta lk; \eta\lambda \left\{r\chi\phi\right\} }^{(p)}&#10;= &#10;\left(\frac{\hbar^{2}}{2m_{0}a_{0}^{2}\eta^{2}}\right)^{\kappa}&#10;\hat{Q}_{m\zeta\left\{\phi_{p}\right\}}&#10;\sum_{s=-\kappa}^{+\kappa}&#10;\mathfrak{H}_{\kappa;lm;\lambda}^{\left(s\right)}&#10;\hat{\mathcal{P}}_{\left[l+2s\right]m;\lambda\left\{\chi_{p}\right\}}&#10;\hat{\mathcal{R}}_{W\kappa;lk;\eta\lambda\left\{r\chi_{p}\right\}}^{\left(s\right)}&#10;\end{equation*}&#10;&#10;\end{document}"/>
  <p:tag name="IGUANATEXSIZE" val="20"/>
  <p:tag name="IGUANATEXCURSOR" val="40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331.084"/>
  <p:tag name="ORIGINALWIDTH" val="2693.663"/>
  <p:tag name="OUTPUTTYPE" val="PNG"/>
  <p:tag name="IGUANATEXVERSION" val="159"/>
  <p:tag name="LATEXADDIN" val="\documentclass{article}&#10;\usepackage{amsmath,amssymb,bm,eufrak}&#10;\pagestyle{empty}&#10;\begin{document}&#10;&#10;\begin{align*}&#10;\vartheta_{\lambda\left\{\chi\right\}}&#10;&amp; =&#10;\sqrt{1 + \left(\lambda^2-1\right)\chi^2}&#10;\\&#10;\varkappa_{\lambda\left\{\chi\right\}}&#10;&amp; =&#10;\frac{\lambda \chi}{\vartheta_{\lambda\left\{\chi\right\}}}&#10;\\&#10;\hat{\mathcal{P}}_{lm;\lambda\left\{\chi\right\}}&#10;&amp; = &#10;\sqrt{\frac{\lambda}{\vartheta_{\lambda\left\{\chi\right\}}^{3}}}&#10;\sqrt{\frac{(2l+1)\left(l-m\right)!}{2\left(l+m\right)!}}&#10;P_{lm\left\{\varkappa_{\lambda\left\{\chi\right\}}\right\}}&#10;\\&#10;\hat{Q}_{m\zeta\left\{\phi\right\}}&#10;&amp; = &#10;\frac{1}{\sqrt{2\pi}}&#10;\left(\frac{\mathrm{e}^{\mathrm{i}m \phi}+ \zeta\mathrm{e}^{-\mathrm{i}m \phi}}&#10;{2\delta_{m0} + \sqrt{2}\left(1-\delta_{m0}\right)}\right)&#10;\end{align*}&#10;&#10;\end{document} "/>
  <p:tag name="IGUANATEXSIZE" val="20"/>
  <p:tag name="IGUANATEXCURSOR" val="66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60.6299"/>
  <p:tag name="ORIGINALWIDTH" val="1259.093"/>
  <p:tag name="LATEXADDIN" val="\documentclass{article}&#10;\usepackage{amsmath,bm,eufrak}&#10;\pagestyle{empty}&#10;\begin{document}&#10;&#10;\begin{align*}&#10;\chi_{x}   &amp;= \frac{x}{r} = \sin(\theta)\cos(\phi) \\&#10;\chi_{y}   &amp;= \frac{y}{r} = \sin(\theta)\sin(\phi) \\&#10;\chi_{z}   &amp;= \frac{z}{r} = \cos(\theta) \\&#10;\phi_{q_1} &amp;= \operatorname{Arg}\left(\chi_{q_2} \pm \mathrm{i}\chi_{q_3}\right)&#10;\end{align*}&#10;&#10;\end{document} "/>
  <p:tag name="IGUANATEXSIZE" val="20"/>
  <p:tag name="IGUANATEXCURSOR" val="27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02.9246"/>
  <p:tag name="ORIGINALWIDTH" val="782.9021"/>
  <p:tag name="LATEXADDIN" val="\documentclass{article}&#10;\usepackage{amsmath,bm}&#10;\pagestyle{empty}&#10;\begin{document}&#10;&#10;\begin{tabular}{c|cc}&#10;$q_1$ &amp; $q_2$ &amp; $q_3$ \\ \hline&#10;$x$   &amp; $y$   &amp; $z$ \\&#10;$y$   &amp; $z$   &amp; $x$ \\&#10;$z$   &amp; $x$   &amp; $y$ \\&#10;\end{tabular}&#10;&#10;\end{document}"/>
  <p:tag name="IGUANATEXSIZE" val="20"/>
  <p:tag name="IGUANATEXCURSOR" val="200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616.798"/>
  <p:tag name="OUTPUTTYPE" val="PNG"/>
  <p:tag name="IGUANATEXVERSION" val="159"/>
  <p:tag name="LATEXADDIN" val="\documentclass{article}&#10;\usepackage{amsmath,bm}&#10;\pagestyle{empty}&#10;\begin{document}&#10;&#10;\begin{align*}&#10;h_{\kappa;lk}^{\left(s,v\right)}&#10;&amp; =&#10;\left(1-\kappa\right)\delta_{s0}\delta_{v0} + \kappa g_{lk,v}^{(s)}&#10;\\&#10;\end{align*}&#10;&#10;\end{document}"/>
  <p:tag name="IGUANATEXSIZE" val="20"/>
  <p:tag name="IGUANATEXCURSOR" val="129"/>
  <p:tag name="TRANSPARENCY" val="Fals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9.2126"/>
  <p:tag name="ORIGINALWIDTH" val="941.1324"/>
  <p:tag name="LATEXADDIN" val="\documentclass{article}&#10;\usepackage{amsmath,bm,eufrak}&#10;\pagestyle{empty}&#10;\begin{document}&#10;&#10;\begin{align*}&#10;\alpha&#10;=&#10;\frac{2}{W}\left(l+\frac{1}{W}\right)&#10;\end{align*}&#10;&#10;\end{document}"/>
  <p:tag name="IGUANATEXSIZE" val="14"/>
  <p:tag name="IGUANATEXCURSOR" val="133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60.105"/>
  <p:tag name="ORIGINALWIDTH" val="2294.713"/>
  <p:tag name="LATEXADDIN" val="\documentclass{article}&#10;\usepackage{amsmath,bm,amssymb}&#10;\pagestyle{empty}&#10;\begin{document}&#10;&#10;\begin{align*}&#10;\mathfrak{Y}^{(0)}_{lm}&#10;&amp; =&#10;\frac{&#10;2l^2-2m^2+2l-1&#10;}{&#10;(2l-1)(2l+3)&#10;}  \\&#10;\mathfrak{Y}^{(-1)}_{lm}&#10;&amp; =&#10;\sqrt{\frac{&#10;\left((l-1)^2-m^2\right)&#10;\left(l^2-m^2\right)&#10;}{&#10;(2l-3)(2l-1)^{2}(2l+1)&#10;}}&#10;\\&#10;\mathfrak{Y}^{(+1)}_{lm}&#10;&amp; =&#10;\sqrt{\frac{&#10;\left((l+1)^2-m^2\right)&#10;\left((l+2)^2-m^2\right)&#10;}{&#10;(2l+1)(2l+3)^{2}(2l+5)&#10;}}&#10;\\&#10;\end{align*}&#10;&#10;\end{document}"/>
  <p:tag name="IGUANATEXSIZE" val="20"/>
  <p:tag name="IGUANATEXCURSOR" val="47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4.4769"/>
  <p:tag name="ORIGINALWIDTH" val="1759.28"/>
  <p:tag name="OUTPUTTYPE" val="PNG"/>
  <p:tag name="IGUANATEXVERSION" val="159"/>
  <p:tag name="LATEXADDIN" val="\documentclass{article}&#10;\usepackage{amsmath,bm,eufrak}&#10;\pagestyle{empty}&#10;\begin{document}&#10;&#10;\begin{equation*}&#10;\mathfrak{H}^{(s)}_{\kappa;\lambda;lm}&#10;= &#10;\delta_{s,0}-\kappa\left(1-\gamma\lambda^{2}\right)\mathfrak{Y}_{lm}^{(s)}&#10;\end{equation*}&#10;&#10;\end{document}"/>
  <p:tag name="IGUANATEXSIZE" val="20"/>
  <p:tag name="IGUANATEXCURSOR" val="12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+1)}&#10;=&#10;-\sqrt{(k-1)k(k+\alpha)}&#10;\\&#10;g_{lk,-1}^{(+1)}&#10;=&#10;-\sqrt{k}\left(k+2\alpha+5-2\delta_{W,2}\right)&#10;\\&#10;g_{lk,0}^{(+1)}&#10;=&#10;\sqrt{k+\alpha+1}&#10;\left(k-\alpha-4+2\delta_{W,2}\right)&#10;\\&#10;g_{lk,+1}^{(+1)}&#10;=&#10;\sqrt{(k+1)(k+1+\alpha)(k+2+\alpha)}&#10;\\&#10;\end{gather*}&#10;&#10;\end{document}"/>
  <p:tag name="IGUANATEXSIZE" val="13"/>
  <p:tag name="IGUANATEXCURSOR" val="289"/>
  <p:tag name="TRANSPARENCY" val="Fals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87.1392"/>
  <p:tag name="ORIGINALWIDTH" val="2201.725"/>
  <p:tag name="LATEXADDIN" val="\documentclass{article}&#10;\usepackage{amsmath,bm,eufrak}&#10;\pagestyle{empty}&#10;\begin{document}&#10;&#10;\begin{gather*}&#10;g_{lk,-2}^{(0)}&#10;=&#10;-\sqrt{(k-1)k(k+\alpha)}&#10;\\&#10;g_{lk,-1}^{(0)}&#10;=&#10;-\sqrt{k}\left(k+3-2\delta_{W,2}\right)&#10;\\&#10;g_{lk,0}^{(0)}&#10;=&#10;\sqrt{k+\alpha+1}&#10;\left(k+\alpha-2+2\delta_{W,2}\right)&#10;\\&#10;g_{lk,+1}^{(0)}&#10;=&#10;\sqrt{(k+1)(k+1+\alpha)(k+2+\alpha)}&#10;\\&#10;\end{gather*}&#10;&#10;\end{document}"/>
  <p:tag name="IGUANATEXSIZE" val="13"/>
  <p:tag name="IGUANATEXCURSOR" val="278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21.86"/>
  <p:tag name="ORIGINALWIDTH" val="4209.224"/>
  <p:tag name="LATEXADDIN" val="\documentclass{article}&#10;\usepackage{amsmath,bm,eufrak}&#10;\pagestyle{empty}&#10;\begin{document}&#10;&#10;\begin{gather*}&#10;g_{lk,-2}^{(-1)}&#10;=&#10;-\sqrt{(k-1)k(k-1+\alpha)(k+\alpha)}&#10;\\&#10;g_{lk,-1}^{(-1)}&#10;=&#10;2\sqrt{k(k+\alpha)}\left(\alpha-2-3\delta_{W,2}\right)&#10;\\&#10;g_{lk,0}^{(-1)}&#10;=&#10;2k^{2}-4\left(\alpha-1+\delta_{W,2}\right)\left(\alpha-3+2\delta_{W,2}\right)+(\alpha+1)(2k+3\alpha-8+6\delta_{W,2})&#10;\\&#10;g_{lk,+1}^{(-1)}&#10;=&#10;-2\sqrt{(k+1)(k+1+\alpha)}\left(\alpha-5+3\delta_{W,2}\right)&#10;\\&#10;g_{lk,+2}^{(-1)}&#10;=&#10;-\sqrt{(k+1)(k+2)(k+1+\alpha)(k+2+\alpha)}&#10;\end{gather*}&#10;&#10;\end{document}"/>
  <p:tag name="IGUANATEXSIZE" val="13"/>
  <p:tag name="IGUANATEXCURSOR" val="231"/>
  <p:tag name="TRANSPARENCY" val="True"/>
  <p:tag name="FILENAME" val=""/>
  <p:tag name="LATEXENGINEID" val="0"/>
  <p:tag name="TEMPFOLDER" val="c:\temp\"/>
  <p:tag name="LATEXFORMHEIGHT" val="463"/>
  <p:tag name="LATEXFORMWIDTH" val="938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1.9723"/>
  <p:tag name="ORIGINALWIDTH" val="3490.813"/>
  <p:tag name="OUTPUTTYPE" val="PNG"/>
  <p:tag name="IGUANATEXVERSION" val="159"/>
  <p:tag name="LATEXADDIN" val="\documentclass{article}&#10;\usepackage{amsmath,bm,eufrak}&#10;\pagestyle{empty}&#10;\begin{document}&#10;&#10;\begin{align*}&#10;\hat{\Phi}_{W\kappa; \parallel_{0}; \sigma\omega; mlk; \eta\lambda \left\{r\chi\phi\right\} }^{(p)}&#10;&amp; = &#10;    \hat{\phi}_{W\kappa; m\left[\sigma\left(-1\right)^{m}\right]lk; \eta\lambda \left\{r\chi\phi\right\} }^{(p)}&#10;    \hat{\Theta}_{\sigma\omega\left(-1\right)^{l+\frac{m}{2}}\left\{r\chi\phi\right\}}^{(p)}&#10;\end{align*}&#10;&#10;\end{document}"/>
  <p:tag name="IGUANATEXSIZE" val="20"/>
  <p:tag name="IGUANATEXCURSOR" val="275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01.9498"/>
  <p:tag name="ORIGINALWIDTH" val="4968.129"/>
  <p:tag name="OUTPUTTYPE" val="PNG"/>
  <p:tag name="IGUANATEXVERSION" val="159"/>
  <p:tag name="LATEXADDIN" val="\documentclass{article}&#10;\usepackage{amsmath,bm,eufrak}&#10;\pagestyle{empty}&#10;\begin{document}&#10;&#10;\begin{align*}&#10;\hat{\Phi}_{W\kappa; \parallel_{1}; \sigma\omega; mlk; \eta\lambda \left\{r\chi\phi\right\} }^{\left(p_{0}\right)}&#10;&amp; = &#10;    \left[&#10;        \left[&#10;            \hat{\phi}_{ \left[\zeta=\left(-1\right)^{l}\right] }^{\left(p_{1}\right)}&#10;            +&#10;            \sigma\left(-1\right)^{l+m}\mathrm{i}^{+m}&#10;            \hat{\phi}_{ \left[\zeta=\left(-1\right)^{l+m}\right] }^{\left(p_{2}\right)}&#10;        \right]_{ W\kappa; mlk; \eta\lambda }&#10;        \hat{\Theta}_{\omega\left(-1\right)^{m}}^{\left(p_{0}\right)}&#10;    \right]_{ \left\{r\chi\phi\right\} }&#10;\end{align*}&#10;&#10;\end{document}"/>
  <p:tag name="IGUANATEXSIZE" val="20"/>
  <p:tag name="IGUANATEXCURSOR" val="627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4.6606"/>
  <p:tag name="ORIGINALWIDTH" val="3275.591"/>
  <p:tag name="OUTPUTTYPE" val="PNG"/>
  <p:tag name="IGUANATEXVERSION" val="159"/>
  <p:tag name="LATEXADDIN" val="\documentclass{article}&#10;\usepackage{amsmath,bm,eufrak}&#10;\pagestyle{empty}&#10;\begin{document}&#10;&#10;\begin{align*}&#10;\hat{\Psi}_{W\kappa; \aleph; \left(A_{1},0\right); mlk; \eta\lambda \left\{r\chi\phi\right\} }&#10;&amp; = &#10;    \frac{1}{3}&#10;    \sum_{p=x,y,z}&#10;        \hat{\Phi}_{W\kappa; \aleph; [+1][+1]; mlk; \eta\lambda \left\{r\chi\phi\right\} }^{(p)}&#10;\\&#10;\hat{\Psi}_{W\kappa; \aleph; \left(A_{2},0\right); mlk; \eta\lambda \left\{r\chi\phi\right\} }&#10;&amp; = &#10;    \frac{1}{3}&#10;    \sum_{p=x,y,z}&#10;        \hat{\Phi}_{W\kappa; \aleph; [-1][+1]; mlk; \eta\lambda \left\{r\chi\phi\right\} }^{(p)}&#10;\\&#10;\end{align*}&#10;&#10;\end{document}"/>
  <p:tag name="IGUANATEXSIZE" val="20"/>
  <p:tag name="IGUANATEXCURSOR" val="390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96.1754"/>
  <p:tag name="ORIGINALWIDTH" val="5817.023"/>
  <p:tag name="OUTPUTTYPE" val="PNG"/>
  <p:tag name="IGUANATEXVERSION" val="159"/>
  <p:tag name="LATEXADDIN" val="\documentclass{article}&#10;\usepackage{amsmath,bm,eufrak}&#10;\pagestyle{empty}&#10;\begin{document}&#10;&#10;\begin{align*}&#10;\hat{\Psi}_{W\kappa; \aleph; \left(E,0\right); mlk\sigma; \eta\lambda \left\{r\chi\phi\right\} }&#10;&amp; = &#10;    \frac{1}{3}&#10;        \hat{\Phi}_{W\kappa; \aleph; \sigma[+1]; mlk; \eta\lambda \left\{r\chi\phi\right\} }^{(z)}&#10;    +&#10;    \frac{\tau}{3}&#10;        \hat{\Phi}_{W\kappa; \aleph; \sigma[+1]; mlk; \eta\lambda \left\{r\chi\phi\right\} }^{(x)}&#10;    +&#10;    \frac{\tau^{2}}{3}&#10;        \hat{\Phi}_{W\kappa; \aleph; \sigma[+1]; mlk; \eta\lambda \left\{r\chi\phi\right\} }^{(y)}&#10;\\&#10;\hat{\Psi}_{W\kappa; \aleph; \left(E,1\right); mlk\sigma; \eta\lambda \left\{r\chi\phi\right\} }&#10;&amp; = &#10;    \frac{1}{3}&#10;        \hat{\Phi}_{W\kappa; \aleph; \sigma[+1]; mlk; \eta\lambda \left\{r\chi\phi\right\} }^{(z)}&#10;    +&#10;    \frac{\tau^{2}}{3}&#10;        \hat{\Phi}_{W\kappa; \aleph; \sigma[+1]; mlk; \eta\lambda \left\{r\chi\phi\right\} }^{(x)}&#10;    +&#10;    \frac{\tau}{3}&#10;        \hat{\Phi}_{W\kappa; \aleph; \sigma[+1]; mlk; \eta\lambda \left\{r\chi\phi\right\} }^{(y)}&#10;\\&#10;\end{align*}&#10;&#10;\end{document}"/>
  <p:tag name="IGUANATEXSIZE" val="20"/>
  <p:tag name="IGUANATEXCURSOR" val="634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37.9453"/>
  <p:tag name="ORIGINALWIDTH" val="2780.652"/>
  <p:tag name="OUTPUTTYPE" val="PNG"/>
  <p:tag name="IGUANATEXVERSION" val="159"/>
  <p:tag name="LATEXADDIN" val="\documentclass{article}&#10;\usepackage{amsmath,bm,eufrak}&#10;\pagestyle{empty}&#10;\begin{document}&#10;&#10;\begin{align*}&#10;\hat{\Psi}_{W\kappa; \aleph; \left(T_{1},p\right); mlk; \eta\lambda \left\{r\chi\phi\right\} }&#10;&amp; = &#10;    \hat{\Phi}_{W\kappa; \aleph; [-1][-1]; mlk; \eta\lambda \left\{r\chi\phi\right\} }^{(p)}&#10;\\&#10;\hat{\Psi}_{W\kappa; \aleph; \left(T_{2},p\right); mlk; \eta\lambda \left\{r\chi\phi\right\} }&#10;&amp; = &#10;    \hat{\Phi}_{W\kappa; \aleph; [+1][-1]; mlk; \eta\lambda \left\{r\chi\phi\right\} }^{(p)}&#10;\\&#10;\end{align*}&#10;&#10;\end{document}"/>
  <p:tag name="IGUANATEXSIZE" val="20"/>
  <p:tag name="IGUANATEXCURSOR" val="441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90.9636"/>
  <p:tag name="ORIGINALWIDTH" val="1566.554"/>
  <p:tag name="OUTPUTTYPE" val="PNG"/>
  <p:tag name="IGUANATEXVERSION" val="159"/>
  <p:tag name="LATEXADDIN" val="\documentclass{article}&#10;\usepackage{amsmath,bm,eufrak}&#10;\pagestyle{empty}&#10;\begin{document}&#10;&#10;\begin{align*}&#10;\hat{\Psi}_{ \mathtt{I}\left\{r\chi\phi\right\} }&#10;&amp; = &#10;\sum_{p = z,x,y}&#10;    \alpha_{\mathtt{I}}^{\left(p\right)}&#10;    \hat{\Phi}_{ \mathtt{I}\left\{r\chi\phi\right\} }^{(p)}&#10;\end{align*}&#10;&#10;\end{document}"/>
  <p:tag name="IGUANATEXSIZE" val="20"/>
  <p:tag name="IGUANATEXCURSOR" val="176"/>
  <p:tag name="TRANSPARENCY" val="True"/>
  <p:tag name="FILENAME" val=""/>
  <p:tag name="LATEXENGINEID" val="0"/>
  <p:tag name="TEMPFOLDER" val="C:\iguanatex\"/>
  <p:tag name="LATEXFORMHEIGHT" val="463"/>
  <p:tag name="LATEXFORMWIDTH" val="938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911.886"/>
  <p:tag name="OUTPUTTYPE" val="PNG"/>
  <p:tag name="IGUANATEXVERSION" val="159"/>
  <p:tag name="LATEXADDIN" val="\documentclass{article}&#10;\usepackage{amsmath,amssymb,bm,physics,mathtools}&#10;\pagestyle{empty}&#10;\begin{document}&#10;&#10;\begin{equation*}&#10;    \bm{\alpha}_{\left(A_{n},0\right)}&#10;        =&#10;    \frac{1}{3}&#10;    \begin{pmatrix}&#10;        1 \\ 1 \\ 1&#10;    \end{pmatrix}&#10;\end{equation*}&#10;&#10;\end{document}"/>
  <p:tag name="IGUANATEXSIZE" val="16"/>
  <p:tag name="IGUANATEXCURSOR" val="15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914.8856"/>
  <p:tag name="OUTPUTTYPE" val="PNG"/>
  <p:tag name="IGUANATEXVERSION" val="159"/>
  <p:tag name="LATEXADDIN" val="\documentclass{article}&#10;\usepackage{amsmath,amssymb,bm,physics,mathtools}&#10;\pagestyle{empty}&#10;\begin{document}&#10;&#10;\begin{equation*}&#10;    \bm{\alpha}_{\left(E,0\right)}&#10;        =&#10;    \frac{1}{3}&#10;    \begin{pmatrix}&#10;        1 \\ \tau \\ \tau^{2}&#10;    \end{pmatrix}&#10;\end{equation*}&#10;&#10;\end{document}"/>
  <p:tag name="IGUANATEXSIZE" val="16"/>
  <p:tag name="IGUANATEXCURSOR" val="2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48.4439"/>
  <p:tag name="ORIGINALWIDTH" val="914.8856"/>
  <p:tag name="OUTPUTTYPE" val="PNG"/>
  <p:tag name="IGUANATEXVERSION" val="159"/>
  <p:tag name="LATEXADDIN" val="\documentclass{article}&#10;\usepackage{amsmath,amssymb,bm,physics,mathtools}&#10;\pagestyle{empty}&#10;\begin{document}&#10;&#10;\begin{equation*}&#10;    \bm{\alpha}_{\left(E,1\right)}&#10;        =&#10;    \frac{1}{3}&#10;    \begin{pmatrix}&#10;        1 \\ \tau^{2} \\ \tau&#10;    \end{pmatrix}&#10;\end{equation*}&#10;&#10;\end{document}"/>
  <p:tag name="IGUANATEXSIZE" val="16"/>
  <p:tag name="IGUANATEXCURSOR" val="2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94.2258"/>
  <p:tag name="ORIGINALWIDTH" val="674.9156"/>
  <p:tag name="OUTPUTTYPE" val="PNG"/>
  <p:tag name="IGUANATEXVERSION" val="159"/>
  <p:tag name="LATEXADDIN" val="\documentclass{article}&#10;\usepackage{amsmath,amssymb,bm,physics,mathtools}&#10;\pagestyle{empty}&#10;\begin{document}&#10;&#10;\begin{equation*}&#10;    \alpha_{\left(T_{n},q\right)}^{\left(p\right)}&#10;        =&#10;    \delta_{pq}&#10;\end{equation*}&#10;&#10;\end{document}"/>
  <p:tag name="IGUANATEXSIZE" val="16"/>
  <p:tag name="IGUANATEXCURSOR" val="20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59.768"/>
  <p:tag name="ORIGINALWIDTH" val="2041.245"/>
  <p:tag name="OUTPUTTYPE" val="PNG"/>
  <p:tag name="IGUANATEXVERSION" val="159"/>
  <p:tag name="LATEXADDIN" val="\documentclass{article}&#10;\usepackage{amsmath,amssymb,bm,physics,mathtools}&#10;\pagestyle{empty}&#10;\begin{document}&#10;&#10;\begin{align*}&#10;\hat{U} &amp;= \sum_{u} \hat{U}_{u} ,\\&#10;\hat{U}_{u|\left(\kappa=E,+\right)} &amp;= \frac{ \hat{U}_{u|\left(\kappa=E,0\right)} + \hat{U}_{u|\left(\kappa=E,1\right)} }{2} ,\\&#10;\hat{U}_{u|\left(\kappa=E,-\right)} &amp;= \frac{ \hat{U}_{u|\left(\kappa=E,0\right)} - \hat{U}_{u|\left(\kappa=E,1\right)} }{2} ,\\&#10;\left(yxz\right)\hat{U}_{u} &amp;= \sigma_{\mathtt{U},u}\hat{U}_{u} ,\\&#10;\left(\bar{x}\bar{y}z\right)\hat{U}_{u} &amp;= \omega_{\mathtt{U},u}^{\left(x\right)}\omega_{\mathtt{U},u}^{\left(y\right)}\hat{U}_{u} ,\\&#10;\left(\bar{x}y\bar{z}\right)\hat{U}_{u} &amp;= \omega_{\mathtt{U},u}^{\left(x\right)}\omega_{\mathtt{U},u}^{\left(z\right)}\hat{U}_{u} ,\\&#10;\left(x\bar{y}\bar{z}\right)\hat{U}_{u} &amp;= \omega_{\mathtt{U},u}^{\left(x\right)}\omega_{\mathtt{U},u}^{\left(y\right)}\hat{U}_{u}&#10;\end{align*}&#10;&#10;\end{document}"/>
  <p:tag name="IGUANATEXSIZE" val="16"/>
  <p:tag name="IGUANATEXCURSOR" val="46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7.266"/>
  <p:tag name="ORIGINALWIDTH" val="6740.907"/>
  <p:tag name="OUTPUTTYPE" val="PNG"/>
  <p:tag name="IGUANATEXVERSION" val="159"/>
  <p:tag name="LATEXADDIN" val="\documentclass{article}&#10;\usepackage{amsmath,amssymb,bm,physics,mathtools}&#10;\pagestyle{empty}&#10;\begin{document}&#10;&#10;\begin{align*}&#10;\left\{\hat{U}_{u}\right\}&#10;    &amp;=&#10;        \left\{ \hat{U}_{\mathtt{U},u} | \sigma_{\mathtt{U},u}=+1 \right\}&#10;            \cup&#10;        \left\{ \hat{U}_{\mathtt{U},u} | \sigma_{\mathtt{U},u}=-1 \right\}&#10;,\\&#10;    &amp;=&#10;        \left\{ \hat{U}_{\mathtt{U},u} | \omega_{\mathtt{U},u}^{\left(p\right)} =+1 \text{ and } \sigma_{\mathtt{U},u} =+1 \right\}&#10;            \cup&#10;        \left\{ \hat{U}_{\mathtt{U},u} | \omega_{\mathtt{U},u}^{\left(p\right)} =+1 \text{ and } \sigma_{\mathtt{U},u} =-1 \right\}&#10;            \cup&#10;        \left\{ \hat{U}_{\mathtt{U},u} | \omega_{\mathtt{U},u}^{\left(p\right)} =-1 \right\}&#10;,\\&#10;\left\{ \hat{U}_{u} | \sigma_{\mathtt{U},u}=+1 \right\}&#10;    &amp;=&#10;        \left\{&#10;            U_{\left(A_{1},0\right)},&#10;            U_{\left(E,+\right)},&#10;            U_{\left(T_{2},x\right)},U_{\left(T_{2},y\right)},U_{\left(T_{2},z\right)}&#10;        \right\}&#10;,\\&#10;\left\{ \hat{U}_{u} | \sigma_{\mathtt{U},u}=-1 \right\}&#10;    &amp;=&#10;        \left\{&#10;            U_{\left(A_{2},0\right)},&#10;            U_{\left(E,-\right)},&#10;            U_{\left(T_{1},x\right)},U_{\left(T_{1},y\right)},U_{\left(T_{1},z\right)}&#10;        \right\}&#10;,\\&#10;\left\{ \hat{U}_{u} | \omega_{\mathtt{U},u}^{\left(p\right)} =+1 \text{ and } \sigma_{\mathtt{U},u}=+1 \right\}&#10;    &amp;=&#10;        \left\{&#10;            U_{\left(A_{1},0\right)},&#10;            U_{\left(E,+\right)},&#10;            U_{\left(T_{2},p+1\right)},U_{\left(T_{2},p+2\right)},&#10;        \right\}&#10;,\\&#10;\left\{ \hat{U}_{u} | \omega_{\mathtt{U},u}^{\left(p\right)} =+1 \text{ and } \sigma_{\mathtt{U},u}=-1 \right\}&#10;    &amp;=&#10;        \left\{&#10;            U_{\left(A_{2},0\right)},&#10;            U_{\left(E,-\right)},&#10;            U_{\left(T_{1},p+1\right)},U_{\left(T_{1},p+2\right)}&#10;        \right\}&#10;,\\&#10;\left\{ \hat{U}_{u} | \omega_{\mathtt{U},u}^{\left(p\right)} =-1 \right\}&#10;    &amp;=&#10;        \left\{&#10;            U_{\left(T_{1},p\right)},&#10;            U_{\left(T_{2},p\right)}&#10;        \right\}&#10;\end{align*}&#10;&#10;\end{document}"/>
  <p:tag name="IGUANATEXSIZE" val="16"/>
  <p:tag name="IGUANATEXCURSOR" val="25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138.733"/>
  <p:tag name="ORIGINALWIDTH" val="3874.016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, u }&#10;    &amp;=&#10;        \int\mathrm{d}\bm{r}\, \left( \Psi_{\mathtt{L}} \right)^{\dagger}\hat{U}_{u}\Psi_{\mathtt{R}}&#10;,\\&#10;    &amp;=&#10;        \int\mathrm{d}\bm{r}\, &#10;            \left\{&#10;                \sum_{ q_{\mathtt{L}}=x,y,z }&#10;                    \alpha_{ \mathtt{L}}^{ \left(q_{\mathtt{L}}\right) }&#10;                    \Phi_{ \mathtt{L}}^{ \left(q_{\mathtt{L}}\right) } \Theta_{ \Omega_{\mathtt{L}} }^{\left(q_{\mathtt{L}}\right)}&#10;            \right\}^{\dagger}&#10;            \hat{U}_{u}&#10;            \left\{&#10;                \sum_{ q_{\mathtt{R}}=x,y,z }&#10;                    \alpha_{ \mathtt{R}}^{ \left(q_{\mathtt{R}}\right) }&#10;                    \Phi_{ \mathtt{R}}^{\left(q_{\mathtt{R}}\right) } \Theta_{ \Omega_{\mathtt{R}} }^{\left(q_{\mathtt{R}}\right)}&#10;            \right\}&#10;,\\&#10;    &amp;= &#10;        \mathcal{H}_{ \mathtt{L}\mathtt{R}, u }^{\left(\parallel\right)}&#10;            + &#10;        \mathcal{H}_{ \mathtt{L}\mathtt{R}, u }^{\left(\perp_{+}\right)}&#10;            +&#10;        \mathcal{H}_{ \mathtt{L}\mathtt{R}, u }^{\left(\perp_{-}\right)}&#10;,\\&#10;\mathcal{H}_{ \mathtt{L}\mathtt{R}, u }^{\left(\parallel\right)}&#10;    &amp;=&#10;        \int\mathrm{d}\bm{r}\, &#10;            \sum_{ q=x,y,z }&#10;                \tilde{\alpha}_{ \mathtt{L}}^{ \left(q\right) }&#10;                \alpha_{ \mathtt{R}}^{ \left(q\right) }&#10;                \tilde{\Phi}_{\mathtt{L}}^{\left(q\right)} \hat{U}_{u} \Phi_{\mathtt{R}}^{\left(q\right)}&#10;                \Theta_{ \Omega_{\mathtt{L}} }^{\left(-q\right)}\Theta_{ \Omega_{\mathtt{R}} }^{\left(q\right)}&#10;,\\&#10;\mathcal{H}_{ \mathtt{L}\mathtt{R}, u }^{\left(\perp_{+}\right)}&#10;    &amp;=        &#10;        \int\mathrm{d}\bm{r}\, &#10;            \sum_{ q=x,y,z }&#10;                \tilde{\alpha}_{ \mathtt{L}}^{ \left(q\right) }&#10;                \alpha_{ \mathtt{R}}^{ \left(q+1\right) }&#10;                \tilde{\Phi}_{\mathtt{L}}^{\left(q\right)}&#10;                \hat{U}_{u}&#10;                \Phi_{\mathtt{R}}^{\left(q+1\right)} &#10;                \Theta_{ \Omega_{\mathtt{L}} }^{\left(-q\right)}\Theta_{ \Omega_{\mathtt{R}} }^{\left(q+1\right)}&#10;,\\&#10;\mathcal{H}_{ \mathtt{L}\mathtt{R}, u }^{\left(\perp_{-}\right)}&#10;    &amp;=        &#10;        \int\mathrm{d}\bm{r}\, &#10;            \sum_{ q=x,y,z }&#10;                \tilde{\alpha}_{ \mathtt{L}}^{ \left(q\right) }&#10;                \alpha_{ \mathtt{R}}^{ \left(q-1\right) }&#10;                \tilde{\Phi}_{\mathtt{L}}^{\left(q\right)}&#10;                \hat{U}_{u}&#10;                \Phi_{\mathtt{R}}^{\left(q-1\right)} &#10;                \Theta_{ \Omega_{\mathtt{L}} }^{\left(-q\right)}\Theta_{ \Omega_{\mathtt{R}} }^{\left(q-1\right)}&#10;,\\&#10;\end{align*}&#10;&#10;\end{document}"/>
  <p:tag name="IGUANATEXSIZE" val="16"/>
  <p:tag name="IGUANATEXCURSOR" val="259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995.1256"/>
  <p:tag name="ORIGINALWIDTH" val="6407.199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, u }^{\left(\parallel\right)}&#10;    &amp;=&#10;        \sum_{ q=x,y,z }&#10;        \tilde{\alpha}_{ \mathtt{L}}^{ \left(q\right) }&#10;        \alpha_{ \mathtt{R}}^{ \left(q\right) }&#10;        \int\mathrm{d}\bm{r}\, &#10;            \tilde{\Phi}_{\mathtt{L}}^{\left(q\right)}&#10;            \hat{U}_{u}&#10;            \Phi_{\mathtt{R}}^{\left(q\right)}&#10;            \Theta_{ \Omega_{\mathtt{L}} }^{\left(-q\right)}\Theta_{ \Omega_{\mathtt{R}} }^{\left(q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left[&#10;                     \tilde{\Phi}_{\mathtt{L}}^{\left(z\right)}&#10;                     \hat{U}_{u}&#10;                     \Phi_{\mathtt{R}}^{\left(z\right)}&#10;                 \right]&#10;                     +&#10;                 \tilde{\alpha}_{ \mathtt{L}}^{ \left(y\right) }&#10;                 \alpha_{ \mathtt{R}}^{ \left(y\right) }&#10;                 \left(yzx\right)&#10;                 \left[&#10;                     \tilde{\Phi}_{\mathtt{L}}^{\left(y\right)}&#10;                     \hat{U}_{u}&#10;                     \Phi_{\mathtt{R}}^{\left(y\right)}&#10;                 \right]&#10;                     +&#10;                 \tilde{\alpha}_{ \mathtt{L}}^{ \left(x\right) }&#10;                 \alpha_{ \mathtt{R}}^{ \left(x\right) }&#10;                 \left(zxy\right)&#10;                 \left[&#10;                     \tilde{\Phi}_{\mathtt{L}}^{\left(x\right)}&#10;                     \hat{U}_{u}&#10;                     \Phi_{\mathtt{R}}^{\left(x\right)}&#10;                 \right]&#10;            \right\}&#10;            \Theta_{ \Omega_{\mathtt{L}} }^{\left(-z\right)}\Theta_{ \Omega_{\mathtt{R}} }^{\left(+z\right)}&#10;,\\&#10;    &amp;=&#10;        \int\mathrm{d}\bm{r}\,&#10;            \left\{&#10;                 \tilde{\alpha}_{ \mathtt{L}}^{ \left(z\right) }&#10;                 \alpha_{ \mathtt{R}}^{ \left(z\right) }&#10;                 \left(xyz\right)&#10;                 \hat{U}_{u}&#10;                     +&#10;                 \tilde{\alpha}_{ \mathtt{L}}^{ \left(y\right) }&#10;                 \alpha_{ \mathtt{R}}^{ \left(y\right) }&#10;                 \left(yzx\right)&#10;                 \hat{U}_{u}&#10;                     +&#10;                 \tilde{\alpha}_{ \mathtt{L}}^{ \left(x\right) }&#10;                 \alpha_{ \mathtt{R}}^{ \left(x\right) }&#10;                 \left(zxy\right)&#10;                 \hat{U}_{u}&#10;            \right\}&#10;            \tilde{\Phi}_{\mathtt{L}}^{\left(z\right)}&#10;            \Phi_{\mathtt{R}}^{\left(z\right)}&#10;            \Theta_{ \Omega_{\mathtt{L}} }^{\left(-z\right)}\Theta_{ \Omega_{\mathtt{R}} }^{\left(+z\right)}&#10;,\\&#10;\end{align*}&#10;&#10;\end{document}"/>
  <p:tag name="IGUANATEXSIZE" val="16"/>
  <p:tag name="IGUANATEXCURSOR" val="18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50.4312"/>
  <p:tag name="ORIGINALWIDTH" val="3346.082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, u }^{\left(\parallel\right)}&#10;    &amp;=&#10;        \int\mathrm{d}\bm{r}\,&#10;            U_{ \mathtt{L}\mathtt{R}, u }^{\left(\parallel\right)}&#10;            \tilde{\Phi}_{\mathtt{L}}^{\left(z\right)}&#10;            \Phi_{\mathtt{R}}^{\left(z\right)}&#10;            \Theta_{ \Omega_{\mathtt{L}} }^{\left(-z\right)}\Theta_{ \Omega_{\mathtt{R}} }^{\left(+z\right)}&#10;,\\&#10;U_{ \mathtt{L}\mathtt{R}, u }^{\left(\parallel\right)}&#10;    &amp;=&#10;        \left\{&#10;             \tilde{\alpha}_{ \mathtt{L}}^{ \left(z\right) }&#10;             \alpha_{ \mathtt{R}}^{ \left(z\right) }&#10;             \left(xyz\right)&#10;                     +&#10;             \tilde{\alpha}_{ \mathtt{L}}^{ \left(y\right) }&#10;             \alpha_{ \mathtt{R}}^{ \left(y\right) }&#10;             \left(yzx\right)&#10;                     +&#10;             \tilde{\alpha}_{ \mathtt{L}}^{ \left(x\right) }&#10;             \alpha_{ \mathtt{R}}^{ \left(x\right) }&#10;             \left(zxy\right)&#10;        \right\}&#10;        \hat{U}_{u}&#10;\end{align*}&#10;&#10;\end{document}"/>
  <p:tag name="IGUANATEXSIZE" val="16"/>
  <p:tag name="IGUANATEXCURSOR" val="29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70.791"/>
  <p:tag name="ORIGINALWIDTH" val="6099.737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_{\sigma},u}&#10;    &amp;=&#10;        \int\mathrm{d}\bm{r}\,&#10;            \varphi_{\perp_{\sigma},u}&#10;            \Theta_{ \Omega_{\mathtt{L}} }^{\left(-y\right)}\Theta_{ \Omega_{\mathtt{R}} }^{\left(+x\right)}&#10;,\\&#10;\varphi_{\perp_{0},u}&#10;    &amp;=&#10;        \tilde{\alpha}_{\mathtt{L}}^{ \left(y\right) }&#10;        \alpha_{\mathtt{R}}^{ \left(x\right) }&#10;        \left(xyz\right)&#10;        \left[&#10;             \left\{ \Phi_{\mathtt{L}}^{\left(y\right)} \right\}^{\dagger}&#10;             \hat{U}_{u}&#10;             \Phi_{\mathtt{R}}^{\left(x\right)}&#10;        \right]&#10;            +&#10;        \tilde{\alpha}_{\mathtt{L}}^{ \left(x\right) }&#10;        \alpha_{\mathtt{R}}^{ \left(z\right) }&#10;        \left(yzx\right)&#10;        \left[&#10;            \left\{ \Phi_{\mathtt{L}}^{\left(x\right)} \right\}^{\dagger}&#10;            \hat{U}_{u}&#10;            \Phi_{\mathtt{R}}^{\left(z\right)}&#10;        \right]&#10;             +&#10;        \tilde{\alpha}_{\mathtt{L}}^{ \left(z\right) }&#10;        \alpha_{\mathtt{R}}^{ \left(y\right) }&#10;        \left(zxy\right)&#10;        \left[&#10;             \left\{ \Phi_{\mathtt{L}}^{\left(z\right)} \right\}^{\dagger}&#10;             \hat{U}_{u}&#10;             \Phi_{\mathtt{R}}^{\left(y\right)}&#10;        \right]&#10;,\\&#10;    &amp;=&#10;        \left[&#10;             \left\{ \Phi_{\mathtt{L}}^{\left(y\right)} \right\}^{\dagger}&#10;             \Phi_{\mathtt{R}}^{\left(x\right)}&#10;        \right]&#10;        \left\{&#10;            \tilde{\alpha}_{\mathtt{L}}^{ \left(y\right) }\alpha_{\mathtt{R}}^{ \left(x\right) }&#10;            \left(xyz\right)&#10;                +&#10;            \tilde{\alpha}_{\mathtt{L}}^{ \left(x\right) }\alpha_{\mathtt{R}}^{ \left(z\right) }&#10;            \left(yzx\right)&#10;                 +&#10;            \tilde{\alpha}_{\mathtt{L}}^{ \left(z\right) }\alpha_{\mathtt{R}}^{ \left(y\right) }&#10;            \left(zxy\right)&#10;        \right\}&#10;        \hat{U}_{u}&#10;,\\&#10;\varphi_{\perp_{1},u}&#10;    &amp;=&#10;        \tilde{\alpha}_{\mathtt{L}}^{ \left(x\right) }\alpha_{\mathtt{R}}^{ \left(y\right) }&#10;        \left(yxz\right)&#10;        \left[&#10;             \left\{ \Phi_{\mathtt{L}}^{\left(x\right)} \right\}^{\dagger}&#10;             \hat{U}_{u}&#10;             \Phi_{\mathtt{R}}^{\left(y\right)}&#10;        \right]&#10;             +&#10;        \tilde{\alpha}_{\mathtt{L}}^{ \left(z\right) }\alpha_{\mathtt{R}}^{ \left(x\right) }&#10;        \left(xzy\right)&#10;        \left[&#10;             \left\{ \Phi_{\mathtt{L}}^{\left(z\right)} \right\}^{\dagger}&#10;             \hat{U}_{u}&#10;             \Phi_{\mathtt{R}}^{\left(x\right)}&#10;        \right]&#10;             +&#10;        \tilde{\alpha}_{\mathtt{L}}^{ \left(y\right) }\alpha_{\mathtt{R}}^{ \left(z\right) }&#10;        \left(zyx\right)&#10;        \left[&#10;             \left\{ \Phi_{\mathtt{L}}^{\left(y\right)} \right\}^{\dagger}&#10;             \hat{U}_{u}&#10;             \Phi_{\mathtt{R}}^{\left(z\right)}&#10;        \right]&#10;,\\&#10;    &amp;=&#10;        \left[&#10;             \left\{ \Phi_{\mathtt{L}}^{\left(y\right)} \right\}^{\dagger}&#10;             \Phi_{\mathtt{R}}^{\left(x\right)}&#10;        \right]&#10;        \left\{&#10;            \tilde{\alpha}_{\mathtt{L}}^{ \left(x\right) }\alpha_{\mathtt{R}}^{ \left(y\right) }&#10;            \left(yxz\right)&#10;                +&#10;            \tilde{\alpha}_{\mathtt{L}}^{ \left(z\right) }\alpha_{\mathtt{R}}^{ \left(x\right) }&#10;            \left(xzy\right)&#10;                 +&#10;            \tilde{\alpha}_{\mathtt{L}}^{ \left(y\right) }\alpha_{\mathtt{R}}^{ \left(z\right) }&#10;            \left(zyx\right)&#10;        \right\}&#10;        \hat{U}_{u}&#10;\end{align*}&#10;&#10;\end{document}"/>
  <p:tag name="IGUANATEXSIZE" val="16"/>
  <p:tag name="IGUANATEXCURSOR" val="2039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24.222"/>
  <p:tag name="ORIGINALWIDTH" val="6764.154"/>
  <p:tag name="OUTPUTTYPE" val="PNG"/>
  <p:tag name="IGUANATEXVERSION" val="159"/>
  <p:tag name="LATEXADDIN" val="\documentclass{article}&#10;\usepackage{amsmath,amssymb,bm,physics,mathtools}&#10;\pagestyle{empty}&#10;\begin{document}&#10;&#10;\begin{align*}&#10;\hat{U}_{\perp,u}&#10;    &amp;=&#10;        \left\{&#10;            \tilde{\alpha}_{\mathtt{L}}^{ \left(y\right) }\alpha_{\mathtt{R}}^{ \left(x\right) }&#10;            \left(xyz\right)&#10;                +&#10;            \sigma_{\mathtt{L}}\sigma_{\mathtt{R}}&#10;            \tilde{\alpha}_{\mathtt{L}}^{ \left(x\right) }\alpha_{\mathtt{R}}^{ \left(y\right) }&#10;            \left(yxz\right)&#10;                +&#10;            \tilde{\alpha}_{\mathtt{L}}^{ \left(x\right) }\alpha_{\mathtt{R}}^{ \left(z\right) }&#10;            \left(yzx\right)&#10;                +&#10;            \sigma_{\mathtt{L}}\sigma_{\mathtt{R}}&#10;            \tilde{\alpha}_{\mathtt{L}}^{ \left(z\right) }\alpha_{\mathtt{R}}^{ \left(x\right) }&#10;            \left(xzy\right)&#10;                +&#10;            \tilde{\alpha}_{\mathtt{L}}^{ \left(z\right) }\alpha_{\mathtt{R}}^{ \left(y\right) }&#10;            \left(zxy\right)&#10;                +&#10;            \sigma_{\mathtt{L}}\sigma_{\mathtt{R}}&#10;            \tilde{\alpha}_{\mathtt{L}}^{ \left(y\right) }\alpha_{\mathtt{R}}^{ \left(z\right) }&#10;            \left(zyx\right)&#10;        \right\}&#10;        \hat{U}_{u}&#10;\end{align*}&#10;&#10;\end{document}"/>
  <p:tag name="IGUANATEXSIZE" val="16"/>
  <p:tag name="IGUANATEXCURSOR" val="44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455.943"/>
  <p:tag name="ORIGINALWIDTH" val="2113.236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,u}&#10;    &amp;=&#10;        \mathcal{H}_{\perp_{0},u}&#10;            +&#10;        \mathcal{H}_{\perp_{1},u}&#10;,\\&#10;    &amp;=&#10;        \int\mathrm{d}\bm{r}\,&#10;            \hat{U}_{\perp,u}&#10;            \tilde{\Phi}_{\mathtt{L}}^{\left(y\right)}&#10;            \Phi_{\mathtt{R}}^{\left(x\right)}&#10;            \Theta_{ \Omega_{\mathtt{L}} }^{\left(-y\right)}\Theta_{ \Omega_{\mathtt{R}} }^{\left(+x\right)}&#10;,\\&#10;\end{align*}&#10;&#10;\end{document}"/>
  <p:tag name="IGUANATEXSIZE" val="16"/>
  <p:tag name="IGUANATEXCURSOR" val="522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561.305"/>
  <p:tag name="ORIGINALWIDTH" val="6626.172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&#10;    &amp;=&#10;        \sum_{ \hat{U}_{u}\in\mathfrak{U} }\sum_{ \Psi_{\mathtt{L}} \in \mathfrak{B} }\sum_{ \Psi_{\mathtt{R}} \in \mathfrak{B} }&#10;            \int\mathrm{d}\bm{r}\,&#10;                \left(\Psi_{\mathtt{L}}\right)^{\dagger}\hat{U}_{u}\Psi_{\mathtt{R}}&#10;,\\&#10;    &amp;=&#10;        \sum_{u}\sum_{ \mathtt{L} }\sum_{ \mathtt{R} } \int\mathrm{d}\bm{r}\, &#10;            \left[&#10;                \left(\frac{ \left(xyz\right)+\left(yzx\right)+\left(zxy\right) + \left(xzy\right)+\left(zyx\right)+\left(yxz\right) }{6}\right)&#10;                \left(\frac{\left(xyz\right)+\left(\bar{x}\bar{y}z\right)+\left(\bar{x}y\bar{z}\right)+\left(x\bar{y}\bar{z}\right)}{4}\right)&#10;            \right]&#10;            \left( \Psi_{\mathtt{L}} \right)^{\dagger}\hat{U}_{u}\Psi_{\mathtt{R}}&#10;,\\&#10;    &amp;=&#10;        \sum_{u}\sum_{ \mathtt{L} }\sum_{ \mathtt{R} } \int\mathrm{d}\bm{r}\, &#10;            \left[&#10;                \left(\frac{\left(xyz\right)+\left(yxz\right)}{2}\right)&#10;                \left(\frac{\left(xyz\right)+\left(yzx\right)+\left(zxy\right)}{3}\right)&#10;                \left(\frac{\left(xyz\right)+\left(\bar{x}y\bar{z}\right)}{2}\right)&#10;                \left(\frac{\left(xyz\right)+\left(x\bar{y}\bar{z}\right)}{2}\right)&#10;            \right]&#10;            \left( \Psi_{\mathtt{L}} \right)^{\dagger}\hat{U}_{u}\Psi_{\mathtt{R}}&#10;,\\&#10;    &amp;=&#10;        \sum_{u}\sum_{\mathtt{L}}\sum_{\mathtt{R}}&#10;            \left(&#10;                \frac{&#10;                    1 + \left(\alpha_{ \mathtt{L} }\alpha_{ k_{\mathtt{R}} }\alpha_{u}\right)^{\left(yzx\right)} &#10;                }&#10;                {2}&#10;            \right)&#10;            \left(\frac{ 1 + \omega^{\left(x\right)}\omega^{\left(z\right)} }{2}\right)&#10;            \left(\frac{ 1 + \omega^{\left(y\right)}\omega^{\left(z\right)} }{2}\right)&#10;            \int\mathrm{d}\bm{r}\, &#10;                \hat{U}_{u}&#10;                \left(\frac{\left(xyz\right)+\sigma_{\mathtt{U},u}\left(yxz\right)}{2}\right)&#10;                \left( \Psi_{ \mathtt{L} } \right)^{\dagger}\Psi_{ \mathtt{R} }&#10;,\\&#10;\end{align*}&#10;&#10;\end{document}"/>
  <p:tag name="IGUANATEXSIZE" val="16"/>
  <p:tag name="IGUANATEXCURSOR" val="202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1.2298"/>
  <p:tag name="ORIGINALWIDTH" val="1018.373"/>
  <p:tag name="OUTPUTTYPE" val="PNG"/>
  <p:tag name="IGUANATEXVERSION" val="159"/>
  <p:tag name="LATEXADDIN" val="\documentclass{article}&#10;\usepackage{amsmath,amssymb,bm,physics,mathtools}&#10;\pagestyle{empty}&#10;\begin{document}&#10;&#10;\begin{equation*}&#10;\omega^{\left(p\right)}&#10;    =&#10;        \omega_{\mathtt{L}}^{\left(p\right)}\omega_{\mathtt{R}}^{\left(p\right)}\omega_{u}^{\left(p\right)}&#10;\end{equation*}&#10;&#10;\end{document}"/>
  <p:tag name="IGUANATEXSIZE" val="16"/>
  <p:tag name="IGUANATEXCURSOR" val="13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46.9066"/>
  <p:tag name="ORIGINALWIDTH" val="3637.795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        &#10;        \sum_{ q=x,y,z }&#10;        \int\mathrm{d}\bm{r}\, &#10;            \left\{\Phi_{\mathtt{L}}^{\left(q\right)}\right\}^{\dagger}&#10;            \Theta_{ \Omega_{\mathtt{L}} }^{\left(-q\right)}&#10;            \hat{U}_{u}&#10;            \left[&#10;                \Phi_{\mathtt{R}}^{\left(q+1\right)} &#10;                \Theta_{ \Omega_{\mathtt{R}} }^{\left(q+1\right)}&#10;                +&#10;                \Phi_{\mathtt{R}}^{\left(q-1\right)} &#10;                \Theta_{ \Omega_{\mathtt{R}} }^{\left(q-1\right)}&#10;            \right]&#10;\end{align*}&#10;&#10;\end{document}"/>
  <p:tag name="IGUANATEXSIZE" val="16"/>
  <p:tag name="IGUANATEXCURSOR" val="1112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0.784"/>
  <p:tag name="ORIGINALWIDTH" val="3728.534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x,y,z }&#10;                    \Phi_{ \mathtt{R}}^{\left(q_{\mathtt{R}}\right) } \Theta_{ \Omega_{\mathtt{R}} }^{\left(q_{\mathtt{R}}\right)}&#10;            \right\}&#10;,\\&#10;    &amp;= \mathcal{H}_{\parallel} + \mathcal{H}_{\perp}&#10;,\\&#10;\mathcal{H}_{\parallel}&#10;    &amp;=&#10;        \sum_{ q= p_{\mathtt{L}}-1,p_{\mathtt{L}}+1 }&#10;        \int\mathrm{d}\bm{r}\, &#10;            \left\{ \Phi_{ \mathtt{L}\left( T_{n}, p_{ \mathtt{L} }\right) 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= p_{\mathtt{L}}-1,p_{\mathtt{L}}+1 }&#10;        \sum_{ q_{\mathtt{R}}= q_{\mathtt{L}}-1,q_{\mathtt{L}}+1 }&#10;        \int\mathrm{d}\bm{r}\, &#10;            \left\{\Phi_{ \mathtt{L}\left( T_{n}, p_{ \mathtt{L} }\right) 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1638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30.784"/>
  <p:tag name="ORIGINALWIDTH" val="3728.534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x,y,z  }&#10;                    \Phi_{ \mathtt{L} }^{ \left(q_{\mathtt{L}}\right) }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 p_{\mathtt{R}}-1,p_{\mathtt{R}}+1 }&#10;        \int\mathrm{d}\bm{r}\, &#10;            \left\{ \Phi_{\mathtt{L}}^{\left(q\right)} \right\}^{\dagger}&#10;            \hat{U}_{u}&#10;            \Phi_{ \mathtt{R}\left( T_{n}, p_{ \mathtt{R} }\right) }^{\left(q\right)}&#10;            \Theta_{ \Omega_{\mathtt{L}} }^{\left(-q\right)}\Theta_{ \Omega_{\mathtt{R}} }^{\left(q\right)}&#10;,\\&#10;\mathcal{H}_{\perp}&#10;    &amp;=        &#10;        \sum_{ q_{\mathtt{R}}= p_{\mathtt{R}}-1,p_{\mathtt{R}}+1 }&#10;        \sum_{ q_{\mathtt{L}}= q_{\mathtt{R}}-1,q_{\mathtt{R}}+1 }&#10;        \int\mathrm{d}\bm{r}\, &#10;            \left\{\Phi_{\mathtt{L}}^{\left(q_{\mathtt{L}}\right)}\right\}^{\dagger}&#10;            \hat{U}_{u}&#10;            \Phi_{ \mathtt{R}\left( T_{n}, p_{ \mathtt{R} }\right) 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174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742.782"/>
  <p:tag name="ORIGINALWIDTH" val="4173.978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 \mathtt{L}\mathtt{R} }^{\left(u\right)}&#10;    &amp;=&#10;        \int\mathrm{d}\bm{r}\, \left( \Psi_{\mathtt{L}} \right)^{\dagger}\hat{U}_{u}\Psi_{\mathtt{R}}&#10;,\\&#10;    &amp;=&#10;        \int\mathrm{d}\bm{r}\, &#10;            \left\{&#10;                \sum_{ q_{\mathtt{L}}= p_{\mathtt{L}}-1, p_{\mathtt{L}}+1 }&#10;                    \Phi_{ \mathtt{L} \left( T_{n}, p_{ \mathtt{L} }\right) }^{ \left(q_{\mathtt{L}}\right) }&#10;                    \Theta_{ \Omega_{\mathtt{L}} }^{\left(q_{\mathtt{L}}\right)}&#10;            \right\}^{\dagger}&#10;            \hat{U}_{u}&#10;            \left\{&#10;                \sum_{ q_{\mathtt{R}}= p_{\mathtt{R}}-1, p_{\mathtt{R}}+1 }&#10;                    \Phi_{ \mathtt{R}\left( T_{n}, p_{ \mathtt{R} }\right) }^{\left(q_{\mathtt{R}}\right) }&#10;                    \Theta_{ \Omega_{\mathtt{R}} }^{\left(q_{\mathtt{R}}\right)}&#10;            \right\}&#10;,\\&#10;    &amp;= \mathcal{H}_{\parallel} + \mathcal{H}_{\perp}&#10;,\\&#10;\mathcal{H}_{\parallel}&#10;    &amp;=&#10;        \sum_{ q=x,y,z }&#10;        \int\mathrm{d}\bm{r}\, &#10;            \left\{ \Phi_{\mathtt{L}}^{\left(q\right)} \right\}^{\dagger}&#10;            \hat{U}_{u}&#10;            \Phi_{\mathtt{R}}^{\left(q\right)}&#10;            \Theta_{ \Omega_{\mathtt{L}} }^{\left(-q\right)}\Theta_{ \Omega_{\mathtt{R}} }^{\left(q\right)}&#10;,\\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\end{align*}&#10;&#10;\end{document}"/>
  <p:tag name="IGUANATEXSIZE" val="16"/>
  <p:tag name="IGUANATEXCURSOR" val="557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133.858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\kappa,p\right)_{u} }&#10;                     +&#10;                 \alpha_{ \left(\kappa,i\right)_{\mathtt{L}} }^{\left(yzx\right)}&#10;                 \alpha_{ \left(\kappa,i\right)_{\mathtt{R}} }^{\left(yzx\right)}&#10;                 \hat{U}_{ \left(\kappa,p+1\right)_{u} }&#10;                     +&#10;                 \alpha_{ \left(\kappa,i\right)_{\mathtt{L}} }^{\left(zxy\right)}&#10;                 \alpha_{ \left(\kappa,i\right)_{\mathtt{R}} }^{\left(zxy\right)}&#10;                 \hat{U}_{ \left(\kappa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736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1.1736"/>
  <p:tag name="ORIGINALWIDTH" val="4683.165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hat{U}_{u, \left(\kappa, i\right)_{\mathtt{L}} \left(\kappa,i\right)_{\mathtt{R}} }&#10;            \left\{ \Phi_{\mathtt{L}}^{\left(z\right)} \right\}^{\dagger}\Phi_{\mathtt{R}}^{\left(z\right)}&#10;            \Theta_{ \Omega_{\mathtt{L}} }^{\left(-z\right)}\Theta_{ \Omega_{\mathtt{R}} }^{\left(+z\right)}&#10;,\\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u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28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2.362"/>
  <p:tag name="ORIGINALWIDTH" val="1331.084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U_{\left(A_{n},0\right)} &amp;= U_{\left(A_{n},0\right)} ,\\&#10;\left(zxy\right)U_{\left(A_{n},0\right)} &amp;= U_{\left(A_{n},0\right)} ,\\&#10;\left(yzx\right)U_{\left(E,0\right)} &amp;= \tau^{2}U_{\left(E,0\right)} ,\\&#10;\left(zxy\right)U_{\left(E,0\right)} &amp;= \tau U_{\left(E,0\right)} ,\\&#10;\left(yzx\right)U_{\left(E,1\right)} &amp;= \tau U_{\left(E,1\right)} ,\\&#10;\left(zxy\right)U_{\left(E,1\right)} &amp;= \tau^{2}U_{\left(E,1\right)} ,\\&#10;\end{align*}&#10;&#10;\end{document}"/>
  <p:tag name="IGUANATEXSIZE" val="16"/>
  <p:tag name="IGUANATEXCURSOR" val="17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1.616"/>
  <p:tag name="ORIGINALWIDTH" val="1247.094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U_{\left(T_{n},x\right)} &amp;= U_{\left(T_{n},y\right)} ,\\&#10;\left(zxy\right)U_{\left(T_{n},x\right)} &amp;= U_{\left(T_{n},z\right)} ,\\&#10;\left(yzx\right)U_{\left(T_{n},y\right)} &amp;= U_{\left(T_{n},z\right)} ,\\&#10;\left(zxy\right)U_{\left(T_{n},y\right)} &amp;= U_{\left(T_{n},x\right)} ,\\&#10;\left(yzx\right)U_{\left(T_{n},z\right)} &amp;= U_{\left(T_{n},x\right)} ,\\&#10;\left(zxy\right)U_{\left(T_{n},z\right)} &amp;= U_{\left(T_{n},y\right)} ,\\&#10;\end{align*}&#10;&#10;\end{document}"/>
  <p:tag name="IGUANATEXSIZE" val="16"/>
  <p:tag name="IGUANATEXCURSOR" val="17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565.055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 \left(T_{n},p\right)_{u} }&#10;                     +&#10;                 \alpha_{ \left(T_{n},i\right)_{\mathtt{L}} }^{\left(yzx\right)}&#10;                 \alpha_{ \left(T_{n},i\right)_{\mathtt{R}} }^{\left(yzx\right)}&#10;                 \hat{U}_{ \left(T_{n},p+1\right)_{u} }&#10;                     +&#10;                 \alpha_{ \left(T_{n},i\right)_{\mathtt{L}} }^{\left(zxy\right)}&#10;                 \alpha_{ \left(T_{n},i\right)_{\mathtt{R}} }^{\left(zxy\right)}&#10;                 \hat{U}_{ \left(T_{n},p-1\right)_{u} 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726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5090.363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left\{ &#10;            1     &#10;                +&#10;            \alpha_{ \left(\kappa,i\right)_{\mathtt{L}} }^{\left(yzx\right)}&#10;            \alpha_{ \left(\kappa,i\right)_{\mathtt{R}} }^{\left(yzx\right)}&#10;            \alpha_{ \left(\kappa,i\right)_{u} }^{\left(yzx\right)}&#10;                +&#10;            \alpha_{ \left(\kappa,i\right)_{\mathtt{L}} }^{\left(zxy\right)}&#10;            \alpha_{ \left(\kappa,i\right)_{\mathtt{R}} }^{\left(zxy\right)}&#10;            \alpha_{ \left(\kappa,i\right)_{u} }^{\left(zxy\right)}&#10;        \right\}&#10;        \int\mathrm{d}\bm{r}\,&#10;            \hat{U}_{ \left(A_{n}\slash E,i\right)_{u} 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76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00.9749"/>
  <p:tag name="ORIGINALWIDTH" val="3542.557"/>
  <p:tag name="OUTPUTTYPE" val="PNG"/>
  <p:tag name="IGUANATEXVERSION" val="159"/>
  <p:tag name="LATEXADDIN" val="\documentclass{article}&#10;\usepackage{amsmath,amssymb,bm,physics,mathtools}&#10;\pagestyle{empty}&#10;\begin{document}&#10;&#10;\begin{align*}&#10;\hat{U}_{u, \left(\kappa, i\right)_{\mathtt{L}} \left(\kappa,i\right)_{\mathtt{R}} }&#10;    &amp;=&#10;        \hat{U}_{u}&#10;            +&#10;        \tilde{\alpha}_{ \left(\kappa,i\right)_{\mathtt{L}} }^{\left(yzx\right)}&#10;        \alpha_{ \left(\kappa,i\right)_{\mathtt{R}} }^{\left(yzx\right)}&#10;        \left(yzx\right)\hat{U}_{u}&#10;            +&#10;        \tilde{\alpha}_{ \left(\kappa,i\right)_{\mathtt{L}} }^{\left(zxy\right)}&#10;        \alpha_{ \left(\kappa,i\right)_{\mathtt{R}} }^{\left(zxy\right)}&#10;        \left(zxy\right)\hat{U}_{u}&#10;\end{align*}&#10;&#10;\end{document}"/>
  <p:tag name="IGUANATEXSIZE" val="16"/>
  <p:tag name="IGUANATEXCURSOR" val="644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11.661"/>
  <p:tag name="ORIGINALWIDTH" val="10056.24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erp}&#10;    &amp;=        &#10;        \sum_{ q_{\mathtt{L}},q_{\mathtt{R}}=x,y,z | q_{\mathtt{L}}\ne q_{\mathtt{R}} }&#10;        \int\mathrm{d}\bm{r}\, &#10;            \left\{\Phi_{\mathtt{L}}^{\left(q_{\mathtt{L}}\right)}\right\}^{\dagger}&#10;            \hat{U}_{u}&#10;            \Phi_{\mathtt{R}}^{\left(q_{\mathtt{R}}\right)} &#10;            \Theta_{ \Omega_{\mathtt{L}} }^{\left(-q_{\mathtt{L}}\right)}\Theta_{ \Omega_{\mathtt{R}} }^{\left(q_{\mathtt{R}}\right)}&#10;,\\&#10;    &amp;=&#10;        \int\mathrm{d}\bm{r}\,&#10;            \left\{ &#10;                 \left(xyz\right)&#10;                 \left[&#10;                     \left\{ \Phi_{\mathtt{L}}^{\left(y\right)} \right\}^{\dagger}&#10;                     \hat{U}_{u}&#10;                     \Phi_{\mathtt{R}}^{\left(x\right)}&#10;                 \right]&#10;                     +&#10;                 \left(yzx\right)&#10;                 \left[&#10;                     \left\{ \Phi_{\mathtt{L}}^{\left(x\right)} \right\}^{\dagger}&#10;                     \hat{U}_{u}&#10;                     \Phi_{\mathtt{R}}^{\left(z\right)}&#10;                 \right]&#10;                     +&#10;                 \left(zxy\right)&#10;                 \left[&#10;                     \left\{ \Phi_{\mathtt{L}}^{\left(z\right)} \right\}^{\dagger}&#10;                     \hat{U}_{u}&#10;                     \Phi_{\mathtt{R}}^{\left(y\right)}&#10;                 \right]&#10;                     +&#10;                 \left(yxz\right)&#10;                 \left[&#10;                     \left\{ \Phi_{\mathtt{L}}^{\left(x\right)} \right\}^{\dagger}&#10;                     \hat{U}_{u}&#10;                     \Phi_{\mathtt{R}}^{\left(y\right)}&#10;                 \right]&#10;                     +&#10;                 \left(xzy\right)&#10;                 \left[&#10;                     \left\{ \Phi_{\mathtt{L}}^{\left(z\right)} \right\}^{\dagger}&#10;                     \hat{U}_{u}&#10;                     \Phi_{\mathtt{R}}^{\left(x\right)}&#10;                 \right]&#10;                     +&#10;                 \left(zyx\right)&#10;                 \left[&#10;                     \left\{ \Phi_{\mathtt{L}}^{\left(y\right)} \right\}^{\dagger}&#10;                     \hat{U}_{u}&#10;                     \Phi_{\mathtt{R}}^{\left(z\right)}&#10;                 \right]&#10;            \right\}&#10;            \Theta_{ \Omega_{\mathtt{L}} }^{\left(-y\right)}\Theta_{ \Omega_{\mathtt{R}} }^{\left(+x\right)}&#10;,\\&#10;\end{align*}&#10;&#10;\end{document}"/>
  <p:tag name="IGUANATEXSIZE" val="16"/>
  <p:tag name="IGUANATEXCURSOR" val="2063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02.362"/>
  <p:tag name="ORIGINALWIDTH" val="1283.09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f_{\left(A_{n},0\right)} &amp;= f_{\left(A_{n},0\right)} ,\\&#10;\left(zxy\right)f_{\left(A_{n},0\right)} &amp;= f_{\left(A_{n},0\right)} ,\\&#10;\left(yzx\right)f_{\left(E,0\right)} &amp;= \tau^{2}f_{\left(E,0\right)} ,\\&#10;\left(zxy\right)f_{\left(E,0\right)} &amp;= \tau f_{\left(E,0\right)} ,\\&#10;\left(yzx\right)f_{\left(E,1\right)} &amp;= \tau f_{\left(E,1\right)} ,\\&#10;\left(zxy\right)f_{\left(E,1\right)} &amp;= \tau^{2}f_{\left(E,1\right)} ,\\&#10;\end{align*}&#10;&#10;\end{document}"/>
  <p:tag name="IGUANATEXSIZE" val="16"/>
  <p:tag name="IGUANATEXCURSOR" val="525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071.616"/>
  <p:tag name="ORIGINALWIDTH" val="1199.1"/>
  <p:tag name="OUTPUTTYPE" val="PNG"/>
  <p:tag name="IGUANATEXVERSION" val="159"/>
  <p:tag name="LATEXADDIN" val="\documentclass{article}&#10;\usepackage{amsmath,amssymb,bm,physics,mathtools}&#10;\pagestyle{empty}&#10;\begin{document}&#10;&#10;\begin{align*}&#10;\left(yzx\right)f_{\left(T_{n},x\right)} &amp;= f_{\left(T_{n},y\right)} ,\\&#10;\left(zxy\right)f_{\left(T_{n},x\right)} &amp;= f_{\left(T_{n},z\right)} ,\\&#10;\left(yzx\right)f_{\left(T_{n},y\right)} &amp;= f_{\left(T_{n},z\right)} ,\\&#10;\left(zxy\right)f_{\left(T_{n},y\right)} &amp;= f_{\left(T_{n},x\right)} ,\\&#10;\left(yzx\right)f_{\left(T_{n},z\right)} &amp;= f_{\left(T_{n},x\right)} ,\\&#10;\left(zxy\right)f_{\left(T_{n},z\right)} &amp;= f_{\left(T_{n},y\right)} ,\\&#10;\end{align*}&#10;&#10;\end{document}"/>
  <p:tag name="IGUANATEXSIZE" val="16"/>
  <p:tag name="IGUANATEXCURSOR" val="550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81.2149"/>
  <p:tag name="ORIGINALWIDTH" val="4905.887"/>
  <p:tag name="OUTPUTTYPE" val="PNG"/>
  <p:tag name="IGUANATEXVERSION" val="159"/>
  <p:tag name="LATEXADDIN" val="\documentclass{article}&#10;\usepackage{amsmath,amssymb,bm,physics,mathtools}&#10;\pagestyle{empty}&#10;\begin{document}&#10;&#10;\begin{align*}&#10;\mathcal{H}_{\parallel}&#10;    &amp;=&#10;        \int\mathrm{d}\bm{r}\,&#10;            \left\{ &#10;                 \hat{U}_{u}&#10;                     +&#10;                 \tilde{\alpha}_{ \left(\kappa,i\right)_{\mathtt{L}} }^{\left(yzx\right)}&#10;                 \alpha_{ \left(\kappa,i\right)_{\mathtt{R}} }^{\left(yzx\right)}&#10;                 \left(yzx\right)\hat{U}_{u}&#10;                     +&#10;                 \tilde{\alpha}_{ \left(\kappa,i\right)_{\mathtt{L}} }^{\left(zxy\right)}&#10;                 \alpha_{ \left(\kappa,i\right)_{\mathtt{R}} }^{\left(zxy\right)}&#10;                 \left(zxy\right)\hat{U}_{u}&#10;            \right\}&#10;            \left\{ \Phi_{\mathtt{L}}^{\left(z\right)} \right\}^{\dagger}\Phi_{\mathtt{R}}^{\left(z\right)}&#10;            \Theta_{ \Omega_{\mathtt{L}} }^{\left(-z\right)}\Theta_{ \Omega_{\mathtt{R}} }^{\left(+z\right)}&#10;,\\&#10;\end{align*}&#10;&#10;\end{document}"/>
  <p:tag name="IGUANATEXSIZE" val="16"/>
  <p:tag name="IGUANATEXCURSOR" val="531"/>
  <p:tag name="TRANSPARENCY" val="True"/>
  <p:tag name="FILENAME" val=""/>
  <p:tag name="LATEXENGINEID" val="0"/>
  <p:tag name="TEMPFOLDER" val="C:\iguanatex\"/>
  <p:tag name="LATEXFORMHEIGHT" val="572"/>
  <p:tag name="LATEXFORMWIDTH" val="938"/>
  <p:tag name="LATEXFORMWRAP" val="True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12376</TotalTime>
  <Words>63</Words>
  <Application>Microsoft Office PowerPoint</Application>
  <PresentationFormat>Widescreen</PresentationFormat>
  <Paragraphs>14</Paragraphs>
  <Slides>19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 Theme</vt:lpstr>
      <vt:lpstr>Generalized single-valley basis states (I)</vt:lpstr>
      <vt:lpstr>Generalized single-valley basis states (II)</vt:lpstr>
      <vt:lpstr>Generalized single-valley basis states (III)</vt:lpstr>
      <vt:lpstr>Generalized multi-valley basis states (IVa)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Luke Pendo</dc:creator>
  <cp:lastModifiedBy>Luke Pendo</cp:lastModifiedBy>
  <cp:revision>154</cp:revision>
  <dcterms:created xsi:type="dcterms:W3CDTF">2025-01-15T16:32:14Z</dcterms:created>
  <dcterms:modified xsi:type="dcterms:W3CDTF">2025-10-23T17:31:18Z</dcterms:modified>
</cp:coreProperties>
</file>