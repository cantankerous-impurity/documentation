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0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6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0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1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2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23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43"/>
  </p:notesMasterIdLst>
  <p:handoutMasterIdLst>
    <p:handoutMasterId r:id="rId44"/>
  </p:handoutMasterIdLst>
  <p:sldIdLst>
    <p:sldId id="539" r:id="rId2"/>
    <p:sldId id="552" r:id="rId3"/>
    <p:sldId id="541" r:id="rId4"/>
    <p:sldId id="553" r:id="rId5"/>
    <p:sldId id="542" r:id="rId6"/>
    <p:sldId id="566" r:id="rId7"/>
    <p:sldId id="555" r:id="rId8"/>
    <p:sldId id="424" r:id="rId9"/>
    <p:sldId id="540" r:id="rId10"/>
    <p:sldId id="524" r:id="rId11"/>
    <p:sldId id="530" r:id="rId12"/>
    <p:sldId id="578" r:id="rId13"/>
    <p:sldId id="525" r:id="rId14"/>
    <p:sldId id="579" r:id="rId15"/>
    <p:sldId id="531" r:id="rId16"/>
    <p:sldId id="580" r:id="rId17"/>
    <p:sldId id="571" r:id="rId18"/>
    <p:sldId id="567" r:id="rId19"/>
    <p:sldId id="543" r:id="rId20"/>
    <p:sldId id="562" r:id="rId21"/>
    <p:sldId id="581" r:id="rId22"/>
    <p:sldId id="582" r:id="rId23"/>
    <p:sldId id="565" r:id="rId24"/>
    <p:sldId id="560" r:id="rId25"/>
    <p:sldId id="587" r:id="rId26"/>
    <p:sldId id="544" r:id="rId27"/>
    <p:sldId id="583" r:id="rId28"/>
    <p:sldId id="585" r:id="rId29"/>
    <p:sldId id="584" r:id="rId30"/>
    <p:sldId id="586" r:id="rId31"/>
    <p:sldId id="557" r:id="rId32"/>
    <p:sldId id="570" r:id="rId33"/>
    <p:sldId id="573" r:id="rId34"/>
    <p:sldId id="572" r:id="rId35"/>
    <p:sldId id="545" r:id="rId36"/>
    <p:sldId id="574" r:id="rId37"/>
    <p:sldId id="509" r:id="rId38"/>
    <p:sldId id="520" r:id="rId39"/>
    <p:sldId id="510" r:id="rId40"/>
    <p:sldId id="521" r:id="rId41"/>
    <p:sldId id="515" r:id="rId4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00FF"/>
    <a:srgbClr val="005AC0"/>
    <a:srgbClr val="7030A0"/>
    <a:srgbClr val="75AD38"/>
    <a:srgbClr val="FFC11F"/>
    <a:srgbClr val="FF7F7F"/>
    <a:srgbClr val="00CC00"/>
    <a:srgbClr val="33A366"/>
    <a:srgbClr val="72A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8" autoAdjust="0"/>
    <p:restoredTop sz="87360" autoAdjust="0"/>
  </p:normalViewPr>
  <p:slideViewPr>
    <p:cSldViewPr snapToGrid="0" snapToObjects="1">
      <p:cViewPr varScale="1">
        <p:scale>
          <a:sx n="92" d="100"/>
          <a:sy n="92" d="100"/>
        </p:scale>
        <p:origin x="61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1/23/2024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81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85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– can always make any calculation </a:t>
            </a:r>
            <a:r>
              <a:rPr lang="en-US" dirty="0" err="1"/>
              <a:t>computionally</a:t>
            </a:r>
            <a:r>
              <a:rPr lang="en-US" dirty="0"/>
              <a:t> expensive. Might suggest that being able to more quickly calculate electron structure allows for things like exhaustive enumeration of exchange couplings a la Gamble.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63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22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Need to point out that A_{</a:t>
            </a:r>
            <a:r>
              <a:rPr lang="en-US" baseline="0" dirty="0" err="1"/>
              <a:t>qk</a:t>
            </a:r>
            <a:r>
              <a:rPr lang="en-US" baseline="0" dirty="0"/>
              <a:t>} is a sharply peaked wave function at k = k_{q}.</a:t>
            </a:r>
          </a:p>
          <a:p>
            <a:endParaRPr lang="en-US" baseline="0" dirty="0"/>
          </a:p>
          <a:p>
            <a:r>
              <a:rPr lang="en-US" baseline="0" dirty="0"/>
              <a:t>Call F an “envelope function”.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15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344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7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Good predict of excited states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46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Ritz method is a general term. Comparison to LCAO, basis sets in quantum chemistry. </a:t>
            </a:r>
          </a:p>
          <a:p>
            <a:endParaRPr lang="en-US" baseline="0" dirty="0"/>
          </a:p>
          <a:p>
            <a:r>
              <a:rPr lang="en-US" baseline="0" dirty="0"/>
              <a:t>IN SHORT: Ritz method equivalent to (generalized) eigenvalue problem.</a:t>
            </a:r>
          </a:p>
          <a:p>
            <a:endParaRPr lang="en-US" baseline="0" dirty="0"/>
          </a:p>
          <a:p>
            <a:r>
              <a:rPr lang="en-US" baseline="0" dirty="0"/>
              <a:t>Accounting for longer, shorter range behavior. More complicated impurity potentials might not have clear physical ansatz.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87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Software designed to include options to turn on or off desired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865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695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021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 note that these are not hydrogenic basis states – the hydrogenic bound states are not complete.</a:t>
            </a:r>
          </a:p>
          <a:p>
            <a:endParaRPr lang="en-US" dirty="0"/>
          </a:p>
          <a:p>
            <a:r>
              <a:rPr lang="en-US" dirty="0"/>
              <a:t>The rotation is some preliminary </a:t>
            </a:r>
            <a:r>
              <a:rPr lang="en-US" dirty="0" err="1"/>
              <a:t>symmetrization</a:t>
            </a:r>
            <a:r>
              <a:rPr lang="en-US" dirty="0"/>
              <a:t>. We’ll deal with more substantial and complete </a:t>
            </a:r>
            <a:r>
              <a:rPr lang="en-US" dirty="0" err="1"/>
              <a:t>symmetrization</a:t>
            </a:r>
            <a:r>
              <a:rPr lang="en-US" dirty="0"/>
              <a:t>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399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Introducing variational parameters in a fashion equivalent to </a:t>
            </a:r>
            <a:r>
              <a:rPr lang="en-US" dirty="0" err="1"/>
              <a:t>KL,Faulkner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5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Introducing variational parameters in a fashion equivalent to </a:t>
            </a:r>
            <a:r>
              <a:rPr lang="en-US" dirty="0" err="1"/>
              <a:t>KL,Faulkner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028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Not sure how much detail regarding the group theory stuff to go into here. Maybe good to have a slide illustrating the idea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79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Might be worthwhile to stress that you no longer have orthonormality.</a:t>
            </a:r>
          </a:p>
          <a:p>
            <a:endParaRPr lang="en-US" dirty="0"/>
          </a:p>
          <a:p>
            <a:r>
              <a:rPr lang="en-US" dirty="0"/>
              <a:t>Unique feature, haven’t seen this in the EMT silicon donor literature – more complicated </a:t>
            </a:r>
            <a:r>
              <a:rPr lang="en-US" dirty="0" err="1"/>
              <a:t>symmetrization</a:t>
            </a:r>
            <a:r>
              <a:rPr lang="en-US" dirty="0"/>
              <a:t> from more complicated ansatz wavefunction.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556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23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26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88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330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“Energetic minimum” – minimum of the energy surface formed by varying state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7208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413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310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essence, rather then treating the wavefunction as an independent parameters (as we might in the variational approach) we treat the wavefunction as a dependent parameter, a result of our Hamiltonian and our impurity model.</a:t>
            </a:r>
          </a:p>
          <a:p>
            <a:endParaRPr lang="en-US" dirty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Tension between rejecting some points of the variational state and treating the wavefunction as a dependent parameter. We can resolve this by suggesting that we seek model Hamiltonians that increase the energy of those points in state space, meaning variational optimization doesn’t pick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019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73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  <p:sldLayoutId id="2147483911" r:id="rId1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3.xml"/><Relationship Id="rId7" Type="http://schemas.openxmlformats.org/officeDocument/2006/relationships/image" Target="../media/image1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6.png"/><Relationship Id="rId4" Type="http://schemas.openxmlformats.org/officeDocument/2006/relationships/tags" Target="../tags/tag4.xml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21.png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20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19.png"/><Relationship Id="rId5" Type="http://schemas.openxmlformats.org/officeDocument/2006/relationships/tags" Target="../tags/tag9.xml"/><Relationship Id="rId10" Type="http://schemas.openxmlformats.org/officeDocument/2006/relationships/image" Target="../media/image18.png"/><Relationship Id="rId4" Type="http://schemas.openxmlformats.org/officeDocument/2006/relationships/tags" Target="../tags/tag8.xml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15.xml"/><Relationship Id="rId7" Type="http://schemas.openxmlformats.org/officeDocument/2006/relationships/image" Target="../media/image2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9.png"/><Relationship Id="rId4" Type="http://schemas.openxmlformats.org/officeDocument/2006/relationships/tags" Target="../tags/tag16.xml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image" Target="../media/image32.pn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tags" Target="../tags/tag18.xml"/><Relationship Id="rId16" Type="http://schemas.openxmlformats.org/officeDocument/2006/relationships/image" Target="../media/image35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30.png"/><Relationship Id="rId5" Type="http://schemas.openxmlformats.org/officeDocument/2006/relationships/tags" Target="../tags/tag21.xml"/><Relationship Id="rId15" Type="http://schemas.openxmlformats.org/officeDocument/2006/relationships/image" Target="../media/image34.png"/><Relationship Id="rId10" Type="http://schemas.openxmlformats.org/officeDocument/2006/relationships/notesSlide" Target="../notesSlides/notesSlide7.xml"/><Relationship Id="rId4" Type="http://schemas.openxmlformats.org/officeDocument/2006/relationships/tags" Target="../tags/tag20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7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tags" Target="../tags/tag29.xml"/><Relationship Id="rId21" Type="http://schemas.openxmlformats.org/officeDocument/2006/relationships/image" Target="../media/image42.png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tags" Target="../tags/tag28.xml"/><Relationship Id="rId16" Type="http://schemas.openxmlformats.org/officeDocument/2006/relationships/notesSlide" Target="../notesSlides/notesSlide9.xml"/><Relationship Id="rId20" Type="http://schemas.openxmlformats.org/officeDocument/2006/relationships/image" Target="../media/image41.png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24" Type="http://schemas.openxmlformats.org/officeDocument/2006/relationships/image" Target="../media/image45.png"/><Relationship Id="rId5" Type="http://schemas.openxmlformats.org/officeDocument/2006/relationships/tags" Target="../tags/tag31.xml"/><Relationship Id="rId15" Type="http://schemas.openxmlformats.org/officeDocument/2006/relationships/slideLayout" Target="../slideLayouts/slideLayout12.xml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tags" Target="../tags/tag36.xml"/><Relationship Id="rId19" Type="http://schemas.openxmlformats.org/officeDocument/2006/relationships/image" Target="../media/image40.png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43.xml"/><Relationship Id="rId7" Type="http://schemas.openxmlformats.org/officeDocument/2006/relationships/image" Target="../media/image51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50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53.png"/><Relationship Id="rId4" Type="http://schemas.openxmlformats.org/officeDocument/2006/relationships/notesSlide" Target="../notesSlides/notesSlide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tags" Target="../tags/tag48.xml"/><Relationship Id="rId7" Type="http://schemas.openxmlformats.org/officeDocument/2006/relationships/image" Target="../media/image55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54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image" Target="../media/image61.png"/><Relationship Id="rId3" Type="http://schemas.openxmlformats.org/officeDocument/2006/relationships/tags" Target="../tags/tag5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60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59.png"/><Relationship Id="rId5" Type="http://schemas.openxmlformats.org/officeDocument/2006/relationships/tags" Target="../tags/tag53.xml"/><Relationship Id="rId10" Type="http://schemas.openxmlformats.org/officeDocument/2006/relationships/image" Target="../media/image58.png"/><Relationship Id="rId4" Type="http://schemas.openxmlformats.org/officeDocument/2006/relationships/tags" Target="../tags/tag52.xml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5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notesSlide" Target="../notesSlides/notesSlide1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tags" Target="../tags/tag59.xml"/><Relationship Id="rId21" Type="http://schemas.openxmlformats.org/officeDocument/2006/relationships/image" Target="../media/image72.png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tags" Target="../tags/tag58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image" Target="../media/image75.png"/><Relationship Id="rId5" Type="http://schemas.openxmlformats.org/officeDocument/2006/relationships/tags" Target="../tags/tag61.xml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10" Type="http://schemas.openxmlformats.org/officeDocument/2006/relationships/tags" Target="../tags/tag66.xml"/><Relationship Id="rId19" Type="http://schemas.openxmlformats.org/officeDocument/2006/relationships/image" Target="../media/image70.png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notesSlide" Target="../notesSlides/notesSlide17.xml"/><Relationship Id="rId22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notesSlide" Target="../notesSlides/notesSlide1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tags" Target="../tags/tag73.xml"/><Relationship Id="rId7" Type="http://schemas.openxmlformats.org/officeDocument/2006/relationships/image" Target="../media/image87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86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91.png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tags" Target="../tags/tag75.xml"/><Relationship Id="rId16" Type="http://schemas.openxmlformats.org/officeDocument/2006/relationships/image" Target="../media/image94.png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89.png"/><Relationship Id="rId5" Type="http://schemas.openxmlformats.org/officeDocument/2006/relationships/tags" Target="../tags/tag78.xml"/><Relationship Id="rId15" Type="http://schemas.openxmlformats.org/officeDocument/2006/relationships/image" Target="../media/image93.png"/><Relationship Id="rId10" Type="http://schemas.openxmlformats.org/officeDocument/2006/relationships/notesSlide" Target="../notesSlides/notesSlide21.xml"/><Relationship Id="rId4" Type="http://schemas.openxmlformats.org/officeDocument/2006/relationships/tags" Target="../tags/tag7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9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notesSlide" Target="../notesSlides/notesSlide22.xml"/><Relationship Id="rId18" Type="http://schemas.openxmlformats.org/officeDocument/2006/relationships/image" Target="../media/image100.png"/><Relationship Id="rId3" Type="http://schemas.openxmlformats.org/officeDocument/2006/relationships/tags" Target="../tags/tag84.xml"/><Relationship Id="rId21" Type="http://schemas.openxmlformats.org/officeDocument/2006/relationships/image" Target="../media/image103.png"/><Relationship Id="rId7" Type="http://schemas.openxmlformats.org/officeDocument/2006/relationships/tags" Target="../tags/tag88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99.png"/><Relationship Id="rId2" Type="http://schemas.openxmlformats.org/officeDocument/2006/relationships/tags" Target="../tags/tag83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image" Target="../media/image97.png"/><Relationship Id="rId10" Type="http://schemas.openxmlformats.org/officeDocument/2006/relationships/tags" Target="../tags/tag91.xml"/><Relationship Id="rId19" Type="http://schemas.openxmlformats.org/officeDocument/2006/relationships/image" Target="../media/image101.png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13" Type="http://schemas.openxmlformats.org/officeDocument/2006/relationships/image" Target="../media/image108.png"/><Relationship Id="rId3" Type="http://schemas.openxmlformats.org/officeDocument/2006/relationships/tags" Target="../tags/tag95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07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image" Target="../media/image106.png"/><Relationship Id="rId5" Type="http://schemas.openxmlformats.org/officeDocument/2006/relationships/tags" Target="../tags/tag97.xml"/><Relationship Id="rId10" Type="http://schemas.openxmlformats.org/officeDocument/2006/relationships/image" Target="../media/image105.png"/><Relationship Id="rId4" Type="http://schemas.openxmlformats.org/officeDocument/2006/relationships/tags" Target="../tags/tag96.xml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image" Target="../media/image100.png"/><Relationship Id="rId3" Type="http://schemas.openxmlformats.org/officeDocument/2006/relationships/tags" Target="../tags/tag101.xml"/><Relationship Id="rId21" Type="http://schemas.openxmlformats.org/officeDocument/2006/relationships/slideLayout" Target="../slideLayouts/slideLayout12.xml"/><Relationship Id="rId34" Type="http://schemas.openxmlformats.org/officeDocument/2006/relationships/image" Target="../media/image115.png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image" Target="../media/image99.png"/><Relationship Id="rId33" Type="http://schemas.openxmlformats.org/officeDocument/2006/relationships/image" Target="../media/image114.png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tags" Target="../tags/tag118.xml"/><Relationship Id="rId29" Type="http://schemas.openxmlformats.org/officeDocument/2006/relationships/image" Target="../media/image103.png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image" Target="../media/image98.png"/><Relationship Id="rId32" Type="http://schemas.openxmlformats.org/officeDocument/2006/relationships/image" Target="../media/image113.png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23" Type="http://schemas.openxmlformats.org/officeDocument/2006/relationships/image" Target="../media/image110.png"/><Relationship Id="rId28" Type="http://schemas.openxmlformats.org/officeDocument/2006/relationships/image" Target="../media/image102.png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image" Target="../media/image112.png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notesSlide" Target="../notesSlides/notesSlide24.xml"/><Relationship Id="rId27" Type="http://schemas.openxmlformats.org/officeDocument/2006/relationships/image" Target="../media/image101.png"/><Relationship Id="rId30" Type="http://schemas.openxmlformats.org/officeDocument/2006/relationships/image" Target="../media/image111.png"/><Relationship Id="rId35" Type="http://schemas.openxmlformats.org/officeDocument/2006/relationships/image" Target="../media/image116.png"/><Relationship Id="rId8" Type="http://schemas.openxmlformats.org/officeDocument/2006/relationships/tags" Target="../tags/tag10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A4071D-BB9D-4544-A70A-F5F1A09E3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3968496"/>
            <a:ext cx="6638544" cy="1650381"/>
          </a:xfrm>
        </p:spPr>
        <p:txBody>
          <a:bodyPr>
            <a:normAutofit/>
          </a:bodyPr>
          <a:lstStyle/>
          <a:p>
            <a:r>
              <a:rPr lang="en-US" i="0" dirty="0"/>
              <a:t>PhD Defense – January 23</a:t>
            </a:r>
            <a:r>
              <a:rPr lang="en-US" i="0" baseline="30000" dirty="0"/>
              <a:t>rd</a:t>
            </a:r>
            <a:r>
              <a:rPr lang="en-US" i="0" dirty="0"/>
              <a:t>, 2024</a:t>
            </a:r>
          </a:p>
          <a:p>
            <a:r>
              <a:rPr lang="en-US" dirty="0"/>
              <a:t>Luke Pendo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7726B7-BE34-4866-8953-1808D06B7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792365"/>
            <a:ext cx="11380223" cy="308469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Evaluation of effective mass descriptions of the electronic structure of the isolated phosphorus silicon donor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6F668D-37E4-4004-8DB7-0DC6EB80C7BD}"/>
              </a:ext>
            </a:extLst>
          </p:cNvPr>
          <p:cNvSpPr txBox="1"/>
          <p:nvPr/>
        </p:nvSpPr>
        <p:spPr>
          <a:xfrm>
            <a:off x="1331872" y="5283201"/>
            <a:ext cx="9528256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https://gitlab.com/cantankerous-impurity/cantankerous-impurity/-/blob/</a:t>
            </a:r>
            <a:r>
              <a:rPr lang="en-US">
                <a:solidFill>
                  <a:schemeClr val="bg1"/>
                </a:solidFill>
              </a:rPr>
              <a:t>core/PhDDefense</a:t>
            </a:r>
            <a:r>
              <a:rPr lang="en-US" dirty="0">
                <a:solidFill>
                  <a:schemeClr val="bg1"/>
                </a:solidFill>
              </a:rPr>
              <a:t>.pptx</a:t>
            </a:r>
          </a:p>
        </p:txBody>
      </p:sp>
    </p:spTree>
    <p:extLst>
      <p:ext uri="{BB962C8B-B14F-4D97-AF65-F5344CB8AC3E}">
        <p14:creationId xmlns:p14="http://schemas.microsoft.com/office/powerpoint/2010/main" val="21018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E8739-5C61-472A-9115-B531BF49F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931" y="1564808"/>
            <a:ext cx="5589846" cy="3728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FFA92F-CA1B-4914-8785-18173BEDC0B0}"/>
              </a:ext>
            </a:extLst>
          </p:cNvPr>
          <p:cNvSpPr txBox="1"/>
          <p:nvPr/>
        </p:nvSpPr>
        <p:spPr>
          <a:xfrm>
            <a:off x="3710242" y="5444649"/>
            <a:ext cx="7484535" cy="73866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Quantum supercomputer from television miniseries </a:t>
            </a:r>
            <a:r>
              <a:rPr lang="en-US" sz="14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Devs</a:t>
            </a:r>
            <a:endParaRPr lang="en-US" sz="1400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Picture credited to M. Mizuno/FX.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4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https://www.nytimes.com/2020/05/04/arts/television/westworld-finale-devs-sean-carroll.html</a:t>
            </a:r>
          </a:p>
        </p:txBody>
      </p:sp>
    </p:spTree>
    <p:extLst>
      <p:ext uri="{BB962C8B-B14F-4D97-AF65-F5344CB8AC3E}">
        <p14:creationId xmlns:p14="http://schemas.microsoft.com/office/powerpoint/2010/main" val="31104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quantum computing?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B8E04-E3FC-4BBC-A47C-59FC034576DA}"/>
              </a:ext>
            </a:extLst>
          </p:cNvPr>
          <p:cNvSpPr txBox="1"/>
          <p:nvPr/>
        </p:nvSpPr>
        <p:spPr>
          <a:xfrm>
            <a:off x="483931" y="1829512"/>
            <a:ext cx="1122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Quantum advantage</a:t>
            </a:r>
          </a:p>
          <a:p>
            <a:pPr algn="ctr"/>
            <a:r>
              <a:rPr lang="en-US" dirty="0"/>
              <a:t>There are [probably] some tasks [fault tolerant] quantum computers do much than better classical computers!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3EFDDB-EBB4-4D3C-9EF2-8DCA61CBAAC7}"/>
              </a:ext>
            </a:extLst>
          </p:cNvPr>
          <p:cNvSpPr txBox="1"/>
          <p:nvPr/>
        </p:nvSpPr>
        <p:spPr>
          <a:xfrm>
            <a:off x="1481667" y="4093813"/>
            <a:ext cx="92286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The exciting idea: Quantum simulation</a:t>
            </a:r>
          </a:p>
          <a:p>
            <a:r>
              <a:rPr lang="en-US" dirty="0"/>
              <a:t>“Quantum algorithms can exponentially outperform classical ones when simulating a system with many quantum degrees of freedom, with applications including problems in chemistry, materials science, condensed matter, nuclear physics, and high-energy physics” [2]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BF461C-346D-4964-91DB-F0AFCED12AD3}"/>
              </a:ext>
            </a:extLst>
          </p:cNvPr>
          <p:cNvSpPr txBox="1"/>
          <p:nvPr/>
        </p:nvSpPr>
        <p:spPr>
          <a:xfrm>
            <a:off x="2546351" y="2756081"/>
            <a:ext cx="7099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The quintessential example: Prime factorization of an integer. </a:t>
            </a:r>
            <a:r>
              <a:rPr lang="en-US" dirty="0"/>
              <a:t>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Classical – General number field sieve – Exponential time – exp(O[n</a:t>
            </a:r>
            <a:r>
              <a:rPr lang="en-US" baseline="30000" dirty="0"/>
              <a:t>1/3</a:t>
            </a:r>
            <a:r>
              <a:rPr lang="en-US" dirty="0"/>
              <a:t>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Quantum – Shor’s algorithm – Polynomial time – O[ n</a:t>
            </a:r>
            <a:r>
              <a:rPr lang="en-US" baseline="30000" dirty="0"/>
              <a:t>2 </a:t>
            </a:r>
            <a:r>
              <a:rPr lang="en-US" dirty="0"/>
              <a:t>log (n)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C00000"/>
                </a:solidFill>
              </a:rPr>
              <a:t>Substantial implications for cryptography and cybersecurity!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5ED31-C243-44FE-B311-0C8A6868D6AC}"/>
              </a:ext>
            </a:extLst>
          </p:cNvPr>
          <p:cNvSpPr txBox="1"/>
          <p:nvPr/>
        </p:nvSpPr>
        <p:spPr>
          <a:xfrm>
            <a:off x="651933" y="5376669"/>
            <a:ext cx="1088813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Classically, representation of a quantum state grows with basis size (N), operators grow as (N</a:t>
            </a:r>
            <a:r>
              <a:rPr lang="en-US" baseline="30000" dirty="0"/>
              <a:t>2</a:t>
            </a:r>
            <a:r>
              <a:rPr lang="en-US" dirty="0"/>
              <a:t>).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Hilbert space grows exponentially, so a classical computer can simulate only a small quantum system.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Quantum, only log</a:t>
            </a:r>
            <a:r>
              <a:rPr lang="en-US" baseline="-25000" dirty="0"/>
              <a:t>2</a:t>
            </a:r>
            <a:r>
              <a:rPr lang="en-US" dirty="0"/>
              <a:t>(N) qubits and a finite series of gates of length O[ </a:t>
            </a:r>
            <a:r>
              <a:rPr lang="en-US" dirty="0" err="1"/>
              <a:t>log</a:t>
            </a:r>
            <a:r>
              <a:rPr lang="en-US" baseline="30000" dirty="0" err="1"/>
              <a:t>c</a:t>
            </a:r>
            <a:r>
              <a:rPr lang="en-US" dirty="0"/>
              <a:t>(1/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n-US" dirty="0"/>
              <a:t>) ] [3].</a:t>
            </a:r>
          </a:p>
        </p:txBody>
      </p:sp>
    </p:spTree>
    <p:extLst>
      <p:ext uri="{BB962C8B-B14F-4D97-AF65-F5344CB8AC3E}">
        <p14:creationId xmlns:p14="http://schemas.microsoft.com/office/powerpoint/2010/main" val="51111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caveats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B8E04-E3FC-4BBC-A47C-59FC034576DA}"/>
              </a:ext>
            </a:extLst>
          </p:cNvPr>
          <p:cNvSpPr txBox="1"/>
          <p:nvPr/>
        </p:nvSpPr>
        <p:spPr>
          <a:xfrm>
            <a:off x="254001" y="3645753"/>
            <a:ext cx="11683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Quantum supremacy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“The demonstration of an efficient </a:t>
            </a:r>
            <a:r>
              <a:rPr lang="en-US" i="1" dirty="0">
                <a:solidFill>
                  <a:srgbClr val="00B050"/>
                </a:solidFill>
              </a:rPr>
              <a:t>quantum computed solution </a:t>
            </a:r>
            <a:r>
              <a:rPr lang="en-US" dirty="0"/>
              <a:t>to any problem </a:t>
            </a:r>
            <a:r>
              <a:rPr lang="en-US" i="1" dirty="0">
                <a:solidFill>
                  <a:srgbClr val="C00000"/>
                </a:solidFill>
              </a:rPr>
              <a:t>intractable for classical computers</a:t>
            </a:r>
            <a:r>
              <a:rPr lang="en-US" dirty="0"/>
              <a:t>.” [1,2]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Quantum supremacy (or something close to it) probably demonstrated by Google Sycamore [4,5].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2F7118-CF66-48D6-8BBE-2AB53BC0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0" y="4834785"/>
            <a:ext cx="2768141" cy="19030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79C125-C9DB-48F8-9875-4FE1B1FD1BAE}"/>
              </a:ext>
            </a:extLst>
          </p:cNvPr>
          <p:cNvSpPr txBox="1"/>
          <p:nvPr/>
        </p:nvSpPr>
        <p:spPr>
          <a:xfrm>
            <a:off x="3448491" y="5038290"/>
            <a:ext cx="6768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NISQ</a:t>
            </a:r>
            <a:r>
              <a:rPr lang="en-US" i="1" dirty="0"/>
              <a:t> – Noisy Intermediate-scale Quantum</a:t>
            </a:r>
            <a:r>
              <a:rPr lang="en-US" dirty="0"/>
              <a:t> [6]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Quantum computing hardware is developing but still early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Continuing problems with scalability,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Limited, lossy qubits.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 search to find applications for NISQ devices.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83FDC-17BA-4B27-9818-6F721945B19A}"/>
              </a:ext>
            </a:extLst>
          </p:cNvPr>
          <p:cNvSpPr txBox="1"/>
          <p:nvPr/>
        </p:nvSpPr>
        <p:spPr>
          <a:xfrm>
            <a:off x="483931" y="1829512"/>
            <a:ext cx="11224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Quantum advantage</a:t>
            </a:r>
          </a:p>
          <a:p>
            <a:pPr algn="ctr"/>
            <a:r>
              <a:rPr lang="en-US" dirty="0"/>
              <a:t>There are [probably] some tasks [fault tolerant] quantum computers do much better than classical computers!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Fault tolerant quantum computers do not yet exist!</a:t>
            </a:r>
          </a:p>
        </p:txBody>
      </p:sp>
    </p:spTree>
    <p:extLst>
      <p:ext uri="{BB962C8B-B14F-4D97-AF65-F5344CB8AC3E}">
        <p14:creationId xmlns:p14="http://schemas.microsoft.com/office/powerpoint/2010/main" val="148324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Leading implementations of quantum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1429C-C6FB-4609-AD18-538950D8AE72}"/>
              </a:ext>
            </a:extLst>
          </p:cNvPr>
          <p:cNvSpPr txBox="1"/>
          <p:nvPr/>
        </p:nvSpPr>
        <p:spPr>
          <a:xfrm>
            <a:off x="153727" y="2101058"/>
            <a:ext cx="53531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Trapped ion qubits </a:t>
            </a:r>
            <a:r>
              <a:rPr lang="en-US" dirty="0"/>
              <a:t>[7]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Atomic ions trapped in electromagnetic fields.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Types</a:t>
            </a:r>
            <a:r>
              <a:rPr lang="en-US" i="1" dirty="0"/>
              <a:t> – optical</a:t>
            </a:r>
            <a:r>
              <a:rPr lang="en-US" dirty="0"/>
              <a:t> and </a:t>
            </a:r>
            <a:r>
              <a:rPr lang="en-US" i="1" dirty="0"/>
              <a:t>hyperfine </a:t>
            </a:r>
            <a:r>
              <a:rPr lang="en-US" dirty="0"/>
              <a:t>qubits.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Optical</a:t>
            </a:r>
            <a:r>
              <a:rPr lang="en-US" dirty="0"/>
              <a:t> – Different electronic states.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Hyperfine</a:t>
            </a:r>
            <a:r>
              <a:rPr lang="en-US" dirty="0"/>
              <a:t> – Hyperfine split in ground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Manipulation</a:t>
            </a:r>
            <a:r>
              <a:rPr lang="en-US" dirty="0"/>
              <a:t> – addressing via EM field.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Optical – laser exciting quadrupole transition.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Hyperfine – microwave antenna.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Hyperfine – microwave Raman transitions.</a:t>
            </a:r>
            <a:endParaRPr lang="en-US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Measurement</a:t>
            </a:r>
            <a:r>
              <a:rPr lang="en-US" dirty="0"/>
              <a:t> – photon scattering.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Pros – </a:t>
            </a:r>
            <a:r>
              <a:rPr lang="en-US" dirty="0"/>
              <a:t>Mobile qubits.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Cons – </a:t>
            </a:r>
            <a:r>
              <a:rPr lang="en-US" dirty="0"/>
              <a:t>Chains of trapped ions limited in number. Very slow gates.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241E2D-3671-461E-B62D-8D56721128FD}"/>
              </a:ext>
            </a:extLst>
          </p:cNvPr>
          <p:cNvSpPr txBox="1"/>
          <p:nvPr/>
        </p:nvSpPr>
        <p:spPr>
          <a:xfrm>
            <a:off x="5660630" y="1963191"/>
            <a:ext cx="63776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Superconducting qubits </a:t>
            </a:r>
            <a:r>
              <a:rPr lang="en-US" dirty="0"/>
              <a:t>[8]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Lithographically defined superconducting electric circuits at millikelvin temperatures.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Types</a:t>
            </a:r>
            <a:r>
              <a:rPr lang="en-US" i="1" dirty="0"/>
              <a:t> – </a:t>
            </a:r>
            <a:r>
              <a:rPr lang="en-US" i="1" dirty="0" err="1"/>
              <a:t>transmon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flux </a:t>
            </a:r>
            <a:r>
              <a:rPr lang="en-US" dirty="0"/>
              <a:t>qubits.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 err="1"/>
              <a:t>Transmon</a:t>
            </a:r>
            <a:r>
              <a:rPr lang="en-US" dirty="0"/>
              <a:t> – Charge islands coupled by Josephson junction.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Flux</a:t>
            </a:r>
            <a:r>
              <a:rPr lang="en-US" dirty="0"/>
              <a:t> – Magnetic flux states coupled by Josephson junction.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NISQ-era implementations! Google, IBM, Intel,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Manipulation – </a:t>
            </a:r>
            <a:r>
              <a:rPr lang="en-US" dirty="0"/>
              <a:t>microwave antenna.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Measurement – </a:t>
            </a:r>
            <a:r>
              <a:rPr lang="en-US" dirty="0"/>
              <a:t>qubit-coupled resonator dispersive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Pros –</a:t>
            </a:r>
            <a:r>
              <a:rPr lang="en-US" dirty="0"/>
              <a:t> Fast, high fidelity gates. Compatible with extant semiconductor fabrication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 – </a:t>
            </a:r>
            <a:r>
              <a:rPr lang="en-US" dirty="0"/>
              <a:t>Extensive refrigeration requirements. </a:t>
            </a:r>
            <a:r>
              <a:rPr lang="en-US" dirty="0" err="1"/>
              <a:t>Superlinear</a:t>
            </a:r>
            <a:r>
              <a:rPr lang="en-US" dirty="0"/>
              <a:t> calibration complexity to coordinate artificial atoms. Very large footprint per qubit.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703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Silicon spin qubits [9]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241E2D-3671-461E-B62D-8D56721128FD}"/>
              </a:ext>
            </a:extLst>
          </p:cNvPr>
          <p:cNvSpPr txBox="1"/>
          <p:nvPr/>
        </p:nvSpPr>
        <p:spPr>
          <a:xfrm>
            <a:off x="2907179" y="2083841"/>
            <a:ext cx="6377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Spins hosted by electrons confined in silicon.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Types</a:t>
            </a:r>
            <a:r>
              <a:rPr lang="en-US" i="1" dirty="0"/>
              <a:t> – quantum dot </a:t>
            </a:r>
            <a:r>
              <a:rPr lang="en-US" dirty="0"/>
              <a:t>and </a:t>
            </a:r>
            <a:r>
              <a:rPr lang="en-US" i="1" dirty="0"/>
              <a:t>donor </a:t>
            </a:r>
            <a:r>
              <a:rPr lang="en-US" dirty="0"/>
              <a:t>qubits.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Dot</a:t>
            </a:r>
            <a:r>
              <a:rPr lang="en-US" dirty="0"/>
              <a:t> – Electrons confined by electric gates.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Donor</a:t>
            </a:r>
            <a:r>
              <a:rPr lang="en-US" dirty="0"/>
              <a:t> – Electron confined by impurity charge.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Manipulation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Dot – </a:t>
            </a:r>
            <a:r>
              <a:rPr lang="en-US" dirty="0"/>
              <a:t>electrical gating</a:t>
            </a:r>
            <a:r>
              <a:rPr lang="en-US" i="1" dirty="0"/>
              <a:t>. 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Donor – </a:t>
            </a:r>
            <a:r>
              <a:rPr lang="en-US" dirty="0"/>
              <a:t>microwave antenna.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Measurement – </a:t>
            </a:r>
            <a:r>
              <a:rPr lang="en-US" dirty="0"/>
              <a:t>Spin-to-charge conversion using spin blockade.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Pros:</a:t>
            </a:r>
            <a:r>
              <a:rPr lang="en-US" dirty="0"/>
              <a:t> Long coherence times. Small physical footprint per qubit. Fast two-qubit gates.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Cons: </a:t>
            </a:r>
            <a:r>
              <a:rPr lang="en-US" dirty="0"/>
              <a:t>Measurement relatively slow.</a:t>
            </a:r>
            <a:r>
              <a:rPr lang="en-US" b="1" dirty="0"/>
              <a:t> </a:t>
            </a:r>
            <a:r>
              <a:rPr lang="en-US" i="1" dirty="0">
                <a:solidFill>
                  <a:srgbClr val="C00000"/>
                </a:solidFill>
              </a:rPr>
              <a:t>No clear demonstration of a scalable two-qubit gate.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C5F4A-F75B-41A5-9C22-66661AF8F9FA}"/>
              </a:ext>
            </a:extLst>
          </p:cNvPr>
          <p:cNvSpPr txBox="1"/>
          <p:nvPr/>
        </p:nvSpPr>
        <p:spPr>
          <a:xfrm>
            <a:off x="1073539" y="5807059"/>
            <a:ext cx="1004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 fidelity two-qubit gates requires spatial control of the number density of two electrons. </a:t>
            </a:r>
          </a:p>
          <a:p>
            <a:pPr algn="ctr"/>
            <a:r>
              <a:rPr lang="en-US" b="1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As such, we seek to understand how the bound electron spreads and scatters through the silicon crystal.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FC93A9-BC71-4791-A021-1CD9D831861A}"/>
              </a:ext>
            </a:extLst>
          </p:cNvPr>
          <p:cNvGrpSpPr/>
          <p:nvPr/>
        </p:nvGrpSpPr>
        <p:grpSpPr>
          <a:xfrm>
            <a:off x="8977401" y="1030999"/>
            <a:ext cx="3159227" cy="2645905"/>
            <a:chOff x="93751" y="977584"/>
            <a:chExt cx="3159227" cy="264590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3E0BD44-26EC-4A75-AC76-1AA470902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336" y="977584"/>
              <a:ext cx="2734057" cy="226726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64CC0E-0ADD-48FC-82AB-3BFE58CFF576}"/>
                </a:ext>
              </a:extLst>
            </p:cNvPr>
            <p:cNvSpPr txBox="1"/>
            <p:nvPr/>
          </p:nvSpPr>
          <p:spPr>
            <a:xfrm>
              <a:off x="93751" y="3100269"/>
              <a:ext cx="3159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Gate-defined quantum dot</a:t>
              </a:r>
            </a:p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C. H. Yang, </a:t>
              </a:r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et al.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 Nature </a:t>
              </a:r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580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 350 (2020)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BE414E-0023-4DA3-8CAF-75354B336583}"/>
              </a:ext>
            </a:extLst>
          </p:cNvPr>
          <p:cNvGrpSpPr/>
          <p:nvPr/>
        </p:nvGrpSpPr>
        <p:grpSpPr>
          <a:xfrm>
            <a:off x="57150" y="1030999"/>
            <a:ext cx="2768321" cy="2164520"/>
            <a:chOff x="298729" y="3642539"/>
            <a:chExt cx="2768321" cy="216452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25FD2D3-8F6B-4EC9-878D-F6AA82FC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771" y="3642539"/>
              <a:ext cx="2518237" cy="181517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E41A65-AE83-4AD1-99CB-11B529D15D3A}"/>
                </a:ext>
              </a:extLst>
            </p:cNvPr>
            <p:cNvSpPr txBox="1"/>
            <p:nvPr/>
          </p:nvSpPr>
          <p:spPr>
            <a:xfrm>
              <a:off x="298729" y="5283839"/>
              <a:ext cx="27683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Silicon donor qubits</a:t>
              </a:r>
            </a:p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Y. He, </a:t>
              </a:r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et al.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 Nature </a:t>
              </a:r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571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 371 (2019)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564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SILICON DONOR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4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764583" y="5144429"/>
            <a:ext cx="4662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Picture modified by L. Pendo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Original crystal structure picture by B. Mills, public domain. </a:t>
            </a:r>
          </a:p>
          <a:p>
            <a:pPr algn="ctr"/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https://commons.wikimedia.org/w/index.php?curid=2722584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09018-FBA5-4CB6-AE04-5CDD93B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System description – Silicon donor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B03C00-2683-4AC6-A551-429FDB2D3F5F}"/>
              </a:ext>
            </a:extLst>
          </p:cNvPr>
          <p:cNvGrpSpPr/>
          <p:nvPr/>
        </p:nvGrpSpPr>
        <p:grpSpPr>
          <a:xfrm>
            <a:off x="526645" y="2119688"/>
            <a:ext cx="11138711" cy="2769989"/>
            <a:chOff x="526645" y="2119688"/>
            <a:chExt cx="11138711" cy="2769989"/>
          </a:xfrm>
        </p:grpSpPr>
        <p:sp>
          <p:nvSpPr>
            <p:cNvPr id="26" name="Text Placeholder 1 1 1"/>
            <p:cNvSpPr txBox="1">
              <a:spLocks/>
            </p:cNvSpPr>
            <p:nvPr/>
          </p:nvSpPr>
          <p:spPr>
            <a:xfrm>
              <a:off x="3592791" y="2119688"/>
              <a:ext cx="8072565" cy="27699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Infinite silicon crystal bulk.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Silicon replaced by an isolated pnictogen (Group V/Group 15) impurity, </a:t>
              </a:r>
              <a:r>
                <a:rPr lang="en-US" b="1" i="1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donor</a:t>
              </a: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pnictogen we consider most often is </a:t>
              </a:r>
              <a:r>
                <a:rPr lang="en-US" dirty="0">
                  <a:solidFill>
                    <a:srgbClr val="75AD3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phosphorous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System is symmetric about the impurity under </a:t>
              </a:r>
              <a:r>
                <a:rPr lang="en-US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operations of point group </a:t>
              </a:r>
              <a:r>
                <a:rPr lang="en-US" i="1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r>
                <a:rPr lang="en-US" i="1" baseline="-25000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Excess proton of pnictogen attracts an </a:t>
              </a:r>
              <a:r>
                <a:rPr lang="en-US" dirty="0">
                  <a:solidFill>
                    <a:schemeClr val="accent6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excess electron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6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Excess electron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affected by</a:t>
              </a:r>
              <a:r>
                <a:rPr lang="en-US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periodic crystal potential</a:t>
              </a: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weakly bound to donor potential</a:t>
              </a: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lang="en-US" i="1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42939" lvl="1" indent="-2857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800" i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Small-scale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: looks like a </a:t>
              </a:r>
              <a:r>
                <a:rPr lang="en-US" sz="18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Bloch wave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742939" lvl="1" indent="-2857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800" i="1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Long-scale:</a:t>
              </a:r>
              <a:r>
                <a:rPr lang="en-US" sz="18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attenuated on scale </a:t>
              </a:r>
              <a:r>
                <a: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longer then 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lattice parameter.</a:t>
              </a:r>
              <a:endPara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8E4C0CB-E68B-4518-8186-B5D412936B57}"/>
                </a:ext>
              </a:extLst>
            </p:cNvPr>
            <p:cNvGrpSpPr/>
            <p:nvPr/>
          </p:nvGrpSpPr>
          <p:grpSpPr>
            <a:xfrm>
              <a:off x="526645" y="2292648"/>
              <a:ext cx="2539501" cy="2424069"/>
              <a:chOff x="1818890" y="4316117"/>
              <a:chExt cx="2539501" cy="242406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5BFB7BC-8D47-4687-8930-F5D182F92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18890" y="4316117"/>
                <a:ext cx="2539501" cy="2424069"/>
              </a:xfrm>
              <a:prstGeom prst="rect">
                <a:avLst/>
              </a:prstGeom>
            </p:spPr>
          </p:pic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7720027-78A5-4834-86B7-EF7D75B3F4D3}"/>
                  </a:ext>
                </a:extLst>
              </p:cNvPr>
              <p:cNvSpPr/>
              <p:nvPr/>
            </p:nvSpPr>
            <p:spPr>
              <a:xfrm>
                <a:off x="2530655" y="4974644"/>
                <a:ext cx="246317" cy="246317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925EBF-E388-4365-A313-61B414B65172}"/>
                  </a:ext>
                </a:extLst>
              </p:cNvPr>
              <p:cNvSpPr txBox="1"/>
              <p:nvPr/>
            </p:nvSpPr>
            <p:spPr>
              <a:xfrm>
                <a:off x="2530655" y="4974644"/>
                <a:ext cx="22405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9255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How to model the donor electron?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922CC-85C2-42BC-8A30-DF5CA6A131F6}"/>
              </a:ext>
            </a:extLst>
          </p:cNvPr>
          <p:cNvSpPr txBox="1"/>
          <p:nvPr/>
        </p:nvSpPr>
        <p:spPr>
          <a:xfrm>
            <a:off x="499274" y="2042314"/>
            <a:ext cx="5353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Tight binding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Wavefunction is superposition of </a:t>
            </a:r>
            <a:r>
              <a:rPr lang="en-US" i="1" dirty="0"/>
              <a:t>atomic orbitals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Hamiltonian is almost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entirely empirical.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Quantitatively accurate.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Computationally expensive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F039E-81F3-48AD-B2D6-04875F2DC9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87100" y="4563573"/>
            <a:ext cx="5377524" cy="598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425BF9-52EF-45C9-BD10-A8DCAE96D56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32815" y="5594125"/>
            <a:ext cx="2886095" cy="540952"/>
          </a:xfrm>
          <a:prstGeom prst="rect">
            <a:avLst/>
          </a:prstGeom>
        </p:spPr>
      </p:pic>
      <p:pic>
        <p:nvPicPr>
          <p:cNvPr id="7" name="Picture 6" descr="\documentclass{article}&#10;\usepackage{amsmath,bm}&#10;\pagestyle{empty}&#10;\begin{document}&#10;&#10;&#10;\begin{equation*}&#10;\Psi\left(\bm{r}\right) = \sum_{n}\int_{\text{BZ}}\mathrm{d}\bm{k} a_{n\bm{k}}\mathrm{e}^{\mathrm{i}\bm{k}\cdot\bm{r}}u_{n\bm{k}\bm{r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20DDDBCE-20F2-4EEC-BFFB-2D2864DF914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310219" y="5546125"/>
            <a:ext cx="3436187" cy="636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D9EF3-7997-445F-B523-EB5880B8BA06}"/>
              </a:ext>
            </a:extLst>
          </p:cNvPr>
          <p:cNvSpPr txBox="1"/>
          <p:nvPr/>
        </p:nvSpPr>
        <p:spPr>
          <a:xfrm>
            <a:off x="6351724" y="2042314"/>
            <a:ext cx="5353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Effective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Wavefunction superposition of </a:t>
            </a:r>
            <a:r>
              <a:rPr lang="en-US" i="1" dirty="0"/>
              <a:t>Bloch states</a:t>
            </a:r>
            <a:r>
              <a:rPr lang="en-US" dirty="0"/>
              <a:t> from conduction band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</a:t>
            </a:r>
            <a:r>
              <a:rPr lang="en-US" dirty="0">
                <a:solidFill>
                  <a:srgbClr val="00B050"/>
                </a:solidFill>
              </a:rPr>
              <a:t>physical intuition and insight.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Much less computationally expensive</a:t>
            </a:r>
            <a:r>
              <a:rPr lang="en-US" dirty="0"/>
              <a:t>.</a:t>
            </a:r>
          </a:p>
        </p:txBody>
      </p:sp>
      <p:pic>
        <p:nvPicPr>
          <p:cNvPr id="9" name="Picture 8" descr="\documentclass{article}&#10;\usepackage{amsmath,bm}&#10;\pagestyle{empty}&#10;\begin{document}&#10;&#10;&#10;\begin{equation*}&#10;\mathcal{H}&#10;=&#10;\frac{p^{2}}{2m} + V_{\text{crystal}} + U_{\text{impurity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D254C2BE-1CF7-4F1D-A1AC-25346BE88F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398597" y="4584143"/>
            <a:ext cx="3259430" cy="5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14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A7B3664-3167-4007-84B3-071F23854AA8}"/>
              </a:ext>
            </a:extLst>
          </p:cNvPr>
          <p:cNvGrpSpPr/>
          <p:nvPr/>
        </p:nvGrpSpPr>
        <p:grpSpPr>
          <a:xfrm>
            <a:off x="155473" y="1632436"/>
            <a:ext cx="4660501" cy="3819397"/>
            <a:chOff x="13099" y="1175235"/>
            <a:chExt cx="4660501" cy="38193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2AA13F-3ACA-43FB-BA2E-68F8EB11DE5C}"/>
                </a:ext>
              </a:extLst>
            </p:cNvPr>
            <p:cNvSpPr txBox="1"/>
            <p:nvPr/>
          </p:nvSpPr>
          <p:spPr>
            <a:xfrm>
              <a:off x="13099" y="4255968"/>
              <a:ext cx="466050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Band structure picture from J. Ghosh.</a:t>
              </a:r>
            </a:p>
            <a:p>
              <a:pPr algn="ctr"/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Dr.techn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. Thesis, Vienna University of Technology, 2016. </a:t>
              </a:r>
            </a:p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https://www.iue.tuwien.ac.at/phd/ghosh/diss_htmse10.html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4BE7DAC-513D-4D2C-82A6-4943F198D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3896" y="1175235"/>
              <a:ext cx="2958907" cy="308244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86CAA5B-1B19-4163-80F3-1A4DBAAA232F}"/>
              </a:ext>
            </a:extLst>
          </p:cNvPr>
          <p:cNvGrpSpPr/>
          <p:nvPr/>
        </p:nvGrpSpPr>
        <p:grpSpPr>
          <a:xfrm>
            <a:off x="4971447" y="1671567"/>
            <a:ext cx="7065079" cy="3387649"/>
            <a:chOff x="4640965" y="1080349"/>
            <a:chExt cx="7065079" cy="3387649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E1A1B83-2C1E-4088-B002-D7DC20524662}"/>
                </a:ext>
              </a:extLst>
            </p:cNvPr>
            <p:cNvGrpSpPr/>
            <p:nvPr/>
          </p:nvGrpSpPr>
          <p:grpSpPr>
            <a:xfrm>
              <a:off x="4640965" y="1684056"/>
              <a:ext cx="7065079" cy="2139047"/>
              <a:chOff x="4640965" y="1684056"/>
              <a:chExt cx="7065079" cy="2139047"/>
            </a:xfrm>
          </p:grpSpPr>
          <p:sp>
            <p:nvSpPr>
              <p:cNvPr id="26" name="Text Placeholder 1 1 1 1"/>
              <p:cNvSpPr txBox="1">
                <a:spLocks/>
              </p:cNvSpPr>
              <p:nvPr/>
            </p:nvSpPr>
            <p:spPr>
              <a:xfrm>
                <a:off x="4640965" y="1684056"/>
                <a:ext cx="7065079" cy="213904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ts val="26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800" b="0" i="0" kern="1200" spc="-50" baseline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45718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914377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None/>
                  <a:defRPr sz="18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371566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828754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28594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50000"/>
                        <a:lumOff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Excess electron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occupies a conduction band </a:t>
                </a:r>
                <a:r>
                  <a:rPr lang="en-US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Bloch state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is an unbounded Hermitian operator; set of           forms complete basis.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 such, arbitrary states may be expanded in          . </a:t>
                </a:r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601B0667-526E-432E-8D35-FA92E4E5849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4991251" y="3164465"/>
                <a:ext cx="270171" cy="192000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DDB586E0-7800-4460-BF8B-28A2EE0074A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9146236" y="3119561"/>
                <a:ext cx="379886" cy="229029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C7DD0526-531E-47B5-B3CA-C01E232F85B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8918927" y="3507237"/>
                <a:ext cx="379886" cy="229029"/>
              </a:xfrm>
              <a:prstGeom prst="rect">
                <a:avLst/>
              </a:prstGeom>
            </p:spPr>
          </p:pic>
        </p:grpSp>
        <p:sp>
          <p:nvSpPr>
            <p:cNvPr id="25" name="Title 2 2 1 1"/>
            <p:cNvSpPr txBox="1">
              <a:spLocks/>
            </p:cNvSpPr>
            <p:nvPr/>
          </p:nvSpPr>
          <p:spPr>
            <a:xfrm>
              <a:off x="6576382" y="1080349"/>
              <a:ext cx="3194245" cy="507831"/>
            </a:xfrm>
            <a:prstGeom prst="rect">
              <a:avLst/>
            </a:prstGeom>
          </p:spPr>
          <p:txBody>
            <a:bodyPr vert="horz" wrap="square" lIns="91440" tIns="45720" rIns="91440" bIns="45720" rtlCol="0" anchor="b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0" kern="1200">
                  <a:solidFill>
                    <a:schemeClr val="tx2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1pPr>
            </a:lstStyle>
            <a:p>
              <a:pPr algn="ctr"/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Pure crystal theory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22D386A-81B4-4EE9-9957-353A830BCFB7}"/>
                </a:ext>
              </a:extLst>
            </p:cNvPr>
            <p:cNvGrpSpPr/>
            <p:nvPr/>
          </p:nvGrpSpPr>
          <p:grpSpPr>
            <a:xfrm>
              <a:off x="5858837" y="2087541"/>
              <a:ext cx="4629334" cy="950263"/>
              <a:chOff x="5266778" y="2383251"/>
              <a:chExt cx="4629334" cy="950263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A38046B0-3924-4892-8C65-CBC6FFAF87A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6521637" y="2383251"/>
                <a:ext cx="2119617" cy="254476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0B8CE04C-76CB-42B6-8DFF-3987F4C9246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5266778" y="2763610"/>
                <a:ext cx="4629334" cy="569904"/>
              </a:xfrm>
              <a:prstGeom prst="rect">
                <a:avLst/>
              </a:prstGeom>
            </p:spPr>
          </p:pic>
        </p:grp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E2AE00C-43ED-4A33-A20D-AAB0A90AA01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6761695" y="3831046"/>
              <a:ext cx="2823618" cy="636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4143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6B75EA-AB80-4C5A-B5DA-5FA6ED3EC3C7}"/>
              </a:ext>
            </a:extLst>
          </p:cNvPr>
          <p:cNvSpPr txBox="1"/>
          <p:nvPr/>
        </p:nvSpPr>
        <p:spPr>
          <a:xfrm>
            <a:off x="251506" y="1899691"/>
            <a:ext cx="1168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EMA</a:t>
            </a:r>
            <a:r>
              <a:rPr lang="en-US" b="1" dirty="0"/>
              <a:t>:</a:t>
            </a:r>
            <a:r>
              <a:rPr lang="en-US" dirty="0"/>
              <a:t> Assume the donor electron is localized at the </a:t>
            </a:r>
            <a:r>
              <a:rPr lang="en-US" dirty="0">
                <a:solidFill>
                  <a:srgbClr val="0000FF"/>
                </a:solidFill>
              </a:rPr>
              <a:t>six-fold degenerate anisotropic minima</a:t>
            </a:r>
            <a:r>
              <a:rPr lang="en-US" dirty="0"/>
              <a:t> of lowest conduction band.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AA13F-3ACA-43FB-BA2E-68F8EB11DE5C}"/>
              </a:ext>
            </a:extLst>
          </p:cNvPr>
          <p:cNvSpPr txBox="1"/>
          <p:nvPr/>
        </p:nvSpPr>
        <p:spPr>
          <a:xfrm>
            <a:off x="4564724" y="5950824"/>
            <a:ext cx="43071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Minima + Brillouin zone picture from S.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Dhar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/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Dr.techn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Thesis, Vienna University of Technology, 2007. </a:t>
            </a:r>
          </a:p>
          <a:p>
            <a:pPr algn="ctr"/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http://www.iue.tuwien.ac.at/phd/dhar/node18.html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179E21-0E3F-4488-9AA3-890AC9600B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08" y="4817774"/>
            <a:ext cx="1886787" cy="196882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A92BD10-70D4-4B82-9EC8-4758E3538323}"/>
              </a:ext>
            </a:extLst>
          </p:cNvPr>
          <p:cNvGrpSpPr/>
          <p:nvPr/>
        </p:nvGrpSpPr>
        <p:grpSpPr>
          <a:xfrm>
            <a:off x="979251" y="2359121"/>
            <a:ext cx="2250700" cy="2344665"/>
            <a:chOff x="6862131" y="1632436"/>
            <a:chExt cx="2958907" cy="30824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E97347D-05E9-4CC1-922D-09AAA066D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2131" y="1632436"/>
              <a:ext cx="2958907" cy="3082440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B17CA96-9D94-4106-9FBE-552D76607B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1272" y="2320647"/>
              <a:ext cx="176070" cy="58689"/>
            </a:xfrm>
            <a:prstGeom prst="ellipse">
              <a:avLst/>
            </a:prstGeom>
            <a:solidFill>
              <a:srgbClr val="0000FF">
                <a:alpha val="65000"/>
              </a:srgbClr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CDA8726D-F123-4124-9120-5823F5EA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Introducing the fundamental effective mass approximation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71F64D-FE3B-41B9-B3F7-1875FFF61389}"/>
              </a:ext>
            </a:extLst>
          </p:cNvPr>
          <p:cNvGrpSpPr/>
          <p:nvPr/>
        </p:nvGrpSpPr>
        <p:grpSpPr>
          <a:xfrm>
            <a:off x="4668254" y="2641190"/>
            <a:ext cx="6310093" cy="2564240"/>
            <a:chOff x="4668254" y="2641190"/>
            <a:chExt cx="6310093" cy="2564240"/>
          </a:xfrm>
        </p:grpSpPr>
        <p:pic>
          <p:nvPicPr>
            <p:cNvPr id="7" name="Picture 6" descr="\documentclass{article}&#10;\usepackage{amsmath,braket,bm}&#10;\pagestyle{empty}&#10;\begin{document}&#10;&#10;\begin{equation*}&#10;\ket{\Psi}&#10;=&#10;\sum_{n}\int_{\text{BZ}}\mathrm{d}\bm{k}\,&#10;A_{n\bm{k}}\ket{n\bm{k}}&#10;\Longrightarrow&#10;\sum_{q=\pm x,\pm y,\pm z}&#10;\int_{\text{BZ}}\mathrm{d}\bm{k}\,&#10;A_{q\bm{k}}\ket{0\bm{k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D594F1B-B3D1-4501-A812-8FC06369BD9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4668254" y="2641190"/>
              <a:ext cx="6310093" cy="672000"/>
            </a:xfrm>
            <a:prstGeom prst="rect">
              <a:avLst/>
            </a:prstGeom>
          </p:spPr>
        </p:pic>
        <p:pic>
          <p:nvPicPr>
            <p:cNvPr id="13" name="Picture 12" descr="\documentclass{article}&#10;\usepackage{amsmath,braket,bm}&#10;\pagestyle{empty}&#10;\begin{document}&#10;&#10;\begin{align*}&#10;\braket{\bm{r}|\Psi}&#10;&amp; \approx&#10;\sum_{q=\pm x,\pm y,\pm z}&#10;F_{q\bm{r}}&#10;\mathrm{e}^{\mathrm{i}\bm{k}_{q}\cdot\bm{r}}&#10;u_{\bm{k}_{q}\bm{r}}&#10;\\&#10;F_{q\bm{r}}&#10;&amp; \equiv&#10;\int_{\text{BZ}}\mathrm{d}\bm{k}\,&#10;A_{sq}\left(\bm{k}\right)&#10;\mathrm{e}^{\mathrm{i}\left(\bm{k}-\bm{k}_{sq}\right)\cdot\bm{r}}&#10;\end{align*}&#10;&#10;\end{document}" title="IguanaTex Bitmap Display">
              <a:extLst>
                <a:ext uri="{FF2B5EF4-FFF2-40B4-BE49-F238E27FC236}">
                  <a16:creationId xmlns:a16="http://schemas.microsoft.com/office/drawing/2014/main" id="{C49AD2F9-5695-4211-87A1-58674474E96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5584063" y="3937619"/>
              <a:ext cx="3629712" cy="1267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9258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Kohn-</a:t>
            </a:r>
            <a:r>
              <a:rPr lang="en-US" dirty="0" err="1"/>
              <a:t>Luttinger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A5F24-68FF-45ED-ABE3-2F65C8A2985C}"/>
              </a:ext>
            </a:extLst>
          </p:cNvPr>
          <p:cNvSpPr txBox="1"/>
          <p:nvPr/>
        </p:nvSpPr>
        <p:spPr>
          <a:xfrm>
            <a:off x="961644" y="2186987"/>
            <a:ext cx="1026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 for degenerate conduction band minima: </a:t>
            </a:r>
            <a:r>
              <a:rPr lang="en-US" i="1" dirty="0"/>
              <a:t>Motion of electrons and holes in perturbed periodic fields</a:t>
            </a:r>
            <a:r>
              <a:rPr lang="en-US" dirty="0"/>
              <a:t>[10]</a:t>
            </a:r>
            <a:r>
              <a:rPr lang="en-US" i="1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FBB133-19FA-42EB-9DED-18985D359950}"/>
              </a:ext>
            </a:extLst>
          </p:cNvPr>
          <p:cNvSpPr txBox="1"/>
          <p:nvPr/>
        </p:nvSpPr>
        <p:spPr>
          <a:xfrm>
            <a:off x="2641195" y="2792011"/>
            <a:ext cx="750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Applying the EMA to silicon donors : </a:t>
            </a:r>
            <a:r>
              <a:rPr lang="en-US" i="1" dirty="0"/>
              <a:t>Theory of Donor States in Silicon</a:t>
            </a:r>
            <a:r>
              <a:rPr lang="en-US" dirty="0"/>
              <a:t>[11]</a:t>
            </a:r>
            <a:r>
              <a:rPr lang="en-US" i="1" dirty="0"/>
              <a:t>.</a:t>
            </a:r>
          </a:p>
        </p:txBody>
      </p:sp>
      <p:pic>
        <p:nvPicPr>
          <p:cNvPr id="25" name="Picture 24" descr="\documentclass{article}&#10;\usepackage{amsmath,amssymb,bm,physics,mathtools}&#10;\pagestyle{empty}&#10;\begin{document}&#10;&#10;\begin{equation*}&#10;F_{z\bm{r}}^{\left(\text{1s}\right)} \propto \exp\left[-\sqrt{\frac{x^{2}+y^{2}}{a^{2}}+\frac{z^{2}}{b^{2}}}\right]&#10;\end{equation*}&#10;&#10;\end{document}" title="IguanaTex Bitmap Display">
            <a:extLst>
              <a:ext uri="{FF2B5EF4-FFF2-40B4-BE49-F238E27FC236}">
                <a16:creationId xmlns:a16="http://schemas.microsoft.com/office/drawing/2014/main" id="{BD0B6FCA-738F-4A0D-9ACB-02991063CC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13981" y="5034880"/>
            <a:ext cx="2774552" cy="60708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E520AA4-FA58-4779-B21F-006953435C25}"/>
              </a:ext>
            </a:extLst>
          </p:cNvPr>
          <p:cNvGrpSpPr/>
          <p:nvPr/>
        </p:nvGrpSpPr>
        <p:grpSpPr>
          <a:xfrm>
            <a:off x="1238135" y="3494670"/>
            <a:ext cx="9715731" cy="644571"/>
            <a:chOff x="1649197" y="3494670"/>
            <a:chExt cx="9715731" cy="644571"/>
          </a:xfrm>
        </p:grpSpPr>
        <p:pic>
          <p:nvPicPr>
            <p:cNvPr id="14" name="Picture 13" descr="\documentclass{article}&#10;\usepackage{amsmath,braket,bm}&#10;\pagestyle{empty}&#10;\begin{document}&#10;&#10;\begin{equation*}&#10;\left[&#10;-\frac{\partial^{2}}{\partial x^{2}}&#10;-\frac{\partial^{2}}{\partial y^{2}}&#10;-\left(\frac{m_{\perp}}{m_{\parallel}}\right)&#10;\frac{\partial^{2}}{\partial z^{2}}&#10;-&#10;\frac{2}{r}&#10;\right]&#10;F_{z\bm{r}}&#10;=&#10;EF_{z\bm{r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E4D1C2DF-A10E-4D71-B4B7-E8CA3DD0F70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263214" y="3494670"/>
              <a:ext cx="5101714" cy="64457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F767EA-3495-45F6-9848-1F23D1B99686}"/>
                </a:ext>
              </a:extLst>
            </p:cNvPr>
            <p:cNvSpPr txBox="1"/>
            <p:nvPr/>
          </p:nvSpPr>
          <p:spPr>
            <a:xfrm>
              <a:off x="1649197" y="3632289"/>
              <a:ext cx="4446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Single-valley EMA eq. for envelope function:</a:t>
              </a:r>
            </a:p>
          </p:txBody>
        </p:sp>
      </p:grpSp>
      <p:pic>
        <p:nvPicPr>
          <p:cNvPr id="29" name="Picture 28" descr="\documentclass{article}&#10;\usepackage{amsmath,amssymb,bm,physics,mathtools}&#10;\pagestyle{empty}&#10;\begin{document}&#10;&#10;\begin{equation*}&#10;F_{z\bm{r}}^{\left(\text{2p}\right)} \propto z\exp\left[-\sqrt{\frac{x^{2}+y^{2}}{a^{2}}+\frac{z^{2}}{b^{2}}}\right]&#10;\end{equation*}&#10;&#10;\end{document}" title="IguanaTex Bitmap Display">
            <a:extLst>
              <a:ext uri="{FF2B5EF4-FFF2-40B4-BE49-F238E27FC236}">
                <a16:creationId xmlns:a16="http://schemas.microsoft.com/office/drawing/2014/main" id="{B3D77B2C-77CA-4F01-98B1-99A388158B4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402514" y="5034880"/>
            <a:ext cx="2936685" cy="607086"/>
          </a:xfrm>
          <a:prstGeom prst="rect">
            <a:avLst/>
          </a:prstGeom>
        </p:spPr>
      </p:pic>
      <p:pic>
        <p:nvPicPr>
          <p:cNvPr id="32" name="Picture 31" descr="\documentclass{article}&#10;\usepackage{amsmath,amssymb,bm,physics,mathtools}&#10;\pagestyle{empty}&#10;\begin{document}&#10;&#10;\begin{equation*}&#10;F_{z\bm{r}}^{\left(\text{2s}\right)}&#10;\propto&#10;\left(1+C_{xy}\left(x^{2}+y^{2}\right)+C_{z}z^{2}\right)\exp\left[-\sqrt{\frac{x^{2}+y^{2}}{a^{2}}+\frac{z^{2}}{b^{2}}}\right]&#10;\end{equation*}&#10;&#10;\end{document}" title="IguanaTex Bitmap Display">
            <a:extLst>
              <a:ext uri="{FF2B5EF4-FFF2-40B4-BE49-F238E27FC236}">
                <a16:creationId xmlns:a16="http://schemas.microsoft.com/office/drawing/2014/main" id="{C41311CF-3E6A-474C-9093-7DD23339D55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653180" y="5034880"/>
            <a:ext cx="5224837" cy="60708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3D5A990-427D-4106-8733-235EBE1E518B}"/>
              </a:ext>
            </a:extLst>
          </p:cNvPr>
          <p:cNvSpPr txBox="1"/>
          <p:nvPr/>
        </p:nvSpPr>
        <p:spPr>
          <a:xfrm>
            <a:off x="3872599" y="4471204"/>
            <a:ext cx="4446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Variational ansatz</a:t>
            </a:r>
          </a:p>
        </p:txBody>
      </p:sp>
    </p:spTree>
    <p:extLst>
      <p:ext uri="{BB962C8B-B14F-4D97-AF65-F5344CB8AC3E}">
        <p14:creationId xmlns:p14="http://schemas.microsoft.com/office/powerpoint/2010/main" val="551430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 1">
            <a:extLst>
              <a:ext uri="{FF2B5EF4-FFF2-40B4-BE49-F238E27FC236}">
                <a16:creationId xmlns:a16="http://schemas.microsoft.com/office/drawing/2014/main" id="{AADF7560-75EA-4279-9F3D-77A44040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method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6B6FDD-38F3-4568-920E-7CB8EA7790A2}"/>
              </a:ext>
            </a:extLst>
          </p:cNvPr>
          <p:cNvGrpSpPr/>
          <p:nvPr/>
        </p:nvGrpSpPr>
        <p:grpSpPr>
          <a:xfrm>
            <a:off x="2627058" y="2542911"/>
            <a:ext cx="6937885" cy="758857"/>
            <a:chOff x="3345795" y="2307227"/>
            <a:chExt cx="6937885" cy="758857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535C079-4E80-4AE8-ABB2-3E274F3A2AE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345795" y="2387227"/>
              <a:ext cx="2441143" cy="59885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2EA135E-D2AA-40F9-A558-F05789C76CBF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212063" y="2307227"/>
              <a:ext cx="4071617" cy="758857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B0DE4AE-27A0-422A-891B-F635A6F686CB}"/>
              </a:ext>
            </a:extLst>
          </p:cNvPr>
          <p:cNvGrpSpPr/>
          <p:nvPr/>
        </p:nvGrpSpPr>
        <p:grpSpPr>
          <a:xfrm>
            <a:off x="3288481" y="3623401"/>
            <a:ext cx="5615039" cy="723275"/>
            <a:chOff x="3288481" y="3623401"/>
            <a:chExt cx="5615039" cy="723275"/>
          </a:xfrm>
        </p:grpSpPr>
        <p:sp>
          <p:nvSpPr>
            <p:cNvPr id="23" name="Text Placeholder 1 1 1 1 2 1">
              <a:extLst>
                <a:ext uri="{FF2B5EF4-FFF2-40B4-BE49-F238E27FC236}">
                  <a16:creationId xmlns:a16="http://schemas.microsoft.com/office/drawing/2014/main" id="{1FED7737-84D4-4A7D-9A85-6C2F82F8F3F3}"/>
                </a:ext>
              </a:extLst>
            </p:cNvPr>
            <p:cNvSpPr txBox="1">
              <a:spLocks/>
            </p:cNvSpPr>
            <p:nvPr/>
          </p:nvSpPr>
          <p:spPr>
            <a:xfrm>
              <a:off x="3288481" y="3623401"/>
              <a:ext cx="5615039" cy="7232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Find an ansatz         </a:t>
              </a: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s.t.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             and             are minimized.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Iff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        is exactly an eigenstate of                  then                     .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97A4125-9514-42EE-8E96-FF1FF23BF31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4982163" y="3704435"/>
              <a:ext cx="278400" cy="22902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1394E6-CE79-459F-9922-41E76D6119B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5655420" y="3704436"/>
              <a:ext cx="449829" cy="229029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92D746F-C014-425B-B35E-F3559C283E0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6597107" y="3687455"/>
              <a:ext cx="493714" cy="25447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CB2FADC-93BB-42DC-8AC7-8857D58A83A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3921856" y="4068930"/>
              <a:ext cx="278400" cy="22902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6895581-F0EC-4A73-AECE-E6CA6809950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6516510" y="4074530"/>
              <a:ext cx="720000" cy="192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E0D845C-0126-4CCA-9F0E-F8AC017AFD6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7758055" y="4062902"/>
              <a:ext cx="880457" cy="229029"/>
            </a:xfrm>
            <a:prstGeom prst="rect">
              <a:avLst/>
            </a:prstGeom>
          </p:spPr>
        </p:pic>
      </p:grpSp>
      <p:sp>
        <p:nvSpPr>
          <p:cNvPr id="64" name="Text Placeholder 1 1 1 1 2 2">
            <a:extLst>
              <a:ext uri="{FF2B5EF4-FFF2-40B4-BE49-F238E27FC236}">
                <a16:creationId xmlns:a16="http://schemas.microsoft.com/office/drawing/2014/main" id="{CB4D9673-7CE2-4E6B-9F2E-8E58206D1540}"/>
              </a:ext>
            </a:extLst>
          </p:cNvPr>
          <p:cNvSpPr txBox="1">
            <a:spLocks/>
          </p:cNvSpPr>
          <p:nvPr/>
        </p:nvSpPr>
        <p:spPr>
          <a:xfrm>
            <a:off x="1644240" y="4668309"/>
            <a:ext cx="8903520" cy="7232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Dramatically reduces problem difficulty, but requires judicious choice of ansatz.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 clear method to refine ansatz to approach exact solution within desired numerical tolerances.</a:t>
            </a:r>
          </a:p>
        </p:txBody>
      </p:sp>
    </p:spTree>
    <p:extLst>
      <p:ext uri="{BB962C8B-B14F-4D97-AF65-F5344CB8AC3E}">
        <p14:creationId xmlns:p14="http://schemas.microsoft.com/office/powerpoint/2010/main" val="302510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Faulkner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E7D10E-3CB2-42C6-9896-74D4150E4CC2}"/>
              </a:ext>
            </a:extLst>
          </p:cNvPr>
          <p:cNvGrpSpPr/>
          <p:nvPr/>
        </p:nvGrpSpPr>
        <p:grpSpPr>
          <a:xfrm>
            <a:off x="2140180" y="2345487"/>
            <a:ext cx="7911640" cy="644571"/>
            <a:chOff x="3453288" y="3494670"/>
            <a:chExt cx="7911640" cy="644571"/>
          </a:xfrm>
        </p:grpSpPr>
        <p:pic>
          <p:nvPicPr>
            <p:cNvPr id="7" name="Picture 6" descr="\documentclass{article}&#10;\usepackage{amsmath,braket,bm}&#10;\pagestyle{empty}&#10;\begin{document}&#10;&#10;\begin{equation*}&#10;\left[&#10;-\frac{\partial^{2}}{\partial x^{2}}&#10;-\frac{\partial^{2}}{\partial y^{2}}&#10;-\left(\frac{m_{\perp}}{m_{\parallel}}\right)&#10;\frac{\partial^{2}}{\partial z^{2}}&#10;-&#10;\frac{2}{r}&#10;\right]&#10;F_{z\bm{r}}&#10;=&#10;EF_{z\bm{r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331CF8A5-418B-426F-91F5-1D1478774DA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6263214" y="3494670"/>
              <a:ext cx="5101714" cy="64457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D8B5B9-2EB6-4AE6-A022-681ADC9943A5}"/>
                </a:ext>
              </a:extLst>
            </p:cNvPr>
            <p:cNvSpPr txBox="1"/>
            <p:nvPr/>
          </p:nvSpPr>
          <p:spPr>
            <a:xfrm>
              <a:off x="3453288" y="3632289"/>
              <a:ext cx="23700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Single-valley EMA eq.: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79E0C3-4B87-4A70-892C-29345DF4D3E6}"/>
              </a:ext>
            </a:extLst>
          </p:cNvPr>
          <p:cNvGrpSpPr/>
          <p:nvPr/>
        </p:nvGrpSpPr>
        <p:grpSpPr>
          <a:xfrm>
            <a:off x="821531" y="3839242"/>
            <a:ext cx="10548938" cy="761905"/>
            <a:chOff x="1353094" y="3839242"/>
            <a:chExt cx="10548938" cy="76190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138D2B-E3C0-4D99-AF93-B8A894B6316F}"/>
                </a:ext>
              </a:extLst>
            </p:cNvPr>
            <p:cNvSpPr txBox="1"/>
            <p:nvPr/>
          </p:nvSpPr>
          <p:spPr>
            <a:xfrm>
              <a:off x="1353094" y="4035528"/>
              <a:ext cx="3583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Basis: Bound states of hydrogen</a:t>
              </a:r>
            </a:p>
          </p:txBody>
        </p:sp>
        <p:pic>
          <p:nvPicPr>
            <p:cNvPr id="30" name="Picture 29" descr="\documentclass{article}&#10;\usepackage{amsmath,amssymb,bm,physics,mathtools}&#10;\pagestyle{empty}&#10;\begin{document}&#10;&#10;\begin{equation*}&#10;F_{z\bm{r}}&#10;    =&#10;        \sum_{nlm} c_{nlm}&#10;        \alpha_{lm}^{\frac{3}{2}}\left(\frac{\beta}{\gamma}\right)^{\frac{1}{4}}&#10;        \Psi_{nlm}\left(\alpha_{lm}x,\alpha_{lm}y,\alpha_{lm}\left(\beta/\gamma\right)^{1/2}z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7F46E6C-B098-43F9-B832-62FDEF5CA27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5232319" y="3839242"/>
              <a:ext cx="6669713" cy="761905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A84912E-CDD3-43C8-AEFA-2A9052342C5F}"/>
              </a:ext>
            </a:extLst>
          </p:cNvPr>
          <p:cNvSpPr txBox="1"/>
          <p:nvPr/>
        </p:nvSpPr>
        <p:spPr>
          <a:xfrm>
            <a:off x="2895185" y="5450331"/>
            <a:ext cx="6401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Good agreement with excited states.</a:t>
            </a:r>
          </a:p>
          <a:p>
            <a:pPr algn="ctr"/>
            <a:r>
              <a:rPr lang="en-US" dirty="0"/>
              <a:t>Bound states of hydrogen do not span the separable Hilbert space.</a:t>
            </a:r>
          </a:p>
        </p:txBody>
      </p:sp>
    </p:spTree>
    <p:extLst>
      <p:ext uri="{BB962C8B-B14F-4D97-AF65-F5344CB8AC3E}">
        <p14:creationId xmlns:p14="http://schemas.microsoft.com/office/powerpoint/2010/main" val="646208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 1">
            <a:extLst>
              <a:ext uri="{FF2B5EF4-FFF2-40B4-BE49-F238E27FC236}">
                <a16:creationId xmlns:a16="http://schemas.microsoft.com/office/drawing/2014/main" id="{AADF7560-75EA-4279-9F3D-77A44040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Ritz method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2B9CDB-0267-4CE7-A6D7-B0D7BA0D0DCC}"/>
              </a:ext>
            </a:extLst>
          </p:cNvPr>
          <p:cNvGrpSpPr/>
          <p:nvPr/>
        </p:nvGrpSpPr>
        <p:grpSpPr>
          <a:xfrm>
            <a:off x="1456112" y="1883668"/>
            <a:ext cx="9316348" cy="1077218"/>
            <a:chOff x="1456112" y="1883668"/>
            <a:chExt cx="9316348" cy="1077218"/>
          </a:xfrm>
        </p:grpSpPr>
        <p:pic>
          <p:nvPicPr>
            <p:cNvPr id="6" name="Picture 5" descr="\documentclass{article}&#10;\usepackage{amsmath,braket,bm}&#10;\pagestyle{empty}&#10;\begin{document}&#10;&#10;\begin{equation*}&#10;\ket{\Psi}&#10;=&#10;\sum_{j\in\mathcal{J}} c_{j}\ket{j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B342034D-D337-4AFC-A76B-0A329BC3E3F6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9135889" y="2134277"/>
              <a:ext cx="1636571" cy="579048"/>
            </a:xfrm>
            <a:prstGeom prst="rect">
              <a:avLst/>
            </a:prstGeom>
          </p:spPr>
        </p:pic>
        <p:sp>
          <p:nvSpPr>
            <p:cNvPr id="20" name="Text Placeholder 1 1 1 1 1 2">
              <a:extLst>
                <a:ext uri="{FF2B5EF4-FFF2-40B4-BE49-F238E27FC236}">
                  <a16:creationId xmlns:a16="http://schemas.microsoft.com/office/drawing/2014/main" id="{33BD7C0A-267B-4B74-AF9F-D4F591C197FB}"/>
                </a:ext>
              </a:extLst>
            </p:cNvPr>
            <p:cNvSpPr txBox="1">
              <a:spLocks/>
            </p:cNvSpPr>
            <p:nvPr/>
          </p:nvSpPr>
          <p:spPr>
            <a:xfrm>
              <a:off x="1456112" y="1883668"/>
              <a:ext cx="7305259" cy="107721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Express ansatz as a summation over a set of basis states    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Orthonormality </a:t>
              </a:r>
              <a:r>
                <a:rPr lang="en-US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not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assumed.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1" dirty="0">
                  <a:latin typeface="Calibri" panose="020F0502020204030204" pitchFamily="34" charset="0"/>
                  <a:cs typeface="Calibri" panose="020F0502020204030204" pitchFamily="34" charset="0"/>
                </a:rPr>
                <a:t>If basis set is complete, </a:t>
              </a:r>
              <a:r>
                <a:rPr lang="en-US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ansatz approaches exact solution </a:t>
              </a:r>
              <a:r>
                <a:rPr lang="en-US" i="1" dirty="0">
                  <a:latin typeface="Calibri" panose="020F0502020204030204" pitchFamily="34" charset="0"/>
                  <a:cs typeface="Calibri" panose="020F0502020204030204" pitchFamily="34" charset="0"/>
                </a:rPr>
                <a:t>as terms are added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37F7A2A-F674-4227-8CB5-03FE00E1691B}"/>
              </a:ext>
            </a:extLst>
          </p:cNvPr>
          <p:cNvGrpSpPr/>
          <p:nvPr/>
        </p:nvGrpSpPr>
        <p:grpSpPr>
          <a:xfrm>
            <a:off x="1204089" y="3312190"/>
            <a:ext cx="9783823" cy="1443301"/>
            <a:chOff x="1073042" y="3312190"/>
            <a:chExt cx="9783823" cy="144330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6AE21D9-5DA0-43F8-BFA3-D9FE2BD20B99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>
              <a:off x="1073042" y="3312190"/>
              <a:ext cx="9783823" cy="758857"/>
              <a:chOff x="1073042" y="3312190"/>
              <a:chExt cx="9783823" cy="758857"/>
            </a:xfrm>
          </p:grpSpPr>
          <p:pic>
            <p:nvPicPr>
              <p:cNvPr id="58" name="Picture 57" descr="\documentclass{article}&#10;\usepackage{amsmath,braket,bm}&#10;\pagestyle{empty}&#10;\begin{document}&#10;&#10;\begin{equation*}&#10;\mathcal{E}_{\bm{c}}\left[\mathcal{J}\right]&#10;=&#10;\frac&#10;{\sum_{j^{\prime}j}c_{j^{\prime}}^{*}c_{j}\braket{j^{\prime}|\mathcal{H}_0+\mathcal{V}|j}}&#10;{\sum_{j^{\prime}j}c_{j^{\prime}}^{*}c_{j}\braket{j^{\prime}|j}}&#10;=&#10;\frac&#10;{\bm{c}^{\dag}\bm{\mathcal{H}}\bm{c}}&#10;{\bm{c}^{\dag}\bm{\mathcal{S}}\bm{c}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3144E37C-DD9A-4BBA-A114-556DC4834FE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8"/>
              <a:stretch>
                <a:fillRect/>
              </a:stretch>
            </p:blipFill>
            <p:spPr>
              <a:xfrm>
                <a:off x="1073042" y="3348758"/>
                <a:ext cx="4604949" cy="685714"/>
              </a:xfrm>
              <a:prstGeom prst="rect">
                <a:avLst/>
              </a:prstGeom>
            </p:spPr>
          </p:pic>
          <p:pic>
            <p:nvPicPr>
              <p:cNvPr id="63" name="Picture 62" descr="\documentclass{article}&#10;\usepackage{amsmath,braket,bm}&#10;\pagestyle{empty}&#10;\begin{document}&#10;&#10;\begin{equation*}&#10;\sigma_{\bm{c}}\left[\mathcal{J}\right]&#10;=&#10;\sqrt{&#10;\frac&#10;{\bm{c}^{\dag}\bm{\mathcal{H}}^{(2)}\bm{c}}&#10;{\bm{c}^{\dag}\bm{\mathcal{S}}\bm{c}}&#10;-\mathcal{E}\left[\left\{\ket{j}\right\}\right]\left(\bm{c}\right)^{2}&#10;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89B1DBA1-BAF5-468E-8944-12ACD872FB3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9"/>
              <a:stretch>
                <a:fillRect/>
              </a:stretch>
            </p:blipFill>
            <p:spPr>
              <a:xfrm>
                <a:off x="6997059" y="3312190"/>
                <a:ext cx="3859806" cy="758857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921E939-66A0-4DC1-927B-4ED332C24D98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1468787" y="4251110"/>
              <a:ext cx="9089856" cy="504381"/>
              <a:chOff x="1433740" y="4133405"/>
              <a:chExt cx="9089856" cy="504381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2D1630C-D449-4808-926F-0BDD082C6BD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20"/>
              <a:stretch>
                <a:fillRect/>
              </a:stretch>
            </p:blipFill>
            <p:spPr>
              <a:xfrm>
                <a:off x="3904764" y="4233976"/>
                <a:ext cx="2459428" cy="316952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DC7CAAB-2938-4C15-8048-EC99D03E748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21"/>
              <a:stretch>
                <a:fillRect/>
              </a:stretch>
            </p:blipFill>
            <p:spPr>
              <a:xfrm>
                <a:off x="1433740" y="4233976"/>
                <a:ext cx="1520762" cy="316952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F370D9C8-5647-4D63-972A-3D232ED9159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22"/>
              <a:stretch>
                <a:fillRect/>
              </a:stretch>
            </p:blipFill>
            <p:spPr>
              <a:xfrm>
                <a:off x="7312931" y="4133405"/>
                <a:ext cx="3210665" cy="504381"/>
              </a:xfrm>
              <a:prstGeom prst="rect">
                <a:avLst/>
              </a:prstGeom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5E7CD6C-3A56-4557-BBF5-2F73094E68B7}"/>
              </a:ext>
            </a:extLst>
          </p:cNvPr>
          <p:cNvGrpSpPr/>
          <p:nvPr/>
        </p:nvGrpSpPr>
        <p:grpSpPr>
          <a:xfrm>
            <a:off x="2183314" y="5940194"/>
            <a:ext cx="7053258" cy="686297"/>
            <a:chOff x="2183314" y="5940194"/>
            <a:chExt cx="7053258" cy="686297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C0B1466-B0B5-46FF-8B00-F966EC95581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3316800" y="6385119"/>
              <a:ext cx="5558400" cy="241372"/>
            </a:xfrm>
            <a:prstGeom prst="rect">
              <a:avLst/>
            </a:prstGeom>
          </p:spPr>
        </p:pic>
        <p:pic>
          <p:nvPicPr>
            <p:cNvPr id="98" name="Picture 97" descr="\documentclass{article}&#10;&#10;\usepackage[a0paper]{geometry}&#10;&#10;\usepackage{amsmath,braket,bm}&#10;\pagestyle{empty}&#10;\begin{document}&#10;&#10;We can further tune the basis set $\mathcal{J}$ to further lower $\mathcal{E}_{\bm{c}}\left[\mathcal{J}\right]$ and $\sigma_{\bm{c}}\left[\mathcal{J}\right]$.&#10;&#10;\end{document}" title="IguanaTex Bitmap Display">
              <a:extLst>
                <a:ext uri="{FF2B5EF4-FFF2-40B4-BE49-F238E27FC236}">
                  <a16:creationId xmlns:a16="http://schemas.microsoft.com/office/drawing/2014/main" id="{4C2C1DB9-DDB1-44F9-9DDD-6D645E41A4AF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2183314" y="5940194"/>
              <a:ext cx="7053258" cy="229029"/>
            </a:xfrm>
            <a:prstGeom prst="rect">
              <a:avLst/>
            </a:prstGeom>
          </p:spPr>
        </p:pic>
      </p:grpSp>
      <p:pic>
        <p:nvPicPr>
          <p:cNvPr id="14" name="Picture 13" descr="\documentclass{article}&#10;\usepackage{amsmath,braket,bm}&#10;\pagestyle{empty}&#10;\begin{document}&#10;&#10;\begin{equation*}&#10;\mathcal{J}&#10;\end{equation*}&#10;&#10;\end{document}" title="IguanaTex Bitmap Display">
            <a:extLst>
              <a:ext uri="{FF2B5EF4-FFF2-40B4-BE49-F238E27FC236}">
                <a16:creationId xmlns:a16="http://schemas.microsoft.com/office/drawing/2014/main" id="{8F45A269-735C-494B-A824-5152ADAF34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721844" y="1943967"/>
            <a:ext cx="182400" cy="182400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D84EB14D-16FC-40F7-8A2C-B50BBF376B5F}"/>
              </a:ext>
            </a:extLst>
          </p:cNvPr>
          <p:cNvGrpSpPr/>
          <p:nvPr/>
        </p:nvGrpSpPr>
        <p:grpSpPr>
          <a:xfrm>
            <a:off x="2108019" y="5260422"/>
            <a:ext cx="7975962" cy="229029"/>
            <a:chOff x="1144191" y="5260422"/>
            <a:chExt cx="7975962" cy="229029"/>
          </a:xfrm>
        </p:grpSpPr>
        <p:pic>
          <p:nvPicPr>
            <p:cNvPr id="91" name="Picture 90" descr="\documentclass{article}&#10;\usepackage{amsmath,braket,bm}&#10;\pagestyle{empty}&#10;\begin{document}&#10;&#10;Optimize $\mathcal{E}_{\bm{c}}\left[\mathcal{J}\right] = \lambda$ and $\sigma_{\bm{c}}\left[\mathcal{J}\right]$ with respect to $\bm{c}$&#10;&#10;\end{document}" title="IguanaTex Bitmap Display">
              <a:extLst>
                <a:ext uri="{FF2B5EF4-FFF2-40B4-BE49-F238E27FC236}">
                  <a16:creationId xmlns:a16="http://schemas.microsoft.com/office/drawing/2014/main" id="{ED1B4711-222F-420A-BCF3-D0275F5DD8D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1144191" y="5260422"/>
              <a:ext cx="4879545" cy="229029"/>
            </a:xfrm>
            <a:prstGeom prst="rect">
              <a:avLst/>
            </a:prstGeom>
          </p:spPr>
        </p:pic>
        <p:pic>
          <p:nvPicPr>
            <p:cNvPr id="93" name="Picture 92" descr="\documentclass{article}&#10;\usepackage{amsmath,braket,bm}&#10;\pagestyle{empty}&#10;\begin{document}&#10;&#10;$\Longleftrightarrow$&#10;&#10;\end{document}" title="IguanaTex Bitmap Display">
              <a:extLst>
                <a:ext uri="{FF2B5EF4-FFF2-40B4-BE49-F238E27FC236}">
                  <a16:creationId xmlns:a16="http://schemas.microsoft.com/office/drawing/2014/main" id="{FE0D3C52-CB3C-44AA-B631-ADFE1CE6F37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6798611" y="5286365"/>
              <a:ext cx="546667" cy="177143"/>
            </a:xfrm>
            <a:prstGeom prst="rect">
              <a:avLst/>
            </a:prstGeom>
          </p:spPr>
        </p:pic>
        <p:pic>
          <p:nvPicPr>
            <p:cNvPr id="89" name="Picture 88" descr="\documentclass{article}&#10;\usepackage{amsmath,braket,bm}&#10;\pagestyle{empty}&#10;\begin{document}&#10;&#10;$\bm{\mathcal{H}}\bm{c} = \lambda\bm{\mathcal{S}}\bm{c}$&#10;&#10;\end{document}" title="IguanaTex Bitmap Display">
              <a:extLst>
                <a:ext uri="{FF2B5EF4-FFF2-40B4-BE49-F238E27FC236}">
                  <a16:creationId xmlns:a16="http://schemas.microsoft.com/office/drawing/2014/main" id="{D3B4C83B-0D75-49AC-A0E9-CFA9CE3DBBB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8054553" y="5289222"/>
              <a:ext cx="1065600" cy="171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692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 err="1"/>
              <a:t>Twose</a:t>
            </a:r>
            <a:r>
              <a:rPr lang="en-US" dirty="0"/>
              <a:t> and Shino-Nara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DA7B8A2-9F40-4C5F-8846-8C6886B3C9E9}"/>
              </a:ext>
            </a:extLst>
          </p:cNvPr>
          <p:cNvGrpSpPr/>
          <p:nvPr/>
        </p:nvGrpSpPr>
        <p:grpSpPr>
          <a:xfrm>
            <a:off x="55356" y="2147777"/>
            <a:ext cx="12081288" cy="3244965"/>
            <a:chOff x="436219" y="2147777"/>
            <a:chExt cx="12081288" cy="3244965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CF05762-C96B-4C49-9EAD-B1ACD624C538}"/>
                </a:ext>
              </a:extLst>
            </p:cNvPr>
            <p:cNvGrpSpPr/>
            <p:nvPr/>
          </p:nvGrpSpPr>
          <p:grpSpPr>
            <a:xfrm>
              <a:off x="2415260" y="2147777"/>
              <a:ext cx="8123206" cy="617143"/>
              <a:chOff x="1739825" y="2147777"/>
              <a:chExt cx="8123206" cy="617143"/>
            </a:xfrm>
          </p:grpSpPr>
          <p:pic>
            <p:nvPicPr>
              <p:cNvPr id="62" name="Picture 61" descr="\documentclass{article}&#10;\usepackage{amsmath,braket,bm}&#10;\pagestyle{empty}&#10;\begin{document}&#10;&#10;\begin{equation*}&#10;\sum_{q}\alpha_{q}\mathrm{e}^{\mathrm{i}\left(\bm{k}_{p}-\bm{k}_{q}\right)\cdot\bm{r}}\left\{\hat{T}^{\left(q\right)}+U_{\text{imp}}-E\right\}&#10;F_{q\bm{r}}&#10;=&#10;0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97D8A714-634A-4FC3-9068-2CE9805220F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5015793" y="2147777"/>
                <a:ext cx="4847238" cy="617143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D8B5B9-2EB6-4AE6-A022-681ADC9943A5}"/>
                  </a:ext>
                </a:extLst>
              </p:cNvPr>
              <p:cNvSpPr txBox="1"/>
              <p:nvPr/>
            </p:nvSpPr>
            <p:spPr>
              <a:xfrm>
                <a:off x="1739825" y="2271682"/>
                <a:ext cx="28643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 err="1"/>
                  <a:t>Twose</a:t>
                </a:r>
                <a:r>
                  <a:rPr lang="en-US" dirty="0"/>
                  <a:t> multi-valley EMA: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B3ED4B2-EFE7-42A2-A413-2C7630C5BAC4}"/>
                </a:ext>
              </a:extLst>
            </p:cNvPr>
            <p:cNvGrpSpPr/>
            <p:nvPr/>
          </p:nvGrpSpPr>
          <p:grpSpPr>
            <a:xfrm>
              <a:off x="634067" y="3408355"/>
              <a:ext cx="11685593" cy="670476"/>
              <a:chOff x="1159532" y="3277634"/>
              <a:chExt cx="11685593" cy="670476"/>
            </a:xfrm>
          </p:grpSpPr>
          <p:pic>
            <p:nvPicPr>
              <p:cNvPr id="70" name="Picture 69" descr="\documentclass{article}&#10;\usepackage{amsmath,braket,bm}&#10;\pagestyle{empty}&#10;\begin{document}&#10;&#10;\begin{equation*}&#10;\int\mathrm{d}\bm{r}\,&#10;\sum_{pq}\alpha_{p}^{*}\alpha_{q}&#10;\mathrm{e}^{\mathrm{i}\left(\bm{k}_{p}-\bm{k}_{q}\right)\cdot\bm{r}}&#10;F_{p\bm{r}}^{*}&#10;\left\{\delta_{pq}T^{\left(q\right)}+u_{\bm{k}_{p}\bm{r}}^{*}u_{\bm{k}_{q}\bm{r}}U_{\text{imp}}-\delta_{pq}E\right\}&#10;F_{q\bm{r}}&#10;=&#10;0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2F3DA369-D986-4404-AF5B-0E7DEE48617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7"/>
              <a:stretch>
                <a:fillRect/>
              </a:stretch>
            </p:blipFill>
            <p:spPr>
              <a:xfrm>
                <a:off x="5015793" y="3277634"/>
                <a:ext cx="7829332" cy="670476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69C1D8A-F21C-4202-ADCC-A4F42BA1270F}"/>
                  </a:ext>
                </a:extLst>
              </p:cNvPr>
              <p:cNvSpPr txBox="1"/>
              <p:nvPr/>
            </p:nvSpPr>
            <p:spPr>
              <a:xfrm>
                <a:off x="1159532" y="3401544"/>
                <a:ext cx="34446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 err="1"/>
                  <a:t>Shindo</a:t>
                </a:r>
                <a:r>
                  <a:rPr lang="en-US" dirty="0"/>
                  <a:t>-Nara multi-valley EMA: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BC2A274-5AFB-477C-87E2-F031FAE5D7C5}"/>
                </a:ext>
              </a:extLst>
            </p:cNvPr>
            <p:cNvGrpSpPr/>
            <p:nvPr/>
          </p:nvGrpSpPr>
          <p:grpSpPr>
            <a:xfrm>
              <a:off x="436219" y="4722266"/>
              <a:ext cx="12081288" cy="670476"/>
              <a:chOff x="108602" y="4722266"/>
              <a:chExt cx="12081288" cy="670476"/>
            </a:xfrm>
          </p:grpSpPr>
          <p:pic>
            <p:nvPicPr>
              <p:cNvPr id="73" name="Picture 72" descr="\documentclass{article}&#10;\usepackage{amsmath,braket,bm}&#10;\pagestyle{empty}&#10;\begin{document}&#10;&#10;\begin{equation*}&#10;\int\mathrm{d}\bm{r}\,&#10;\sum_{pq}\alpha_{p}^{*}\alpha_{q}&#10;\mathrm{e}^{\mathrm{i}\left(\bm{k}_{p}-\bm{k}_{q}\right)\cdot\bm{r}}&#10;F_{p\bm{r}}^{*}&#10;\left\{T^{\left(q\right)}+u_{\bm{k}_{p}\bm{r}}^{*}u_{\bm{k}_{q}\bm{r}}U_{\text{imp}}-E\right\}&#10;F_{q\bm{r}}&#10;=&#10;0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DF1B7B7B-6F0E-48D3-B962-EAC724E2822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8"/>
              <a:stretch>
                <a:fillRect/>
              </a:stretch>
            </p:blipFill>
            <p:spPr>
              <a:xfrm>
                <a:off x="5015793" y="4722266"/>
                <a:ext cx="7174097" cy="670476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7053F3-42D8-481E-A763-E06F0DA9E6DC}"/>
                  </a:ext>
                </a:extLst>
              </p:cNvPr>
              <p:cNvSpPr txBox="1"/>
              <p:nvPr/>
            </p:nvSpPr>
            <p:spPr>
              <a:xfrm>
                <a:off x="108602" y="4872839"/>
                <a:ext cx="4495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“Tweaked” </a:t>
                </a:r>
                <a:r>
                  <a:rPr lang="en-US" dirty="0" err="1"/>
                  <a:t>Shindo</a:t>
                </a:r>
                <a:r>
                  <a:rPr lang="en-US" dirty="0"/>
                  <a:t>-Nara multi-valley EMA: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7031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Introducing  imperfections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A98B8F-AC85-47D7-AC52-CDB5A804584C}"/>
              </a:ext>
            </a:extLst>
          </p:cNvPr>
          <p:cNvGrpSpPr/>
          <p:nvPr/>
        </p:nvGrpSpPr>
        <p:grpSpPr>
          <a:xfrm>
            <a:off x="2032179" y="2546619"/>
            <a:ext cx="8500354" cy="2139047"/>
            <a:chOff x="2032179" y="2546619"/>
            <a:chExt cx="8500354" cy="2139047"/>
          </a:xfrm>
        </p:grpSpPr>
        <p:sp>
          <p:nvSpPr>
            <p:cNvPr id="58" name="Text Placeholder 1 1 1 1 1">
              <a:extLst>
                <a:ext uri="{FF2B5EF4-FFF2-40B4-BE49-F238E27FC236}">
                  <a16:creationId xmlns:a16="http://schemas.microsoft.com/office/drawing/2014/main" id="{34F16456-69DD-49CE-B27A-F557E444D186}"/>
                </a:ext>
              </a:extLst>
            </p:cNvPr>
            <p:cNvSpPr txBox="1">
              <a:spLocks/>
            </p:cNvSpPr>
            <p:nvPr/>
          </p:nvSpPr>
          <p:spPr>
            <a:xfrm>
              <a:off x="2032179" y="2546619"/>
              <a:ext cx="8500354" cy="213904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Features that a candidate     can include might be...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Dynamic dielectric constant, and break down of dielectric in core region.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Mismatch between silicon and impurity core and valence electron wavefunctions.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Exchange interactions between donor excess electron and donor core and valence electrons.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Lattice deformations.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External symmetry breaking fields.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8376F7-59AC-406E-ADCD-49D3A5B96FA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6335954" y="2644717"/>
              <a:ext cx="161829" cy="161829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60DEA1-0AE7-414F-9898-AF74D5172D5D}"/>
              </a:ext>
            </a:extLst>
          </p:cNvPr>
          <p:cNvGrpSpPr/>
          <p:nvPr/>
        </p:nvGrpSpPr>
        <p:grpSpPr>
          <a:xfrm>
            <a:off x="1845823" y="5163375"/>
            <a:ext cx="8500354" cy="369332"/>
            <a:chOff x="1845823" y="5163375"/>
            <a:chExt cx="8500354" cy="369332"/>
          </a:xfrm>
        </p:grpSpPr>
        <p:sp>
          <p:nvSpPr>
            <p:cNvPr id="62" name="Text Placeholder 1 1 1 1 2">
              <a:extLst>
                <a:ext uri="{FF2B5EF4-FFF2-40B4-BE49-F238E27FC236}">
                  <a16:creationId xmlns:a16="http://schemas.microsoft.com/office/drawing/2014/main" id="{E15FFCE3-1618-4C74-B00B-B5DD5473D675}"/>
                </a:ext>
              </a:extLst>
            </p:cNvPr>
            <p:cNvSpPr txBox="1">
              <a:spLocks/>
            </p:cNvSpPr>
            <p:nvPr/>
          </p:nvSpPr>
          <p:spPr>
            <a:xfrm>
              <a:off x="1845823" y="5163375"/>
              <a:ext cx="8500354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most useful form of effective potential      is still an open question!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CFD00FF-6AD8-4D11-AAD4-3BA28AC0ADD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6839510" y="5264978"/>
              <a:ext cx="161829" cy="1618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6588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DCDF3E-6452-463A-A9D8-8D913260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comments on effective mass theories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CB7FCA-F5EA-4FE5-BAAB-9881807A9DBE}"/>
              </a:ext>
            </a:extLst>
          </p:cNvPr>
          <p:cNvSpPr txBox="1"/>
          <p:nvPr/>
        </p:nvSpPr>
        <p:spPr>
          <a:xfrm>
            <a:off x="1649403" y="4989840"/>
            <a:ext cx="88931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we’re seeking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Metrics to quantify </a:t>
            </a:r>
            <a:r>
              <a:rPr lang="en-US" dirty="0"/>
              <a:t>degree to which a </a:t>
            </a:r>
            <a:r>
              <a:rPr lang="en-U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candidate wavefunction ansatz </a:t>
            </a:r>
            <a:r>
              <a:rPr lang="en-US" dirty="0"/>
              <a:t>is an eigenstate.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Strategy for converging ansatz eigenstates </a:t>
            </a:r>
            <a:r>
              <a:rPr lang="en-US" dirty="0"/>
              <a:t>to actual eigenstates (at least in principle).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Computational tools to compare effective mass theories.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Explore the effect of common approximations in EMTs by selectively applying them.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Test models of the donor impurity.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7D8F8-B22F-4E6D-BF3A-39CBDA4E0137}"/>
              </a:ext>
            </a:extLst>
          </p:cNvPr>
          <p:cNvSpPr txBox="1"/>
          <p:nvPr/>
        </p:nvSpPr>
        <p:spPr>
          <a:xfrm>
            <a:off x="836686" y="1964714"/>
            <a:ext cx="105186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current state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many different effective mass theories of the silicon donor [12-21, to name just a few].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each make different, reasonable approximations to achieve the goals of a specific paper or calculation.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Substantial discrepancies in results between EMTs.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Problem: </a:t>
            </a:r>
            <a:r>
              <a:rPr lang="en-US" dirty="0">
                <a:solidFill>
                  <a:srgbClr val="C00000"/>
                </a:solidFill>
              </a:rPr>
              <a:t>Hard to make sense of the global landscape of effective mass theories.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Problem: </a:t>
            </a:r>
            <a:r>
              <a:rPr lang="en-US" dirty="0">
                <a:solidFill>
                  <a:srgbClr val="C00000"/>
                </a:solidFill>
              </a:rPr>
              <a:t>Hard to tell why a calculation might differ from experiment, or another theory. 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Incorrect wavefunction ansatz?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Incorrect model of the impurity?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Fundamental problems with the effective mass approximation itself?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Need to a way to distinguish all three sources of error.</a:t>
            </a:r>
          </a:p>
        </p:txBody>
      </p:sp>
    </p:spTree>
    <p:extLst>
      <p:ext uri="{BB962C8B-B14F-4D97-AF65-F5344CB8AC3E}">
        <p14:creationId xmlns:p14="http://schemas.microsoft.com/office/powerpoint/2010/main" val="2302750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41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8926-6989-4025-94D9-D0FD5DF3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basis state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DA6D3C-46A6-4F29-9ACD-8DD269CBD593}"/>
              </a:ext>
            </a:extLst>
          </p:cNvPr>
          <p:cNvSpPr txBox="1"/>
          <p:nvPr/>
        </p:nvSpPr>
        <p:spPr>
          <a:xfrm>
            <a:off x="339968" y="1763650"/>
            <a:ext cx="40796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Our naïve basis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Spherical harmonics multiplied by Laguerre polynomials.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set to represent square-integrable functions in real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Orthonormal.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Basis has choice of Slater (</a:t>
            </a:r>
            <a:r>
              <a:rPr lang="en-US" i="1" dirty="0"/>
              <a:t>W</a:t>
            </a:r>
            <a:r>
              <a:rPr lang="en-US" dirty="0"/>
              <a:t> = 1) or Gaussian decay (</a:t>
            </a:r>
            <a:r>
              <a:rPr lang="en-US" i="1" dirty="0"/>
              <a:t>W</a:t>
            </a:r>
            <a:r>
              <a:rPr lang="en-US" dirty="0"/>
              <a:t> = 2).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78FA0E0-F3B2-47B5-8072-087D2682A19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56368" y="4608483"/>
            <a:ext cx="4481522" cy="7725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D855185-639B-4AD8-9E99-8FE7BFF9DF6A}"/>
              </a:ext>
            </a:extLst>
          </p:cNvPr>
          <p:cNvSpPr txBox="1"/>
          <p:nvPr/>
        </p:nvSpPr>
        <p:spPr>
          <a:xfrm>
            <a:off x="339969" y="4256105"/>
            <a:ext cx="40796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Introducing variational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i="1" dirty="0">
                <a:latin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controls overall size of ansatz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introduces longitudinal anisotropy.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Rotate basis: eigenstates of coordinate swaps i.e.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xyz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) -&gt; (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yxz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i="1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98D5C9-CB1B-48FD-A292-0D6CA5CBB1C1}"/>
              </a:ext>
            </a:extLst>
          </p:cNvPr>
          <p:cNvGrpSpPr/>
          <p:nvPr/>
        </p:nvGrpSpPr>
        <p:grpSpPr>
          <a:xfrm>
            <a:off x="5644558" y="2122052"/>
            <a:ext cx="2811424" cy="1591519"/>
            <a:chOff x="5644558" y="2122052"/>
            <a:chExt cx="2811424" cy="1591519"/>
          </a:xfrm>
        </p:grpSpPr>
        <p:pic>
          <p:nvPicPr>
            <p:cNvPr id="40" name="Picture 39" descr="\documentclass{article}&#10;\usepackage{amsmath,bm,eufrak}&#10;\pagestyle{empty}&#10;\begin{document}&#10;&#10;\begin{align*}&#10;\Phi_{+z;mlk;\bm{r}}&#10;&amp; = &#10;F_{lk;r}&#10;Y_{lm;\chi\phi}&#10;\\&#10;F_{lk;r}&#10;&amp; \propto&#10;\rho^{l}\mathrm{e}^{-\frac{r^{W}}{2}}&#10;\hat{L}_{k;r^{W}}^{(\alpha_{l})}&#10;\\&#10;\end{align*}&#10;&#10;\end{document} " title="IguanaTex Bitmap Display">
              <a:extLst>
                <a:ext uri="{FF2B5EF4-FFF2-40B4-BE49-F238E27FC236}">
                  <a16:creationId xmlns:a16="http://schemas.microsoft.com/office/drawing/2014/main" id="{33A90CBD-DCCB-47E1-B44A-3D81D04F39F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5644558" y="2122052"/>
              <a:ext cx="2811424" cy="800000"/>
            </a:xfrm>
            <a:prstGeom prst="rect">
              <a:avLst/>
            </a:prstGeom>
          </p:spPr>
        </p:pic>
        <p:pic>
          <p:nvPicPr>
            <p:cNvPr id="37" name="Picture 36" descr="\documentclass{article}&#10;\usepackage{amsmath,bm}&#10;\pagestyle{empty}&#10;\begin{document}&#10;&#10;\begin{equation*}&#10;\alpha_{l}&#10;=&#10;\frac{2}{W}\left(l + \frac{1}{W}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A6F8242E-83FB-442D-9AFB-8EBD22FE47C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055984" y="3105572"/>
              <a:ext cx="1988572" cy="607999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681582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8926-6989-4025-94D9-D0FD5DF3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basis state</a:t>
            </a:r>
          </a:p>
        </p:txBody>
      </p:sp>
      <p:pic>
        <p:nvPicPr>
          <p:cNvPr id="23" name="Picture 22" descr="\documentclass{article}&#10;\usepackage{amsmath,amssymb,bm,physics,mathtools}&#10;\pagestyle{empty}&#10;\begin{document}&#10;&#10;\begin{equation*}&#10;F_{lk;\eta\lambda;r\chi} = \frac{1}{\eta_{\lambda;\chi}^{3/2}}F_{lk;\eta_{\lambda\chi};r}&#10;\end{equation*}&#10;&#10;\end{document}" title="IguanaTex Bitmap Display">
            <a:extLst>
              <a:ext uri="{FF2B5EF4-FFF2-40B4-BE49-F238E27FC236}">
                <a16:creationId xmlns:a16="http://schemas.microsoft.com/office/drawing/2014/main" id="{CEC5AE86-EC69-4078-B55C-8C8913E6F79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091683" y="4486790"/>
            <a:ext cx="2906514" cy="757638"/>
          </a:xfrm>
          <a:prstGeom prst="rect">
            <a:avLst/>
          </a:prstGeom>
        </p:spPr>
      </p:pic>
      <p:pic>
        <p:nvPicPr>
          <p:cNvPr id="27" name="Picture 26" descr="\documentclass{article}&#10;\usepackage{amsmath,amssymb,bm,physics,mathtools}&#10;\pagestyle{empty}&#10;\begin{document}&#10;&#10;\begin{equation*}&#10;Y_{lk;\lambda;\chi\phi} = \sqrt{\frac{\lambda}{\vartheta_{\lambda;\chi}^{3}}}Y_{lm;\chi_{\lambda}^{\prime}\phi}&#10;\end{equation*}&#10;&#10;\end{document}" title="IguanaTex Bitmap Display">
            <a:extLst>
              <a:ext uri="{FF2B5EF4-FFF2-40B4-BE49-F238E27FC236}">
                <a16:creationId xmlns:a16="http://schemas.microsoft.com/office/drawing/2014/main" id="{BEE818B7-5E04-4E49-9980-C567158EA3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089880" y="4448238"/>
            <a:ext cx="3010437" cy="834743"/>
          </a:xfrm>
          <a:prstGeom prst="rect">
            <a:avLst/>
          </a:prstGeom>
        </p:spPr>
      </p:pic>
      <p:pic>
        <p:nvPicPr>
          <p:cNvPr id="47" name="Picture 46" descr="\documentclass{article}&#10;\usepackage{amsmath,amssymb,bm,physics,mathtools}&#10;\pagestyle{empty}&#10;\begin{document}&#10;&#10;\begin{equation*}&#10;\Phi_{mlk;\eta\lambda;\bm{r}}&#10;=&#10;F_{lk;\eta\lambda;r\chi}&#10;Y_{lm;\lambda;\chi\phi}&#10;\end{equation*}&#10;&#10;\end{document}" title="IguanaTex Bitmap Display">
            <a:extLst>
              <a:ext uri="{FF2B5EF4-FFF2-40B4-BE49-F238E27FC236}">
                <a16:creationId xmlns:a16="http://schemas.microsoft.com/office/drawing/2014/main" id="{8185A779-AECA-4BEF-9315-9090E25D8B8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064534" y="5999225"/>
            <a:ext cx="4062933" cy="322895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E60E3B3F-56E0-4871-9C92-067FB8D70B4E}"/>
              </a:ext>
            </a:extLst>
          </p:cNvPr>
          <p:cNvGrpSpPr/>
          <p:nvPr/>
        </p:nvGrpSpPr>
        <p:grpSpPr>
          <a:xfrm>
            <a:off x="671497" y="2158739"/>
            <a:ext cx="3996417" cy="1784380"/>
            <a:chOff x="671497" y="2158739"/>
            <a:chExt cx="3996417" cy="1784380"/>
          </a:xfrm>
        </p:grpSpPr>
        <p:pic>
          <p:nvPicPr>
            <p:cNvPr id="33" name="Picture 32" descr="\documentclass{article}&#10;\usepackage{amsmath,bm,eufrak}&#10;\pagestyle{empty}&#10;\begin{document}&#10;&#10;\begin{align*}&#10;x&#10;&amp;\rightarrow&#10;\frac{x}{\eta}&#10;\\&#10;y&#10;&amp;\rightarrow&#10;\frac{y}{\eta}&#10;\\&#10;z&#10;&amp;\rightarrow&#10;\frac{\lambda z}{\eta}&#10;\\&#10;\end{align*}&#10;&#10;\end{document} " title="IguanaTex Bitmap Display">
              <a:extLst>
                <a:ext uri="{FF2B5EF4-FFF2-40B4-BE49-F238E27FC236}">
                  <a16:creationId xmlns:a16="http://schemas.microsoft.com/office/drawing/2014/main" id="{F80CB7F7-C585-4670-ABD4-7630C7A64EEF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28296" y="2158739"/>
              <a:ext cx="839618" cy="178438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4866E4E-BD6F-49B2-83DA-40419D5F5179}"/>
                </a:ext>
              </a:extLst>
            </p:cNvPr>
            <p:cNvSpPr txBox="1"/>
            <p:nvPr/>
          </p:nvSpPr>
          <p:spPr>
            <a:xfrm>
              <a:off x="671497" y="2866263"/>
              <a:ext cx="290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Cartesian transformations: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D0520B1-6F71-474E-B247-8407BDB1A69D}"/>
              </a:ext>
            </a:extLst>
          </p:cNvPr>
          <p:cNvGrpSpPr/>
          <p:nvPr/>
        </p:nvGrpSpPr>
        <p:grpSpPr>
          <a:xfrm>
            <a:off x="5610185" y="2134106"/>
            <a:ext cx="5910318" cy="1833647"/>
            <a:chOff x="5610185" y="2134106"/>
            <a:chExt cx="5910318" cy="183364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A8A2D7-AAFE-4463-82F4-54CB9E69ABAF}"/>
                </a:ext>
              </a:extLst>
            </p:cNvPr>
            <p:cNvSpPr txBox="1"/>
            <p:nvPr/>
          </p:nvSpPr>
          <p:spPr>
            <a:xfrm>
              <a:off x="5610185" y="2866263"/>
              <a:ext cx="290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Spherical transformations: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11C70B9-71B0-4FBC-8C7B-66C09C1C575E}"/>
                </a:ext>
              </a:extLst>
            </p:cNvPr>
            <p:cNvGrpSpPr/>
            <p:nvPr/>
          </p:nvGrpSpPr>
          <p:grpSpPr>
            <a:xfrm>
              <a:off x="8766985" y="2134106"/>
              <a:ext cx="2753518" cy="1833647"/>
              <a:chOff x="8781450" y="2196326"/>
              <a:chExt cx="2753518" cy="1833647"/>
            </a:xfrm>
          </p:grpSpPr>
          <p:pic>
            <p:nvPicPr>
              <p:cNvPr id="68" name="Picture 67" descr="\documentclass{article}&#10;\usepackage{amsmath,bm,eufrak}&#10;\usepackage{geometry}&#10;\geometry{total={2in,10in}}&#10;\pagestyle{empty}&#10;\begin{document}&#10;&#10;\begin{align*}&#10;r&#10;&amp;\rightarrow&#10;\frac{r}{\eta_{\lambda;\chi}^{\prime}}&#10;&amp;&#10;\eta_{\lambda;\chi}^{\prime}&#10;&amp;=&#10;\frac{\eta}{\vartheta_{\lambda;\chi}}&#10;\\&#10;\chi&#10;&amp;\rightarrow&#10;\chi_{\lambda}^{\prime}&#10;&amp;&#10;\chi_{\lambda}^{\prime}&#10;&amp;=&#10;\frac{\lambda\chi}{\vartheta_{\lambda;\chi}}&#10;\\&#10;\end{align*}&#10;&#10;\end{document} " title="IguanaTex Bitmap Display">
                <a:extLst>
                  <a:ext uri="{FF2B5EF4-FFF2-40B4-BE49-F238E27FC236}">
                    <a16:creationId xmlns:a16="http://schemas.microsoft.com/office/drawing/2014/main" id="{BF8FCB0C-5555-4CA2-B8CC-5B2799A4A68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8781450" y="2196326"/>
                <a:ext cx="2753518" cy="1263238"/>
              </a:xfrm>
              <a:prstGeom prst="rect">
                <a:avLst/>
              </a:prstGeom>
            </p:spPr>
          </p:pic>
          <p:pic>
            <p:nvPicPr>
              <p:cNvPr id="54" name="Picture 53" descr="\documentclass{article}&#10;\usepackage{amsmath,bm,eufrak}&#10;\pagestyle{empty}&#10;\begin{document}&#10;&#10;\begin{equation*}&#10;\vartheta_{\lambda;\chi}&#10;=&#10;\sqrt{1+\left(\lambda^{2}-1\right)\chi^{2}}&#10;\end{equation*}&#10;&#10;\end{document} " title="IguanaTex Bitmap Display">
                <a:extLst>
                  <a:ext uri="{FF2B5EF4-FFF2-40B4-BE49-F238E27FC236}">
                    <a16:creationId xmlns:a16="http://schemas.microsoft.com/office/drawing/2014/main" id="{6FBFFFAF-D96E-4EDE-B21D-69354FDA0E6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8811163" y="3716068"/>
                <a:ext cx="2694093" cy="31390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02650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8926-6989-4025-94D9-D0FD5DF3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Subbasis</a:t>
            </a:r>
            <a:r>
              <a:rPr lang="en-US" dirty="0"/>
              <a:t> and </a:t>
            </a:r>
            <a:r>
              <a:rPr lang="en-US" dirty="0" err="1"/>
              <a:t>Superbasis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73555-8C80-402A-A5F4-FACCDA619A20}"/>
              </a:ext>
            </a:extLst>
          </p:cNvPr>
          <p:cNvSpPr txBox="1"/>
          <p:nvPr/>
        </p:nvSpPr>
        <p:spPr>
          <a:xfrm>
            <a:off x="1389105" y="2286000"/>
            <a:ext cx="941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Subbasis</a:t>
            </a:r>
            <a:r>
              <a:rPr lang="en-US" dirty="0"/>
              <a:t>: An orthonormal basis equipped with a set of independent variational/tuning parameters.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752ED6-098E-41C6-B41C-744DBD7460A6}"/>
              </a:ext>
            </a:extLst>
          </p:cNvPr>
          <p:cNvSpPr txBox="1"/>
          <p:nvPr/>
        </p:nvSpPr>
        <p:spPr>
          <a:xfrm>
            <a:off x="1186249" y="3649362"/>
            <a:ext cx="961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Superbasis</a:t>
            </a:r>
            <a:r>
              <a:rPr lang="en-US" dirty="0"/>
              <a:t>: An orthonormal basis equipped with a set of independent variational/tuning parameters.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226608-9530-4121-9ABC-140D713784A7}"/>
              </a:ext>
            </a:extLst>
          </p:cNvPr>
          <p:cNvSpPr txBox="1"/>
          <p:nvPr/>
        </p:nvSpPr>
        <p:spPr>
          <a:xfrm>
            <a:off x="2672196" y="4686300"/>
            <a:ext cx="6847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of the full Laguerre polynomials in our basis states allows free expansion of the subbases and </a:t>
            </a:r>
            <a:r>
              <a:rPr lang="en-US" dirty="0" err="1"/>
              <a:t>superbasis</a:t>
            </a:r>
            <a:r>
              <a:rPr lang="en-US" dirty="0"/>
              <a:t> without numerical instability. </a:t>
            </a:r>
          </a:p>
        </p:txBody>
      </p:sp>
    </p:spTree>
    <p:extLst>
      <p:ext uri="{BB962C8B-B14F-4D97-AF65-F5344CB8AC3E}">
        <p14:creationId xmlns:p14="http://schemas.microsoft.com/office/powerpoint/2010/main" val="1426065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A8726D-F123-4124-9120-5823F5EA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Symmetry and our effective mass wavefunctions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8FFC975-4E7C-4FDF-B409-92355FDE0449}"/>
              </a:ext>
            </a:extLst>
          </p:cNvPr>
          <p:cNvGrpSpPr/>
          <p:nvPr/>
        </p:nvGrpSpPr>
        <p:grpSpPr>
          <a:xfrm>
            <a:off x="580852" y="4526976"/>
            <a:ext cx="11030296" cy="1711242"/>
            <a:chOff x="263139" y="4811187"/>
            <a:chExt cx="11030296" cy="1711242"/>
          </a:xfrm>
        </p:grpSpPr>
        <p:pic>
          <p:nvPicPr>
            <p:cNvPr id="50" name="Picture 49" descr="\documentclass{article}&#10;\usepackage{amsmath,bm,braket}&#10;\pagestyle{empty}&#10;\begin{document}&#10;&#10;&#10;\begin{align*}&#10;\Psi_{\bm{r}}^{(\kappa,j)}&#10;&amp;=&#10;\frac{l_{\kappa}}{h}\sum_{R\in T_{d}}\left(\Gamma^{(\kappa)}_{R}\right)_{\kappa\kappa}^{*}&#10;\hat{P}_{R}\left\{\Phi_{+z;\bm{r}}\mathrm{e}^{\mathrm{i}\bm{k}_{z}\cdot\bm{r}}u_{\bm{k}_{z}\bm{r}}\right\}&#10;\\&#10;\Psi_{\bm{r}}^{(\kappa,j)}&#10;&amp;=&#10;\sum_{q=\pm x,\pm y,\pm z}&#10;\left(&#10;    \frac{l_{\kappa}}{h}\sum_{R^{\prime}\in T_{d}| z\rightarrow{q}}\left(\Gamma^{(\kappa)}_{R^{\prime}}\right)_{\kappa\kappa}^{*} \hat{P}_{R^{\prime}}\left\{\Phi_{+z;\bm{r}}\right\}&#10;\right)&#10;\mathrm{e}^{\mathrm{i}\bm{k}_{q}\cdot\bm{r}}u_{\bm{k}_{q}\bm{r}}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CD2E53DE-3D3B-477F-8B4C-A7327982E9C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3819147" y="4811187"/>
              <a:ext cx="7474288" cy="1711242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DD0E23-0A7E-4695-A5D8-B39399C9621D}"/>
                </a:ext>
              </a:extLst>
            </p:cNvPr>
            <p:cNvSpPr txBox="1"/>
            <p:nvPr/>
          </p:nvSpPr>
          <p:spPr>
            <a:xfrm>
              <a:off x="263139" y="5429743"/>
              <a:ext cx="2997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Second ansatz</a:t>
              </a:r>
            </a:p>
            <a:p>
              <a:r>
                <a:rPr lang="en-US" dirty="0"/>
                <a:t>Symmetrizes the first ansatz.</a:t>
              </a:r>
            </a:p>
          </p:txBody>
        </p:sp>
      </p:grpSp>
      <p:pic>
        <p:nvPicPr>
          <p:cNvPr id="13" name="Picture 12" descr="\documentclass{article}&#10;\usepackage{amsmath,bm,braket}&#10;\pagestyle{empty}&#10;\begin{document}&#10;&#10;&#10;\begin{equation*}&#10;\Psi_{+z;\bm{r}} = \Phi_{+z;mlk\bm{r}}\mathrm{e}^{\mathrm{i}\bm{k}_{z}\cdot\bm{r}}u_{\bm{k}_{z}\bm{r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312A1B09-5492-41AD-87C8-A635B4C934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595049" y="2088046"/>
            <a:ext cx="3001903" cy="3017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 Placeholder 1 1 2">
                <a:extLst>
                  <a:ext uri="{FF2B5EF4-FFF2-40B4-BE49-F238E27FC236}">
                    <a16:creationId xmlns:a16="http://schemas.microsoft.com/office/drawing/2014/main" id="{A6D633E8-18AC-4F0A-A97B-C2259B8B46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29331" y="2891008"/>
                <a:ext cx="6333338" cy="14260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ts val="26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800" b="0" i="0" kern="1200" spc="-50" baseline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45718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914377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None/>
                  <a:defRPr sz="18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371566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828754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28594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sz="2000" b="1" i="1" dirty="0">
                    <a:solidFill>
                      <a:srgbClr val="666666"/>
                    </a:solidFill>
                    <a:latin typeface="+mn-lt"/>
                  </a:rPr>
                  <a:t>Operations of </a:t>
                </a:r>
                <a:r>
                  <a:rPr lang="en-US" sz="2000" b="1" i="1" dirty="0">
                    <a:solidFill>
                      <a:schemeClr val="accent6">
                        <a:lumMod val="90000"/>
                        <a:lumOff val="10000"/>
                      </a:schemeClr>
                    </a:solidFill>
                    <a:latin typeface="+mn-lt"/>
                  </a:rPr>
                  <a:t>T</a:t>
                </a:r>
                <a:r>
                  <a:rPr lang="en-US" sz="2000" b="1" i="1" baseline="-25000" dirty="0">
                    <a:solidFill>
                      <a:schemeClr val="accent6">
                        <a:lumMod val="90000"/>
                        <a:lumOff val="10000"/>
                      </a:schemeClr>
                    </a:solidFill>
                    <a:latin typeface="+mn-lt"/>
                  </a:rPr>
                  <a:t>d</a:t>
                </a:r>
                <a:endParaRPr lang="en-US" sz="2000" b="1" i="1" dirty="0">
                  <a:latin typeface="+mn-lt"/>
                </a:endParaRP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B050"/>
                    </a:solidFill>
                    <a:latin typeface="+mn-lt"/>
                  </a:rPr>
                  <a:t>Permutations of coordinates </a:t>
                </a:r>
                <a:r>
                  <a:rPr lang="en-US" sz="2000" dirty="0">
                    <a:latin typeface="+mn-lt"/>
                  </a:rPr>
                  <a:t>–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𝑥𝑦𝑧</m:t>
                        </m:r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etc.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B0F0"/>
                    </a:solidFill>
                    <a:latin typeface="+mn-lt"/>
                  </a:rPr>
                  <a:t>Double inversion </a:t>
                </a:r>
                <a:r>
                  <a:rPr lang="en-US" sz="2000" dirty="0">
                    <a:latin typeface="+mn-lt"/>
                  </a:rPr>
                  <a:t>–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b="0" i="1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000" b="0" i="1" dirty="0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̅"/>
                            <m:ctrlPr>
                              <a:rPr lang="en-US" sz="2000" b="0" i="1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etc.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5961"/>
                    </a:solidFill>
                    <a:latin typeface="+mn-lt"/>
                  </a:rPr>
                  <a:t>Combinations</a:t>
                </a:r>
                <a:r>
                  <a:rPr lang="en-US" sz="2000" dirty="0">
                    <a:latin typeface="+mn-lt"/>
                  </a:rPr>
                  <a:t> of the two – 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etc.</a:t>
                </a:r>
              </a:p>
            </p:txBody>
          </p:sp>
        </mc:Choice>
        <mc:Fallback xmlns="">
          <p:sp>
            <p:nvSpPr>
              <p:cNvPr id="65" name="Text Placeholder 1 1 2">
                <a:extLst>
                  <a:ext uri="{FF2B5EF4-FFF2-40B4-BE49-F238E27FC236}">
                    <a16:creationId xmlns:a16="http://schemas.microsoft.com/office/drawing/2014/main" id="{A6D633E8-18AC-4F0A-A97B-C2259B8B4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31" y="2891008"/>
                <a:ext cx="6333338" cy="1426031"/>
              </a:xfrm>
              <a:prstGeom prst="rect">
                <a:avLst/>
              </a:prstGeom>
              <a:blipFill>
                <a:blip r:embed="rId7"/>
                <a:stretch>
                  <a:fillRect l="-867" t="-128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914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8926-6989-4025-94D9-D0FD5DF3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basis state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A04727D-C4C0-4BA0-B5D3-559FF66C39C8}"/>
              </a:ext>
            </a:extLst>
          </p:cNvPr>
          <p:cNvGrpSpPr/>
          <p:nvPr/>
        </p:nvGrpSpPr>
        <p:grpSpPr>
          <a:xfrm>
            <a:off x="285221" y="3874564"/>
            <a:ext cx="3973512" cy="822960"/>
            <a:chOff x="285221" y="3874564"/>
            <a:chExt cx="3973512" cy="82296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34604F0-D55F-4000-819F-A0551AE29E1D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383520" y="4007644"/>
              <a:ext cx="3776914" cy="600686"/>
            </a:xfrm>
            <a:prstGeom prst="rect">
              <a:avLst/>
            </a:prstGeom>
          </p:spPr>
        </p:pic>
        <p:sp>
          <p:nvSpPr>
            <p:cNvPr id="5" name="Rounded Rectangle 32">
              <a:extLst>
                <a:ext uri="{FF2B5EF4-FFF2-40B4-BE49-F238E27FC236}">
                  <a16:creationId xmlns:a16="http://schemas.microsoft.com/office/drawing/2014/main" id="{A15B4A9A-B2B6-4353-A5A0-EBEC3909C806}"/>
                </a:ext>
              </a:extLst>
            </p:cNvPr>
            <p:cNvSpPr/>
            <p:nvPr/>
          </p:nvSpPr>
          <p:spPr>
            <a:xfrm>
              <a:off x="285221" y="3874564"/>
              <a:ext cx="3973512" cy="822960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A0DE5B-A770-4718-89D6-FF08E8377C05}"/>
              </a:ext>
            </a:extLst>
          </p:cNvPr>
          <p:cNvGrpSpPr/>
          <p:nvPr/>
        </p:nvGrpSpPr>
        <p:grpSpPr>
          <a:xfrm>
            <a:off x="285221" y="2187935"/>
            <a:ext cx="3296179" cy="822960"/>
            <a:chOff x="285221" y="2187935"/>
            <a:chExt cx="3296179" cy="822960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52707A1-C769-44E1-B073-2C1CC18E2C90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93040" y="2298387"/>
              <a:ext cx="3074742" cy="602057"/>
            </a:xfrm>
            <a:prstGeom prst="rect">
              <a:avLst/>
            </a:prstGeom>
          </p:spPr>
        </p:pic>
        <p:sp>
          <p:nvSpPr>
            <p:cNvPr id="8" name="Rounded Rectangle 28">
              <a:extLst>
                <a:ext uri="{FF2B5EF4-FFF2-40B4-BE49-F238E27FC236}">
                  <a16:creationId xmlns:a16="http://schemas.microsoft.com/office/drawing/2014/main" id="{01A59E6F-4C66-42C9-A972-B90D40A0D321}"/>
                </a:ext>
              </a:extLst>
            </p:cNvPr>
            <p:cNvSpPr/>
            <p:nvPr/>
          </p:nvSpPr>
          <p:spPr>
            <a:xfrm>
              <a:off x="285221" y="2187935"/>
              <a:ext cx="3296179" cy="822960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630F4D3E-663D-446F-A2B4-FC9FF16E864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235649" y="3954464"/>
            <a:ext cx="4649445" cy="6631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B10CE7-1E85-4A81-8893-EDE753B8D42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153" y="4060520"/>
            <a:ext cx="1282438" cy="4510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F649179-7A06-424B-B183-8D0432E0C31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440095" y="2248226"/>
            <a:ext cx="3541340" cy="6384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EC3EA2-BDBE-449B-82F7-547BC83DBD4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055925" y="2421179"/>
            <a:ext cx="1499431" cy="292572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901673C7-C410-4351-A2E9-5ECD90681296}"/>
              </a:ext>
            </a:extLst>
          </p:cNvPr>
          <p:cNvGrpSpPr/>
          <p:nvPr/>
        </p:nvGrpSpPr>
        <p:grpSpPr>
          <a:xfrm>
            <a:off x="7899672" y="5644098"/>
            <a:ext cx="1258668" cy="565711"/>
            <a:chOff x="7899672" y="5589353"/>
            <a:chExt cx="1258668" cy="565711"/>
          </a:xfrm>
        </p:grpSpPr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54B2F65-51A6-4EB3-8C37-6D4B4B1660DE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7899672" y="5589353"/>
              <a:ext cx="1258668" cy="292572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EB814DC-0203-4C03-93F8-7E570E4B0B66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8083291" y="5969159"/>
              <a:ext cx="891430" cy="185905"/>
            </a:xfrm>
            <a:prstGeom prst="rect">
              <a:avLst/>
            </a:prstGeom>
          </p:spPr>
        </p:pic>
      </p:grp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DFA7665E-9697-4BB6-966B-DD4C01BE286E}"/>
              </a:ext>
            </a:extLst>
          </p:cNvPr>
          <p:cNvSpPr/>
          <p:nvPr/>
        </p:nvSpPr>
        <p:spPr>
          <a:xfrm>
            <a:off x="285220" y="5561193"/>
            <a:ext cx="6876195" cy="948608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C119930-D7D4-4561-9CA1-197ED828CC07}"/>
              </a:ext>
            </a:extLst>
          </p:cNvPr>
          <p:cNvGrpSpPr/>
          <p:nvPr/>
        </p:nvGrpSpPr>
        <p:grpSpPr>
          <a:xfrm>
            <a:off x="390069" y="5634304"/>
            <a:ext cx="6666496" cy="802387"/>
            <a:chOff x="390069" y="5623182"/>
            <a:chExt cx="6666496" cy="80238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C788407-45AF-4592-8772-CBA07D5A434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390069" y="5735639"/>
              <a:ext cx="2208596" cy="38262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E152F1C-81EE-495B-9333-A14F4B83BAF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2918413" y="5623182"/>
              <a:ext cx="4138152" cy="60754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9772FF-0952-4EEA-B0BB-5286D006499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986516" y="6275398"/>
              <a:ext cx="1015703" cy="1330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F2BAD8D-4FCB-4E2E-9F34-561374451803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4515913" y="6258255"/>
              <a:ext cx="943153" cy="1673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7037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7F0F-7AF0-4CC9-AB4B-76BA71D3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01CAA-CE92-4740-BDD4-74828C014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784" y="1620983"/>
            <a:ext cx="7738432" cy="523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16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221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334710-A405-4326-8D18-473098496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Single-valley results -- Increasing </a:t>
            </a:r>
            <a:r>
              <a:rPr lang="en-US" dirty="0" err="1"/>
              <a:t>subbasis</a:t>
            </a:r>
            <a:r>
              <a:rPr lang="en-US" dirty="0"/>
              <a:t> size (1)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8CA1C-DA4D-40AB-B22B-493668C10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251" y="2236572"/>
            <a:ext cx="4499499" cy="393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96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334710-A405-4326-8D18-473098496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Single-valley results -- Increasing </a:t>
            </a:r>
            <a:r>
              <a:rPr lang="en-US" dirty="0" err="1"/>
              <a:t>subbasis</a:t>
            </a:r>
            <a:r>
              <a:rPr lang="en-US" dirty="0"/>
              <a:t> size (2)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59A17-C850-49E9-AF25-1C0E3E36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33" y="2236572"/>
            <a:ext cx="4499499" cy="39302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995BBA-7A94-477D-AE5F-C90A9D2B1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165" y="2236571"/>
            <a:ext cx="4499501" cy="393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24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334710-A405-4326-8D18-473098496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Single-valley results -- Constructing </a:t>
            </a:r>
            <a:r>
              <a:rPr lang="en-US" dirty="0" err="1"/>
              <a:t>superbases</a:t>
            </a:r>
            <a:r>
              <a:rPr lang="en-US" dirty="0"/>
              <a:t>(1)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5E6E5-5735-415B-821F-FCE1F9D76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323" y="2253668"/>
            <a:ext cx="4277373" cy="37361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0D4A42-2E5A-4E41-9EB1-AD0713D5F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305" y="2301999"/>
            <a:ext cx="4166713" cy="363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49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334710-A405-4326-8D18-473098496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Single-valley results -- Constructing </a:t>
            </a:r>
            <a:r>
              <a:rPr lang="en-US" dirty="0" err="1"/>
              <a:t>superbases</a:t>
            </a:r>
            <a:r>
              <a:rPr lang="en-US" dirty="0"/>
              <a:t>(1)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B296F-5009-4C40-9C06-512311620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33" y="2233338"/>
            <a:ext cx="4843978" cy="417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31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811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2901C0-61BE-48B1-8FF6-E220EFAE1B78}"/>
              </a:ext>
            </a:extLst>
          </p:cNvPr>
          <p:cNvSpPr txBox="1"/>
          <p:nvPr/>
        </p:nvSpPr>
        <p:spPr>
          <a:xfrm>
            <a:off x="471804" y="1713912"/>
            <a:ext cx="1116139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J. D. </a:t>
            </a:r>
            <a:r>
              <a:rPr lang="en-US" sz="1400" dirty="0" err="1"/>
              <a:t>Hidary</a:t>
            </a:r>
            <a:r>
              <a:rPr lang="en-US" sz="1400" dirty="0"/>
              <a:t>, </a:t>
            </a:r>
            <a:r>
              <a:rPr lang="en-US" sz="1400" i="1" dirty="0"/>
              <a:t>Quantum Computing: An Applied Approach </a:t>
            </a:r>
            <a:r>
              <a:rPr lang="en-US" sz="1400" dirty="0"/>
              <a:t>(Springer, Cham, 2019).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National Academies of Sciences, Engineering, and Medicine, </a:t>
            </a:r>
            <a:r>
              <a:rPr lang="en-US" sz="1400" i="1" dirty="0"/>
              <a:t>Quantum Computing: Progress and Prospects </a:t>
            </a:r>
            <a:r>
              <a:rPr lang="en-US" sz="1400" dirty="0"/>
              <a:t>(The National Academies Press, Washington, DC, 2018).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C. M. Dawson, M.A. Nielson, Quantum Information and Computation </a:t>
            </a:r>
            <a:r>
              <a:rPr lang="en-US" sz="1400" b="1" dirty="0"/>
              <a:t>6, </a:t>
            </a:r>
            <a:r>
              <a:rPr lang="en-US" sz="1400" dirty="0"/>
              <a:t>1 (2006).</a:t>
            </a:r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F. </a:t>
            </a:r>
            <a:r>
              <a:rPr lang="en-US" sz="1400" dirty="0" err="1"/>
              <a:t>Arute</a:t>
            </a:r>
            <a:r>
              <a:rPr lang="en-US" sz="1400" dirty="0"/>
              <a:t>, </a:t>
            </a:r>
            <a:r>
              <a:rPr lang="en-US" sz="1400" i="1" dirty="0"/>
              <a:t>et al.</a:t>
            </a:r>
            <a:r>
              <a:rPr lang="en-US" sz="1400" dirty="0"/>
              <a:t>,</a:t>
            </a:r>
            <a:r>
              <a:rPr lang="en-US" sz="1400" i="1" dirty="0"/>
              <a:t> </a:t>
            </a:r>
            <a:r>
              <a:rPr lang="en-US" sz="1400" dirty="0"/>
              <a:t>Nature </a:t>
            </a:r>
            <a:r>
              <a:rPr lang="en-US" sz="1400" b="1" dirty="0"/>
              <a:t>574</a:t>
            </a:r>
            <a:r>
              <a:rPr lang="en-US" sz="1400" dirty="0"/>
              <a:t>, 505 (2019).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E. </a:t>
            </a:r>
            <a:r>
              <a:rPr lang="en-US" sz="1400" dirty="0" err="1"/>
              <a:t>Pednault</a:t>
            </a:r>
            <a:r>
              <a:rPr lang="en-US" sz="1400" dirty="0"/>
              <a:t>,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dirty="0" err="1"/>
              <a:t>arXiv</a:t>
            </a:r>
            <a:r>
              <a:rPr lang="en-US" sz="1400" dirty="0"/>
              <a:t>: 1910.09534v2 (unpublished).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J. </a:t>
            </a:r>
            <a:r>
              <a:rPr lang="en-US" sz="1400" dirty="0" err="1"/>
              <a:t>Preskill</a:t>
            </a:r>
            <a:r>
              <a:rPr lang="en-US" sz="1400" dirty="0"/>
              <a:t>, Quantum </a:t>
            </a:r>
            <a:r>
              <a:rPr lang="en-US" sz="1400" b="1" dirty="0"/>
              <a:t>2</a:t>
            </a:r>
            <a:r>
              <a:rPr lang="en-US" sz="1400" dirty="0"/>
              <a:t>, 79 (2018).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C. D. </a:t>
            </a:r>
            <a:r>
              <a:rPr lang="en-US" sz="1400" dirty="0" err="1"/>
              <a:t>Bruzewicz</a:t>
            </a:r>
            <a:r>
              <a:rPr lang="en-US" sz="1400" dirty="0"/>
              <a:t>, J. Chiaverini, R. McConnell, J. M. Sage, Applied Physics Reviews </a:t>
            </a:r>
            <a:r>
              <a:rPr lang="en-US" sz="1400" b="1" dirty="0"/>
              <a:t>6,</a:t>
            </a:r>
            <a:r>
              <a:rPr lang="en-US" sz="1400" dirty="0"/>
              <a:t> 021314 (2019).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M. </a:t>
            </a:r>
            <a:r>
              <a:rPr lang="en-US" sz="1400" dirty="0" err="1"/>
              <a:t>Kjaergaard</a:t>
            </a:r>
            <a:r>
              <a:rPr lang="en-US" sz="1400" dirty="0"/>
              <a:t>, </a:t>
            </a:r>
            <a:r>
              <a:rPr lang="en-US" sz="1400" i="1" dirty="0"/>
              <a:t>et al.</a:t>
            </a:r>
            <a:r>
              <a:rPr lang="en-US" sz="1400" dirty="0"/>
              <a:t>, Annual Review of Condensed Matter Physics </a:t>
            </a:r>
            <a:r>
              <a:rPr lang="en-US" sz="1400" b="1" dirty="0"/>
              <a:t>11</a:t>
            </a:r>
            <a:r>
              <a:rPr lang="en-US" sz="1400" dirty="0"/>
              <a:t>, 369 (2020).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L. M. K. </a:t>
            </a:r>
            <a:r>
              <a:rPr lang="en-US" sz="1400" dirty="0" err="1"/>
              <a:t>Vandersypen</a:t>
            </a:r>
            <a:r>
              <a:rPr lang="en-US" sz="1400" dirty="0"/>
              <a:t>, M. A. Eriksson, Physics Today </a:t>
            </a:r>
            <a:r>
              <a:rPr lang="en-US" sz="1400" b="1" dirty="0"/>
              <a:t>72</a:t>
            </a:r>
            <a:r>
              <a:rPr lang="en-US" sz="1400" dirty="0"/>
              <a:t>, 38 (2019).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J. M. </a:t>
            </a:r>
            <a:r>
              <a:rPr lang="en-US" sz="1400" dirty="0" err="1"/>
              <a:t>Luttinger</a:t>
            </a:r>
            <a:r>
              <a:rPr lang="en-US" sz="1400" dirty="0"/>
              <a:t>, W. Kohn, Physical Review, </a:t>
            </a:r>
            <a:r>
              <a:rPr lang="en-US" sz="1400" b="1" dirty="0"/>
              <a:t>97</a:t>
            </a:r>
            <a:r>
              <a:rPr lang="en-US" sz="1400" dirty="0"/>
              <a:t>, 869 (1955).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W. Kohn, J. M. </a:t>
            </a:r>
            <a:r>
              <a:rPr lang="en-US" sz="1400" dirty="0" err="1"/>
              <a:t>Luttinger</a:t>
            </a:r>
            <a:r>
              <a:rPr lang="en-US" sz="1400" dirty="0"/>
              <a:t>, Physical Review </a:t>
            </a:r>
            <a:r>
              <a:rPr lang="en-US" sz="1400" b="1" dirty="0"/>
              <a:t>98</a:t>
            </a:r>
            <a:r>
              <a:rPr lang="en-US" sz="1400" dirty="0"/>
              <a:t>, 915 (1955).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A. </a:t>
            </a:r>
            <a:r>
              <a:rPr lang="en-US" sz="1400" dirty="0" err="1"/>
              <a:t>Baldereschi</a:t>
            </a:r>
            <a:r>
              <a:rPr lang="en-US" sz="1400" dirty="0"/>
              <a:t>, Physical Review B </a:t>
            </a:r>
            <a:r>
              <a:rPr lang="en-US" sz="1400" b="1" dirty="0"/>
              <a:t>1</a:t>
            </a:r>
            <a:r>
              <a:rPr lang="en-US" sz="1400" dirty="0"/>
              <a:t>, 4673 (1970).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R. A. Faulkner, Physical Review </a:t>
            </a:r>
            <a:r>
              <a:rPr lang="en-US" sz="1400" b="1" dirty="0"/>
              <a:t>184</a:t>
            </a:r>
            <a:r>
              <a:rPr lang="en-US" sz="1400" dirty="0"/>
              <a:t>, 713 (1969).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H. Hui, Solid State Communications </a:t>
            </a:r>
            <a:r>
              <a:rPr lang="en-US" sz="1400" b="1" dirty="0"/>
              <a:t>154</a:t>
            </a:r>
            <a:r>
              <a:rPr lang="en-US" sz="1400" dirty="0"/>
              <a:t>, 19 (2013).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T. H. Ning, C. T. </a:t>
            </a:r>
            <a:r>
              <a:rPr lang="en-US" sz="1400" dirty="0" err="1"/>
              <a:t>Sah</a:t>
            </a:r>
            <a:r>
              <a:rPr lang="en-US" sz="1400" dirty="0"/>
              <a:t>, Physical Review B </a:t>
            </a:r>
            <a:r>
              <a:rPr lang="en-US" sz="1400" b="1" dirty="0"/>
              <a:t>4</a:t>
            </a:r>
            <a:r>
              <a:rPr lang="en-US" sz="1400" dirty="0"/>
              <a:t>, 3468 (1971).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S. T. </a:t>
            </a:r>
            <a:r>
              <a:rPr lang="en-US" sz="1400" dirty="0" err="1"/>
              <a:t>Pantelides</a:t>
            </a:r>
            <a:r>
              <a:rPr lang="en-US" sz="1400" dirty="0"/>
              <a:t>, C. T. </a:t>
            </a:r>
            <a:r>
              <a:rPr lang="en-US" sz="1400" dirty="0" err="1"/>
              <a:t>Sah</a:t>
            </a:r>
            <a:r>
              <a:rPr lang="en-US" sz="1400" dirty="0"/>
              <a:t>, Physical Review B </a:t>
            </a:r>
            <a:r>
              <a:rPr lang="en-US" sz="1400" b="1" dirty="0"/>
              <a:t>10</a:t>
            </a:r>
            <a:r>
              <a:rPr lang="en-US" sz="1400" dirty="0"/>
              <a:t>, 621 (1974).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A. L. Saraiva, </a:t>
            </a:r>
            <a:r>
              <a:rPr lang="en-US" sz="1400" i="1" dirty="0"/>
              <a:t>et al.</a:t>
            </a:r>
            <a:r>
              <a:rPr lang="en-US" sz="1400" dirty="0"/>
              <a:t>, Journal of Physics: Condensed Matter </a:t>
            </a:r>
            <a:r>
              <a:rPr lang="en-US" sz="1400" b="1" dirty="0"/>
              <a:t>27</a:t>
            </a:r>
            <a:r>
              <a:rPr lang="en-US" sz="1400" dirty="0"/>
              <a:t>, 154208 (2015).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J. K. Gamble, </a:t>
            </a:r>
            <a:r>
              <a:rPr lang="en-US" sz="1400" i="1" dirty="0"/>
              <a:t>et al.</a:t>
            </a:r>
            <a:r>
              <a:rPr lang="en-US" sz="1400" dirty="0"/>
              <a:t>, Physical Review B </a:t>
            </a:r>
            <a:r>
              <a:rPr lang="en-US" sz="1400" b="1" dirty="0"/>
              <a:t>91</a:t>
            </a:r>
            <a:r>
              <a:rPr lang="en-US" sz="1400" dirty="0"/>
              <a:t>, 235318 (2015).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K. </a:t>
            </a:r>
            <a:r>
              <a:rPr lang="en-US" sz="1400" dirty="0" err="1"/>
              <a:t>Shindo</a:t>
            </a:r>
            <a:r>
              <a:rPr lang="en-US" sz="1400" dirty="0"/>
              <a:t>, H. Nara, Journal of the Physical Society of Japan </a:t>
            </a:r>
            <a:r>
              <a:rPr lang="en-US" sz="1400" b="1" dirty="0"/>
              <a:t>40</a:t>
            </a:r>
            <a:r>
              <a:rPr lang="en-US" sz="1400" dirty="0"/>
              <a:t>, 1640 (1976).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A. </a:t>
            </a:r>
            <a:r>
              <a:rPr lang="en-US" sz="1400" dirty="0" err="1"/>
              <a:t>Debernardi</a:t>
            </a:r>
            <a:r>
              <a:rPr lang="en-US" sz="1400" dirty="0"/>
              <a:t>, A. </a:t>
            </a:r>
            <a:r>
              <a:rPr lang="en-US" sz="1400" dirty="0" err="1"/>
              <a:t>Baldereschi</a:t>
            </a:r>
            <a:r>
              <a:rPr lang="en-US" sz="1400" dirty="0"/>
              <a:t>, M. </a:t>
            </a:r>
            <a:r>
              <a:rPr lang="en-US" sz="1400" dirty="0" err="1"/>
              <a:t>Fanciulli</a:t>
            </a:r>
            <a:r>
              <a:rPr lang="en-US" sz="1400" dirty="0"/>
              <a:t>, Physical Review B </a:t>
            </a:r>
            <a:r>
              <a:rPr lang="en-US" sz="1400" b="1" dirty="0"/>
              <a:t>74</a:t>
            </a:r>
            <a:r>
              <a:rPr lang="en-US" sz="1400" dirty="0"/>
              <a:t>, 035202 (2006).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5666BE-A926-4D6D-9BD3-A29AE411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57116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801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Models of impurity potential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B415300-0518-4AC4-B6DC-88E848690B78}"/>
              </a:ext>
            </a:extLst>
          </p:cNvPr>
          <p:cNvGrpSpPr/>
          <p:nvPr/>
        </p:nvGrpSpPr>
        <p:grpSpPr>
          <a:xfrm>
            <a:off x="811875" y="4130936"/>
            <a:ext cx="10588058" cy="2031325"/>
            <a:chOff x="811875" y="2413338"/>
            <a:chExt cx="10588058" cy="2031325"/>
          </a:xfrm>
          <a:solidFill>
            <a:schemeClr val="bg1"/>
          </a:solidFill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CFE643-FB1A-4834-822B-FA850B6C82D9}"/>
                </a:ext>
              </a:extLst>
            </p:cNvPr>
            <p:cNvSpPr txBox="1"/>
            <p:nvPr/>
          </p:nvSpPr>
          <p:spPr>
            <a:xfrm>
              <a:off x="811875" y="2413338"/>
              <a:ext cx="5353176" cy="203132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Dynamic screened Coulomb model. [15-17]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Excess proton charge is screened by surrounding silicon. 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Permittivity is treated as a </a:t>
              </a:r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-dependent function transformed to real space.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Not necessarily a central cell correction, depends on decay constants.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311399-BB3B-4D53-9CE9-E434B7238BE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5964507" y="2463878"/>
              <a:ext cx="5435426" cy="1927616"/>
            </a:xfrm>
            <a:prstGeom prst="rect">
              <a:avLst/>
            </a:prstGeom>
            <a:grpFill/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5FE6C6A-3CA0-4E58-AA35-93CF07168C88}"/>
              </a:ext>
            </a:extLst>
          </p:cNvPr>
          <p:cNvGrpSpPr/>
          <p:nvPr/>
        </p:nvGrpSpPr>
        <p:grpSpPr>
          <a:xfrm>
            <a:off x="2814804" y="1851954"/>
            <a:ext cx="6562393" cy="1477328"/>
            <a:chOff x="567266" y="4026752"/>
            <a:chExt cx="6562393" cy="147732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937161-FC87-4316-BA5C-58E148E08232}"/>
                </a:ext>
              </a:extLst>
            </p:cNvPr>
            <p:cNvSpPr txBox="1"/>
            <p:nvPr/>
          </p:nvSpPr>
          <p:spPr>
            <a:xfrm>
              <a:off x="567266" y="4026752"/>
              <a:ext cx="456185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Statically screened Coulomb model. [11-14]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Excess proton charge is screened by surrounding silicon. 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Permittivity is treated as a constant.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No central cell correction.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74F74D7-305E-4EBB-B2F5-D5EA54F3A87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5710992" y="4416514"/>
              <a:ext cx="1418667" cy="557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1499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Models of impurity potential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0244DA-FD67-4D5D-A683-B79E3D6D3CBC}"/>
              </a:ext>
            </a:extLst>
          </p:cNvPr>
          <p:cNvGrpSpPr/>
          <p:nvPr/>
        </p:nvGrpSpPr>
        <p:grpSpPr>
          <a:xfrm>
            <a:off x="329666" y="1911278"/>
            <a:ext cx="11019103" cy="1708160"/>
            <a:chOff x="329666" y="1911278"/>
            <a:chExt cx="11019103" cy="170816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1010F3C-CFDD-45CD-8DBC-54441841867F}"/>
                </a:ext>
              </a:extLst>
            </p:cNvPr>
            <p:cNvSpPr txBox="1"/>
            <p:nvPr/>
          </p:nvSpPr>
          <p:spPr>
            <a:xfrm>
              <a:off x="329666" y="1911278"/>
              <a:ext cx="4928134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Empirical tetrahedral symmetric potential. [18]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Potential goes beyond spherical symmetry.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Reflects symmetry of silicon lattice.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Decay constants consistent with central cell correction.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D723193-954D-40E7-A42F-F9CCBEAF6FE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6044389" y="2259619"/>
              <a:ext cx="5304380" cy="73447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9EE02A-B368-4C89-A804-F8D4175C4AB7}"/>
              </a:ext>
            </a:extLst>
          </p:cNvPr>
          <p:cNvGrpSpPr/>
          <p:nvPr/>
        </p:nvGrpSpPr>
        <p:grpSpPr>
          <a:xfrm>
            <a:off x="329666" y="3681565"/>
            <a:ext cx="9484628" cy="1077218"/>
            <a:chOff x="329666" y="3681565"/>
            <a:chExt cx="9484628" cy="107721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66E033C-E516-411E-BC87-BE9F5F7E0B8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6044389" y="3840746"/>
              <a:ext cx="3769905" cy="758857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329B689-7014-489F-B787-F220A1B997EB}"/>
                </a:ext>
              </a:extLst>
            </p:cNvPr>
            <p:cNvSpPr txBox="1"/>
            <p:nvPr/>
          </p:nvSpPr>
          <p:spPr>
            <a:xfrm>
              <a:off x="329666" y="3681565"/>
              <a:ext cx="364317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Center cell. [19]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Smoothed pseudopotential.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Empirical parameters.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F56414-7FD3-4A6B-8870-48A17301B80A}"/>
              </a:ext>
            </a:extLst>
          </p:cNvPr>
          <p:cNvGrpSpPr/>
          <p:nvPr/>
        </p:nvGrpSpPr>
        <p:grpSpPr>
          <a:xfrm>
            <a:off x="329666" y="5097910"/>
            <a:ext cx="9670532" cy="1277273"/>
            <a:chOff x="329666" y="5097910"/>
            <a:chExt cx="9670532" cy="127727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D3CE801-82BC-45BD-B28C-AAF9D198748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044389" y="5457688"/>
              <a:ext cx="3955809" cy="55771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ADD5288-190E-499F-9933-A6F3BE50F469}"/>
                </a:ext>
              </a:extLst>
            </p:cNvPr>
            <p:cNvSpPr txBox="1"/>
            <p:nvPr/>
          </p:nvSpPr>
          <p:spPr>
            <a:xfrm>
              <a:off x="329666" y="5097910"/>
              <a:ext cx="3817856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Center cell. [20]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Based on mismatch of core electron densities numerically calculated by DFT.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0265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EB69588-6C36-4DE4-9DC0-A0008664F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24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Checking the completeness with the variance</a:t>
            </a:r>
          </a:p>
        </p:txBody>
      </p:sp>
      <p:pic>
        <p:nvPicPr>
          <p:cNvPr id="42" name="Picture 4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55" y="4863168"/>
            <a:ext cx="3811200" cy="506057"/>
          </a:xfrm>
          <a:prstGeom prst="rect">
            <a:avLst/>
          </a:prstGeom>
          <a:ln>
            <a:noFill/>
          </a:ln>
        </p:spPr>
      </p:pic>
      <p:pic>
        <p:nvPicPr>
          <p:cNvPr id="40" name="Picture 3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161" y="5675447"/>
            <a:ext cx="5864228" cy="648686"/>
          </a:xfrm>
          <a:prstGeom prst="rect">
            <a:avLst/>
          </a:prstGeom>
          <a:ln>
            <a:noFill/>
          </a:ln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863168"/>
            <a:ext cx="5550171" cy="648686"/>
          </a:xfrm>
          <a:prstGeom prst="rect">
            <a:avLst/>
          </a:prstGeom>
          <a:ln>
            <a:noFill/>
          </a:ln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54" y="5680904"/>
            <a:ext cx="5185371" cy="648686"/>
          </a:xfrm>
          <a:prstGeom prst="rect">
            <a:avLst/>
          </a:prstGeom>
          <a:ln>
            <a:noFill/>
          </a:ln>
        </p:spPr>
      </p:pic>
      <p:sp>
        <p:nvSpPr>
          <p:cNvPr id="10" name="Text Placeholder 1 2 2 1"/>
          <p:cNvSpPr txBox="1">
            <a:spLocks/>
          </p:cNvSpPr>
          <p:nvPr/>
        </p:nvSpPr>
        <p:spPr>
          <a:xfrm>
            <a:off x="2100267" y="4120009"/>
            <a:ext cx="7991467" cy="4033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+mn-lt"/>
              </a:rPr>
              <a:t>Variance formulae are derived following the method of the </a:t>
            </a:r>
            <a:r>
              <a:rPr lang="en-US" dirty="0" err="1">
                <a:latin typeface="+mn-lt"/>
              </a:rPr>
              <a:t>Shindo</a:t>
            </a:r>
            <a:r>
              <a:rPr lang="en-US" dirty="0">
                <a:latin typeface="+mn-lt"/>
              </a:rPr>
              <a:t>-Nara equation [19-20].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599294-8AA2-4304-81D7-0CAD7C31F53A}"/>
              </a:ext>
            </a:extLst>
          </p:cNvPr>
          <p:cNvGrpSpPr/>
          <p:nvPr/>
        </p:nvGrpSpPr>
        <p:grpSpPr>
          <a:xfrm>
            <a:off x="1179594" y="1967833"/>
            <a:ext cx="9832812" cy="1548940"/>
            <a:chOff x="1179594" y="1967833"/>
            <a:chExt cx="9832812" cy="1548940"/>
          </a:xfrm>
        </p:grpSpPr>
        <p:grpSp>
          <p:nvGrpSpPr>
            <p:cNvPr id="37" name="Group 36"/>
            <p:cNvGrpSpPr/>
            <p:nvPr/>
          </p:nvGrpSpPr>
          <p:grpSpPr>
            <a:xfrm>
              <a:off x="6806166" y="2145173"/>
              <a:ext cx="4206240" cy="1371600"/>
              <a:chOff x="3947160" y="1849613"/>
              <a:chExt cx="4206240" cy="1371600"/>
            </a:xfrm>
          </p:grpSpPr>
          <p:sp>
            <p:nvSpPr>
              <p:cNvPr id="110" name="Rounded Rectangle 109"/>
              <p:cNvSpPr/>
              <p:nvPr/>
            </p:nvSpPr>
            <p:spPr>
              <a:xfrm>
                <a:off x="3947160" y="1849613"/>
                <a:ext cx="4206240" cy="1371600"/>
              </a:xfrm>
              <a:prstGeom prst="round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7137" y="2526781"/>
                <a:ext cx="3986286" cy="583619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7328" y="1916986"/>
                <a:ext cx="2105905" cy="455619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0D53682-4576-4FDB-9392-39F6D66A9375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1179594" y="1967833"/>
              <a:ext cx="4446978" cy="1413900"/>
              <a:chOff x="1179594" y="1967833"/>
              <a:chExt cx="4446978" cy="141390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2ECEDB53-10E0-4F08-B438-0A6D97C2807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7"/>
              <a:stretch>
                <a:fillRect/>
              </a:stretch>
            </p:blipFill>
            <p:spPr>
              <a:xfrm>
                <a:off x="2516988" y="2782876"/>
                <a:ext cx="1918476" cy="598857"/>
              </a:xfrm>
              <a:prstGeom prst="rect">
                <a:avLst/>
              </a:prstGeom>
            </p:spPr>
          </p:pic>
          <p:sp>
            <p:nvSpPr>
              <p:cNvPr id="39" name="Text Placeholder 1 2 2 2"/>
              <p:cNvSpPr txBox="1">
                <a:spLocks/>
              </p:cNvSpPr>
              <p:nvPr/>
            </p:nvSpPr>
            <p:spPr>
              <a:xfrm>
                <a:off x="1179594" y="1967833"/>
                <a:ext cx="4446978" cy="67710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ts val="26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800" b="0" i="0" kern="1200" spc="-50" baseline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45718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914377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None/>
                  <a:defRPr sz="18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371566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828754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28594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i="1" dirty="0">
                    <a:solidFill>
                      <a:srgbClr val="0000FF"/>
                    </a:solidFill>
                    <a:latin typeface="+mn-lt"/>
                  </a:rPr>
                  <a:t>Completeness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>
                    <a:latin typeface="+mn-lt"/>
                  </a:rPr>
                  <a:t>Is the basis </a:t>
                </a:r>
                <a:r>
                  <a:rPr lang="en-US" b="1" dirty="0">
                    <a:solidFill>
                      <a:srgbClr val="0000FF"/>
                    </a:solidFill>
                    <a:latin typeface="+mn-lt"/>
                  </a:rPr>
                  <a:t>well-converged</a:t>
                </a:r>
                <a:r>
                  <a:rPr lang="en-US" dirty="0">
                    <a:latin typeface="+mn-lt"/>
                  </a:rPr>
                  <a:t> to an eigenstate?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9565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Multi-valley variance results – </a:t>
            </a:r>
            <a:r>
              <a:rPr lang="en-US" dirty="0" err="1"/>
              <a:t>Shindo</a:t>
            </a:r>
            <a:r>
              <a:rPr lang="en-US" dirty="0"/>
              <a:t>-Nara equation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6B8B88-DE11-4D04-8E77-319DAD15714B}"/>
              </a:ext>
            </a:extLst>
          </p:cNvPr>
          <p:cNvGrpSpPr/>
          <p:nvPr/>
        </p:nvGrpSpPr>
        <p:grpSpPr>
          <a:xfrm>
            <a:off x="1925383" y="4897019"/>
            <a:ext cx="8394719" cy="584775"/>
            <a:chOff x="1925383" y="4897019"/>
            <a:chExt cx="8394719" cy="584775"/>
          </a:xfrm>
        </p:grpSpPr>
        <p:sp>
          <p:nvSpPr>
            <p:cNvPr id="6" name="TextBox 5"/>
            <p:cNvSpPr txBox="1"/>
            <p:nvPr/>
          </p:nvSpPr>
          <p:spPr>
            <a:xfrm>
              <a:off x="1925383" y="4897019"/>
              <a:ext cx="48910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Adding more terms of the periodic part of the  Bloch function to attenuate the potential had no useful effect.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B7E116-9A0A-4BB2-A964-C9F9120135D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7234390" y="4932262"/>
              <a:ext cx="3085712" cy="490972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6808370" y="2268787"/>
            <a:ext cx="3687893" cy="1377239"/>
            <a:chOff x="8312727" y="1207633"/>
            <a:chExt cx="3687893" cy="1377239"/>
          </a:xfrm>
        </p:grpSpPr>
        <p:pic>
          <p:nvPicPr>
            <p:cNvPr id="2" name="Picture 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9645" y="2082929"/>
              <a:ext cx="1274057" cy="501943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8312727" y="1207633"/>
              <a:ext cx="36878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The effective potential was treated as Coulomb with static dielectric screening.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695736" y="1927470"/>
            <a:ext cx="3416898" cy="2059873"/>
            <a:chOff x="4387551" y="2446764"/>
            <a:chExt cx="3416898" cy="2059873"/>
          </a:xfrm>
        </p:grpSpPr>
        <p:sp>
          <p:nvSpPr>
            <p:cNvPr id="16" name="TextBox 15"/>
            <p:cNvSpPr txBox="1"/>
            <p:nvPr/>
          </p:nvSpPr>
          <p:spPr>
            <a:xfrm>
              <a:off x="4387551" y="2446764"/>
              <a:ext cx="34168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/>
                <a:t>We found a negative variance?</a:t>
              </a:r>
            </a:p>
          </p:txBody>
        </p:sp>
        <p:grpSp>
          <p:nvGrpSpPr>
            <p:cNvPr id="22" name="Group 21"/>
            <p:cNvGrpSpPr/>
            <p:nvPr>
              <p:custDataLst>
                <p:tags r:id="rId1"/>
              </p:custDataLst>
            </p:nvPr>
          </p:nvGrpSpPr>
          <p:grpSpPr>
            <a:xfrm>
              <a:off x="4398210" y="3085402"/>
              <a:ext cx="3395580" cy="990734"/>
              <a:chOff x="4398210" y="3085402"/>
              <a:chExt cx="3395580" cy="990734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4398211" y="3085402"/>
                <a:ext cx="3395579" cy="207010"/>
                <a:chOff x="4398211" y="3114171"/>
                <a:chExt cx="3395579" cy="207010"/>
              </a:xfrm>
            </p:grpSpPr>
            <p:pic>
              <p:nvPicPr>
                <p:cNvPr id="25" name="Picture 24"/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8211" y="3131923"/>
                  <a:ext cx="1296000" cy="189258"/>
                </a:xfrm>
                <a:prstGeom prst="rect">
                  <a:avLst/>
                </a:prstGeom>
              </p:spPr>
            </p:pic>
            <p:pic>
              <p:nvPicPr>
                <p:cNvPr id="15" name="Picture 14"/>
                <p:cNvPicPr>
                  <a:picLocks noChangeAspect="1"/>
                </p:cNvPicPr>
                <p:nvPr>
                  <p:custDataLst>
                    <p:tags r:id="rId9"/>
                  </p:custDataLst>
                </p:nvPr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03161" y="3114171"/>
                  <a:ext cx="1390629" cy="205715"/>
                </a:xfrm>
                <a:prstGeom prst="rect">
                  <a:avLst/>
                </a:prstGeom>
              </p:spPr>
            </p:pic>
          </p:grpSp>
          <p:grpSp>
            <p:nvGrpSpPr>
              <p:cNvPr id="49" name="Group 48"/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4398212" y="3477264"/>
                <a:ext cx="3188493" cy="207010"/>
                <a:chOff x="4398212" y="3137899"/>
                <a:chExt cx="3188493" cy="207010"/>
              </a:xfrm>
            </p:grpSpPr>
            <p:pic>
              <p:nvPicPr>
                <p:cNvPr id="44" name="Picture 43"/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8212" y="3155651"/>
                  <a:ext cx="1302857" cy="189258"/>
                </a:xfrm>
                <a:prstGeom prst="rect">
                  <a:avLst/>
                </a:prstGeom>
              </p:spPr>
            </p:pic>
            <p:pic>
              <p:nvPicPr>
                <p:cNvPr id="48" name="Picture 47"/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03162" y="3137899"/>
                  <a:ext cx="1183543" cy="183772"/>
                </a:xfrm>
                <a:prstGeom prst="rect">
                  <a:avLst/>
                </a:prstGeom>
              </p:spPr>
            </p:pic>
          </p:grpSp>
          <p:grpSp>
            <p:nvGrpSpPr>
              <p:cNvPr id="21" name="Group 20"/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4398210" y="3869126"/>
                <a:ext cx="3073294" cy="207010"/>
                <a:chOff x="4398210" y="3869126"/>
                <a:chExt cx="3073294" cy="207010"/>
              </a:xfrm>
            </p:grpSpPr>
            <p:pic>
              <p:nvPicPr>
                <p:cNvPr id="13" name="Picture 12"/>
                <p:cNvPicPr>
                  <a:picLocks noChangeAspect="1"/>
                </p:cNvPicPr>
                <p:nvPr>
                  <p:custDataLst>
                    <p:tags r:id="rId4"/>
                  </p:custDataLst>
                </p:nvPr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8210" y="3886878"/>
                  <a:ext cx="1291886" cy="189258"/>
                </a:xfrm>
                <a:prstGeom prst="rect">
                  <a:avLst/>
                </a:prstGeom>
              </p:spPr>
            </p:pic>
            <p:pic>
              <p:nvPicPr>
                <p:cNvPr id="20" name="Picture 19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03161" y="3869126"/>
                  <a:ext cx="1068343" cy="183772"/>
                </a:xfrm>
                <a:prstGeom prst="rect">
                  <a:avLst/>
                </a:prstGeom>
              </p:spPr>
            </p:pic>
          </p:grpSp>
        </p:grpSp>
        <p:sp>
          <p:nvSpPr>
            <p:cNvPr id="38" name="TextBox 37"/>
            <p:cNvSpPr txBox="1"/>
            <p:nvPr/>
          </p:nvSpPr>
          <p:spPr>
            <a:xfrm>
              <a:off x="4872642" y="4168083"/>
              <a:ext cx="24467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Results for one basis state.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624612" y="4242126"/>
            <a:ext cx="9729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Variance is</a:t>
            </a:r>
            <a:r>
              <a:rPr lang="en-US" sz="2000" b="1" i="1" dirty="0"/>
              <a:t> only </a:t>
            </a:r>
            <a:r>
              <a:rPr lang="en-US" sz="2000" dirty="0"/>
              <a:t>negative near the energetic minimum, suggests </a:t>
            </a:r>
            <a:r>
              <a:rPr lang="en-US" sz="2000" dirty="0">
                <a:solidFill>
                  <a:srgbClr val="0000FF"/>
                </a:solidFill>
              </a:rPr>
              <a:t>downward systematic error</a:t>
            </a:r>
            <a:r>
              <a:rPr lang="en-US" sz="2000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057009" y="5736576"/>
            <a:ext cx="6565961" cy="822960"/>
            <a:chOff x="3057009" y="5873056"/>
            <a:chExt cx="6565961" cy="822960"/>
          </a:xfrm>
        </p:grpSpPr>
        <p:sp>
          <p:nvSpPr>
            <p:cNvPr id="10" name="TextBox 9"/>
            <p:cNvSpPr txBox="1"/>
            <p:nvPr/>
          </p:nvSpPr>
          <p:spPr>
            <a:xfrm>
              <a:off x="3057009" y="5930593"/>
              <a:ext cx="65659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Perhaps the kinetic part is being underestimated somehow? </a:t>
              </a:r>
            </a:p>
            <a:p>
              <a:pPr algn="ctr"/>
              <a:r>
                <a:rPr lang="en-US" sz="2000" dirty="0"/>
                <a:t>Time to reassess the effective mass equation. 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39589" y="5873056"/>
              <a:ext cx="6400800" cy="82296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522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 problem with the </a:t>
            </a:r>
            <a:r>
              <a:rPr lang="en-US" dirty="0" err="1"/>
              <a:t>Shindo</a:t>
            </a:r>
            <a:r>
              <a:rPr lang="en-US" dirty="0"/>
              <a:t>-Nara equation?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3360F5-D57F-4567-8650-A84FE4A07D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10631" y="1983566"/>
            <a:ext cx="7970739" cy="619886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448786" y="2769770"/>
            <a:ext cx="11294429" cy="646331"/>
            <a:chOff x="308900" y="2769770"/>
            <a:chExt cx="11294429" cy="646331"/>
          </a:xfrm>
        </p:grpSpPr>
        <p:pic>
          <p:nvPicPr>
            <p:cNvPr id="48" name="Picture 4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4189" y="2790532"/>
              <a:ext cx="6569140" cy="6048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08900" y="2769770"/>
              <a:ext cx="45442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It is a reasonable assumption for </a:t>
              </a:r>
              <a:r>
                <a:rPr lang="en-US" dirty="0">
                  <a:solidFill>
                    <a:srgbClr val="7030A0"/>
                  </a:solidFill>
                </a:rPr>
                <a:t>verisimilitude</a:t>
              </a:r>
              <a:r>
                <a:rPr lang="en-US" dirty="0"/>
                <a:t> that the kinetic term </a:t>
              </a:r>
              <a:r>
                <a:rPr lang="en-US" dirty="0">
                  <a:solidFill>
                    <a:srgbClr val="7030A0"/>
                  </a:solidFill>
                </a:rPr>
                <a:t>doesn’t mix the valleys</a:t>
              </a:r>
              <a:r>
                <a:rPr lang="en-US" dirty="0"/>
                <a:t>.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290325" y="3885825"/>
            <a:ext cx="961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However, to ensure that the </a:t>
            </a:r>
            <a:r>
              <a:rPr lang="en-US" dirty="0">
                <a:solidFill>
                  <a:srgbClr val="0000FF"/>
                </a:solidFill>
              </a:rPr>
              <a:t>variance</a:t>
            </a:r>
            <a:r>
              <a:rPr lang="en-US" dirty="0"/>
              <a:t> is </a:t>
            </a:r>
            <a:r>
              <a:rPr lang="en-US" dirty="0">
                <a:solidFill>
                  <a:srgbClr val="0000FF"/>
                </a:solidFill>
              </a:rPr>
              <a:t>positive definite</a:t>
            </a:r>
            <a:r>
              <a:rPr lang="en-US" dirty="0"/>
              <a:t>, the valley-mixing terms </a:t>
            </a:r>
            <a:r>
              <a:rPr lang="en-US" dirty="0">
                <a:solidFill>
                  <a:srgbClr val="0000FF"/>
                </a:solidFill>
              </a:rPr>
              <a:t>must be kept</a:t>
            </a:r>
            <a:r>
              <a:rPr lang="en-US" dirty="0"/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CBD951-9481-44B5-BF58-58FDCFE0E56F}"/>
              </a:ext>
            </a:extLst>
          </p:cNvPr>
          <p:cNvGrpSpPr/>
          <p:nvPr/>
        </p:nvGrpSpPr>
        <p:grpSpPr>
          <a:xfrm>
            <a:off x="412059" y="4368699"/>
            <a:ext cx="11367883" cy="2313343"/>
            <a:chOff x="412059" y="4368699"/>
            <a:chExt cx="11367883" cy="23133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629AE0A-4D73-406F-8C24-89F6BB38EB2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819892" y="5860557"/>
              <a:ext cx="8847088" cy="821485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059" y="4538756"/>
              <a:ext cx="994286" cy="274286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514" y="5096113"/>
              <a:ext cx="9963428" cy="651429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92" y="4368699"/>
              <a:ext cx="4391313" cy="6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4396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Sensible variance with multivalley terms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913" y="2213885"/>
            <a:ext cx="9534174" cy="61851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17540" y="5672083"/>
            <a:ext cx="955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Including the intervalley terms makes the variance positive-definite over the whole parameter space.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55040" y="3119278"/>
            <a:ext cx="4663440" cy="2286000"/>
            <a:chOff x="1025387" y="3145217"/>
            <a:chExt cx="4663440" cy="2286000"/>
          </a:xfrm>
        </p:grpSpPr>
        <p:grpSp>
          <p:nvGrpSpPr>
            <p:cNvPr id="2" name="Group 1"/>
            <p:cNvGrpSpPr/>
            <p:nvPr/>
          </p:nvGrpSpPr>
          <p:grpSpPr>
            <a:xfrm>
              <a:off x="1127327" y="3286024"/>
              <a:ext cx="4459560" cy="2004387"/>
              <a:chOff x="1127327" y="3245765"/>
              <a:chExt cx="4459560" cy="2004387"/>
            </a:xfrm>
          </p:grpSpPr>
          <p:grpSp>
            <p:nvGrpSpPr>
              <p:cNvPr id="20" name="Group 19"/>
              <p:cNvGrpSpPr/>
              <p:nvPr>
                <p:custDataLst>
                  <p:tags r:id="rId12"/>
                </p:custDataLst>
              </p:nvPr>
            </p:nvGrpSpPr>
            <p:grpSpPr>
              <a:xfrm>
                <a:off x="1659317" y="3752591"/>
                <a:ext cx="3395580" cy="990734"/>
                <a:chOff x="247042" y="3956185"/>
                <a:chExt cx="3395580" cy="990734"/>
              </a:xfrm>
            </p:grpSpPr>
            <p:grpSp>
              <p:nvGrpSpPr>
                <p:cNvPr id="36" name="Group 35"/>
                <p:cNvGrpSpPr/>
                <p:nvPr/>
              </p:nvGrpSpPr>
              <p:grpSpPr>
                <a:xfrm>
                  <a:off x="247043" y="3956185"/>
                  <a:ext cx="3395579" cy="207010"/>
                  <a:chOff x="4398211" y="3114171"/>
                  <a:chExt cx="3395579" cy="207010"/>
                </a:xfrm>
              </p:grpSpPr>
              <p:pic>
                <p:nvPicPr>
                  <p:cNvPr id="47" name="Picture 46"/>
                  <p:cNvPicPr>
                    <a:picLocks noChangeAspect="1"/>
                  </p:cNvPicPr>
                  <p:nvPr>
                    <p:custDataLst>
                      <p:tags r:id="rId19"/>
                    </p:custDataLst>
                  </p:nvPr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1" y="3131923"/>
                    <a:ext cx="1296000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48" name="Picture 47"/>
                  <p:cNvPicPr>
                    <a:picLocks noChangeAspect="1"/>
                  </p:cNvPicPr>
                  <p:nvPr>
                    <p:custDataLst>
                      <p:tags r:id="rId20"/>
                    </p:custDataLst>
                  </p:nvPr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1" y="3114171"/>
                    <a:ext cx="1390629" cy="20571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1" name="Group 40"/>
                <p:cNvGrpSpPr/>
                <p:nvPr>
                  <p:custDataLst>
                    <p:tags r:id="rId13"/>
                  </p:custDataLst>
                </p:nvPr>
              </p:nvGrpSpPr>
              <p:grpSpPr>
                <a:xfrm>
                  <a:off x="247044" y="4348047"/>
                  <a:ext cx="3188493" cy="207010"/>
                  <a:chOff x="4398212" y="3137899"/>
                  <a:chExt cx="3188493" cy="207010"/>
                </a:xfrm>
              </p:grpSpPr>
              <p:pic>
                <p:nvPicPr>
                  <p:cNvPr id="45" name="Picture 44"/>
                  <p:cNvPicPr>
                    <a:picLocks noChangeAspect="1"/>
                  </p:cNvPicPr>
                  <p:nvPr>
                    <p:custDataLst>
                      <p:tags r:id="rId17"/>
                    </p:custDataLst>
                  </p:nvPr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2" y="3155651"/>
                    <a:ext cx="1302857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46" name="Picture 45"/>
                  <p:cNvPicPr>
                    <a:picLocks noChangeAspect="1"/>
                  </p:cNvPicPr>
                  <p:nvPr>
                    <p:custDataLst>
                      <p:tags r:id="rId18"/>
                    </p:custDataLst>
                  </p:nvPr>
                </p:nvPicPr>
                <p:blipFill>
                  <a:blip r:embed="rId2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2" y="3137899"/>
                    <a:ext cx="1183543" cy="18377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" name="Group 18"/>
                <p:cNvGrpSpPr/>
                <p:nvPr>
                  <p:custDataLst>
                    <p:tags r:id="rId14"/>
                  </p:custDataLst>
                </p:nvPr>
              </p:nvGrpSpPr>
              <p:grpSpPr>
                <a:xfrm>
                  <a:off x="247042" y="4739909"/>
                  <a:ext cx="3073294" cy="207010"/>
                  <a:chOff x="247042" y="4739909"/>
                  <a:chExt cx="3073294" cy="207010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2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7042" y="4757661"/>
                    <a:ext cx="1291886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17" name="Picture 16"/>
                  <p:cNvPicPr>
                    <a:picLocks noChangeAspect="1"/>
                  </p:cNvPicPr>
                  <p:nvPr>
                    <p:custDataLst>
                      <p:tags r:id="rId16"/>
                    </p:custDataLst>
                  </p:nvPr>
                </p:nvPicPr>
                <p:blipFill>
                  <a:blip r:embed="rId2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251993" y="4739909"/>
                    <a:ext cx="1068343" cy="183772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4" name="TextBox 33"/>
              <p:cNvSpPr txBox="1"/>
              <p:nvPr/>
            </p:nvSpPr>
            <p:spPr>
              <a:xfrm>
                <a:off x="2133749" y="4911598"/>
                <a:ext cx="244671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Results for one basis state.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127327" y="3245765"/>
                <a:ext cx="445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/>
                  <a:t>Without</a:t>
                </a:r>
                <a:r>
                  <a:rPr lang="en-US" dirty="0"/>
                  <a:t> </a:t>
                </a:r>
                <a:r>
                  <a:rPr lang="en-US" dirty="0" err="1"/>
                  <a:t>intervalley</a:t>
                </a:r>
                <a:r>
                  <a:rPr lang="en-US" dirty="0"/>
                  <a:t> kinetic and overlap terms</a:t>
                </a:r>
              </a:p>
            </p:txBody>
          </p:sp>
        </p:grpSp>
        <p:sp>
          <p:nvSpPr>
            <p:cNvPr id="31" name="Rounded Rectangle 30"/>
            <p:cNvSpPr/>
            <p:nvPr/>
          </p:nvSpPr>
          <p:spPr>
            <a:xfrm>
              <a:off x="1025387" y="3145217"/>
              <a:ext cx="4663440" cy="2286000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FF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573520" y="3119278"/>
            <a:ext cx="4663440" cy="2286000"/>
            <a:chOff x="6582380" y="3093339"/>
            <a:chExt cx="4663440" cy="2286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2840" y="3234146"/>
              <a:ext cx="4202521" cy="2004387"/>
              <a:chOff x="6533212" y="3245765"/>
              <a:chExt cx="4202521" cy="2004387"/>
            </a:xfrm>
          </p:grpSpPr>
          <p:grpSp>
            <p:nvGrpSpPr>
              <p:cNvPr id="13" name="Group 12"/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7097825" y="3752591"/>
                <a:ext cx="3073294" cy="990734"/>
                <a:chOff x="4398211" y="3988219"/>
                <a:chExt cx="3073294" cy="990734"/>
              </a:xfrm>
            </p:grpSpPr>
            <p:grpSp>
              <p:nvGrpSpPr>
                <p:cNvPr id="30" name="Group 29"/>
                <p:cNvGrpSpPr/>
                <p:nvPr>
                  <p:custDataLst>
                    <p:tags r:id="rId3"/>
                  </p:custDataLst>
                </p:nvPr>
              </p:nvGrpSpPr>
              <p:grpSpPr>
                <a:xfrm>
                  <a:off x="4398211" y="3988219"/>
                  <a:ext cx="3073294" cy="207010"/>
                  <a:chOff x="4398211" y="4254204"/>
                  <a:chExt cx="3073294" cy="207010"/>
                </a:xfrm>
              </p:grpSpPr>
              <p:pic>
                <p:nvPicPr>
                  <p:cNvPr id="25" name="Picture 24"/>
                  <p:cNvPicPr>
                    <a:picLocks noChangeAspect="1"/>
                  </p:cNvPicPr>
                  <p:nvPr>
                    <p:custDataLst>
                      <p:tags r:id="rId10"/>
                    </p:custDataLst>
                  </p:nvPr>
                </p:nvPicPr>
                <p:blipFill>
                  <a:blip r:embed="rId3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1" y="4271956"/>
                    <a:ext cx="1296000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29" name="Picture 28"/>
                  <p:cNvPicPr>
                    <a:picLocks noChangeAspect="1"/>
                  </p:cNvPicPr>
                  <p:nvPr>
                    <p:custDataLst>
                      <p:tags r:id="rId11"/>
                    </p:custDataLst>
                  </p:nvPr>
                </p:nvPicPr>
                <p:blipFill>
                  <a:blip r:embed="rId3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2" y="4254204"/>
                    <a:ext cx="1068343" cy="18377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up 39"/>
                <p:cNvGrpSpPr/>
                <p:nvPr>
                  <p:custDataLst>
                    <p:tags r:id="rId4"/>
                  </p:custDataLst>
                </p:nvPr>
              </p:nvGrpSpPr>
              <p:grpSpPr>
                <a:xfrm>
                  <a:off x="4398211" y="4380081"/>
                  <a:ext cx="3073294" cy="207010"/>
                  <a:chOff x="4398211" y="4380081"/>
                  <a:chExt cx="3073294" cy="207010"/>
                </a:xfrm>
              </p:grpSpPr>
              <p:pic>
                <p:nvPicPr>
                  <p:cNvPr id="33" name="Picture 32"/>
                  <p:cNvPicPr>
                    <a:picLocks noChangeAspect="1"/>
                  </p:cNvPicPr>
                  <p:nvPr>
                    <p:custDataLst>
                      <p:tags r:id="rId8"/>
                    </p:custDataLst>
                  </p:nvPr>
                </p:nvPicPr>
                <p:blipFill>
                  <a:blip r:embed="rId3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1" y="4397833"/>
                    <a:ext cx="1302857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21" name="Picture 20"/>
                  <p:cNvPicPr>
                    <a:picLocks noChangeAspect="1"/>
                  </p:cNvPicPr>
                  <p:nvPr>
                    <p:custDataLst>
                      <p:tags r:id="rId9"/>
                    </p:custDataLst>
                  </p:nvPr>
                </p:nvPicPr>
                <p:blipFill>
                  <a:blip r:embed="rId3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2" y="4380081"/>
                    <a:ext cx="1068343" cy="18377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" name="Group 11"/>
                <p:cNvGrpSpPr/>
                <p:nvPr>
                  <p:custDataLst>
                    <p:tags r:id="rId5"/>
                  </p:custDataLst>
                </p:nvPr>
              </p:nvGrpSpPr>
              <p:grpSpPr>
                <a:xfrm>
                  <a:off x="4398212" y="4771943"/>
                  <a:ext cx="3073292" cy="207010"/>
                  <a:chOff x="4398212" y="4771943"/>
                  <a:chExt cx="3073292" cy="207010"/>
                </a:xfrm>
              </p:grpSpPr>
              <p:pic>
                <p:nvPicPr>
                  <p:cNvPr id="3" name="Picture 2"/>
                  <p:cNvPicPr>
                    <a:picLocks noChangeAspect="1"/>
                  </p:cNvPicPr>
                  <p:nvPr>
                    <p:custDataLst>
                      <p:tags r:id="rId6"/>
                    </p:custDataLst>
                  </p:nvPr>
                </p:nvPicPr>
                <p:blipFill>
                  <a:blip r:embed="rId3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2" y="4789695"/>
                    <a:ext cx="1291885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10" name="Picture 9"/>
                  <p:cNvPicPr>
                    <a:picLocks noChangeAspect="1"/>
                  </p:cNvPicPr>
                  <p:nvPr>
                    <p:custDataLst>
                      <p:tags r:id="rId7"/>
                    </p:custDataLst>
                  </p:nvPr>
                </p:nvPicPr>
                <p:blipFill>
                  <a:blip r:embed="rId3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1" y="4771943"/>
                    <a:ext cx="1068343" cy="183772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2" name="TextBox 31"/>
              <p:cNvSpPr txBox="1"/>
              <p:nvPr/>
            </p:nvSpPr>
            <p:spPr>
              <a:xfrm>
                <a:off x="7411114" y="4911598"/>
                <a:ext cx="244671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Results for one basis state.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6533212" y="3245765"/>
                <a:ext cx="42025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/>
                  <a:t>With</a:t>
                </a:r>
                <a:r>
                  <a:rPr lang="en-US" dirty="0"/>
                  <a:t> </a:t>
                </a:r>
                <a:r>
                  <a:rPr lang="en-US" dirty="0" err="1"/>
                  <a:t>intervalley</a:t>
                </a:r>
                <a:r>
                  <a:rPr lang="en-US" dirty="0"/>
                  <a:t> kinetic and overlap terms</a:t>
                </a:r>
              </a:p>
            </p:txBody>
          </p:sp>
        </p:grpSp>
        <p:sp>
          <p:nvSpPr>
            <p:cNvPr id="37" name="Rounded Rectangle 36"/>
            <p:cNvSpPr/>
            <p:nvPr/>
          </p:nvSpPr>
          <p:spPr>
            <a:xfrm>
              <a:off x="6582380" y="3093339"/>
              <a:ext cx="4663440" cy="2286000"/>
            </a:xfrm>
            <a:prstGeom prst="roundRect">
              <a:avLst/>
            </a:prstGeom>
            <a:noFill/>
            <a:ln w="25400">
              <a:solidFill>
                <a:srgbClr val="00CC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44776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Losing verisimilitude for a more consistent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3415" y="2070694"/>
            <a:ext cx="2685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Is this a fruitful course?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69580" y="4054731"/>
            <a:ext cx="11652840" cy="1170684"/>
            <a:chOff x="269580" y="4235218"/>
            <a:chExt cx="11652840" cy="1170684"/>
          </a:xfrm>
        </p:grpSpPr>
        <p:sp>
          <p:nvSpPr>
            <p:cNvPr id="11" name="TextBox 10"/>
            <p:cNvSpPr txBox="1"/>
            <p:nvPr/>
          </p:nvSpPr>
          <p:spPr>
            <a:xfrm>
              <a:off x="269580" y="4466617"/>
              <a:ext cx="27827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Is the </a:t>
              </a:r>
              <a:r>
                <a:rPr lang="en-US" sz="2000" dirty="0" err="1"/>
                <a:t>wavefunction</a:t>
              </a:r>
              <a:r>
                <a:rPr lang="en-US" sz="2000" dirty="0"/>
                <a:t> collapse </a:t>
              </a:r>
              <a:r>
                <a:rPr lang="en-US" sz="2000" dirty="0">
                  <a:solidFill>
                    <a:srgbClr val="0000FF"/>
                  </a:solidFill>
                </a:rPr>
                <a:t>inconsistent</a:t>
              </a:r>
              <a:r>
                <a:rPr lang="en-US" sz="2000" dirty="0"/>
                <a:t>?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3321871" y="4235218"/>
              <a:ext cx="8600549" cy="1170684"/>
              <a:chOff x="2902829" y="4258079"/>
              <a:chExt cx="8600549" cy="1170684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4194615" y="4782432"/>
                <a:ext cx="601697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</a:rPr>
                  <a:t>Only portions of the state space that have small </a:t>
                </a:r>
                <a:r>
                  <a:rPr lang="en-US" b="1" dirty="0" err="1">
                    <a:solidFill>
                      <a:schemeClr val="accent3">
                        <a:lumMod val="75000"/>
                      </a:schemeClr>
                    </a:solidFill>
                  </a:rPr>
                  <a:t>intervalley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</a:rPr>
                  <a:t> kinetic contributions should be </a:t>
                </a:r>
                <a:r>
                  <a:rPr lang="en-US" b="1" i="1" dirty="0">
                    <a:solidFill>
                      <a:schemeClr val="accent3">
                        <a:lumMod val="75000"/>
                      </a:schemeClr>
                    </a:solidFill>
                  </a:rPr>
                  <a:t>a priori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</a:rPr>
                  <a:t> accepted as an ansatz.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902829" y="4258079"/>
                <a:ext cx="86005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Issue resolved by noting that </a:t>
                </a:r>
                <a:r>
                  <a:rPr lang="en-US" i="1" dirty="0"/>
                  <a:t>not all points</a:t>
                </a:r>
                <a:r>
                  <a:rPr lang="en-US" dirty="0"/>
                  <a:t> in the variational state space are valid.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1610184" y="3087244"/>
            <a:ext cx="8971633" cy="646331"/>
            <a:chOff x="1473968" y="3133976"/>
            <a:chExt cx="8971633" cy="646331"/>
          </a:xfrm>
        </p:grpSpPr>
        <p:sp>
          <p:nvSpPr>
            <p:cNvPr id="14" name="TextBox 13"/>
            <p:cNvSpPr txBox="1"/>
            <p:nvPr/>
          </p:nvSpPr>
          <p:spPr>
            <a:xfrm>
              <a:off x="1473968" y="3257086"/>
              <a:ext cx="21950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A problem</a:t>
              </a:r>
              <a:r>
                <a:rPr lang="en-US" sz="2000" dirty="0"/>
                <a:t>: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70599" y="3133976"/>
              <a:ext cx="5575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Results are a worse match for experimental energies.</a:t>
              </a:r>
            </a:p>
            <a:p>
              <a:pPr algn="ctr"/>
              <a:r>
                <a:rPr lang="en-US" dirty="0"/>
                <a:t>(E</a:t>
              </a:r>
              <a:r>
                <a:rPr lang="en-US" baseline="-25000" dirty="0"/>
                <a:t>A</a:t>
              </a:r>
              <a:r>
                <a:rPr lang="en-US" dirty="0"/>
                <a:t> is </a:t>
              </a:r>
              <a:r>
                <a:rPr lang="en-US" i="1" dirty="0"/>
                <a:t>highest</a:t>
              </a:r>
              <a:r>
                <a:rPr lang="en-US" dirty="0"/>
                <a:t>, not lowest energy!)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05556" y="5522040"/>
            <a:ext cx="10780888" cy="646331"/>
            <a:chOff x="705556" y="5781687"/>
            <a:chExt cx="10780888" cy="646331"/>
          </a:xfrm>
        </p:grpSpPr>
        <p:sp>
          <p:nvSpPr>
            <p:cNvPr id="13" name="TextBox 12"/>
            <p:cNvSpPr txBox="1"/>
            <p:nvPr/>
          </p:nvSpPr>
          <p:spPr>
            <a:xfrm>
              <a:off x="705556" y="5904797"/>
              <a:ext cx="27827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Improving </a:t>
              </a:r>
              <a:r>
                <a:rPr lang="en-US" sz="2000" dirty="0" err="1">
                  <a:solidFill>
                    <a:srgbClr val="7030A0"/>
                  </a:solidFill>
                </a:rPr>
                <a:t>versimilitude</a:t>
              </a:r>
              <a:r>
                <a:rPr lang="en-US" sz="2000" dirty="0"/>
                <a:t>?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93823" y="5781687"/>
              <a:ext cx="7292621" cy="64633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</a:t>
              </a:r>
              <a:r>
                <a:rPr lang="en-US" dirty="0">
                  <a:solidFill>
                    <a:srgbClr val="7030A0"/>
                  </a:solidFill>
                </a:rPr>
                <a:t>most appropriate form </a:t>
              </a:r>
              <a:r>
                <a:rPr lang="en-US" dirty="0"/>
                <a:t>of the effective potential is still unknown.</a:t>
              </a:r>
            </a:p>
            <a:p>
              <a:pPr algn="ctr"/>
              <a:r>
                <a:rPr lang="en-US" dirty="0"/>
                <a:t>May be possible to regain verisimilitude by finding useful effective potential.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4745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2646.419"/>
  <p:tag name="LATEXADDIN" val="\documentclass{article}&#10;\usepackage{amsmath}&#10;\pagestyle{empty}&#10;\begin{document}&#10;&#10;&#10;\begin{equation*}&#10;\mathcal{H} = \sum_{ij}\sum_{\mu\nu} h_{ij}^{(\mu\nu)} c_{i\mu}^{\dag}c_{j\nu} &#10;+ \sum_{i\nu} U_{\text{impurity}}\left(R_{i}\right)c_{i\nu}^{\dag}c_{i\nu}&#10;\end{equation*}&#10;&#10;&#10;\end{document}"/>
  <p:tag name="IGUANATEXSIZE" val="20"/>
  <p:tag name="IGUANATEXCURSOR" val="194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1420.323"/>
  <p:tag name="LATEXADDIN" val="\documentclass{article}&#10;\usepackage{amsmath,bm}&#10;\pagestyle{empty}&#10;\begin{document}&#10;&#10;&#10;\begin{equation*}&#10;\Psi\left(\bm{r}\right) = \sum_{i\nu} a_{i\nu}\phi_{\nu}\left(\bm{r}-\bm{R}_{i}\right)&#10;\end{equation*}&#10;&#10;&#10;\end{document}"/>
  <p:tag name="IGUANATEXSIZE" val="20"/>
  <p:tag name="IGUANATEXCURSOR" val="205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3.4608"/>
  <p:tag name="ORIGINALWIDTH" val="1691.039"/>
  <p:tag name="OUTPUTTYPE" val="PNG"/>
  <p:tag name="IGUANATEXVERSION" val="159"/>
  <p:tag name="LATEXADDIN" val="\documentclass{article}&#10;\usepackage{amsmath,bm}&#10;\pagestyle{empty}&#10;\begin{document}&#10;&#10;&#10;\begin{equation*}&#10;\Psi\left(\bm{r}\right) = \sum_{n}\int_{\text{BZ}}\mathrm{d}\bm{k} a_{n\bm{k}}\mathrm{e}^{\mathrm{i}\bm{k}\cdot\bm{r}}u_{n\bm{k}\bm{r}}&#10;\end{equation*}&#10;&#10;&#10;\end{document}"/>
  <p:tag name="IGUANATEXSIZE" val="20"/>
  <p:tag name="IGUANATEXCURSOR" val="238"/>
  <p:tag name="TRANSPARENCY" val="True"/>
  <p:tag name="FILENAME" val=""/>
  <p:tag name="LATEXENGINEID" val="0"/>
  <p:tag name="TEMPFOLDER" val="C:\iguanatex\"/>
  <p:tag name="LATEXFORMHEIGHT" val="312"/>
  <p:tag name="LATEXFORMWIDTH" val="1076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1604.049"/>
  <p:tag name="OUTPUTTYPE" val="PNG"/>
  <p:tag name="IGUANATEXVERSION" val="159"/>
  <p:tag name="LATEXADDIN" val="\documentclass{article}&#10;\usepackage{amsmath,bm}&#10;\pagestyle{empty}&#10;\begin{document}&#10;&#10;&#10;\begin{equation*}&#10;\mathcal{H}&#10;=&#10;\frac{p^{2}}{2m} + V_{\text{crystal}} + U_{\text{impurity}}&#10;\end{equation*}&#10;&#10;&#10;\end{document}"/>
  <p:tag name="IGUANATEXSIZE" val="20"/>
  <p:tag name="IGUANATEXCURSOR" val="176"/>
  <p:tag name="TRANSPARENCY" val="True"/>
  <p:tag name="FILENAME" val=""/>
  <p:tag name="LATEXENGINEID" val="0"/>
  <p:tag name="TEMPFOLDER" val="C:\iguanatex\"/>
  <p:tag name="LATEXFORMHEIGHT" val="312"/>
  <p:tag name="LATEXFORMWIDTH" val="1076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3.4608"/>
  <p:tag name="ORIGINALWIDTH" val="1389.576"/>
  <p:tag name="LATEXADDIN" val="\documentclass{article}&#10;\usepackage{amsmath,braket,bm}&#10;\pagestyle{empty}&#10;\begin{document}&#10;&#10;\begin{equation*}&#10;\ket{\Psi}&#10;=&#10;\sum_{n}\int_{\text{BZ}}\mathrm{d}\bm{k}\,&#10;A_{n\bm{k}}\ket{n\bm{k}}&#10;\end{equation*}&#10;&#10;\end{document}"/>
  <p:tag name="IGUANATEXSIZE" val="20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43.12"/>
  <p:tag name="LATEXADDIN" val="\documentclass{article}&#10;\usepackage{amsmath,braket,bm}&#10;\pagestyle{empty}&#10;\begin{document}&#10;&#10;\begin{equation*}&#10;\mathcal{H}_{0}\ket{n\bm{k}} = E_{n\bm{k}}\ket{n\bm{k}}&#10;\end{equation*}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2278.215"/>
  <p:tag name="LATEXADDIN" val="\documentclass{article}&#10;\usepackage{amsmath,braket,bm}&#10;\pagestyle{empty}&#10;\begin{document}&#10;&#10;\begin{equation*}&#10;\braket{\bm{r}|n\bm{k}}&#10;=&#10;\mathrm{e}^{\mathrm{i}\bm{k}\cdot\bm{r}}&#10;u_{n\bm{k}}\left(\bm{r}\right)&#10;=&#10;\sum_{\bm{G}}C_{\bm{k}+\bm{G}}^{(n)}\mathrm{e}^{\mathrm{i}\left(\bm{k}+\bm{G}\right)\cdot\bm{r}}&#10;\end{equation*}&#10;&#10;\end{document}"/>
  <p:tag name="IGUANATEXSIZE" val="20"/>
  <p:tag name="IGUANATEXCURSOR" val="245"/>
  <p:tag name="TRANSPARENCY" val="True"/>
  <p:tag name="FILENAME" val=""/>
  <p:tag name="LATEXENGINEID" val="0"/>
  <p:tag name="TEMPFOLDER" val="c:\temp\"/>
  <p:tag name="LATEXFORMHEIGHT" val="312"/>
  <p:tag name="LATEXFORMWIDTH" val="1201.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47.7315"/>
  <p:tag name="LATEXADDIN" val="\documentclass{article}&#10;\usepackage{amsmath,braket,bm}&#10;\pagestyle{empty}&#10;\begin{document}&#10;&#10;\begin{equation*}&#10;\mathcal{H}_{0}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7.724"/>
  <p:tag name="LATEXADDIN" val="\documentclass{article}&#10;\usepackage{amsmath,braket,bm}&#10;\pagestyle{empty}&#10;\begin{document}&#10;&#10;\begin{equation*}&#10;\ket{n\bm{k}}&#10;\end{equation*}&#10;&#10;\end{document}"/>
  <p:tag name="IGUANATEXSIZE" val="18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7.724"/>
  <p:tag name="LATEXADDIN" val="\documentclass{article}&#10;\usepackage{amsmath,braket,bm}&#10;\pagestyle{empty}&#10;\begin{document}&#10;&#10;\begin{equation*}&#10;\ket{n\bm{k}}&#10;\end{equation*}&#10;&#10;\end{document}"/>
  <p:tag name="IGUANATEXSIZE" val="18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3105.362"/>
  <p:tag name="OUTPUTTYPE" val="PNG"/>
  <p:tag name="IGUANATEXVERSION" val="159"/>
  <p:tag name="LATEXADDIN" val="\documentclass{article}&#10;\usepackage{amsmath,braket,bm}&#10;\pagestyle{empty}&#10;\begin{document}&#10;&#10;\begin{equation*}&#10;\ket{\Psi}&#10;=&#10;\sum_{n}\int_{\text{BZ}}\mathrm{d}\bm{k}\,&#10;A_{n\bm{k}}\ket{n\bm{k}}&#10;\Longrightarrow&#10;\sum_{q=\pm x,\pm y,\pm z}&#10;\int_{\text{BZ}}\mathrm{d}\bm{k}\,&#10;A_{q\bm{k}}\ket{0\bm{k}}&#10;\end{equation*}&#10;&#10;\end{document}"/>
  <p:tag name="IGUANATEXSIZE" val="20"/>
  <p:tag name="IGUANATEXCURSOR" val="230"/>
  <p:tag name="TRANSPARENCY" val="True"/>
  <p:tag name="FILENAME" val=""/>
  <p:tag name="LATEXENGINEID" val="0"/>
  <p:tag name="TEMPFOLDER" val="C:\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3.922"/>
  <p:tag name="ORIGINALWIDTH" val="1786.277"/>
  <p:tag name="OUTPUTTYPE" val="PNG"/>
  <p:tag name="IGUANATEXVERSION" val="159"/>
  <p:tag name="LATEXADDIN" val="\documentclass{article}&#10;\usepackage{amsmath,braket,bm}&#10;\pagestyle{empty}&#10;\begin{document}&#10;&#10;\begin{align*}&#10;\braket{\bm{r}|\Psi}&#10;&amp; \approx&#10;\sum_{q=\pm x,\pm y,\pm z}&#10;F_{q\bm{r}}&#10;\mathrm{e}^{\mathrm{i}\bm{k}_{q}\cdot\bm{r}}&#10;u_{\bm{k}_{q}\bm{r}}&#10;\\&#10;F_{q\bm{r}}&#10;&amp; \equiv&#10;\int_{\text{BZ}}\mathrm{d}\bm{k}\,&#10;A_{sq}\left(\bm{k}\right)&#10;\mathrm{e}^{\mathrm{i}\left(\bm{k}-\bm{k}_{sq}\right)\cdot\bm{r}}&#10;\end{align*}&#10;&#10;\end{document}"/>
  <p:tag name="IGUANATEXSIZE" val="20"/>
  <p:tag name="IGUANATEXCURSOR" val="256"/>
  <p:tag name="TRANSPARENCY" val="True"/>
  <p:tag name="FILENAME" val=""/>
  <p:tag name="LATEXENGINEID" val="0"/>
  <p:tag name="TEMPFOLDER" val="C:\iguanatex\"/>
  <p:tag name="LATEXFORMHEIGHT" val="564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706.787"/>
  <p:tag name="OUTPUTTYPE" val="PNG"/>
  <p:tag name="IGUANATEXVERSION" val="159"/>
  <p:tag name="LATEXADDIN" val="\documentclass{article}&#10;\usepackage{amsmath,amssymb,bm,physics,mathtools}&#10;\pagestyle{empty}&#10;\begin{document}&#10;&#10;\begin{equation*}&#10;F_{z\bm{r}}^{\left(\text{1s}\right)} \propto \exp\left[-\sqrt{\frac{x^{2}+y^{2}}{a^{2}}+\frac{z^{2}}{b^{2}}}\right]&#10;\end{equation*}&#10;&#10;\end{document}"/>
  <p:tag name="IGUANATEXSIZE" val="16"/>
  <p:tag name="IGUANATEXCURSOR" val="156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806.524"/>
  <p:tag name="OUTPUTTYPE" val="PNG"/>
  <p:tag name="IGUANATEXVERSION" val="159"/>
  <p:tag name="LATEXADDIN" val="\documentclass{article}&#10;\usepackage{amsmath,amssymb,bm,physics,mathtools}&#10;\pagestyle{empty}&#10;\begin{document}&#10;&#10;\begin{equation*}&#10;F_{z\bm{r}}^{\left(\text{2p}\right)} \propto z\exp\left[-\sqrt{\frac{x^{2}+y^{2}}{a^{2}}+\frac{z^{2}}{b^{2}}}\right]&#10;\end{equation*}&#10;&#10;\end{document}"/>
  <p:tag name="IGUANATEXSIZE" val="16"/>
  <p:tag name="IGUANATEXCURSOR" val="155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3214.098"/>
  <p:tag name="OUTPUTTYPE" val="PNG"/>
  <p:tag name="IGUANATEXVERSION" val="159"/>
  <p:tag name="LATEXADDIN" val="\documentclass{article}&#10;\usepackage{amsmath,amssymb,bm,physics,mathtools}&#10;\pagestyle{empty}&#10;\begin{document}&#10;&#10;\begin{equation*}&#10;F_{z\bm{r}}^{\left(\text{2s}\right)}&#10;\propto&#10;\left(1+C_{xy}\left(x^{2}+y^{2}\right)+C_{z}z^{2}\right)\exp\left[-\sqrt{\frac{x^{2}+y^{2}}{a^{2}}+\frac{z^{2}}{b^{2}}}\right]&#10;\end{equation*}&#10;&#10;\end{document}"/>
  <p:tag name="IGUANATEXSIZE" val="16"/>
  <p:tag name="IGUANATEXCURSOR" val="222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7.2103"/>
  <p:tag name="ORIGINALWIDTH" val="2510.686"/>
  <p:tag name="OUTPUTTYPE" val="PNG"/>
  <p:tag name="IGUANATEXVERSION" val="159"/>
  <p:tag name="LATEXADDIN" val="\documentclass{article}&#10;\usepackage{amsmath,braket,bm}&#10;\pagestyle{empty}&#10;\begin{document}&#10;&#10;\begin{equation*}&#10;\left[&#10;-\frac{\partial^{2}}{\partial x^{2}}&#10;-\frac{\partial^{2}}{\partial y^{2}}&#10;-\left(\frac{m_{\perp}}{m_{\parallel}}\right)&#10;\frac{\partial^{2}}{\partial z^{2}}&#10;-&#10;\frac{2}{r}&#10;\right]&#10;F_{z\bm{r}}&#10;=&#10;EF_{z\bm{r}}&#10;\end{equation*}&#10;&#10;\end{document}"/>
  <p:tag name="IGUANATEXSIZE" val="20"/>
  <p:tag name="IGUANATEXCURSOR" val="213"/>
  <p:tag name="TRANSPARENCY" val="True"/>
  <p:tag name="FILENAME" val=""/>
  <p:tag name="LATEXENGINEID" val="0"/>
  <p:tag name="TEMPFOLDER" val="C:\iguanatex\"/>
  <p:tag name="LATEXFORMHEIGHT" val="590.25"/>
  <p:tag name="LATEXFORMWIDTH" val="1243.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2.2309"/>
  <p:tag name="LATEXADDIN" val="\documentclass{article}&#10;\usepackage{amsmath,braket,bm}&#10;\pagestyle{empty}&#10;\begin{document}&#10;&#10;\begin{equation*}&#10;\ket{\Psi}&#10;\end{equation*}&#10;&#10;\end{document}"/>
  <p:tag name="IGUANATEXSIZE" val="18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5.9692"/>
  <p:tag name="LATEXADDIN" val="\documentclass{article}&#10;\usepackage{amsmath,braket,bm}&#10;\pagestyle{empty}&#10;\begin{document}&#10;&#10;\begin{equation*}&#10;\mathcal{E}\left[\Psi\right]&#10;\end{equation*}&#10;&#10;\end{document}"/>
  <p:tag name="IGUANATEXSIZE" val="18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2.9696"/>
  <p:tag name="LATEXADDIN" val="\documentclass{article}&#10;\usepackage{amsmath,braket,bm}&#10;\pagestyle{empty}&#10;\begin{document}&#10;&#10;\begin{equation*}&#10;\sigma\left[\Psi\right]&#10;\end{equation*}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2.2309"/>
  <p:tag name="LATEXADDIN" val="\documentclass{article}&#10;\usepackage{amsmath,braket,bm}&#10;\pagestyle{empty}&#10;\begin{document}&#10;&#10;\begin{equation*}&#10;\ket{\Psi}&#10;\end{equation*}&#10;&#10;\end{document}"/>
  <p:tag name="IGUANATEXSIZE" val="18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393.7008"/>
  <p:tag name="LATEXADDIN" val="\documentclass{article}&#10;\usepackage{amsmath,braket,bm}&#10;\pagestyle{empty}&#10;\begin{document}&#10;&#10;\begin{equation*}&#10;\mathcal{H}_0+\mathcal{V}&#10;\end{equation*}&#10;&#10;\end{document}"/>
  <p:tag name="IGUANATEXSIZE" val="18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81.4398"/>
  <p:tag name="LATEXADDIN" val="\documentclass{article}&#10;\usepackage{amsmath,braket,bm}&#10;\pagestyle{empty}&#10;\begin{document}&#10;&#10;\begin{equation*}&#10;\sigma\left[\Psi\right] = 0&#10;\end{equation*}&#10;&#10;\end{document}"/>
  <p:tag name="IGUANATEXSIZE" val="18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201.35"/>
  <p:tag name="LATEXADDIN" val="\documentclass{article}&#10;\usepackage{amsmath,braket,bm}&#10;\pagestyle{empty}&#10;\begin{document}&#10;&#10;\begin{equation*}&#10;\mathcal{E}\left[\Psi\right]&#10;=&#10;\frac&#10;{\braket{\Psi|\mathcal{H}_0+\mathcal{V}|\Psi}}&#10;{\braket{\Psi|\Psi}}&#10;\end{equation*}&#10;&#10;\end{document}"/>
  <p:tag name="IGUANATEXSIZE" val="20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003.75"/>
  <p:tag name="LATEXADDIN" val="\documentclass{article}&#10;\usepackage{amsmath,braket,bm}&#10;\pagestyle{empty}&#10;\begin{document}&#10;&#10;\begin{equation*}&#10;\sigma\left[\Psi\right]&#10;=&#10;\sqrt{&#10;\frac&#10;{\braket{\Psi|\left(\mathcal{H}_0+\mathcal{V}\right)^{2}|\Psi}}&#10;{\braket{\Psi|\Psi}}&#10;-\mathcal{E}\left[\Psi\right]^{2}&#10;}&#10;\end{equation*}&#10;&#10;\end{document}"/>
  <p:tag name="IGUANATEXSIZE" val="20"/>
  <p:tag name="IGUANATEXCURSOR" val="245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4.9532"/>
  <p:tag name="ORIGINALWIDTH" val="3282.34"/>
  <p:tag name="OUTPUTTYPE" val="PNG"/>
  <p:tag name="IGUANATEXVERSION" val="159"/>
  <p:tag name="LATEXADDIN" val="\documentclass{article}&#10;\usepackage{amsmath,amssymb,bm,physics,mathtools}&#10;\pagestyle{empty}&#10;\begin{document}&#10;&#10;\begin{equation*}&#10;F_{z\bm{r}}&#10;    =&#10;        \sum_{nlm} c_{nlm}&#10;        \alpha_{lm}^{\frac{3}{2}}\left(\frac{\beta}{\gamma}\right)^{\frac{1}{4}}&#10;        \Psi_{nlm}\left(\alpha_{lm}x,\alpha_{lm}y,\alpha_{lm}\left(\beta/\gamma\right)^{1/2}z\right)&#10;\end{equation*}&#10;&#10;\end{document}"/>
  <p:tag name="IGUANATEXSIZE" val="20"/>
  <p:tag name="IGUANATEXCURSOR" val="206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7.2103"/>
  <p:tag name="ORIGINALWIDTH" val="2510.686"/>
  <p:tag name="OUTPUTTYPE" val="PNG"/>
  <p:tag name="IGUANATEXVERSION" val="159"/>
  <p:tag name="LATEXADDIN" val="\documentclass{article}&#10;\usepackage{amsmath,braket,bm}&#10;\pagestyle{empty}&#10;\begin{document}&#10;&#10;\begin{equation*}&#10;\left[&#10;-\frac{\partial^{2}}{\partial x^{2}}&#10;-\frac{\partial^{2}}{\partial y^{2}}&#10;-\left(\frac{m_{\perp}}{m_{\parallel}}\right)&#10;\frac{\partial^{2}}{\partial z^{2}}&#10;-&#10;\frac{2}{r}&#10;\right]&#10;F_{z\bm{r}}&#10;=&#10;EF_{z\bm{r}}&#10;\end{equation*}&#10;&#10;\end{document}"/>
  <p:tag name="IGUANATEXSIZE" val="20"/>
  <p:tag name="IGUANATEXCURSOR" val="213"/>
  <p:tag name="TRANSPARENCY" val="True"/>
  <p:tag name="FILENAME" val=""/>
  <p:tag name="LATEXENGINEID" val="0"/>
  <p:tag name="TEMPFOLDER" val="C:\iguanatex\"/>
  <p:tag name="LATEXFORMHEIGHT" val="590.25"/>
  <p:tag name="LATEXFORMWIDTH" val="1243.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73756"/>
  <p:tag name="ORIGINALWIDTH" val="99.73756"/>
  <p:tag name="OUTPUTTYPE" val="PNG"/>
  <p:tag name="IGUANATEXVERSION" val="159"/>
  <p:tag name="LATEXADDIN" val="\documentclass{article}&#10;\usepackage{amsmath,braket,bm}&#10;\pagestyle{empty}&#10;\begin{document}&#10;&#10;\begin{equation*}&#10;\mathcal{J}&#10;\end{equation*}&#10;&#10;\end{document}"/>
  <p:tag name="IGUANATEXSIZE" val="18"/>
  <p:tag name="IGUANATEXCURSOR" val="120"/>
  <p:tag name="TRANSPARENCY" val="True"/>
  <p:tag name="FILENAME" val=""/>
  <p:tag name="LATEXENGINEID" val="0"/>
  <p:tag name="TEMPFOLDER" val="C:\iguanatex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668.166"/>
  <p:tag name="OUTPUTTYPE" val="PNG"/>
  <p:tag name="IGUANATEXVERSION" val="159"/>
  <p:tag name="LATEXADDIN" val="\documentclass{article}&#10;\usepackage{amsmath,braket,bm}&#10;\pagestyle{empty}&#10;\begin{document}&#10;&#10;Optimize $\mathcal{E}_{\bm{c}}\left[\mathcal{J}\right] = \lambda$ and $\sigma_{\bm{c}}\left[\mathcal{J}\right]$ with respect to $\bm{c}$&#10;&#10;\end{document}"/>
  <p:tag name="IGUANATEXSIZE" val="18"/>
  <p:tag name="IGUANATEXCURSOR" val="227"/>
  <p:tag name="TRANSPARENCY" val="True"/>
  <p:tag name="FILENAME" val=""/>
  <p:tag name="LATEXENGINEID" val="0"/>
  <p:tag name="TEMPFOLDER" val="C:\iguanatex\"/>
  <p:tag name="LATEXFORMHEIGHT" val="552.75"/>
  <p:tag name="LATEXFORMWIDTH" val="1297.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.74126"/>
  <p:tag name="ORIGINALWIDTH" val="215.2231"/>
  <p:tag name="OUTPUTTYPE" val="PNG"/>
  <p:tag name="IGUANATEXVERSION" val="159"/>
  <p:tag name="LATEXADDIN" val="\documentclass{article}&#10;\usepackage{amsmath,braket,bm}&#10;\pagestyle{empty}&#10;\begin{document}&#10;&#10;$\Longleftrightarrow$&#10;&#10;\end{document}"/>
  <p:tag name="IGUANATEXSIZE" val="25"/>
  <p:tag name="IGUANATEXCURSOR" val="111"/>
  <p:tag name="TRANSPARENCY" val="True"/>
  <p:tag name="FILENAME" val=""/>
  <p:tag name="LATEXENGINEID" val="0"/>
  <p:tag name="TEMPFOLDER" val="C:\iguanatex\"/>
  <p:tag name="LATEXFORMHEIGHT" val="552.75"/>
  <p:tag name="LATEXFORMWIDTH" val="1297.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.73827"/>
  <p:tag name="ORIGINALWIDTH" val="582.6772"/>
  <p:tag name="OUTPUTTYPE" val="PNG"/>
  <p:tag name="IGUANATEXVERSION" val="159"/>
  <p:tag name="LATEXADDIN" val="\documentclass{article}&#10;\usepackage{amsmath,braket,bm}&#10;\pagestyle{empty}&#10;\begin{document}&#10;&#10;$\bm{\mathcal{H}}\bm{c} = \lambda\bm{\mathcal{S}}\bm{c}$&#10;&#10;\end{document}"/>
  <p:tag name="IGUANATEXSIZE" val="18"/>
  <p:tag name="IGUANATEXCURSOR" val="92"/>
  <p:tag name="TRANSPARENCY" val="True"/>
  <p:tag name="FILENAME" val=""/>
  <p:tag name="LATEXENGINEID" val="0"/>
  <p:tag name="TEMPFOLDER" val="C:\iguanatex\"/>
  <p:tag name="LATEXFORMHEIGHT" val="552.75"/>
  <p:tag name="LATEXFORMWIDTH" val="1297.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9835"/>
  <p:tag name="ORIGINALWIDTH" val="3039.37"/>
  <p:tag name="LATEXADDIN" val="\documentclass{article}&#10;&#10;\usepackage[a0paper]{geometry}&#10;&#10;\usepackage{amsmath,braket,bm}&#10;\pagestyle{empty}&#10;\begin{document}&#10;&#10;Without loss of generality, we can assert that $\bm{c}^{\dag}\bm{\mathcal{S}}\bm{c} = 1$.&#10;&#10;\end{document}"/>
  <p:tag name="IGUANATEXSIZE" val="18"/>
  <p:tag name="IGUANATEXCURSOR" val="212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56.768"/>
  <p:tag name="OUTPUTTYPE" val="PNG"/>
  <p:tag name="IGUANATEXVERSION" val="159"/>
  <p:tag name="LATEXADDIN" val="\documentclass{article}&#10;&#10;\usepackage[a0paper]{geometry}&#10;&#10;\usepackage{amsmath,braket,bm}&#10;\pagestyle{empty}&#10;\begin{document}&#10;&#10;We can further tune the basis set $\mathcal{J}$ to further lower $\mathcal{E}_{\bm{c}}\left[\mathcal{J}\right]$ and $\sigma_{\bm{c}}\left[\mathcal{J}\right]$.&#10;&#10;\end{document}"/>
  <p:tag name="IGUANATEXSIZE" val="18"/>
  <p:tag name="IGUANATEXCURSOR" val="280"/>
  <p:tag name="TRANSPARENCY" val="True"/>
  <p:tag name="FILENAME" val=""/>
  <p:tag name="LATEXENGINEID" val="0"/>
  <p:tag name="TEMPFOLDER" val="C:\iguanatex\"/>
  <p:tag name="LATEXFORMHEIGHT" val="552.75"/>
  <p:tag name="LATEXFORMWIDTH" val="1424.2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63"/>
  <p:tag name="LAYER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6"/>
  <p:tag name="LAYER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1210.349"/>
  <p:tag name="LATEXADDIN" val="\documentclass{article}&#10;\usepackage{amsmath,braket,bm}&#10;\pagestyle{empty}&#10;\begin{document}&#10;&#10;\begin{equation*}&#10;\left(\bm{\mathcal{H}}\right)_{j^{\prime}j}&#10;=&#10;\braket{j^{\prime}|\mathcal{H}_{0}+\mathcal{V}|j}&#10;\end{equation*}&#10;&#10;\end{document}"/>
  <p:tag name="IGUANATEXSIZE" val="20"/>
  <p:tag name="IGUANATEXCURSOR" val="173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748.4064"/>
  <p:tag name="LATEXADDIN" val="\documentclass{article}&#10;\usepackage{amsmath,braket,bm}&#10;\pagestyle{empty}&#10;\begin{document}&#10;&#10;\begin{equation*}&#10;\left(\bm{\mathcal{S}}\right)_{j^{\prime}j}&#10;=&#10;\braket{j^{\prime}|j}&#10;\end{equation*}&#10;&#10;\end{document}"/>
  <p:tag name="IGUANATEXSIZE" val="20"/>
  <p:tag name="IGUANATEXCURSOR" val="163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.219"/>
  <p:tag name="ORIGINALWIDTH" val="1580.052"/>
  <p:tag name="LATEXADDIN" val="\documentclass{article}&#10;\usepackage{amsmath,braket,bm}&#10;\pagestyle{empty}&#10;\begin{document}&#10;&#10;\begin{equation*}&#10;\left(\bm{\mathcal{H}}^{(2)}\right)_{j^{\prime}j}&#10;=&#10;\braket{j^{\prime}|\left(\mathcal{H}_{0}+\mathcal{V}\right)^{2}|j}&#10;\end{equation*}&#10;&#10;\end{document}"/>
  <p:tag name="IGUANATEXSIZE" val="20"/>
  <p:tag name="IGUANATEXCURSOR" val="226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7.4578"/>
  <p:tag name="ORIGINALWIDTH" val="2266.217"/>
  <p:tag name="OUTPUTTYPE" val="PNG"/>
  <p:tag name="IGUANATEXVERSION" val="159"/>
  <p:tag name="LATEXADDIN" val="\documentclass{article}&#10;\usepackage{amsmath,braket,bm}&#10;\pagestyle{empty}&#10;\begin{document}&#10;&#10;\begin{equation*}&#10;\mathcal{E}_{\bm{c}}\left[\mathcal{J}\right]&#10;=&#10;\frac&#10;{\sum_{j^{\prime}j}c_{j^{\prime}}^{*}c_{j}\braket{j^{\prime}|\mathcal{H}_0+\mathcal{V}|j}}&#10;{\sum_{j^{\prime}j}c_{j^{\prime}}^{*}c_{j}\braket{j^{\prime}|j}}&#10;=&#10;\frac&#10;{\bm{c}^{\dag}\bm{\mathcal{H}}\bm{c}}&#10;{\bm{c}^{\dag}\bm{\mathcal{S}}\bm{c}}&#10;\end{equation*}&#10;&#10;\end{document}"/>
  <p:tag name="IGUANATEXSIZE" val="20"/>
  <p:tag name="IGUANATEXCURSOR" val="129"/>
  <p:tag name="TRANSPARENCY" val="True"/>
  <p:tag name="FILENAME" val=""/>
  <p:tag name="LATEXENGINEID" val="0"/>
  <p:tag name="TEMPFOLDER" val="C:\iguanatex\"/>
  <p:tag name="LATEXFORMHEIGHT" val="552.75"/>
  <p:tag name="LATEXFORMWIDTH" val="1297.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899.512"/>
  <p:tag name="OUTPUTTYPE" val="PNG"/>
  <p:tag name="IGUANATEXVERSION" val="159"/>
  <p:tag name="LATEXADDIN" val="\documentclass{article}&#10;\usepackage{amsmath,braket,bm}&#10;\pagestyle{empty}&#10;\begin{document}&#10;&#10;\begin{equation*}&#10;\sigma_{\bm{c}}\left[\mathcal{J}\right]&#10;=&#10;\sqrt{&#10;\frac&#10;{\bm{c}^{\dag}\bm{\mathcal{H}}^{(2)}\bm{c}}&#10;{\bm{c}^{\dag}\bm{\mathcal{S}}\bm{c}}&#10;-\mathcal{E}\left[\left\{\ket{j}\right\}\right]\left(\bm{c}\right)^{2}&#10;}&#10;\end{equation*}&#10;&#10;\end{document}"/>
  <p:tag name="IGUANATEXSIZE" val="20"/>
  <p:tag name="IGUANATEXCURSOR" val="148"/>
  <p:tag name="TRANSPARENCY" val="True"/>
  <p:tag name="FILENAME" val=""/>
  <p:tag name="LATEXENGINEID" val="0"/>
  <p:tag name="TEMPFOLDER" val="C:\iguanatex\"/>
  <p:tag name="LATEXFORMHEIGHT" val="312"/>
  <p:tag name="LATEXFORMWIDTH" val="8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9644"/>
  <p:tag name="ORIGINALWIDTH" val="805.3993"/>
  <p:tag name="OUTPUTTYPE" val="PNG"/>
  <p:tag name="IGUANATEXVERSION" val="159"/>
  <p:tag name="LATEXADDIN" val="\documentclass{article}&#10;\usepackage{amsmath,braket,bm}&#10;\pagestyle{empty}&#10;\begin{document}&#10;&#10;\begin{equation*}&#10;\ket{\Psi}&#10;=&#10;\sum_{j\in\mathcal{J}} c_{j}\ket{j}&#10;\end{equation*}&#10;&#10;\end{document}"/>
  <p:tag name="IGUANATEXSIZE" val="20"/>
  <p:tag name="IGUANATEXCURSOR" val="143"/>
  <p:tag name="TRANSPARENCY" val="True"/>
  <p:tag name="FILENAME" val=""/>
  <p:tag name="LATEXENGINEID" val="0"/>
  <p:tag name="TEMPFOLDER" val="C:\iguanatex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3530.559"/>
  <p:tag name="OUTPUTTYPE" val="PNG"/>
  <p:tag name="IGUANATEXVERSION" val="159"/>
  <p:tag name="LATEXADDIN" val="\documentclass{article}&#10;\usepackage{amsmath,braket,bm}&#10;\pagestyle{empty}&#10;\begin{document}&#10;&#10;\begin{equation*}&#10;\int\mathrm{d}\bm{r}\,&#10;\sum_{pq}\alpha_{p}^{*}\alpha_{q}&#10;\mathrm{e}^{\mathrm{i}\left(\bm{k}_{p}-\bm{k}_{q}\right)\cdot\bm{r}}&#10;F_{p\bm{r}}^{*}&#10;\left\{T^{\left(q\right)}+u_{\bm{k}_{p}\bm{r}}^{*}u_{\bm{k}_{q}\bm{r}}U_{\text{imp}}-E\right\}&#10;F_{q\bm{r}}&#10;=&#10;0&#10;\end{equation*}&#10;&#10;\end{document}"/>
  <p:tag name="IGUANATEXSIZE" val="20"/>
  <p:tag name="IGUANATEXCURSOR" val="250"/>
  <p:tag name="TRANSPARENCY" val="True"/>
  <p:tag name="FILENAME" val=""/>
  <p:tag name="LATEXENGINEID" val="0"/>
  <p:tag name="TEMPFOLDER" val="C:\iguanatex\"/>
  <p:tag name="LATEXFORMHEIGHT" val="590.25"/>
  <p:tag name="LATEXFORMWIDTH" val="1243.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3853.018"/>
  <p:tag name="OUTPUTTYPE" val="PNG"/>
  <p:tag name="IGUANATEXVERSION" val="159"/>
  <p:tag name="LATEXADDIN" val="\documentclass{article}&#10;\usepackage{amsmath,braket,bm}&#10;\pagestyle{empty}&#10;\begin{document}&#10;&#10;\begin{equation*}&#10;\int\mathrm{d}\bm{r}\,&#10;\sum_{pq}\alpha_{p}^{*}\alpha_{q}&#10;\mathrm{e}^{\mathrm{i}\left(\bm{k}_{p}-\bm{k}_{q}\right)\cdot\bm{r}}&#10;F_{p\bm{r}}^{*}&#10;\left\{\delta_{pq}T^{\left(q\right)}+u_{\bm{k}_{p}\bm{r}}^{*}u_{\bm{k}_{q}\bm{r}}U_{\text{imp}}-\delta_{pq}E\right\}&#10;F_{q\bm{r}}&#10;=&#10;0&#10;\end{equation*}&#10;&#10;\end{document}"/>
  <p:tag name="IGUANATEXSIZE" val="20"/>
  <p:tag name="IGUANATEXCURSOR" val="235"/>
  <p:tag name="TRANSPARENCY" val="True"/>
  <p:tag name="FILENAME" val=""/>
  <p:tag name="LATEXENGINEID" val="0"/>
  <p:tag name="TEMPFOLDER" val="C:\iguanatex\"/>
  <p:tag name="LATEXFORMHEIGHT" val="590.25"/>
  <p:tag name="LATEXFORMWIDTH" val="1243.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385.452"/>
  <p:tag name="OUTPUTTYPE" val="PNG"/>
  <p:tag name="IGUANATEXVERSION" val="159"/>
  <p:tag name="LATEXADDIN" val="\documentclass{article}&#10;\usepackage{amsmath,braket,bm}&#10;\pagestyle{empty}&#10;\begin{document}&#10;&#10;\begin{equation*}&#10;\sum_{q}\alpha_{q}\mathrm{e}^{\mathrm{i}\left(\bm{k}_{p}-\bm{k}_{q}\right)\cdot\bm{r}}\left\{\hat{T}^{\left(q\right)}+U_{\text{imp}}-E\right\}&#10;F_{q\bm{r}}&#10;=&#10;0&#10;\end{equation*}&#10;&#10;\end{document}"/>
  <p:tag name="IGUANATEXSIZE" val="20"/>
  <p:tag name="IGUANATEXCURSOR" val="202"/>
  <p:tag name="TRANSPARENCY" val="True"/>
  <p:tag name="FILENAME" val=""/>
  <p:tag name="LATEXENGINEID" val="0"/>
  <p:tag name="TEMPFOLDER" val="C:\iguanatex\"/>
  <p:tag name="LATEXFORMHEIGHT" val="590.25"/>
  <p:tag name="LATEXFORMWIDTH" val="1243.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88.48898"/>
  <p:tag name="LATEXADDIN" val="\documentclass{article}&#10;\usepackage{amsmath,braket,bm}&#10;\pagestyle{empty}&#10;\begin{document}&#10;&#10;\begin{equation*}&#10;\mathcal{U}&#10;\end{equation*}&#10;&#10;\end{document}"/>
  <p:tag name="IGUANATEXSIZE" val="18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88.48898"/>
  <p:tag name="LATEXADDIN" val="\documentclass{article}&#10;\usepackage{amsmath,braket,bm}&#10;\pagestyle{empty}&#10;\begin{document}&#10;&#10;\begin{equation*}&#10;\mathcal{U}&#10;\end{equation*}&#10;&#10;\end{document}"/>
  <p:tag name="IGUANATEXSIZE" val="18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.2025"/>
  <p:tag name="ORIGINALWIDTH" val="2205.474"/>
  <p:tag name="LATEXADDIN" val="\documentclass{article}&#10;\usepackage{amsmath,bm,eufrak}&#10;\pagestyle{empty}&#10;\begin{document}&#10;&#10;\begin{equation*}&#10;\Phi_{\left|m\right|lk;\lambda\eta}^{(\pm)}&#10;=&#10;\left\{&#10;\frac{\Phi_{mlk} \pm \mathrm{i}^{m}\Phi_{\bar{m}lk}}&#10;{2\delta_{m0} + \sqrt{2}\left(1-\delta_{m0}\right)}&#10;\right|_{\substack{r \rightarrow r/\eta \\ z \rightarrow \lambda z}}&#10;\end{equation*}&#10;&#10;\end{document}"/>
  <p:tag name="IGUANATEXSIZE" val="20"/>
  <p:tag name="IGUANATEXCURSOR" val="154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1383.577"/>
  <p:tag name="OUTPUTTYPE" val="PNG"/>
  <p:tag name="IGUANATEXVERSION" val="159"/>
  <p:tag name="LATEXADDIN" val="\documentclass{article}&#10;\usepackage{amsmath,bm,eufrak}&#10;\pagestyle{empty}&#10;\begin{document}&#10;&#10;\begin{align*}&#10;\Phi_{+z;mlk;\bm{r}}&#10;&amp; = &#10;F_{lk;r}&#10;Y_{lm;\chi\phi}&#10;\\&#10;F_{lk;r}&#10;&amp; \propto&#10;\rho^{l}\mathrm{e}^{-\frac{r^{W}}{2}}&#10;\hat{L}_{k;r^{W}}^{(\alpha_{l})}&#10;\\&#10;\end{align*}&#10;&#10;\end{document} 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978.6276"/>
  <p:tag name="OUTPUTTYPE" val="PNG"/>
  <p:tag name="IGUANATEXVERSION" val="159"/>
  <p:tag name="LATEXADDIN" val="\documentclass{article}&#10;\usepackage{amsmath,bm}&#10;\pagestyle{empty}&#10;\begin{document}&#10;&#10;\begin{equation*}&#10;\alpha_{l}&#10;=&#10;\frac{2}{W}\left(l + \frac{1}{W}\right)&#10;\end{equation*}&#10;&#10;\end{document}"/>
  <p:tag name="IGUANATEXSIZE" val="20"/>
  <p:tag name="IGUANATEXCURSOR" val="1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1300.338"/>
  <p:tag name="OUTPUTTYPE" val="PNG"/>
  <p:tag name="IGUANATEXVERSION" val="159"/>
  <p:tag name="LATEXADDIN" val="\documentclass{article}&#10;\usepackage{amsmath,amssymb,bm,physics,mathtools}&#10;\pagestyle{empty}&#10;\begin{document}&#10;&#10;\begin{equation*}&#10;F_{lk;\eta\lambda;r\chi} = \frac{1}{\eta_{\lambda;\chi}^{3/2}}F_{lk;\eta_{\lambda\chi};r}&#10;\end{equation*}&#10;&#10;\end{document}"/>
  <p:tag name="IGUANATEXSIZE" val="22"/>
  <p:tag name="IGUANATEXCURSOR" val="19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346.832"/>
  <p:tag name="OUTPUTTYPE" val="PNG"/>
  <p:tag name="IGUANATEXVERSION" val="159"/>
  <p:tag name="LATEXADDIN" val="\documentclass{article}&#10;\usepackage{amsmath,amssymb,bm,physics,mathtools}&#10;\pagestyle{empty}&#10;\begin{document}&#10;&#10;\begin{equation*}&#10;Y_{lk;\lambda;\chi\phi} = \sqrt{\frac{\lambda}{\vartheta_{\lambda;\chi}^{3}}}Y_{lm;\chi_{\lambda}^{\prime}\phi}&#10;\end{equation*}&#10;&#10;\end{document}"/>
  <p:tag name="IGUANATEXSIZE" val="22"/>
  <p:tag name="IGUANATEXCURSOR" val="23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.2347"/>
  <p:tag name="ORIGINALWIDTH" val="1538.058"/>
  <p:tag name="OUTPUTTYPE" val="PNG"/>
  <p:tag name="IGUANATEXVERSION" val="159"/>
  <p:tag name="LATEXADDIN" val="\documentclass{article}&#10;\usepackage{amsmath,amssymb,bm,physics,mathtools}&#10;\pagestyle{empty}&#10;\begin{document}&#10;&#10;\begin{equation*}&#10;\Phi_{mlk;\eta\lambda;\bm{r}}&#10;=&#10;F_{lk;\eta\lambda;r\chi}&#10;Y_{lm;\lambda;\chi\phi}&#10;\end{equation*}&#10;&#10;\end{document}"/>
  <p:tag name="IGUANATEXSIZE" val="26"/>
  <p:tag name="IGUANATEXCURSOR" val="19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1.6723"/>
  <p:tag name="ORIGINALWIDTH" val="1355.081"/>
  <p:tag name="OUTPUTTYPE" val="PNG"/>
  <p:tag name="IGUANATEXVERSION" val="159"/>
  <p:tag name="LATEXADDIN" val="\documentclass{article}&#10;\usepackage{amsmath,bm,eufrak}&#10;\usepackage{geometry}&#10;\geometry{total={2in,10in}}&#10;\pagestyle{empty}&#10;\begin{document}&#10;&#10;\begin{align*}&#10;r&#10;&amp;\rightarrow&#10;\frac{r}{\eta_{\lambda;\chi}^{\prime}}&#10;&amp;&#10;\eta_{\lambda;\chi}^{\prime}&#10;&amp;=&#10;\frac{\eta}{\vartheta_{\lambda;\chi}}&#10;\\&#10;\chi&#10;&amp;\rightarrow&#10;\chi_{\lambda}^{\prime}&#10;&amp;&#10;\chi_{\lambda}^{\prime}&#10;&amp;=&#10;\frac{\lambda\chi}{\vartheta_{\lambda;\chi}}&#10;\\&#10;\end{align*}&#10;&#10;\end{document} "/>
  <p:tag name="IGUANATEXSIZE" val="20"/>
  <p:tag name="IGUANATEXCURSOR" val="13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4807"/>
  <p:tag name="ORIGINALWIDTH" val="1325.834"/>
  <p:tag name="OUTPUTTYPE" val="PNG"/>
  <p:tag name="IGUANATEXVERSION" val="159"/>
  <p:tag name="LATEXADDIN" val="\documentclass{article}&#10;\usepackage{amsmath,bm,eufrak}&#10;\pagestyle{empty}&#10;\begin{document}&#10;&#10;\begin{equation*}&#10;\vartheta_{\lambda;\chi}&#10;=&#10;\sqrt{1+\left(\lambda^{2}-1\right)\chi^{2}}&#10;\end{equation*}&#10;&#10;\end{document} "/>
  <p:tag name="IGUANATEXSIZE" val="20"/>
  <p:tag name="IGUANATEXCURSOR" val="15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8.1403"/>
  <p:tag name="ORIGINALWIDTH" val="413.1983"/>
  <p:tag name="OUTPUTTYPE" val="PNG"/>
  <p:tag name="IGUANATEXVERSION" val="159"/>
  <p:tag name="LATEXADDIN" val="\documentclass{article}&#10;\usepackage{amsmath,bm,eufrak}&#10;\pagestyle{empty}&#10;\begin{document}&#10;&#10;\begin{align*}&#10;x&#10;&amp;\rightarrow&#10;\frac{x}{\eta}&#10;\\&#10;y&#10;&amp;\rightarrow&#10;\frac{y}{\eta}&#10;\\&#10;z&#10;&amp;\rightarrow&#10;\frac{\lambda z}{\eta}&#10;\\&#10;\end{align*}&#10;&#10;\end{document} "/>
  <p:tag name="IGUANATEXSIZE" val="20"/>
  <p:tag name="IGUANATEXCURSOR" val="20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4814"/>
  <p:tag name="ORIGINALWIDTH" val="1477.315"/>
  <p:tag name="OUTPUTTYPE" val="PNG"/>
  <p:tag name="IGUANATEXVERSION" val="159"/>
  <p:tag name="LATEXADDIN" val="\documentclass{article}&#10;\usepackage{amsmath,bm,braket}&#10;\pagestyle{empty}&#10;\begin{document}&#10;&#10;&#10;\begin{equation*}&#10;\Psi_{+z;\bm{r}} = \Phi_{+z;mlk\bm{r}}\mathrm{e}^{\mathrm{i}\bm{k}_{z}\cdot\bm{r}}u_{\bm{k}_{z}\bm{r}}&#10;\end{equation*}&#10;&#10;&#10;\end{document}"/>
  <p:tag name="IGUANATEXSIZE" val="20"/>
  <p:tag name="IGUANATEXCURSOR" val="129"/>
  <p:tag name="TRANSPARENCY" val="True"/>
  <p:tag name="FILENAME" val=""/>
  <p:tag name="LATEXENGINEID" val="0"/>
  <p:tag name="TEMPFOLDER" val="C:\iguanatex\"/>
  <p:tag name="LATEXFORMHEIGHT" val="312"/>
  <p:tag name="LATEXFORMWIDTH" val="1076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2.1447"/>
  <p:tag name="ORIGINALWIDTH" val="3678.29"/>
  <p:tag name="OUTPUTTYPE" val="PNG"/>
  <p:tag name="IGUANATEXVERSION" val="159"/>
  <p:tag name="LATEXADDIN" val="\documentclass{article}&#10;\usepackage{amsmath,bm,braket}&#10;\pagestyle{empty}&#10;\begin{document}&#10;&#10;&#10;\begin{align*}&#10;\Psi_{\bm{r}}^{(\kappa,j)}&#10;&amp;=&#10;\frac{l_{\kappa}}{h}\sum_{R\in T_{d}}\left(\Gamma^{(\kappa)}_{R}\right)_{\kappa\kappa}^{*}&#10;\hat{P}_{R}\left\{\Phi_{+z;\bm{r}}\mathrm{e}^{\mathrm{i}\bm{k}_{z}\cdot\bm{r}}u_{\bm{k}_{z}\bm{r}}\right\}&#10;\\&#10;\Psi_{\bm{r}}^{(\kappa,j)}&#10;&amp;=&#10;\sum_{q=\pm x,\pm y,\pm z}&#10;\left(&#10;    \frac{l_{\kappa}}{h}\sum_{R^{\prime}\in T_{d}| z\rightarrow{q}}\left(\Gamma^{(\kappa)}_{R^{\prime}}\right)_{\kappa\kappa}^{*} \hat{P}_{R^{\prime}}\left\{\Phi_{+z;\bm{r}}\right\}&#10;\right)&#10;\mathrm{e}^{\mathrm{i}\bm{k}_{q}\cdot\bm{r}}u_{\bm{k}_{q}\bm{r}}&#10;\end{align*}&#10;&#10;&#10;\end{document}"/>
  <p:tag name="IGUANATEXSIZE" val="20"/>
  <p:tag name="IGUANATEXCURSOR" val="575"/>
  <p:tag name="TRANSPARENCY" val="False"/>
  <p:tag name="FILENAME" val=""/>
  <p:tag name="LATEXENGINEID" val="0"/>
  <p:tag name="TEMPFOLDER" val="C:\iguanatex\"/>
  <p:tag name="LATEXFORMHEIGHT" val="584.25"/>
  <p:tag name="LATEXFORMWIDTH" val="1207.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7.949"/>
  <p:tag name="ORIGINALWIDTH" val="2860.142"/>
  <p:tag name="LATEXADDIN" val="\documentclass{article}&#10;\usepackage{amsmath,bm}&#10;\pagestyle{empty}&#10;\begin{document}&#10;&#10;\begin{align*}&#10;\bm{\beta}_{E_{1}}^{(+)}&#10;&amp; =&#10;\left\{\tau, \tau^{2}, 1\right\}&#10;&amp;&#10;\bm{\beta}_{E_{1}}^{(-)}&#10;&amp; =&#10;\left\{\mathrm{i}\tau, \mathrm{i}\tau^{2}, \mathrm{i}\right\}&#10;\\&#10;\bm{\beta}_{E_{2}}^{(+)}&#10;&amp; =&#10;\left\{\tau^{2}, \tau, 1\right\}&#10;&amp;&#10;\bm{\beta}_{E_{2}}^{(-)}&#10;&amp; =&#10;\left\{-\mathrm{i}\tau^{2}, -\mathrm{i}\tau, -\mathrm{i}\right\}&#10;\\&#10;\end{align*}&#10;&#10;\end{document}"/>
  <p:tag name="IGUANATEXSIZE" val="16"/>
  <p:tag name="IGUANATEXCURSOR" val="34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7.4653"/>
  <p:tag name="ORIGINALWIDTH" val="788.9014"/>
  <p:tag name="LATEXADDIN" val="\documentclass{article}&#10;\usepackage{amsmath,bm}&#10;\pagestyle{empty}&#10;\begin{document}&#10;&#10;\begin{equation*}&#10;\tau = -\frac{1}{2} + \mathrm{i}\frac{\sqrt{3}}{2}&#10;\end{equation*}&#10;&#10;\end{document}"/>
  <p:tag name="IGUANATEXSIZE" val="16"/>
  <p:tag name="IGUANATEXCURSOR" val="15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4.2107"/>
  <p:tag name="ORIGINALWIDTH" val="1742.782"/>
  <p:tag name="LATEXADDIN" val="\documentclass{article}&#10;\usepackage{amsmath,bm}&#10;\pagestyle{empty}&#10;\begin{document}&#10;&#10;\begin{align*}&#10;\eta^{(q\zeta)}&#10;&amp; =&#10;\frac&#10;{\mathrm{e}^{\mathrm{i}\bm{k}_{q}\cdot\bm{r}}u_{\bm{k}_{q}}+\zeta\mathrm{e}^{-\mathrm{i}\bm{k}_{q}\cdot\bm{r}}u_{-\bm{k}_{q}}}&#10;{\sqrt{2}}&#10;\\&#10;\end{align*}&#10;&#10;\end{document}"/>
  <p:tag name="IGUANATEXSIZE" val="20"/>
  <p:tag name="IGUANATEXCURSOR" val="18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737.9077"/>
  <p:tag name="LATEXADDIN" val="\documentclass{article}&#10;\usepackage{amsmath,bm}&#10;\pagestyle{empty}&#10;\begin{document}&#10;&#10;\begin{align*}&#10;\Omega&#10;&amp; =&#10;\sigma\mathrm{i}^{m}(-1)^{l}&#10;\end{align*}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2239"/>
  <p:tag name="ORIGINALWIDTH" val="1187.102"/>
  <p:tag name="LATEXADDIN" val="\documentclass{article}&#10;\usepackage{amsmath,bm}&#10;\pagestyle{empty}&#10;\begin{document}&#10;&#10;\begin{align*}&#10;\Psi_{mlk}^{\left(T_{q_{1}}^{(\sigma)}\right)}&#10;=&#10;\Phi_{mlk}^{(q_{1}\sigma)}&#10;\eta^{(q_{1}\bar{\Omega})}&#10;\end{align*}&#10;&#10;\end{document}"/>
  <p:tag name="IGUANATEXSIZE" val="18"/>
  <p:tag name="IGUANATEXCURSOR" val="20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2.2085"/>
  <p:tag name="ORIGINALWIDTH" val="2224.222"/>
  <p:tag name="LATEXADDIN" val="\documentclass{article}&#10;\usepackage{amsmath,bm}&#10;\pagestyle{empty}&#10;\begin{document}&#10;&#10;\begin{align*}&#10;\Psi_{mlkh}^{ \left(T_{q_{1}}^{(\sigma)}\right) }&#10;=&#10;\frac&#10;{&#10;\Phi_{mlk}^{(q_{2}\bar{\omega})}\eta^{(q_{2}h^{\prime})}&#10;- \sigma\omega\Phi_{mlk}^{(q_{3}\omega)}\eta^{(q_{3}h^{\prime})}&#10;}&#10;{\sqrt{2}}&#10;\end{align*}&#10;&#10;\end{document}"/>
  <p:tag name="IGUANATEXSIZE" val="18"/>
  <p:tag name="IGUANATEXCURSOR" val="29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.74094"/>
  <p:tag name="ORIGINALWIDTH" val="545.9318"/>
  <p:tag name="LATEXADDIN" val="\documentclass{article}&#10;\usepackage{amsmath,bm}&#10;\pagestyle{empty}&#10;\begin{document}&#10;&#10;\begin{align*}&#10;m \in \text{evens}&#10;\end{align*}&#10;&#10;\end{document}"/>
  <p:tag name="IGUANATEXSIZE" val="18"/>
  <p:tag name="IGUANATEXCURSOR" val="11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506.9366"/>
  <p:tag name="LATEXADDIN" val="\documentclass{article}&#10;\usepackage{amsmath,bm}&#10;\pagestyle{empty}&#10;\begin{document}&#10;&#10;\begin{align*}&#10;m \in \text{odds}&#10;\end{align*}&#10;&#10;\end{document}"/>
  <p:tag name="IGUANATEXSIZE" val="18"/>
  <p:tag name="IGUANATEXCURSOR" val="11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619.4226"/>
  <p:tag name="LATEXADDIN" val="\documentclass{article}&#10;\usepackage{amsmath,bm}&#10;\pagestyle{empty}&#10;\begin{document}&#10;&#10;\begin{align*}&#10;h^{\prime}&#10;&amp; =&#10;h(-1)^{l}&#10;\end{align*}&#10;&#10;\end{document}"/>
  <p:tag name="IGUANATEXSIZE" val="20"/>
  <p:tag name="IGUANATEXCURSOR" val="10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438.6952"/>
  <p:tag name="LATEXADDIN" val="\documentclass{article}&#10;\usepackage{amsmath,bm}&#10;\pagestyle{empty}&#10;\begin{document}&#10;&#10;\begin{align*}&#10;\omega&#10;&amp; =&#10;h\mathrm{i}^{m}&#10;\end{align*}&#10;&#10;\end{document}"/>
  <p:tag name="IGUANATEXSIZE" val="20"/>
  <p:tag name="IGUANATEXCURSOR" val="10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681.29"/>
  <p:tag name="LATEXADDIN" val="\documentclass{article}&#10;\usepackage{amsmath,bm}&#10;\pagestyle{empty}&#10;\begin{document}&#10;&#10;\begin{equation*}&#10;\Psi_{mlk}^{\left(A^{(\sigma)}\right)}&#10;=&#10;\frac{1}{\sqrt{3}}&#10;\sum_{q = x,y,z} &#10;\Phi_{mlk}^{(q\sigma)}&#10;\eta^{(q\Omega)}&#10;\end{equation*}&#10;&#10;\end{document}"/>
  <p:tag name="IGUANATEXSIZE" val="18"/>
  <p:tag name="IGUANATEXCURSOR" val="17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8.459"/>
  <p:tag name="ORIGINALWIDTH" val="2065.242"/>
  <p:tag name="LATEXADDIN" val="\documentclass{article}&#10;\usepackage{amsmath,bm}&#10;\pagestyle{empty}&#10;\begin{document}&#10;&#10;\begin{equation*}&#10;\Psi_{mlk\sigma}^{\left(E_{i}\right)}&#10;=&#10;\frac{1}{\sqrt{3}}&#10;\sum_{q = x,y,z}&#10;\left(\beta_{E_{i}}^{(\sigma)}\right)_{q}&#10;\Phi_{mlk}^{(q\sigma)}&#10;\eta^{(q\Omega)}&#10;\end{equation*}&#10;&#10;\end{document}"/>
  <p:tag name="IGUANATEXSIZE" val="18"/>
  <p:tag name="IGUANATEXCURSOR" val="19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698.1628"/>
  <p:tag name="LATEXADDIN" val="\documentclass{article}&#10;\usepackage{amsmath,braket,bm}&#10;\pagestyle{empty}&#10;\begin{document}&#10;&#10;\begin{equation*}&#10;\mathcal{U}\left(r\right)&#10;=&#10;\frac{-e^{2}}{4\pi\epsilon r}&#10;\end{equation*}&#10;&#10;\end{document}"/>
  <p:tag name="IGUANATEXSIZE" val="20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48.6314"/>
  <p:tag name="ORIGINALWIDTH" val="2674.916"/>
  <p:tag name="LATEXADDIN" val="\documentclass{article}&#10;\usepackage{amsmath,braket,bm}&#10;\pagestyle{empty}&#10;\begin{document}&#10;&#10;\begin{align*}&#10;\mathcal{U}\left(r\right)&#10;&amp;=&#10;\frac{-e^{2}}{4\pi\epsilon r}\left(1 - \mathrm{e}^{-br} + B r \mathrm{e}^{-br}\right) \\&#10;\mathcal{U}\left(r\right)&#10;&amp;=&#10;\frac{-e^{2}}{4\pi\epsilon r}\left(1 - \mathrm{e}^{-br} + \frac{\epsilon}{\epsilon_{0}} \mathrm{e}^{-br}\right)&#10;\\&#10;\mathcal{U}\left(r\right)&#10;&amp;=&#10;\frac{-e^{2}}{4\pi\epsilon r}\left(1 + A\epsilon\mathrm{e}^{-ar} + \left(1-A\right)\epsilon\mathrm{e}^{-br} - \mathrm{e}^{-cr}\right)&#10;\end{align*}&#10;&#10;\end{document}"/>
  <p:tag name="IGUANATEXSIZE" val="20"/>
  <p:tag name="IGUANATEXCURSOR" val="378"/>
  <p:tag name="TRANSPARENCY" val="True"/>
  <p:tag name="FILENAME" val=""/>
  <p:tag name="LATEXENGINEID" val="0"/>
  <p:tag name="TEMPFOLDER" val="c:\temp\"/>
  <p:tag name="LATEXFORMHEIGHT" val="312"/>
  <p:tag name="LATEXFORMWIDTH" val="1241.25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1946.757"/>
  <p:tag name="LATEXADDIN" val="\documentclass{article}&#10;\usepackage{amsmath,braket,bm}&#10;\pagestyle{empty}&#10;\begin{document}&#10;&#10;\begin{equation*}&#10;\mathcal{U}\left(r\right)&#10;=&#10;\frac{-e^{2}}{4\pi\epsilon r}&#10;+ V_{\text{P}}^{\text{core}}\left(\bm{r}\right) - V_{\text{Si}}^{\text{core}}\left(\bm{r}\right)&#10;\end{equation*}&#10;&#10;\end{document}"/>
  <p:tag name="IGUANATEXSIZE" val="20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1182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855.268"/>
  <p:tag name="LATEXADDIN" val="\documentclass{article}&#10;\usepackage{amsmath,braket,bm}&#10;\pagestyle{empty}&#10;\begin{document}&#10;&#10;&#10;&#10;\begin{equation*}&#10;\mathcal{U}\left(r\right)&#10;=&#10;\begin{cases}&#10;U_{1}\cos\left(kr\right) + U_{1} &amp; r \le r_{c} \\&#10;\frac{-e^{2}}{4\pi\epsilon r} &amp; r_{c} &lt; r \\&#10;\end{cases}&#10;\end{equation*}&#10;&#10;\end{document}"/>
  <p:tag name="IGUANATEXSIZE" val="20"/>
  <p:tag name="IGUANATEXCURSOR" val="181"/>
  <p:tag name="TRANSPARENCY" val="True"/>
  <p:tag name="FILENAME" val=""/>
  <p:tag name="LATEXENGINEID" val="0"/>
  <p:tag name="TEMPFOLDER" val="c:\temp\"/>
  <p:tag name="LATEXFORMHEIGHT" val="312"/>
  <p:tag name="LATEXFORMWIDTH" val="1176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2610.424"/>
  <p:tag name="LATEXADDIN" val="\documentclass{article}&#10;\usepackage{amsmath,braket,bm}&#10;\pagestyle{empty}&#10;\begin{document}&#10;&#10;\begin{equation*}&#10;\mathcal{U}\left(r\right)&#10;=&#10;\frac{-e^{2}}{4\pi\epsilon r}&#10;+&#10;A_{0}\mathrm{e}^{-r^{2}/2a^{2}}&#10;+&#10;A_{1}\sum_{i=1}^{4}\mathrm{e}^{-\left|\bm{r}-b\bm{t}_{i}\right|/2c^{2}}&#10;\end{equation*}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1176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2083.99"/>
  <p:tag name="LATEXADDIN" val="\documentclass{article}&#10;\usepackage{amsmath,bm}&#10;\pagestyle{empty}&#10;\begin{document}&#10;&#10;\begin{equation*}&#10;\left(\mathcal{T}^{2}\right)_{ii^\prime}&#10;=&#10;\int\mathrm{d}\bm{r}\,&#10;\left(\hat{T}^{(z)}F_{i}^{(z)}\right)^{*}&#10;\left[\hat{T}^{(z)}F_{i^\prime}^{(z)}\right]&#10;\end{equation*}&#10;&#10;\end{document}"/>
  <p:tag name="IGUANATEXSIZE" val="18"/>
  <p:tag name="IGUANATEXCURSOR" val="247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3206.599"/>
  <p:tag name="LATEXADDIN" val="\documentclass{article}&#10;\usepackage{amsmath,bm}&#10;\pagestyle{empty}&#10;\begin{document}&#10;&#10;\begin{equation*}&#10;\left(\mathcal{U}\mathcal{T}\right)_{ii^\prime}&#10;= &#10;\int \mathrm{d}\bm{r}\,&#10;\sum_{\bm{k}_{q}\bm{k}_{q^\prime}}&#10;\alpha_{q}^{*}\alpha_{q^\prime}&#10;\eta_{-q}\eta_{q^\prime}&#10;\left\{F_{i}^{(q)}\right\}^{*}&#10;\left[\hat{T}^{(q^\prime)}F_{i^\prime}^{(q^\prime)}\right]&#10;U(\bm{r})&#10;\end{equation*}&#10;&#10;\end{document}"/>
  <p:tag name="IGUANATEXSIZE" val="18"/>
  <p:tag name="IGUANATEXCURSOR" val="326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3034.871"/>
  <p:tag name="LATEXADDIN" val="\documentclass{article}&#10;\usepackage{amsmath,bm}&#10;\pagestyle{empty}&#10;\begin{document}&#10;&#10;\begin{equation*}&#10;\left(\mathcal{T}\mathcal{U}\right)_{ii^\prime}&#10;= &#10;\int \mathrm{d}\bm{r}\,&#10;\sum_{\bm{k}_{q}\bm{k}_{q^\prime}}&#10;\alpha_{q}^{*}\alpha_{q^\prime}&#10;\eta_{-q}\eta_{q^\prime}&#10;\left\{\hat{T}^{(q)}F_{i}^{(q)}\right\}^{*}&#10;F_{i^\prime}^{(q^\prime)}&#10;U(\bm{r})&#10;\end{equation*}&#10;&#10;\end{document}"/>
  <p:tag name="IGUANATEXSIZE" val="18"/>
  <p:tag name="IGUANATEXCURSOR" val="289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2835.396"/>
  <p:tag name="LATEXADDIN" val="\documentclass{article}&#10;\usepackage{amsmath,bm}&#10;\pagestyle{empty}&#10;\begin{document}&#10;&#10;\begin{equation*}&#10;\left(\mathcal{U}^{2}\right)_{ii^\prime}&#10;= &#10;\int \mathrm{d}\bm{r}\,&#10;\sum_{\bm{k}_{q}\bm{k}_{q^\prime}}&#10;\alpha_{q}^{*}\alpha_{q^\prime}&#10;\eta_{-q}\eta_{q^\prime}&#10;\left\{F_{i}^{(q)}\right\}^{*}&#10;F_{i^\prime}^{(q^\prime)}&#10;U(\bm{r})^{2}&#10;\end{equation*}&#10;&#10;\end{document}"/>
  <p:tag name="IGUANATEXSIZE" val="18"/>
  <p:tag name="IGUANATEXCURSOR" val="332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2"/>
  <p:tag name="LAYER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944.132"/>
  <p:tag name="LATEXADDIN" val="\documentclass{article}&#10;\usepackage{amsmath,bm,physics}&#10;\pagestyle{empty}&#10;\begin{document}&#10;&#10;\begin{equation*}&#10;\Psi^{(S)}&#10;\approx &#10;\sum_{j} c_{j}&#10;\Psi_{j}^{(S)}&#10;\end{equation*}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7.2141"/>
  <p:tag name="ORIGINALWIDTH" val="1961.755"/>
  <p:tag name="LATEXADDIN" val="\documentclass{article}&#10;\usepackage{amsmath,bm}&#10;\pagestyle{empty}&#10;\begin{document}&#10;&#10;\begin{equation*}&#10;\left\langle \hat{H}^2 \right\rangle &#10;= &#10;\frac{&#10;\bm{c}^{\dag}\left(\mathcal{T}^2 + \mathcal{T}\mathcal{U} + \mathcal{U}\mathcal{T} + \mathcal{U}^2\right)\bm{c}&#10;}{&#10;\bm{c}^{\dag}\mathcal{S}\bm{c}&#10;}&#10;\end{equation*}&#10;&#10;\end{document}"/>
  <p:tag name="IGUANATEXSIZE" val="20"/>
  <p:tag name="IGUANATEXCURSOR" val="12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1036.37"/>
  <p:tag name="LATEXADDIN" val="\documentclass{article}&#10;\usepackage{amsmath,bm,physics}&#10;\pagestyle{empty}&#10;\begin{document}&#10;&#10;\begin{equation*}&#10;\Delta E^2 = \expval{\hat{H}^{2}} - E^{2}&#10;\end{equation*}&#10;&#10;\end{document}"/>
  <p:tag name="IGUANATEXSIZE" val="20"/>
  <p:tag name="IGUANATEXCURSOR" val="147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1"/>
  <p:tag name="LAYER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8"/>
  <p:tag name="LAYER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"/>
  <p:tag name="LAYER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6.4117"/>
  <p:tag name="LATEXADDIN" val="\documentclass{article}&#10;\usepackage{amsmath,bm,physics}&#10;\pagestyle{empty}&#10;\begin{document}&#10;&#10;\begin{equation*}&#10;E_{T} = -31.03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89\%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12.4109"/>
  <p:tag name="LATEXADDIN" val="\documentclass{article}&#10;\usepackage{amsmath,bm,physics}&#10;\pagestyle{empty}&#10;\begin{document}&#10;&#10;\begin{equation*}&#10;E_{E} = -30.73&#10;\end{equation*}&#10;&#10;\end{document}"/>
  <p:tag name="IGUANATEXSIZE" val="18"/>
  <p:tag name="IGUANATEXCURSOR" val="11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647.1691"/>
  <p:tag name="LATEXADDIN" val="\documentclass{article}&#10;\usepackage{amsmath,bm,physics}&#10;\pagestyle{empty}&#10;\begin{document}&#10;&#10;\begin{equation*}&#10;\Delta E \approx 100\%&#10;\end{equation*}&#10;&#10;\end{document}"/>
  <p:tag name="IGUANATEXSIZE" val="18"/>
  <p:tag name="IGUANATEXCURSOR" val="13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8.6614"/>
  <p:tag name="LATEXADDIN" val="\documentclass{article}&#10;\usepackage{amsmath,bm,physics}&#10;\pagestyle{empty}&#10;\begin{document}&#10;&#10;\begin{equation*}&#10;E_{A} = -33.02&#10;\end{equation*}&#10;&#10;\end{document}"/>
  <p:tag name="IGUANATEXSIZE" val="18"/>
  <p:tag name="IGUANATEXCURSOR" val="11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760.405"/>
  <p:tag name="LATEXADDIN" val="\documentclass{article}&#10;\usepackage{amsmath,bm,physics}&#10;\pagestyle{empty}&#10;\begin{document}&#10;&#10;\begin{equation*}&#10;\Delta E^2 \approx -6000&#10;\end{equation*}&#10;&#10;\end{document}"/>
  <p:tag name="IGUANATEXSIZE" val="18"/>
  <p:tag name="IGUANATEXCURSOR" val="13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696.6629"/>
  <p:tag name="LATEXADDIN" val="\documentclass{article}&#10;\usepackage{amsmath,bm,physics}&#10;\pagestyle{empty}&#10;\begin{document}&#10;&#10;\begin{equation*}&#10;U\left(\vb{r}\right) = \frac{-e^2}{4\pi \epsilon r}&#10;\end{equation*}&#10;&#10;\end{document}"/>
  <p:tag name="IGUANATEXSIZE" val="18"/>
  <p:tag name="IGUANATEXCURSOR" val="16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1687.289"/>
  <p:tag name="LATEXADDIN" val="\documentclass{article}&#10;\usepackage{amsmath,bm,physics}&#10;\pagestyle{empty}&#10;\begin{document}&#10;&#10;\begin{equation*}&#10;u_{\vb{k}_{q}}^{*}u_{\vb{k}_{q^{\prime}}} &#10;= \sum_{\vb{G}} C_{\vb{G}}\left(\vb{k}_{q},\vb{k}_{q^{\prime}}\right)\mathrm{e}^{\mathrm{i}\vb{G}\cdot\vb{r}}&#10;\end{equation*}&#10;&#10;\end{document}"/>
  <p:tag name="IGUANATEXSIZE" val="18"/>
  <p:tag name="IGUANATEXCURSOR" val="25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4358.455"/>
  <p:tag name="LATEXADDIN" val="\documentclass{article}&#10;\usepackage{amsmath,bm,physics,braket}&#10;\pagestyle{empty}&#10;\begin{document}&#10;&#10;\begin{equation*}&#10;\braket{\Psi|\hat{H}_{0}^{2}|\Psi} &#10;= \int_{BZ} \dd\vb{k}\,&#10;\sum_{q}\left|\alpha_{q}E_{0}\left(\vb{k}\right)A^{(q)}\left(\vb{k}\right)\right|^{2}&#10;+ \sum_{q\ne q^{\prime}}\alpha_{q}^{*}\alpha_{q^\prime} E_{0}\left(\vb{k}\right)^2 A^{(q)}\left(\vb{k}\right)^{*}A^{(q^\prime)}\left(\vb{k}\right)&#10;\end{equation*}&#10;&#10;\end{document}"/>
  <p:tag name="IGUANATEXSIZE" val="18"/>
  <p:tag name="IGUANATEXCURSOR" val="14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4837.646"/>
  <p:tag name="LATEXADDIN" val="\documentclass{article}&#10;\usepackage{amsmath,bm,physics}&#10;\pagestyle{empty}&#10;\begin{document}&#10;&#10;\begin{equation*}&#10;= &#10;\int \dd\vb{r}\, &#10;\left(\hat{T}^{(z)}F^{(z)}\right)^{*}\left(\hat{T}^{(z)}F^{(z)}\right)&#10;+&#10;\left\{&#10;\int \dd\vb{r}\, &#10;\sum_{q\ne q^{\prime}}\alpha_{q}^{*}\alpha_{q^\prime}&#10;\mathrm{e}^{\mathrm{i}\left(\vb{k}_{q^\prime}-\vb{k}_{q}\right)\cdot\vb{r}}&#10;\left(\hat{T}^{(q)}F^{(q)}\right)^{*}\left(\hat{T}^{(q^\prime)}F^{(q^\prime)}\right)&#10;\right\}&#10;\end{equation*}&#10;&#10;\end{document}"/>
  <p:tag name="IGUANATEXSIZE" val="18"/>
  <p:tag name="IGUANATEXCURSOR" val="45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543.6821"/>
  <p:tag name="LATEXADDIN" val="\documentclass{article}&#10;\usepackage{amsmath,bm,physics}&#10;\pagestyle{empty}&#10;\begin{document}&#10;&#10;\begin{equation*}&#10;\bra{\Psi}\hat{H}_{0}^{2}\ket{\Psi} &#10;\end{equation*}&#10;&#10;\end{document}"/>
  <p:tag name="IGUANATEXSIZE" val="18"/>
  <p:tag name="IGUANATEXCURSOR" val="13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6.2054"/>
  <p:tag name="ORIGINALWIDTH" val="5448.069"/>
  <p:tag name="LATEXADDIN" val="\documentclass{article}&#10;\usepackage{amsmath,bm,physics}&#10;\pagestyle{empty}&#10;\begin{document}&#10;&#10;\begin{equation*}&#10;= &#10;\int \dd\vb{r}\,&#10;\sum_{qq^{\prime}}\alpha_{q}^{*}\alpha_{q^\prime}&#10;\mathrm{e}^{\mathrm{i}\left(\vb{k}_{q^\prime}-\vb{k}_{q}\right)\cdot\vb{r}}&#10;\left(&#10;\int_{BZ} \dd\vb{k}\,&#10;E_{0}\left(\vb{k}\right)&#10;A^{(q)}\left(\vb{k}\right)&#10;\mathrm{e}^{\mathrm{i}\left(\vb{k}-\vb{k}_{q}\right)\cdot\vb{r}}&#10;\right)^{*}&#10;\int_{BZ} \dd\vb{k}^{\prime}\, &#10;E_{0}\left(\vb{k}^{\prime}\right)&#10;A^{(q^\prime)}\left(\vb{k}^{\prime}\right)&#10;\mathrm{e}^{\mathrm{i}\left(\vb{k}^{\prime}-\vb{k}_{q^{\prime}}\right)\cdot\vb{r}}&#10;\end{equation*}&#10;&#10;\end{document}"/>
  <p:tag name="IGUANATEXSIZE" val="18"/>
  <p:tag name="IGUANATEXCURSOR" val="30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5.958"/>
  <p:tag name="ORIGINALWIDTH" val="2401.2"/>
  <p:tag name="LATEXADDIN" val="\documentclass{article}&#10;\usepackage{amsmath,bm,physics}&#10;\pagestyle{empty}&#10;\begin{document}&#10;&#10;\begin{equation*}&#10;=&#10;\int_{BZ} \dd\vb{k}\, E_{0}\left(\vb{k}\right)^{2}\sum_{qq^{\prime}}\alpha_{q}^{*}\alpha_{q^\prime}A^{(q)}\left(\vb{k}\right)^{*}A^{(q^\prime)}\left(\vb{k}\right)&#10;\end{equation*}&#10;&#10;\end{document}"/>
  <p:tag name="IGUANATEXSIZE" val="18"/>
  <p:tag name="IGUANATEXCURSOR" val="16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3592.051"/>
  <p:tag name="LATEXADDIN" val="\documentclass{article}&#10;\usepackage{amsmath,bm,physics}&#10;\pagestyle{empty}&#10;\begin{document}&#10;&#10;\begin{equation*}&#10;\rightarrow \int_{BZ} \dd\vb{k}\, \sum_{q}\left|\alpha_{q}E_{0}\left(\vb{k}\right)A^{(q)}\left(\vb{k}\right)\right|^{2}&#10;= \int \dd\vb{r}\, &#10;\left(\hat{T}^{(z)}F^{(z)}\right)^{*}\left(\hat{T}^{(z)}F^{(z)}\right)&#10;\end{equation*}&#10;&#10;\end{document}"/>
  <p:tag name="IGUANATEXSIZE" val="18"/>
  <p:tag name="IGUANATEXCURSOR" val="269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2077"/>
  <p:tag name="ORIGINALWIDTH" val="5213.348"/>
  <p:tag name="LATEXADDIN" val="\documentclass{article}&#10;\usepackage{amsmath,bm,physics}&#10;\pagestyle{empty}&#10;\begin{document}&#10;&#10;\begin{equation*}&#10;\bra{\Psi}\hat{H}_{0}^{2}\ket{\Psi} &#10;= &#10;\int \dd\vb{r}\, &#10;\left(\hat{T}^{(z)}F^{(z)}\right)^{*}\left(\hat{T}^{(z)}F^{(z)}\right)&#10;+&#10;\int \dd\vb{r}\, &#10;\sum_{q\ne q^{\prime}}\alpha_{q}^{*}\alpha_{q^\prime}&#10;\mathrm{e}^{\mathrm{i}\left(\vb{k}_{q^\prime}-\vb{k}_{q}\right)\cdot\vb{r}}&#10;\left(\hat{T}^{(q)}F^{(q)}\right)^{*}\left(\hat{T}^{(q^\prime)}F^{(q^\prime)}\right)&#10;\end{equation*}&#10;&#10;\end{document}"/>
  <p:tag name="IGUANATEXSIZE" val="18"/>
  <p:tag name="IGUANATEXCURSOR" val="146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2"/>
  <p:tag name="LAYER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9"/>
  <p:tag name="LAYER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9"/>
  <p:tag name="LAYER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1"/>
  <p:tag name="LAYER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6.4117"/>
  <p:tag name="LATEXADDIN" val="\documentclass{article}&#10;\usepackage{amsmath,bm,physics}&#10;\pagestyle{empty}&#10;\begin{document}&#10;&#10;\begin{equation*}&#10;E_{T} = -31.29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24\%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12.4109"/>
  <p:tag name="LATEXADDIN" val="\documentclass{article}&#10;\usepackage{amsmath,bm,physics}&#10;\pagestyle{empty}&#10;\begin{document}&#10;&#10;\begin{equation*}&#10;E_{E} = -31.19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20\%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8.6614"/>
  <p:tag name="LATEXADDIN" val="\documentclass{article}&#10;\usepackage{amsmath,bm,physics}&#10;\pagestyle{empty}&#10;\begin{document}&#10;&#10;\begin{equation*}&#10;E_{A} = -31.12&#10;\end{equation*}&#10;&#10;\end{document}"/>
  <p:tag name="IGUANATEXSIZE" val="18"/>
  <p:tag name="IGUANATEXCURSOR" val="123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23\%&#10;\end{equation*}&#10;&#10;\end{document}"/>
  <p:tag name="IGUANATEXSIZE" val="18"/>
  <p:tag name="IGUANATEXCURSOR" val="130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3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8"/>
  <p:tag name="LAYER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"/>
  <p:tag name="LAYER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6.4117"/>
  <p:tag name="LATEXADDIN" val="\documentclass{article}&#10;\usepackage{amsmath,bm,physics}&#10;\pagestyle{empty}&#10;\begin{document}&#10;&#10;\begin{equation*}&#10;E_{T} = -31.03&#10;\end{equation*}&#10;&#10;\end{document}"/>
  <p:tag name="IGUANATEXSIZE" val="18"/>
  <p:tag name="IGUANATEXCURSOR" val="11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89\%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12.4109"/>
  <p:tag name="LATEXADDIN" val="\documentclass{article}&#10;\usepackage{amsmath,bm,physics}&#10;\pagestyle{empty}&#10;\begin{document}&#10;&#10;\begin{equation*}&#10;E_{E} = -30.73&#10;\end{equation*}&#10;&#10;\end{document}"/>
  <p:tag name="IGUANATEXSIZE" val="18"/>
  <p:tag name="IGUANATEXCURSOR" val="11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647.1691"/>
  <p:tag name="LATEXADDIN" val="\documentclass{article}&#10;\usepackage{amsmath,bm,physics}&#10;\pagestyle{empty}&#10;\begin{document}&#10;&#10;\begin{equation*}&#10;\Delta E \approx 100\%&#10;\end{equation*}&#10;&#10;\end{document}"/>
  <p:tag name="IGUANATEXSIZE" val="18"/>
  <p:tag name="IGUANATEXCURSOR" val="13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8.6614"/>
  <p:tag name="LATEXADDIN" val="\documentclass{article}&#10;\usepackage{amsmath,bm,physics}&#10;\pagestyle{empty}&#10;\begin{document}&#10;&#10;\begin{equation*}&#10;E_{A} = -33.02&#10;\end{equation*}&#10;&#10;\end{document}"/>
  <p:tag name="IGUANATEXSIZE" val="18"/>
  <p:tag name="IGUANATEXCURSOR" val="11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760.405"/>
  <p:tag name="LATEXADDIN" val="\documentclass{article}&#10;\usepackage{amsmath,bm,physics}&#10;\pagestyle{empty}&#10;\begin{document}&#10;&#10;\begin{equation*}&#10;\Delta E^2 \approx -6000&#10;\end{equation*}&#10;&#10;\end{document}"/>
  <p:tag name="IGUANATEXSIZE" val="18"/>
  <p:tag name="IGUANATEXCURSOR" val="13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47525</TotalTime>
  <Words>2896</Words>
  <Application>Microsoft Office PowerPoint</Application>
  <PresentationFormat>Widescreen</PresentationFormat>
  <Paragraphs>316</Paragraphs>
  <Slides>41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Cambria Math</vt:lpstr>
      <vt:lpstr>Georgia</vt:lpstr>
      <vt:lpstr>Gill Sans MT</vt:lpstr>
      <vt:lpstr>LucidaGrande</vt:lpstr>
      <vt:lpstr>UB Powerpoint Template</vt:lpstr>
      <vt:lpstr>Evaluation of effective mass descriptions of the electronic structure of the isolated phosphorus silicon donor</vt:lpstr>
      <vt:lpstr>MOTIVATION</vt:lpstr>
      <vt:lpstr>Why quantum computing?</vt:lpstr>
      <vt:lpstr>The caveats</vt:lpstr>
      <vt:lpstr>Leading implementations of quantum computing</vt:lpstr>
      <vt:lpstr>Silicon spin qubits [9]</vt:lpstr>
      <vt:lpstr>SILICON DONOR</vt:lpstr>
      <vt:lpstr>System description – Silicon donor</vt:lpstr>
      <vt:lpstr>How to model the donor electron?</vt:lpstr>
      <vt:lpstr>PowerPoint Presentation</vt:lpstr>
      <vt:lpstr>Introducing the fundamental effective mass approximation</vt:lpstr>
      <vt:lpstr>Kohn-Luttinger</vt:lpstr>
      <vt:lpstr>Variational method</vt:lpstr>
      <vt:lpstr>Faulkner</vt:lpstr>
      <vt:lpstr>Ritz method</vt:lpstr>
      <vt:lpstr>Twose and Shino-Nara</vt:lpstr>
      <vt:lpstr>Introducing  imperfections</vt:lpstr>
      <vt:lpstr>Concluding comments on effective mass theories</vt:lpstr>
      <vt:lpstr>Methods</vt:lpstr>
      <vt:lpstr>Fundamental basis state</vt:lpstr>
      <vt:lpstr>Variational basis state</vt:lpstr>
      <vt:lpstr>Subbasis and Superbasis</vt:lpstr>
      <vt:lpstr>Symmetry and our effective mass wavefunctions</vt:lpstr>
      <vt:lpstr>Symmetrized basis state</vt:lpstr>
      <vt:lpstr>Software structure</vt:lpstr>
      <vt:lpstr>RESULTS</vt:lpstr>
      <vt:lpstr>Single-valley results -- Increasing subbasis size (1)</vt:lpstr>
      <vt:lpstr>Single-valley results -- Increasing subbasis size (2)</vt:lpstr>
      <vt:lpstr>Single-valley results -- Constructing superbases(1)</vt:lpstr>
      <vt:lpstr>Single-valley results -- Constructing superbases(1)</vt:lpstr>
      <vt:lpstr>REFERENCES</vt:lpstr>
      <vt:lpstr>References</vt:lpstr>
      <vt:lpstr>APPENDIX</vt:lpstr>
      <vt:lpstr>Models of impurity potential</vt:lpstr>
      <vt:lpstr>Models of impurity potential</vt:lpstr>
      <vt:lpstr>RESULTS</vt:lpstr>
      <vt:lpstr>Checking the completeness with the variance</vt:lpstr>
      <vt:lpstr>Multi-valley variance results – Shindo-Nara equation</vt:lpstr>
      <vt:lpstr>A problem with the Shindo-Nara equation?</vt:lpstr>
      <vt:lpstr>Sensible variance with multivalley terms</vt:lpstr>
      <vt:lpstr>Losing verisimilitude for a more consistent approach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2317</cp:revision>
  <cp:lastPrinted>2016-07-18T17:32:49Z</cp:lastPrinted>
  <dcterms:created xsi:type="dcterms:W3CDTF">2016-06-28T14:05:07Z</dcterms:created>
  <dcterms:modified xsi:type="dcterms:W3CDTF">2024-01-23T15:02:52Z</dcterms:modified>
  <cp:category/>
</cp:coreProperties>
</file>